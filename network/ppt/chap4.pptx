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5"/>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843" r:id="rId33"/>
    <p:sldId id="293" r:id="rId34"/>
    <p:sldId id="623" r:id="rId35"/>
    <p:sldId id="624" r:id="rId36"/>
    <p:sldId id="625" r:id="rId37"/>
    <p:sldId id="628" r:id="rId38"/>
    <p:sldId id="631" r:id="rId39"/>
    <p:sldId id="632" r:id="rId40"/>
    <p:sldId id="636" r:id="rId41"/>
    <p:sldId id="635" r:id="rId42"/>
    <p:sldId id="637" r:id="rId43"/>
    <p:sldId id="640" r:id="rId44"/>
    <p:sldId id="641" r:id="rId45"/>
    <p:sldId id="642" r:id="rId46"/>
    <p:sldId id="643" r:id="rId47"/>
    <p:sldId id="644" r:id="rId48"/>
    <p:sldId id="646" r:id="rId49"/>
    <p:sldId id="647" r:id="rId50"/>
    <p:sldId id="855" r:id="rId51"/>
    <p:sldId id="856" r:id="rId52"/>
    <p:sldId id="857" r:id="rId53"/>
    <p:sldId id="306" r:id="rId54"/>
    <p:sldId id="869" r:id="rId55"/>
    <p:sldId id="654" r:id="rId56"/>
    <p:sldId id="308" r:id="rId57"/>
    <p:sldId id="309" r:id="rId58"/>
    <p:sldId id="657" r:id="rId59"/>
    <p:sldId id="658" r:id="rId60"/>
    <p:sldId id="316" r:id="rId61"/>
    <p:sldId id="659" r:id="rId62"/>
    <p:sldId id="317" r:id="rId63"/>
    <p:sldId id="318" r:id="rId64"/>
    <p:sldId id="319" r:id="rId65"/>
    <p:sldId id="662" r:id="rId66"/>
    <p:sldId id="663" r:id="rId67"/>
    <p:sldId id="322" r:id="rId68"/>
    <p:sldId id="323" r:id="rId69"/>
    <p:sldId id="665" r:id="rId70"/>
    <p:sldId id="666" r:id="rId71"/>
    <p:sldId id="667" r:id="rId72"/>
    <p:sldId id="669" r:id="rId73"/>
    <p:sldId id="668" r:id="rId74"/>
    <p:sldId id="326" r:id="rId75"/>
    <p:sldId id="840" r:id="rId76"/>
    <p:sldId id="841" r:id="rId77"/>
    <p:sldId id="842" r:id="rId78"/>
    <p:sldId id="670" r:id="rId79"/>
    <p:sldId id="671" r:id="rId80"/>
    <p:sldId id="672" r:id="rId81"/>
    <p:sldId id="673" r:id="rId82"/>
    <p:sldId id="333" r:id="rId83"/>
    <p:sldId id="334" r:id="rId84"/>
    <p:sldId id="335" r:id="rId85"/>
    <p:sldId id="336" r:id="rId86"/>
    <p:sldId id="337" r:id="rId87"/>
    <p:sldId id="338" r:id="rId88"/>
    <p:sldId id="339" r:id="rId89"/>
    <p:sldId id="341" r:id="rId90"/>
    <p:sldId id="342" r:id="rId91"/>
    <p:sldId id="343" r:id="rId92"/>
    <p:sldId id="344" r:id="rId93"/>
    <p:sldId id="345" r:id="rId94"/>
    <p:sldId id="674" r:id="rId95"/>
    <p:sldId id="346" r:id="rId96"/>
    <p:sldId id="347" r:id="rId97"/>
    <p:sldId id="348" r:id="rId98"/>
    <p:sldId id="349" r:id="rId99"/>
    <p:sldId id="675" r:id="rId100"/>
    <p:sldId id="350" r:id="rId101"/>
    <p:sldId id="351" r:id="rId102"/>
    <p:sldId id="844" r:id="rId103"/>
    <p:sldId id="845" r:id="rId104"/>
    <p:sldId id="846" r:id="rId105"/>
    <p:sldId id="847" r:id="rId106"/>
    <p:sldId id="848" r:id="rId107"/>
    <p:sldId id="849" r:id="rId108"/>
    <p:sldId id="850" r:id="rId109"/>
    <p:sldId id="851" r:id="rId110"/>
    <p:sldId id="852" r:id="rId111"/>
    <p:sldId id="853" r:id="rId112"/>
    <p:sldId id="854" r:id="rId113"/>
    <p:sldId id="861" r:id="rId114"/>
    <p:sldId id="352" r:id="rId115"/>
    <p:sldId id="355" r:id="rId116"/>
    <p:sldId id="357" r:id="rId117"/>
    <p:sldId id="691" r:id="rId118"/>
    <p:sldId id="694" r:id="rId119"/>
    <p:sldId id="695" r:id="rId120"/>
    <p:sldId id="697" r:id="rId121"/>
    <p:sldId id="698" r:id="rId122"/>
    <p:sldId id="699" r:id="rId123"/>
    <p:sldId id="872" r:id="rId124"/>
    <p:sldId id="700" r:id="rId125"/>
    <p:sldId id="701" r:id="rId126"/>
    <p:sldId id="703" r:id="rId127"/>
    <p:sldId id="704" r:id="rId128"/>
    <p:sldId id="705" r:id="rId129"/>
    <p:sldId id="706" r:id="rId130"/>
    <p:sldId id="707" r:id="rId131"/>
    <p:sldId id="708" r:id="rId132"/>
    <p:sldId id="709" r:id="rId133"/>
    <p:sldId id="862" r:id="rId134"/>
    <p:sldId id="711" r:id="rId135"/>
    <p:sldId id="712" r:id="rId136"/>
    <p:sldId id="714" r:id="rId137"/>
    <p:sldId id="715" r:id="rId138"/>
    <p:sldId id="716" r:id="rId139"/>
    <p:sldId id="717" r:id="rId140"/>
    <p:sldId id="718" r:id="rId141"/>
    <p:sldId id="719" r:id="rId142"/>
    <p:sldId id="720" r:id="rId143"/>
    <p:sldId id="721" r:id="rId144"/>
    <p:sldId id="722" r:id="rId145"/>
    <p:sldId id="723" r:id="rId146"/>
    <p:sldId id="724" r:id="rId147"/>
    <p:sldId id="725" r:id="rId148"/>
    <p:sldId id="727" r:id="rId149"/>
    <p:sldId id="728" r:id="rId150"/>
    <p:sldId id="729" r:id="rId151"/>
    <p:sldId id="730" r:id="rId152"/>
    <p:sldId id="731" r:id="rId153"/>
    <p:sldId id="732" r:id="rId154"/>
    <p:sldId id="735" r:id="rId155"/>
    <p:sldId id="736" r:id="rId156"/>
    <p:sldId id="737" r:id="rId157"/>
    <p:sldId id="738" r:id="rId158"/>
    <p:sldId id="740" r:id="rId159"/>
    <p:sldId id="741" r:id="rId160"/>
    <p:sldId id="743" r:id="rId161"/>
    <p:sldId id="863" r:id="rId162"/>
    <p:sldId id="416" r:id="rId163"/>
    <p:sldId id="745" r:id="rId164"/>
    <p:sldId id="746" r:id="rId165"/>
    <p:sldId id="747" r:id="rId166"/>
    <p:sldId id="419" r:id="rId167"/>
    <p:sldId id="421" r:id="rId168"/>
    <p:sldId id="422" r:id="rId169"/>
    <p:sldId id="423" r:id="rId170"/>
    <p:sldId id="873" r:id="rId171"/>
    <p:sldId id="874" r:id="rId172"/>
    <p:sldId id="426" r:id="rId173"/>
    <p:sldId id="748" r:id="rId174"/>
    <p:sldId id="875" r:id="rId175"/>
    <p:sldId id="427" r:id="rId176"/>
    <p:sldId id="749" r:id="rId177"/>
    <p:sldId id="429" r:id="rId178"/>
    <p:sldId id="430" r:id="rId179"/>
    <p:sldId id="750" r:id="rId180"/>
    <p:sldId id="876" r:id="rId181"/>
    <p:sldId id="431" r:id="rId182"/>
    <p:sldId id="432" r:id="rId183"/>
    <p:sldId id="434" r:id="rId184"/>
    <p:sldId id="435" r:id="rId185"/>
    <p:sldId id="436" r:id="rId186"/>
    <p:sldId id="437" r:id="rId187"/>
    <p:sldId id="751" r:id="rId188"/>
    <p:sldId id="442" r:id="rId189"/>
    <p:sldId id="441" r:id="rId190"/>
    <p:sldId id="443" r:id="rId191"/>
    <p:sldId id="444" r:id="rId192"/>
    <p:sldId id="445" r:id="rId193"/>
    <p:sldId id="446" r:id="rId194"/>
    <p:sldId id="447" r:id="rId195"/>
    <p:sldId id="753" r:id="rId196"/>
    <p:sldId id="449" r:id="rId197"/>
    <p:sldId id="450" r:id="rId198"/>
    <p:sldId id="452" r:id="rId199"/>
    <p:sldId id="453" r:id="rId200"/>
    <p:sldId id="457" r:id="rId201"/>
    <p:sldId id="459" r:id="rId202"/>
    <p:sldId id="458" r:id="rId203"/>
    <p:sldId id="460" r:id="rId204"/>
    <p:sldId id="756" r:id="rId205"/>
    <p:sldId id="461" r:id="rId206"/>
    <p:sldId id="463" r:id="rId207"/>
    <p:sldId id="877" r:id="rId208"/>
    <p:sldId id="464" r:id="rId209"/>
    <p:sldId id="879" r:id="rId210"/>
    <p:sldId id="759" r:id="rId211"/>
    <p:sldId id="760" r:id="rId212"/>
    <p:sldId id="761" r:id="rId213"/>
    <p:sldId id="762" r:id="rId214"/>
    <p:sldId id="764" r:id="rId215"/>
    <p:sldId id="763" r:id="rId216"/>
    <p:sldId id="766" r:id="rId217"/>
    <p:sldId id="880" r:id="rId218"/>
    <p:sldId id="765" r:id="rId219"/>
    <p:sldId id="769" r:id="rId220"/>
    <p:sldId id="770" r:id="rId221"/>
    <p:sldId id="771" r:id="rId222"/>
    <p:sldId id="467" r:id="rId223"/>
    <p:sldId id="469" r:id="rId224"/>
    <p:sldId id="773" r:id="rId225"/>
    <p:sldId id="774" r:id="rId226"/>
    <p:sldId id="859" r:id="rId227"/>
    <p:sldId id="776" r:id="rId228"/>
    <p:sldId id="777" r:id="rId229"/>
    <p:sldId id="858" r:id="rId230"/>
    <p:sldId id="778" r:id="rId231"/>
    <p:sldId id="860" r:id="rId232"/>
    <p:sldId id="474" r:id="rId233"/>
    <p:sldId id="475" r:id="rId234"/>
    <p:sldId id="476" r:id="rId235"/>
    <p:sldId id="781" r:id="rId236"/>
    <p:sldId id="782" r:id="rId237"/>
    <p:sldId id="483" r:id="rId238"/>
    <p:sldId id="485" r:id="rId239"/>
    <p:sldId id="487" r:id="rId240"/>
    <p:sldId id="488" r:id="rId241"/>
    <p:sldId id="784" r:id="rId242"/>
    <p:sldId id="785" r:id="rId243"/>
    <p:sldId id="864" r:id="rId244"/>
    <p:sldId id="527" r:id="rId245"/>
    <p:sldId id="528" r:id="rId246"/>
    <p:sldId id="529" r:id="rId247"/>
    <p:sldId id="530" r:id="rId248"/>
    <p:sldId id="531" r:id="rId249"/>
    <p:sldId id="532" r:id="rId250"/>
    <p:sldId id="533" r:id="rId251"/>
    <p:sldId id="534" r:id="rId252"/>
    <p:sldId id="786" r:id="rId253"/>
    <p:sldId id="537" r:id="rId254"/>
    <p:sldId id="539" r:id="rId255"/>
    <p:sldId id="540" r:id="rId256"/>
    <p:sldId id="541" r:id="rId257"/>
    <p:sldId id="542" r:id="rId258"/>
    <p:sldId id="789" r:id="rId259"/>
    <p:sldId id="790" r:id="rId260"/>
    <p:sldId id="791" r:id="rId261"/>
    <p:sldId id="792" r:id="rId262"/>
    <p:sldId id="545" r:id="rId263"/>
    <p:sldId id="794" r:id="rId264"/>
    <p:sldId id="548" r:id="rId265"/>
    <p:sldId id="549" r:id="rId266"/>
    <p:sldId id="550" r:id="rId267"/>
    <p:sldId id="797" r:id="rId268"/>
    <p:sldId id="796" r:id="rId269"/>
    <p:sldId id="552" r:id="rId270"/>
    <p:sldId id="553" r:id="rId271"/>
    <p:sldId id="554" r:id="rId272"/>
    <p:sldId id="800" r:id="rId273"/>
    <p:sldId id="555" r:id="rId274"/>
    <p:sldId id="865" r:id="rId275"/>
    <p:sldId id="557" r:id="rId276"/>
    <p:sldId id="558" r:id="rId277"/>
    <p:sldId id="560" r:id="rId278"/>
    <p:sldId id="561" r:id="rId279"/>
    <p:sldId id="562" r:id="rId280"/>
    <p:sldId id="563" r:id="rId281"/>
    <p:sldId id="564" r:id="rId282"/>
    <p:sldId id="565" r:id="rId283"/>
    <p:sldId id="566" r:id="rId284"/>
    <p:sldId id="868" r:id="rId285"/>
    <p:sldId id="568" r:id="rId286"/>
    <p:sldId id="569" r:id="rId287"/>
    <p:sldId id="570" r:id="rId288"/>
    <p:sldId id="878" r:id="rId289"/>
    <p:sldId id="572" r:id="rId290"/>
    <p:sldId id="573" r:id="rId291"/>
    <p:sldId id="574" r:id="rId292"/>
    <p:sldId id="575" r:id="rId293"/>
    <p:sldId id="866" r:id="rId294"/>
    <p:sldId id="578" r:id="rId295"/>
    <p:sldId id="579" r:id="rId296"/>
    <p:sldId id="581" r:id="rId297"/>
    <p:sldId id="582" r:id="rId298"/>
    <p:sldId id="584" r:id="rId299"/>
    <p:sldId id="583" r:id="rId300"/>
    <p:sldId id="585" r:id="rId301"/>
    <p:sldId id="805" r:id="rId302"/>
    <p:sldId id="806" r:id="rId303"/>
    <p:sldId id="588" r:id="rId304"/>
    <p:sldId id="808" r:id="rId305"/>
    <p:sldId id="809" r:id="rId306"/>
    <p:sldId id="590" r:id="rId307"/>
    <p:sldId id="592" r:id="rId308"/>
    <p:sldId id="810" r:id="rId309"/>
    <p:sldId id="814" r:id="rId310"/>
    <p:sldId id="815" r:id="rId311"/>
    <p:sldId id="816" r:id="rId312"/>
    <p:sldId id="867" r:id="rId313"/>
    <p:sldId id="817" r:id="rId314"/>
    <p:sldId id="821" r:id="rId315"/>
    <p:sldId id="820" r:id="rId316"/>
    <p:sldId id="822" r:id="rId317"/>
    <p:sldId id="823" r:id="rId318"/>
    <p:sldId id="824" r:id="rId319"/>
    <p:sldId id="826" r:id="rId320"/>
    <p:sldId id="827" r:id="rId321"/>
    <p:sldId id="828" r:id="rId322"/>
    <p:sldId id="825" r:id="rId323"/>
    <p:sldId id="829" r:id="rId324"/>
    <p:sldId id="870" r:id="rId325"/>
    <p:sldId id="830" r:id="rId326"/>
    <p:sldId id="871" r:id="rId327"/>
    <p:sldId id="831" r:id="rId328"/>
    <p:sldId id="835" r:id="rId329"/>
    <p:sldId id="833" r:id="rId330"/>
    <p:sldId id="836" r:id="rId331"/>
    <p:sldId id="834" r:id="rId332"/>
    <p:sldId id="838" r:id="rId333"/>
    <p:sldId id="839" r:id="rId334"/>
  </p:sldIdLst>
  <p:sldSz cx="9144000" cy="5143500" type="screen16x9"/>
  <p:notesSz cx="6858000" cy="9144000"/>
  <p:embeddedFontLst>
    <p:embeddedFont>
      <p:font typeface="Montserrat" panose="00000500000000000000" pitchFamily="2" charset="0"/>
      <p:regular r:id="rId336"/>
    </p:embeddedFont>
    <p:embeddedFont>
      <p:font typeface="微软雅黑" panose="020B0503020204020204" pitchFamily="34" charset="-122"/>
      <p:regular r:id="rId337"/>
      <p:bold r:id="rId338"/>
    </p:embeddedFont>
    <p:embeddedFont>
      <p:font typeface="微软雅黑 Light" panose="020B0502040204020203" pitchFamily="34" charset="-122"/>
      <p:regular r:id="rId33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A3E5"/>
    <a:srgbClr val="E46C0A"/>
    <a:srgbClr val="00B2FD"/>
    <a:srgbClr val="FFFFFF"/>
    <a:srgbClr val="00B0F0"/>
    <a:srgbClr val="CC0099"/>
    <a:srgbClr val="0000FF"/>
    <a:srgbClr val="0000CC"/>
    <a:srgbClr val="FFFF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91479" autoAdjust="0"/>
  </p:normalViewPr>
  <p:slideViewPr>
    <p:cSldViewPr snapToGrid="0">
      <p:cViewPr varScale="1">
        <p:scale>
          <a:sx n="149" d="100"/>
          <a:sy n="149" d="100"/>
        </p:scale>
        <p:origin x="618" y="13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notesMaster" Target="notesMasters/notesMaster1.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font" Target="fonts/font2.fntdata"/><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3.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4.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presProps" Target="presProps.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viewProps" Target="viewProps.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theme" Target="theme/theme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font" Target="fonts/font1.fntdata"/><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s>
</file>

<file path=ppt/diagrams/_rels/data12.xml.rels><?xml version="1.0" encoding="UTF-8" standalone="yes"?>
<Relationships xmlns="http://schemas.openxmlformats.org/package/2006/relationships"><Relationship Id="rId1" Type="http://schemas.openxmlformats.org/officeDocument/2006/relationships/image" Target="../media/image54.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54.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dgm:spPr/>
      <dgm:t>
        <a:bodyPr/>
        <a:lstStyle/>
        <a:p>
          <a:r>
            <a:rPr lang="zh-CN" altLang="en-US" dirty="0"/>
            <a:t>管理简单；</a:t>
          </a:r>
          <a:endParaRPr lang="en-US" altLang="zh-CN" dirty="0"/>
        </a:p>
        <a:p>
          <a:r>
            <a:rPr lang="zh-CN" altLang="en-US" dirty="0"/>
            <a:t>使用方便；</a:t>
          </a:r>
          <a:endParaRPr lang="en-US" altLang="zh-CN" dirty="0"/>
        </a:p>
        <a:p>
          <a:r>
            <a:rPr lang="zh-CN" altLang="en-US" dirty="0"/>
            <a:t>转发分组迅速；</a:t>
          </a:r>
          <a:endParaRPr lang="en-US" altLang="zh-CN" dirty="0"/>
        </a:p>
        <a:p>
          <a:r>
            <a:rPr lang="zh-CN" altLang="zh-CN" dirty="0"/>
            <a:t>划分子网</a:t>
          </a:r>
          <a:r>
            <a:rPr lang="zh-CN" altLang="en-US" dirty="0"/>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dgm:spPr/>
      <dgm:t>
        <a:bodyPr/>
        <a:lstStyle/>
        <a:p>
          <a:r>
            <a:rPr lang="zh-CN" altLang="en-US" dirty="0"/>
            <a:t>设计上不合理：</a:t>
          </a:r>
          <a:endParaRPr lang="en-US" altLang="zh-CN" dirty="0"/>
        </a:p>
        <a:p>
          <a:r>
            <a:rPr lang="zh-CN" altLang="en-US" dirty="0"/>
            <a:t>大地址块，浪费地址资源；</a:t>
          </a:r>
          <a:endParaRPr lang="en-US" altLang="zh-CN" dirty="0"/>
        </a:p>
        <a:p>
          <a:r>
            <a:rPr lang="zh-CN" altLang="en-US" dirty="0"/>
            <a:t>即使采用划分子网的方法，也无法解决 </a:t>
          </a:r>
          <a:r>
            <a:rPr lang="en-US" altLang="en-US" dirty="0"/>
            <a:t>IP </a:t>
          </a:r>
          <a:r>
            <a:rPr lang="zh-CN" altLang="en-US" dirty="0"/>
            <a:t>地址枯竭的问题。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a:noFill/>
      </dgm:spPr>
    </dgm:pt>
    <dgm:pt modelId="{E873E07A-9E09-453F-95F0-A7AAEE2551B3}" type="pres">
      <dgm:prSet presAssocID="{22018E6E-0B9C-4FC3-8424-7F10274883EC}" presName="ParentText1" presStyleLbl="revTx" presStyleIdx="0" presStyleCnt="2" custScaleX="122205"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22205" custScaleY="86781" custLinFactNeighborX="2411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a:solidFill>
          <a:srgbClr val="92D050"/>
        </a:solidFill>
        <a:ln>
          <a:noFill/>
        </a:ln>
      </dgm:spPr>
    </dgm:pt>
    <dgm:pt modelId="{279C3955-DDC3-45AE-ABAF-A714C59D6D50}" type="pres">
      <dgm:prSet presAssocID="{22018E6E-0B9C-4FC3-8424-7F10274883EC}" presName="Minus" presStyleLbl="alignNode1" presStyleIdx="1" presStyleCnt="2" custLinFactNeighborX="55376"/>
      <dgm:spPr>
        <a:solidFill>
          <a:schemeClr val="tx1">
            <a:lumMod val="50000"/>
            <a:lumOff val="50000"/>
          </a:schemeClr>
        </a:solidFill>
        <a:ln>
          <a:noFill/>
        </a:ln>
      </dgm:spPr>
    </dgm:pt>
    <dgm:pt modelId="{8D85BB93-CCEC-4AF9-A3E3-7305BF0CC5BD}" type="pres">
      <dgm:prSet presAssocID="{22018E6E-0B9C-4FC3-8424-7F10274883EC}" presName="Divider" presStyleLbl="parChTrans1D1" presStyleIdx="0" presStyleCnt="1" custScaleY="72956" custLinFactNeighborY="-4689"/>
      <dgm:spPr>
        <a:ln>
          <a:solidFill>
            <a:schemeClr val="tx1"/>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0" dirty="0">
              <a:solidFill>
                <a:schemeClr val="bg1"/>
              </a:solidFill>
              <a:latin typeface="微软雅黑" panose="020B0503020204020204" pitchFamily="34" charset="-122"/>
              <a:ea typeface="微软雅黑" panose="020B0503020204020204" pitchFamily="34" charset="-122"/>
            </a:rPr>
            <a:t>SDN</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0" dirty="0" err="1">
              <a:solidFill>
                <a:schemeClr val="bg1"/>
              </a:solidFill>
              <a:latin typeface="微软雅黑" panose="020B0503020204020204" pitchFamily="34" charset="-122"/>
              <a:ea typeface="微软雅黑" panose="020B0503020204020204" pitchFamily="34" charset="-122"/>
            </a:rPr>
            <a:t>OpenFlow</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no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045797" y="879666"/>
          <a:ext cx="2519995"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670" tIns="26670" rIns="26670" bIns="26670" numCol="1" spcCol="1270" anchor="t" anchorCtr="0">
          <a:noAutofit/>
        </a:bodyPr>
        <a:lstStyle/>
        <a:p>
          <a:pPr marL="0" lvl="0" indent="0" algn="l" defTabSz="622300">
            <a:lnSpc>
              <a:spcPct val="90000"/>
            </a:lnSpc>
            <a:spcBef>
              <a:spcPct val="0"/>
            </a:spcBef>
            <a:spcAft>
              <a:spcPct val="35000"/>
            </a:spcAft>
            <a:buNone/>
          </a:pPr>
          <a:r>
            <a:rPr lang="zh-CN" altLang="en-US" sz="1400" kern="1200" dirty="0"/>
            <a:t>管理简单；</a:t>
          </a:r>
          <a:endParaRPr lang="en-US" altLang="zh-CN" sz="1400" kern="1200" dirty="0"/>
        </a:p>
        <a:p>
          <a:pPr marL="0" lvl="0" indent="0" algn="l" defTabSz="622300">
            <a:lnSpc>
              <a:spcPct val="90000"/>
            </a:lnSpc>
            <a:spcBef>
              <a:spcPct val="0"/>
            </a:spcBef>
            <a:spcAft>
              <a:spcPct val="35000"/>
            </a:spcAft>
            <a:buNone/>
          </a:pPr>
          <a:r>
            <a:rPr lang="zh-CN" altLang="en-US" sz="1400" kern="1200" dirty="0"/>
            <a:t>使用方便；</a:t>
          </a:r>
          <a:endParaRPr lang="en-US" altLang="zh-CN" sz="1400" kern="1200" dirty="0"/>
        </a:p>
        <a:p>
          <a:pPr marL="0" lvl="0" indent="0" algn="l" defTabSz="622300">
            <a:lnSpc>
              <a:spcPct val="90000"/>
            </a:lnSpc>
            <a:spcBef>
              <a:spcPct val="0"/>
            </a:spcBef>
            <a:spcAft>
              <a:spcPct val="35000"/>
            </a:spcAft>
            <a:buNone/>
          </a:pPr>
          <a:r>
            <a:rPr lang="zh-CN" altLang="en-US" sz="1400" kern="1200" dirty="0"/>
            <a:t>转发分组迅速；</a:t>
          </a:r>
          <a:endParaRPr lang="en-US" altLang="zh-CN" sz="1400" kern="1200" dirty="0"/>
        </a:p>
        <a:p>
          <a:pPr marL="0" lvl="0" indent="0" algn="l" defTabSz="622300">
            <a:lnSpc>
              <a:spcPct val="90000"/>
            </a:lnSpc>
            <a:spcBef>
              <a:spcPct val="0"/>
            </a:spcBef>
            <a:spcAft>
              <a:spcPct val="35000"/>
            </a:spcAft>
            <a:buNone/>
          </a:pPr>
          <a:r>
            <a:rPr lang="zh-CN" altLang="zh-CN" sz="1400" kern="1200" dirty="0"/>
            <a:t>划分子网</a:t>
          </a:r>
          <a:r>
            <a:rPr lang="zh-CN" altLang="en-US" sz="1400" kern="1200" dirty="0"/>
            <a:t>，灵活地使用。</a:t>
          </a:r>
        </a:p>
      </dsp:txBody>
      <dsp:txXfrm>
        <a:off x="1045797" y="879666"/>
        <a:ext cx="2519995" cy="1703744"/>
      </dsp:txXfrm>
    </dsp:sp>
    <dsp:sp modelId="{40AD89A0-37A1-4061-B639-561D759D430F}">
      <dsp:nvSpPr>
        <dsp:cNvPr id="0" name=""/>
        <dsp:cNvSpPr/>
      </dsp:nvSpPr>
      <dsp:spPr>
        <a:xfrm>
          <a:off x="3702772" y="879666"/>
          <a:ext cx="2519995"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670" tIns="26670" rIns="26670" bIns="26670" numCol="1" spcCol="1270" anchor="t" anchorCtr="0">
          <a:noAutofit/>
        </a:bodyPr>
        <a:lstStyle/>
        <a:p>
          <a:pPr marL="0" lvl="0" indent="0" algn="l" defTabSz="622300">
            <a:lnSpc>
              <a:spcPct val="90000"/>
            </a:lnSpc>
            <a:spcBef>
              <a:spcPct val="0"/>
            </a:spcBef>
            <a:spcAft>
              <a:spcPct val="35000"/>
            </a:spcAft>
            <a:buNone/>
          </a:pPr>
          <a:r>
            <a:rPr lang="zh-CN" altLang="en-US" sz="1400" kern="1200" dirty="0"/>
            <a:t>设计上不合理：</a:t>
          </a:r>
          <a:endParaRPr lang="en-US" altLang="zh-CN" sz="1400" kern="1200" dirty="0"/>
        </a:p>
        <a:p>
          <a:pPr marL="0" lvl="0" indent="0" algn="l" defTabSz="622300">
            <a:lnSpc>
              <a:spcPct val="90000"/>
            </a:lnSpc>
            <a:spcBef>
              <a:spcPct val="0"/>
            </a:spcBef>
            <a:spcAft>
              <a:spcPct val="35000"/>
            </a:spcAft>
            <a:buNone/>
          </a:pPr>
          <a:r>
            <a:rPr lang="zh-CN" altLang="en-US" sz="1400" kern="1200" dirty="0"/>
            <a:t>大地址块，浪费地址资源；</a:t>
          </a:r>
          <a:endParaRPr lang="en-US" altLang="zh-CN" sz="1400" kern="1200" dirty="0"/>
        </a:p>
        <a:p>
          <a:pPr marL="0" lvl="0" indent="0" algn="l" defTabSz="622300">
            <a:lnSpc>
              <a:spcPct val="90000"/>
            </a:lnSpc>
            <a:spcBef>
              <a:spcPct val="0"/>
            </a:spcBef>
            <a:spcAft>
              <a:spcPct val="35000"/>
            </a:spcAft>
            <a:buNone/>
          </a:pPr>
          <a:r>
            <a:rPr lang="zh-CN" altLang="en-US" sz="1400" kern="1200" dirty="0"/>
            <a:t>即使采用划分子网的方法，也无法解决 </a:t>
          </a:r>
          <a:r>
            <a:rPr lang="en-US" altLang="en-US" sz="1400" kern="1200" dirty="0"/>
            <a:t>IP </a:t>
          </a:r>
          <a:r>
            <a:rPr lang="zh-CN" altLang="en-US" sz="1400" kern="1200" dirty="0"/>
            <a:t>地址枯竭的问题。</a:t>
          </a:r>
        </a:p>
      </dsp:txBody>
      <dsp:txXfrm>
        <a:off x="3702772" y="879666"/>
        <a:ext cx="2519995" cy="1703744"/>
      </dsp:txXfrm>
    </dsp:sp>
    <dsp:sp modelId="{69C13D01-1AFC-4B1D-A9D4-90EC30CD2E19}">
      <dsp:nvSpPr>
        <dsp:cNvPr id="0" name=""/>
        <dsp:cNvSpPr/>
      </dsp:nvSpPr>
      <dsp:spPr>
        <a:xfrm>
          <a:off x="512443" y="22249"/>
          <a:ext cx="867717" cy="867717"/>
        </a:xfrm>
        <a:prstGeom prst="plus">
          <a:avLst>
            <a:gd name="adj" fmla="val 32810"/>
          </a:avLst>
        </a:prstGeom>
        <a:solidFill>
          <a:srgbClr val="92D050"/>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chemeClr val="tx1">
            <a:lumMod val="50000"/>
            <a:lumOff val="50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919730"/>
          <a:ext cx="510" cy="1368005"/>
        </a:xfrm>
        <a:prstGeom prst="line">
          <a:avLst/>
        </a:prstGeom>
        <a:noFill/>
        <a:ln w="25400" cap="flat" cmpd="sng" algn="ctr">
          <a:solidFill>
            <a:schemeClr val="tx1"/>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506277" y="307"/>
          <a:ext cx="526680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685954" y="307"/>
        <a:ext cx="5087123" cy="718708"/>
      </dsp:txXfrm>
    </dsp:sp>
    <dsp:sp modelId="{F63A45BE-87F8-4243-8A28-A9B96E270ED4}">
      <dsp:nvSpPr>
        <dsp:cNvPr id="0" name=""/>
        <dsp:cNvSpPr/>
      </dsp:nvSpPr>
      <dsp:spPr>
        <a:xfrm>
          <a:off x="1146922"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506277" y="898692"/>
          <a:ext cx="526680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685954" y="898692"/>
        <a:ext cx="5087123" cy="718708"/>
      </dsp:txXfrm>
    </dsp:sp>
    <dsp:sp modelId="{FCC1DF99-0F26-4341-896E-169B093FC04C}">
      <dsp:nvSpPr>
        <dsp:cNvPr id="0" name=""/>
        <dsp:cNvSpPr/>
      </dsp:nvSpPr>
      <dsp:spPr>
        <a:xfrm>
          <a:off x="1146922"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506277" y="1797078"/>
          <a:ext cx="526680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685954" y="1797078"/>
        <a:ext cx="5087123" cy="718708"/>
      </dsp:txXfrm>
    </dsp:sp>
    <dsp:sp modelId="{6B868C05-F9BC-41B1-B7D8-606E2302DF2B}">
      <dsp:nvSpPr>
        <dsp:cNvPr id="0" name=""/>
        <dsp:cNvSpPr/>
      </dsp:nvSpPr>
      <dsp:spPr>
        <a:xfrm>
          <a:off x="1146922"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0" kern="1200" dirty="0">
              <a:solidFill>
                <a:schemeClr val="bg1"/>
              </a:solidFill>
              <a:latin typeface="微软雅黑" panose="020B0503020204020204" pitchFamily="34" charset="-122"/>
              <a:ea typeface="微软雅黑" panose="020B0503020204020204" pitchFamily="34" charset="-122"/>
            </a:rPr>
            <a:t>SDN</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0" kern="1200" dirty="0" err="1">
              <a:solidFill>
                <a:schemeClr val="bg1"/>
              </a:solidFill>
              <a:latin typeface="微软雅黑" panose="020B0503020204020204" pitchFamily="34" charset="-122"/>
              <a:ea typeface="微软雅黑" panose="020B0503020204020204" pitchFamily="34" charset="-122"/>
            </a:rPr>
            <a:t>OpenFlow</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Times New Roman" panose="02020603050405020304" pitchFamily="18"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Times New Roman" panose="02020603050405020304" pitchFamily="18" charset="0"/>
                <a:ea typeface="微软雅黑 Light" panose="020B0502040204020203" pitchFamily="34" charset="-122"/>
              </a:defRPr>
            </a:lvl1pPr>
          </a:lstStyle>
          <a:p>
            <a:fld id="{E3F7A0F7-AD19-4993-8574-730EC50C92A6}" type="datetimeFigureOut">
              <a:rPr lang="zh-CN" altLang="en-US" smtClean="0"/>
              <a:pPr/>
              <a:t>2026/7/25</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Times New Roman" panose="02020603050405020304" pitchFamily="18"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Times New Roman" panose="02020603050405020304" pitchFamily="18"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Software Defined Network</a:t>
            </a:r>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cs typeface="+mn-cs"/>
              </a:rPr>
              <a:t>最早的 </a:t>
            </a:r>
            <a:r>
              <a:rPr lang="en-US" altLang="zh-CN" sz="1200" b="0" i="0" kern="1200" dirty="0">
                <a:solidFill>
                  <a:schemeClr val="tx1"/>
                </a:solidFill>
                <a:effectLst/>
                <a:cs typeface="+mn-cs"/>
              </a:rPr>
              <a:t>RFC </a:t>
            </a:r>
            <a:r>
              <a:rPr lang="zh-CN" altLang="en-US" sz="1200" b="0" i="0" kern="1200" dirty="0">
                <a:solidFill>
                  <a:schemeClr val="tx1"/>
                </a:solidFill>
                <a:effectLst/>
                <a:cs typeface="+mn-cs"/>
              </a:rPr>
              <a:t>对 </a:t>
            </a:r>
            <a:r>
              <a:rPr lang="en-US" altLang="zh-CN" sz="1200" b="0" i="0" kern="1200" dirty="0">
                <a:solidFill>
                  <a:schemeClr val="tx1"/>
                </a:solidFill>
                <a:effectLst/>
                <a:cs typeface="+mn-cs"/>
              </a:rPr>
              <a:t>IP </a:t>
            </a:r>
            <a:r>
              <a:rPr lang="zh-CN" altLang="en-US" sz="1200" b="0" i="0" kern="1200" dirty="0">
                <a:solidFill>
                  <a:schemeClr val="tx1"/>
                </a:solidFill>
                <a:effectLst/>
                <a:cs typeface="+mn-cs"/>
              </a:rPr>
              <a:t>地址的分类只到 </a:t>
            </a:r>
            <a:r>
              <a:rPr lang="en-US" altLang="zh-CN" sz="1200" b="0" i="0" kern="1200" dirty="0">
                <a:solidFill>
                  <a:schemeClr val="tx1"/>
                </a:solidFill>
                <a:effectLst/>
                <a:cs typeface="+mn-cs"/>
              </a:rPr>
              <a:t>C</a:t>
            </a:r>
            <a:r>
              <a:rPr lang="zh-CN" altLang="en-US" sz="1200" b="0" i="0" kern="1200" dirty="0">
                <a:solidFill>
                  <a:schemeClr val="tx1"/>
                </a:solidFill>
                <a:effectLst/>
                <a:cs typeface="+mn-cs"/>
              </a:rPr>
              <a:t>，并将</a:t>
            </a:r>
            <a:r>
              <a:rPr lang="en-US" altLang="zh-CN" sz="1200" b="0" i="0" kern="1200" dirty="0">
                <a:solidFill>
                  <a:schemeClr val="tx1"/>
                </a:solidFill>
                <a:effectLst/>
                <a:cs typeface="+mn-cs"/>
              </a:rPr>
              <a:t>IP</a:t>
            </a:r>
            <a:r>
              <a:rPr lang="zh-CN" altLang="en-US" sz="1200" b="0" i="0" kern="1200" dirty="0">
                <a:solidFill>
                  <a:schemeClr val="tx1"/>
                </a:solidFill>
                <a:effectLst/>
                <a:cs typeface="+mn-cs"/>
              </a:rPr>
              <a:t>地址中的 </a:t>
            </a:r>
            <a:r>
              <a:rPr lang="en-US" altLang="zh-CN" sz="1200" b="0" i="0" kern="1200" dirty="0">
                <a:solidFill>
                  <a:schemeClr val="tx1"/>
                </a:solidFill>
                <a:effectLst/>
                <a:cs typeface="+mn-cs"/>
              </a:rPr>
              <a:t>Bit </a:t>
            </a:r>
            <a:r>
              <a:rPr lang="zh-CN" altLang="en-US" sz="1200" b="0" i="0" kern="1200" dirty="0">
                <a:solidFill>
                  <a:schemeClr val="tx1"/>
                </a:solidFill>
                <a:effectLst/>
                <a:cs typeface="+mn-cs"/>
              </a:rPr>
              <a:t>分为三类，分别是 </a:t>
            </a:r>
            <a:r>
              <a:rPr lang="en-US" altLang="zh-CN" sz="1200" b="0" i="0" kern="1200" dirty="0">
                <a:solidFill>
                  <a:schemeClr val="tx1"/>
                </a:solidFill>
                <a:effectLst/>
                <a:cs typeface="+mn-cs"/>
              </a:rPr>
              <a:t>High order,  net,  host</a:t>
            </a:r>
            <a:r>
              <a:rPr lang="zh-CN" altLang="en-US" sz="1200" b="0" i="0" kern="1200" dirty="0">
                <a:solidFill>
                  <a:schemeClr val="tx1"/>
                </a:solidFill>
                <a:effectLst/>
                <a:cs typeface="+mn-cs"/>
              </a:rPr>
              <a:t>。</a:t>
            </a:r>
            <a:endParaRPr lang="en-US" altLang="zh-CN" sz="1200" b="0" i="0" kern="1200" dirty="0">
              <a:solidFill>
                <a:schemeClr val="tx1"/>
              </a:solidFill>
              <a:effectLst/>
              <a:cs typeface="+mn-cs"/>
            </a:endParaRPr>
          </a:p>
          <a:p>
            <a:r>
              <a:rPr lang="zh-CN" altLang="en-US" sz="1200" b="0" i="0" kern="1200" dirty="0">
                <a:solidFill>
                  <a:schemeClr val="tx1"/>
                </a:solidFill>
                <a:effectLst/>
                <a:cs typeface="+mn-cs"/>
              </a:rPr>
              <a:t>然后更为关键的是下面的一句话 “</a:t>
            </a:r>
            <a:r>
              <a:rPr lang="en-US" altLang="zh-CN" sz="1200" b="0" i="0" kern="1200" dirty="0">
                <a:solidFill>
                  <a:schemeClr val="tx1"/>
                </a:solidFill>
                <a:effectLst/>
                <a:cs typeface="+mn-cs"/>
              </a:rPr>
              <a:t>A value of zero in the network field means this network.</a:t>
            </a:r>
            <a:r>
              <a:rPr lang="zh-CN" altLang="en-US" sz="1200" b="0" i="0" kern="1200" dirty="0">
                <a:solidFill>
                  <a:schemeClr val="tx1"/>
                </a:solidFill>
                <a:effectLst/>
                <a:cs typeface="+mn-cs"/>
              </a:rPr>
              <a:t>” 也就是说 </a:t>
            </a:r>
            <a:r>
              <a:rPr lang="en-US" altLang="zh-CN" sz="1200" b="0" i="0" kern="1200" dirty="0">
                <a:solidFill>
                  <a:schemeClr val="tx1"/>
                </a:solidFill>
                <a:effectLst/>
                <a:cs typeface="+mn-cs"/>
              </a:rPr>
              <a:t>net </a:t>
            </a:r>
            <a:r>
              <a:rPr lang="zh-CN" altLang="en-US" sz="1200" b="0" i="0" kern="1200" dirty="0">
                <a:solidFill>
                  <a:schemeClr val="tx1"/>
                </a:solidFill>
                <a:effectLst/>
                <a:cs typeface="+mn-cs"/>
              </a:rPr>
              <a:t>全</a:t>
            </a:r>
            <a:r>
              <a:rPr lang="en-US" altLang="zh-CN" sz="1200" b="0" i="0" kern="1200" dirty="0">
                <a:solidFill>
                  <a:schemeClr val="tx1"/>
                </a:solidFill>
                <a:effectLst/>
                <a:cs typeface="+mn-cs"/>
              </a:rPr>
              <a:t>0 </a:t>
            </a:r>
            <a:r>
              <a:rPr lang="zh-CN" altLang="en-US" sz="1200" b="0" i="0" kern="1200" dirty="0">
                <a:solidFill>
                  <a:schemeClr val="tx1"/>
                </a:solidFill>
                <a:effectLst/>
                <a:cs typeface="+mn-cs"/>
              </a:rPr>
              <a:t>表示本网络，因此真正可用的 </a:t>
            </a:r>
            <a:r>
              <a:rPr lang="en-US" altLang="zh-CN" sz="1200" b="0" i="0" kern="1200" dirty="0">
                <a:solidFill>
                  <a:schemeClr val="tx1"/>
                </a:solidFill>
                <a:effectLst/>
                <a:cs typeface="+mn-cs"/>
              </a:rPr>
              <a:t>net </a:t>
            </a:r>
            <a:r>
              <a:rPr lang="zh-CN" altLang="en-US" sz="1200" b="0" i="0" kern="1200" dirty="0">
                <a:solidFill>
                  <a:schemeClr val="tx1"/>
                </a:solidFill>
                <a:effectLst/>
                <a:cs typeface="+mn-cs"/>
              </a:rPr>
              <a:t>值应该是从</a:t>
            </a:r>
            <a:r>
              <a:rPr lang="en-US" altLang="zh-CN" sz="1200" b="0" i="0" kern="1200" dirty="0">
                <a:solidFill>
                  <a:schemeClr val="tx1"/>
                </a:solidFill>
                <a:effectLst/>
                <a:cs typeface="+mn-cs"/>
              </a:rPr>
              <a:t>1</a:t>
            </a:r>
            <a:r>
              <a:rPr lang="zh-CN" altLang="en-US" sz="1200" b="0" i="0" kern="1200" dirty="0">
                <a:solidFill>
                  <a:schemeClr val="tx1"/>
                </a:solidFill>
                <a:effectLst/>
                <a:cs typeface="+mn-cs"/>
              </a:rPr>
              <a:t>开始。</a:t>
            </a:r>
            <a:endParaRPr lang="en-US" altLang="zh-CN" sz="1200" b="0" i="0" kern="1200" dirty="0">
              <a:solidFill>
                <a:schemeClr val="tx1"/>
              </a:solidFill>
              <a:effectLst/>
              <a:cs typeface="+mn-cs"/>
            </a:endParaRPr>
          </a:p>
          <a:p>
            <a:r>
              <a:rPr lang="zh-CN" altLang="en-US" sz="1200" b="0" i="0" kern="1200" dirty="0">
                <a:solidFill>
                  <a:schemeClr val="tx1"/>
                </a:solidFill>
                <a:effectLst/>
                <a:cs typeface="+mn-cs"/>
              </a:rPr>
              <a:t>因为这条规则而无法使用的网络号是：</a:t>
            </a:r>
            <a:endParaRPr lang="en-US" altLang="zh-CN" sz="1200" b="0" i="0" kern="1200" dirty="0">
              <a:solidFill>
                <a:schemeClr val="tx1"/>
              </a:solidFill>
              <a:effectLst/>
              <a:cs typeface="+mn-cs"/>
            </a:endParaRPr>
          </a:p>
          <a:p>
            <a:r>
              <a:rPr lang="en-US" altLang="zh-CN" sz="1200" b="0" i="0" kern="1200" dirty="0">
                <a:solidFill>
                  <a:schemeClr val="tx1"/>
                </a:solidFill>
                <a:effectLst/>
                <a:cs typeface="+mn-cs"/>
              </a:rPr>
              <a:t>A: 0.0.0.0/8</a:t>
            </a:r>
          </a:p>
          <a:p>
            <a:r>
              <a:rPr lang="en-US" altLang="zh-CN" sz="1200" b="0" i="0" kern="1200" dirty="0">
                <a:solidFill>
                  <a:schemeClr val="tx1"/>
                </a:solidFill>
                <a:effectLst/>
                <a:cs typeface="+mn-cs"/>
              </a:rPr>
              <a:t>B: 128.0.0.0/16</a:t>
            </a:r>
          </a:p>
          <a:p>
            <a:r>
              <a:rPr lang="en-US" altLang="zh-CN" sz="1200" b="0" i="0" kern="1200" dirty="0">
                <a:solidFill>
                  <a:schemeClr val="tx1"/>
                </a:solidFill>
                <a:effectLst/>
                <a:cs typeface="+mn-cs"/>
              </a:rPr>
              <a:t>C: 192.0.0.0/24</a:t>
            </a: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根据 </a:t>
            </a:r>
            <a:r>
              <a:rPr lang="en-US" altLang="zh-CN" sz="1200" b="1" i="0" kern="1200" dirty="0">
                <a:solidFill>
                  <a:schemeClr val="tx1"/>
                </a:solidFill>
                <a:effectLst/>
                <a:cs typeface="+mn-cs"/>
              </a:rPr>
              <a:t>RFC 791</a:t>
            </a:r>
            <a:r>
              <a:rPr lang="zh-CN" altLang="en-US" sz="1200" b="1" i="0" kern="1200" dirty="0">
                <a:solidFill>
                  <a:schemeClr val="tx1"/>
                </a:solidFill>
                <a:effectLst/>
                <a:cs typeface="+mn-cs"/>
              </a:rPr>
              <a:t>（</a:t>
            </a:r>
            <a:r>
              <a:rPr lang="en-US" altLang="zh-CN" sz="1200" b="1" i="0" kern="1200" dirty="0">
                <a:solidFill>
                  <a:schemeClr val="tx1"/>
                </a:solidFill>
                <a:effectLst/>
                <a:cs typeface="+mn-cs"/>
              </a:rPr>
              <a:t>1981</a:t>
            </a:r>
            <a:r>
              <a:rPr lang="zh-CN" altLang="en-US" sz="1200" b="1" i="0" kern="1200" dirty="0">
                <a:solidFill>
                  <a:schemeClr val="tx1"/>
                </a:solidFill>
                <a:effectLst/>
                <a:cs typeface="+mn-cs"/>
              </a:rPr>
              <a:t>）</a:t>
            </a:r>
            <a:r>
              <a:rPr lang="en-US" altLang="zh-CN" sz="1200" b="1" i="0" kern="1200" dirty="0">
                <a:solidFill>
                  <a:schemeClr val="tx1"/>
                </a:solidFill>
                <a:effectLst/>
                <a:cs typeface="+mn-cs"/>
              </a:rPr>
              <a:t>-INTERNET PROTOCOL </a:t>
            </a:r>
            <a:r>
              <a:rPr lang="zh-CN" altLang="en-US" sz="1200" b="1" i="0" kern="1200" dirty="0">
                <a:solidFill>
                  <a:schemeClr val="tx1"/>
                </a:solidFill>
                <a:effectLst/>
                <a:cs typeface="+mn-cs"/>
              </a:rPr>
              <a:t>说明的标注继续在 </a:t>
            </a:r>
            <a:r>
              <a:rPr lang="en-US" altLang="zh-CN" sz="1200" b="1" i="0" kern="1200" dirty="0">
                <a:solidFill>
                  <a:schemeClr val="tx1"/>
                </a:solidFill>
                <a:effectLst/>
                <a:cs typeface="+mn-cs"/>
              </a:rPr>
              <a:t>RFC 790</a:t>
            </a:r>
            <a:r>
              <a:rPr lang="zh-CN" altLang="en-US" sz="1200" b="1" i="0" kern="1200" dirty="0">
                <a:solidFill>
                  <a:schemeClr val="tx1"/>
                </a:solidFill>
                <a:effectLst/>
                <a:cs typeface="+mn-cs"/>
              </a:rPr>
              <a:t>（</a:t>
            </a:r>
            <a:r>
              <a:rPr lang="en-US" altLang="zh-CN" sz="1200" b="1" i="0" kern="1200" dirty="0">
                <a:solidFill>
                  <a:schemeClr val="tx1"/>
                </a:solidFill>
                <a:effectLst/>
                <a:cs typeface="+mn-cs"/>
              </a:rPr>
              <a:t>1981</a:t>
            </a:r>
            <a:r>
              <a:rPr lang="zh-CN" altLang="en-US" sz="1200" b="1" i="0" kern="1200" dirty="0">
                <a:solidFill>
                  <a:schemeClr val="tx1"/>
                </a:solidFill>
                <a:effectLst/>
                <a:cs typeface="+mn-cs"/>
              </a:rPr>
              <a:t>）</a:t>
            </a:r>
            <a:r>
              <a:rPr lang="en-US" altLang="zh-CN" sz="1200" b="1" i="0" kern="1200" dirty="0">
                <a:solidFill>
                  <a:schemeClr val="tx1"/>
                </a:solidFill>
                <a:effectLst/>
                <a:cs typeface="+mn-cs"/>
              </a:rPr>
              <a:t> - ASSIGNED NUMBERS </a:t>
            </a:r>
            <a:r>
              <a:rPr lang="zh-CN" altLang="en-US" sz="1200" b="1" i="0" kern="1200" dirty="0">
                <a:solidFill>
                  <a:schemeClr val="tx1"/>
                </a:solidFill>
                <a:effectLst/>
                <a:cs typeface="+mn-cs"/>
              </a:rPr>
              <a:t>中找到了更为详细的说明：</a:t>
            </a:r>
            <a:endParaRPr lang="en-US" altLang="zh-CN" sz="1200" b="1" i="0" kern="1200" dirty="0">
              <a:solidFill>
                <a:schemeClr val="tx1"/>
              </a:solidFill>
              <a:effectLst/>
              <a:cs typeface="+mn-cs"/>
            </a:endParaRPr>
          </a:p>
          <a:p>
            <a:r>
              <a:rPr lang="en-US" altLang="zh-CN" sz="1200" b="1" i="0" kern="1200" dirty="0">
                <a:solidFill>
                  <a:schemeClr val="tx1"/>
                </a:solidFill>
                <a:effectLst/>
                <a:cs typeface="+mn-cs"/>
              </a:rPr>
              <a:t>Class A Networks      </a:t>
            </a:r>
          </a:p>
          <a:p>
            <a:r>
              <a:rPr lang="en-US" altLang="zh-CN" sz="1200" b="0" i="0" kern="1200" dirty="0">
                <a:solidFill>
                  <a:schemeClr val="tx1"/>
                </a:solidFill>
                <a:effectLst/>
                <a:cs typeface="+mn-cs"/>
              </a:rPr>
              <a:t>Internet Address  Name          Network                 References      </a:t>
            </a:r>
          </a:p>
          <a:p>
            <a:r>
              <a:rPr lang="en-US" altLang="zh-CN" sz="1200" b="0" i="0" kern="1200" dirty="0">
                <a:solidFill>
                  <a:schemeClr val="tx1"/>
                </a:solidFill>
                <a:effectLst/>
                <a:cs typeface="+mn-cs"/>
              </a:rPr>
              <a:t>----------------       ----                -------                    ----------      </a:t>
            </a:r>
          </a:p>
          <a:p>
            <a:r>
              <a:rPr lang="en-US" altLang="zh-CN" sz="1200" b="0" i="0" kern="1200" dirty="0">
                <a:solidFill>
                  <a:schemeClr val="tx1"/>
                </a:solidFill>
                <a:effectLst/>
                <a:cs typeface="+mn-cs"/>
              </a:rPr>
              <a:t>000.rrr.rrr.rrr                 Reserved                               [JBP]  </a:t>
            </a:r>
          </a:p>
          <a:p>
            <a:endParaRPr lang="en-US" altLang="zh-CN" sz="1200" b="0" i="0" kern="1200" dirty="0">
              <a:solidFill>
                <a:schemeClr val="tx1"/>
              </a:solidFill>
              <a:effectLst/>
              <a:cs typeface="+mn-cs"/>
            </a:endParaRPr>
          </a:p>
          <a:p>
            <a:r>
              <a:rPr lang="en-US" altLang="zh-CN" sz="1200" b="1" i="0" kern="1200" dirty="0">
                <a:solidFill>
                  <a:schemeClr val="tx1"/>
                </a:solidFill>
                <a:effectLst/>
                <a:cs typeface="+mn-cs"/>
              </a:rPr>
              <a:t>Class B Networks      </a:t>
            </a:r>
          </a:p>
          <a:p>
            <a:r>
              <a:rPr lang="en-US" altLang="zh-CN" sz="1200" b="0" i="0" kern="1200" dirty="0">
                <a:solidFill>
                  <a:schemeClr val="tx1"/>
                </a:solidFill>
                <a:effectLst/>
                <a:cs typeface="+mn-cs"/>
              </a:rPr>
              <a:t>Internet Address  Name          Network                 References</a:t>
            </a:r>
          </a:p>
          <a:p>
            <a:r>
              <a:rPr lang="en-US" altLang="zh-CN" sz="1200" b="0" i="0" kern="1200" dirty="0">
                <a:solidFill>
                  <a:schemeClr val="tx1"/>
                </a:solidFill>
                <a:effectLst/>
                <a:cs typeface="+mn-cs"/>
              </a:rPr>
              <a:t>----------------        ----               -------                     ----------      </a:t>
            </a:r>
          </a:p>
          <a:p>
            <a:r>
              <a:rPr lang="en-US" altLang="zh-CN" sz="1200" b="0" i="0" kern="1200" dirty="0">
                <a:solidFill>
                  <a:schemeClr val="tx1"/>
                </a:solidFill>
                <a:effectLst/>
                <a:cs typeface="+mn-cs"/>
              </a:rPr>
              <a:t>128.000.rrr.rrr                 Reserved                             [JBP]</a:t>
            </a:r>
          </a:p>
          <a:p>
            <a:endParaRPr lang="en-US" altLang="zh-CN" sz="1200" b="0" i="0" kern="1200" dirty="0">
              <a:solidFill>
                <a:schemeClr val="tx1"/>
              </a:solidFill>
              <a:effectLst/>
              <a:cs typeface="+mn-cs"/>
            </a:endParaRPr>
          </a:p>
          <a:p>
            <a:r>
              <a:rPr lang="en-US" altLang="zh-CN" sz="1200" b="0" i="0" kern="1200" dirty="0">
                <a:solidFill>
                  <a:schemeClr val="tx1"/>
                </a:solidFill>
                <a:effectLst/>
                <a:cs typeface="+mn-cs"/>
              </a:rPr>
              <a:t>A </a:t>
            </a:r>
            <a:r>
              <a:rPr lang="zh-CN" altLang="en-US" sz="1200" b="0" i="0" kern="1200" dirty="0">
                <a:solidFill>
                  <a:schemeClr val="tx1"/>
                </a:solidFill>
                <a:effectLst/>
                <a:cs typeface="+mn-cs"/>
              </a:rPr>
              <a:t>类和 </a:t>
            </a:r>
            <a:r>
              <a:rPr lang="en-US" altLang="zh-CN" sz="1200" b="0" i="0" kern="1200" dirty="0">
                <a:solidFill>
                  <a:schemeClr val="tx1"/>
                </a:solidFill>
                <a:effectLst/>
                <a:cs typeface="+mn-cs"/>
              </a:rPr>
              <a:t>B </a:t>
            </a:r>
            <a:r>
              <a:rPr lang="zh-CN" altLang="en-US" sz="1200" b="0" i="0" kern="1200" dirty="0">
                <a:solidFill>
                  <a:schemeClr val="tx1"/>
                </a:solidFill>
                <a:effectLst/>
                <a:cs typeface="+mn-cs"/>
              </a:rPr>
              <a:t>类地址都明确说了 </a:t>
            </a:r>
            <a:r>
              <a:rPr lang="en-US" altLang="zh-CN" sz="1200" b="0" i="0" kern="1200" dirty="0">
                <a:solidFill>
                  <a:schemeClr val="tx1"/>
                </a:solidFill>
                <a:effectLst/>
                <a:cs typeface="+mn-cs"/>
              </a:rPr>
              <a:t>0.x.x.x </a:t>
            </a:r>
            <a:r>
              <a:rPr lang="zh-CN" altLang="en-US" sz="1200" b="0" i="0" kern="1200" dirty="0">
                <a:solidFill>
                  <a:schemeClr val="tx1"/>
                </a:solidFill>
                <a:effectLst/>
                <a:cs typeface="+mn-cs"/>
              </a:rPr>
              <a:t>及 </a:t>
            </a:r>
            <a:r>
              <a:rPr lang="en-US" altLang="zh-CN" sz="1200" b="0" i="0" kern="1200" dirty="0">
                <a:solidFill>
                  <a:schemeClr val="tx1"/>
                </a:solidFill>
                <a:effectLst/>
                <a:cs typeface="+mn-cs"/>
              </a:rPr>
              <a:t>128.0.x.x </a:t>
            </a:r>
            <a:r>
              <a:rPr lang="zh-CN" altLang="en-US" sz="1200" b="0" i="0" kern="1200" dirty="0">
                <a:solidFill>
                  <a:schemeClr val="tx1"/>
                </a:solidFill>
                <a:effectLst/>
                <a:cs typeface="+mn-cs"/>
              </a:rPr>
              <a:t>都是保留地址，而在 </a:t>
            </a:r>
            <a:r>
              <a:rPr lang="en-US" altLang="zh-CN" sz="1200" b="0" i="0" kern="1200" dirty="0">
                <a:solidFill>
                  <a:schemeClr val="tx1"/>
                </a:solidFill>
                <a:effectLst/>
                <a:cs typeface="+mn-cs"/>
              </a:rPr>
              <a:t>C </a:t>
            </a:r>
            <a:r>
              <a:rPr lang="zh-CN" altLang="en-US" sz="1200" b="0" i="0" kern="1200" dirty="0">
                <a:solidFill>
                  <a:schemeClr val="tx1"/>
                </a:solidFill>
                <a:effectLst/>
                <a:cs typeface="+mn-cs"/>
              </a:rPr>
              <a:t>类中应该是 </a:t>
            </a:r>
            <a:r>
              <a:rPr lang="en-US" altLang="zh-CN" sz="1200" b="0" i="0" kern="1200" dirty="0">
                <a:solidFill>
                  <a:schemeClr val="tx1"/>
                </a:solidFill>
                <a:effectLst/>
                <a:cs typeface="+mn-cs"/>
              </a:rPr>
              <a:t>RFC </a:t>
            </a:r>
            <a:r>
              <a:rPr lang="zh-CN" altLang="en-US" sz="1200" b="0" i="0" kern="1200" dirty="0">
                <a:solidFill>
                  <a:schemeClr val="tx1"/>
                </a:solidFill>
                <a:effectLst/>
                <a:cs typeface="+mn-cs"/>
              </a:rPr>
              <a:t>文档出现了明显的错误，因为 </a:t>
            </a:r>
            <a:r>
              <a:rPr lang="en-US" altLang="zh-CN" sz="1200" b="0" i="0" kern="1200" dirty="0">
                <a:solidFill>
                  <a:schemeClr val="tx1"/>
                </a:solidFill>
                <a:effectLst/>
                <a:cs typeface="+mn-cs"/>
              </a:rPr>
              <a:t>192.000.001 </a:t>
            </a:r>
            <a:r>
              <a:rPr lang="zh-CN" altLang="en-US" sz="1200" b="0" i="0" kern="1200" dirty="0">
                <a:solidFill>
                  <a:schemeClr val="tx1"/>
                </a:solidFill>
                <a:effectLst/>
                <a:cs typeface="+mn-cs"/>
              </a:rPr>
              <a:t>开头的地址不可能同属两行，显然这里要说明的是 </a:t>
            </a:r>
            <a:r>
              <a:rPr lang="en-US" altLang="zh-CN" sz="1200" b="0" i="0" kern="1200" dirty="0">
                <a:solidFill>
                  <a:schemeClr val="tx1"/>
                </a:solidFill>
                <a:effectLst/>
                <a:cs typeface="+mn-cs"/>
              </a:rPr>
              <a:t>192.0.0.x </a:t>
            </a:r>
            <a:r>
              <a:rPr lang="zh-CN" altLang="en-US" sz="1200" b="0" i="0" kern="1200" dirty="0">
                <a:solidFill>
                  <a:schemeClr val="tx1"/>
                </a:solidFill>
                <a:effectLst/>
                <a:cs typeface="+mn-cs"/>
              </a:rPr>
              <a:t>也是保留地址。  </a:t>
            </a:r>
            <a:endParaRPr lang="en-US" altLang="zh-CN" sz="1200" b="0" i="0" kern="1200" dirty="0">
              <a:solidFill>
                <a:schemeClr val="tx1"/>
              </a:solidFill>
              <a:effectLst/>
              <a:cs typeface="+mn-cs"/>
            </a:endParaRPr>
          </a:p>
          <a:p>
            <a:endParaRPr lang="en-US" altLang="zh-CN" sz="1200" b="0" i="0" kern="1200" dirty="0">
              <a:solidFill>
                <a:schemeClr val="tx1"/>
              </a:solidFill>
              <a:effectLst/>
              <a:cs typeface="+mn-cs"/>
            </a:endParaRPr>
          </a:p>
          <a:p>
            <a:r>
              <a:rPr lang="en-US" altLang="zh-CN" sz="1200" b="1" i="0" kern="1200" dirty="0">
                <a:solidFill>
                  <a:schemeClr val="tx1"/>
                </a:solidFill>
                <a:effectLst/>
                <a:cs typeface="+mn-cs"/>
              </a:rPr>
              <a:t>Class C Networks</a:t>
            </a:r>
            <a:r>
              <a:rPr lang="en-US" altLang="zh-CN" sz="1200" b="0" i="0" kern="1200" dirty="0">
                <a:solidFill>
                  <a:schemeClr val="tx1"/>
                </a:solidFill>
                <a:effectLst/>
                <a:cs typeface="+mn-cs"/>
              </a:rPr>
              <a:t>      </a:t>
            </a:r>
          </a:p>
          <a:p>
            <a:r>
              <a:rPr lang="en-US" altLang="zh-CN" sz="1200" b="0" i="0" kern="1200" dirty="0">
                <a:solidFill>
                  <a:schemeClr val="tx1"/>
                </a:solidFill>
                <a:effectLst/>
                <a:cs typeface="+mn-cs"/>
              </a:rPr>
              <a:t>Internet Address  Name          Network                 References      </a:t>
            </a:r>
          </a:p>
          <a:p>
            <a:r>
              <a:rPr lang="en-US" altLang="zh-CN" sz="1200" b="0" i="0" kern="1200" dirty="0">
                <a:solidFill>
                  <a:schemeClr val="tx1"/>
                </a:solidFill>
                <a:effectLst/>
                <a:cs typeface="+mn-cs"/>
              </a:rPr>
              <a:t>----------------        ----                -------                     ----------      </a:t>
            </a:r>
          </a:p>
          <a:p>
            <a:r>
              <a:rPr lang="en-US" altLang="zh-CN" sz="1200" b="0" i="0" kern="1200" dirty="0">
                <a:solidFill>
                  <a:schemeClr val="tx1"/>
                </a:solidFill>
                <a:effectLst/>
                <a:cs typeface="+mn-cs"/>
              </a:rPr>
              <a:t>192.000.001.rrr                              Reserved                      [JBP]      </a:t>
            </a:r>
          </a:p>
          <a:p>
            <a:r>
              <a:rPr lang="en-US" altLang="zh-CN" sz="1200" b="0" i="0" kern="1200" dirty="0">
                <a:solidFill>
                  <a:schemeClr val="tx1"/>
                </a:solidFill>
                <a:effectLst/>
                <a:cs typeface="+mn-cs"/>
              </a:rPr>
              <a:t>192.000.001.rrr-223.255.254.rrr   Unassigned                   [JBP]</a:t>
            </a: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在 </a:t>
            </a:r>
            <a:r>
              <a:rPr lang="en-US" altLang="zh-CN" sz="1200" b="1" i="0" kern="1200" dirty="0">
                <a:solidFill>
                  <a:schemeClr val="tx1"/>
                </a:solidFill>
                <a:effectLst/>
                <a:cs typeface="+mn-cs"/>
              </a:rPr>
              <a:t>RFC 3330</a:t>
            </a:r>
            <a:r>
              <a:rPr lang="zh-CN" altLang="en-US" sz="1200" b="1" i="0" kern="1200" dirty="0">
                <a:solidFill>
                  <a:schemeClr val="tx1"/>
                </a:solidFill>
                <a:effectLst/>
                <a:cs typeface="+mn-cs"/>
              </a:rPr>
              <a:t>（</a:t>
            </a:r>
            <a:r>
              <a:rPr lang="en-US" altLang="zh-CN" sz="1200" b="1" i="0" kern="1200" dirty="0">
                <a:solidFill>
                  <a:schemeClr val="tx1"/>
                </a:solidFill>
                <a:effectLst/>
                <a:cs typeface="+mn-cs"/>
              </a:rPr>
              <a:t>2002</a:t>
            </a:r>
            <a:r>
              <a:rPr lang="zh-CN" altLang="en-US" sz="1200" b="1" i="0" kern="1200" dirty="0">
                <a:solidFill>
                  <a:schemeClr val="tx1"/>
                </a:solidFill>
                <a:effectLst/>
                <a:cs typeface="+mn-cs"/>
              </a:rPr>
              <a:t>年）</a:t>
            </a:r>
            <a:r>
              <a:rPr lang="en-US" altLang="zh-CN" sz="1200" b="1" i="0" kern="1200" dirty="0">
                <a:solidFill>
                  <a:schemeClr val="tx1"/>
                </a:solidFill>
                <a:effectLst/>
                <a:cs typeface="+mn-cs"/>
              </a:rPr>
              <a:t> - Special-Use IPv4 Addresses </a:t>
            </a:r>
            <a:r>
              <a:rPr lang="zh-CN" altLang="en-US" sz="1200" b="1" i="0" kern="1200" dirty="0">
                <a:solidFill>
                  <a:schemeClr val="tx1"/>
                </a:solidFill>
                <a:effectLst/>
                <a:cs typeface="+mn-cs"/>
              </a:rPr>
              <a:t>里有关于这两段地址的明确说明：   </a:t>
            </a:r>
            <a:endParaRPr lang="en-US" altLang="zh-CN" sz="1200" b="1" i="0" kern="1200" dirty="0">
              <a:solidFill>
                <a:schemeClr val="tx1"/>
              </a:solidFill>
              <a:effectLst/>
              <a:cs typeface="+mn-cs"/>
            </a:endParaRPr>
          </a:p>
          <a:p>
            <a:r>
              <a:rPr lang="en-US" altLang="zh-CN" sz="1200" b="1" i="0" kern="1200" dirty="0">
                <a:solidFill>
                  <a:schemeClr val="tx1"/>
                </a:solidFill>
                <a:effectLst/>
                <a:cs typeface="+mn-cs"/>
              </a:rPr>
              <a:t>128.0.0.0/16 </a:t>
            </a:r>
            <a:r>
              <a:rPr lang="en-US" altLang="zh-CN" sz="1200" b="0" i="0" kern="1200" dirty="0">
                <a:solidFill>
                  <a:schemeClr val="tx1"/>
                </a:solidFill>
                <a:effectLst/>
                <a:cs typeface="+mn-cs"/>
              </a:rPr>
              <a:t>- This block, corresponding to the numerically lowest of   the former Class B addresses, was initially and is still reserved by  the IANA.  </a:t>
            </a:r>
          </a:p>
          <a:p>
            <a:r>
              <a:rPr lang="en-US" altLang="zh-CN" sz="1200" b="0" i="0" kern="1200" dirty="0">
                <a:solidFill>
                  <a:schemeClr val="tx1"/>
                </a:solidFill>
                <a:effectLst/>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cs typeface="+mn-cs"/>
              </a:rPr>
              <a:t>（</a:t>
            </a:r>
            <a:r>
              <a:rPr lang="en-US" altLang="zh-CN" sz="1200" b="0" i="0" kern="1200" dirty="0">
                <a:solidFill>
                  <a:schemeClr val="tx1"/>
                </a:solidFill>
                <a:effectLst/>
                <a:cs typeface="+mn-cs"/>
              </a:rPr>
              <a:t>128.0.0.0/16 - </a:t>
            </a:r>
            <a:r>
              <a:rPr lang="zh-CN" altLang="en-US" sz="1200" b="0" i="0" kern="1200" dirty="0">
                <a:solidFill>
                  <a:schemeClr val="tx1"/>
                </a:solidFill>
                <a:effectLst/>
                <a:cs typeface="+mn-cs"/>
              </a:rPr>
              <a:t>该块对应于前 </a:t>
            </a:r>
            <a:r>
              <a:rPr lang="en-US" altLang="zh-CN" sz="1200" b="0" i="0" kern="1200" dirty="0">
                <a:solidFill>
                  <a:schemeClr val="tx1"/>
                </a:solidFill>
                <a:effectLst/>
                <a:cs typeface="+mn-cs"/>
              </a:rPr>
              <a:t>B </a:t>
            </a:r>
            <a:r>
              <a:rPr lang="zh-CN" altLang="en-US" sz="1200" b="0" i="0" kern="1200" dirty="0">
                <a:solidFill>
                  <a:schemeClr val="tx1"/>
                </a:solidFill>
                <a:effectLst/>
                <a:cs typeface="+mn-cs"/>
              </a:rPr>
              <a:t>类地址中数字最低的地址，最初并且仍然由 </a:t>
            </a:r>
            <a:r>
              <a:rPr lang="en-US" altLang="zh-CN" sz="1200" b="0" i="0" kern="1200" dirty="0">
                <a:solidFill>
                  <a:schemeClr val="tx1"/>
                </a:solidFill>
                <a:effectLst/>
                <a:cs typeface="+mn-cs"/>
              </a:rPr>
              <a:t>IANA </a:t>
            </a:r>
            <a:r>
              <a:rPr lang="zh-CN" altLang="en-US" sz="1200" b="0" i="0" kern="1200" dirty="0">
                <a:solidFill>
                  <a:schemeClr val="tx1"/>
                </a:solidFill>
                <a:effectLst/>
                <a:cs typeface="+mn-cs"/>
              </a:rPr>
              <a:t>保留。鉴于 </a:t>
            </a:r>
            <a:r>
              <a:rPr lang="en-US" altLang="zh-CN" sz="1200" b="0" i="0" kern="1200" dirty="0">
                <a:solidFill>
                  <a:schemeClr val="tx1"/>
                </a:solidFill>
                <a:effectLst/>
                <a:cs typeface="+mn-cs"/>
              </a:rPr>
              <a:t>IP </a:t>
            </a:r>
            <a:r>
              <a:rPr lang="zh-CN" altLang="en-US" sz="1200" b="0" i="0" kern="1200" dirty="0">
                <a:solidFill>
                  <a:schemeClr val="tx1"/>
                </a:solidFill>
                <a:effectLst/>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cs typeface="+mn-cs"/>
            </a:endParaRPr>
          </a:p>
          <a:p>
            <a:endParaRPr lang="en-US" altLang="zh-CN" sz="1200" b="0" i="0" kern="1200" dirty="0">
              <a:solidFill>
                <a:schemeClr val="tx1"/>
              </a:solidFill>
              <a:effectLst/>
              <a:cs typeface="+mn-cs"/>
            </a:endParaRPr>
          </a:p>
          <a:p>
            <a:r>
              <a:rPr lang="en-US" altLang="zh-CN" sz="1200" b="1" i="0" kern="1200" dirty="0">
                <a:solidFill>
                  <a:schemeClr val="tx1"/>
                </a:solidFill>
                <a:effectLst/>
                <a:cs typeface="+mn-cs"/>
              </a:rPr>
              <a:t>192.0.0.0/24</a:t>
            </a:r>
            <a:r>
              <a:rPr lang="en-US" altLang="zh-CN" sz="1200" b="0" i="0" kern="1200" dirty="0">
                <a:solidFill>
                  <a:schemeClr val="tx1"/>
                </a:solidFill>
                <a:effectLst/>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cs typeface="+mn-cs"/>
              </a:rPr>
              <a:t>（</a:t>
            </a:r>
            <a:r>
              <a:rPr lang="en-US" altLang="zh-CN" sz="1200" b="0" i="0" kern="1200" dirty="0">
                <a:solidFill>
                  <a:schemeClr val="tx1"/>
                </a:solidFill>
                <a:effectLst/>
                <a:cs typeface="+mn-cs"/>
              </a:rPr>
              <a:t>192.0.0.0/24 - </a:t>
            </a:r>
            <a:r>
              <a:rPr lang="zh-CN" altLang="en-US" sz="1200" b="0" i="0" kern="1200" dirty="0">
                <a:solidFill>
                  <a:schemeClr val="tx1"/>
                </a:solidFill>
                <a:effectLst/>
                <a:cs typeface="+mn-cs"/>
              </a:rPr>
              <a:t>该块对应于以前的 </a:t>
            </a:r>
            <a:r>
              <a:rPr lang="en-US" altLang="zh-CN" sz="1200" b="0" i="0" kern="1200" dirty="0">
                <a:solidFill>
                  <a:schemeClr val="tx1"/>
                </a:solidFill>
                <a:effectLst/>
                <a:cs typeface="+mn-cs"/>
              </a:rPr>
              <a:t>C </a:t>
            </a:r>
            <a:r>
              <a:rPr lang="zh-CN" altLang="en-US" sz="1200" b="0" i="0" kern="1200" dirty="0">
                <a:solidFill>
                  <a:schemeClr val="tx1"/>
                </a:solidFill>
                <a:effectLst/>
                <a:cs typeface="+mn-cs"/>
              </a:rPr>
              <a:t>类地址中数字最低的地址，最初并且仍然由 </a:t>
            </a:r>
            <a:r>
              <a:rPr lang="en-US" altLang="zh-CN" sz="1200" b="0" i="0" kern="1200" dirty="0">
                <a:solidFill>
                  <a:schemeClr val="tx1"/>
                </a:solidFill>
                <a:effectLst/>
                <a:cs typeface="+mn-cs"/>
              </a:rPr>
              <a:t>IANA </a:t>
            </a:r>
            <a:r>
              <a:rPr lang="zh-CN" altLang="en-US" sz="1200" b="0" i="0" kern="1200" dirty="0">
                <a:solidFill>
                  <a:schemeClr val="tx1"/>
                </a:solidFill>
                <a:effectLst/>
                <a:cs typeface="+mn-cs"/>
              </a:rPr>
              <a:t>保留。鉴于 </a:t>
            </a:r>
            <a:r>
              <a:rPr lang="en-US" altLang="zh-CN" sz="1200" b="0" i="0" kern="1200" dirty="0">
                <a:solidFill>
                  <a:schemeClr val="tx1"/>
                </a:solidFill>
                <a:effectLst/>
                <a:cs typeface="+mn-cs"/>
              </a:rPr>
              <a:t>IP </a:t>
            </a:r>
            <a:r>
              <a:rPr lang="zh-CN" altLang="en-US" sz="1200" b="0" i="0" kern="1200" dirty="0">
                <a:solidFill>
                  <a:schemeClr val="tx1"/>
                </a:solidFill>
                <a:effectLst/>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cs typeface="+mn-cs"/>
            </a:endParaRP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这个 </a:t>
            </a:r>
            <a:r>
              <a:rPr lang="en-US" altLang="zh-CN" sz="1200" b="1" i="0" kern="1200" dirty="0">
                <a:solidFill>
                  <a:schemeClr val="tx1"/>
                </a:solidFill>
                <a:effectLst/>
                <a:cs typeface="+mn-cs"/>
              </a:rPr>
              <a:t>RFC </a:t>
            </a:r>
            <a:r>
              <a:rPr lang="zh-CN" altLang="en-US" sz="1200" b="1" i="0" kern="1200" dirty="0">
                <a:solidFill>
                  <a:schemeClr val="tx1"/>
                </a:solidFill>
                <a:effectLst/>
                <a:cs typeface="+mn-cs"/>
              </a:rPr>
              <a:t>发表于 </a:t>
            </a:r>
            <a:r>
              <a:rPr lang="en-US" altLang="zh-CN" sz="1200" b="1" i="0" kern="1200" dirty="0">
                <a:solidFill>
                  <a:schemeClr val="tx1"/>
                </a:solidFill>
                <a:effectLst/>
                <a:cs typeface="+mn-cs"/>
              </a:rPr>
              <a:t>2002 </a:t>
            </a:r>
            <a:r>
              <a:rPr lang="zh-CN" altLang="en-US" sz="1200" b="1" i="0" kern="1200" dirty="0">
                <a:solidFill>
                  <a:schemeClr val="tx1"/>
                </a:solidFill>
                <a:effectLst/>
                <a:cs typeface="+mn-cs"/>
              </a:rPr>
              <a:t>年，对于这两段地址明确表示因为无类地址空间的原因，不再需要保留，地址将在今后进行分配。</a:t>
            </a:r>
            <a:endParaRPr lang="en-US" altLang="zh-CN" sz="1200" b="1" i="0" kern="1200" dirty="0">
              <a:solidFill>
                <a:schemeClr val="tx1"/>
              </a:solidFill>
              <a:effectLst/>
              <a:cs typeface="+mn-cs"/>
            </a:endParaRPr>
          </a:p>
          <a:p>
            <a:endParaRPr lang="en-US" altLang="zh-CN" sz="1200" b="1" i="0" kern="1200" dirty="0">
              <a:solidFill>
                <a:schemeClr val="tx1"/>
              </a:solidFill>
              <a:effectLst/>
              <a:cs typeface="+mn-cs"/>
            </a:endParaRP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主机号不能为全 </a:t>
            </a:r>
            <a:r>
              <a:rPr lang="en-US" altLang="zh-CN" sz="1200" b="1" i="0" kern="1200" dirty="0">
                <a:solidFill>
                  <a:schemeClr val="tx1"/>
                </a:solidFill>
                <a:effectLst/>
                <a:cs typeface="+mn-cs"/>
              </a:rPr>
              <a:t>0 </a:t>
            </a:r>
            <a:r>
              <a:rPr lang="zh-CN" altLang="en-US" sz="1200" b="1" i="0" kern="1200" dirty="0">
                <a:solidFill>
                  <a:schemeClr val="tx1"/>
                </a:solidFill>
                <a:effectLst/>
                <a:cs typeface="+mn-cs"/>
              </a:rPr>
              <a:t>和全 </a:t>
            </a:r>
            <a:r>
              <a:rPr lang="en-US" altLang="zh-CN" sz="1200" b="1" i="0" kern="1200" dirty="0">
                <a:solidFill>
                  <a:schemeClr val="tx1"/>
                </a:solidFill>
                <a:effectLst/>
                <a:cs typeface="+mn-cs"/>
              </a:rPr>
              <a:t>1</a:t>
            </a:r>
          </a:p>
          <a:p>
            <a:pPr marL="171450" indent="-171450">
              <a:buFont typeface="Arial" panose="020B0604020202020204" pitchFamily="34" charset="0"/>
              <a:buChar char="•"/>
            </a:pPr>
            <a:r>
              <a:rPr lang="zh-CN" altLang="en-US" sz="1200" b="0" i="0" kern="1200" dirty="0">
                <a:solidFill>
                  <a:schemeClr val="tx1"/>
                </a:solidFill>
                <a:effectLst/>
                <a:cs typeface="+mn-cs"/>
              </a:rPr>
              <a:t>主机位全为</a:t>
            </a:r>
            <a:r>
              <a:rPr lang="en-US" altLang="zh-CN" sz="1200" b="0" i="0" kern="1200" dirty="0">
                <a:solidFill>
                  <a:schemeClr val="tx1"/>
                </a:solidFill>
                <a:effectLst/>
                <a:cs typeface="+mn-cs"/>
              </a:rPr>
              <a:t>0</a:t>
            </a:r>
            <a:r>
              <a:rPr lang="zh-CN" altLang="en-US" sz="1200" b="0" i="0" kern="1200" dirty="0">
                <a:solidFill>
                  <a:schemeClr val="tx1"/>
                </a:solidFill>
                <a:effectLst/>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cs typeface="+mn-cs"/>
            </a:endParaRPr>
          </a:p>
          <a:p>
            <a:pPr marL="171450" indent="-171450">
              <a:buFont typeface="Arial" panose="020B0604020202020204" pitchFamily="34" charset="0"/>
              <a:buChar char="•"/>
            </a:pPr>
            <a:r>
              <a:rPr lang="zh-CN" altLang="en-US" sz="1200" b="0" i="0" kern="1200" dirty="0">
                <a:solidFill>
                  <a:schemeClr val="tx1"/>
                </a:solidFill>
                <a:effectLst/>
                <a:cs typeface="+mn-cs"/>
              </a:rPr>
              <a:t>地址位全为</a:t>
            </a:r>
            <a:r>
              <a:rPr lang="en-US" altLang="zh-CN" sz="1200" b="0" i="0" kern="1200" dirty="0">
                <a:solidFill>
                  <a:schemeClr val="tx1"/>
                </a:solidFill>
                <a:effectLst/>
                <a:cs typeface="+mn-cs"/>
              </a:rPr>
              <a:t>1</a:t>
            </a:r>
            <a:r>
              <a:rPr lang="zh-CN" altLang="en-US" sz="1200" b="0" i="0" kern="1200" dirty="0">
                <a:solidFill>
                  <a:schemeClr val="tx1"/>
                </a:solidFill>
                <a:effectLst/>
                <a:cs typeface="+mn-cs"/>
              </a:rPr>
              <a:t>的地址是这个网络中主机的广播地址，当网络中一台主机向这个</a:t>
            </a:r>
            <a:r>
              <a:rPr lang="en-US" altLang="zh-CN" sz="1200" b="0" i="0" kern="1200" dirty="0" err="1">
                <a:solidFill>
                  <a:schemeClr val="tx1"/>
                </a:solidFill>
                <a:effectLst/>
                <a:cs typeface="+mn-cs"/>
              </a:rPr>
              <a:t>ip</a:t>
            </a:r>
            <a:r>
              <a:rPr lang="zh-CN" altLang="en-US" sz="1200" b="0" i="0" kern="1200" dirty="0">
                <a:solidFill>
                  <a:schemeClr val="tx1"/>
                </a:solidFill>
                <a:effectLst/>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cs typeface="+mn-cs"/>
              </a:rPr>
              <a:t>网络号或子网号是否能为 全 </a:t>
            </a:r>
            <a:r>
              <a:rPr lang="en-US" altLang="zh-CN" sz="1200" b="1" i="0" kern="1200" dirty="0">
                <a:solidFill>
                  <a:schemeClr val="tx1"/>
                </a:solidFill>
                <a:effectLst/>
                <a:cs typeface="+mn-cs"/>
              </a:rPr>
              <a:t>0 </a:t>
            </a:r>
            <a:r>
              <a:rPr lang="zh-CN" altLang="en-US" sz="1200" b="1" i="0" kern="1200" dirty="0">
                <a:solidFill>
                  <a:schemeClr val="tx1"/>
                </a:solidFill>
                <a:effectLst/>
                <a:cs typeface="+mn-cs"/>
              </a:rPr>
              <a:t>和全 </a:t>
            </a:r>
            <a:r>
              <a:rPr lang="en-US" altLang="zh-CN" sz="1200" b="1" i="0" kern="1200" dirty="0">
                <a:solidFill>
                  <a:schemeClr val="tx1"/>
                </a:solidFill>
                <a:effectLst/>
                <a:cs typeface="+mn-cs"/>
              </a:rPr>
              <a:t>1</a:t>
            </a:r>
            <a:r>
              <a:rPr lang="zh-CN" altLang="en-US" sz="1200" b="1" i="0" kern="1200" dirty="0">
                <a:solidFill>
                  <a:schemeClr val="tx1"/>
                </a:solidFill>
                <a:effectLst/>
                <a:cs typeface="+mn-cs"/>
              </a:rPr>
              <a:t>？</a:t>
            </a:r>
            <a:endParaRPr lang="en-US" altLang="zh-CN" sz="1200" b="1" i="0" kern="1200" dirty="0">
              <a:solidFill>
                <a:schemeClr val="tx1"/>
              </a:solidFill>
              <a:effectLst/>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37</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52</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53</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197</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198</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211</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212</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213</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266</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267</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283</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287</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7CEC1-BC0C-B826-74FC-E0B53FDA7D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836FB1-2FB7-4D0B-B32E-C2B8EE3DC5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4B1E97-91C9-0E1F-504A-60A4F561F07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275986-9ACA-291A-3A6F-7AD76CF971BA}"/>
              </a:ext>
            </a:extLst>
          </p:cNvPr>
          <p:cNvSpPr>
            <a:spLocks noGrp="1"/>
          </p:cNvSpPr>
          <p:nvPr>
            <p:ph type="sldNum" sz="quarter" idx="10"/>
          </p:nvPr>
        </p:nvSpPr>
        <p:spPr/>
        <p:txBody>
          <a:bodyPr/>
          <a:lstStyle/>
          <a:p>
            <a:fld id="{0B14BD24-89E3-4C51-B736-BCCE6C13A884}" type="slidenum">
              <a:rPr lang="zh-CN" altLang="en-US" smtClean="0"/>
              <a:pPr/>
              <a:t>288</a:t>
            </a:fld>
            <a:endParaRPr lang="zh-CN" altLang="en-US"/>
          </a:p>
        </p:txBody>
      </p:sp>
    </p:spTree>
    <p:extLst>
      <p:ext uri="{BB962C8B-B14F-4D97-AF65-F5344CB8AC3E}">
        <p14:creationId xmlns:p14="http://schemas.microsoft.com/office/powerpoint/2010/main" val="38284536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296</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311</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328</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330</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331</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332</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836904"/>
            <a:ext cx="4320000" cy="461665"/>
          </a:xfrm>
          <a:prstGeom prst="rect">
            <a:avLst/>
          </a:prstGeom>
        </p:spPr>
        <p:txBody>
          <a:bodyPr anchor="ctr" anchorCtr="0">
            <a:spAutoFit/>
          </a:bodyPr>
          <a:lstStyle>
            <a:lvl1pPr algn="r">
              <a:defRPr lang="zh-CN" altLang="en-US" sz="2400" dirty="0"/>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2520000"/>
          </a:xfrm>
          <a:prstGeom prst="rect">
            <a:avLst/>
          </a:prstGeom>
        </p:spPr>
        <p:txBody>
          <a:bodyPr>
            <a:noAutofit/>
          </a:bodyPr>
          <a:lstStyle>
            <a:lvl1pPr marL="0" indent="0" algn="r">
              <a:spcBef>
                <a:spcPts val="600"/>
              </a:spcBef>
              <a:buNone/>
              <a:defRPr lang="zh-CN" altLang="en-US" sz="2000" dirty="0"/>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400110"/>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400110"/>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dirty="0"/>
              <a:t>单击此处编辑母版标题样式</a:t>
            </a:r>
          </a:p>
        </p:txBody>
      </p:sp>
      <p:sp>
        <p:nvSpPr>
          <p:cNvPr id="3" name="内容占位符 2">
            <a:extLst>
              <a:ext uri="{FF2B5EF4-FFF2-40B4-BE49-F238E27FC236}">
                <a16:creationId xmlns:a16="http://schemas.microsoft.com/office/drawing/2014/main" id="{F32F132C-032F-302C-AF35-F7AB127F0D25}"/>
              </a:ext>
            </a:extLst>
          </p:cNvPr>
          <p:cNvSpPr>
            <a:spLocks noGrp="1"/>
          </p:cNvSpPr>
          <p:nvPr>
            <p:ph sz="quarter" idx="10"/>
          </p:nvPr>
        </p:nvSpPr>
        <p:spPr>
          <a:xfrm>
            <a:off x="612000" y="648000"/>
            <a:ext cx="7920000" cy="3960000"/>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400110"/>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dirty="0"/>
              <a:t>单击此处编辑母版标题样式</a:t>
            </a:r>
          </a:p>
        </p:txBody>
      </p:sp>
      <p:sp>
        <p:nvSpPr>
          <p:cNvPr id="3" name="内容占位符 2">
            <a:extLst>
              <a:ext uri="{FF2B5EF4-FFF2-40B4-BE49-F238E27FC236}">
                <a16:creationId xmlns:a16="http://schemas.microsoft.com/office/drawing/2014/main" id="{B533204F-2402-5E2C-9482-251D994FFFB6}"/>
              </a:ext>
            </a:extLst>
          </p:cNvPr>
          <p:cNvSpPr>
            <a:spLocks noGrp="1"/>
          </p:cNvSpPr>
          <p:nvPr>
            <p:ph sz="quarter" idx="10"/>
          </p:nvPr>
        </p:nvSpPr>
        <p:spPr>
          <a:xfrm>
            <a:off x="501650" y="648000"/>
            <a:ext cx="3960000" cy="396000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4405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30119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4405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30119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nvGrpSpPr>
          <p:cNvPr id="10" name="组合 9">
            <a:extLst>
              <a:ext uri="{FF2B5EF4-FFF2-40B4-BE49-F238E27FC236}">
                <a16:creationId xmlns:a16="http://schemas.microsoft.com/office/drawing/2014/main" id="{81E48D45-6B7C-B5E8-85D2-4C6097EA2A7B}"/>
              </a:ext>
            </a:extLst>
          </p:cNvPr>
          <p:cNvGrpSpPr/>
          <p:nvPr userDrawn="1"/>
        </p:nvGrpSpPr>
        <p:grpSpPr>
          <a:xfrm>
            <a:off x="8416007" y="4411600"/>
            <a:ext cx="576000" cy="576000"/>
            <a:chOff x="8226363" y="4411600"/>
            <a:chExt cx="576000" cy="576000"/>
          </a:xfrm>
        </p:grpSpPr>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26363" y="4411600"/>
              <a:ext cx="576000" cy="576000"/>
            </a:xfrm>
            <a:prstGeom prst="rect">
              <a:avLst/>
            </a:prstGeom>
            <a:solidFill>
              <a:schemeClr val="bg1"/>
            </a:solidFill>
            <a:ln w="12700" algn="ctr">
              <a:solidFill>
                <a:srgbClr val="C00000"/>
              </a:solidFill>
              <a:miter lim="800000"/>
              <a:headEnd/>
              <a:tailEnd/>
            </a:ln>
          </p:spPr>
          <p:txBody>
            <a:bodyPr wrap="none" anchor="ctr"/>
            <a:lstStyle/>
            <a:p>
              <a:pPr algn="ctr" eaLnBrk="0" hangingPunct="0"/>
              <a:endParaRPr lang="fr-FR" altLang="zh-CN">
                <a:cs typeface="Arial" charset="0"/>
              </a:endParaRPr>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26363" y="4411600"/>
              <a:ext cx="576000" cy="576000"/>
            </a:xfrm>
            <a:prstGeom prst="rect">
              <a:avLst/>
            </a:prstGeom>
          </p:spPr>
        </p:pic>
      </p:gr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2000" y="4832695"/>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66133" y="4832695"/>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4783500"/>
            <a:ext cx="360000" cy="360000"/>
          </a:xfrm>
          <a:prstGeom prst="rect">
            <a:avLst/>
          </a:prstGeom>
        </p:spPr>
      </p:pic>
      <p:sp>
        <p:nvSpPr>
          <p:cNvPr id="2" name="标题占位符 1">
            <a:extLst>
              <a:ext uri="{FF2B5EF4-FFF2-40B4-BE49-F238E27FC236}">
                <a16:creationId xmlns:a16="http://schemas.microsoft.com/office/drawing/2014/main" id="{2C361FA2-DEBB-85E9-0877-2857D2677D35}"/>
              </a:ext>
            </a:extLst>
          </p:cNvPr>
          <p:cNvSpPr>
            <a:spLocks noGrp="1"/>
          </p:cNvSpPr>
          <p:nvPr>
            <p:ph type="title"/>
          </p:nvPr>
        </p:nvSpPr>
        <p:spPr>
          <a:xfrm>
            <a:off x="2412000" y="144000"/>
            <a:ext cx="4320000" cy="400110"/>
          </a:xfrm>
          <a:prstGeom prst="rect">
            <a:avLst/>
          </a:prstGeom>
        </p:spPr>
        <p:txBody>
          <a:bodyPr vert="horz" lIns="91440" tIns="45720" rIns="91440" bIns="45720" rtlCol="0" anchor="ctr">
            <a:spAutoFit/>
          </a:bodyPr>
          <a:lstStyle/>
          <a:p>
            <a:r>
              <a:rPr lang="zh-CN" altLang="en-US"/>
              <a:t>单击此处编辑母版标题样式</a:t>
            </a:r>
          </a:p>
        </p:txBody>
      </p:sp>
      <p:sp>
        <p:nvSpPr>
          <p:cNvPr id="9" name="文本占位符 8">
            <a:extLst>
              <a:ext uri="{FF2B5EF4-FFF2-40B4-BE49-F238E27FC236}">
                <a16:creationId xmlns:a16="http://schemas.microsoft.com/office/drawing/2014/main" id="{903C2480-CC9F-310C-795E-5D80AFED5F49}"/>
              </a:ext>
            </a:extLst>
          </p:cNvPr>
          <p:cNvSpPr>
            <a:spLocks noGrp="1"/>
          </p:cNvSpPr>
          <p:nvPr>
            <p:ph type="body" idx="1"/>
          </p:nvPr>
        </p:nvSpPr>
        <p:spPr>
          <a:xfrm>
            <a:off x="612000" y="648000"/>
            <a:ext cx="7920000" cy="396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lang="zh-CN" altLang="en-US" sz="2000" kern="1200" smtClean="0">
          <a:solidFill>
            <a:schemeClr val="tx1"/>
          </a:solidFill>
          <a:latin typeface="+mj-lt"/>
          <a:ea typeface="+mj-ea"/>
          <a:cs typeface="+mj-cs"/>
        </a:defRPr>
      </a:lvl1pPr>
    </p:titleStyle>
    <p:bodyStyle>
      <a:lvl1pPr marL="0" indent="-180000" algn="l" defTabSz="914400" rtl="0" eaLnBrk="1" latinLnBrk="0" hangingPunct="1">
        <a:spcBef>
          <a:spcPts val="0"/>
        </a:spcBef>
        <a:spcAft>
          <a:spcPts val="600"/>
        </a:spcAft>
        <a:buFont typeface="Wingdings" panose="05000000000000000000" pitchFamily="2" charset="2"/>
        <a:buChar char="§"/>
        <a:defRPr lang="zh-CN" altLang="en-US" sz="1600" kern="1200" smtClean="0">
          <a:solidFill>
            <a:schemeClr val="tx1"/>
          </a:solidFill>
          <a:latin typeface="+mn-lt"/>
          <a:ea typeface="+mn-ea"/>
          <a:cs typeface="+mn-cs"/>
        </a:defRPr>
      </a:lvl1pPr>
      <a:lvl2pPr marL="540000" indent="-180000" algn="l" defTabSz="914400" rtl="0" eaLnBrk="1" latinLnBrk="0" hangingPunct="1">
        <a:spcBef>
          <a:spcPts val="0"/>
        </a:spcBef>
        <a:spcAft>
          <a:spcPts val="600"/>
        </a:spcAft>
        <a:buFont typeface="Wingdings" panose="05000000000000000000" pitchFamily="2" charset="2"/>
        <a:buChar char=""/>
        <a:defRPr lang="zh-CN" altLang="en-US" sz="1400" kern="1200" smtClean="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zh-CN" altLang="en-US" sz="1200" kern="1200" smtClean="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zh-CN" altLang="en-US" sz="1100" kern="1200" smtClean="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zh-CN" altLang="en-US" sz="1100" kern="1200" smtClean="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5.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9.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5.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8.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9.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10.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28.e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6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6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6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17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9.wmf"/></Relationships>
</file>

<file path=ppt/slides/_rels/slide176.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9.wmf"/><Relationship Id="rId4" Type="http://schemas.openxmlformats.org/officeDocument/2006/relationships/image" Target="../media/image3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5.xml"/><Relationship Id="rId4" Type="http://schemas.openxmlformats.org/officeDocument/2006/relationships/image" Target="../media/image36.svg"/></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5.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5.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8.png"/><Relationship Id="rId1" Type="http://schemas.openxmlformats.org/officeDocument/2006/relationships/slideLayout" Target="../slideLayouts/slideLayout3.xml"/><Relationship Id="rId5" Type="http://schemas.openxmlformats.org/officeDocument/2006/relationships/image" Target="../media/image39.svg"/><Relationship Id="rId4" Type="http://schemas.openxmlformats.org/officeDocument/2006/relationships/image" Target="../media/image22.wmf"/></Relationships>
</file>

<file path=ppt/slides/_rels/slide24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8.png"/><Relationship Id="rId1" Type="http://schemas.openxmlformats.org/officeDocument/2006/relationships/slideLayout" Target="../slideLayouts/slideLayout3.xml"/><Relationship Id="rId5" Type="http://schemas.openxmlformats.org/officeDocument/2006/relationships/image" Target="../media/image39.svg"/><Relationship Id="rId4" Type="http://schemas.openxmlformats.org/officeDocument/2006/relationships/image" Target="../media/image22.wmf"/></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9.wmf"/><Relationship Id="rId1" Type="http://schemas.openxmlformats.org/officeDocument/2006/relationships/slideLayout" Target="../slideLayouts/slideLayout3.xml"/><Relationship Id="rId4" Type="http://schemas.openxmlformats.org/officeDocument/2006/relationships/image" Target="../media/image39.svg"/></Relationships>
</file>

<file path=ppt/slides/_rels/slide25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9.wmf"/><Relationship Id="rId1" Type="http://schemas.openxmlformats.org/officeDocument/2006/relationships/slideLayout" Target="../slideLayouts/slideLayout3.xml"/><Relationship Id="rId6" Type="http://schemas.openxmlformats.org/officeDocument/2006/relationships/image" Target="../media/image42.svg"/><Relationship Id="rId5" Type="http://schemas.openxmlformats.org/officeDocument/2006/relationships/image" Target="../media/image41.svg"/><Relationship Id="rId4" Type="http://schemas.openxmlformats.org/officeDocument/2006/relationships/image" Target="../media/image40.sv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0.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1.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2" Type="http://schemas.openxmlformats.org/officeDocument/2006/relationships/image" Target="../media/image45.wmf"/><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0.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48.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6.wmf"/></Relationships>
</file>

<file path=ppt/slides/_rels/slide282.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48.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6.wmf"/></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1.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6.wmf"/><Relationship Id="rId5" Type="http://schemas.openxmlformats.org/officeDocument/2006/relationships/image" Target="../media/image9.wmf"/><Relationship Id="rId4" Type="http://schemas.openxmlformats.org/officeDocument/2006/relationships/image" Target="../media/image46.wmf"/></Relationships>
</file>

<file path=ppt/slides/_rels/slide28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26.wmf"/><Relationship Id="rId5" Type="http://schemas.openxmlformats.org/officeDocument/2006/relationships/image" Target="../media/image9.wmf"/><Relationship Id="rId4" Type="http://schemas.openxmlformats.org/officeDocument/2006/relationships/image" Target="../media/image46.wmf"/></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2" Type="http://schemas.openxmlformats.org/officeDocument/2006/relationships/image" Target="../media/image49.jpg"/><Relationship Id="rId1" Type="http://schemas.openxmlformats.org/officeDocument/2006/relationships/slideLayout" Target="../slideLayouts/slideLayout1.xml"/></Relationships>
</file>

<file path=ppt/slides/_rels/slide294.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3" Type="http://schemas.openxmlformats.org/officeDocument/2006/relationships/image" Target="../media/image50.wmf"/><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50.wmf"/></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0.wmf"/></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323.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3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9.wmf"/><Relationship Id="rId1" Type="http://schemas.openxmlformats.org/officeDocument/2006/relationships/slideLayout" Target="../slideLayouts/slideLayout3.xml"/><Relationship Id="rId4" Type="http://schemas.openxmlformats.org/officeDocument/2006/relationships/image" Target="../media/image53.wmf"/></Relationships>
</file>

<file path=ppt/slides/_rels/slide325.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32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32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32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329.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0.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1.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2808000" y="144000"/>
            <a:ext cx="3528000" cy="400110"/>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微软雅黑 Light" panose="020B0502040204020203" pitchFamily="34" charset="-122"/>
                <a:ea typeface="微软雅黑 Light" panose="020B0502040204020203"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微软雅黑 Light" panose="020B0502040204020203" pitchFamily="34" charset="-122"/>
                <a:ea typeface="微软雅黑 Light" panose="020B0502040204020203"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网际协议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微软雅黑 Light" panose="020B0502040204020203" pitchFamily="34" charset="-122"/>
              </a:rPr>
              <a:t>网际控制报文协议 </a:t>
            </a:r>
            <a:r>
              <a:rPr lang="en-US" altLang="zh-CN" sz="1400" dirty="0">
                <a:solidFill>
                  <a:srgbClr val="666666"/>
                </a:solidFill>
                <a:latin typeface="Montserrat" panose="00000500000000000000" pitchFamily="2" charset="0"/>
                <a:ea typeface="微软雅黑 Light" panose="020B0502040204020203" pitchFamily="34" charset="-122"/>
              </a:rPr>
              <a:t>ICMP</a:t>
            </a:r>
            <a:endParaRPr lang="en-US" sz="1400" dirty="0">
              <a:solidFill>
                <a:srgbClr val="666666"/>
              </a:solidFill>
              <a:latin typeface="Montserrat" panose="00000500000000000000" pitchFamily="2" charset="0"/>
              <a:ea typeface="微软雅黑 Light" panose="020B0502040204020203"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虚拟专用网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VPN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SDN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CIDR</a:t>
            </a:r>
            <a:endParaRPr lang="zh-CN" altLang="en-US" dirty="0">
              <a:ea typeface="微软雅黑 Light" panose="020B0502040204020203" pitchFamily="34" charset="-122"/>
            </a:endParaRPr>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PING</a:t>
            </a:r>
            <a:endParaRPr lang="zh-CN" altLang="en-US" dirty="0">
              <a:ea typeface="微软雅黑 Light" panose="020B0502040204020203" pitchFamily="34" charset="-122"/>
            </a:endParaRPr>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IGP – RIP OSPF</a:t>
            </a:r>
          </a:p>
          <a:p>
            <a:r>
              <a:rPr lang="en-US" altLang="zh-CN" dirty="0">
                <a:ea typeface="微软雅黑 Light" panose="020B0502040204020203" pitchFamily="34" charset="-122"/>
              </a:rPr>
              <a:t>EGP - BGP</a:t>
            </a:r>
            <a:endParaRPr lang="zh-CN" altLang="en-US" dirty="0">
              <a:ea typeface="微软雅黑 Light" panose="020B0502040204020203" pitchFamily="34" charset="-122"/>
            </a:endParaRPr>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Router</a:t>
            </a:r>
            <a:endParaRPr lang="zh-CN" altLang="en-US" dirty="0">
              <a:ea typeface="微软雅黑 Light" panose="020B0502040204020203" pitchFamily="34" charset="-122"/>
            </a:endParaRPr>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7312DFD6-D49B-6E7B-82E6-DCE8882FE586}"/>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6530" r="6530"/>
          <a:stretch/>
        </p:blipFill>
        <p:spPr>
          <a:xfrm>
            <a:off x="5079431" y="1178017"/>
            <a:ext cx="3600000" cy="2787466"/>
          </a:xfrm>
          <a:effectLst/>
        </p:spPr>
      </p:pic>
      <p:sp>
        <p:nvSpPr>
          <p:cNvPr id="4" name="标题 3">
            <a:extLst>
              <a:ext uri="{FF2B5EF4-FFF2-40B4-BE49-F238E27FC236}">
                <a16:creationId xmlns:a16="http://schemas.microsoft.com/office/drawing/2014/main" id="{6352A0BF-9465-44B5-38E9-B4FB2625F768}"/>
              </a:ext>
            </a:extLst>
          </p:cNvPr>
          <p:cNvSpPr>
            <a:spLocks noGrp="1"/>
          </p:cNvSpPr>
          <p:nvPr>
            <p:ph type="title"/>
          </p:nvPr>
        </p:nvSpPr>
        <p:spPr>
          <a:xfrm>
            <a:off x="628650" y="1836904"/>
            <a:ext cx="4320000" cy="461665"/>
          </a:xfrm>
        </p:spPr>
        <p:txBody>
          <a:bodyPr/>
          <a:lstStyle/>
          <a:p>
            <a:r>
              <a:rPr lang="en-US" altLang="zh-CN" dirty="0"/>
              <a:t>4</a:t>
            </a:r>
            <a:r>
              <a:rPr lang="fr-FR" altLang="zh-CN" dirty="0"/>
              <a:t>.1 </a:t>
            </a:r>
            <a:r>
              <a:rPr lang="zh-CN" altLang="en-US" dirty="0"/>
              <a:t>重要概念</a:t>
            </a:r>
          </a:p>
        </p:txBody>
      </p:sp>
      <p:sp>
        <p:nvSpPr>
          <p:cNvPr id="12" name="文本占位符 11">
            <a:extLst>
              <a:ext uri="{FF2B5EF4-FFF2-40B4-BE49-F238E27FC236}">
                <a16:creationId xmlns:a16="http://schemas.microsoft.com/office/drawing/2014/main" id="{AAA6E2CD-3900-8C4B-FA5D-C46BCD625D02}"/>
              </a:ext>
            </a:extLst>
          </p:cNvPr>
          <p:cNvSpPr>
            <a:spLocks noGrp="1"/>
          </p:cNvSpPr>
          <p:nvPr>
            <p:ph type="body" sz="quarter" idx="11"/>
          </p:nvPr>
        </p:nvSpPr>
        <p:spPr>
          <a:xfrm>
            <a:off x="628100" y="2344736"/>
            <a:ext cx="4320000" cy="1870075"/>
          </a:xfrm>
        </p:spPr>
        <p:txBody>
          <a:bodyPr/>
          <a:lstStyle/>
          <a:p>
            <a:r>
              <a:rPr lang="en-US" altLang="zh-CN" dirty="0"/>
              <a:t>4.1.1 </a:t>
            </a:r>
            <a:r>
              <a:rPr lang="zh-CN" altLang="en-US" dirty="0"/>
              <a:t>网络层提供的两种服务</a:t>
            </a:r>
          </a:p>
          <a:p>
            <a:r>
              <a:rPr lang="en-US" altLang="zh-CN" dirty="0"/>
              <a:t>4.1.2 </a:t>
            </a:r>
            <a:r>
              <a:rPr lang="zh-CN" altLang="en-US" dirty="0"/>
              <a:t>网络层的两个层面</a:t>
            </a:r>
          </a:p>
          <a:p>
            <a:endParaRPr lang="zh-CN" altLang="en-US" dirty="0"/>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2808000" y="144000"/>
            <a:ext cx="3528000" cy="400110"/>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0"/>
          </p:nvPr>
        </p:nvSpPr>
        <p:spPr>
          <a:xfrm>
            <a:off x="612000" y="648000"/>
            <a:ext cx="7920000" cy="39600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2808000" y="144000"/>
            <a:ext cx="3528000" cy="400110"/>
          </a:xfrm>
        </p:spPr>
        <p:txBody>
          <a:bodyPr/>
          <a:lstStyle/>
          <a:p>
            <a:r>
              <a:rPr lang="zh-CN" altLang="en-US" dirty="0"/>
              <a:t>观点</a:t>
            </a:r>
            <a:r>
              <a:rPr lang="en-US" altLang="zh-CN" dirty="0"/>
              <a:t>1</a:t>
            </a:r>
            <a:endParaRPr lang="zh-CN" altLang="en-US" dirty="0"/>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0"/>
          </p:nvPr>
        </p:nvSpPr>
        <p:spPr>
          <a:xfrm>
            <a:off x="612000" y="648000"/>
            <a:ext cx="7920000" cy="39600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2808000" y="144000"/>
            <a:ext cx="3528000" cy="400110"/>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0"/>
          </p:nvPr>
        </p:nvSpPr>
        <p:spPr>
          <a:xfrm>
            <a:off x="612000" y="648000"/>
            <a:ext cx="7920000" cy="39600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2603772560"/>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2536666372"/>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2808000" y="144000"/>
            <a:ext cx="3528000" cy="400110"/>
          </a:xfrm>
        </p:spPr>
        <p:txBody>
          <a:bodyPr/>
          <a:lstStyle/>
          <a:p>
            <a:r>
              <a:rPr lang="zh-CN" altLang="en-US" dirty="0"/>
              <a:t>观点</a:t>
            </a:r>
            <a:r>
              <a:rPr lang="en-US" altLang="zh-CN" dirty="0"/>
              <a:t>2</a:t>
            </a:r>
            <a:endParaRPr lang="zh-CN" altLang="en-US" dirty="0"/>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0"/>
          </p:nvPr>
        </p:nvSpPr>
        <p:spPr>
          <a:xfrm>
            <a:off x="612000" y="648000"/>
            <a:ext cx="7920000" cy="39600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2808000" y="144000"/>
            <a:ext cx="3528000" cy="400110"/>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0"/>
          </p:nvPr>
        </p:nvSpPr>
        <p:spPr>
          <a:xfrm>
            <a:off x="612000" y="648000"/>
            <a:ext cx="7920000" cy="39600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2808000" y="144000"/>
            <a:ext cx="3528000" cy="400110"/>
          </a:xfrm>
        </p:spPr>
        <p:txBody>
          <a:bodyPr/>
          <a:lstStyle/>
          <a:p>
            <a:r>
              <a:rPr lang="zh-CN" altLang="en-US" dirty="0"/>
              <a:t>虚电路服务 </a:t>
            </a:r>
            <a:r>
              <a:rPr lang="en-US" altLang="zh-CN" dirty="0"/>
              <a:t>vs </a:t>
            </a:r>
            <a:r>
              <a:rPr lang="zh-CN" altLang="en-US" dirty="0"/>
              <a:t>数据报服务</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2808000" y="144000"/>
            <a:ext cx="3528000" cy="400110"/>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0"/>
          </p:nvPr>
        </p:nvSpPr>
        <p:spPr>
          <a:xfrm>
            <a:off x="612000" y="648000"/>
            <a:ext cx="7920000" cy="39600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2808000" y="144000"/>
            <a:ext cx="3528000" cy="400110"/>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0"/>
          </p:nvPr>
        </p:nvSpPr>
        <p:spPr>
          <a:xfrm>
            <a:off x="612000" y="648000"/>
            <a:ext cx="7920000" cy="39600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2808000" y="144000"/>
            <a:ext cx="3528000" cy="400110"/>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endParaRPr lang="en-US" altLang="zh-CN" sz="1400" dirty="0">
              <a:latin typeface="Montserrat" panose="00000500000000000000" pitchFamily="2" charset="0"/>
              <a:ea typeface="微软雅黑 Light" panose="020B0502040204020203" pitchFamily="34" charset="-122"/>
            </a:endParaRPr>
          </a:p>
        </p:txBody>
      </p:sp>
      <p:sp>
        <p:nvSpPr>
          <p:cNvPr id="92" name="Line 107"/>
          <p:cNvSpPr>
            <a:spLocks noChangeShapeType="1"/>
          </p:cNvSpPr>
          <p:nvPr/>
        </p:nvSpPr>
        <p:spPr bwMode="auto">
          <a:xfrm flipH="1">
            <a:off x="2806839"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762988"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483956"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2889147"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679592"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679869"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623473"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154260"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561505"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679869"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618017"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396139"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288321"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752078"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294031"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148804" y="2856889"/>
            <a:ext cx="484706" cy="256051"/>
          </a:xfrm>
          <a:prstGeom prst="rect">
            <a:avLst/>
          </a:prstGeom>
          <a:noFill/>
          <a:ln w="12699">
            <a:noFill/>
            <a:miter lim="800000"/>
            <a:headEnd/>
            <a:tailEnd/>
          </a:ln>
        </p:spPr>
      </p:pic>
      <p:sp>
        <p:nvSpPr>
          <p:cNvPr id="110" name="矩形 109"/>
          <p:cNvSpPr/>
          <p:nvPr/>
        </p:nvSpPr>
        <p:spPr>
          <a:xfrm>
            <a:off x="341047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41047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41047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41047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41047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511019"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216831"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216831"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216831"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216831"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216831"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317376"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488713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488713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488713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488713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488713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498768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36180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36180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36180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36180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36180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4623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490408"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490408"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490408"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490408"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490408"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59095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384343"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a:cxnSpLocks/>
          </p:cNvCxnSpPr>
          <p:nvPr/>
        </p:nvCxnSpPr>
        <p:spPr>
          <a:xfrm>
            <a:off x="845397"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506483"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463183"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559872"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4988955"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322043"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076318"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693370"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032468"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515504"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321848"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294031"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490408"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4919654"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086099"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086099"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898953"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048751"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34850"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953894"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411470"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sp>
        <p:nvSpPr>
          <p:cNvPr id="172" name="矩形 171"/>
          <p:cNvSpPr/>
          <p:nvPr/>
        </p:nvSpPr>
        <p:spPr>
          <a:xfrm>
            <a:off x="7380000" y="1109702"/>
            <a:ext cx="1440000" cy="1091966"/>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远程控制器：计算出最佳的路由，在每一个路由器中生成其正确的转发表。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2808000" y="144000"/>
            <a:ext cx="3528000" cy="400110"/>
          </a:xfrm>
        </p:spPr>
        <p:txBody>
          <a:bodyPr/>
          <a:lstStyle/>
          <a:p>
            <a:r>
              <a:rPr lang="zh-CN" altLang="en-US" dirty="0"/>
              <a:t>软件定义网络 </a:t>
            </a:r>
            <a:r>
              <a:rPr lang="en-US" altLang="zh-CN" dirty="0"/>
              <a:t>SDN</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380000" y="2228760"/>
            <a:ext cx="1440000"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2808000" y="144000"/>
            <a:ext cx="3528000" cy="400110"/>
          </a:xfrm>
        </p:spPr>
        <p:txBody>
          <a:bodyPr/>
          <a:lstStyle/>
          <a:p>
            <a:r>
              <a:rPr lang="zh-CN" altLang="en-US" dirty="0"/>
              <a:t>软件定义网络 </a:t>
            </a:r>
            <a:r>
              <a:rPr lang="en-US" altLang="zh-CN" dirty="0"/>
              <a:t>SDN</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806839"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762988"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483956"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2889147"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679592"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679869"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623473"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154260"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561505"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679869"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618017"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396139"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288321"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752078"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294031"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148804"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41047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41047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41047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41047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41047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511019"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216831"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216831"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216831"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216831"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216831"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317376"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488713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488713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488713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488713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488713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498768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36180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36180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36180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36180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36180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4623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490408"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490408"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490408"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490408"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490408"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59095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384343"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a:cxnSpLocks/>
          </p:cNvCxnSpPr>
          <p:nvPr/>
        </p:nvCxnSpPr>
        <p:spPr>
          <a:xfrm>
            <a:off x="845397"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506483"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463183"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559872"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4988955"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322043"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076318"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693370"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032468"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515504"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321848"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294031"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490408"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4919654"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086099"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086099"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898953"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048751"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34850"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953894"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411470"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图片占位符 20">
            <a:extLst>
              <a:ext uri="{FF2B5EF4-FFF2-40B4-BE49-F238E27FC236}">
                <a16:creationId xmlns:a16="http://schemas.microsoft.com/office/drawing/2014/main" id="{B018B834-7D50-93AE-56FC-E588BCE604FF}"/>
              </a:ext>
            </a:extLst>
          </p:cNvPr>
          <p:cNvPicPr>
            <a:picLocks noGrp="1" noChangeAspect="1"/>
          </p:cNvPicPr>
          <p:nvPr>
            <p:ph type="pic" sz="quarter" idx="12"/>
          </p:nvPr>
        </p:nvPicPr>
        <p:blipFill>
          <a:blip r:embed="rId3" cstate="print">
            <a:extLst>
              <a:ext uri="{28A0092B-C50C-407E-A947-70E740481C1C}">
                <a14:useLocalDpi xmlns:a14="http://schemas.microsoft.com/office/drawing/2010/main" val="0"/>
              </a:ext>
            </a:extLst>
          </a:blip>
          <a:srcRect l="9498" r="9498"/>
          <a:stretch/>
        </p:blipFill>
        <p:spPr>
          <a:xfrm>
            <a:off x="5079431" y="1178017"/>
            <a:ext cx="3600000" cy="2787466"/>
          </a:xfrm>
          <a:effectLst/>
        </p:spPr>
      </p:pic>
      <p:sp>
        <p:nvSpPr>
          <p:cNvPr id="2" name="标题 1">
            <a:extLst>
              <a:ext uri="{FF2B5EF4-FFF2-40B4-BE49-F238E27FC236}">
                <a16:creationId xmlns:a16="http://schemas.microsoft.com/office/drawing/2014/main" id="{C5F44C01-3EA6-6FDA-5CA4-9397E5832220}"/>
              </a:ext>
            </a:extLst>
          </p:cNvPr>
          <p:cNvSpPr>
            <a:spLocks noGrp="1"/>
          </p:cNvSpPr>
          <p:nvPr>
            <p:ph type="title"/>
          </p:nvPr>
        </p:nvSpPr>
        <p:spPr>
          <a:xfrm>
            <a:off x="628650" y="1836904"/>
            <a:ext cx="4320000" cy="461665"/>
          </a:xfrm>
        </p:spPr>
        <p:txBody>
          <a:bodyPr/>
          <a:lstStyle/>
          <a:p>
            <a:r>
              <a:rPr lang="fr-FR" altLang="zh-CN" dirty="0"/>
              <a:t>4.2 </a:t>
            </a:r>
            <a:r>
              <a:rPr lang="zh-CN" altLang="en-US" dirty="0"/>
              <a:t>网际协议 </a:t>
            </a:r>
            <a:r>
              <a:rPr lang="en-US" altLang="zh-CN" dirty="0"/>
              <a:t>IP</a:t>
            </a:r>
            <a:endParaRPr lang="zh-CN" altLang="en-US" dirty="0"/>
          </a:p>
        </p:txBody>
      </p:sp>
      <p:sp>
        <p:nvSpPr>
          <p:cNvPr id="3" name="文本占位符 2">
            <a:extLst>
              <a:ext uri="{FF2B5EF4-FFF2-40B4-BE49-F238E27FC236}">
                <a16:creationId xmlns:a16="http://schemas.microsoft.com/office/drawing/2014/main" id="{08C4514F-E38C-A283-2E64-17DE45B26B54}"/>
              </a:ext>
            </a:extLst>
          </p:cNvPr>
          <p:cNvSpPr>
            <a:spLocks noGrp="1"/>
          </p:cNvSpPr>
          <p:nvPr>
            <p:ph type="body" sz="quarter" idx="11"/>
          </p:nvPr>
        </p:nvSpPr>
        <p:spPr>
          <a:xfrm>
            <a:off x="628100" y="2344736"/>
            <a:ext cx="4320000" cy="2520000"/>
          </a:xfrm>
        </p:spPr>
        <p:txBody>
          <a:bodyPr/>
          <a:lstStyle/>
          <a:p>
            <a:r>
              <a:rPr lang="en-US" altLang="zh-CN" dirty="0"/>
              <a:t>4.2.1 </a:t>
            </a:r>
            <a:r>
              <a:rPr lang="zh-CN" altLang="en-US" dirty="0"/>
              <a:t>虚拟互连网络</a:t>
            </a:r>
            <a:endParaRPr lang="en-US" altLang="zh-CN" dirty="0"/>
          </a:p>
          <a:p>
            <a:r>
              <a:rPr lang="en-US" altLang="zh-CN" dirty="0"/>
              <a:t>4.2.2 IP </a:t>
            </a:r>
            <a:r>
              <a:rPr lang="zh-CN" altLang="en-US" dirty="0"/>
              <a:t>地址</a:t>
            </a:r>
            <a:endParaRPr lang="en-US" altLang="zh-CN" dirty="0"/>
          </a:p>
          <a:p>
            <a:r>
              <a:rPr lang="en-US" altLang="zh-CN" dirty="0"/>
              <a:t>4.2.3 IP </a:t>
            </a:r>
            <a:r>
              <a:rPr lang="zh-CN" altLang="en-US" dirty="0"/>
              <a:t>地址与 </a:t>
            </a:r>
            <a:r>
              <a:rPr lang="en-US" altLang="zh-CN" dirty="0"/>
              <a:t>MAC </a:t>
            </a:r>
            <a:r>
              <a:rPr lang="zh-CN" altLang="en-US" dirty="0"/>
              <a:t>地址</a:t>
            </a:r>
            <a:endParaRPr lang="en-US" altLang="zh-CN" dirty="0"/>
          </a:p>
          <a:p>
            <a:r>
              <a:rPr lang="en-US" altLang="zh-CN" dirty="0"/>
              <a:t>4.2.4 </a:t>
            </a:r>
            <a:r>
              <a:rPr lang="zh-CN" altLang="en-US" dirty="0"/>
              <a:t>地址解析协议 </a:t>
            </a:r>
            <a:r>
              <a:rPr lang="en-US" altLang="zh-CN" dirty="0"/>
              <a:t>ARP</a:t>
            </a:r>
          </a:p>
          <a:p>
            <a:r>
              <a:rPr lang="en-US" altLang="zh-CN" dirty="0"/>
              <a:t>4.2.5 IP </a:t>
            </a:r>
            <a:r>
              <a:rPr lang="zh-CN" altLang="en-US" dirty="0"/>
              <a:t>数据报的格式</a:t>
            </a:r>
            <a:endParaRPr lang="en-US" altLang="zh-CN" dirty="0"/>
          </a:p>
          <a:p>
            <a:endParaRPr lang="zh-CN" altLang="en-US" dirty="0"/>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2808000" y="144000"/>
            <a:ext cx="3528000" cy="400110"/>
          </a:xfrm>
        </p:spPr>
        <p:txBody>
          <a:bodyPr/>
          <a:lstStyle/>
          <a:p>
            <a:r>
              <a:rPr lang="en-US" altLang="zh-CN" dirty="0"/>
              <a:t>4.2  </a:t>
            </a:r>
            <a:r>
              <a:rPr lang="zh-CN" altLang="en-US" dirty="0"/>
              <a:t>网际协议 </a:t>
            </a:r>
            <a:r>
              <a:rPr lang="en-US" altLang="zh-CN" dirty="0"/>
              <a:t>IP </a:t>
            </a:r>
            <a:endParaRPr lang="zh-CN" altLang="en-US" dirty="0"/>
          </a:p>
        </p:txBody>
      </p:sp>
      <p:sp>
        <p:nvSpPr>
          <p:cNvPr id="36" name="内容占位符 35">
            <a:extLst>
              <a:ext uri="{FF2B5EF4-FFF2-40B4-BE49-F238E27FC236}">
                <a16:creationId xmlns:a16="http://schemas.microsoft.com/office/drawing/2014/main" id="{348A1CF9-8876-B07C-ACD9-0B109C7A24CC}"/>
              </a:ext>
            </a:extLst>
          </p:cNvPr>
          <p:cNvSpPr>
            <a:spLocks noGrp="1"/>
          </p:cNvSpPr>
          <p:nvPr>
            <p:ph sz="quarter" idx="10"/>
          </p:nvPr>
        </p:nvSpPr>
        <p:spPr>
          <a:xfrm>
            <a:off x="612000" y="648000"/>
            <a:ext cx="7920000" cy="39600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sp>
        <p:nvSpPr>
          <p:cNvPr id="15" name="Text Box 9"/>
          <p:cNvSpPr txBox="1">
            <a:spLocks noChangeArrowheads="1"/>
          </p:cNvSpPr>
          <p:nvPr/>
        </p:nvSpPr>
        <p:spPr bwMode="auto">
          <a:xfrm>
            <a:off x="4572000" y="3444910"/>
            <a:ext cx="1047082"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4848748" y="206647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4875968" y="160976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4726253" y="2048870"/>
            <a:ext cx="88831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4726253" y="2402023"/>
            <a:ext cx="88831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4741678" y="3359988"/>
            <a:ext cx="872890"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5495010" y="240202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4686837" y="2586367"/>
            <a:ext cx="942374"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sp>
        <p:nvSpPr>
          <p:cNvPr id="8" name="Rectangle 5"/>
          <p:cNvSpPr>
            <a:spLocks noChangeArrowheads="1"/>
          </p:cNvSpPr>
          <p:nvPr/>
        </p:nvSpPr>
        <p:spPr bwMode="auto">
          <a:xfrm>
            <a:off x="5663566" y="1492733"/>
            <a:ext cx="2324683"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5663566" y="2402023"/>
            <a:ext cx="2324683"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5663566" y="2402023"/>
            <a:ext cx="2324683"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663566" y="2048870"/>
            <a:ext cx="232468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5663566" y="2402023"/>
            <a:ext cx="2324683"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6220691" y="149214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5924888" y="1734754"/>
            <a:ext cx="1774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5660844" y="3766994"/>
            <a:ext cx="2327405"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6423942" y="384959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6486551" y="2073385"/>
            <a:ext cx="92525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5711657" y="2432056"/>
            <a:ext cx="554403"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6677272" y="2763169"/>
            <a:ext cx="341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7433846" y="3059653"/>
            <a:ext cx="50540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6192563" y="337934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5663566" y="3362059"/>
            <a:ext cx="2324683"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6293281" y="2432056"/>
            <a:ext cx="553496"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sp>
        <p:nvSpPr>
          <p:cNvPr id="33" name="Line 28"/>
          <p:cNvSpPr>
            <a:spLocks noChangeShapeType="1"/>
          </p:cNvSpPr>
          <p:nvPr/>
        </p:nvSpPr>
        <p:spPr bwMode="auto">
          <a:xfrm flipV="1">
            <a:off x="4733512" y="1492733"/>
            <a:ext cx="88105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4718086" y="3716247"/>
            <a:ext cx="896481"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2808000" y="144000"/>
            <a:ext cx="3528000" cy="400110"/>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0"/>
          </p:nvPr>
        </p:nvSpPr>
        <p:spPr>
          <a:xfrm>
            <a:off x="612000" y="648000"/>
            <a:ext cx="7920000" cy="39600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sp>
        <p:nvSpPr>
          <p:cNvPr id="9" name="任意多边形 8"/>
          <p:cNvSpPr/>
          <p:nvPr/>
        </p:nvSpPr>
        <p:spPr>
          <a:xfrm>
            <a:off x="2507411" y="1200861"/>
            <a:ext cx="5247735"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2507411" y="2734570"/>
            <a:ext cx="5247735"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28135" y="275163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14743" y="1200861"/>
            <a:ext cx="432614" cy="439946"/>
          </a:xfrm>
          <a:prstGeom prst="rect">
            <a:avLst/>
          </a:prstGeom>
        </p:spPr>
      </p:pic>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2808000" y="144000"/>
            <a:ext cx="3528000" cy="400110"/>
          </a:xfrm>
        </p:spPr>
        <p:txBody>
          <a:bodyPr/>
          <a:lstStyle/>
          <a:p>
            <a:r>
              <a:rPr lang="zh-CN" altLang="en-US" dirty="0"/>
              <a:t>异构网络的互连互通</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rgbClr val="92D050"/>
          </a:solidFill>
          <a:ln>
            <a:noFill/>
          </a:ln>
          <a:effectLst/>
        </p:spPr>
        <p:txBody>
          <a:bodyPr wrap="none" anchor="ctr"/>
          <a:lstStyle/>
          <a:p>
            <a:pPr algn="ctr"/>
            <a:r>
              <a:rPr lang="en-US" altLang="zh-CN" sz="1400" dirty="0">
                <a:solidFill>
                  <a:schemeClr val="bg1"/>
                </a:solidFill>
                <a:latin typeface="Montserrat" panose="00000500000000000000" pitchFamily="2" charset="0"/>
                <a:ea typeface="微软雅黑 Light" panose="020B0502040204020203" pitchFamily="34" charset="-122"/>
              </a:rPr>
              <a:t>Device</a:t>
            </a:r>
            <a:endParaRPr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rgbClr val="92D050"/>
          </a:solidFill>
          <a:ln>
            <a:noFill/>
          </a:ln>
          <a:effectLst/>
        </p:spPr>
        <p:txBody>
          <a:bodyPr wrap="none" anchor="ctr"/>
          <a:lstStyle/>
          <a:p>
            <a:pPr algn="ctr"/>
            <a:r>
              <a:rPr lang="en-US" altLang="zh-CN" sz="1400" dirty="0">
                <a:solidFill>
                  <a:schemeClr val="bg1"/>
                </a:solidFill>
                <a:latin typeface="Montserrat" panose="00000500000000000000" pitchFamily="2" charset="0"/>
                <a:ea typeface="微软雅黑 Light" panose="020B0502040204020203" pitchFamily="34" charset="-122"/>
              </a:rPr>
              <a:t>Layer</a:t>
            </a:r>
            <a:endParaRPr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2808000" y="144000"/>
            <a:ext cx="3528000" cy="400110"/>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3429"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2808000" y="144000"/>
            <a:ext cx="3528000" cy="400110"/>
          </a:xfrm>
        </p:spPr>
        <p:txBody>
          <a:bodyPr/>
          <a:lstStyle/>
          <a:p>
            <a:r>
              <a:rPr lang="zh-CN" altLang="en-US" dirty="0"/>
              <a:t>使用转发器或网桥</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任意多边形: 形状 150">
            <a:extLst>
              <a:ext uri="{FF2B5EF4-FFF2-40B4-BE49-F238E27FC236}">
                <a16:creationId xmlns:a16="http://schemas.microsoft.com/office/drawing/2014/main" id="{9F8A8643-C081-C42D-9523-B4372FE432CD}"/>
              </a:ext>
            </a:extLst>
          </p:cNvPr>
          <p:cNvSpPr/>
          <p:nvPr/>
        </p:nvSpPr>
        <p:spPr>
          <a:xfrm>
            <a:off x="2607726" y="1164658"/>
            <a:ext cx="3863098" cy="3021195"/>
          </a:xfrm>
          <a:custGeom>
            <a:avLst/>
            <a:gdLst>
              <a:gd name="csX0" fmla="*/ 2355086 w 3863098"/>
              <a:gd name="csY0" fmla="*/ 9 h 3021195"/>
              <a:gd name="csX1" fmla="*/ 2594108 w 3863098"/>
              <a:gd name="csY1" fmla="*/ 85234 h 3021195"/>
              <a:gd name="csX2" fmla="*/ 2663274 w 3863098"/>
              <a:gd name="csY2" fmla="*/ 159015 h 3021195"/>
              <a:gd name="csX3" fmla="*/ 2667549 w 3863098"/>
              <a:gd name="csY3" fmla="*/ 163575 h 3021195"/>
              <a:gd name="csX4" fmla="*/ 3170345 w 3863098"/>
              <a:gd name="csY4" fmla="*/ 38378 h 3021195"/>
              <a:gd name="csX5" fmla="*/ 3425315 w 3863098"/>
              <a:gd name="csY5" fmla="*/ 379928 h 3021195"/>
              <a:gd name="csX6" fmla="*/ 3426703 w 3863098"/>
              <a:gd name="csY6" fmla="*/ 380537 h 3021195"/>
              <a:gd name="csX7" fmla="*/ 3534514 w 3863098"/>
              <a:gd name="csY7" fmla="*/ 427849 h 3021195"/>
              <a:gd name="csX8" fmla="*/ 3752534 w 3863098"/>
              <a:gd name="csY8" fmla="*/ 711411 h 3021195"/>
              <a:gd name="csX9" fmla="*/ 3737888 w 3863098"/>
              <a:gd name="csY9" fmla="*/ 1070857 h 3021195"/>
              <a:gd name="csX10" fmla="*/ 3844877 w 3863098"/>
              <a:gd name="csY10" fmla="*/ 1620440 h 3021195"/>
              <a:gd name="csX11" fmla="*/ 3343688 w 3863098"/>
              <a:gd name="csY11" fmla="*/ 2101518 h 3021195"/>
              <a:gd name="csX12" fmla="*/ 3164272 w 3863098"/>
              <a:gd name="csY12" fmla="*/ 2513740 h 3021195"/>
              <a:gd name="csX13" fmla="*/ 2553415 w 3863098"/>
              <a:gd name="csY13" fmla="*/ 2563652 h 3021195"/>
              <a:gd name="csX14" fmla="*/ 2116885 w 3863098"/>
              <a:gd name="csY14" fmla="*/ 3003416 h 3021195"/>
              <a:gd name="csX15" fmla="*/ 1475039 w 3863098"/>
              <a:gd name="csY15" fmla="*/ 2734986 h 3021195"/>
              <a:gd name="csX16" fmla="*/ 521602 w 3863098"/>
              <a:gd name="csY16" fmla="*/ 2469771 h 3021195"/>
              <a:gd name="csX17" fmla="*/ 102397 w 3863098"/>
              <a:gd name="csY17" fmla="*/ 2174637 h 3021195"/>
              <a:gd name="csX18" fmla="*/ 191972 w 3863098"/>
              <a:gd name="csY18" fmla="*/ 1776255 h 3021195"/>
              <a:gd name="csX19" fmla="*/ 2821 w 3863098"/>
              <a:gd name="csY19" fmla="*/ 1367528 h 3021195"/>
              <a:gd name="csX20" fmla="*/ 348258 w 3863098"/>
              <a:gd name="csY20" fmla="*/ 1004238 h 3021195"/>
              <a:gd name="csX21" fmla="*/ 351563 w 3863098"/>
              <a:gd name="csY21" fmla="*/ 994661 h 3021195"/>
              <a:gd name="csX22" fmla="*/ 505438 w 3863098"/>
              <a:gd name="csY22" fmla="*/ 472970 h 3021195"/>
              <a:gd name="csX23" fmla="*/ 1254005 w 3863098"/>
              <a:gd name="csY23" fmla="*/ 353784 h 3021195"/>
              <a:gd name="csX24" fmla="*/ 1254149 w 3863098"/>
              <a:gd name="csY24" fmla="*/ 353563 h 3021195"/>
              <a:gd name="csX25" fmla="*/ 1253559 w 3863098"/>
              <a:gd name="csY25" fmla="*/ 353084 h 3021195"/>
              <a:gd name="csX26" fmla="*/ 1254174 w 3863098"/>
              <a:gd name="csY26" fmla="*/ 353524 h 3021195"/>
              <a:gd name="csX27" fmla="*/ 1320021 w 3863098"/>
              <a:gd name="csY27" fmla="*/ 252529 h 3021195"/>
              <a:gd name="csX28" fmla="*/ 2008735 w 3863098"/>
              <a:gd name="csY28" fmla="*/ 230054 h 3021195"/>
              <a:gd name="csX29" fmla="*/ 2012101 w 3863098"/>
              <a:gd name="csY29" fmla="*/ 224631 h 3021195"/>
              <a:gd name="csX30" fmla="*/ 2060990 w 3863098"/>
              <a:gd name="csY30" fmla="*/ 145867 h 3021195"/>
              <a:gd name="csX31" fmla="*/ 2302821 w 3863098"/>
              <a:gd name="csY31" fmla="*/ 4125 h 3021195"/>
              <a:gd name="csX32" fmla="*/ 2355086 w 3863098"/>
              <a:gd name="csY32" fmla="*/ 9 h 3021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3863098" h="3021195">
                <a:moveTo>
                  <a:pt x="2355086" y="9"/>
                </a:moveTo>
                <a:cubicBezTo>
                  <a:pt x="2441830" y="-591"/>
                  <a:pt x="2525879" y="29723"/>
                  <a:pt x="2594108" y="85234"/>
                </a:cubicBezTo>
                <a:lnTo>
                  <a:pt x="2663274" y="159015"/>
                </a:lnTo>
                <a:lnTo>
                  <a:pt x="2667549" y="163575"/>
                </a:lnTo>
                <a:cubicBezTo>
                  <a:pt x="2790970" y="8808"/>
                  <a:pt x="2995125" y="-42012"/>
                  <a:pt x="3170345" y="38378"/>
                </a:cubicBezTo>
                <a:cubicBezTo>
                  <a:pt x="3303858" y="99613"/>
                  <a:pt x="3399594" y="227817"/>
                  <a:pt x="3425315" y="379928"/>
                </a:cubicBezTo>
                <a:lnTo>
                  <a:pt x="3426703" y="380537"/>
                </a:lnTo>
                <a:lnTo>
                  <a:pt x="3534514" y="427849"/>
                </a:lnTo>
                <a:cubicBezTo>
                  <a:pt x="3636525" y="489379"/>
                  <a:pt x="3715025" y="589779"/>
                  <a:pt x="3752534" y="711411"/>
                </a:cubicBezTo>
                <a:cubicBezTo>
                  <a:pt x="3788882" y="829129"/>
                  <a:pt x="3783702" y="956983"/>
                  <a:pt x="3737888" y="1070857"/>
                </a:cubicBezTo>
                <a:cubicBezTo>
                  <a:pt x="3850503" y="1227022"/>
                  <a:pt x="3889887" y="1429463"/>
                  <a:pt x="3844877" y="1620440"/>
                </a:cubicBezTo>
                <a:cubicBezTo>
                  <a:pt x="3785041" y="1874330"/>
                  <a:pt x="3586959" y="2064469"/>
                  <a:pt x="3343688" y="2101518"/>
                </a:cubicBezTo>
                <a:cubicBezTo>
                  <a:pt x="3342528" y="2259990"/>
                  <a:pt x="3277066" y="2410283"/>
                  <a:pt x="3164272" y="2513740"/>
                </a:cubicBezTo>
                <a:cubicBezTo>
                  <a:pt x="2992892" y="2670954"/>
                  <a:pt x="2745335" y="2691156"/>
                  <a:pt x="2553415" y="2563652"/>
                </a:cubicBezTo>
                <a:cubicBezTo>
                  <a:pt x="2491347" y="2782660"/>
                  <a:pt x="2325148" y="2950080"/>
                  <a:pt x="2116885" y="3003416"/>
                </a:cubicBezTo>
                <a:cubicBezTo>
                  <a:pt x="1871471" y="3066260"/>
                  <a:pt x="1615339" y="2959167"/>
                  <a:pt x="1475039" y="2734986"/>
                </a:cubicBezTo>
                <a:cubicBezTo>
                  <a:pt x="1143890" y="2947773"/>
                  <a:pt x="713790" y="2828167"/>
                  <a:pt x="521602" y="2469771"/>
                </a:cubicBezTo>
                <a:cubicBezTo>
                  <a:pt x="332808" y="2493328"/>
                  <a:pt x="155535" y="2368550"/>
                  <a:pt x="102397" y="2174637"/>
                </a:cubicBezTo>
                <a:cubicBezTo>
                  <a:pt x="63906" y="2034340"/>
                  <a:pt x="97932" y="1882929"/>
                  <a:pt x="191972" y="1776255"/>
                </a:cubicBezTo>
                <a:cubicBezTo>
                  <a:pt x="58548" y="1692581"/>
                  <a:pt x="-15755" y="1532012"/>
                  <a:pt x="2821" y="1367528"/>
                </a:cubicBezTo>
                <a:cubicBezTo>
                  <a:pt x="24611" y="1174943"/>
                  <a:pt x="168038" y="1024091"/>
                  <a:pt x="348258" y="1004238"/>
                </a:cubicBezTo>
                <a:cubicBezTo>
                  <a:pt x="349330" y="1001023"/>
                  <a:pt x="350491" y="997877"/>
                  <a:pt x="351563" y="994661"/>
                </a:cubicBezTo>
                <a:cubicBezTo>
                  <a:pt x="327361" y="805012"/>
                  <a:pt x="383802" y="613756"/>
                  <a:pt x="505438" y="472970"/>
                </a:cubicBezTo>
                <a:cubicBezTo>
                  <a:pt x="697625" y="250606"/>
                  <a:pt x="1009216" y="201044"/>
                  <a:pt x="1254005" y="353784"/>
                </a:cubicBezTo>
                <a:lnTo>
                  <a:pt x="1254149" y="353563"/>
                </a:lnTo>
                <a:lnTo>
                  <a:pt x="1253559" y="353084"/>
                </a:lnTo>
                <a:lnTo>
                  <a:pt x="1254174" y="353524"/>
                </a:lnTo>
                <a:lnTo>
                  <a:pt x="1320021" y="252529"/>
                </a:lnTo>
                <a:cubicBezTo>
                  <a:pt x="1495627" y="42879"/>
                  <a:pt x="1810095" y="21478"/>
                  <a:pt x="2008735" y="230054"/>
                </a:cubicBezTo>
                <a:lnTo>
                  <a:pt x="2012101" y="224631"/>
                </a:lnTo>
                <a:lnTo>
                  <a:pt x="2060990" y="145867"/>
                </a:lnTo>
                <a:cubicBezTo>
                  <a:pt x="2122009" y="69620"/>
                  <a:pt x="2207643" y="18490"/>
                  <a:pt x="2302821" y="4125"/>
                </a:cubicBezTo>
                <a:cubicBezTo>
                  <a:pt x="2320280" y="1486"/>
                  <a:pt x="2337737" y="129"/>
                  <a:pt x="2355086" y="9"/>
                </a:cubicBezTo>
                <a:close/>
              </a:path>
            </a:pathLst>
          </a:cu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0" name="Line 1453"/>
          <p:cNvSpPr>
            <a:spLocks noChangeShapeType="1"/>
          </p:cNvSpPr>
          <p:nvPr/>
        </p:nvSpPr>
        <p:spPr bwMode="auto">
          <a:xfrm flipH="1">
            <a:off x="1809225" y="2535863"/>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027470" y="2807052"/>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196847" y="1682046"/>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047519" y="2680121"/>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6" name="Line 1481"/>
          <p:cNvSpPr>
            <a:spLocks noChangeShapeType="1"/>
          </p:cNvSpPr>
          <p:nvPr/>
        </p:nvSpPr>
        <p:spPr bwMode="auto">
          <a:xfrm flipH="1">
            <a:off x="4329369" y="2702086"/>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3822956" y="2340136"/>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3666407" y="3147967"/>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3854706" y="1624174"/>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116519" y="2330611"/>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479335" y="1650264"/>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216215" y="2012137"/>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054503" y="2026965"/>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3840419" y="1889286"/>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3608644" y="1800386"/>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413506" y="2718890"/>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157059" y="2683035"/>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3642122" y="2419511"/>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4941302" y="2754374"/>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151694" y="2790986"/>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0219" y="2202024"/>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83306" y="3247054"/>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5036" y="259821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27000" y="2231958"/>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5856" y="1539581"/>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91406" y="2925924"/>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006427" y="2431985"/>
            <a:ext cx="725487" cy="603250"/>
            <a:chOff x="2949" y="196"/>
            <a:chExt cx="941" cy="598"/>
          </a:xfrm>
          <a:solidFill>
            <a:srgbClr val="92D050"/>
          </a:solidFill>
        </p:grpSpPr>
        <p:sp>
          <p:nvSpPr>
            <p:cNvPr id="129" name="Oval 1469"/>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119526" y="2592322"/>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sp>
        <p:nvSpPr>
          <p:cNvPr id="49" name="Line 1453"/>
          <p:cNvSpPr>
            <a:spLocks noChangeShapeType="1"/>
          </p:cNvSpPr>
          <p:nvPr/>
        </p:nvSpPr>
        <p:spPr bwMode="auto">
          <a:xfrm flipH="1">
            <a:off x="2479742" y="3200850"/>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2639585" y="2183882"/>
            <a:ext cx="768350" cy="528637"/>
            <a:chOff x="2949" y="196"/>
            <a:chExt cx="941" cy="598"/>
          </a:xfrm>
          <a:solidFill>
            <a:srgbClr val="92D050"/>
          </a:solidFill>
        </p:grpSpPr>
        <p:sp>
          <p:nvSpPr>
            <p:cNvPr id="118"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2735222" y="2302944"/>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52" name="Group 1344"/>
          <p:cNvGrpSpPr>
            <a:grpSpLocks/>
          </p:cNvGrpSpPr>
          <p:nvPr/>
        </p:nvGrpSpPr>
        <p:grpSpPr bwMode="auto">
          <a:xfrm>
            <a:off x="4690868" y="1641408"/>
            <a:ext cx="738187" cy="617537"/>
            <a:chOff x="2949" y="196"/>
            <a:chExt cx="941" cy="598"/>
          </a:xfrm>
          <a:solidFill>
            <a:srgbClr val="92D050"/>
          </a:solidFill>
        </p:grpSpPr>
        <p:sp>
          <p:nvSpPr>
            <p:cNvPr id="107" name="Oval 1345"/>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4781742" y="180174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54" name="Group 1404"/>
          <p:cNvGrpSpPr>
            <a:grpSpLocks/>
          </p:cNvGrpSpPr>
          <p:nvPr/>
        </p:nvGrpSpPr>
        <p:grpSpPr bwMode="auto">
          <a:xfrm rot="20933218">
            <a:off x="4755274" y="3130711"/>
            <a:ext cx="611187" cy="523875"/>
            <a:chOff x="2949" y="196"/>
            <a:chExt cx="941" cy="598"/>
          </a:xfrm>
          <a:solidFill>
            <a:srgbClr val="92D050"/>
          </a:solidFill>
        </p:grpSpPr>
        <p:sp>
          <p:nvSpPr>
            <p:cNvPr id="96" name="Oval 1405"/>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4771536" y="3219611"/>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56" name="Group 1416"/>
          <p:cNvGrpSpPr>
            <a:grpSpLocks/>
          </p:cNvGrpSpPr>
          <p:nvPr/>
        </p:nvGrpSpPr>
        <p:grpSpPr bwMode="auto">
          <a:xfrm rot="282232">
            <a:off x="5724781" y="2532224"/>
            <a:ext cx="644525" cy="441325"/>
            <a:chOff x="2949" y="196"/>
            <a:chExt cx="941" cy="598"/>
          </a:xfrm>
          <a:solidFill>
            <a:srgbClr val="92D050"/>
          </a:solidFill>
        </p:grpSpPr>
        <p:sp>
          <p:nvSpPr>
            <p:cNvPr id="85" name="Oval 141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5779143" y="2586199"/>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sp>
        <p:nvSpPr>
          <p:cNvPr id="58" name="Line 1453"/>
          <p:cNvSpPr>
            <a:spLocks noChangeShapeType="1"/>
          </p:cNvSpPr>
          <p:nvPr/>
        </p:nvSpPr>
        <p:spPr bwMode="auto">
          <a:xfrm flipH="1" flipV="1">
            <a:off x="2212981" y="1537202"/>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383215" y="1641408"/>
            <a:ext cx="738187" cy="441325"/>
            <a:chOff x="2949" y="196"/>
            <a:chExt cx="941" cy="598"/>
          </a:xfrm>
          <a:solidFill>
            <a:srgbClr val="92D050"/>
          </a:solidFill>
        </p:grpSpPr>
        <p:sp>
          <p:nvSpPr>
            <p:cNvPr id="74" name="Oval 1321"/>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472502" y="171284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61" name="Group 1428"/>
          <p:cNvGrpSpPr>
            <a:grpSpLocks/>
          </p:cNvGrpSpPr>
          <p:nvPr/>
        </p:nvGrpSpPr>
        <p:grpSpPr bwMode="auto">
          <a:xfrm rot="20745072">
            <a:off x="3300663" y="2776703"/>
            <a:ext cx="655637" cy="615950"/>
            <a:chOff x="2949" y="196"/>
            <a:chExt cx="941" cy="598"/>
          </a:xfrm>
          <a:solidFill>
            <a:srgbClr val="92D050"/>
          </a:solidFill>
        </p:grpSpPr>
        <p:sp>
          <p:nvSpPr>
            <p:cNvPr id="63" name="Oval 1429"/>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348675" y="2935453"/>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sp>
        <p:nvSpPr>
          <p:cNvPr id="140" name="Text Box 1524"/>
          <p:cNvSpPr txBox="1">
            <a:spLocks noChangeArrowheads="1"/>
          </p:cNvSpPr>
          <p:nvPr/>
        </p:nvSpPr>
        <p:spPr bwMode="auto">
          <a:xfrm>
            <a:off x="5811617" y="3961150"/>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28428" y="3735153"/>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01453" y="2438057"/>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32967" y="1488643"/>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09515" y="3552347"/>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0104" y="2462660"/>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3354" y="1336355"/>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 name="Line 1443"/>
          <p:cNvSpPr>
            <a:spLocks noChangeShapeType="1"/>
          </p:cNvSpPr>
          <p:nvPr/>
        </p:nvSpPr>
        <p:spPr bwMode="auto">
          <a:xfrm>
            <a:off x="5691559" y="3246893"/>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2808000" y="144000"/>
            <a:ext cx="3528000" cy="400110"/>
          </a:xfrm>
        </p:spPr>
        <p:txBody>
          <a:bodyPr/>
          <a:lstStyle/>
          <a:p>
            <a:r>
              <a:rPr lang="zh-CN" altLang="en-US" dirty="0"/>
              <a:t>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43953"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200" b="1">
                <a:solidFill>
                  <a:srgbClr val="0000FF"/>
                </a:solidFill>
                <a:latin typeface="微软雅黑" pitchFamily="34" charset="-122"/>
                <a:ea typeface="微软雅黑" pitchFamily="34" charset="-122"/>
              </a:defRPr>
            </a:lvl1pPr>
          </a:lstStyle>
          <a:p>
            <a:r>
              <a:rPr lang="zh-CN" altLang="en-US" dirty="0"/>
              <a:t>网络</a:t>
            </a:r>
          </a:p>
        </p:txBody>
      </p:sp>
      <p:sp>
        <p:nvSpPr>
          <p:cNvPr id="324" name="Text Box 102"/>
          <p:cNvSpPr txBox="1">
            <a:spLocks noChangeArrowheads="1"/>
          </p:cNvSpPr>
          <p:nvPr/>
        </p:nvSpPr>
        <p:spPr bwMode="auto">
          <a:xfrm>
            <a:off x="2829731"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200" b="1">
                <a:solidFill>
                  <a:srgbClr val="0000FF"/>
                </a:solidFill>
                <a:latin typeface="微软雅黑" pitchFamily="34" charset="-122"/>
                <a:ea typeface="微软雅黑" pitchFamily="34" charset="-122"/>
              </a:defRPr>
            </a:lvl1pPr>
          </a:lstStyle>
          <a:p>
            <a:r>
              <a:rPr lang="zh-CN" altLang="en-US" dirty="0"/>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53090"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200" b="1">
                <a:solidFill>
                  <a:srgbClr val="0000FF"/>
                </a:solidFill>
                <a:latin typeface="微软雅黑" pitchFamily="34" charset="-122"/>
                <a:ea typeface="微软雅黑" pitchFamily="34" charset="-122"/>
              </a:defRPr>
            </a:lvl1pPr>
          </a:lstStyle>
          <a:p>
            <a:r>
              <a:rPr lang="zh-CN" altLang="en-US" dirty="0"/>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2808000" y="144000"/>
            <a:ext cx="3528000" cy="400110"/>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2808000" y="144000"/>
            <a:ext cx="3528000" cy="400110"/>
          </a:xfrm>
        </p:spPr>
        <p:txBody>
          <a:bodyPr/>
          <a:lstStyle/>
          <a:p>
            <a:r>
              <a:rPr lang="en-US" altLang="zh-CN" dirty="0"/>
              <a:t>IP </a:t>
            </a:r>
            <a:r>
              <a:rPr lang="zh-CN" altLang="en-US" dirty="0"/>
              <a:t>网</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0"/>
          </p:nvPr>
        </p:nvSpPr>
        <p:spPr>
          <a:xfrm>
            <a:off x="612000" y="648000"/>
            <a:ext cx="7920000" cy="39600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2E719200-1542-F209-72E5-426CA02E979B}"/>
              </a:ext>
            </a:extLst>
          </p:cNvPr>
          <p:cNvSpPr>
            <a:spLocks noGrp="1"/>
          </p:cNvSpPr>
          <p:nvPr>
            <p:ph type="title"/>
          </p:nvPr>
        </p:nvSpPr>
        <p:spPr>
          <a:xfrm>
            <a:off x="2808000" y="144000"/>
            <a:ext cx="3528000" cy="400110"/>
          </a:xfrm>
        </p:spPr>
        <p:txBody>
          <a:bodyPr/>
          <a:lstStyle/>
          <a:p>
            <a:r>
              <a:rPr lang="zh-CN" altLang="en-US" dirty="0"/>
              <a:t>互联网</a:t>
            </a: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
        <p:nvSpPr>
          <p:cNvPr id="3" name="标题 2">
            <a:extLst>
              <a:ext uri="{FF2B5EF4-FFF2-40B4-BE49-F238E27FC236}">
                <a16:creationId xmlns:a16="http://schemas.microsoft.com/office/drawing/2014/main" id="{F36DBB66-AB86-6E31-E393-1170A61D70F3}"/>
              </a:ext>
            </a:extLst>
          </p:cNvPr>
          <p:cNvSpPr>
            <a:spLocks noGrp="1"/>
          </p:cNvSpPr>
          <p:nvPr>
            <p:ph type="title"/>
          </p:nvPr>
        </p:nvSpPr>
        <p:spPr>
          <a:xfrm>
            <a:off x="2808000" y="144000"/>
            <a:ext cx="3528000" cy="400110"/>
          </a:xfrm>
        </p:spPr>
        <p:txBody>
          <a:bodyPr/>
          <a:lstStyle/>
          <a:p>
            <a:r>
              <a:rPr lang="zh-CN" altLang="en-US" dirty="0"/>
              <a:t>分组传输</a:t>
            </a:r>
          </a:p>
        </p:txBody>
      </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A6E910-1073-8D90-7F64-EA2DA85F3D77}"/>
              </a:ext>
            </a:extLst>
          </p:cNvPr>
          <p:cNvSpPr>
            <a:spLocks noGrp="1"/>
          </p:cNvSpPr>
          <p:nvPr>
            <p:ph type="title"/>
          </p:nvPr>
        </p:nvSpPr>
        <p:spPr>
          <a:xfrm>
            <a:off x="2808000" y="144000"/>
            <a:ext cx="3528000" cy="400110"/>
          </a:xfrm>
        </p:spPr>
        <p:txBody>
          <a:bodyPr/>
          <a:lstStyle/>
          <a:p>
            <a:r>
              <a:rPr lang="en-US" altLang="zh-CN" dirty="0"/>
              <a:t>4.2.2  IP </a:t>
            </a:r>
            <a:r>
              <a:rPr lang="zh-CN" altLang="en-US" dirty="0"/>
              <a:t>地址</a:t>
            </a:r>
          </a:p>
        </p:txBody>
      </p:sp>
      <p:sp>
        <p:nvSpPr>
          <p:cNvPr id="3" name="内容占位符 2">
            <a:extLst>
              <a:ext uri="{FF2B5EF4-FFF2-40B4-BE49-F238E27FC236}">
                <a16:creationId xmlns:a16="http://schemas.microsoft.com/office/drawing/2014/main" id="{2EE6047A-255C-8922-0E3E-0B1DAFAFECDF}"/>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TCP/IP </a:t>
            </a:r>
            <a:r>
              <a:rPr lang="zh-CN" altLang="en-US" dirty="0"/>
              <a:t>体系中，</a:t>
            </a:r>
            <a:r>
              <a:rPr lang="en-US" altLang="zh-CN" dirty="0"/>
              <a:t>IP </a:t>
            </a:r>
            <a:r>
              <a:rPr lang="zh-CN" altLang="en-US" dirty="0"/>
              <a:t>地址是一个最基本的概念。</a:t>
            </a:r>
            <a:endParaRPr lang="en-US" altLang="zh-CN" dirty="0"/>
          </a:p>
          <a:p>
            <a:r>
              <a:rPr lang="zh-CN" altLang="en-US" dirty="0"/>
              <a:t>没有</a:t>
            </a:r>
            <a:r>
              <a:rPr lang="en-US" altLang="zh-CN" dirty="0"/>
              <a:t>IP</a:t>
            </a:r>
            <a:r>
              <a:rPr lang="zh-CN" altLang="en-US" dirty="0"/>
              <a:t>地址，就无法和网上的其他设备进行通信。</a:t>
            </a:r>
          </a:p>
          <a:p>
            <a:r>
              <a:rPr lang="zh-CN" altLang="en-US" dirty="0"/>
              <a:t>本部分重点：</a:t>
            </a:r>
          </a:p>
          <a:p>
            <a:pPr lvl="1"/>
            <a:r>
              <a:rPr lang="en-US" altLang="zh-CN" dirty="0"/>
              <a:t>IP </a:t>
            </a:r>
            <a:r>
              <a:rPr lang="zh-CN" altLang="en-US" dirty="0"/>
              <a:t>地址及其表示方法</a:t>
            </a:r>
          </a:p>
          <a:p>
            <a:pPr lvl="1"/>
            <a:r>
              <a:rPr lang="zh-CN" altLang="en-US" dirty="0"/>
              <a:t>分类的 </a:t>
            </a:r>
            <a:r>
              <a:rPr lang="en-US" altLang="zh-CN" dirty="0"/>
              <a:t>IP </a:t>
            </a:r>
            <a:r>
              <a:rPr lang="zh-CN" altLang="en-US" dirty="0"/>
              <a:t>地址</a:t>
            </a:r>
            <a:endParaRPr lang="en-US" altLang="zh-CN" dirty="0"/>
          </a:p>
          <a:p>
            <a:pPr lvl="1"/>
            <a:r>
              <a:rPr lang="zh-CN" altLang="en-US" dirty="0"/>
              <a:t>无分类编址 </a:t>
            </a:r>
            <a:r>
              <a:rPr lang="en-US" altLang="zh-CN" dirty="0"/>
              <a:t>CIDR</a:t>
            </a:r>
          </a:p>
          <a:p>
            <a:pPr lvl="1"/>
            <a:r>
              <a:rPr lang="en-US" altLang="zh-CN" dirty="0"/>
              <a:t>IP </a:t>
            </a:r>
            <a:r>
              <a:rPr lang="zh-CN" altLang="en-US" dirty="0"/>
              <a:t>地址的特点</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92D050"/>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
        <p:nvSpPr>
          <p:cNvPr id="3" name="标题 2">
            <a:extLst>
              <a:ext uri="{FF2B5EF4-FFF2-40B4-BE49-F238E27FC236}">
                <a16:creationId xmlns:a16="http://schemas.microsoft.com/office/drawing/2014/main" id="{C88DAE12-859D-8A0D-56CA-ACAA4B26DD0D}"/>
              </a:ext>
            </a:extLst>
          </p:cNvPr>
          <p:cNvSpPr>
            <a:spLocks noGrp="1"/>
          </p:cNvSpPr>
          <p:nvPr>
            <p:ph type="title"/>
          </p:nvPr>
        </p:nvSpPr>
        <p:spPr>
          <a:xfrm>
            <a:off x="2808000" y="144000"/>
            <a:ext cx="3528000" cy="400110"/>
          </a:xfrm>
        </p:spPr>
        <p:txBody>
          <a:bodyPr/>
          <a:lstStyle/>
          <a:p>
            <a:r>
              <a:rPr lang="en-US" altLang="zh-CN" dirty="0"/>
              <a:t>1. IP </a:t>
            </a:r>
            <a:r>
              <a:rPr lang="zh-CN" altLang="en-US" dirty="0"/>
              <a:t>地址及其表示方法</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
        <p:nvSpPr>
          <p:cNvPr id="2" name="标题 1">
            <a:extLst>
              <a:ext uri="{FF2B5EF4-FFF2-40B4-BE49-F238E27FC236}">
                <a16:creationId xmlns:a16="http://schemas.microsoft.com/office/drawing/2014/main" id="{883B13CD-DCEF-E803-6708-AC19D764162A}"/>
              </a:ext>
            </a:extLst>
          </p:cNvPr>
          <p:cNvSpPr>
            <a:spLocks noGrp="1"/>
          </p:cNvSpPr>
          <p:nvPr>
            <p:ph type="title"/>
          </p:nvPr>
        </p:nvSpPr>
        <p:spPr>
          <a:xfrm>
            <a:off x="2808000" y="144000"/>
            <a:ext cx="3528000" cy="400110"/>
          </a:xfrm>
        </p:spPr>
        <p:txBody>
          <a:bodyPr/>
          <a:lstStyle/>
          <a:p>
            <a:r>
              <a:rPr lang="zh-CN" altLang="en-US" dirty="0"/>
              <a:t>点分十进制记法举例</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
        <p:nvSpPr>
          <p:cNvPr id="5" name="标题 4">
            <a:extLst>
              <a:ext uri="{FF2B5EF4-FFF2-40B4-BE49-F238E27FC236}">
                <a16:creationId xmlns:a16="http://schemas.microsoft.com/office/drawing/2014/main" id="{6F4CA9E5-178B-F0D8-EE98-7C7E293FFCD4}"/>
              </a:ext>
            </a:extLst>
          </p:cNvPr>
          <p:cNvSpPr>
            <a:spLocks noGrp="1"/>
          </p:cNvSpPr>
          <p:nvPr>
            <p:ph type="title"/>
          </p:nvPr>
        </p:nvSpPr>
        <p:spPr>
          <a:xfrm>
            <a:off x="2808000" y="144000"/>
            <a:ext cx="3528000" cy="400110"/>
          </a:xfrm>
        </p:spPr>
        <p:txBody>
          <a:bodyPr/>
          <a:lstStyle/>
          <a:p>
            <a:r>
              <a:rPr lang="en-US" altLang="zh-CN" dirty="0"/>
              <a:t>IP </a:t>
            </a:r>
            <a:r>
              <a:rPr lang="zh-CN" altLang="en-US" dirty="0"/>
              <a:t>地址的 </a:t>
            </a:r>
            <a:r>
              <a:rPr lang="en-US" altLang="zh-CN" dirty="0"/>
              <a:t>2 </a:t>
            </a:r>
            <a:r>
              <a:rPr lang="zh-CN" altLang="en-US" dirty="0"/>
              <a:t>级结构</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Line 2"/>
          <p:cNvSpPr>
            <a:spLocks noChangeShapeType="1"/>
          </p:cNvSpPr>
          <p:nvPr/>
        </p:nvSpPr>
        <p:spPr bwMode="auto">
          <a:xfrm flipV="1">
            <a:off x="1652194" y="3007536"/>
            <a:ext cx="339320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Rectangle 4"/>
          <p:cNvSpPr>
            <a:spLocks noChangeArrowheads="1"/>
          </p:cNvSpPr>
          <p:nvPr/>
        </p:nvSpPr>
        <p:spPr bwMode="auto">
          <a:xfrm>
            <a:off x="1652194" y="2621402"/>
            <a:ext cx="4507009" cy="262421"/>
          </a:xfrm>
          <a:prstGeom prst="rect">
            <a:avLst/>
          </a:prstGeom>
          <a:solidFill>
            <a:srgbClr val="1FA3E5"/>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2755847" y="1572040"/>
            <a:ext cx="3396249"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35" name="Rectangle 6"/>
          <p:cNvSpPr>
            <a:spLocks noChangeArrowheads="1"/>
          </p:cNvSpPr>
          <p:nvPr/>
        </p:nvSpPr>
        <p:spPr bwMode="auto">
          <a:xfrm>
            <a:off x="4093237" y="1449265"/>
            <a:ext cx="689292" cy="394467"/>
          </a:xfrm>
          <a:prstGeom prst="rect">
            <a:avLst/>
          </a:prstGeom>
          <a:ln>
            <a:noFill/>
          </a:ln>
          <a:effec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677576" y="2288089"/>
            <a:ext cx="222253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37" name="Rectangle 8"/>
          <p:cNvSpPr>
            <a:spLocks noChangeArrowheads="1"/>
          </p:cNvSpPr>
          <p:nvPr/>
        </p:nvSpPr>
        <p:spPr bwMode="auto">
          <a:xfrm>
            <a:off x="2524010" y="2196758"/>
            <a:ext cx="609142" cy="394467"/>
          </a:xfrm>
          <a:prstGeom prst="rect">
            <a:avLst/>
          </a:prstGeom>
          <a:ln>
            <a:noFill/>
          </a:ln>
          <a:effec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27826" y="1572040"/>
            <a:ext cx="1128021"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39" name="Rectangle 10"/>
          <p:cNvSpPr>
            <a:spLocks noChangeArrowheads="1"/>
          </p:cNvSpPr>
          <p:nvPr/>
        </p:nvSpPr>
        <p:spPr bwMode="auto">
          <a:xfrm>
            <a:off x="1845131" y="1449265"/>
            <a:ext cx="609142" cy="394467"/>
          </a:xfrm>
          <a:prstGeom prst="rect">
            <a:avLst/>
          </a:prstGeom>
          <a:ln>
            <a:noFill/>
          </a:ln>
          <a:effec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29857" y="1191529"/>
            <a:ext cx="4531376" cy="261484"/>
          </a:xfrm>
          <a:prstGeom prst="rect">
            <a:avLst/>
          </a:prstGeom>
          <a:solidFill>
            <a:srgbClr val="1FA3E5"/>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643056" y="1904313"/>
            <a:ext cx="4522239" cy="263358"/>
          </a:xfrm>
          <a:prstGeom prst="rect">
            <a:avLst/>
          </a:prstGeom>
          <a:solidFill>
            <a:srgbClr val="1FA3E5"/>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658286" y="2629837"/>
            <a:ext cx="3390156" cy="250237"/>
          </a:xfrm>
          <a:prstGeom prst="rect">
            <a:avLst/>
          </a:prstGeom>
          <a:solidFill>
            <a:srgbClr val="FFC000"/>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657270" y="1910873"/>
            <a:ext cx="2245889" cy="250238"/>
          </a:xfrm>
          <a:prstGeom prst="rect">
            <a:avLst/>
          </a:prstGeom>
          <a:solidFill>
            <a:srgbClr val="FFC000"/>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645087" y="1205587"/>
            <a:ext cx="1106700" cy="239928"/>
          </a:xfrm>
          <a:prstGeom prst="rect">
            <a:avLst/>
          </a:prstGeom>
          <a:solidFill>
            <a:srgbClr val="FFC000"/>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595336" y="118778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845674" y="1204650"/>
            <a:ext cx="80631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793323" y="1191529"/>
            <a:ext cx="0" cy="266170"/>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2755847" y="1191529"/>
            <a:ext cx="0" cy="2661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27826" y="147644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2755847" y="147644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6152096" y="147644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3908237" y="2284340"/>
            <a:ext cx="2235735" cy="3749"/>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53" name="Rectangle 25"/>
          <p:cNvSpPr>
            <a:spLocks noChangeArrowheads="1"/>
          </p:cNvSpPr>
          <p:nvPr/>
        </p:nvSpPr>
        <p:spPr bwMode="auto">
          <a:xfrm>
            <a:off x="4730912" y="2196758"/>
            <a:ext cx="689292" cy="394467"/>
          </a:xfrm>
          <a:prstGeom prst="rect">
            <a:avLst/>
          </a:prstGeom>
          <a:ln>
            <a:noFill/>
          </a:ln>
          <a:effec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652194" y="2191102"/>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3908237" y="2191102"/>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6143973" y="2191102"/>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855292" y="1910873"/>
            <a:ext cx="7966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3908237" y="1909937"/>
            <a:ext cx="0" cy="25586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856896" y="2627025"/>
            <a:ext cx="79509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13612" y="2624960"/>
            <a:ext cx="56817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089797" y="2620465"/>
            <a:ext cx="0" cy="25960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5060625" y="2617653"/>
            <a:ext cx="0" cy="2605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5063672" y="3008473"/>
            <a:ext cx="1080301"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7" name="Line 41"/>
          <p:cNvSpPr>
            <a:spLocks noChangeShapeType="1"/>
          </p:cNvSpPr>
          <p:nvPr/>
        </p:nvSpPr>
        <p:spPr bwMode="auto">
          <a:xfrm>
            <a:off x="1652194" y="291756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5063672" y="2919437"/>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6143973" y="2908191"/>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648133" y="3345960"/>
            <a:ext cx="4520208" cy="262421"/>
          </a:xfrm>
          <a:prstGeom prst="rect">
            <a:avLst/>
          </a:prstGeom>
          <a:solidFill>
            <a:schemeClr val="tx1">
              <a:lumMod val="50000"/>
              <a:lumOff val="50000"/>
            </a:schemeClr>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839262" y="3352521"/>
            <a:ext cx="81272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181790" y="3350647"/>
            <a:ext cx="0" cy="260547"/>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580361" y="3345024"/>
            <a:ext cx="65402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3599913" y="334524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653209" y="3916726"/>
            <a:ext cx="4511071" cy="262421"/>
          </a:xfrm>
          <a:prstGeom prst="rect">
            <a:avLst/>
          </a:prstGeom>
          <a:solidFill>
            <a:schemeClr val="tx1">
              <a:lumMod val="50000"/>
              <a:lumOff val="50000"/>
            </a:schemeClr>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872926" y="3922351"/>
            <a:ext cx="7790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3296923" y="3911327"/>
            <a:ext cx="15388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189181" y="3931722"/>
            <a:ext cx="0" cy="260547"/>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580361" y="3920476"/>
            <a:ext cx="65402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728343" y="1901501"/>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05489" y="1901501"/>
            <a:ext cx="30967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1957805" y="1899627"/>
            <a:ext cx="0" cy="26054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18C6495E-B210-004A-DAF9-48CFC176AE86}"/>
              </a:ext>
            </a:extLst>
          </p:cNvPr>
          <p:cNvSpPr>
            <a:spLocks noGrp="1"/>
          </p:cNvSpPr>
          <p:nvPr>
            <p:ph type="title"/>
          </p:nvPr>
        </p:nvSpPr>
        <p:spPr>
          <a:xfrm>
            <a:off x="2808000" y="144000"/>
            <a:ext cx="3528000" cy="400110"/>
          </a:xfrm>
        </p:spPr>
        <p:txBody>
          <a:bodyPr/>
          <a:lstStyle/>
          <a:p>
            <a:r>
              <a:rPr lang="en-US" altLang="zh-CN" dirty="0"/>
              <a:t>2. </a:t>
            </a:r>
            <a:r>
              <a:rPr lang="zh-CN" altLang="en-US" dirty="0"/>
              <a:t>分类的 </a:t>
            </a:r>
            <a:r>
              <a:rPr lang="en-US" altLang="zh-CN" dirty="0"/>
              <a:t>IP </a:t>
            </a:r>
            <a:r>
              <a:rPr lang="zh-CN" altLang="en-US" dirty="0"/>
              <a:t>地址</a:t>
            </a:r>
          </a:p>
        </p:txBody>
      </p:sp>
      <p:sp useBgFill="1">
        <p:nvSpPr>
          <p:cNvPr id="12" name="Rectangle 40">
            <a:extLst>
              <a:ext uri="{FF2B5EF4-FFF2-40B4-BE49-F238E27FC236}">
                <a16:creationId xmlns:a16="http://schemas.microsoft.com/office/drawing/2014/main" id="{B30A644A-8F98-DAA5-73EC-96ACA0BFAA17}"/>
              </a:ext>
            </a:extLst>
          </p:cNvPr>
          <p:cNvSpPr>
            <a:spLocks noChangeArrowheads="1"/>
          </p:cNvSpPr>
          <p:nvPr/>
        </p:nvSpPr>
        <p:spPr bwMode="auto">
          <a:xfrm>
            <a:off x="5310130" y="2909385"/>
            <a:ext cx="667829" cy="380749"/>
          </a:xfrm>
          <a:prstGeom prst="rect">
            <a:avLst/>
          </a:prstGeom>
          <a:ln>
            <a:noFill/>
          </a:ln>
          <a:effec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sp useBgFill="1">
        <p:nvSpPr>
          <p:cNvPr id="14" name="Rectangle 3">
            <a:extLst>
              <a:ext uri="{FF2B5EF4-FFF2-40B4-BE49-F238E27FC236}">
                <a16:creationId xmlns:a16="http://schemas.microsoft.com/office/drawing/2014/main" id="{7319F590-4F18-C424-9305-97A8493CDA07}"/>
              </a:ext>
            </a:extLst>
          </p:cNvPr>
          <p:cNvSpPr>
            <a:spLocks noChangeArrowheads="1"/>
          </p:cNvSpPr>
          <p:nvPr/>
        </p:nvSpPr>
        <p:spPr bwMode="auto">
          <a:xfrm>
            <a:off x="3076661" y="2909385"/>
            <a:ext cx="609142" cy="394467"/>
          </a:xfrm>
          <a:prstGeom prst="rect">
            <a:avLst/>
          </a:prstGeom>
          <a:ln>
            <a:noFill/>
          </a:ln>
          <a:effec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899979325"/>
              </p:ext>
            </p:extLst>
          </p:nvPr>
        </p:nvGraphicFramePr>
        <p:xfrm>
          <a:off x="612000" y="1024784"/>
          <a:ext cx="7920001" cy="1440000"/>
        </p:xfrm>
        <a:graphic>
          <a:graphicData uri="http://schemas.openxmlformats.org/drawingml/2006/table">
            <a:tbl>
              <a:tblPr>
                <a:tableStyleId>{5C22544A-7EE6-4342-B048-85BDC9FD1C3A}</a:tableStyleId>
              </a:tblPr>
              <a:tblGrid>
                <a:gridCol w="677677">
                  <a:extLst>
                    <a:ext uri="{9D8B030D-6E8A-4147-A177-3AD203B41FA5}">
                      <a16:colId xmlns:a16="http://schemas.microsoft.com/office/drawing/2014/main" val="20000"/>
                    </a:ext>
                  </a:extLst>
                </a:gridCol>
                <a:gridCol w="1810581">
                  <a:extLst>
                    <a:ext uri="{9D8B030D-6E8A-4147-A177-3AD203B41FA5}">
                      <a16:colId xmlns:a16="http://schemas.microsoft.com/office/drawing/2014/main" val="20001"/>
                    </a:ext>
                  </a:extLst>
                </a:gridCol>
                <a:gridCol w="1810581">
                  <a:extLst>
                    <a:ext uri="{9D8B030D-6E8A-4147-A177-3AD203B41FA5}">
                      <a16:colId xmlns:a16="http://schemas.microsoft.com/office/drawing/2014/main" val="20002"/>
                    </a:ext>
                  </a:extLst>
                </a:gridCol>
                <a:gridCol w="1810581">
                  <a:extLst>
                    <a:ext uri="{9D8B030D-6E8A-4147-A177-3AD203B41FA5}">
                      <a16:colId xmlns:a16="http://schemas.microsoft.com/office/drawing/2014/main" val="20003"/>
                    </a:ext>
                  </a:extLst>
                </a:gridCol>
                <a:gridCol w="1810581">
                  <a:extLst>
                    <a:ext uri="{9D8B030D-6E8A-4147-A177-3AD203B41FA5}">
                      <a16:colId xmlns:a16="http://schemas.microsoft.com/office/drawing/2014/main" val="20004"/>
                    </a:ext>
                  </a:extLst>
                </a:gridCol>
              </a:tblGrid>
              <a:tr h="360000">
                <a:tc>
                  <a:txBody>
                    <a:bodyPr/>
                    <a:lstStyle/>
                    <a:p>
                      <a:pPr algn="ctr">
                        <a:lnSpc>
                          <a:spcPct val="100000"/>
                        </a:lnSpc>
                        <a:spcAft>
                          <a:spcPts val="0"/>
                        </a:spcAft>
                      </a:pPr>
                      <a:r>
                        <a:rPr lang="zh-CN" altLang="en-US" sz="1400" dirty="0"/>
                        <a:t>类别</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网络数</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第一个网络号</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最后一个网络号</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主机数</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extLst>
                  <a:ext uri="{0D108BD9-81ED-4DB2-BD59-A6C34878D82A}">
                    <a16:rowId xmlns:a16="http://schemas.microsoft.com/office/drawing/2014/main" val="10000"/>
                  </a:ext>
                </a:extLst>
              </a:tr>
              <a:tr h="360000">
                <a:tc>
                  <a:txBody>
                    <a:bodyPr/>
                    <a:lstStyle/>
                    <a:p>
                      <a:pPr algn="ctr">
                        <a:lnSpc>
                          <a:spcPct val="100000"/>
                        </a:lnSpc>
                        <a:spcAft>
                          <a:spcPts val="0"/>
                        </a:spcAft>
                      </a:pPr>
                      <a:r>
                        <a:rPr lang="en-US" sz="1400" dirty="0"/>
                        <a:t>A</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126  (2</a:t>
                      </a:r>
                      <a:r>
                        <a:rPr lang="en-US" sz="1400" baseline="30000" dirty="0"/>
                        <a:t>7</a:t>
                      </a:r>
                      <a:r>
                        <a:rPr lang="en-US" sz="1400" dirty="0"/>
                        <a:t> – 2)</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126</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16777214</a:t>
                      </a:r>
                      <a:r>
                        <a:rPr lang="zh-CN" altLang="en-US" sz="1400" dirty="0"/>
                        <a:t>（</a:t>
                      </a:r>
                      <a:r>
                        <a:rPr lang="en-US" altLang="zh-CN" sz="1400" dirty="0"/>
                        <a:t>2</a:t>
                      </a:r>
                      <a:r>
                        <a:rPr lang="en-US" altLang="zh-CN" sz="1400" baseline="30000" dirty="0"/>
                        <a:t>24</a:t>
                      </a:r>
                      <a:r>
                        <a:rPr lang="en-US" altLang="zh-CN" sz="1400" dirty="0"/>
                        <a:t> - 2</a:t>
                      </a:r>
                      <a:r>
                        <a:rPr lang="zh-CN" altLang="en-US" sz="1400" dirty="0"/>
                        <a:t>）</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0000">
                <a:tc>
                  <a:txBody>
                    <a:bodyPr/>
                    <a:lstStyle/>
                    <a:p>
                      <a:pPr algn="ctr">
                        <a:lnSpc>
                          <a:spcPct val="100000"/>
                        </a:lnSpc>
                        <a:spcAft>
                          <a:spcPts val="0"/>
                        </a:spcAft>
                      </a:pPr>
                      <a:r>
                        <a:rPr lang="en-US" sz="1400" dirty="0"/>
                        <a:t>B</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16383  (2</a:t>
                      </a:r>
                      <a:r>
                        <a:rPr lang="en-US" sz="1400" baseline="30000" dirty="0"/>
                        <a:t>14</a:t>
                      </a:r>
                      <a:r>
                        <a:rPr lang="en-US" sz="1400" dirty="0"/>
                        <a:t> – 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128.1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191.255</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65534</a:t>
                      </a:r>
                      <a:r>
                        <a:rPr lang="zh-CN" altLang="en-US" sz="1400" dirty="0"/>
                        <a:t>（</a:t>
                      </a:r>
                      <a:r>
                        <a:rPr lang="en-US" altLang="zh-CN" sz="1400" dirty="0"/>
                        <a:t>2</a:t>
                      </a:r>
                      <a:r>
                        <a:rPr lang="en-US" altLang="zh-CN" sz="1400" baseline="30000" dirty="0"/>
                        <a:t>16</a:t>
                      </a:r>
                      <a:r>
                        <a:rPr lang="en-US" altLang="zh-CN" sz="1400" dirty="0"/>
                        <a:t> - 2</a:t>
                      </a:r>
                      <a:r>
                        <a:rPr lang="zh-CN" altLang="en-US" sz="1400" dirty="0"/>
                        <a:t>）</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60000">
                <a:tc>
                  <a:txBody>
                    <a:bodyPr/>
                    <a:lstStyle/>
                    <a:p>
                      <a:pPr algn="ctr">
                        <a:lnSpc>
                          <a:spcPct val="100000"/>
                        </a:lnSpc>
                        <a:spcAft>
                          <a:spcPts val="0"/>
                        </a:spcAft>
                      </a:pPr>
                      <a:r>
                        <a:rPr lang="en-US" sz="1400" dirty="0"/>
                        <a:t>C</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2097151  (2</a:t>
                      </a:r>
                      <a:r>
                        <a:rPr lang="en-US" sz="1400" baseline="30000" dirty="0"/>
                        <a:t>21</a:t>
                      </a:r>
                      <a:r>
                        <a:rPr lang="en-US" sz="1400" dirty="0"/>
                        <a:t> – 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192.0.1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223.255.255</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254</a:t>
                      </a:r>
                      <a:r>
                        <a:rPr lang="zh-CN" altLang="en-US" sz="1400" dirty="0"/>
                        <a:t>（</a:t>
                      </a:r>
                      <a:r>
                        <a:rPr lang="en-US" altLang="zh-CN" sz="1400" dirty="0"/>
                        <a:t>2</a:t>
                      </a:r>
                      <a:r>
                        <a:rPr lang="en-US" altLang="zh-CN" sz="1400" baseline="30000" dirty="0"/>
                        <a:t>8</a:t>
                      </a:r>
                      <a:r>
                        <a:rPr lang="en-US" altLang="zh-CN" sz="1400" dirty="0"/>
                        <a:t> - 2</a:t>
                      </a:r>
                      <a:r>
                        <a:rPr lang="zh-CN" altLang="en-US" sz="1400" dirty="0"/>
                        <a:t>）</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3" name="标题 2">
            <a:extLst>
              <a:ext uri="{FF2B5EF4-FFF2-40B4-BE49-F238E27FC236}">
                <a16:creationId xmlns:a16="http://schemas.microsoft.com/office/drawing/2014/main" id="{22216168-5265-CC44-38B5-4F75B94E7178}"/>
              </a:ext>
            </a:extLst>
          </p:cNvPr>
          <p:cNvSpPr>
            <a:spLocks noGrp="1"/>
          </p:cNvSpPr>
          <p:nvPr>
            <p:ph type="title"/>
          </p:nvPr>
        </p:nvSpPr>
        <p:spPr>
          <a:xfrm>
            <a:off x="2808000" y="144000"/>
            <a:ext cx="3528000" cy="400110"/>
          </a:xfrm>
        </p:spPr>
        <p:txBody>
          <a:bodyPr/>
          <a:lstStyle/>
          <a:p>
            <a:r>
              <a:rPr lang="zh-CN" altLang="en-US" dirty="0"/>
              <a:t>各类 </a:t>
            </a:r>
            <a:r>
              <a:rPr lang="en-US" altLang="zh-CN" dirty="0"/>
              <a:t>IP </a:t>
            </a:r>
            <a:r>
              <a:rPr lang="zh-CN" altLang="en-US" dirty="0"/>
              <a:t>地址的指派范围</a:t>
            </a:r>
          </a:p>
        </p:txBody>
      </p:sp>
      <p:sp>
        <p:nvSpPr>
          <p:cNvPr id="5" name="文本框 4">
            <a:extLst>
              <a:ext uri="{FF2B5EF4-FFF2-40B4-BE49-F238E27FC236}">
                <a16:creationId xmlns:a16="http://schemas.microsoft.com/office/drawing/2014/main" id="{870A182A-B87D-5FBB-2B32-DA1FE4419BE6}"/>
              </a:ext>
            </a:extLst>
          </p:cNvPr>
          <p:cNvSpPr txBox="1"/>
          <p:nvPr/>
        </p:nvSpPr>
        <p:spPr>
          <a:xfrm>
            <a:off x="791959" y="3285066"/>
            <a:ext cx="7560083" cy="1015663"/>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rPr>
              <a:t>注意：</a:t>
            </a:r>
          </a:p>
          <a:p>
            <a:r>
              <a:rPr lang="en-US" altLang="zh-CN" sz="1200" dirty="0">
                <a:latin typeface="Montserrat" panose="00000500000000000000" pitchFamily="2" charset="0"/>
                <a:ea typeface="微软雅黑 Light" panose="020B0502040204020203" pitchFamily="34" charset="-122"/>
              </a:rPr>
              <a:t>A </a:t>
            </a:r>
            <a:r>
              <a:rPr lang="zh-CN" altLang="en-US" sz="1200" dirty="0">
                <a:latin typeface="Montserrat" panose="00000500000000000000" pitchFamily="2" charset="0"/>
                <a:ea typeface="微软雅黑 Light" panose="020B0502040204020203" pitchFamily="34" charset="-122"/>
              </a:rPr>
              <a:t>类网络地址中， 网络号 </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和 </a:t>
            </a:r>
            <a:r>
              <a:rPr lang="en-US" altLang="zh-CN" sz="1200" dirty="0">
                <a:latin typeface="Montserrat" panose="00000500000000000000" pitchFamily="2" charset="0"/>
                <a:ea typeface="微软雅黑 Light" panose="020B0502040204020203" pitchFamily="34" charset="-122"/>
              </a:rPr>
              <a:t>127 </a:t>
            </a:r>
            <a:r>
              <a:rPr lang="zh-CN" altLang="en-US" sz="1200" dirty="0">
                <a:latin typeface="Montserrat" panose="00000500000000000000" pitchFamily="2" charset="0"/>
                <a:ea typeface="微软雅黑 Light" panose="020B0502040204020203" pitchFamily="34" charset="-122"/>
              </a:rPr>
              <a:t>是保留地址，不指派。</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表示“本网络”，</a:t>
            </a:r>
            <a:r>
              <a:rPr lang="en-US" altLang="zh-CN" sz="1200" dirty="0">
                <a:latin typeface="Montserrat" panose="00000500000000000000" pitchFamily="2" charset="0"/>
                <a:ea typeface="微软雅黑 Light" panose="020B0502040204020203" pitchFamily="34" charset="-122"/>
              </a:rPr>
              <a:t>127 </a:t>
            </a:r>
            <a:r>
              <a:rPr lang="zh-CN" altLang="en-US" sz="1200" dirty="0">
                <a:latin typeface="Montserrat" panose="00000500000000000000" pitchFamily="2" charset="0"/>
                <a:ea typeface="微软雅黑 Light" panose="020B0502040204020203" pitchFamily="34" charset="-122"/>
              </a:rPr>
              <a:t>保留作为本地环回测试地址。</a:t>
            </a:r>
          </a:p>
          <a:p>
            <a:r>
              <a:rPr lang="en-US" altLang="zh-CN" sz="1200" dirty="0">
                <a:latin typeface="Montserrat" panose="00000500000000000000" pitchFamily="2" charset="0"/>
                <a:ea typeface="微软雅黑 Light" panose="020B0502040204020203" pitchFamily="34" charset="-122"/>
              </a:rPr>
              <a:t>B </a:t>
            </a:r>
            <a:r>
              <a:rPr lang="zh-CN" altLang="en-US" sz="1200" dirty="0">
                <a:latin typeface="Montserrat" panose="00000500000000000000" pitchFamily="2" charset="0"/>
                <a:ea typeface="微软雅黑 Light" panose="020B0502040204020203" pitchFamily="34" charset="-122"/>
              </a:rPr>
              <a:t>类网络地址中，网络号 </a:t>
            </a:r>
            <a:r>
              <a:rPr lang="en-US" altLang="zh-CN" sz="1200" dirty="0">
                <a:latin typeface="Montserrat" panose="00000500000000000000" pitchFamily="2" charset="0"/>
                <a:ea typeface="微软雅黑 Light" panose="020B0502040204020203" pitchFamily="34" charset="-122"/>
              </a:rPr>
              <a:t>128.0  </a:t>
            </a:r>
            <a:r>
              <a:rPr lang="zh-CN" altLang="en-US" sz="1200" dirty="0">
                <a:latin typeface="Montserrat" panose="00000500000000000000" pitchFamily="2" charset="0"/>
                <a:ea typeface="微软雅黑 Light" panose="020B0502040204020203" pitchFamily="34" charset="-122"/>
              </a:rPr>
              <a:t>是被 </a:t>
            </a:r>
            <a:r>
              <a:rPr lang="en-US" altLang="zh-CN" sz="1200" dirty="0">
                <a:latin typeface="Montserrat" panose="00000500000000000000" pitchFamily="2" charset="0"/>
                <a:ea typeface="微软雅黑 Light" panose="020B0502040204020203" pitchFamily="34" charset="-122"/>
              </a:rPr>
              <a:t>IANA </a:t>
            </a:r>
            <a:r>
              <a:rPr lang="zh-CN" altLang="en-US" sz="1200" dirty="0">
                <a:latin typeface="Montserrat" panose="00000500000000000000" pitchFamily="2" charset="0"/>
                <a:ea typeface="微软雅黑 Light" panose="020B0502040204020203" pitchFamily="34" charset="-122"/>
              </a:rPr>
              <a:t>保留的，不指派。采用无分类编址（</a:t>
            </a:r>
            <a:r>
              <a:rPr lang="en-US" altLang="zh-CN" sz="1200" dirty="0">
                <a:latin typeface="Montserrat" panose="00000500000000000000" pitchFamily="2" charset="0"/>
                <a:ea typeface="微软雅黑 Light" panose="020B0502040204020203" pitchFamily="34" charset="-122"/>
              </a:rPr>
              <a:t>CIDR</a:t>
            </a:r>
            <a:r>
              <a:rPr lang="zh-CN" altLang="en-US" sz="1200" dirty="0">
                <a:latin typeface="Montserrat" panose="00000500000000000000" pitchFamily="2" charset="0"/>
                <a:ea typeface="微软雅黑 Light" panose="020B0502040204020203" pitchFamily="34" charset="-122"/>
              </a:rPr>
              <a:t>）时可以指派。</a:t>
            </a:r>
          </a:p>
          <a:p>
            <a:r>
              <a:rPr lang="en-US" altLang="zh-CN" sz="1200" dirty="0">
                <a:latin typeface="Montserrat" panose="00000500000000000000" pitchFamily="2" charset="0"/>
                <a:ea typeface="微软雅黑 Light" panose="020B0502040204020203" pitchFamily="34" charset="-122"/>
              </a:rPr>
              <a:t>C </a:t>
            </a:r>
            <a:r>
              <a:rPr lang="zh-CN" altLang="en-US" sz="1200" dirty="0">
                <a:latin typeface="Montserrat" panose="00000500000000000000" pitchFamily="2" charset="0"/>
                <a:ea typeface="微软雅黑 Light" panose="020B0502040204020203" pitchFamily="34" charset="-122"/>
              </a:rPr>
              <a:t>类网络地址中，网络号 </a:t>
            </a:r>
            <a:r>
              <a:rPr lang="en-US" altLang="zh-CN" sz="1200" dirty="0">
                <a:latin typeface="Montserrat" panose="00000500000000000000" pitchFamily="2" charset="0"/>
                <a:ea typeface="微软雅黑 Light" panose="020B0502040204020203" pitchFamily="34" charset="-122"/>
              </a:rPr>
              <a:t>192.0.0 </a:t>
            </a:r>
            <a:r>
              <a:rPr lang="zh-CN" altLang="en-US" sz="1200" dirty="0">
                <a:latin typeface="Montserrat" panose="00000500000000000000" pitchFamily="2" charset="0"/>
                <a:ea typeface="微软雅黑 Light" panose="020B0502040204020203" pitchFamily="34" charset="-122"/>
              </a:rPr>
              <a:t>是被 </a:t>
            </a:r>
            <a:r>
              <a:rPr lang="en-US" altLang="zh-CN" sz="1200" dirty="0">
                <a:latin typeface="Montserrat" panose="00000500000000000000" pitchFamily="2" charset="0"/>
                <a:ea typeface="微软雅黑 Light" panose="020B0502040204020203" pitchFamily="34" charset="-122"/>
              </a:rPr>
              <a:t>IANA </a:t>
            </a:r>
            <a:r>
              <a:rPr lang="zh-CN" altLang="en-US" sz="1200" dirty="0">
                <a:latin typeface="Montserrat" panose="00000500000000000000" pitchFamily="2" charset="0"/>
                <a:ea typeface="微软雅黑 Light" panose="020B0502040204020203" pitchFamily="34" charset="-122"/>
              </a:rPr>
              <a:t>保留的，不指派。采用无分类编址（</a:t>
            </a:r>
            <a:r>
              <a:rPr lang="en-US" altLang="zh-CN" sz="1200" dirty="0">
                <a:latin typeface="Montserrat" panose="00000500000000000000" pitchFamily="2" charset="0"/>
                <a:ea typeface="微软雅黑 Light" panose="020B0502040204020203" pitchFamily="34" charset="-122"/>
              </a:rPr>
              <a:t>CIDR</a:t>
            </a:r>
            <a:r>
              <a:rPr lang="zh-CN" altLang="en-US" sz="1200" dirty="0">
                <a:latin typeface="Montserrat" panose="00000500000000000000" pitchFamily="2" charset="0"/>
                <a:ea typeface="微软雅黑 Light" panose="020B0502040204020203" pitchFamily="34" charset="-122"/>
              </a:rPr>
              <a:t>）时可以指派。</a:t>
            </a:r>
          </a:p>
          <a:p>
            <a:r>
              <a:rPr lang="zh-CN" altLang="en-US" sz="1200" dirty="0">
                <a:latin typeface="Montserrat" panose="00000500000000000000" pitchFamily="2" charset="0"/>
                <a:ea typeface="微软雅黑 Light" panose="020B0502040204020203" pitchFamily="34" charset="-122"/>
              </a:rPr>
              <a:t>指派主机号时，要扣除全 </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和全 </a:t>
            </a: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。全 </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和全 </a:t>
            </a: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内容占位符 2"/>
          <p:cNvGraphicFramePr>
            <a:graphicFrameLocks/>
          </p:cNvGraphicFramePr>
          <p:nvPr>
            <p:extLst>
              <p:ext uri="{D42A27DB-BD31-4B8C-83A1-F6EECF244321}">
                <p14:modId xmlns:p14="http://schemas.microsoft.com/office/powerpoint/2010/main" val="3300687259"/>
              </p:ext>
            </p:extLst>
          </p:nvPr>
        </p:nvGraphicFramePr>
        <p:xfrm>
          <a:off x="612001" y="627750"/>
          <a:ext cx="7919999" cy="3888000"/>
        </p:xfrm>
        <a:graphic>
          <a:graphicData uri="http://schemas.openxmlformats.org/drawingml/2006/table">
            <a:tbl>
              <a:tblPr>
                <a:tableStyleId>{5C22544A-7EE6-4342-B048-85BDC9FD1C3A}</a:tableStyleId>
              </a:tblPr>
              <a:tblGrid>
                <a:gridCol w="795768">
                  <a:extLst>
                    <a:ext uri="{9D8B030D-6E8A-4147-A177-3AD203B41FA5}">
                      <a16:colId xmlns:a16="http://schemas.microsoft.com/office/drawing/2014/main" val="20000"/>
                    </a:ext>
                  </a:extLst>
                </a:gridCol>
                <a:gridCol w="1340345">
                  <a:extLst>
                    <a:ext uri="{9D8B030D-6E8A-4147-A177-3AD203B41FA5}">
                      <a16:colId xmlns:a16="http://schemas.microsoft.com/office/drawing/2014/main" val="20001"/>
                    </a:ext>
                  </a:extLst>
                </a:gridCol>
                <a:gridCol w="833837">
                  <a:extLst>
                    <a:ext uri="{9D8B030D-6E8A-4147-A177-3AD203B41FA5}">
                      <a16:colId xmlns:a16="http://schemas.microsoft.com/office/drawing/2014/main" val="20002"/>
                    </a:ext>
                  </a:extLst>
                </a:gridCol>
                <a:gridCol w="1051009">
                  <a:extLst>
                    <a:ext uri="{9D8B030D-6E8A-4147-A177-3AD203B41FA5}">
                      <a16:colId xmlns:a16="http://schemas.microsoft.com/office/drawing/2014/main" val="20003"/>
                    </a:ext>
                  </a:extLst>
                </a:gridCol>
                <a:gridCol w="3899040">
                  <a:extLst>
                    <a:ext uri="{9D8B030D-6E8A-4147-A177-3AD203B41FA5}">
                      <a16:colId xmlns:a16="http://schemas.microsoft.com/office/drawing/2014/main" val="20004"/>
                    </a:ext>
                  </a:extLst>
                </a:gridCol>
              </a:tblGrid>
              <a:tr h="648000">
                <a:tc>
                  <a:txBody>
                    <a:bodyPr/>
                    <a:lstStyle/>
                    <a:p>
                      <a:pPr marL="0" algn="ctr" defTabSz="914400" rtl="0" eaLnBrk="1" latinLnBrk="0" hangingPunct="1">
                        <a:lnSpc>
                          <a:spcPct val="100000"/>
                        </a:lnSpc>
                        <a:spcAft>
                          <a:spcPts val="0"/>
                        </a:spcAft>
                      </a:pPr>
                      <a:r>
                        <a:rPr lang="zh-CN" altLang="en-US" sz="1400" dirty="0"/>
                        <a:t>网络号</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pPr>
                      <a:r>
                        <a:rPr lang="zh-CN" altLang="en-US" sz="1400" dirty="0"/>
                        <a:t>主机号</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pPr>
                      <a:r>
                        <a:rPr lang="zh-CN" altLang="en-US" sz="1400" dirty="0"/>
                        <a:t>源地址</a:t>
                      </a:r>
                      <a:endParaRPr lang="en-US" altLang="zh-CN" sz="1400" dirty="0"/>
                    </a:p>
                    <a:p>
                      <a:pPr marL="0" algn="ctr" defTabSz="914400" rtl="0" eaLnBrk="1" latinLnBrk="0" hangingPunct="1">
                        <a:lnSpc>
                          <a:spcPct val="100000"/>
                        </a:lnSpc>
                        <a:spcAft>
                          <a:spcPts val="0"/>
                        </a:spcAft>
                      </a:pPr>
                      <a:r>
                        <a:rPr lang="zh-CN" altLang="en-US" sz="1400" dirty="0"/>
                        <a:t>使用</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pPr>
                      <a:r>
                        <a:rPr lang="zh-CN" altLang="en-US" sz="1400" dirty="0"/>
                        <a:t>目的地址</a:t>
                      </a:r>
                      <a:endParaRPr lang="en-US" altLang="zh-CN" sz="1400" dirty="0"/>
                    </a:p>
                    <a:p>
                      <a:pPr marL="0" algn="ctr" defTabSz="914400" rtl="0" eaLnBrk="1" latinLnBrk="0" hangingPunct="1">
                        <a:lnSpc>
                          <a:spcPct val="100000"/>
                        </a:lnSpc>
                        <a:spcAft>
                          <a:spcPts val="0"/>
                        </a:spcAft>
                      </a:pPr>
                      <a:r>
                        <a:rPr lang="zh-CN" altLang="en-US" sz="1400" dirty="0"/>
                        <a:t>使用</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altLang="en-US" sz="1400" dirty="0"/>
                        <a:t>含义</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000"/>
                  </a:ext>
                </a:extLst>
              </a:tr>
              <a:tr h="648000">
                <a:tc>
                  <a:txBody>
                    <a:bodyPr/>
                    <a:lstStyle/>
                    <a:p>
                      <a:pPr marL="0" algn="ctr" defTabSz="914400" rtl="0" eaLnBrk="1" latinLnBrk="0" hangingPunct="1">
                        <a:lnSpc>
                          <a:spcPct val="100000"/>
                        </a:lnSpc>
                        <a:spcAft>
                          <a:spcPts val="0"/>
                        </a:spcAft>
                      </a:pPr>
                      <a:r>
                        <a:rPr lang="en-US"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en-US"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在本网络上的本主机（见</a:t>
                      </a:r>
                      <a:r>
                        <a:rPr lang="en-US" altLang="zh-CN" sz="1400" dirty="0"/>
                        <a:t> </a:t>
                      </a:r>
                      <a:r>
                        <a:rPr lang="en-US" sz="1400" dirty="0"/>
                        <a:t>6.6 </a:t>
                      </a:r>
                      <a:r>
                        <a:rPr lang="zh-CN" altLang="en-US" sz="1400" dirty="0"/>
                        <a:t>节</a:t>
                      </a:r>
                      <a:r>
                        <a:rPr lang="en-US" altLang="zh-CN" sz="1400" dirty="0"/>
                        <a:t> </a:t>
                      </a:r>
                      <a:r>
                        <a:rPr lang="en-US" sz="1400" dirty="0"/>
                        <a:t>DHCP </a:t>
                      </a:r>
                      <a:r>
                        <a:rPr lang="zh-CN" altLang="en-US" sz="1400" dirty="0"/>
                        <a:t>协议）</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48000">
                <a:tc>
                  <a:txBody>
                    <a:bodyPr/>
                    <a:lstStyle/>
                    <a:p>
                      <a:pPr marL="0" algn="ctr" defTabSz="914400" rtl="0" eaLnBrk="1" latinLnBrk="0" hangingPunct="1">
                        <a:lnSpc>
                          <a:spcPct val="100000"/>
                        </a:lnSpc>
                        <a:spcAft>
                          <a:spcPts val="0"/>
                        </a:spcAft>
                      </a:pPr>
                      <a:r>
                        <a:rPr lang="en-US"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en-US" altLang="zh-CN" sz="1400" dirty="0"/>
                        <a:t>X</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在本网络上主机号为 </a:t>
                      </a:r>
                      <a:r>
                        <a:rPr lang="en-US" altLang="zh-CN" sz="1400" dirty="0"/>
                        <a:t>X </a:t>
                      </a:r>
                      <a:r>
                        <a:rPr lang="zh-CN" altLang="en-US" sz="1400" dirty="0"/>
                        <a:t>的主机</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48000">
                <a:tc>
                  <a:txBody>
                    <a:bodyPr/>
                    <a:lstStyle/>
                    <a:p>
                      <a:pPr marL="0" algn="ctr" defTabSz="914400" rtl="0" eaLnBrk="1" latinLnBrk="0" hangingPunct="1">
                        <a:lnSpc>
                          <a:spcPct val="100000"/>
                        </a:lnSpc>
                        <a:spcAft>
                          <a:spcPts val="0"/>
                        </a:spcAft>
                      </a:pPr>
                      <a:r>
                        <a:rPr lang="zh-CN" altLang="en-US" sz="1400" dirty="0"/>
                        <a:t>全</a:t>
                      </a:r>
                      <a:r>
                        <a:rPr lang="en-US" altLang="zh-CN" sz="1400" dirty="0"/>
                        <a:t> </a:t>
                      </a:r>
                      <a:r>
                        <a:rPr lang="en-US" sz="1400" dirty="0"/>
                        <a:t>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全</a:t>
                      </a:r>
                      <a:r>
                        <a:rPr lang="en-US" altLang="zh-CN" sz="1400" dirty="0"/>
                        <a:t> </a:t>
                      </a:r>
                      <a:r>
                        <a:rPr lang="en-US" sz="1400" dirty="0"/>
                        <a:t>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只在本网络上进行广播（各路由器均不转发）</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48000">
                <a:tc>
                  <a:txBody>
                    <a:bodyPr/>
                    <a:lstStyle/>
                    <a:p>
                      <a:pPr marL="0" algn="ctr" defTabSz="914400" rtl="0" eaLnBrk="1" latinLnBrk="0" hangingPunct="1">
                        <a:lnSpc>
                          <a:spcPct val="100000"/>
                        </a:lnSpc>
                        <a:spcAft>
                          <a:spcPts val="0"/>
                        </a:spcAft>
                      </a:pPr>
                      <a:r>
                        <a:rPr lang="en-US" altLang="zh-CN" sz="1400" dirty="0"/>
                        <a:t>Y</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全</a:t>
                      </a:r>
                      <a:r>
                        <a:rPr lang="en-US" altLang="zh-CN" sz="1400" dirty="0"/>
                        <a:t> </a:t>
                      </a:r>
                      <a:r>
                        <a:rPr lang="en-US" sz="1400" dirty="0"/>
                        <a:t>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对网络号为 </a:t>
                      </a:r>
                      <a:r>
                        <a:rPr lang="en-US" altLang="zh-CN" sz="1400" dirty="0"/>
                        <a:t>Y </a:t>
                      </a:r>
                      <a:r>
                        <a:rPr lang="zh-CN" altLang="en-US" sz="1400" dirty="0"/>
                        <a:t>的网络上的所有主机进行广播</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48000">
                <a:tc>
                  <a:txBody>
                    <a:bodyPr/>
                    <a:lstStyle/>
                    <a:p>
                      <a:pPr marL="0" algn="ctr" defTabSz="914400" rtl="0" eaLnBrk="1" latinLnBrk="0" hangingPunct="1">
                        <a:lnSpc>
                          <a:spcPct val="100000"/>
                        </a:lnSpc>
                        <a:spcAft>
                          <a:spcPts val="0"/>
                        </a:spcAft>
                      </a:pPr>
                      <a:r>
                        <a:rPr lang="en-US" sz="1400" dirty="0"/>
                        <a:t>127</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非全</a:t>
                      </a:r>
                      <a:r>
                        <a:rPr lang="en-US" altLang="zh-CN" sz="1400" dirty="0"/>
                        <a:t> </a:t>
                      </a:r>
                      <a:r>
                        <a:rPr lang="en-US" sz="1400" dirty="0"/>
                        <a:t>0 </a:t>
                      </a:r>
                      <a:r>
                        <a:rPr lang="zh-CN" altLang="en-US" sz="1400" dirty="0"/>
                        <a:t>或全</a:t>
                      </a:r>
                      <a:r>
                        <a:rPr lang="en-US" altLang="zh-CN" sz="1400" dirty="0"/>
                        <a:t> </a:t>
                      </a:r>
                      <a:r>
                        <a:rPr lang="en-US" sz="1400" dirty="0"/>
                        <a:t>1 </a:t>
                      </a:r>
                      <a:r>
                        <a:rPr lang="zh-CN" altLang="en-US" sz="1400" dirty="0"/>
                        <a:t>的任何数</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zh-CN" sz="1400" dirty="0"/>
                        <a:t>用于本地软件环回测试</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bl>
          </a:graphicData>
        </a:graphic>
      </p:graphicFrame>
      <p:sp>
        <p:nvSpPr>
          <p:cNvPr id="2" name="标题 1">
            <a:extLst>
              <a:ext uri="{FF2B5EF4-FFF2-40B4-BE49-F238E27FC236}">
                <a16:creationId xmlns:a16="http://schemas.microsoft.com/office/drawing/2014/main" id="{5FD1A639-6D8B-A869-5C2E-BB9AD86F22B9}"/>
              </a:ext>
            </a:extLst>
          </p:cNvPr>
          <p:cNvSpPr>
            <a:spLocks noGrp="1"/>
          </p:cNvSpPr>
          <p:nvPr>
            <p:ph type="title"/>
          </p:nvPr>
        </p:nvSpPr>
        <p:spPr>
          <a:xfrm>
            <a:off x="2808000" y="144000"/>
            <a:ext cx="3528000" cy="400110"/>
          </a:xfrm>
        </p:spPr>
        <p:txBody>
          <a:bodyPr/>
          <a:lstStyle/>
          <a:p>
            <a:r>
              <a:rPr lang="zh-CN" altLang="en-US" dirty="0"/>
              <a:t>一般不使用的特殊的 </a:t>
            </a:r>
            <a:r>
              <a:rPr lang="en-US" altLang="zh-CN" dirty="0"/>
              <a:t>IP </a:t>
            </a:r>
            <a:r>
              <a:rPr lang="zh-CN" altLang="en-US" dirty="0"/>
              <a:t>地址</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2677514188"/>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标题 4">
            <a:extLst>
              <a:ext uri="{FF2B5EF4-FFF2-40B4-BE49-F238E27FC236}">
                <a16:creationId xmlns:a16="http://schemas.microsoft.com/office/drawing/2014/main" id="{028A1784-FB64-628E-1C39-19DE96A9C904}"/>
              </a:ext>
            </a:extLst>
          </p:cNvPr>
          <p:cNvSpPr>
            <a:spLocks noGrp="1"/>
          </p:cNvSpPr>
          <p:nvPr>
            <p:ph type="title"/>
          </p:nvPr>
        </p:nvSpPr>
        <p:spPr>
          <a:xfrm>
            <a:off x="2808000" y="144000"/>
            <a:ext cx="3528000" cy="400110"/>
          </a:xfrm>
        </p:spPr>
        <p:txBody>
          <a:bodyPr/>
          <a:lstStyle/>
          <a:p>
            <a:r>
              <a:rPr lang="zh-CN" altLang="en-US" dirty="0"/>
              <a:t>分类 </a:t>
            </a:r>
            <a:r>
              <a:rPr lang="en-US" altLang="zh-CN" dirty="0"/>
              <a:t>IP </a:t>
            </a:r>
            <a:r>
              <a:rPr lang="zh-CN" altLang="en-US" dirty="0"/>
              <a:t>地址的优点和缺点</a:t>
            </a:r>
          </a:p>
        </p:txBody>
      </p:sp>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EAC5B7-0972-FEAD-248E-9F1230EB7DF5}"/>
              </a:ext>
            </a:extLst>
          </p:cNvPr>
          <p:cNvSpPr>
            <a:spLocks noGrp="1"/>
          </p:cNvSpPr>
          <p:nvPr>
            <p:ph type="title"/>
          </p:nvPr>
        </p:nvSpPr>
        <p:spPr>
          <a:xfrm>
            <a:off x="2808000" y="144000"/>
            <a:ext cx="3528000" cy="400110"/>
          </a:xfrm>
        </p:spPr>
        <p:txBody>
          <a:bodyPr/>
          <a:lstStyle/>
          <a:p>
            <a:r>
              <a:rPr lang="en-US" altLang="zh-CN" dirty="0"/>
              <a:t>3. </a:t>
            </a:r>
            <a:r>
              <a:rPr lang="zh-CN" altLang="en-US" dirty="0"/>
              <a:t>无分类编址 </a:t>
            </a:r>
            <a:r>
              <a:rPr lang="en-US" altLang="zh-CN" dirty="0"/>
              <a:t>CIDR</a:t>
            </a:r>
            <a:endParaRPr lang="zh-CN" altLang="en-US" dirty="0"/>
          </a:p>
        </p:txBody>
      </p:sp>
      <p:sp>
        <p:nvSpPr>
          <p:cNvPr id="7" name="内容占位符 6">
            <a:extLst>
              <a:ext uri="{FF2B5EF4-FFF2-40B4-BE49-F238E27FC236}">
                <a16:creationId xmlns:a16="http://schemas.microsoft.com/office/drawing/2014/main" id="{D1C06508-5AA3-1488-A138-4E5BFC5F6EF9}"/>
              </a:ext>
            </a:extLst>
          </p:cNvPr>
          <p:cNvSpPr>
            <a:spLocks noGrp="1"/>
          </p:cNvSpPr>
          <p:nvPr>
            <p:ph sz="quarter" idx="10"/>
          </p:nvPr>
        </p:nvSpPr>
        <p:spPr>
          <a:xfrm>
            <a:off x="612000" y="648000"/>
            <a:ext cx="7920000" cy="3960000"/>
          </a:xfrm>
        </p:spPr>
        <p:txBody>
          <a:bodyPr/>
          <a:lstStyle/>
          <a:p>
            <a:r>
              <a:rPr lang="en-US" altLang="zh-CN" dirty="0"/>
              <a:t>CIDR (Classless Inter-Domain Routing) </a:t>
            </a:r>
            <a:r>
              <a:rPr lang="zh-CN" altLang="en-US" dirty="0"/>
              <a:t>：无分类域间路由选择。</a:t>
            </a:r>
            <a:endParaRPr lang="en-US" altLang="zh-CN" dirty="0"/>
          </a:p>
          <a:p>
            <a:r>
              <a:rPr lang="zh-CN" altLang="en-US" dirty="0"/>
              <a:t>消除了传统的 </a:t>
            </a:r>
            <a:r>
              <a:rPr lang="en-US" altLang="zh-CN" dirty="0"/>
              <a:t>A </a:t>
            </a:r>
            <a:r>
              <a:rPr lang="zh-CN" altLang="en-US" dirty="0"/>
              <a:t>类、</a:t>
            </a:r>
            <a:r>
              <a:rPr lang="en-US" altLang="zh-CN" dirty="0"/>
              <a:t>B </a:t>
            </a:r>
            <a:r>
              <a:rPr lang="zh-CN" altLang="en-US" dirty="0"/>
              <a:t>类和 </a:t>
            </a:r>
            <a:r>
              <a:rPr lang="en-US" altLang="zh-CN" dirty="0"/>
              <a:t>C </a:t>
            </a:r>
            <a:r>
              <a:rPr lang="zh-CN" altLang="en-US" dirty="0"/>
              <a:t>类地址以及划分子网的概念，可以更加有效地分配 </a:t>
            </a:r>
            <a:r>
              <a:rPr lang="en-US" altLang="zh-CN" dirty="0"/>
              <a:t>IPv4 </a:t>
            </a:r>
            <a:r>
              <a:rPr lang="zh-CN" altLang="en-US" dirty="0"/>
              <a:t>的地址空间，但无法解决 </a:t>
            </a:r>
            <a:r>
              <a:rPr lang="en-US" altLang="zh-CN" dirty="0"/>
              <a:t>IP </a:t>
            </a:r>
            <a:r>
              <a:rPr lang="zh-CN" altLang="en-US" dirty="0"/>
              <a:t>地址枯竭的问题。</a:t>
            </a:r>
          </a:p>
          <a:p>
            <a:r>
              <a:rPr lang="zh-CN" altLang="en-US" dirty="0"/>
              <a:t>要点：</a:t>
            </a:r>
            <a:endParaRPr lang="en-US" altLang="zh-CN" dirty="0"/>
          </a:p>
          <a:p>
            <a:pPr lvl="1"/>
            <a:r>
              <a:rPr lang="zh-CN" altLang="en-US" dirty="0"/>
              <a:t>网络前缀</a:t>
            </a:r>
            <a:endParaRPr lang="en-US" altLang="zh-CN" dirty="0"/>
          </a:p>
          <a:p>
            <a:pPr lvl="1"/>
            <a:r>
              <a:rPr lang="zh-CN" altLang="en-US" dirty="0"/>
              <a:t>地址块</a:t>
            </a:r>
            <a:endParaRPr lang="en-US" altLang="zh-CN" dirty="0"/>
          </a:p>
          <a:p>
            <a:pPr lvl="1"/>
            <a:r>
              <a:rPr lang="zh-CN" altLang="en-US" dirty="0"/>
              <a:t>地址掩码</a:t>
            </a:r>
          </a:p>
          <a:p>
            <a:endParaRPr lang="zh-CN" altLang="en-US" dirty="0"/>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92D050"/>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A94F692-E2D6-6E3E-B13D-18C02C601C59}"/>
              </a:ext>
            </a:extLst>
          </p:cNvPr>
          <p:cNvSpPr>
            <a:spLocks noGrp="1"/>
          </p:cNvSpPr>
          <p:nvPr>
            <p:ph type="title"/>
          </p:nvPr>
        </p:nvSpPr>
        <p:spPr>
          <a:xfrm>
            <a:off x="2808000" y="144000"/>
            <a:ext cx="3528000" cy="400110"/>
          </a:xfrm>
        </p:spPr>
        <p:txBody>
          <a:bodyPr/>
          <a:lstStyle/>
          <a:p>
            <a:r>
              <a:rPr lang="zh-CN" altLang="en-US" dirty="0"/>
              <a:t>网络前缀</a:t>
            </a: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内容占位符 19">
            <a:extLst>
              <a:ext uri="{FF2B5EF4-FFF2-40B4-BE49-F238E27FC236}">
                <a16:creationId xmlns:a16="http://schemas.microsoft.com/office/drawing/2014/main" id="{81BD880B-AF42-128F-7473-03694BF2A643}"/>
              </a:ext>
            </a:extLst>
          </p:cNvPr>
          <p:cNvSpPr>
            <a:spLocks noGrp="1"/>
          </p:cNvSpPr>
          <p:nvPr>
            <p:ph sz="quarter" idx="10"/>
          </p:nvPr>
        </p:nvSpPr>
        <p:spPr>
          <a:xfrm>
            <a:off x="612000" y="648000"/>
            <a:ext cx="7920000" cy="3960000"/>
          </a:xfrm>
        </p:spPr>
        <p:txBody>
          <a:bodyPr/>
          <a:lstStyle/>
          <a:p>
            <a:r>
              <a:rPr lang="en-US" altLang="zh-CN" dirty="0"/>
              <a:t>CIDR </a:t>
            </a:r>
            <a:r>
              <a:rPr lang="zh-CN" altLang="en-US" dirty="0"/>
              <a:t>把网络前缀都相同的所有连续的 </a:t>
            </a:r>
            <a:r>
              <a:rPr lang="en-US" altLang="zh-CN" dirty="0"/>
              <a:t>IP </a:t>
            </a:r>
            <a:r>
              <a:rPr lang="zh-CN" altLang="en-US" dirty="0"/>
              <a:t>地址组成一个 </a:t>
            </a:r>
            <a:r>
              <a:rPr lang="en-US" altLang="zh-CN" dirty="0"/>
              <a:t>CIDR </a:t>
            </a:r>
            <a:r>
              <a:rPr lang="zh-CN" altLang="en-US" dirty="0"/>
              <a:t>地址块。</a:t>
            </a:r>
            <a:endParaRPr lang="en-US" altLang="zh-CN" dirty="0"/>
          </a:p>
          <a:p>
            <a:r>
              <a:rPr lang="zh-CN" altLang="en-US" dirty="0"/>
              <a:t>一个 </a:t>
            </a:r>
            <a:r>
              <a:rPr lang="en-US" altLang="zh-CN" dirty="0"/>
              <a:t>CIDR </a:t>
            </a:r>
            <a:r>
              <a:rPr lang="zh-CN" altLang="en-US" dirty="0"/>
              <a:t>地址块包含的 </a:t>
            </a:r>
            <a:r>
              <a:rPr lang="en-US" altLang="zh-CN" dirty="0"/>
              <a:t>IP </a:t>
            </a:r>
            <a:r>
              <a:rPr lang="zh-CN" altLang="en-US" dirty="0"/>
              <a:t>地址数目，取决于网络前缀的位数。</a:t>
            </a:r>
          </a:p>
        </p:txBody>
      </p:sp>
      <p:sp>
        <p:nvSpPr>
          <p:cNvPr id="9" name="Text Box 3"/>
          <p:cNvSpPr txBox="1">
            <a:spLocks noChangeArrowheads="1"/>
          </p:cNvSpPr>
          <p:nvPr/>
        </p:nvSpPr>
        <p:spPr bwMode="auto">
          <a:xfrm>
            <a:off x="2972430" y="1862192"/>
            <a:ext cx="3418529" cy="2492990"/>
          </a:xfrm>
          <a:prstGeom prst="rect">
            <a:avLst/>
          </a:prstGeom>
          <a:solidFill>
            <a:schemeClr val="bg1"/>
          </a:solidFill>
          <a:ln w="9525">
            <a:noFill/>
            <a:miter lim="800000"/>
            <a:headEnd/>
            <a:tailEnd/>
          </a:ln>
          <a:effectLst/>
        </p:spPr>
        <p:txBody>
          <a:bodyPr wrap="square">
            <a:spAutoFit/>
          </a:bodyPr>
          <a:lstStyle/>
          <a:p>
            <a:r>
              <a:rPr lang="en-US" altLang="zh-CN" sz="1200" dirty="0"/>
              <a:t>10000000 00001110 00100000 00000000</a:t>
            </a:r>
          </a:p>
          <a:p>
            <a:r>
              <a:rPr lang="en-US" altLang="zh-CN" sz="1200" dirty="0"/>
              <a:t>10000000 00001110 00100000 00000001</a:t>
            </a:r>
          </a:p>
          <a:p>
            <a:r>
              <a:rPr lang="en-US" altLang="zh-CN" sz="1200" dirty="0"/>
              <a:t>10000000 00001110 00100000 00000010</a:t>
            </a:r>
          </a:p>
          <a:p>
            <a:r>
              <a:rPr lang="en-US" altLang="zh-CN" sz="1200" dirty="0"/>
              <a:t>10000000 00001110 00100000 00000011</a:t>
            </a:r>
          </a:p>
          <a:p>
            <a:r>
              <a:rPr lang="en-US" altLang="zh-CN" sz="1200" dirty="0"/>
              <a:t>10000000 00001110 00100000 00000100</a:t>
            </a:r>
          </a:p>
          <a:p>
            <a:r>
              <a:rPr lang="en-US" altLang="zh-CN" sz="1200" dirty="0"/>
              <a:t>10000000 00001110 00100000 00000101</a:t>
            </a:r>
          </a:p>
          <a:p>
            <a:endParaRPr lang="en-US" altLang="zh-CN" sz="1200" dirty="0"/>
          </a:p>
          <a:p>
            <a:endParaRPr lang="en-US" altLang="zh-CN" sz="1200" dirty="0"/>
          </a:p>
          <a:p>
            <a:r>
              <a:rPr lang="en-US" altLang="zh-CN" sz="1200" dirty="0"/>
              <a:t>10000000 00001110 00101111 11111011</a:t>
            </a:r>
          </a:p>
          <a:p>
            <a:r>
              <a:rPr lang="en-US" altLang="zh-CN" sz="1200" dirty="0"/>
              <a:t>10000000 00001110 00101111 11111100</a:t>
            </a:r>
          </a:p>
          <a:p>
            <a:r>
              <a:rPr lang="en-US" altLang="zh-CN" sz="1200" dirty="0"/>
              <a:t>10000000 00001110 00101111 11111101</a:t>
            </a:r>
          </a:p>
          <a:p>
            <a:r>
              <a:rPr lang="en-US" altLang="zh-CN" sz="1200" dirty="0"/>
              <a:t>10000000 00001110 00101111 11111110</a:t>
            </a:r>
          </a:p>
          <a:p>
            <a:r>
              <a:rPr lang="en-US" altLang="zh-CN" sz="1200" dirty="0"/>
              <a:t>10000000 00001110 00101111 11111111</a:t>
            </a:r>
          </a:p>
        </p:txBody>
      </p:sp>
      <p:sp>
        <p:nvSpPr>
          <p:cNvPr id="10" name="Text Box 4"/>
          <p:cNvSpPr txBox="1">
            <a:spLocks noChangeArrowheads="1"/>
          </p:cNvSpPr>
          <p:nvPr/>
        </p:nvSpPr>
        <p:spPr bwMode="auto">
          <a:xfrm>
            <a:off x="4267110"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11" name="Text Box 5"/>
          <p:cNvSpPr txBox="1">
            <a:spLocks noChangeArrowheads="1"/>
          </p:cNvSpPr>
          <p:nvPr/>
        </p:nvSpPr>
        <p:spPr bwMode="auto">
          <a:xfrm>
            <a:off x="3647444"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12" name="Rectangle 6"/>
          <p:cNvSpPr>
            <a:spLocks noChangeArrowheads="1"/>
          </p:cNvSpPr>
          <p:nvPr/>
        </p:nvSpPr>
        <p:spPr bwMode="auto">
          <a:xfrm>
            <a:off x="3053264" y="1903272"/>
            <a:ext cx="1584000" cy="2376000"/>
          </a:xfrm>
          <a:prstGeom prst="rect">
            <a:avLst/>
          </a:prstGeom>
          <a:noFill/>
          <a:ln w="12700">
            <a:solidFill>
              <a:schemeClr val="tx1">
                <a:alpha val="50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5" name="Text Box 9"/>
          <p:cNvSpPr txBox="1">
            <a:spLocks noChangeArrowheads="1"/>
          </p:cNvSpPr>
          <p:nvPr/>
        </p:nvSpPr>
        <p:spPr bwMode="auto">
          <a:xfrm>
            <a:off x="1054921" y="1861875"/>
            <a:ext cx="18000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0" lang="zh-CN" altLang="en-US" sz="1100" b="1" dirty="0">
                <a:latin typeface="微软雅黑" pitchFamily="34" charset="-122"/>
                <a:ea typeface="微软雅黑" pitchFamily="34" charset="-122"/>
              </a:rPr>
              <a:t>最小地址 </a:t>
            </a: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76" y="1896804"/>
            <a:ext cx="282613" cy="190638"/>
          </a:xfrm>
          <a:prstGeom prst="rightArrow">
            <a:avLst>
              <a:gd name="adj1" fmla="val 50000"/>
              <a:gd name="adj2" fmla="val 86364"/>
            </a:avLst>
          </a:prstGeom>
          <a:solidFill>
            <a:srgbClr val="92D050"/>
          </a:solidFill>
          <a:ln w="9525">
            <a:noFill/>
            <a:miter lim="800000"/>
            <a:headEnd/>
            <a:tailEnd/>
          </a:ln>
          <a:effectLst/>
        </p:spPr>
        <p:txBody>
          <a:bodyPr wrap="none" anchor="ctr"/>
          <a:lstStyle/>
          <a:p>
            <a:endParaRPr lang="zh-CN" altLang="en-US" sz="1100">
              <a:latin typeface="微软雅黑" pitchFamily="34" charset="-122"/>
              <a:ea typeface="微软雅黑" pitchFamily="34" charset="-122"/>
            </a:endParaRPr>
          </a:p>
        </p:txBody>
      </p:sp>
      <p:sp>
        <p:nvSpPr>
          <p:cNvPr id="18" name="AutoShape 10"/>
          <p:cNvSpPr>
            <a:spLocks noChangeArrowheads="1"/>
          </p:cNvSpPr>
          <p:nvPr/>
        </p:nvSpPr>
        <p:spPr bwMode="auto">
          <a:xfrm>
            <a:off x="2760954" y="4102533"/>
            <a:ext cx="282613" cy="190638"/>
          </a:xfrm>
          <a:prstGeom prst="rightArrow">
            <a:avLst>
              <a:gd name="adj1" fmla="val 50000"/>
              <a:gd name="adj2" fmla="val 86364"/>
            </a:avLst>
          </a:prstGeom>
          <a:solidFill>
            <a:srgbClr val="92D050"/>
          </a:solidFill>
          <a:ln w="9525">
            <a:noFill/>
            <a:miter lim="800000"/>
            <a:headEnd/>
            <a:tailEnd/>
          </a:ln>
          <a:effec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054921" y="4070763"/>
            <a:ext cx="18000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0" lang="zh-CN" altLang="en-US" sz="1100" b="1" dirty="0">
                <a:latin typeface="微软雅黑" pitchFamily="34" charset="-122"/>
                <a:ea typeface="微软雅黑" pitchFamily="34" charset="-122"/>
              </a:rPr>
              <a:t>最大地址 </a:t>
            </a: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sp>
        <p:nvSpPr>
          <p:cNvPr id="21" name="矩形 20"/>
          <p:cNvSpPr/>
          <p:nvPr/>
        </p:nvSpPr>
        <p:spPr>
          <a:xfrm>
            <a:off x="6232899" y="1862192"/>
            <a:ext cx="2298326" cy="713785"/>
          </a:xfrm>
          <a:prstGeom prst="rect">
            <a:avLst/>
          </a:prstGeom>
          <a:noFill/>
          <a:ln w="9525">
            <a:noFill/>
            <a:miter lim="800000"/>
            <a:headEnd/>
            <a:tailEnd/>
          </a:ln>
          <a:effectLst/>
        </p:spPr>
        <p:txBody>
          <a:bodyPr wrap="square">
            <a:spAutoFit/>
          </a:bodyPr>
          <a:lstStyle/>
          <a:p>
            <a:pPr>
              <a:lnSpc>
                <a:spcPct val="115000"/>
              </a:lnSpc>
            </a:pPr>
            <a:r>
              <a:rPr lang="zh-CN" altLang="en-US" sz="1200" dirty="0"/>
              <a:t>所有地址的 </a:t>
            </a:r>
            <a:r>
              <a:rPr lang="en-US" altLang="zh-CN" sz="1200" dirty="0"/>
              <a:t>20 </a:t>
            </a:r>
            <a:r>
              <a:rPr lang="zh-CN" altLang="en-US" sz="1200" dirty="0"/>
              <a:t>位前缀都相同</a:t>
            </a:r>
          </a:p>
          <a:p>
            <a:pPr>
              <a:lnSpc>
                <a:spcPct val="115000"/>
              </a:lnSpc>
            </a:pPr>
            <a:r>
              <a:rPr lang="zh-CN" altLang="en-US" sz="1200" dirty="0"/>
              <a:t>共 </a:t>
            </a:r>
            <a:r>
              <a:rPr lang="en-US" altLang="zh-CN" sz="1200" dirty="0"/>
              <a:t>2</a:t>
            </a:r>
            <a:r>
              <a:rPr lang="en-US" altLang="zh-CN" sz="1200" baseline="30000" dirty="0"/>
              <a:t>12</a:t>
            </a:r>
            <a:r>
              <a:rPr lang="en-US" altLang="zh-CN" sz="1200" dirty="0"/>
              <a:t> </a:t>
            </a:r>
            <a:r>
              <a:rPr lang="zh-CN" altLang="en-US" sz="1200" dirty="0"/>
              <a:t>个地址</a:t>
            </a:r>
            <a:endParaRPr lang="en-US" altLang="zh-CN" sz="1200" dirty="0"/>
          </a:p>
          <a:p>
            <a:pPr>
              <a:lnSpc>
                <a:spcPct val="115000"/>
              </a:lnSpc>
            </a:pPr>
            <a:r>
              <a:rPr lang="zh-CN" altLang="en-US" sz="1200" dirty="0"/>
              <a:t>可指派的地址数：</a:t>
            </a:r>
            <a:r>
              <a:rPr lang="en-US" altLang="zh-CN" sz="1200" dirty="0"/>
              <a:t>2</a:t>
            </a:r>
            <a:r>
              <a:rPr lang="en-US" altLang="zh-CN" sz="1200" baseline="30000" dirty="0"/>
              <a:t>12</a:t>
            </a:r>
            <a:r>
              <a:rPr lang="en-US" altLang="zh-CN" sz="1200" dirty="0"/>
              <a:t> – 2 </a:t>
            </a:r>
            <a:r>
              <a:rPr lang="zh-CN" altLang="en-US" sz="1200" dirty="0"/>
              <a:t>个</a:t>
            </a:r>
            <a:endParaRPr lang="en-US" altLang="zh-CN" sz="1200" dirty="0"/>
          </a:p>
        </p:txBody>
      </p:sp>
      <p:sp>
        <p:nvSpPr>
          <p:cNvPr id="25" name="矩形 24"/>
          <p:cNvSpPr/>
          <p:nvPr/>
        </p:nvSpPr>
        <p:spPr>
          <a:xfrm>
            <a:off x="2423164" y="446888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
        <p:nvSpPr>
          <p:cNvPr id="4" name="标题 3">
            <a:extLst>
              <a:ext uri="{FF2B5EF4-FFF2-40B4-BE49-F238E27FC236}">
                <a16:creationId xmlns:a16="http://schemas.microsoft.com/office/drawing/2014/main" id="{D6DDF3D4-BF46-631D-B3A4-DE81F4533B88}"/>
              </a:ext>
            </a:extLst>
          </p:cNvPr>
          <p:cNvSpPr>
            <a:spLocks noGrp="1"/>
          </p:cNvSpPr>
          <p:nvPr>
            <p:ph type="title"/>
          </p:nvPr>
        </p:nvSpPr>
        <p:spPr>
          <a:xfrm>
            <a:off x="2808000" y="144000"/>
            <a:ext cx="3528000" cy="400110"/>
          </a:xfrm>
        </p:spPr>
        <p:txBody>
          <a:bodyPr/>
          <a:lstStyle/>
          <a:p>
            <a:r>
              <a:rPr lang="zh-CN" altLang="en-US" dirty="0"/>
              <a:t>地址块</a:t>
            </a:r>
          </a:p>
        </p:txBody>
      </p:sp>
      <p:sp>
        <p:nvSpPr>
          <p:cNvPr id="26" name="Text Box 5">
            <a:extLst>
              <a:ext uri="{FF2B5EF4-FFF2-40B4-BE49-F238E27FC236}">
                <a16:creationId xmlns:a16="http://schemas.microsoft.com/office/drawing/2014/main" id="{66D2F02B-42D9-C357-7FCA-593BF926B566}"/>
              </a:ext>
            </a:extLst>
          </p:cNvPr>
          <p:cNvSpPr txBox="1">
            <a:spLocks noChangeArrowheads="1"/>
          </p:cNvSpPr>
          <p:nvPr/>
        </p:nvSpPr>
        <p:spPr bwMode="auto">
          <a:xfrm>
            <a:off x="4940973"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28" name="Text Box 5">
            <a:extLst>
              <a:ext uri="{FF2B5EF4-FFF2-40B4-BE49-F238E27FC236}">
                <a16:creationId xmlns:a16="http://schemas.microsoft.com/office/drawing/2014/main" id="{816E4809-8667-1D9B-6913-520311408167}"/>
              </a:ext>
            </a:extLst>
          </p:cNvPr>
          <p:cNvSpPr txBox="1">
            <a:spLocks noChangeArrowheads="1"/>
          </p:cNvSpPr>
          <p:nvPr/>
        </p:nvSpPr>
        <p:spPr bwMode="auto">
          <a:xfrm>
            <a:off x="3014226"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29" name="文本框 28">
            <a:extLst>
              <a:ext uri="{FF2B5EF4-FFF2-40B4-BE49-F238E27FC236}">
                <a16:creationId xmlns:a16="http://schemas.microsoft.com/office/drawing/2014/main" id="{3463838B-EFD3-0A0F-6D3F-819E75594D12}"/>
              </a:ext>
            </a:extLst>
          </p:cNvPr>
          <p:cNvSpPr txBox="1"/>
          <p:nvPr/>
        </p:nvSpPr>
        <p:spPr>
          <a:xfrm>
            <a:off x="3537903" y="1368492"/>
            <a:ext cx="2068195" cy="312778"/>
          </a:xfrm>
          <a:prstGeom prst="rect">
            <a:avLst/>
          </a:prstGeom>
          <a:noFill/>
          <a:ln w="12700">
            <a:noFill/>
            <a:miter lim="800000"/>
            <a:headEnd/>
            <a:tailEnd/>
          </a:ln>
          <a:effectLst/>
        </p:spPr>
        <p:txBody>
          <a:bodyPr wrap="square">
            <a:spAutoFit/>
          </a:bodyPr>
          <a:lstStyle>
            <a:defPPr>
              <a:defRPr lang="zh-CN"/>
            </a:defPPr>
            <a:lvl1pPr algn="ctr">
              <a:lnSpc>
                <a:spcPct val="110000"/>
              </a:lnSpc>
              <a:defRPr sz="1400" b="1">
                <a:solidFill>
                  <a:srgbClr val="000099"/>
                </a:solidFill>
                <a:latin typeface="微软雅黑" pitchFamily="34" charset="-122"/>
                <a:ea typeface="微软雅黑" pitchFamily="34" charset="-122"/>
              </a:defRPr>
            </a:lvl1pPr>
          </a:lstStyle>
          <a:p>
            <a:r>
              <a:rPr lang="en-US" altLang="zh-CN" dirty="0"/>
              <a:t>128.14.32.0/20</a:t>
            </a:r>
            <a:r>
              <a:rPr lang="zh-CN" altLang="en-US" dirty="0"/>
              <a:t>地址块</a:t>
            </a:r>
            <a:endParaRPr lang="en-US" altLang="zh-CN" dirty="0"/>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repeatCount="300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21" grpId="0" animBg="1"/>
      <p:bldP spid="2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439144827"/>
              </p:ext>
            </p:extLst>
          </p:nvPr>
        </p:nvGraphicFramePr>
        <p:xfrm>
          <a:off x="972000" y="765556"/>
          <a:ext cx="7200000" cy="3612388"/>
        </p:xfrm>
        <a:graphic>
          <a:graphicData uri="http://schemas.openxmlformats.org/drawingml/2006/table">
            <a:tbl>
              <a:tblPr bandRow="1">
                <a:tableStyleId>{0505E3EF-67EA-436B-97B2-0124C06EBD24}</a:tableStyleId>
              </a:tblPr>
              <a:tblGrid>
                <a:gridCol w="7200000">
                  <a:extLst>
                    <a:ext uri="{9D8B030D-6E8A-4147-A177-3AD203B41FA5}">
                      <a16:colId xmlns:a16="http://schemas.microsoft.com/office/drawing/2014/main" val="1919485736"/>
                    </a:ext>
                  </a:extLst>
                </a:gridCol>
              </a:tblGrid>
              <a:tr h="747753">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128.14.35.7/20</a:t>
                      </a:r>
                      <a:endParaRPr lang="zh-CN" altLang="en-US" sz="1400" dirty="0"/>
                    </a:p>
                    <a:p>
                      <a:pPr>
                        <a:lnSpc>
                          <a:spcPts val="2200"/>
                        </a:lnSpc>
                      </a:pPr>
                      <a:r>
                        <a:rPr lang="zh-CN" altLang="en-US" sz="1400" dirty="0"/>
                        <a:t>是 </a:t>
                      </a:r>
                      <a:r>
                        <a:rPr lang="en-US" altLang="zh-CN" sz="1400" dirty="0"/>
                        <a:t>IP </a:t>
                      </a:r>
                      <a:r>
                        <a:rPr lang="zh-CN" altLang="en-US" sz="1400" dirty="0"/>
                        <a:t>地址，同时指明了网络前缀为 </a:t>
                      </a:r>
                      <a:r>
                        <a:rPr lang="en-US" altLang="zh-CN" sz="1400" dirty="0"/>
                        <a:t>20 </a:t>
                      </a:r>
                      <a:r>
                        <a:rPr lang="zh-CN" altLang="en-US" sz="1400" dirty="0"/>
                        <a:t>位。</a:t>
                      </a:r>
                      <a:endParaRPr lang="en-US" altLang="zh-CN" sz="1400" dirty="0"/>
                    </a:p>
                    <a:p>
                      <a:pPr>
                        <a:lnSpc>
                          <a:spcPts val="2200"/>
                        </a:lnSpc>
                      </a:pPr>
                      <a:r>
                        <a:rPr lang="zh-CN" altLang="en-US" sz="1400" dirty="0"/>
                        <a:t>该地址是 </a:t>
                      </a:r>
                      <a:r>
                        <a:rPr lang="en-US" altLang="zh-CN" sz="1400" dirty="0"/>
                        <a:t>128.14.32.0/20 </a:t>
                      </a:r>
                      <a:r>
                        <a:rPr lang="zh-CN" altLang="en-US" sz="1400" dirty="0"/>
                        <a:t>地址块中的一个地址。</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4444491"/>
                  </a:ext>
                </a:extLst>
              </a:tr>
              <a:tr h="747753">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128.14.32.0/20</a:t>
                      </a:r>
                      <a:endParaRPr lang="zh-CN" altLang="en-US" sz="1400" dirty="0"/>
                    </a:p>
                    <a:p>
                      <a:pPr>
                        <a:lnSpc>
                          <a:spcPts val="2200"/>
                        </a:lnSpc>
                      </a:pPr>
                      <a:r>
                        <a:rPr lang="zh-CN" altLang="en-US" sz="1400" dirty="0"/>
                        <a:t>是包含有多个 </a:t>
                      </a:r>
                      <a:r>
                        <a:rPr lang="en-US" altLang="zh-CN" sz="1400" dirty="0"/>
                        <a:t>IP </a:t>
                      </a:r>
                      <a:r>
                        <a:rPr lang="zh-CN" altLang="en-US" sz="1400" dirty="0"/>
                        <a:t>地址的地址块</a:t>
                      </a:r>
                      <a:endParaRPr lang="en-US" altLang="zh-CN" sz="1400" dirty="0"/>
                    </a:p>
                    <a:p>
                      <a:pPr>
                        <a:lnSpc>
                          <a:spcPts val="2200"/>
                        </a:lnSpc>
                      </a:pPr>
                      <a:r>
                        <a:rPr lang="zh-CN" altLang="en-US" sz="1400" dirty="0"/>
                        <a:t>同时也是这个地址块中主机号为全 </a:t>
                      </a:r>
                      <a:r>
                        <a:rPr lang="en-US" altLang="zh-CN" sz="1400" dirty="0"/>
                        <a:t>0 </a:t>
                      </a:r>
                      <a:r>
                        <a:rPr lang="zh-CN" altLang="en-US" sz="1400" dirty="0"/>
                        <a:t>的 </a:t>
                      </a:r>
                      <a:r>
                        <a:rPr lang="en-US" altLang="zh-CN" sz="1400" dirty="0"/>
                        <a:t>IP </a:t>
                      </a:r>
                      <a:r>
                        <a:rPr lang="zh-CN" altLang="en-US" sz="1400" dirty="0"/>
                        <a:t>地址。</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982981"/>
                  </a:ext>
                </a:extLst>
              </a:tr>
              <a:tr h="441010">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128.14.35.7</a:t>
                      </a:r>
                      <a:endParaRPr lang="zh-CN" altLang="en-US" sz="1400" dirty="0"/>
                    </a:p>
                    <a:p>
                      <a:pPr>
                        <a:lnSpc>
                          <a:spcPts val="2200"/>
                        </a:lnSpc>
                      </a:pPr>
                      <a:r>
                        <a:rPr lang="zh-CN" altLang="en-US" sz="1400" dirty="0"/>
                        <a:t>是 </a:t>
                      </a:r>
                      <a:r>
                        <a:rPr lang="en-US" altLang="zh-CN" sz="1400" dirty="0"/>
                        <a:t>IP </a:t>
                      </a:r>
                      <a:r>
                        <a:rPr lang="zh-CN" altLang="en-US" sz="1400" dirty="0"/>
                        <a:t>地址</a:t>
                      </a:r>
                      <a:endParaRPr lang="en-US" altLang="zh-CN" sz="1400" dirty="0"/>
                    </a:p>
                    <a:p>
                      <a:pPr>
                        <a:lnSpc>
                          <a:spcPts val="2200"/>
                        </a:lnSpc>
                      </a:pPr>
                      <a:r>
                        <a:rPr lang="zh-CN" altLang="en-US" sz="1400" dirty="0"/>
                        <a:t>但未指明网络前缀长度，不知道其网络地址。</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6556459"/>
                  </a:ext>
                </a:extLst>
              </a:tr>
              <a:tr h="441010">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128.14.32.0</a:t>
                      </a:r>
                      <a:endParaRPr lang="zh-CN" altLang="en-US" sz="1400" dirty="0"/>
                    </a:p>
                    <a:p>
                      <a:pPr>
                        <a:lnSpc>
                          <a:spcPts val="2200"/>
                        </a:lnSpc>
                      </a:pPr>
                      <a:r>
                        <a:rPr lang="zh-CN" altLang="en-US" sz="1400" dirty="0"/>
                        <a:t>不能指明一个网络地址</a:t>
                      </a:r>
                      <a:endParaRPr lang="en-US" altLang="zh-CN" sz="1400" dirty="0"/>
                    </a:p>
                    <a:p>
                      <a:pPr>
                        <a:lnSpc>
                          <a:spcPts val="2200"/>
                        </a:lnSpc>
                      </a:pPr>
                      <a:r>
                        <a:rPr lang="zh-CN" altLang="en-US" sz="1400" dirty="0"/>
                        <a:t>因为无法知道网络前缀是多少。</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8652690"/>
                  </a:ext>
                </a:extLst>
              </a:tr>
            </a:tbl>
          </a:graphicData>
        </a:graphic>
      </p:graphicFrame>
      <p:sp>
        <p:nvSpPr>
          <p:cNvPr id="5" name="标题 4">
            <a:extLst>
              <a:ext uri="{FF2B5EF4-FFF2-40B4-BE49-F238E27FC236}">
                <a16:creationId xmlns:a16="http://schemas.microsoft.com/office/drawing/2014/main" id="{FB58E64D-A540-819B-E355-5FEB999D8CCB}"/>
              </a:ext>
            </a:extLst>
          </p:cNvPr>
          <p:cNvSpPr>
            <a:spLocks noGrp="1"/>
          </p:cNvSpPr>
          <p:nvPr>
            <p:ph type="title"/>
          </p:nvPr>
        </p:nvSpPr>
        <p:spPr>
          <a:xfrm>
            <a:off x="2808000" y="144000"/>
            <a:ext cx="3528000" cy="400110"/>
          </a:xfrm>
        </p:spPr>
        <p:txBody>
          <a:bodyPr/>
          <a:lstStyle/>
          <a:p>
            <a:r>
              <a:rPr lang="zh-CN" altLang="en-US" dirty="0"/>
              <a:t>地址块</a:t>
            </a:r>
          </a:p>
        </p:txBody>
      </p:sp>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917590D-9243-04C0-F267-B873D1D0BD69}"/>
              </a:ext>
            </a:extLst>
          </p:cNvPr>
          <p:cNvSpPr>
            <a:spLocks noGrp="1"/>
          </p:cNvSpPr>
          <p:nvPr>
            <p:ph type="title"/>
          </p:nvPr>
        </p:nvSpPr>
        <p:spPr>
          <a:xfrm>
            <a:off x="2808000" y="144000"/>
            <a:ext cx="3528000" cy="400110"/>
          </a:xfrm>
        </p:spPr>
        <p:txBody>
          <a:bodyPr/>
          <a:lstStyle/>
          <a:p>
            <a:r>
              <a:rPr lang="zh-CN" altLang="en-US" dirty="0"/>
              <a:t>地址掩码 </a:t>
            </a:r>
            <a:r>
              <a:rPr lang="en-US" altLang="zh-CN" dirty="0"/>
              <a:t>(address mask)</a:t>
            </a:r>
            <a:endParaRPr lang="zh-CN" altLang="en-US" dirty="0"/>
          </a:p>
        </p:txBody>
      </p:sp>
      <p:sp>
        <p:nvSpPr>
          <p:cNvPr id="7" name="内容占位符 6">
            <a:extLst>
              <a:ext uri="{FF2B5EF4-FFF2-40B4-BE49-F238E27FC236}">
                <a16:creationId xmlns:a16="http://schemas.microsoft.com/office/drawing/2014/main" id="{6D97CC5D-0AED-E41B-34E6-B0F8CF15A95F}"/>
              </a:ext>
            </a:extLst>
          </p:cNvPr>
          <p:cNvSpPr>
            <a:spLocks noGrp="1"/>
          </p:cNvSpPr>
          <p:nvPr>
            <p:ph sz="quarter" idx="10"/>
          </p:nvPr>
        </p:nvSpPr>
        <p:spPr>
          <a:xfrm>
            <a:off x="612000" y="648000"/>
            <a:ext cx="7920000" cy="3960000"/>
          </a:xfrm>
        </p:spPr>
        <p:txBody>
          <a:bodyPr/>
          <a:lstStyle/>
          <a:p>
            <a:r>
              <a:rPr lang="zh-CN" altLang="en-US" dirty="0"/>
              <a:t>又称为子网掩码 </a:t>
            </a:r>
            <a:r>
              <a:rPr lang="en-US" altLang="zh-CN" dirty="0"/>
              <a:t>(subnet mask)</a:t>
            </a:r>
            <a:r>
              <a:rPr lang="zh-CN" altLang="en-US" dirty="0"/>
              <a:t>。</a:t>
            </a:r>
            <a:endParaRPr lang="en-US" altLang="zh-CN" dirty="0"/>
          </a:p>
          <a:p>
            <a:r>
              <a:rPr lang="zh-CN" altLang="en-US" dirty="0"/>
              <a:t>总位数：</a:t>
            </a:r>
            <a:r>
              <a:rPr lang="en-US" altLang="zh-CN" dirty="0"/>
              <a:t>32 </a:t>
            </a:r>
            <a:r>
              <a:rPr lang="zh-CN" altLang="en-US" dirty="0"/>
              <a:t>位。</a:t>
            </a:r>
            <a:endParaRPr lang="en-US" altLang="zh-CN" dirty="0"/>
          </a:p>
          <a:p>
            <a:r>
              <a:rPr lang="zh-CN" altLang="en-US" dirty="0"/>
              <a:t>目的：让机器从 </a:t>
            </a:r>
            <a:r>
              <a:rPr lang="en-US" altLang="zh-CN" dirty="0"/>
              <a:t>IP </a:t>
            </a:r>
            <a:r>
              <a:rPr lang="zh-CN" altLang="en-US" dirty="0"/>
              <a:t>地址迅速算出网络地址。</a:t>
            </a:r>
            <a:endParaRPr lang="en-US" altLang="zh-CN" dirty="0"/>
          </a:p>
          <a:p>
            <a:r>
              <a:rPr lang="zh-CN" altLang="en-US" dirty="0"/>
              <a:t>由一连串 </a:t>
            </a:r>
            <a:r>
              <a:rPr lang="en-US" altLang="zh-CN" dirty="0"/>
              <a:t>1 </a:t>
            </a:r>
            <a:r>
              <a:rPr lang="zh-CN" altLang="en-US" dirty="0"/>
              <a:t>和接着的一连串 </a:t>
            </a:r>
            <a:r>
              <a:rPr lang="en-US" altLang="zh-CN" dirty="0"/>
              <a:t>0 </a:t>
            </a:r>
            <a:r>
              <a:rPr lang="zh-CN" altLang="en-US" dirty="0"/>
              <a:t>组成，而 </a:t>
            </a:r>
            <a:r>
              <a:rPr lang="en-US" altLang="zh-CN" dirty="0"/>
              <a:t>1 </a:t>
            </a:r>
            <a:r>
              <a:rPr lang="zh-CN" altLang="en-US" dirty="0"/>
              <a:t>的个数就是网络前缀的长度。</a:t>
            </a:r>
          </a:p>
          <a:p>
            <a:endParaRPr lang="zh-CN" altLang="en-US" dirty="0"/>
          </a:p>
        </p:txBody>
      </p:sp>
      <p:graphicFrame>
        <p:nvGraphicFramePr>
          <p:cNvPr id="13" name="表格 12">
            <a:extLst>
              <a:ext uri="{FF2B5EF4-FFF2-40B4-BE49-F238E27FC236}">
                <a16:creationId xmlns:a16="http://schemas.microsoft.com/office/drawing/2014/main" id="{2FA7BD4C-6419-C14C-B39B-BE245588F98E}"/>
              </a:ext>
            </a:extLst>
          </p:cNvPr>
          <p:cNvGraphicFramePr>
            <a:graphicFrameLocks noGrp="1"/>
          </p:cNvGraphicFramePr>
          <p:nvPr>
            <p:extLst>
              <p:ext uri="{D42A27DB-BD31-4B8C-83A1-F6EECF244321}">
                <p14:modId xmlns:p14="http://schemas.microsoft.com/office/powerpoint/2010/main" val="2389958775"/>
              </p:ext>
            </p:extLst>
          </p:nvPr>
        </p:nvGraphicFramePr>
        <p:xfrm>
          <a:off x="972000" y="2560488"/>
          <a:ext cx="7200000" cy="1440000"/>
        </p:xfrm>
        <a:graphic>
          <a:graphicData uri="http://schemas.openxmlformats.org/drawingml/2006/table">
            <a:tbl>
              <a:tblPr bandRow="1">
                <a:tableStyleId>{0505E3EF-67EA-436B-97B2-0124C06EBD24}</a:tableStyleId>
              </a:tblPr>
              <a:tblGrid>
                <a:gridCol w="2028587">
                  <a:extLst>
                    <a:ext uri="{9D8B030D-6E8A-4147-A177-3AD203B41FA5}">
                      <a16:colId xmlns:a16="http://schemas.microsoft.com/office/drawing/2014/main" val="1919485736"/>
                    </a:ext>
                  </a:extLst>
                </a:gridCol>
                <a:gridCol w="5171413">
                  <a:extLst>
                    <a:ext uri="{9D8B030D-6E8A-4147-A177-3AD203B41FA5}">
                      <a16:colId xmlns:a16="http://schemas.microsoft.com/office/drawing/2014/main" val="2968332817"/>
                    </a:ext>
                  </a:extLst>
                </a:gridCol>
              </a:tblGrid>
              <a:tr h="360000">
                <a:tc>
                  <a:txBody>
                    <a:bodyPr/>
                    <a:lstStyle/>
                    <a:p>
                      <a:pPr algn="r">
                        <a:lnSpc>
                          <a:spcPts val="2200"/>
                        </a:lnSpc>
                      </a:pPr>
                      <a:r>
                        <a:rPr lang="en-US" altLang="zh-CN" sz="1400" dirty="0"/>
                        <a:t>/20 </a:t>
                      </a:r>
                      <a:r>
                        <a:rPr lang="zh-CN" altLang="en-US" sz="1400" dirty="0"/>
                        <a:t>地址掩码</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nSpc>
                          <a:spcPts val="2200"/>
                        </a:lnSpc>
                      </a:pPr>
                      <a:r>
                        <a:rPr lang="zh-CN" altLang="en-US" sz="1400" dirty="0"/>
                        <a:t>前缀 </a:t>
                      </a:r>
                      <a:r>
                        <a:rPr lang="en-US" altLang="zh-CN" sz="1400" dirty="0"/>
                        <a:t>20 </a:t>
                      </a:r>
                      <a:r>
                        <a:rPr lang="zh-CN" altLang="en-US" sz="1400" dirty="0"/>
                        <a:t>位</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24444491"/>
                  </a:ext>
                </a:extLst>
              </a:tr>
              <a:tr h="360000">
                <a:tc>
                  <a:txBody>
                    <a:bodyPr/>
                    <a:lstStyle/>
                    <a:p>
                      <a:pPr marL="0" marR="0" lvl="0" indent="0" algn="r" defTabSz="914400" rtl="0" eaLnBrk="1" fontAlgn="auto" latinLnBrk="0" hangingPunct="1">
                        <a:lnSpc>
                          <a:spcPts val="2200"/>
                        </a:lnSpc>
                        <a:spcBef>
                          <a:spcPts val="0"/>
                        </a:spcBef>
                        <a:spcAft>
                          <a:spcPts val="0"/>
                        </a:spcAft>
                        <a:buClrTx/>
                        <a:buSzTx/>
                        <a:buFontTx/>
                        <a:buNone/>
                        <a:tabLst/>
                        <a:defRPr/>
                      </a:pPr>
                      <a:r>
                        <a:rPr lang="zh-CN" altLang="en-US" sz="1400" dirty="0"/>
                        <a:t>二进制记法</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11111111 11111111 11110000 00000000</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982981"/>
                  </a:ext>
                </a:extLst>
              </a:tr>
              <a:tr h="360000">
                <a:tc>
                  <a:txBody>
                    <a:bodyPr/>
                    <a:lstStyle/>
                    <a:p>
                      <a:pPr marL="0" marR="0" lvl="0" indent="0" algn="r" defTabSz="914400" rtl="0" eaLnBrk="1" fontAlgn="auto" latinLnBrk="0" hangingPunct="1">
                        <a:lnSpc>
                          <a:spcPts val="2200"/>
                        </a:lnSpc>
                        <a:spcBef>
                          <a:spcPts val="0"/>
                        </a:spcBef>
                        <a:spcAft>
                          <a:spcPts val="0"/>
                        </a:spcAft>
                        <a:buClrTx/>
                        <a:buSzTx/>
                        <a:buFontTx/>
                        <a:buNone/>
                        <a:tabLst/>
                        <a:defRPr/>
                      </a:pPr>
                      <a:r>
                        <a:rPr lang="zh-CN" altLang="en-US" sz="1400" dirty="0"/>
                        <a:t>点分十进制记法</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255.255.240.0</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6556459"/>
                  </a:ext>
                </a:extLst>
              </a:tr>
              <a:tr h="360000">
                <a:tc>
                  <a:txBody>
                    <a:bodyPr/>
                    <a:lstStyle/>
                    <a:p>
                      <a:pPr marL="0" marR="0" lvl="0" indent="0" algn="r" defTabSz="914400" rtl="0" eaLnBrk="1" fontAlgn="auto" latinLnBrk="0" hangingPunct="1">
                        <a:lnSpc>
                          <a:spcPts val="2200"/>
                        </a:lnSpc>
                        <a:spcBef>
                          <a:spcPts val="0"/>
                        </a:spcBef>
                        <a:spcAft>
                          <a:spcPts val="0"/>
                        </a:spcAft>
                        <a:buClrTx/>
                        <a:buSzTx/>
                        <a:buFontTx/>
                        <a:buNone/>
                        <a:tabLst/>
                        <a:defRPr/>
                      </a:pPr>
                      <a:r>
                        <a:rPr lang="en-US" altLang="zh-CN" sz="1400" dirty="0"/>
                        <a:t>CIDR </a:t>
                      </a:r>
                      <a:r>
                        <a:rPr lang="zh-CN" altLang="en-US" sz="1400" dirty="0"/>
                        <a:t>记法：</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255.255.240.0/20</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ectangle 12"/>
          <p:cNvSpPr>
            <a:spLocks noChangeArrowheads="1"/>
          </p:cNvSpPr>
          <p:nvPr/>
        </p:nvSpPr>
        <p:spPr bwMode="auto">
          <a:xfrm>
            <a:off x="3150211" y="1247492"/>
            <a:ext cx="4135386"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43811"/>
            <a:ext cx="4133295"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6726"/>
            <a:ext cx="4134340"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91361"/>
            <a:ext cx="4135386"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96" name="Rectangle 31"/>
          <p:cNvSpPr>
            <a:spLocks noChangeArrowheads="1"/>
          </p:cNvSpPr>
          <p:nvPr/>
        </p:nvSpPr>
        <p:spPr bwMode="auto">
          <a:xfrm>
            <a:off x="3149166" y="2759544"/>
            <a:ext cx="4135386"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0" name="Rectangle 37"/>
          <p:cNvSpPr>
            <a:spLocks noChangeArrowheads="1"/>
          </p:cNvSpPr>
          <p:nvPr/>
        </p:nvSpPr>
        <p:spPr bwMode="auto">
          <a:xfrm>
            <a:off x="3146030" y="3827725"/>
            <a:ext cx="4134340"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46030" y="3827725"/>
            <a:ext cx="3081678"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49166" y="2759544"/>
            <a:ext cx="2024833"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49166" y="1691361"/>
            <a:ext cx="1055799"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49166" y="3343811"/>
            <a:ext cx="3081678"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8" name="Rectangle 7"/>
          <p:cNvSpPr>
            <a:spLocks noChangeArrowheads="1"/>
          </p:cNvSpPr>
          <p:nvPr/>
        </p:nvSpPr>
        <p:spPr bwMode="auto">
          <a:xfrm>
            <a:off x="3150211" y="1247492"/>
            <a:ext cx="1033847"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4" name="Rectangle 13"/>
          <p:cNvSpPr>
            <a:spLocks noChangeArrowheads="1"/>
          </p:cNvSpPr>
          <p:nvPr/>
        </p:nvSpPr>
        <p:spPr bwMode="auto">
          <a:xfrm>
            <a:off x="3148120" y="2286726"/>
            <a:ext cx="2026924"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91" name="Text Box 23"/>
          <p:cNvSpPr txBox="1">
            <a:spLocks noChangeArrowheads="1"/>
          </p:cNvSpPr>
          <p:nvPr/>
        </p:nvSpPr>
        <p:spPr bwMode="auto">
          <a:xfrm>
            <a:off x="1616700" y="1276427"/>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lang="en-US" altLang="zh-CN" sz="1200" dirty="0"/>
              <a:t>A</a:t>
            </a:r>
          </a:p>
          <a:p>
            <a:pPr algn="ctr">
              <a:lnSpc>
                <a:spcPct val="85000"/>
              </a:lnSpc>
            </a:pPr>
            <a:r>
              <a:rPr lang="zh-CN" altLang="en-US" sz="1200" dirty="0"/>
              <a:t>类</a:t>
            </a:r>
          </a:p>
          <a:p>
            <a:pPr algn="ctr">
              <a:lnSpc>
                <a:spcPct val="85000"/>
              </a:lnSpc>
            </a:pPr>
            <a:r>
              <a:rPr lang="zh-CN" altLang="en-US" sz="1200" dirty="0"/>
              <a:t>地</a:t>
            </a:r>
          </a:p>
          <a:p>
            <a:pPr algn="ctr">
              <a:lnSpc>
                <a:spcPct val="85000"/>
              </a:lnSpc>
            </a:pPr>
            <a:r>
              <a:rPr lang="zh-CN" altLang="en-US" sz="1200" dirty="0"/>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lang="en-US" altLang="zh-CN" sz="1200" dirty="0"/>
              <a:t>B</a:t>
            </a:r>
          </a:p>
          <a:p>
            <a:pPr algn="ctr">
              <a:lnSpc>
                <a:spcPct val="85000"/>
              </a:lnSpc>
            </a:pPr>
            <a:r>
              <a:rPr lang="zh-CN" altLang="en-US" sz="1200" dirty="0"/>
              <a:t>类</a:t>
            </a:r>
          </a:p>
          <a:p>
            <a:pPr algn="ctr">
              <a:lnSpc>
                <a:spcPct val="85000"/>
              </a:lnSpc>
            </a:pPr>
            <a:r>
              <a:rPr lang="zh-CN" altLang="en-US" sz="1200" dirty="0"/>
              <a:t>地</a:t>
            </a:r>
          </a:p>
          <a:p>
            <a:pPr algn="ctr">
              <a:lnSpc>
                <a:spcPct val="85000"/>
              </a:lnSpc>
            </a:pPr>
            <a:r>
              <a:rPr lang="zh-CN" altLang="en-US" sz="1200" dirty="0"/>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lang="en-US" altLang="zh-CN" sz="1200" dirty="0"/>
              <a:t>C</a:t>
            </a:r>
          </a:p>
          <a:p>
            <a:pPr algn="ctr">
              <a:lnSpc>
                <a:spcPct val="85000"/>
              </a:lnSpc>
            </a:pPr>
            <a:r>
              <a:rPr lang="zh-CN" altLang="en-US" sz="1200" dirty="0"/>
              <a:t>类</a:t>
            </a:r>
          </a:p>
          <a:p>
            <a:pPr algn="ctr">
              <a:lnSpc>
                <a:spcPct val="85000"/>
              </a:lnSpc>
            </a:pPr>
            <a:r>
              <a:rPr lang="zh-CN" altLang="en-US" sz="1200" dirty="0"/>
              <a:t>地</a:t>
            </a:r>
          </a:p>
          <a:p>
            <a:pPr algn="ctr">
              <a:lnSpc>
                <a:spcPct val="85000"/>
              </a:lnSpc>
            </a:pPr>
            <a:r>
              <a:rPr lang="zh-CN" altLang="en-US" sz="1200" dirty="0"/>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6" name="Line 48"/>
          <p:cNvSpPr>
            <a:spLocks noChangeShapeType="1"/>
          </p:cNvSpPr>
          <p:nvPr/>
        </p:nvSpPr>
        <p:spPr bwMode="auto">
          <a:xfrm>
            <a:off x="1578634" y="2136679"/>
            <a:ext cx="57980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1578634" y="3204861"/>
            <a:ext cx="57980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4ADAA5F-5378-17B9-0D94-576D2AF1113D}"/>
              </a:ext>
            </a:extLst>
          </p:cNvPr>
          <p:cNvSpPr>
            <a:spLocks noGrp="1"/>
          </p:cNvSpPr>
          <p:nvPr>
            <p:ph type="title"/>
          </p:nvPr>
        </p:nvSpPr>
        <p:spPr>
          <a:xfrm>
            <a:off x="2808000" y="144000"/>
            <a:ext cx="3528000" cy="400110"/>
          </a:xfrm>
        </p:spPr>
        <p:txBody>
          <a:bodyPr/>
          <a:lstStyle/>
          <a:p>
            <a:r>
              <a:rPr lang="zh-CN" altLang="en-US" dirty="0"/>
              <a:t>默认地址掩码</a:t>
            </a:r>
          </a:p>
        </p:txBody>
      </p:sp>
      <p:sp>
        <p:nvSpPr>
          <p:cNvPr id="8" name="Line 49">
            <a:extLst>
              <a:ext uri="{FF2B5EF4-FFF2-40B4-BE49-F238E27FC236}">
                <a16:creationId xmlns:a16="http://schemas.microsoft.com/office/drawing/2014/main" id="{A4915EB7-8CAB-05AE-2DBD-F03E6E2ED5E9}"/>
              </a:ext>
            </a:extLst>
          </p:cNvPr>
          <p:cNvSpPr>
            <a:spLocks noChangeShapeType="1"/>
          </p:cNvSpPr>
          <p:nvPr/>
        </p:nvSpPr>
        <p:spPr bwMode="auto">
          <a:xfrm>
            <a:off x="1578634" y="4319074"/>
            <a:ext cx="57980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3">
            <a:extLst>
              <a:ext uri="{FF2B5EF4-FFF2-40B4-BE49-F238E27FC236}">
                <a16:creationId xmlns:a16="http://schemas.microsoft.com/office/drawing/2014/main" id="{D0FE5F23-B535-E6F8-E1DF-19CF2D582D65}"/>
              </a:ext>
            </a:extLst>
          </p:cNvPr>
          <p:cNvSpPr>
            <a:spLocks noChangeArrowheads="1"/>
          </p:cNvSpPr>
          <p:nvPr/>
        </p:nvSpPr>
        <p:spPr bwMode="auto">
          <a:xfrm>
            <a:off x="2345391" y="3232555"/>
            <a:ext cx="5470145" cy="324000"/>
          </a:xfrm>
          <a:prstGeom prst="rect">
            <a:avLst/>
          </a:prstGeom>
          <a:solidFill>
            <a:srgbClr val="1FA3E5"/>
          </a:solidFill>
          <a:ln w="12700">
            <a:no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 name="Rectangle 8">
            <a:extLst>
              <a:ext uri="{FF2B5EF4-FFF2-40B4-BE49-F238E27FC236}">
                <a16:creationId xmlns:a16="http://schemas.microsoft.com/office/drawing/2014/main" id="{5DDDC0BD-CD06-E0BC-D99E-D984211C0C73}"/>
              </a:ext>
            </a:extLst>
          </p:cNvPr>
          <p:cNvSpPr>
            <a:spLocks noChangeArrowheads="1"/>
          </p:cNvSpPr>
          <p:nvPr/>
        </p:nvSpPr>
        <p:spPr bwMode="auto">
          <a:xfrm>
            <a:off x="2345391" y="3232555"/>
            <a:ext cx="2685610" cy="324000"/>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8" name="Rectangle 3">
            <a:extLst>
              <a:ext uri="{FF2B5EF4-FFF2-40B4-BE49-F238E27FC236}">
                <a16:creationId xmlns:a16="http://schemas.microsoft.com/office/drawing/2014/main" id="{3F633D09-588C-5291-9F16-4FDA350247E0}"/>
              </a:ext>
            </a:extLst>
          </p:cNvPr>
          <p:cNvSpPr>
            <a:spLocks noChangeArrowheads="1"/>
          </p:cNvSpPr>
          <p:nvPr/>
        </p:nvSpPr>
        <p:spPr bwMode="auto">
          <a:xfrm>
            <a:off x="2348381" y="2323503"/>
            <a:ext cx="5470145" cy="324000"/>
          </a:xfrm>
          <a:prstGeom prst="rect">
            <a:avLst/>
          </a:prstGeom>
          <a:solidFill>
            <a:srgbClr val="1FA3E5"/>
          </a:solidFill>
          <a:ln w="12700">
            <a:no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0" name="Rectangle 8">
            <a:extLst>
              <a:ext uri="{FF2B5EF4-FFF2-40B4-BE49-F238E27FC236}">
                <a16:creationId xmlns:a16="http://schemas.microsoft.com/office/drawing/2014/main" id="{76CE2A6B-6E92-038E-2C64-2F132BC08F2F}"/>
              </a:ext>
            </a:extLst>
          </p:cNvPr>
          <p:cNvSpPr>
            <a:spLocks noChangeArrowheads="1"/>
          </p:cNvSpPr>
          <p:nvPr/>
        </p:nvSpPr>
        <p:spPr bwMode="auto">
          <a:xfrm>
            <a:off x="2348381" y="2323503"/>
            <a:ext cx="2685610" cy="324000"/>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4" name="矩形 3"/>
          <p:cNvSpPr/>
          <p:nvPr/>
        </p:nvSpPr>
        <p:spPr>
          <a:xfrm>
            <a:off x="2129921" y="565906"/>
            <a:ext cx="4884158" cy="369332"/>
          </a:xfrm>
          <a:prstGeom prst="rect">
            <a:avLst/>
          </a:prstGeom>
        </p:spPr>
        <p:txBody>
          <a:bodyPr wrap="none">
            <a:spAutoFit/>
          </a:bodyPr>
          <a:lstStyle/>
          <a:p>
            <a:pPr algn="ctr"/>
            <a:r>
              <a:rPr lang="zh-CN" altLang="en-US" dirty="0"/>
              <a:t>网络地址 </a:t>
            </a:r>
            <a:r>
              <a:rPr lang="en-US" altLang="zh-CN" dirty="0"/>
              <a:t>= (</a:t>
            </a:r>
            <a:r>
              <a:rPr lang="zh-CN" altLang="en-US" dirty="0"/>
              <a:t>二进制的 </a:t>
            </a:r>
            <a:r>
              <a:rPr lang="en-US" altLang="zh-CN" dirty="0"/>
              <a:t>IP </a:t>
            </a:r>
            <a:r>
              <a:rPr lang="zh-CN" altLang="en-US" dirty="0"/>
              <a:t>地址</a:t>
            </a:r>
            <a:r>
              <a:rPr lang="en-US" altLang="zh-CN" dirty="0"/>
              <a:t>) AND (</a:t>
            </a:r>
            <a:r>
              <a:rPr lang="zh-CN" altLang="en-US" dirty="0"/>
              <a:t>地址掩码</a:t>
            </a:r>
            <a:r>
              <a:rPr lang="en-US" altLang="zh-CN" dirty="0"/>
              <a:t>)</a:t>
            </a:r>
            <a:endParaRPr lang="zh-CN" altLang="en-US" dirty="0"/>
          </a:p>
        </p:txBody>
      </p:sp>
      <p:sp>
        <p:nvSpPr>
          <p:cNvPr id="147" name="Rectangle 3"/>
          <p:cNvSpPr>
            <a:spLocks noChangeArrowheads="1"/>
          </p:cNvSpPr>
          <p:nvPr/>
        </p:nvSpPr>
        <p:spPr bwMode="auto">
          <a:xfrm>
            <a:off x="2348381" y="1385399"/>
            <a:ext cx="5470145" cy="324000"/>
          </a:xfrm>
          <a:prstGeom prst="rect">
            <a:avLst/>
          </a:prstGeom>
          <a:solidFill>
            <a:srgbClr val="1FA3E5"/>
          </a:solidFill>
          <a:ln w="12700">
            <a:no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48381" y="1385399"/>
            <a:ext cx="2685610" cy="324000"/>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48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488"/>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6" name="Rectangle 50"/>
          <p:cNvSpPr>
            <a:spLocks noChangeArrowheads="1"/>
          </p:cNvSpPr>
          <p:nvPr/>
        </p:nvSpPr>
        <p:spPr bwMode="auto">
          <a:xfrm>
            <a:off x="2452588" y="2340640"/>
            <a:ext cx="2590681" cy="289727"/>
          </a:xfrm>
          <a:prstGeom prst="rect">
            <a:avLst/>
          </a:prstGeom>
          <a:noFill/>
          <a:ln>
            <a:noFill/>
          </a:ln>
          <a:effec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5127735" y="2340640"/>
            <a:ext cx="2623260" cy="289727"/>
          </a:xfrm>
          <a:prstGeom prst="rect">
            <a:avLst/>
          </a:prstGeom>
          <a:noFill/>
          <a:ln>
            <a:noFill/>
          </a:ln>
          <a:effec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sp>
        <p:nvSpPr>
          <p:cNvPr id="185" name="AutoShape 61"/>
          <p:cNvSpPr>
            <a:spLocks noChangeArrowheads="1"/>
          </p:cNvSpPr>
          <p:nvPr/>
        </p:nvSpPr>
        <p:spPr bwMode="auto">
          <a:xfrm>
            <a:off x="4827608" y="2761345"/>
            <a:ext cx="431321" cy="357367"/>
          </a:xfrm>
          <a:prstGeom prst="downArrow">
            <a:avLst>
              <a:gd name="adj1" fmla="val 47126"/>
              <a:gd name="adj2" fmla="val 34655"/>
            </a:avLst>
          </a:prstGeom>
          <a:solidFill>
            <a:srgbClr val="92D050"/>
          </a:solidFill>
          <a:ln w="9525">
            <a:no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4214776" y="1846438"/>
            <a:ext cx="1731307" cy="307777"/>
          </a:xfrm>
          <a:prstGeom prst="rect">
            <a:avLst/>
          </a:prstGeom>
          <a:noFill/>
          <a:ln>
            <a:noFill/>
          </a:ln>
          <a:effectLst/>
        </p:spPr>
        <p:txBody>
          <a:bodyPr wrap="none" anchor="ctr">
            <a:spAutoFit/>
          </a:bodyPr>
          <a:lstStyle/>
          <a:p>
            <a:pPr algn="ctr"/>
            <a:r>
              <a:rPr lang="zh-CN" altLang="en-US" sz="1400" dirty="0"/>
              <a:t>逐位进行 </a:t>
            </a:r>
            <a:r>
              <a:rPr lang="en-US" altLang="zh-CN" sz="1400" dirty="0"/>
              <a:t>AND </a:t>
            </a:r>
            <a:r>
              <a:rPr lang="zh-CN" altLang="en-US" sz="1400" dirty="0"/>
              <a:t>运算</a:t>
            </a:r>
          </a:p>
        </p:txBody>
      </p:sp>
      <p:sp>
        <p:nvSpPr>
          <p:cNvPr id="172" name="Rectangle 46"/>
          <p:cNvSpPr>
            <a:spLocks noChangeArrowheads="1"/>
          </p:cNvSpPr>
          <p:nvPr/>
        </p:nvSpPr>
        <p:spPr bwMode="auto">
          <a:xfrm>
            <a:off x="1444502" y="3241949"/>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82" name="Rectangle 57"/>
          <p:cNvSpPr>
            <a:spLocks noChangeArrowheads="1"/>
          </p:cNvSpPr>
          <p:nvPr/>
        </p:nvSpPr>
        <p:spPr bwMode="auto">
          <a:xfrm>
            <a:off x="3349605" y="3249644"/>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249692"/>
            <a:ext cx="2623260" cy="289727"/>
          </a:xfrm>
          <a:prstGeom prst="rect">
            <a:avLst/>
          </a:prstGeom>
          <a:noFill/>
          <a:ln>
            <a:noFill/>
          </a:ln>
          <a:effec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sp>
        <p:nvSpPr>
          <p:cNvPr id="2" name="标题 1">
            <a:extLst>
              <a:ext uri="{FF2B5EF4-FFF2-40B4-BE49-F238E27FC236}">
                <a16:creationId xmlns:a16="http://schemas.microsoft.com/office/drawing/2014/main" id="{27F7B3AB-882D-C048-70AD-3B6AF89A8FA4}"/>
              </a:ext>
            </a:extLst>
          </p:cNvPr>
          <p:cNvSpPr>
            <a:spLocks noGrp="1"/>
          </p:cNvSpPr>
          <p:nvPr>
            <p:ph type="title"/>
          </p:nvPr>
        </p:nvSpPr>
        <p:spPr>
          <a:xfrm>
            <a:off x="2808000" y="144000"/>
            <a:ext cx="3528000" cy="400110"/>
          </a:xfrm>
        </p:spPr>
        <p:txBody>
          <a:bodyPr/>
          <a:lstStyle/>
          <a:p>
            <a:r>
              <a:rPr lang="zh-CN" altLang="en-US" dirty="0"/>
              <a:t>网络地址</a:t>
            </a:r>
          </a:p>
        </p:txBody>
      </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grpId="0" nodeType="afterEffect">
                                  <p:stCondLst>
                                    <p:cond delay="0"/>
                                  </p:stCondLst>
                                  <p:childTnLst>
                                    <p:set>
                                      <p:cBhvr>
                                        <p:cTn id="9" dur="1" fill="hold">
                                          <p:stCondLst>
                                            <p:cond delay="0"/>
                                          </p:stCondLst>
                                        </p:cTn>
                                        <p:tgtEl>
                                          <p:spTgt spid="185"/>
                                        </p:tgtEl>
                                        <p:attrNameLst>
                                          <p:attrName>style.visibility</p:attrName>
                                        </p:attrNameLst>
                                      </p:cBhvr>
                                      <p:to>
                                        <p:strVal val="visible"/>
                                      </p:to>
                                    </p:set>
                                    <p:animEffect transition="in" filter="wipe(up)">
                                      <p:cBhvr>
                                        <p:cTn id="10" dur="1500"/>
                                        <p:tgtEl>
                                          <p:spTgt spid="1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ectangle 33"/>
          <p:cNvSpPr>
            <a:spLocks noChangeArrowheads="1"/>
          </p:cNvSpPr>
          <p:nvPr/>
        </p:nvSpPr>
        <p:spPr bwMode="auto">
          <a:xfrm>
            <a:off x="3642866" y="1596712"/>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603919"/>
            <a:ext cx="193963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1.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586667"/>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586667"/>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sp>
        <p:nvSpPr>
          <p:cNvPr id="36" name="Rectangle 40"/>
          <p:cNvSpPr>
            <a:spLocks noChangeArrowheads="1"/>
          </p:cNvSpPr>
          <p:nvPr/>
        </p:nvSpPr>
        <p:spPr bwMode="auto">
          <a:xfrm>
            <a:off x="3642865" y="2572044"/>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579250"/>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575869"/>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567240"/>
            <a:ext cx="260808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3.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57684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569641"/>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575869"/>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56964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1" name="Rectangle 59"/>
          <p:cNvSpPr>
            <a:spLocks noChangeArrowheads="1"/>
          </p:cNvSpPr>
          <p:nvPr/>
        </p:nvSpPr>
        <p:spPr bwMode="auto">
          <a:xfrm>
            <a:off x="828136" y="3102732"/>
            <a:ext cx="272831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4.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107533"/>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114739"/>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111358"/>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112337"/>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105130"/>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111358"/>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105130"/>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35"/>
          <p:cNvSpPr>
            <a:spLocks noChangeArrowheads="1"/>
          </p:cNvSpPr>
          <p:nvPr/>
        </p:nvSpPr>
        <p:spPr bwMode="auto">
          <a:xfrm>
            <a:off x="3642866" y="3656679"/>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640191"/>
            <a:ext cx="237244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5.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649874"/>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649874"/>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sp>
        <p:nvSpPr>
          <p:cNvPr id="35" name="Rectangle 53"/>
          <p:cNvSpPr>
            <a:spLocks noChangeArrowheads="1"/>
          </p:cNvSpPr>
          <p:nvPr/>
        </p:nvSpPr>
        <p:spPr bwMode="auto">
          <a:xfrm>
            <a:off x="3640234" y="2075970"/>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058717"/>
            <a:ext cx="158056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2.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079048"/>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089183"/>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081976"/>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08197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1" name="Text Box 155"/>
          <p:cNvSpPr txBox="1">
            <a:spLocks noChangeArrowheads="1"/>
          </p:cNvSpPr>
          <p:nvPr/>
        </p:nvSpPr>
        <p:spPr bwMode="auto">
          <a:xfrm>
            <a:off x="828136" y="1121245"/>
            <a:ext cx="6593695" cy="344325"/>
          </a:xfrm>
          <a:prstGeom prst="rect">
            <a:avLst/>
          </a:prstGeom>
          <a:noFill/>
          <a:ln w="9525">
            <a:noFill/>
            <a:miter lim="800000"/>
            <a:headEnd/>
            <a:tailEnd/>
          </a:ln>
          <a:effectLst/>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
        <p:nvSpPr>
          <p:cNvPr id="5" name="矩形 4">
            <a:extLst>
              <a:ext uri="{FF2B5EF4-FFF2-40B4-BE49-F238E27FC236}">
                <a16:creationId xmlns:a16="http://schemas.microsoft.com/office/drawing/2014/main" id="{3BE098F7-6D85-9356-2846-4B8C8D438352}"/>
              </a:ext>
            </a:extLst>
          </p:cNvPr>
          <p:cNvSpPr/>
          <p:nvPr/>
        </p:nvSpPr>
        <p:spPr>
          <a:xfrm>
            <a:off x="2129921" y="565906"/>
            <a:ext cx="4884158" cy="369332"/>
          </a:xfrm>
          <a:prstGeom prst="rect">
            <a:avLst/>
          </a:prstGeom>
        </p:spPr>
        <p:txBody>
          <a:bodyPr wrap="none">
            <a:spAutoFit/>
          </a:bodyPr>
          <a:lstStyle/>
          <a:p>
            <a:pPr algn="ctr"/>
            <a:r>
              <a:rPr lang="zh-CN" altLang="en-US" dirty="0"/>
              <a:t>网络地址 </a:t>
            </a:r>
            <a:r>
              <a:rPr lang="en-US" altLang="zh-CN" dirty="0"/>
              <a:t>= (</a:t>
            </a:r>
            <a:r>
              <a:rPr lang="zh-CN" altLang="en-US" dirty="0"/>
              <a:t>二进制的 </a:t>
            </a:r>
            <a:r>
              <a:rPr lang="en-US" altLang="zh-CN" dirty="0"/>
              <a:t>IP </a:t>
            </a:r>
            <a:r>
              <a:rPr lang="zh-CN" altLang="en-US" dirty="0"/>
              <a:t>地址</a:t>
            </a:r>
            <a:r>
              <a:rPr lang="en-US" altLang="zh-CN" dirty="0"/>
              <a:t>) AND (</a:t>
            </a:r>
            <a:r>
              <a:rPr lang="zh-CN" altLang="en-US" dirty="0"/>
              <a:t>地址掩码</a:t>
            </a:r>
            <a:r>
              <a:rPr lang="en-US" altLang="zh-CN" dirty="0"/>
              <a:t>)</a:t>
            </a:r>
            <a:endParaRPr lang="zh-CN" altLang="en-US" dirty="0"/>
          </a:p>
        </p:txBody>
      </p:sp>
      <p:sp>
        <p:nvSpPr>
          <p:cNvPr id="12" name="标题 11">
            <a:extLst>
              <a:ext uri="{FF2B5EF4-FFF2-40B4-BE49-F238E27FC236}">
                <a16:creationId xmlns:a16="http://schemas.microsoft.com/office/drawing/2014/main" id="{3285CA01-771E-8BBC-2180-E021DAEF9FDF}"/>
              </a:ext>
            </a:extLst>
          </p:cNvPr>
          <p:cNvSpPr>
            <a:spLocks noGrp="1"/>
          </p:cNvSpPr>
          <p:nvPr>
            <p:ph type="title"/>
          </p:nvPr>
        </p:nvSpPr>
        <p:spPr>
          <a:xfrm>
            <a:off x="2808000" y="144000"/>
            <a:ext cx="3528000" cy="400110"/>
          </a:xfrm>
        </p:spPr>
        <p:txBody>
          <a:bodyPr/>
          <a:lstStyle/>
          <a:p>
            <a:r>
              <a:rPr lang="zh-CN" altLang="en-US" dirty="0"/>
              <a:t>网络地址</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396876155"/>
              </p:ext>
            </p:extLst>
          </p:nvPr>
        </p:nvGraphicFramePr>
        <p:xfrm>
          <a:off x="972001" y="501750"/>
          <a:ext cx="7199999" cy="4140000"/>
        </p:xfrm>
        <a:graphic>
          <a:graphicData uri="http://schemas.openxmlformats.org/drawingml/2006/table">
            <a:tbl>
              <a:tblPr firstRow="1" bandRow="1">
                <a:tableStyleId>{91EBBBCC-DAD2-459C-BE2E-F6DE35CF9A28}</a:tableStyleId>
              </a:tblPr>
              <a:tblGrid>
                <a:gridCol w="1364415">
                  <a:extLst>
                    <a:ext uri="{9D8B030D-6E8A-4147-A177-3AD203B41FA5}">
                      <a16:colId xmlns:a16="http://schemas.microsoft.com/office/drawing/2014/main" val="2353518644"/>
                    </a:ext>
                  </a:extLst>
                </a:gridCol>
                <a:gridCol w="1750676">
                  <a:extLst>
                    <a:ext uri="{9D8B030D-6E8A-4147-A177-3AD203B41FA5}">
                      <a16:colId xmlns:a16="http://schemas.microsoft.com/office/drawing/2014/main" val="2193359301"/>
                    </a:ext>
                  </a:extLst>
                </a:gridCol>
                <a:gridCol w="1653415">
                  <a:extLst>
                    <a:ext uri="{9D8B030D-6E8A-4147-A177-3AD203B41FA5}">
                      <a16:colId xmlns:a16="http://schemas.microsoft.com/office/drawing/2014/main" val="1972424735"/>
                    </a:ext>
                  </a:extLst>
                </a:gridCol>
                <a:gridCol w="2431493">
                  <a:extLst>
                    <a:ext uri="{9D8B030D-6E8A-4147-A177-3AD203B41FA5}">
                      <a16:colId xmlns:a16="http://schemas.microsoft.com/office/drawing/2014/main" val="3197085333"/>
                    </a:ext>
                  </a:extLst>
                </a:gridCol>
              </a:tblGrid>
              <a:tr h="360000">
                <a:tc>
                  <a:txBody>
                    <a:bodyPr/>
                    <a:lstStyle/>
                    <a:p>
                      <a:pPr algn="ctr">
                        <a:lnSpc>
                          <a:spcPct val="100000"/>
                        </a:lnSpc>
                        <a:spcAft>
                          <a:spcPts val="0"/>
                        </a:spcAft>
                      </a:pPr>
                      <a:r>
                        <a:rPr lang="zh-CN" altLang="en-US" sz="1400" dirty="0"/>
                        <a:t>网络前缀长度</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点分十进制</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包含的地址数</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相当于包含分类的网络数</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764408178"/>
                  </a:ext>
                </a:extLst>
              </a:tr>
              <a:tr h="252000">
                <a:tc>
                  <a:txBody>
                    <a:bodyPr/>
                    <a:lstStyle/>
                    <a:p>
                      <a:pPr algn="ctr">
                        <a:lnSpc>
                          <a:spcPct val="100000"/>
                        </a:lnSpc>
                        <a:spcAft>
                          <a:spcPts val="0"/>
                        </a:spcAft>
                      </a:pPr>
                      <a:r>
                        <a:rPr lang="en-US" sz="1400" dirty="0"/>
                        <a:t>/13</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255.248.0.0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512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8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2048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9340114"/>
                  </a:ext>
                </a:extLst>
              </a:tr>
              <a:tr h="252000">
                <a:tc>
                  <a:txBody>
                    <a:bodyPr/>
                    <a:lstStyle/>
                    <a:p>
                      <a:pPr algn="ctr">
                        <a:lnSpc>
                          <a:spcPct val="100000"/>
                        </a:lnSpc>
                        <a:spcAft>
                          <a:spcPts val="0"/>
                        </a:spcAft>
                      </a:pPr>
                      <a:r>
                        <a:rPr lang="en-US" sz="1400" dirty="0"/>
                        <a:t>/14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255.252.0.0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256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4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1024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0401141"/>
                  </a:ext>
                </a:extLst>
              </a:tr>
              <a:tr h="252000">
                <a:tc>
                  <a:txBody>
                    <a:bodyPr/>
                    <a:lstStyle/>
                    <a:p>
                      <a:pPr algn="ctr">
                        <a:lnSpc>
                          <a:spcPct val="100000"/>
                        </a:lnSpc>
                        <a:spcAft>
                          <a:spcPts val="0"/>
                        </a:spcAft>
                      </a:pPr>
                      <a:r>
                        <a:rPr lang="en-US" sz="1400" dirty="0"/>
                        <a:t>/15</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255.254.0.0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128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512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5733493"/>
                  </a:ext>
                </a:extLst>
              </a:tr>
              <a:tr h="252000">
                <a:tc>
                  <a:txBody>
                    <a:bodyPr/>
                    <a:lstStyle/>
                    <a:p>
                      <a:pPr algn="ctr">
                        <a:lnSpc>
                          <a:spcPct val="100000"/>
                        </a:lnSpc>
                        <a:spcAft>
                          <a:spcPts val="0"/>
                        </a:spcAft>
                      </a:pPr>
                      <a:r>
                        <a:rPr lang="en-US" sz="1400" dirty="0"/>
                        <a:t>/16</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64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256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935043"/>
                  </a:ext>
                </a:extLst>
              </a:tr>
              <a:tr h="252000">
                <a:tc>
                  <a:txBody>
                    <a:bodyPr/>
                    <a:lstStyle/>
                    <a:p>
                      <a:pPr algn="ctr">
                        <a:lnSpc>
                          <a:spcPct val="100000"/>
                        </a:lnSpc>
                        <a:spcAft>
                          <a:spcPts val="0"/>
                        </a:spcAft>
                      </a:pPr>
                      <a:r>
                        <a:rPr lang="en-US" sz="1400" dirty="0"/>
                        <a:t>/17</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255.255.128.0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32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128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4286603"/>
                  </a:ext>
                </a:extLst>
              </a:tr>
              <a:tr h="252000">
                <a:tc>
                  <a:txBody>
                    <a:bodyPr/>
                    <a:lstStyle/>
                    <a:p>
                      <a:pPr algn="ctr">
                        <a:lnSpc>
                          <a:spcPct val="100000"/>
                        </a:lnSpc>
                        <a:spcAft>
                          <a:spcPts val="0"/>
                        </a:spcAft>
                      </a:pPr>
                      <a:r>
                        <a:rPr lang="en-US" sz="1400" dirty="0"/>
                        <a:t>/18</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255.255.192.0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16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64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5280130"/>
                  </a:ext>
                </a:extLst>
              </a:tr>
              <a:tr h="252000">
                <a:tc>
                  <a:txBody>
                    <a:bodyPr/>
                    <a:lstStyle/>
                    <a:p>
                      <a:pPr algn="ctr">
                        <a:lnSpc>
                          <a:spcPct val="100000"/>
                        </a:lnSpc>
                        <a:spcAft>
                          <a:spcPts val="0"/>
                        </a:spcAft>
                      </a:pPr>
                      <a:r>
                        <a:rPr lang="en-US" sz="1400" dirty="0"/>
                        <a:t>/19</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255.255.224.0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8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32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9026572"/>
                  </a:ext>
                </a:extLst>
              </a:tr>
              <a:tr h="252000">
                <a:tc>
                  <a:txBody>
                    <a:bodyPr/>
                    <a:lstStyle/>
                    <a:p>
                      <a:pPr algn="ctr">
                        <a:lnSpc>
                          <a:spcPct val="100000"/>
                        </a:lnSpc>
                        <a:spcAft>
                          <a:spcPts val="0"/>
                        </a:spcAft>
                      </a:pPr>
                      <a:r>
                        <a:rPr lang="en-US" sz="1400" dirty="0"/>
                        <a:t>/20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255.255.240.0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4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16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613408"/>
                  </a:ext>
                </a:extLst>
              </a:tr>
              <a:tr h="252000">
                <a:tc>
                  <a:txBody>
                    <a:bodyPr/>
                    <a:lstStyle/>
                    <a:p>
                      <a:pPr algn="ctr">
                        <a:lnSpc>
                          <a:spcPct val="100000"/>
                        </a:lnSpc>
                        <a:spcAft>
                          <a:spcPts val="0"/>
                        </a:spcAft>
                      </a:pPr>
                      <a:r>
                        <a:rPr lang="en-US" sz="1400" dirty="0"/>
                        <a:t>/21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255.255.248.0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7787277"/>
                  </a:ext>
                </a:extLst>
              </a:tr>
              <a:tr h="252000">
                <a:tc>
                  <a:txBody>
                    <a:bodyPr/>
                    <a:lstStyle/>
                    <a:p>
                      <a:pPr algn="ctr">
                        <a:lnSpc>
                          <a:spcPct val="100000"/>
                        </a:lnSpc>
                        <a:spcAft>
                          <a:spcPts val="0"/>
                        </a:spcAft>
                      </a:pPr>
                      <a:r>
                        <a:rPr lang="en-US" sz="1400" dirty="0"/>
                        <a:t>/22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255.255.252.0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4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0588070"/>
                  </a:ext>
                </a:extLst>
              </a:tr>
              <a:tr h="252000">
                <a:tc>
                  <a:txBody>
                    <a:bodyPr/>
                    <a:lstStyle/>
                    <a:p>
                      <a:pPr algn="ctr">
                        <a:lnSpc>
                          <a:spcPct val="100000"/>
                        </a:lnSpc>
                        <a:spcAft>
                          <a:spcPts val="0"/>
                        </a:spcAft>
                      </a:pPr>
                      <a:r>
                        <a:rPr lang="en-US" sz="1400" dirty="0"/>
                        <a:t>/23</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255.255.254.0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512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2281158"/>
                  </a:ext>
                </a:extLst>
              </a:tr>
              <a:tr h="252000">
                <a:tc>
                  <a:txBody>
                    <a:bodyPr/>
                    <a:lstStyle/>
                    <a:p>
                      <a:pPr algn="ctr">
                        <a:lnSpc>
                          <a:spcPct val="100000"/>
                        </a:lnSpc>
                        <a:spcAft>
                          <a:spcPts val="0"/>
                        </a:spcAft>
                      </a:pPr>
                      <a:r>
                        <a:rPr lang="en-US" sz="1400" dirty="0"/>
                        <a:t>/24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256</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9715874"/>
                  </a:ext>
                </a:extLst>
              </a:tr>
              <a:tr h="252000">
                <a:tc>
                  <a:txBody>
                    <a:bodyPr/>
                    <a:lstStyle/>
                    <a:p>
                      <a:pPr algn="ctr">
                        <a:lnSpc>
                          <a:spcPct val="100000"/>
                        </a:lnSpc>
                        <a:spcAft>
                          <a:spcPts val="0"/>
                        </a:spcAft>
                      </a:pPr>
                      <a:r>
                        <a:rPr lang="en-US" sz="1400" dirty="0"/>
                        <a:t>/25</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255.255.255.128</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128</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altLang="zh-CN" sz="1400" dirty="0"/>
                        <a:t>1/2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2046195"/>
                  </a:ext>
                </a:extLst>
              </a:tr>
              <a:tr h="252000">
                <a:tc>
                  <a:txBody>
                    <a:bodyPr/>
                    <a:lstStyle/>
                    <a:p>
                      <a:pPr algn="ctr">
                        <a:lnSpc>
                          <a:spcPct val="100000"/>
                        </a:lnSpc>
                        <a:spcAft>
                          <a:spcPts val="0"/>
                        </a:spcAft>
                      </a:pPr>
                      <a:r>
                        <a:rPr lang="en-US" sz="1400" dirty="0"/>
                        <a:t>/26</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255.255.255.192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64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altLang="zh-CN" sz="1400" dirty="0"/>
                        <a:t>1/4 </a:t>
                      </a:r>
                      <a:r>
                        <a:rPr lang="zh-CN" altLang="zh-CN"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4100583"/>
                  </a:ext>
                </a:extLst>
              </a:tr>
              <a:tr h="252000">
                <a:tc>
                  <a:txBody>
                    <a:bodyPr/>
                    <a:lstStyle/>
                    <a:p>
                      <a:pPr algn="ctr">
                        <a:lnSpc>
                          <a:spcPct val="100000"/>
                        </a:lnSpc>
                        <a:spcAft>
                          <a:spcPts val="0"/>
                        </a:spcAft>
                      </a:pPr>
                      <a:r>
                        <a:rPr lang="en-US" sz="1400" dirty="0"/>
                        <a:t>/27</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255.255.255.224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32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1601028"/>
                  </a:ext>
                </a:extLst>
              </a:tr>
            </a:tbl>
          </a:graphicData>
        </a:graphic>
      </p:graphicFrame>
      <p:sp>
        <p:nvSpPr>
          <p:cNvPr id="5" name="标题 4">
            <a:extLst>
              <a:ext uri="{FF2B5EF4-FFF2-40B4-BE49-F238E27FC236}">
                <a16:creationId xmlns:a16="http://schemas.microsoft.com/office/drawing/2014/main" id="{246B6503-3EE2-CA3E-67CF-BC7BEBA92D74}"/>
              </a:ext>
            </a:extLst>
          </p:cNvPr>
          <p:cNvSpPr>
            <a:spLocks noGrp="1"/>
          </p:cNvSpPr>
          <p:nvPr>
            <p:ph type="title"/>
          </p:nvPr>
        </p:nvSpPr>
        <p:spPr>
          <a:xfrm>
            <a:off x="2808000" y="144000"/>
            <a:ext cx="3528000" cy="400110"/>
          </a:xfrm>
        </p:spPr>
        <p:txBody>
          <a:bodyPr/>
          <a:lstStyle/>
          <a:p>
            <a:r>
              <a:rPr lang="zh-CN" altLang="en-US" dirty="0"/>
              <a:t>常用的 </a:t>
            </a:r>
            <a:r>
              <a:rPr lang="en-US" altLang="zh-CN" dirty="0"/>
              <a:t>CIDR </a:t>
            </a:r>
            <a:r>
              <a:rPr lang="zh-CN" altLang="en-US" dirty="0"/>
              <a:t>地址块</a:t>
            </a:r>
          </a:p>
        </p:txBody>
      </p:sp>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CC1589C-9923-075F-9DAA-870F338DDE77}"/>
              </a:ext>
            </a:extLst>
          </p:cNvPr>
          <p:cNvSpPr>
            <a:spLocks noGrp="1"/>
          </p:cNvSpPr>
          <p:nvPr>
            <p:ph type="title"/>
          </p:nvPr>
        </p:nvSpPr>
        <p:spPr>
          <a:xfrm>
            <a:off x="2808000" y="144000"/>
            <a:ext cx="3528000" cy="400110"/>
          </a:xfrm>
        </p:spPr>
        <p:txBody>
          <a:bodyPr/>
          <a:lstStyle/>
          <a:p>
            <a:r>
              <a:rPr lang="zh-CN" altLang="en-US" dirty="0"/>
              <a:t>三个特殊的 </a:t>
            </a:r>
            <a:r>
              <a:rPr lang="en-US" altLang="zh-CN" dirty="0"/>
              <a:t>CIDR </a:t>
            </a:r>
            <a:r>
              <a:rPr lang="zh-CN" altLang="en-US" dirty="0"/>
              <a:t>地址块</a:t>
            </a:r>
          </a:p>
        </p:txBody>
      </p:sp>
      <p:graphicFrame>
        <p:nvGraphicFramePr>
          <p:cNvPr id="8" name="表格 7">
            <a:extLst>
              <a:ext uri="{FF2B5EF4-FFF2-40B4-BE49-F238E27FC236}">
                <a16:creationId xmlns:a16="http://schemas.microsoft.com/office/drawing/2014/main" id="{DA52A57C-247D-1E16-4E40-155231FCAC57}"/>
              </a:ext>
            </a:extLst>
          </p:cNvPr>
          <p:cNvGraphicFramePr>
            <a:graphicFrameLocks noGrp="1"/>
          </p:cNvGraphicFramePr>
          <p:nvPr>
            <p:extLst>
              <p:ext uri="{D42A27DB-BD31-4B8C-83A1-F6EECF244321}">
                <p14:modId xmlns:p14="http://schemas.microsoft.com/office/powerpoint/2010/main" val="1594954807"/>
              </p:ext>
            </p:extLst>
          </p:nvPr>
        </p:nvGraphicFramePr>
        <p:xfrm>
          <a:off x="972001" y="1527750"/>
          <a:ext cx="7199999" cy="2088000"/>
        </p:xfrm>
        <a:graphic>
          <a:graphicData uri="http://schemas.openxmlformats.org/drawingml/2006/table">
            <a:tbl>
              <a:tblPr firstRow="1" bandRow="1">
                <a:tableStyleId>{91EBBBCC-DAD2-459C-BE2E-F6DE35CF9A28}</a:tableStyleId>
              </a:tblPr>
              <a:tblGrid>
                <a:gridCol w="1364415">
                  <a:extLst>
                    <a:ext uri="{9D8B030D-6E8A-4147-A177-3AD203B41FA5}">
                      <a16:colId xmlns:a16="http://schemas.microsoft.com/office/drawing/2014/main" val="2353518644"/>
                    </a:ext>
                  </a:extLst>
                </a:gridCol>
                <a:gridCol w="1750676">
                  <a:extLst>
                    <a:ext uri="{9D8B030D-6E8A-4147-A177-3AD203B41FA5}">
                      <a16:colId xmlns:a16="http://schemas.microsoft.com/office/drawing/2014/main" val="2193359301"/>
                    </a:ext>
                  </a:extLst>
                </a:gridCol>
                <a:gridCol w="4084908">
                  <a:extLst>
                    <a:ext uri="{9D8B030D-6E8A-4147-A177-3AD203B41FA5}">
                      <a16:colId xmlns:a16="http://schemas.microsoft.com/office/drawing/2014/main" val="1972424735"/>
                    </a:ext>
                  </a:extLst>
                </a:gridCol>
              </a:tblGrid>
              <a:tr h="360000">
                <a:tc>
                  <a:txBody>
                    <a:bodyPr/>
                    <a:lstStyle/>
                    <a:p>
                      <a:pPr algn="ctr">
                        <a:lnSpc>
                          <a:spcPct val="100000"/>
                        </a:lnSpc>
                        <a:spcAft>
                          <a:spcPts val="0"/>
                        </a:spcAft>
                      </a:pPr>
                      <a:r>
                        <a:rPr lang="zh-CN" altLang="en-US" sz="1400" dirty="0"/>
                        <a:t>网络前缀长度</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点分十进制</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l">
                        <a:lnSpc>
                          <a:spcPct val="100000"/>
                        </a:lnSpc>
                        <a:spcAft>
                          <a:spcPts val="0"/>
                        </a:spcAft>
                      </a:pPr>
                      <a:r>
                        <a:rPr lang="zh-CN" altLang="en-US" sz="1400" dirty="0"/>
                        <a:t>说明</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764408178"/>
                  </a:ext>
                </a:extLst>
              </a:tr>
              <a:tr h="576000">
                <a:tc>
                  <a:txBody>
                    <a:bodyPr/>
                    <a:lstStyle/>
                    <a:p>
                      <a:pPr algn="ctr">
                        <a:lnSpc>
                          <a:spcPts val="2000"/>
                        </a:lnSpc>
                        <a:spcAft>
                          <a:spcPts val="0"/>
                        </a:spcAft>
                      </a:pPr>
                      <a:r>
                        <a:rPr lang="en-US" sz="1400" dirty="0"/>
                        <a:t>/</a:t>
                      </a:r>
                      <a:r>
                        <a:rPr lang="en-US" altLang="zh-CN" sz="1400" dirty="0"/>
                        <a:t>32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2000"/>
                        </a:lnSpc>
                        <a:spcAft>
                          <a:spcPts val="0"/>
                        </a:spcAft>
                      </a:pPr>
                      <a:r>
                        <a:rPr lang="en-US" sz="1400" dirty="0"/>
                        <a:t>255.2</a:t>
                      </a:r>
                      <a:r>
                        <a:rPr lang="en-US" altLang="zh-CN" sz="1400" dirty="0"/>
                        <a:t>55</a:t>
                      </a:r>
                      <a:r>
                        <a:rPr lang="en-US" sz="1400" dirty="0"/>
                        <a:t>.</a:t>
                      </a:r>
                      <a:r>
                        <a:rPr lang="en-US" altLang="zh-CN" sz="1400" dirty="0"/>
                        <a:t>255</a:t>
                      </a:r>
                      <a:r>
                        <a:rPr lang="en-US" sz="1400" dirty="0"/>
                        <a:t>.</a:t>
                      </a:r>
                      <a:r>
                        <a:rPr lang="en-US" altLang="zh-CN" sz="1400" dirty="0"/>
                        <a:t>255</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spcAft>
                          <a:spcPts val="0"/>
                        </a:spcAft>
                      </a:pPr>
                      <a:r>
                        <a:rPr lang="zh-CN" altLang="en-US" sz="1400" dirty="0"/>
                        <a:t>就是一个 </a:t>
                      </a:r>
                      <a:r>
                        <a:rPr lang="en-US" altLang="zh-CN" sz="1400" dirty="0"/>
                        <a:t>IP </a:t>
                      </a:r>
                      <a:r>
                        <a:rPr lang="zh-CN" altLang="en-US" sz="1400" dirty="0"/>
                        <a:t>地址。</a:t>
                      </a:r>
                      <a:endParaRPr lang="en-US" altLang="zh-CN" sz="1400" dirty="0"/>
                    </a:p>
                    <a:p>
                      <a:pPr algn="l">
                        <a:lnSpc>
                          <a:spcPct val="100000"/>
                        </a:lnSpc>
                        <a:spcAft>
                          <a:spcPts val="0"/>
                        </a:spcAft>
                      </a:pPr>
                      <a:r>
                        <a:rPr lang="zh-CN" altLang="en-US" sz="1400" dirty="0"/>
                        <a:t>这个特殊地址用于主机路由</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9340114"/>
                  </a:ext>
                </a:extLst>
              </a:tr>
              <a:tr h="576000">
                <a:tc>
                  <a:txBody>
                    <a:bodyPr/>
                    <a:lstStyle/>
                    <a:p>
                      <a:pPr algn="ctr">
                        <a:lnSpc>
                          <a:spcPts val="2000"/>
                        </a:lnSpc>
                        <a:spcAft>
                          <a:spcPts val="0"/>
                        </a:spcAft>
                      </a:pPr>
                      <a:r>
                        <a:rPr lang="en-US" sz="1400" dirty="0"/>
                        <a:t>/</a:t>
                      </a:r>
                      <a:r>
                        <a:rPr lang="en-US" altLang="zh-CN" sz="1400" dirty="0"/>
                        <a:t>31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2000"/>
                        </a:lnSpc>
                        <a:spcAft>
                          <a:spcPts val="0"/>
                        </a:spcAft>
                      </a:pPr>
                      <a:r>
                        <a:rPr lang="en-US" sz="1400" dirty="0"/>
                        <a:t>255.25</a:t>
                      </a:r>
                      <a:r>
                        <a:rPr lang="en-US" altLang="zh-CN" sz="1400" dirty="0"/>
                        <a:t>5</a:t>
                      </a:r>
                      <a:r>
                        <a:rPr lang="en-US" sz="1400" dirty="0"/>
                        <a:t>.</a:t>
                      </a:r>
                      <a:r>
                        <a:rPr lang="en-US" altLang="zh-CN" sz="1400" dirty="0"/>
                        <a:t>255</a:t>
                      </a:r>
                      <a:r>
                        <a:rPr lang="en-US" sz="1400" dirty="0"/>
                        <a:t>.</a:t>
                      </a:r>
                      <a:r>
                        <a:rPr lang="en-US" altLang="zh-CN" sz="1400" dirty="0"/>
                        <a:t>254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spcAft>
                          <a:spcPts val="0"/>
                        </a:spcAft>
                      </a:pPr>
                      <a:r>
                        <a:rPr lang="zh-CN" altLang="en-US" sz="1400" dirty="0"/>
                        <a:t>只有两个 </a:t>
                      </a:r>
                      <a:r>
                        <a:rPr lang="en-US" altLang="zh-CN" sz="1400" dirty="0"/>
                        <a:t>IP </a:t>
                      </a:r>
                      <a:r>
                        <a:rPr lang="zh-CN" altLang="en-US" sz="1400" dirty="0"/>
                        <a:t>地址，其主机号分别为 </a:t>
                      </a:r>
                      <a:r>
                        <a:rPr lang="en-US" altLang="zh-CN" sz="1400" dirty="0"/>
                        <a:t>0 </a:t>
                      </a:r>
                      <a:r>
                        <a:rPr lang="zh-CN" altLang="en-US" sz="1400" dirty="0"/>
                        <a:t>和 </a:t>
                      </a:r>
                      <a:r>
                        <a:rPr lang="en-US" altLang="zh-CN" sz="1400" dirty="0"/>
                        <a:t>1</a:t>
                      </a:r>
                      <a:r>
                        <a:rPr lang="zh-CN" altLang="en-US" sz="1400" dirty="0"/>
                        <a:t>。</a:t>
                      </a:r>
                    </a:p>
                    <a:p>
                      <a:pPr algn="l">
                        <a:lnSpc>
                          <a:spcPct val="100000"/>
                        </a:lnSpc>
                        <a:spcAft>
                          <a:spcPts val="0"/>
                        </a:spcAft>
                      </a:pPr>
                      <a:r>
                        <a:rPr lang="zh-CN" altLang="en-US" sz="1400" dirty="0"/>
                        <a:t>这个地址块用于点对点链路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0401141"/>
                  </a:ext>
                </a:extLst>
              </a:tr>
              <a:tr h="576000">
                <a:tc>
                  <a:txBody>
                    <a:bodyPr/>
                    <a:lstStyle/>
                    <a:p>
                      <a:pPr algn="ctr">
                        <a:lnSpc>
                          <a:spcPts val="2000"/>
                        </a:lnSpc>
                        <a:spcAft>
                          <a:spcPts val="0"/>
                        </a:spcAft>
                      </a:pPr>
                      <a:r>
                        <a:rPr lang="en-US" sz="1400" dirty="0"/>
                        <a:t>/</a:t>
                      </a:r>
                      <a:r>
                        <a:rPr lang="en-US" altLang="zh-CN"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2000"/>
                        </a:lnSpc>
                        <a:spcAft>
                          <a:spcPts val="0"/>
                        </a:spcAft>
                      </a:pPr>
                      <a:r>
                        <a:rPr lang="en-US" altLang="zh-CN" sz="1400" dirty="0"/>
                        <a:t>0</a:t>
                      </a:r>
                      <a:r>
                        <a:rPr lang="en-US" sz="1400" dirty="0"/>
                        <a:t>.</a:t>
                      </a:r>
                      <a:r>
                        <a:rPr lang="en-US" altLang="zh-CN" sz="1400" dirty="0"/>
                        <a:t>0</a:t>
                      </a:r>
                      <a:r>
                        <a:rPr lang="en-US" sz="1400" dirty="0"/>
                        <a:t>.0.0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spcAft>
                          <a:spcPts val="0"/>
                        </a:spcAft>
                      </a:pPr>
                      <a:r>
                        <a:rPr lang="zh-CN" altLang="en-US" sz="1400" dirty="0"/>
                        <a:t>同时 </a:t>
                      </a:r>
                      <a:r>
                        <a:rPr lang="en-US" altLang="zh-CN" sz="1400" dirty="0"/>
                        <a:t>IP </a:t>
                      </a:r>
                      <a:r>
                        <a:rPr lang="zh-CN" altLang="en-US" sz="1400" dirty="0"/>
                        <a:t>地址也是全 </a:t>
                      </a:r>
                      <a:r>
                        <a:rPr lang="en-US" altLang="zh-CN" sz="1400" dirty="0"/>
                        <a:t>0</a:t>
                      </a:r>
                      <a:r>
                        <a:rPr lang="zh-CN" altLang="en-US" sz="1400" dirty="0"/>
                        <a:t>，即 </a:t>
                      </a:r>
                      <a:r>
                        <a:rPr lang="en-US" altLang="zh-CN" sz="1400" dirty="0"/>
                        <a:t>0.0.0.0/0</a:t>
                      </a:r>
                      <a:r>
                        <a:rPr lang="zh-CN" altLang="en-US" sz="1400" dirty="0"/>
                        <a:t>。</a:t>
                      </a:r>
                      <a:endParaRPr lang="en-US" altLang="zh-CN" sz="1400" dirty="0"/>
                    </a:p>
                    <a:p>
                      <a:pPr algn="l">
                        <a:lnSpc>
                          <a:spcPct val="100000"/>
                        </a:lnSpc>
                        <a:spcAft>
                          <a:spcPts val="0"/>
                        </a:spcAft>
                      </a:pPr>
                      <a:r>
                        <a:rPr lang="zh-CN" altLang="en-US" sz="1400" dirty="0"/>
                        <a:t>用于默认路由。</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192EEF70-CFC9-67AC-406C-E8B84C2A86FB}"/>
              </a:ext>
            </a:extLst>
          </p:cNvPr>
          <p:cNvSpPr>
            <a:spLocks noGrp="1"/>
          </p:cNvSpPr>
          <p:nvPr>
            <p:ph sz="quarter" idx="10"/>
          </p:nvPr>
        </p:nvSpPr>
        <p:spPr>
          <a:xfrm>
            <a:off x="612000" y="648000"/>
            <a:ext cx="7920000" cy="3960000"/>
          </a:xfrm>
        </p:spPr>
        <p:txBody>
          <a:bodyPr/>
          <a:lstStyle/>
          <a:p>
            <a:r>
              <a:rPr lang="zh-CN" altLang="en-US" dirty="0"/>
              <a:t>每一个 </a:t>
            </a:r>
            <a:r>
              <a:rPr lang="en-US" altLang="zh-CN" dirty="0"/>
              <a:t>CIDR </a:t>
            </a:r>
            <a:r>
              <a:rPr lang="zh-CN" altLang="en-US" dirty="0"/>
              <a:t>地址块中的地址数一定是 </a:t>
            </a:r>
            <a:r>
              <a:rPr lang="en-US" altLang="zh-CN" dirty="0"/>
              <a:t>2 </a:t>
            </a:r>
            <a:r>
              <a:rPr lang="zh-CN" altLang="en-US" dirty="0"/>
              <a:t>的整数次幂。</a:t>
            </a:r>
            <a:endParaRPr lang="en-US" altLang="zh-CN" dirty="0"/>
          </a:p>
          <a:p>
            <a:r>
              <a:rPr lang="zh-CN" altLang="en-US" dirty="0"/>
              <a:t>除最后几行外，</a:t>
            </a:r>
            <a:r>
              <a:rPr lang="en-US" altLang="zh-CN" dirty="0"/>
              <a:t>CIDR </a:t>
            </a:r>
            <a:r>
              <a:rPr lang="zh-CN" altLang="en-US" dirty="0"/>
              <a:t>地址块都包含了多个 </a:t>
            </a:r>
            <a:r>
              <a:rPr lang="en-US" altLang="zh-CN" dirty="0"/>
              <a:t>C </a:t>
            </a:r>
            <a:r>
              <a:rPr lang="zh-CN" altLang="en-US" dirty="0"/>
              <a:t>类地址（是一个 </a:t>
            </a:r>
            <a:r>
              <a:rPr lang="en-US" altLang="zh-CN" dirty="0"/>
              <a:t>C </a:t>
            </a:r>
            <a:r>
              <a:rPr lang="zh-CN" altLang="en-US" dirty="0"/>
              <a:t>类地址的 </a:t>
            </a:r>
            <a:r>
              <a:rPr lang="en-US" altLang="zh-CN" dirty="0"/>
              <a:t>2n </a:t>
            </a:r>
            <a:r>
              <a:rPr lang="zh-CN" altLang="en-US" dirty="0"/>
              <a:t>倍，</a:t>
            </a:r>
            <a:r>
              <a:rPr lang="en-US" altLang="zh-CN" dirty="0"/>
              <a:t>n </a:t>
            </a:r>
            <a:r>
              <a:rPr lang="zh-CN" altLang="en-US" dirty="0"/>
              <a:t>是整数）。</a:t>
            </a:r>
            <a:endParaRPr lang="en-US" altLang="zh-CN" dirty="0"/>
          </a:p>
          <a:p>
            <a:r>
              <a:rPr lang="zh-CN" altLang="en-US" dirty="0"/>
              <a:t>因此在文献中有时称 </a:t>
            </a:r>
            <a:r>
              <a:rPr lang="en-US" altLang="zh-CN" dirty="0"/>
              <a:t>CIDR </a:t>
            </a:r>
            <a:r>
              <a:rPr lang="zh-CN" altLang="en-US" dirty="0"/>
              <a:t>编址为“构造超网”。</a:t>
            </a:r>
          </a:p>
          <a:p>
            <a:endParaRPr lang="zh-CN" altLang="en-US" dirty="0"/>
          </a:p>
        </p:txBody>
      </p:sp>
      <p:sp>
        <p:nvSpPr>
          <p:cNvPr id="7" name="Cloud"/>
          <p:cNvSpPr>
            <a:spLocks noChangeAspect="1" noEditPoints="1" noChangeArrowheads="1"/>
          </p:cNvSpPr>
          <p:nvPr/>
        </p:nvSpPr>
        <p:spPr bwMode="auto">
          <a:xfrm>
            <a:off x="1221378" y="1869441"/>
            <a:ext cx="6611407" cy="2898986"/>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chemeClr val="bg1"/>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8" name="Cloud"/>
          <p:cNvSpPr>
            <a:spLocks noEditPoints="1" noChangeArrowheads="1"/>
          </p:cNvSpPr>
          <p:nvPr/>
        </p:nvSpPr>
        <p:spPr bwMode="auto">
          <a:xfrm>
            <a:off x="1501737" y="2975087"/>
            <a:ext cx="1872000" cy="93600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p:spPr>
        <p:txBody>
          <a:bodyPr/>
          <a:lstStyle/>
          <a:p>
            <a:endParaRPr lang="zh-CN" altLang="en-US" sz="1400"/>
          </a:p>
        </p:txBody>
      </p:sp>
      <p:sp>
        <p:nvSpPr>
          <p:cNvPr id="9" name="Rectangle 13"/>
          <p:cNvSpPr>
            <a:spLocks noChangeArrowheads="1"/>
          </p:cNvSpPr>
          <p:nvPr/>
        </p:nvSpPr>
        <p:spPr bwMode="auto">
          <a:xfrm>
            <a:off x="1687206" y="3214889"/>
            <a:ext cx="1459279" cy="398328"/>
          </a:xfrm>
          <a:prstGeom prst="rect">
            <a:avLst/>
          </a:prstGeom>
          <a:noFill/>
          <a:ln>
            <a:noFill/>
          </a:ln>
          <a:effectLst/>
        </p:spPr>
        <p:txBody>
          <a:bodyPr wrap="none" anchor="ctr"/>
          <a:lstStyle/>
          <a:p>
            <a:r>
              <a:rPr lang="en-US" altLang="zh-CN" sz="1200" b="1" dirty="0">
                <a:ea typeface="微软雅黑 Light" panose="020B0502040204020203" pitchFamily="34" charset="-122"/>
              </a:rPr>
              <a:t>Subnet=128.14.0.0</a:t>
            </a:r>
          </a:p>
          <a:p>
            <a:r>
              <a:rPr lang="en-US" altLang="zh-CN" sz="1200" b="1" dirty="0">
                <a:ea typeface="微软雅黑 Light" panose="020B0502040204020203" pitchFamily="34" charset="-122"/>
              </a:rPr>
              <a:t>Mask=255.255.255.0</a:t>
            </a:r>
          </a:p>
        </p:txBody>
      </p:sp>
      <p:sp>
        <p:nvSpPr>
          <p:cNvPr id="10" name="Cloud"/>
          <p:cNvSpPr>
            <a:spLocks noEditPoints="1" noChangeArrowheads="1"/>
          </p:cNvSpPr>
          <p:nvPr/>
        </p:nvSpPr>
        <p:spPr bwMode="auto">
          <a:xfrm>
            <a:off x="5806315" y="2975087"/>
            <a:ext cx="1872000" cy="93600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p:spPr>
        <p:txBody>
          <a:bodyPr/>
          <a:lstStyle/>
          <a:p>
            <a:endParaRPr lang="zh-CN" altLang="en-US" sz="1400"/>
          </a:p>
        </p:txBody>
      </p:sp>
      <p:sp>
        <p:nvSpPr>
          <p:cNvPr id="11" name="Rectangle 15"/>
          <p:cNvSpPr>
            <a:spLocks noChangeArrowheads="1"/>
          </p:cNvSpPr>
          <p:nvPr/>
        </p:nvSpPr>
        <p:spPr bwMode="auto">
          <a:xfrm>
            <a:off x="5990720" y="3214889"/>
            <a:ext cx="1479754" cy="398328"/>
          </a:xfrm>
          <a:prstGeom prst="rect">
            <a:avLst/>
          </a:prstGeom>
          <a:noFill/>
          <a:ln>
            <a:noFill/>
          </a:ln>
          <a:effectLst/>
        </p:spPr>
        <p:txBody>
          <a:bodyPr wrap="none" anchor="ctr"/>
          <a:lstStyle/>
          <a:p>
            <a:r>
              <a:rPr lang="en-US" altLang="zh-CN" sz="1200" b="1" dirty="0">
                <a:ea typeface="微软雅黑 Light" panose="020B0502040204020203" pitchFamily="34" charset="-122"/>
              </a:rPr>
              <a:t>Subnet=128.14.15.0</a:t>
            </a:r>
          </a:p>
          <a:p>
            <a:r>
              <a:rPr lang="en-US" altLang="zh-CN" sz="1200" b="1" dirty="0">
                <a:ea typeface="微软雅黑 Light" panose="020B0502040204020203" pitchFamily="34" charset="-122"/>
              </a:rPr>
              <a:t>Mask=255.255.255.0</a:t>
            </a:r>
          </a:p>
        </p:txBody>
      </p:sp>
      <p:sp>
        <p:nvSpPr>
          <p:cNvPr id="12" name="Line 17"/>
          <p:cNvSpPr>
            <a:spLocks noChangeShapeType="1"/>
          </p:cNvSpPr>
          <p:nvPr/>
        </p:nvSpPr>
        <p:spPr bwMode="auto">
          <a:xfrm>
            <a:off x="5435382" y="3522470"/>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538423"/>
            <a:ext cx="2367210" cy="348537"/>
          </a:xfrm>
          <a:prstGeom prst="rect">
            <a:avLst/>
          </a:prstGeom>
          <a:noFill/>
          <a:ln w="19050">
            <a:noFill/>
            <a:miter lim="800000"/>
            <a:headEnd/>
            <a:tailEnd/>
          </a:ln>
          <a:effec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imes New Roman" panose="02020603050405020304" pitchFamily="18" charset="0"/>
                <a:ea typeface="微软雅黑 Light" panose="020B0502040204020203" pitchFamily="34" charset="-122"/>
                <a:cs typeface="Arial" charset="0"/>
              </a:rPr>
              <a:t>128.14.0.0/20</a:t>
            </a:r>
          </a:p>
        </p:txBody>
      </p:sp>
      <p:sp>
        <p:nvSpPr>
          <p:cNvPr id="20" name="Cloud"/>
          <p:cNvSpPr>
            <a:spLocks noEditPoints="1" noChangeArrowheads="1"/>
          </p:cNvSpPr>
          <p:nvPr/>
        </p:nvSpPr>
        <p:spPr bwMode="auto">
          <a:xfrm>
            <a:off x="3437120" y="2975087"/>
            <a:ext cx="1872000" cy="93600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p:spPr>
        <p:txBody>
          <a:bodyPr/>
          <a:lstStyle/>
          <a:p>
            <a:endParaRPr lang="zh-CN" altLang="en-US" sz="1400"/>
          </a:p>
        </p:txBody>
      </p:sp>
      <p:sp>
        <p:nvSpPr>
          <p:cNvPr id="21" name="Rectangle 13"/>
          <p:cNvSpPr>
            <a:spLocks noChangeArrowheads="1"/>
          </p:cNvSpPr>
          <p:nvPr/>
        </p:nvSpPr>
        <p:spPr bwMode="auto">
          <a:xfrm>
            <a:off x="3622589" y="3214889"/>
            <a:ext cx="1459279" cy="398328"/>
          </a:xfrm>
          <a:prstGeom prst="rect">
            <a:avLst/>
          </a:prstGeom>
          <a:noFill/>
          <a:ln>
            <a:noFill/>
          </a:ln>
          <a:effectLst/>
        </p:spPr>
        <p:txBody>
          <a:bodyPr wrap="none" anchor="ctr"/>
          <a:lstStyle/>
          <a:p>
            <a:r>
              <a:rPr lang="en-US" altLang="zh-CN" sz="1200" b="1" dirty="0">
                <a:ea typeface="微软雅黑 Light" panose="020B0502040204020203" pitchFamily="34" charset="-122"/>
              </a:rPr>
              <a:t>Subnet=128.14.1.0</a:t>
            </a:r>
          </a:p>
          <a:p>
            <a:r>
              <a:rPr lang="en-US" altLang="zh-CN" sz="1200" b="1" dirty="0">
                <a:ea typeface="微软雅黑 Light" panose="020B0502040204020203" pitchFamily="34" charset="-122"/>
              </a:rPr>
              <a:t>Mask=255.255.255.0</a:t>
            </a:r>
          </a:p>
        </p:txBody>
      </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92D050"/>
                </a:solidFill>
                <a:latin typeface="微软雅黑" pitchFamily="34" charset="-122"/>
                <a:ea typeface="微软雅黑" pitchFamily="34" charset="-122"/>
              </a:rPr>
              <a:t>超网</a:t>
            </a:r>
            <a:endParaRPr lang="zh-CN" altLang="en-US" dirty="0">
              <a:solidFill>
                <a:srgbClr val="92D050"/>
              </a:solidFill>
            </a:endParaRPr>
          </a:p>
        </p:txBody>
      </p:sp>
      <p:sp>
        <p:nvSpPr>
          <p:cNvPr id="2" name="标题 1">
            <a:extLst>
              <a:ext uri="{FF2B5EF4-FFF2-40B4-BE49-F238E27FC236}">
                <a16:creationId xmlns:a16="http://schemas.microsoft.com/office/drawing/2014/main" id="{5AF3D0A2-F40D-E7B5-BC2D-91DC42EC2CBB}"/>
              </a:ext>
            </a:extLst>
          </p:cNvPr>
          <p:cNvSpPr>
            <a:spLocks noGrp="1"/>
          </p:cNvSpPr>
          <p:nvPr>
            <p:ph type="title"/>
          </p:nvPr>
        </p:nvSpPr>
        <p:spPr>
          <a:xfrm>
            <a:off x="2808000" y="144000"/>
            <a:ext cx="3528000" cy="400110"/>
          </a:xfrm>
        </p:spPr>
        <p:txBody>
          <a:bodyPr/>
          <a:lstStyle/>
          <a:p>
            <a:r>
              <a:rPr lang="zh-CN" altLang="en-US" dirty="0"/>
              <a:t>构造超网</a:t>
            </a:r>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a:spLocks noChangeArrowheads="1"/>
          </p:cNvSpPr>
          <p:nvPr/>
        </p:nvSpPr>
        <p:spPr bwMode="auto">
          <a:xfrm>
            <a:off x="3346931" y="1134164"/>
            <a:ext cx="1438340" cy="3273934"/>
          </a:xfrm>
          <a:prstGeom prst="rect">
            <a:avLst/>
          </a:prstGeom>
          <a:noFill/>
          <a:ln w="19050" algn="ctr">
            <a:solidFill>
              <a:schemeClr val="tx1"/>
            </a:solidFill>
            <a:miter lim="800000"/>
            <a:headEnd/>
            <a:tailEnd/>
          </a:ln>
          <a:effectLst/>
        </p:spPr>
        <p:txBody>
          <a:bodyPr wrap="none"/>
          <a:lstStyle/>
          <a:p>
            <a:r>
              <a:rPr lang="en-US" altLang="zh-CN" sz="1300" b="1" dirty="0">
                <a:latin typeface="Times New Roman" panose="02020603050405020304" pitchFamily="18" charset="0"/>
                <a:ea typeface="微软雅黑 Light" panose="020B0502040204020203" pitchFamily="34" charset="-122"/>
              </a:rPr>
              <a:t>192.24.0</a:t>
            </a:r>
          </a:p>
          <a:p>
            <a:r>
              <a:rPr lang="en-US" altLang="zh-CN" sz="1300" b="1" dirty="0">
                <a:latin typeface="Times New Roman" panose="02020603050405020304" pitchFamily="18" charset="0"/>
                <a:ea typeface="微软雅黑 Light" panose="020B0502040204020203" pitchFamily="34" charset="-122"/>
              </a:rPr>
              <a:t>192.24.1</a:t>
            </a:r>
          </a:p>
          <a:p>
            <a:r>
              <a:rPr lang="en-US" altLang="zh-CN" sz="1300" b="1" dirty="0">
                <a:latin typeface="Times New Roman" panose="02020603050405020304" pitchFamily="18" charset="0"/>
                <a:ea typeface="微软雅黑 Light" panose="020B0502040204020203" pitchFamily="34" charset="-122"/>
              </a:rPr>
              <a:t>192.24.2</a:t>
            </a:r>
          </a:p>
          <a:p>
            <a:r>
              <a:rPr lang="en-US" altLang="zh-CN" sz="1300" b="1" dirty="0">
                <a:latin typeface="Times New Roman" panose="02020603050405020304" pitchFamily="18" charset="0"/>
                <a:ea typeface="微软雅黑 Light" panose="020B0502040204020203" pitchFamily="34" charset="-122"/>
              </a:rPr>
              <a:t>192.24.3</a:t>
            </a:r>
          </a:p>
          <a:p>
            <a:r>
              <a:rPr lang="en-US" altLang="zh-CN" sz="1300" b="1" dirty="0">
                <a:latin typeface="Times New Roman" panose="02020603050405020304" pitchFamily="18" charset="0"/>
                <a:ea typeface="微软雅黑 Light" panose="020B0502040204020203" pitchFamily="34" charset="-122"/>
              </a:rPr>
              <a:t>192.24.4</a:t>
            </a:r>
          </a:p>
          <a:p>
            <a:r>
              <a:rPr lang="en-US" altLang="zh-CN" sz="1300" b="1" dirty="0">
                <a:latin typeface="Times New Roman" panose="02020603050405020304" pitchFamily="18" charset="0"/>
                <a:ea typeface="微软雅黑 Light" panose="020B0502040204020203" pitchFamily="34" charset="-122"/>
              </a:rPr>
              <a:t>192.24.5</a:t>
            </a:r>
          </a:p>
          <a:p>
            <a:r>
              <a:rPr lang="en-US" altLang="zh-CN" sz="1300" b="1" dirty="0">
                <a:latin typeface="Times New Roman" panose="02020603050405020304" pitchFamily="18" charset="0"/>
                <a:ea typeface="微软雅黑 Light" panose="020B0502040204020203" pitchFamily="34" charset="-122"/>
              </a:rPr>
              <a:t>192.24.6</a:t>
            </a:r>
          </a:p>
          <a:p>
            <a:r>
              <a:rPr lang="en-US" altLang="zh-CN" sz="1300" b="1" dirty="0">
                <a:latin typeface="Times New Roman" panose="02020603050405020304" pitchFamily="18" charset="0"/>
                <a:ea typeface="微软雅黑 Light" panose="020B0502040204020203" pitchFamily="34" charset="-122"/>
              </a:rPr>
              <a:t>192.24.7</a:t>
            </a:r>
          </a:p>
          <a:p>
            <a:r>
              <a:rPr lang="en-US" altLang="zh-CN" sz="1300" b="1" dirty="0">
                <a:latin typeface="Times New Roman" panose="02020603050405020304" pitchFamily="18" charset="0"/>
                <a:ea typeface="微软雅黑 Light" panose="020B0502040204020203" pitchFamily="34" charset="-122"/>
              </a:rPr>
              <a:t>192.24.8</a:t>
            </a:r>
          </a:p>
          <a:p>
            <a:r>
              <a:rPr lang="en-US" altLang="zh-CN" sz="1300" b="1" dirty="0">
                <a:latin typeface="Times New Roman" panose="02020603050405020304" pitchFamily="18" charset="0"/>
                <a:ea typeface="微软雅黑 Light" panose="020B0502040204020203" pitchFamily="34" charset="-122"/>
              </a:rPr>
              <a:t>192.24.9</a:t>
            </a:r>
          </a:p>
          <a:p>
            <a:r>
              <a:rPr lang="en-US" altLang="zh-CN" sz="1300" b="1" dirty="0">
                <a:latin typeface="Times New Roman" panose="02020603050405020304" pitchFamily="18" charset="0"/>
                <a:ea typeface="微软雅黑 Light" panose="020B0502040204020203" pitchFamily="34" charset="-122"/>
              </a:rPr>
              <a:t>192.24.10</a:t>
            </a:r>
          </a:p>
          <a:p>
            <a:r>
              <a:rPr lang="en-US" altLang="zh-CN" sz="1300" b="1" dirty="0">
                <a:latin typeface="Times New Roman" panose="02020603050405020304" pitchFamily="18" charset="0"/>
                <a:ea typeface="微软雅黑 Light" panose="020B0502040204020203" pitchFamily="34" charset="-122"/>
              </a:rPr>
              <a:t>192.24.11</a:t>
            </a:r>
          </a:p>
          <a:p>
            <a:r>
              <a:rPr lang="en-US" altLang="zh-CN" sz="1300" b="1" dirty="0">
                <a:latin typeface="Times New Roman" panose="02020603050405020304" pitchFamily="18" charset="0"/>
                <a:ea typeface="微软雅黑 Light" panose="020B0502040204020203" pitchFamily="34" charset="-122"/>
              </a:rPr>
              <a:t>192.24.12</a:t>
            </a:r>
          </a:p>
          <a:p>
            <a:r>
              <a:rPr lang="en-US" altLang="zh-CN" sz="1300" b="1" dirty="0">
                <a:latin typeface="Times New Roman" panose="02020603050405020304" pitchFamily="18" charset="0"/>
                <a:ea typeface="微软雅黑 Light" panose="020B0502040204020203" pitchFamily="34" charset="-122"/>
              </a:rPr>
              <a:t>192.24.13</a:t>
            </a:r>
          </a:p>
          <a:p>
            <a:r>
              <a:rPr lang="en-US" altLang="zh-CN" sz="1300" b="1" dirty="0">
                <a:latin typeface="Times New Roman" panose="02020603050405020304" pitchFamily="18" charset="0"/>
                <a:ea typeface="微软雅黑 Light" panose="020B0502040204020203" pitchFamily="34" charset="-122"/>
              </a:rPr>
              <a:t>192.24.14</a:t>
            </a:r>
          </a:p>
          <a:p>
            <a:r>
              <a:rPr lang="en-US" altLang="zh-CN" sz="1300" b="1" dirty="0">
                <a:latin typeface="Times New Roman" panose="02020603050405020304" pitchFamily="18" charset="0"/>
                <a:ea typeface="微软雅黑 Light" panose="020B0502040204020203" pitchFamily="34"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92D05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
        <p:nvSpPr>
          <p:cNvPr id="2" name="标题 1">
            <a:extLst>
              <a:ext uri="{FF2B5EF4-FFF2-40B4-BE49-F238E27FC236}">
                <a16:creationId xmlns:a16="http://schemas.microsoft.com/office/drawing/2014/main" id="{FB0E41D7-1546-792D-983A-0182742ABDA7}"/>
              </a:ext>
            </a:extLst>
          </p:cNvPr>
          <p:cNvSpPr>
            <a:spLocks noGrp="1"/>
          </p:cNvSpPr>
          <p:nvPr>
            <p:ph type="title"/>
          </p:nvPr>
        </p:nvSpPr>
        <p:spPr>
          <a:xfrm>
            <a:off x="2808000" y="144000"/>
            <a:ext cx="3528000" cy="400110"/>
          </a:xfrm>
        </p:spPr>
        <p:txBody>
          <a:bodyPr/>
          <a:lstStyle/>
          <a:p>
            <a:r>
              <a:rPr lang="zh-CN" altLang="en-US" dirty="0"/>
              <a:t>路由聚合 </a:t>
            </a:r>
            <a:r>
              <a:rPr lang="en-US" altLang="zh-CN" dirty="0"/>
              <a:t>(route aggregation)</a:t>
            </a:r>
            <a:endParaRPr lang="zh-CN" altLang="en-US" dirty="0"/>
          </a:p>
        </p:txBody>
      </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
        <p:nvSpPr>
          <p:cNvPr id="55" name="标题 54">
            <a:extLst>
              <a:ext uri="{FF2B5EF4-FFF2-40B4-BE49-F238E27FC236}">
                <a16:creationId xmlns:a16="http://schemas.microsoft.com/office/drawing/2014/main" id="{3A149228-D4F1-2BA5-9817-2BCB15640CC7}"/>
              </a:ext>
            </a:extLst>
          </p:cNvPr>
          <p:cNvSpPr>
            <a:spLocks noGrp="1"/>
          </p:cNvSpPr>
          <p:nvPr>
            <p:ph type="title"/>
          </p:nvPr>
        </p:nvSpPr>
        <p:spPr>
          <a:xfrm>
            <a:off x="2808000" y="144000"/>
            <a:ext cx="3528000" cy="400110"/>
          </a:xfrm>
        </p:spPr>
        <p:txBody>
          <a:bodyPr/>
          <a:lstStyle/>
          <a:p>
            <a:r>
              <a:rPr lang="en-US" altLang="zh-CN" dirty="0"/>
              <a:t>CIDR </a:t>
            </a:r>
            <a:r>
              <a:rPr lang="zh-CN" altLang="en-US" dirty="0"/>
              <a:t>地址块划分举例</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54345"/>
          </a:xfrm>
          <a:prstGeom prst="rect">
            <a:avLst/>
          </a:prstGeom>
          <a:noFill/>
          <a:ln w="9525">
            <a:noFill/>
            <a:miter lim="800000"/>
            <a:headEnd/>
            <a:tailEnd/>
          </a:ln>
          <a:effectLst/>
        </p:spPr>
        <p:txBody>
          <a:bodyPr wrap="square">
            <a:spAutoFit/>
          </a:bodyPr>
          <a:lstStyle/>
          <a:p>
            <a:pPr algn="just">
              <a:lnSpc>
                <a:spcPts val="2000"/>
              </a:lnSpc>
            </a:pPr>
            <a:r>
              <a:rPr lang="zh-CN" altLang="en-US" sz="1400" dirty="0">
                <a:solidFill>
                  <a:schemeClr val="bg1"/>
                </a:solidFill>
              </a:rPr>
              <a:t>这个 </a:t>
            </a:r>
            <a:r>
              <a:rPr lang="en-US" altLang="zh-CN" sz="1400" dirty="0">
                <a:solidFill>
                  <a:schemeClr val="bg1"/>
                </a:solidFill>
              </a:rPr>
              <a:t>ISP </a:t>
            </a:r>
            <a:r>
              <a:rPr lang="zh-CN" altLang="en-US" sz="1400" dirty="0">
                <a:solidFill>
                  <a:schemeClr val="bg1"/>
                </a:solidFill>
              </a:rPr>
              <a:t>共有 </a:t>
            </a:r>
            <a:r>
              <a:rPr lang="en-US" altLang="zh-CN" sz="1400" dirty="0">
                <a:solidFill>
                  <a:schemeClr val="bg1"/>
                </a:solidFill>
              </a:rPr>
              <a:t>64 </a:t>
            </a:r>
            <a:r>
              <a:rPr lang="zh-CN" altLang="en-US" sz="1400" dirty="0">
                <a:solidFill>
                  <a:schemeClr val="bg1"/>
                </a:solidFill>
              </a:rPr>
              <a:t>个 </a:t>
            </a:r>
            <a:r>
              <a:rPr lang="en-US" altLang="zh-CN" sz="1400" dirty="0">
                <a:solidFill>
                  <a:schemeClr val="bg1"/>
                </a:solidFill>
              </a:rPr>
              <a:t>C </a:t>
            </a:r>
            <a:r>
              <a:rPr lang="zh-CN" altLang="en-US" sz="1400" dirty="0">
                <a:solidFill>
                  <a:schemeClr val="bg1"/>
                </a:solidFill>
              </a:rPr>
              <a:t>类网络。如果不采用 </a:t>
            </a:r>
            <a:r>
              <a:rPr lang="en-US" altLang="zh-CN" sz="1400" dirty="0">
                <a:solidFill>
                  <a:schemeClr val="bg1"/>
                </a:solidFill>
              </a:rPr>
              <a:t>CIDR </a:t>
            </a:r>
            <a:r>
              <a:rPr lang="zh-CN" altLang="en-US" sz="1400" dirty="0">
                <a:solidFill>
                  <a:schemeClr val="bg1"/>
                </a:solidFill>
              </a:rPr>
              <a:t>技术，则在与该 </a:t>
            </a:r>
            <a:r>
              <a:rPr lang="en-US" altLang="zh-CN" sz="1400" dirty="0">
                <a:solidFill>
                  <a:schemeClr val="bg1"/>
                </a:solidFill>
              </a:rPr>
              <a:t>ISP </a:t>
            </a:r>
            <a:r>
              <a:rPr lang="zh-CN" altLang="en-US" sz="1400" dirty="0">
                <a:solidFill>
                  <a:schemeClr val="bg1"/>
                </a:solidFill>
              </a:rPr>
              <a:t>的路由器交换路由信息的每一个路由器的转发表中，需要有 </a:t>
            </a:r>
            <a:r>
              <a:rPr lang="en-US" altLang="zh-CN" sz="1400" dirty="0">
                <a:solidFill>
                  <a:schemeClr val="bg1"/>
                </a:solidFill>
              </a:rPr>
              <a:t>64 </a:t>
            </a:r>
            <a:r>
              <a:rPr lang="zh-CN" altLang="en-US" sz="1400" dirty="0">
                <a:solidFill>
                  <a:schemeClr val="bg1"/>
                </a:solidFill>
              </a:rPr>
              <a:t>行。采用地址聚合后，转发表中只需要用 </a:t>
            </a:r>
            <a:r>
              <a:rPr lang="en-US" altLang="zh-CN" sz="1400" dirty="0">
                <a:solidFill>
                  <a:schemeClr val="bg1"/>
                </a:solidFill>
              </a:rPr>
              <a:t>1 </a:t>
            </a:r>
            <a:r>
              <a:rPr lang="zh-CN" altLang="en-US" sz="1400" dirty="0">
                <a:solidFill>
                  <a:schemeClr val="bg1"/>
                </a:solidFill>
              </a:rPr>
              <a:t>行来指出到 </a:t>
            </a:r>
            <a:r>
              <a:rPr lang="en-US" altLang="zh-CN" sz="1400" dirty="0">
                <a:solidFill>
                  <a:schemeClr val="bg1"/>
                </a:solidFill>
              </a:rPr>
              <a:t>206.0.64.0/18 </a:t>
            </a:r>
            <a:r>
              <a:rPr lang="zh-CN" altLang="en-US" sz="1400" dirty="0">
                <a:solidFill>
                  <a:schemeClr val="bg1"/>
                </a:solidFill>
              </a:rPr>
              <a:t>地址块的下一跳。</a:t>
            </a:r>
            <a:endParaRPr lang="en-US" altLang="zh-CN" sz="1400" dirty="0">
              <a:solidFill>
                <a:schemeClr val="bg1"/>
              </a:solidFill>
            </a:endParaRPr>
          </a:p>
          <a:p>
            <a:pPr algn="just">
              <a:lnSpc>
                <a:spcPts val="2000"/>
              </a:lnSpc>
            </a:pPr>
            <a:r>
              <a:rPr lang="zh-CN" altLang="en-US" sz="1400" dirty="0">
                <a:solidFill>
                  <a:schemeClr val="bg1"/>
                </a:solidFill>
              </a:rPr>
              <a:t>在 </a:t>
            </a:r>
            <a:r>
              <a:rPr lang="en-US" altLang="zh-CN" sz="1400" dirty="0">
                <a:solidFill>
                  <a:schemeClr val="bg1"/>
                </a:solidFill>
              </a:rPr>
              <a:t>ISP </a:t>
            </a:r>
            <a:r>
              <a:rPr lang="zh-CN" altLang="en-US" sz="1400" dirty="0">
                <a:solidFill>
                  <a:schemeClr val="bg1"/>
                </a:solidFill>
              </a:rPr>
              <a:t>内的路由器的转发表中，也仅需用 </a:t>
            </a:r>
            <a:r>
              <a:rPr lang="en-US" altLang="zh-CN" sz="1400" dirty="0">
                <a:solidFill>
                  <a:schemeClr val="bg1"/>
                </a:solidFill>
              </a:rPr>
              <a:t>206.0.68.0/22 </a:t>
            </a:r>
            <a:r>
              <a:rPr lang="zh-CN" altLang="en-US" sz="1400" dirty="0">
                <a:solidFill>
                  <a:schemeClr val="bg1"/>
                </a:solidFill>
              </a:rPr>
              <a:t>这 </a:t>
            </a:r>
            <a:r>
              <a:rPr lang="en-US" altLang="zh-CN" sz="1400" dirty="0">
                <a:solidFill>
                  <a:schemeClr val="bg1"/>
                </a:solidFill>
              </a:rPr>
              <a:t>1 </a:t>
            </a:r>
            <a:r>
              <a:rPr lang="zh-CN" altLang="en-US" sz="1400" dirty="0">
                <a:solidFill>
                  <a:schemeClr val="bg1"/>
                </a:solidFill>
              </a:rPr>
              <a:t>个项目，就能把外部发送到这个大学各系的所有分组，都转发到大学的路由器。</a:t>
            </a:r>
          </a:p>
        </p:txBody>
      </p:sp>
      <p:sp>
        <p:nvSpPr>
          <p:cNvPr id="55" name="标题 54">
            <a:extLst>
              <a:ext uri="{FF2B5EF4-FFF2-40B4-BE49-F238E27FC236}">
                <a16:creationId xmlns:a16="http://schemas.microsoft.com/office/drawing/2014/main" id="{2CE4344F-815D-6B53-C6D1-3DD76EF2731F}"/>
              </a:ext>
            </a:extLst>
          </p:cNvPr>
          <p:cNvSpPr>
            <a:spLocks noGrp="1"/>
          </p:cNvSpPr>
          <p:nvPr>
            <p:ph type="title"/>
          </p:nvPr>
        </p:nvSpPr>
        <p:spPr>
          <a:xfrm>
            <a:off x="2808000" y="144000"/>
            <a:ext cx="3528000" cy="400110"/>
          </a:xfrm>
        </p:spPr>
        <p:txBody>
          <a:bodyPr/>
          <a:lstStyle/>
          <a:p>
            <a:r>
              <a:rPr lang="en-US" altLang="zh-CN" dirty="0"/>
              <a:t>CIDR </a:t>
            </a:r>
            <a:r>
              <a:rPr lang="zh-CN" altLang="en-US" dirty="0"/>
              <a:t>地址块划分举例</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017C38-35BA-07BF-6022-A3A4605D342E}"/>
              </a:ext>
            </a:extLst>
          </p:cNvPr>
          <p:cNvSpPr>
            <a:spLocks noGrp="1"/>
          </p:cNvSpPr>
          <p:nvPr>
            <p:ph type="title"/>
          </p:nvPr>
        </p:nvSpPr>
        <p:spPr>
          <a:xfrm>
            <a:off x="2808000" y="144000"/>
            <a:ext cx="3528000" cy="400110"/>
          </a:xfrm>
        </p:spPr>
        <p:txBody>
          <a:bodyPr/>
          <a:lstStyle/>
          <a:p>
            <a:r>
              <a:rPr lang="en-US" altLang="zh-CN" dirty="0"/>
              <a:t>4. IP </a:t>
            </a:r>
            <a:r>
              <a:rPr lang="zh-CN" altLang="en-US" dirty="0"/>
              <a:t>地址的特点</a:t>
            </a:r>
          </a:p>
        </p:txBody>
      </p:sp>
      <p:sp>
        <p:nvSpPr>
          <p:cNvPr id="6" name="矩形: 圆角 5">
            <a:extLst>
              <a:ext uri="{FF2B5EF4-FFF2-40B4-BE49-F238E27FC236}">
                <a16:creationId xmlns:a16="http://schemas.microsoft.com/office/drawing/2014/main" id="{E320B560-64A7-2D61-A05E-3DA8826401B0}"/>
              </a:ext>
            </a:extLst>
          </p:cNvPr>
          <p:cNvSpPr/>
          <p:nvPr/>
        </p:nvSpPr>
        <p:spPr>
          <a:xfrm>
            <a:off x="713562" y="768851"/>
            <a:ext cx="2880000" cy="720000"/>
          </a:xfrm>
          <a:prstGeom prst="roundRect">
            <a:avLst/>
          </a:prstGeom>
          <a:solidFill>
            <a:srgbClr val="92D050"/>
          </a:solidFill>
          <a:ln>
            <a:noFill/>
          </a:ln>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1. </a:t>
            </a:r>
            <a:r>
              <a:rPr lang="zh-CN" altLang="en-US" sz="1400" dirty="0">
                <a:solidFill>
                  <a:schemeClr val="tx1"/>
                </a:solidFill>
              </a:rPr>
              <a:t>每个 </a:t>
            </a:r>
            <a:r>
              <a:rPr lang="en-US" altLang="zh-CN" sz="1400" dirty="0">
                <a:solidFill>
                  <a:schemeClr val="tx1"/>
                </a:solidFill>
              </a:rPr>
              <a:t>IP </a:t>
            </a:r>
            <a:r>
              <a:rPr lang="zh-CN" altLang="en-US" sz="1400" dirty="0">
                <a:solidFill>
                  <a:schemeClr val="tx1"/>
                </a:solidFill>
              </a:rPr>
              <a:t>地址都由网络前缀和主机号两部分组成。</a:t>
            </a:r>
          </a:p>
        </p:txBody>
      </p:sp>
      <p:sp>
        <p:nvSpPr>
          <p:cNvPr id="8" name="矩形: 圆角 7">
            <a:extLst>
              <a:ext uri="{FF2B5EF4-FFF2-40B4-BE49-F238E27FC236}">
                <a16:creationId xmlns:a16="http://schemas.microsoft.com/office/drawing/2014/main" id="{B951721E-0263-8249-5EF3-0B2F015BEC08}"/>
              </a:ext>
            </a:extLst>
          </p:cNvPr>
          <p:cNvSpPr/>
          <p:nvPr/>
        </p:nvSpPr>
        <p:spPr>
          <a:xfrm>
            <a:off x="713562" y="1569870"/>
            <a:ext cx="2880000" cy="918000"/>
          </a:xfrm>
          <a:prstGeom prst="roundRect">
            <a:avLst/>
          </a:prstGeom>
          <a:solidFill>
            <a:srgbClr val="92D050">
              <a:alpha val="80000"/>
            </a:srgbClr>
          </a:solidFill>
          <a:ln>
            <a:noFill/>
          </a:ln>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2. IP </a:t>
            </a:r>
            <a:r>
              <a:rPr lang="zh-CN" altLang="en-US" sz="1400" dirty="0">
                <a:solidFill>
                  <a:schemeClr val="tx1"/>
                </a:solidFill>
              </a:rPr>
              <a:t>地址是标志一台主机（或路由器）和一条链路的接口。</a:t>
            </a:r>
          </a:p>
        </p:txBody>
      </p:sp>
      <p:sp>
        <p:nvSpPr>
          <p:cNvPr id="10" name="矩形: 圆角 9">
            <a:extLst>
              <a:ext uri="{FF2B5EF4-FFF2-40B4-BE49-F238E27FC236}">
                <a16:creationId xmlns:a16="http://schemas.microsoft.com/office/drawing/2014/main" id="{A0A9DC4C-92C1-C84B-4CF8-A2D779E41892}"/>
              </a:ext>
            </a:extLst>
          </p:cNvPr>
          <p:cNvSpPr/>
          <p:nvPr/>
        </p:nvSpPr>
        <p:spPr>
          <a:xfrm>
            <a:off x="713562" y="2570290"/>
            <a:ext cx="2880000" cy="1152000"/>
          </a:xfrm>
          <a:prstGeom prst="roundRect">
            <a:avLst/>
          </a:prstGeom>
          <a:solidFill>
            <a:srgbClr val="92D050">
              <a:alpha val="60000"/>
            </a:srgbClr>
          </a:solidFill>
          <a:ln>
            <a:noFill/>
          </a:ln>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3. </a:t>
            </a:r>
            <a:r>
              <a:rPr lang="zh-CN" altLang="en-US" sz="1400" dirty="0">
                <a:solidFill>
                  <a:schemeClr val="tx1"/>
                </a:solidFill>
              </a:rPr>
              <a:t>转发器或交换机连接起来的若干个局域网仍为一个网络</a:t>
            </a:r>
          </a:p>
        </p:txBody>
      </p:sp>
      <p:sp>
        <p:nvSpPr>
          <p:cNvPr id="12" name="矩形: 圆角 11">
            <a:extLst>
              <a:ext uri="{FF2B5EF4-FFF2-40B4-BE49-F238E27FC236}">
                <a16:creationId xmlns:a16="http://schemas.microsoft.com/office/drawing/2014/main" id="{EAE49DE8-07B3-5742-0D82-35A4A3FDC01D}"/>
              </a:ext>
            </a:extLst>
          </p:cNvPr>
          <p:cNvSpPr/>
          <p:nvPr/>
        </p:nvSpPr>
        <p:spPr>
          <a:xfrm>
            <a:off x="713562" y="3803309"/>
            <a:ext cx="2880000" cy="576000"/>
          </a:xfrm>
          <a:prstGeom prst="roundRect">
            <a:avLst/>
          </a:prstGeom>
          <a:solidFill>
            <a:srgbClr val="92D050">
              <a:alpha val="40000"/>
            </a:srgbClr>
          </a:solidFill>
          <a:ln>
            <a:noFill/>
          </a:ln>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4. </a:t>
            </a:r>
            <a:r>
              <a:rPr lang="zh-CN" altLang="en-US" sz="1400" dirty="0">
                <a:solidFill>
                  <a:schemeClr val="tx1"/>
                </a:solidFill>
              </a:rPr>
              <a:t>在 </a:t>
            </a:r>
            <a:r>
              <a:rPr lang="en-US" altLang="zh-CN" sz="1400" dirty="0">
                <a:solidFill>
                  <a:schemeClr val="tx1"/>
                </a:solidFill>
              </a:rPr>
              <a:t>IP </a:t>
            </a:r>
            <a:r>
              <a:rPr lang="zh-CN" altLang="en-US" sz="1400" dirty="0">
                <a:solidFill>
                  <a:schemeClr val="tx1"/>
                </a:solidFill>
              </a:rPr>
              <a:t>地址中，所有分配到网络前缀的网络都是平等的。</a:t>
            </a:r>
          </a:p>
        </p:txBody>
      </p:sp>
      <p:sp>
        <p:nvSpPr>
          <p:cNvPr id="18" name="矩形: 圆角 17">
            <a:extLst>
              <a:ext uri="{FF2B5EF4-FFF2-40B4-BE49-F238E27FC236}">
                <a16:creationId xmlns:a16="http://schemas.microsoft.com/office/drawing/2014/main" id="{51DED7C7-69DA-90D5-56E4-D7718039892D}"/>
              </a:ext>
            </a:extLst>
          </p:cNvPr>
          <p:cNvSpPr/>
          <p:nvPr/>
        </p:nvSpPr>
        <p:spPr>
          <a:xfrm>
            <a:off x="3678439" y="768851"/>
            <a:ext cx="4752000" cy="720000"/>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en-US" altLang="zh-CN" sz="1200" dirty="0">
                <a:solidFill>
                  <a:schemeClr val="tx1"/>
                </a:solidFill>
              </a:rPr>
              <a:t>IP </a:t>
            </a:r>
            <a:r>
              <a:rPr lang="zh-CN" altLang="en-US" sz="1200" dirty="0">
                <a:solidFill>
                  <a:schemeClr val="tx1"/>
                </a:solidFill>
              </a:rPr>
              <a:t>地址是一种分等级的地址结构。</a:t>
            </a:r>
            <a:endParaRPr lang="en-US" altLang="zh-CN" sz="1200" dirty="0">
              <a:solidFill>
                <a:schemeClr val="tx1"/>
              </a:solidFill>
            </a:endParaRPr>
          </a:p>
          <a:p>
            <a:pPr marL="171450" indent="-171450" algn="just">
              <a:buFont typeface="Arial" panose="020B0604020202020204" pitchFamily="34" charset="0"/>
              <a:buChar char="•"/>
            </a:pPr>
            <a:r>
              <a:rPr lang="zh-CN" altLang="en-US" sz="1200" dirty="0">
                <a:solidFill>
                  <a:schemeClr val="tx1"/>
                </a:solidFill>
              </a:rPr>
              <a:t>方便了 </a:t>
            </a:r>
            <a:r>
              <a:rPr lang="en-US" altLang="zh-CN" sz="1200" dirty="0">
                <a:solidFill>
                  <a:schemeClr val="tx1"/>
                </a:solidFill>
              </a:rPr>
              <a:t>IP </a:t>
            </a:r>
            <a:r>
              <a:rPr lang="zh-CN" altLang="en-US" sz="1200" dirty="0">
                <a:solidFill>
                  <a:schemeClr val="tx1"/>
                </a:solidFill>
              </a:rPr>
              <a:t>地址的分配和管理。</a:t>
            </a:r>
            <a:endParaRPr lang="en-US" altLang="zh-CN" sz="1200" dirty="0">
              <a:solidFill>
                <a:schemeClr val="tx1"/>
              </a:solidFill>
            </a:endParaRPr>
          </a:p>
          <a:p>
            <a:pPr marL="171450" indent="-171450" algn="just">
              <a:buFont typeface="Arial" panose="020B0604020202020204" pitchFamily="34" charset="0"/>
              <a:buChar char="•"/>
            </a:pPr>
            <a:r>
              <a:rPr lang="zh-CN" altLang="en-US" sz="1200" dirty="0">
                <a:solidFill>
                  <a:schemeClr val="tx1"/>
                </a:solidFill>
              </a:rPr>
              <a:t>实现路由聚合，减小转发表所占存储空间及查找转发表的时间。</a:t>
            </a:r>
          </a:p>
        </p:txBody>
      </p:sp>
      <p:sp>
        <p:nvSpPr>
          <p:cNvPr id="21" name="矩形: 圆角 20">
            <a:extLst>
              <a:ext uri="{FF2B5EF4-FFF2-40B4-BE49-F238E27FC236}">
                <a16:creationId xmlns:a16="http://schemas.microsoft.com/office/drawing/2014/main" id="{6F575282-8119-0566-40F9-6F53FF888A89}"/>
              </a:ext>
            </a:extLst>
          </p:cNvPr>
          <p:cNvSpPr/>
          <p:nvPr/>
        </p:nvSpPr>
        <p:spPr>
          <a:xfrm>
            <a:off x="3678439" y="1569870"/>
            <a:ext cx="4752000" cy="919401"/>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zh-CN" altLang="en-US" sz="1200" dirty="0">
                <a:solidFill>
                  <a:schemeClr val="tx1"/>
                </a:solidFill>
              </a:rPr>
              <a:t>当一台主机同时连接到两个网络上时，必须同时具有两个 </a:t>
            </a:r>
            <a:r>
              <a:rPr lang="en-US" altLang="zh-CN" sz="1200" dirty="0">
                <a:solidFill>
                  <a:schemeClr val="tx1"/>
                </a:solidFill>
              </a:rPr>
              <a:t>IP </a:t>
            </a:r>
            <a:r>
              <a:rPr lang="zh-CN" altLang="en-US" sz="1200" dirty="0">
                <a:solidFill>
                  <a:schemeClr val="tx1"/>
                </a:solidFill>
              </a:rPr>
              <a:t>地址，其网络号必须不同。称为多归属主机 </a:t>
            </a:r>
            <a:r>
              <a:rPr lang="en-US" altLang="zh-CN" sz="1200" dirty="0">
                <a:solidFill>
                  <a:schemeClr val="tx1"/>
                </a:solidFill>
              </a:rPr>
              <a:t>(multihomed host)</a:t>
            </a:r>
            <a:r>
              <a:rPr lang="zh-CN" altLang="en-US" sz="1200" dirty="0">
                <a:solidFill>
                  <a:schemeClr val="tx1"/>
                </a:solidFill>
              </a:rPr>
              <a:t>。</a:t>
            </a:r>
          </a:p>
          <a:p>
            <a:pPr marL="171450" indent="-171450" algn="just">
              <a:buFont typeface="Arial" panose="020B0604020202020204" pitchFamily="34" charset="0"/>
              <a:buChar char="•"/>
            </a:pPr>
            <a:r>
              <a:rPr lang="zh-CN" altLang="en-US" sz="1200" dirty="0">
                <a:solidFill>
                  <a:schemeClr val="tx1"/>
                </a:solidFill>
              </a:rPr>
              <a:t>一个路由器至少应当连接到两个网络，因此一个路由器至少应当有两个不同的 </a:t>
            </a:r>
            <a:r>
              <a:rPr lang="en-US" altLang="zh-CN" sz="1200" dirty="0">
                <a:solidFill>
                  <a:schemeClr val="tx1"/>
                </a:solidFill>
              </a:rPr>
              <a:t>IP </a:t>
            </a:r>
            <a:r>
              <a:rPr lang="zh-CN" altLang="en-US" sz="1200" dirty="0">
                <a:solidFill>
                  <a:schemeClr val="tx1"/>
                </a:solidFill>
              </a:rPr>
              <a:t>地址。</a:t>
            </a:r>
          </a:p>
        </p:txBody>
      </p:sp>
      <p:sp>
        <p:nvSpPr>
          <p:cNvPr id="23" name="矩形: 圆角 22">
            <a:extLst>
              <a:ext uri="{FF2B5EF4-FFF2-40B4-BE49-F238E27FC236}">
                <a16:creationId xmlns:a16="http://schemas.microsoft.com/office/drawing/2014/main" id="{FE59FA8A-4297-16D6-DC32-1831FEE183E7}"/>
              </a:ext>
            </a:extLst>
          </p:cNvPr>
          <p:cNvSpPr/>
          <p:nvPr/>
        </p:nvSpPr>
        <p:spPr>
          <a:xfrm>
            <a:off x="3678439" y="2570290"/>
            <a:ext cx="4752000" cy="1152000"/>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zh-CN" altLang="en-US" sz="1200" dirty="0">
                <a:solidFill>
                  <a:schemeClr val="tx1"/>
                </a:solidFill>
              </a:rPr>
              <a:t>按照互联网的观点，一个网络（或子网）是指具有相同网络前缀的主机的集合。</a:t>
            </a:r>
          </a:p>
          <a:p>
            <a:pPr marL="171450" indent="-171450" algn="just">
              <a:buFont typeface="Arial" panose="020B0604020202020204" pitchFamily="34" charset="0"/>
              <a:buChar char="•"/>
            </a:pPr>
            <a:r>
              <a:rPr lang="zh-CN" altLang="en-US" sz="1200" dirty="0">
                <a:solidFill>
                  <a:schemeClr val="tx1"/>
                </a:solidFill>
              </a:rPr>
              <a:t>转发器或交换机连接起来的若干个局域网都具有同样的网络号，它们仍为一个网络。</a:t>
            </a:r>
          </a:p>
          <a:p>
            <a:pPr marL="171450" indent="-171450" algn="just">
              <a:buFont typeface="Arial" panose="020B0604020202020204" pitchFamily="34" charset="0"/>
              <a:buChar char="•"/>
            </a:pPr>
            <a:r>
              <a:rPr lang="zh-CN" altLang="en-US" sz="1200" dirty="0">
                <a:solidFill>
                  <a:schemeClr val="tx1"/>
                </a:solidFill>
              </a:rPr>
              <a:t>具有不同网络号的局域网必须使用路由器进行互连。</a:t>
            </a:r>
          </a:p>
        </p:txBody>
      </p:sp>
      <p:sp>
        <p:nvSpPr>
          <p:cNvPr id="25" name="矩形: 圆角 24">
            <a:extLst>
              <a:ext uri="{FF2B5EF4-FFF2-40B4-BE49-F238E27FC236}">
                <a16:creationId xmlns:a16="http://schemas.microsoft.com/office/drawing/2014/main" id="{DA53D653-390A-478F-0ADC-EF8E0FFEE01E}"/>
              </a:ext>
            </a:extLst>
          </p:cNvPr>
          <p:cNvSpPr/>
          <p:nvPr/>
        </p:nvSpPr>
        <p:spPr>
          <a:xfrm>
            <a:off x="3678439" y="3803309"/>
            <a:ext cx="4752000" cy="576000"/>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zh-CN" altLang="en-US" sz="1200" dirty="0">
                <a:solidFill>
                  <a:schemeClr val="tx1"/>
                </a:solidFill>
              </a:rPr>
              <a:t>互联网同等对待每一个 </a:t>
            </a:r>
            <a:r>
              <a:rPr lang="en-US" altLang="zh-CN" sz="1200" dirty="0">
                <a:solidFill>
                  <a:schemeClr val="tx1"/>
                </a:solidFill>
              </a:rPr>
              <a:t>IP </a:t>
            </a:r>
            <a:r>
              <a:rPr lang="zh-CN" altLang="en-US" sz="1200" dirty="0">
                <a:solidFill>
                  <a:schemeClr val="tx1"/>
                </a:solidFill>
              </a:rPr>
              <a:t>地址</a:t>
            </a:r>
            <a:endParaRPr lang="en-US" altLang="zh-CN" sz="1200" dirty="0">
              <a:solidFill>
                <a:schemeClr val="tx1"/>
              </a:solidFill>
            </a:endParaRPr>
          </a:p>
          <a:p>
            <a:pPr marL="171450" indent="-171450" algn="just">
              <a:buFont typeface="Arial" panose="020B0604020202020204" pitchFamily="34" charset="0"/>
              <a:buChar char="•"/>
            </a:pPr>
            <a:r>
              <a:rPr lang="zh-CN" altLang="en-US" sz="1200" dirty="0">
                <a:solidFill>
                  <a:schemeClr val="tx1"/>
                </a:solidFill>
              </a:rPr>
              <a:t>不管是范围很小的局域网，还是可能覆盖很大地理范围的广域网</a:t>
            </a: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2" name="标题 31">
            <a:extLst>
              <a:ext uri="{FF2B5EF4-FFF2-40B4-BE49-F238E27FC236}">
                <a16:creationId xmlns:a16="http://schemas.microsoft.com/office/drawing/2014/main" id="{71DC5D13-70D1-76F4-E7FD-43741EEFF519}"/>
              </a:ext>
            </a:extLst>
          </p:cNvPr>
          <p:cNvSpPr>
            <a:spLocks noGrp="1"/>
          </p:cNvSpPr>
          <p:nvPr>
            <p:ph type="title"/>
          </p:nvPr>
        </p:nvSpPr>
        <p:spPr>
          <a:xfrm>
            <a:off x="2808000" y="144000"/>
            <a:ext cx="3528000" cy="400110"/>
          </a:xfrm>
        </p:spPr>
        <p:txBody>
          <a:bodyPr/>
          <a:lstStyle/>
          <a:p>
            <a:r>
              <a:rPr lang="zh-CN" altLang="en-US" dirty="0"/>
              <a:t>注意</a:t>
            </a:r>
          </a:p>
        </p:txBody>
      </p:sp>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2" name="标题 31">
            <a:extLst>
              <a:ext uri="{FF2B5EF4-FFF2-40B4-BE49-F238E27FC236}">
                <a16:creationId xmlns:a16="http://schemas.microsoft.com/office/drawing/2014/main" id="{25C5E6A2-C969-48A4-3A09-E386D47AD9B1}"/>
              </a:ext>
            </a:extLst>
          </p:cNvPr>
          <p:cNvSpPr>
            <a:spLocks noGrp="1"/>
          </p:cNvSpPr>
          <p:nvPr>
            <p:ph type="title"/>
          </p:nvPr>
        </p:nvSpPr>
        <p:spPr>
          <a:xfrm>
            <a:off x="2808000" y="144000"/>
            <a:ext cx="3528000" cy="400110"/>
          </a:xfrm>
        </p:spPr>
        <p:txBody>
          <a:bodyPr/>
          <a:lstStyle/>
          <a:p>
            <a:r>
              <a:rPr lang="zh-CN" altLang="en-US" dirty="0"/>
              <a:t>注意</a:t>
            </a:r>
          </a:p>
        </p:txBody>
      </p:sp>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2" name="标题 31">
            <a:extLst>
              <a:ext uri="{FF2B5EF4-FFF2-40B4-BE49-F238E27FC236}">
                <a16:creationId xmlns:a16="http://schemas.microsoft.com/office/drawing/2014/main" id="{0F727091-C163-9BF0-FFCC-EE838163C78F}"/>
              </a:ext>
            </a:extLst>
          </p:cNvPr>
          <p:cNvSpPr>
            <a:spLocks noGrp="1"/>
          </p:cNvSpPr>
          <p:nvPr>
            <p:ph type="title"/>
          </p:nvPr>
        </p:nvSpPr>
        <p:spPr>
          <a:xfrm>
            <a:off x="2808000" y="144000"/>
            <a:ext cx="3528000" cy="400110"/>
          </a:xfrm>
        </p:spPr>
        <p:txBody>
          <a:bodyPr/>
          <a:lstStyle/>
          <a:p>
            <a:r>
              <a:rPr lang="zh-CN" altLang="en-US" dirty="0"/>
              <a:t>注意</a:t>
            </a:r>
          </a:p>
        </p:txBody>
      </p:sp>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51EBD1C3-8074-30C1-6556-76E2DE97022A}"/>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a:extLst>
              <a:ext uri="{FF2B5EF4-FFF2-40B4-BE49-F238E27FC236}">
                <a16:creationId xmlns:a16="http://schemas.microsoft.com/office/drawing/2014/main" id="{C7C4CFE1-CC4B-9348-A521-1FD857CB4436}"/>
              </a:ext>
            </a:extLst>
          </p:cNvPr>
          <p:cNvSpPr txBox="1"/>
          <p:nvPr/>
        </p:nvSpPr>
        <p:spPr>
          <a:xfrm>
            <a:off x="6406026" y="340496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85523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85523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85523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85523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69843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340496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340496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340496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76928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121954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121954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121954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121954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106275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76928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76928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76928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253022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82911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82911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82911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sp>
        <p:nvSpPr>
          <p:cNvPr id="2" name="标题 1">
            <a:extLst>
              <a:ext uri="{FF2B5EF4-FFF2-40B4-BE49-F238E27FC236}">
                <a16:creationId xmlns:a16="http://schemas.microsoft.com/office/drawing/2014/main" id="{1B998783-E51A-DD61-A286-0DF4E4A65A55}"/>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
        <p:nvSpPr>
          <p:cNvPr id="48" name="标题 47">
            <a:extLst>
              <a:ext uri="{FF2B5EF4-FFF2-40B4-BE49-F238E27FC236}">
                <a16:creationId xmlns:a16="http://schemas.microsoft.com/office/drawing/2014/main" id="{79BB6ADD-92A4-ED5D-A7D5-EB715EB118C7}"/>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
        <p:nvSpPr>
          <p:cNvPr id="51" name="Rectangle 6">
            <a:extLst>
              <a:ext uri="{FF2B5EF4-FFF2-40B4-BE49-F238E27FC236}">
                <a16:creationId xmlns:a16="http://schemas.microsoft.com/office/drawing/2014/main" id="{70BD18B0-5F20-3C11-719D-AE3FFBF00206}"/>
              </a:ext>
            </a:extLst>
          </p:cNvPr>
          <p:cNvSpPr>
            <a:spLocks noChangeArrowheads="1"/>
          </p:cNvSpPr>
          <p:nvPr/>
        </p:nvSpPr>
        <p:spPr bwMode="auto">
          <a:xfrm>
            <a:off x="3270544" y="576891"/>
            <a:ext cx="262161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600" dirty="0"/>
              <a:t>IP </a:t>
            </a:r>
            <a:r>
              <a:rPr lang="zh-CN" altLang="en-US" sz="1600" dirty="0"/>
              <a:t>地址与 </a:t>
            </a:r>
            <a:r>
              <a:rPr lang="en-US" altLang="zh-CN" sz="1600" dirty="0"/>
              <a:t>MAC </a:t>
            </a:r>
            <a:r>
              <a:rPr lang="zh-CN" altLang="en-US" sz="1600" dirty="0"/>
              <a:t>地址的区别</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CC"/>
              </a:solidFill>
              <a:latin typeface="+mn-lt"/>
              <a:ea typeface="微软雅黑 Light" panose="020B0502040204020203" pitchFamily="34"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CC"/>
              </a:solidFill>
              <a:latin typeface="+mn-lt"/>
              <a:ea typeface="微软雅黑 Light" panose="020B0502040204020203" pitchFamily="34"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CC"/>
              </a:solidFill>
              <a:latin typeface="+mn-lt"/>
              <a:ea typeface="微软雅黑 Light" panose="020B0502040204020203" pitchFamily="34" charset="-122"/>
            </a:endParaRPr>
          </a:p>
        </p:txBody>
      </p:sp>
      <p:sp>
        <p:nvSpPr>
          <p:cNvPr id="3" name="标题 2">
            <a:extLst>
              <a:ext uri="{FF2B5EF4-FFF2-40B4-BE49-F238E27FC236}">
                <a16:creationId xmlns:a16="http://schemas.microsoft.com/office/drawing/2014/main" id="{6DE97A06-B372-A71B-E082-02FB25B8A5C4}"/>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B4593552-B8C5-8CDA-D7AC-849C2CCC4263}"/>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
        <p:nvSpPr>
          <p:cNvPr id="6" name="标题 5">
            <a:extLst>
              <a:ext uri="{FF2B5EF4-FFF2-40B4-BE49-F238E27FC236}">
                <a16:creationId xmlns:a16="http://schemas.microsoft.com/office/drawing/2014/main" id="{76FA844B-77A0-26C5-78EA-C1F109E95409}"/>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
        <p:nvSpPr>
          <p:cNvPr id="5" name="标题 4">
            <a:extLst>
              <a:ext uri="{FF2B5EF4-FFF2-40B4-BE49-F238E27FC236}">
                <a16:creationId xmlns:a16="http://schemas.microsoft.com/office/drawing/2014/main" id="{CA19D1B9-A037-FC0D-CBD9-EAF90402B911}"/>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6"/>
          <p:cNvSpPr>
            <a:spLocks noChangeArrowheads="1"/>
          </p:cNvSpPr>
          <p:nvPr/>
        </p:nvSpPr>
        <p:spPr bwMode="auto">
          <a:xfrm>
            <a:off x="2437175" y="576891"/>
            <a:ext cx="428835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dirty="0"/>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0180CA8D-61AF-4726-F20D-1BCD7557BBBD}"/>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6"/>
          <p:cNvSpPr>
            <a:spLocks noChangeArrowheads="1"/>
          </p:cNvSpPr>
          <p:nvPr/>
        </p:nvSpPr>
        <p:spPr bwMode="auto">
          <a:xfrm>
            <a:off x="2437175" y="576891"/>
            <a:ext cx="428835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dirty="0"/>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
        <p:nvSpPr>
          <p:cNvPr id="4" name="标题 3">
            <a:extLst>
              <a:ext uri="{FF2B5EF4-FFF2-40B4-BE49-F238E27FC236}">
                <a16:creationId xmlns:a16="http://schemas.microsoft.com/office/drawing/2014/main" id="{DE2AA8E4-3425-AB56-2702-F970555755BB}"/>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0AC501D0-021B-B9B0-F6F8-232A93F048F0}"/>
              </a:ext>
            </a:extLst>
          </p:cNvPr>
          <p:cNvSpPr>
            <a:spLocks noGrp="1"/>
          </p:cNvSpPr>
          <p:nvPr>
            <p:ph type="title"/>
          </p:nvPr>
        </p:nvSpPr>
        <p:spPr>
          <a:xfrm>
            <a:off x="2808000" y="144000"/>
            <a:ext cx="3528000" cy="400110"/>
          </a:xfrm>
        </p:spPr>
        <p:txBody>
          <a:bodyPr/>
          <a:lstStyle/>
          <a:p>
            <a:r>
              <a:rPr lang="en-US" altLang="zh-CN" dirty="0"/>
              <a:t>4.2.4  </a:t>
            </a:r>
            <a:r>
              <a:rPr lang="zh-CN" altLang="en-US" dirty="0"/>
              <a:t>地址解析协议 </a:t>
            </a:r>
            <a:r>
              <a:rPr lang="en-US" altLang="zh-CN" dirty="0"/>
              <a:t>ARP</a:t>
            </a:r>
            <a:endParaRPr lang="zh-CN" altLang="en-US" dirty="0"/>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2808000" y="144000"/>
            <a:ext cx="3528000" cy="400110"/>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0"/>
          </p:nvPr>
        </p:nvSpPr>
        <p:spPr>
          <a:xfrm>
            <a:off x="612000" y="648000"/>
            <a:ext cx="7920000" cy="39600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2808000" y="144000"/>
            <a:ext cx="3528000" cy="400110"/>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0"/>
          </p:nvPr>
        </p:nvSpPr>
        <p:spPr>
          <a:xfrm>
            <a:off x="612000" y="648000"/>
            <a:ext cx="7920000" cy="39600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836904"/>
            <a:ext cx="4320000" cy="461665"/>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836904"/>
            <a:ext cx="4320000" cy="461665"/>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2520000"/>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2808000" y="144000"/>
            <a:ext cx="3528000" cy="400110"/>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0"/>
          </p:nvPr>
        </p:nvSpPr>
        <p:spPr>
          <a:xfrm>
            <a:off x="612000" y="648000"/>
            <a:ext cx="7920000" cy="39600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406595132"/>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Times New Roman" panose="02020603050405020304" pitchFamily="18" charset="0"/>
                        </a:rPr>
                        <a:t>Application Layer</a:t>
                      </a:r>
                      <a:endParaRPr lang="zh-CN" altLang="en-US" sz="1200" b="0" dirty="0">
                        <a:solidFill>
                          <a:schemeClr val="tx1"/>
                        </a:solidFill>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Times New Roman" panose="02020603050405020304" pitchFamily="18" charset="0"/>
                        </a:rPr>
                        <a:t>Transport Layer</a:t>
                      </a:r>
                      <a:endParaRPr lang="zh-CN" altLang="en-US" sz="1200" b="0" dirty="0">
                        <a:solidFill>
                          <a:schemeClr val="tx1"/>
                        </a:solidFill>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Times New Roman" panose="02020603050405020304" pitchFamily="18" charset="0"/>
                        </a:rPr>
                        <a:t>ICMP</a:t>
                      </a:r>
                      <a:endParaRPr lang="zh-CN" altLang="en-US" sz="1200" kern="1200" dirty="0">
                        <a:solidFill>
                          <a:schemeClr val="tx1"/>
                        </a:solidFill>
                        <a:latin typeface="Montserrat" panose="00000500000000000000" pitchFamily="2" charset="0"/>
                        <a:ea typeface="+mn-ea"/>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Times New Roman" panose="02020603050405020304" pitchFamily="18" charset="0"/>
                        </a:rPr>
                        <a:t>IGMP</a:t>
                      </a:r>
                      <a:endParaRPr lang="zh-CN" altLang="en-US" sz="1200" dirty="0">
                        <a:solidFill>
                          <a:schemeClr val="bg1"/>
                        </a:solidFill>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Times New Roman" panose="02020603050405020304" pitchFamily="18" charset="0"/>
                        </a:rPr>
                        <a:t>IP</a:t>
                      </a: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Times New Roman" panose="02020603050405020304" pitchFamily="18" charset="0"/>
                        </a:rPr>
                        <a:t>ARP</a:t>
                      </a:r>
                      <a:endParaRPr lang="zh-CN" altLang="en-US" sz="1200" dirty="0">
                        <a:solidFill>
                          <a:schemeClr val="tx1"/>
                        </a:solidFill>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Times New Roman" panose="02020603050405020304" pitchFamily="18" charset="0"/>
                        </a:rPr>
                        <a:t>Network Layer</a:t>
                      </a: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Times New Roman" panose="02020603050405020304" pitchFamily="18" charset="0"/>
                        </a:rPr>
                        <a:t>Link Layer</a:t>
                      </a: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Times New Roman" panose="02020603050405020304" pitchFamily="18" charset="0"/>
                        </a:rPr>
                        <a:t>MAC</a:t>
                      </a: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Times New Roman" panose="02020603050405020304" pitchFamily="18" charset="0"/>
                        </a:rPr>
                        <a:t>Physical Layer</a:t>
                      </a: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2808000" y="144000"/>
            <a:ext cx="3528000" cy="400110"/>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2808000" y="144000"/>
            <a:ext cx="3528000" cy="400110"/>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0"/>
          </p:nvPr>
        </p:nvSpPr>
        <p:spPr>
          <a:xfrm>
            <a:off x="612000" y="648000"/>
            <a:ext cx="7920000" cy="39600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2808000" y="144000"/>
            <a:ext cx="3528000" cy="400110"/>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2808000" y="144000"/>
            <a:ext cx="3528000" cy="400110"/>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0"/>
          </p:nvPr>
        </p:nvSpPr>
        <p:spPr>
          <a:xfrm>
            <a:off x="612000" y="648000"/>
            <a:ext cx="7920000" cy="39600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2808000" y="144000"/>
            <a:ext cx="3528000" cy="400110"/>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0"/>
          </p:nvPr>
        </p:nvSpPr>
        <p:spPr>
          <a:xfrm>
            <a:off x="612000" y="648000"/>
            <a:ext cx="7920000" cy="39600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2808000" y="144000"/>
            <a:ext cx="3528000" cy="400110"/>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0"/>
          </p:nvPr>
        </p:nvSpPr>
        <p:spPr>
          <a:xfrm>
            <a:off x="612000" y="648000"/>
            <a:ext cx="7920000" cy="39600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2808000" y="144000"/>
            <a:ext cx="3528000" cy="400110"/>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6376169" cy="2677656"/>
          </a:xfrm>
          <a:prstGeom prst="rect">
            <a:avLst/>
          </a:prstGeom>
          <a:solidFill>
            <a:schemeClr val="tx1"/>
          </a:solidFill>
        </p:spPr>
        <p:txBody>
          <a:bodyPr wrap="none" rtlCol="0">
            <a:spAutoFit/>
          </a:bodyPr>
          <a:lstStyle/>
          <a:p>
            <a:r>
              <a:rPr lang="en-US" altLang="zh-CN" sz="1200" dirty="0">
                <a:solidFill>
                  <a:schemeClr val="bg1"/>
                </a:solidFill>
                <a:latin typeface="Times New Roman" panose="02020603050405020304" pitchFamily="18" charset="0"/>
                <a:ea typeface="微软雅黑 Light" panose="020B0502040204020203" pitchFamily="34" charset="-122"/>
              </a:rPr>
              <a:t>C:\Users\huawei&gt;ping mail.sina.com.cn</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zh-CN" altLang="en-US" sz="1200" dirty="0">
                <a:solidFill>
                  <a:schemeClr val="bg1"/>
                </a:solidFill>
                <a:latin typeface="Times New Roman" panose="02020603050405020304" pitchFamily="18" charset="0"/>
                <a:ea typeface="微软雅黑 Light" panose="020B0502040204020203" pitchFamily="34" charset="-122"/>
              </a:rPr>
              <a:t>正在 </a:t>
            </a:r>
            <a:r>
              <a:rPr lang="en-US" altLang="zh-CN" sz="1200" dirty="0">
                <a:solidFill>
                  <a:schemeClr val="bg1"/>
                </a:solidFill>
                <a:latin typeface="Times New Roman" panose="02020603050405020304" pitchFamily="18" charset="0"/>
                <a:ea typeface="微软雅黑 Light" panose="020B0502040204020203" pitchFamily="34" charset="-122"/>
              </a:rPr>
              <a:t>Ping sinamail-webface-6882369721c.cae.sina.com.cn [116.133.8.61] </a:t>
            </a:r>
            <a:r>
              <a:rPr lang="zh-CN" altLang="en-US" sz="1200" dirty="0">
                <a:solidFill>
                  <a:schemeClr val="bg1"/>
                </a:solidFill>
                <a:latin typeface="Times New Roman" panose="02020603050405020304" pitchFamily="18" charset="0"/>
                <a:ea typeface="微软雅黑 Light" panose="020B0502040204020203" pitchFamily="34" charset="-122"/>
              </a:rPr>
              <a:t>具有 </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字节的数据</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=49ms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=53ms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 </a:t>
            </a:r>
            <a:r>
              <a:rPr lang="en-US" altLang="zh-CN" sz="1200" dirty="0">
                <a:solidFill>
                  <a:schemeClr val="bg1"/>
                </a:solidFill>
                <a:latin typeface="Times New Roman" panose="02020603050405020304" pitchFamily="18" charset="0"/>
                <a:ea typeface="微软雅黑 Light" panose="020B0502040204020203" pitchFamily="34" charset="-122"/>
              </a:rPr>
              <a:t>Ping </a:t>
            </a:r>
            <a:r>
              <a:rPr lang="zh-CN" altLang="en-US" sz="1200" dirty="0">
                <a:solidFill>
                  <a:schemeClr val="bg1"/>
                </a:solidFill>
                <a:latin typeface="Times New Roman" panose="02020603050405020304" pitchFamily="18" charset="0"/>
                <a:ea typeface="微软雅黑 Light" panose="020B0502040204020203" pitchFamily="34" charset="-122"/>
              </a:rPr>
              <a:t>统计信息</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数据包</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已发送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，已接收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，丢失 </a:t>
            </a:r>
            <a:r>
              <a:rPr lang="en-US" altLang="zh-CN" sz="1200" dirty="0">
                <a:solidFill>
                  <a:schemeClr val="bg1"/>
                </a:solidFill>
                <a:latin typeface="Times New Roman" panose="02020603050405020304" pitchFamily="18" charset="0"/>
                <a:ea typeface="微软雅黑 Light" panose="020B0502040204020203" pitchFamily="34" charset="-122"/>
              </a:rPr>
              <a:t>= 0 (0% </a:t>
            </a:r>
            <a:r>
              <a:rPr lang="zh-CN" altLang="en-US" sz="1200" dirty="0">
                <a:solidFill>
                  <a:schemeClr val="bg1"/>
                </a:solidFill>
                <a:latin typeface="Times New Roman" panose="02020603050405020304" pitchFamily="18" charset="0"/>
                <a:ea typeface="微软雅黑 Light" panose="020B0502040204020203" pitchFamily="34" charset="-122"/>
              </a:rPr>
              <a:t>丢失</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往返行程的估计时间</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以毫秒为单位</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最短 </a:t>
            </a:r>
            <a:r>
              <a:rPr lang="en-US" altLang="zh-CN" sz="1200" dirty="0">
                <a:solidFill>
                  <a:schemeClr val="bg1"/>
                </a:solidFill>
                <a:latin typeface="Times New Roman" panose="02020603050405020304" pitchFamily="18" charset="0"/>
                <a:ea typeface="微软雅黑 Light" panose="020B0502040204020203" pitchFamily="34" charset="-122"/>
              </a:rPr>
              <a:t>= 49ms</a:t>
            </a:r>
            <a:r>
              <a:rPr lang="zh-CN" altLang="en-US" sz="1200" dirty="0">
                <a:solidFill>
                  <a:schemeClr val="bg1"/>
                </a:solidFill>
                <a:latin typeface="Times New Roman" panose="02020603050405020304" pitchFamily="18" charset="0"/>
                <a:ea typeface="微软雅黑 Light" panose="020B0502040204020203" pitchFamily="34" charset="-122"/>
              </a:rPr>
              <a:t>，最长 </a:t>
            </a:r>
            <a:r>
              <a:rPr lang="en-US" altLang="zh-CN" sz="1200" dirty="0">
                <a:solidFill>
                  <a:schemeClr val="bg1"/>
                </a:solidFill>
                <a:latin typeface="Times New Roman" panose="02020603050405020304" pitchFamily="18" charset="0"/>
                <a:ea typeface="微软雅黑 Light" panose="020B0502040204020203" pitchFamily="34" charset="-122"/>
              </a:rPr>
              <a:t>= 53ms</a:t>
            </a:r>
            <a:r>
              <a:rPr lang="zh-CN" altLang="en-US" sz="1200" dirty="0">
                <a:solidFill>
                  <a:schemeClr val="bg1"/>
                </a:solidFill>
                <a:latin typeface="Times New Roman" panose="02020603050405020304" pitchFamily="18" charset="0"/>
                <a:ea typeface="微软雅黑 Light" panose="020B0502040204020203" pitchFamily="34" charset="-122"/>
              </a:rPr>
              <a:t>，平均 </a:t>
            </a:r>
            <a:r>
              <a:rPr lang="en-US" altLang="zh-CN" sz="1200" dirty="0">
                <a:solidFill>
                  <a:schemeClr val="bg1"/>
                </a:solidFill>
                <a:latin typeface="Times New Roman" panose="02020603050405020304" pitchFamily="18" charset="0"/>
                <a:ea typeface="微软雅黑 Light" panose="020B0502040204020203" pitchFamily="34" charset="-122"/>
              </a:rPr>
              <a:t>= 51ms</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C:\Users\huawei&gt;</a:t>
            </a:r>
            <a:endParaRPr lang="zh-CN" altLang="en-US" sz="1200" dirty="0">
              <a:solidFill>
                <a:schemeClr val="bg1"/>
              </a:solidFill>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2808000" y="144000"/>
            <a:ext cx="3528000" cy="400110"/>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0"/>
          </p:nvPr>
        </p:nvSpPr>
        <p:spPr>
          <a:xfrm>
            <a:off x="612000" y="648000"/>
            <a:ext cx="7920000" cy="39600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6376169" cy="2677656"/>
          </a:xfrm>
          <a:prstGeom prst="rect">
            <a:avLst/>
          </a:prstGeom>
          <a:solidFill>
            <a:schemeClr val="tx1"/>
          </a:solidFill>
        </p:spPr>
        <p:txBody>
          <a:bodyPr wrap="none" rtlCol="0">
            <a:spAutoFit/>
          </a:bodyPr>
          <a:lstStyle/>
          <a:p>
            <a:r>
              <a:rPr lang="en-US" altLang="zh-CN" sz="1200" dirty="0">
                <a:solidFill>
                  <a:schemeClr val="bg1"/>
                </a:solidFill>
                <a:latin typeface="Times New Roman" panose="02020603050405020304" pitchFamily="18" charset="0"/>
                <a:ea typeface="微软雅黑 Light" panose="020B0502040204020203" pitchFamily="34" charset="-122"/>
              </a:rPr>
              <a:t>C:\Users\huawei&gt;ping mail.sina.com.cn</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zh-CN" altLang="en-US" sz="1200" dirty="0">
                <a:solidFill>
                  <a:schemeClr val="bg1"/>
                </a:solidFill>
                <a:latin typeface="Times New Roman" panose="02020603050405020304" pitchFamily="18" charset="0"/>
                <a:ea typeface="微软雅黑 Light" panose="020B0502040204020203" pitchFamily="34" charset="-122"/>
              </a:rPr>
              <a:t>正在 </a:t>
            </a:r>
            <a:r>
              <a:rPr lang="en-US" altLang="zh-CN" sz="1200" dirty="0">
                <a:solidFill>
                  <a:schemeClr val="bg1"/>
                </a:solidFill>
                <a:latin typeface="Times New Roman" panose="02020603050405020304" pitchFamily="18" charset="0"/>
                <a:ea typeface="微软雅黑 Light" panose="020B0502040204020203" pitchFamily="34" charset="-122"/>
              </a:rPr>
              <a:t>Ping sinamail-webface-6882369721c.cae.sina.com.cn [116.133.8.61] </a:t>
            </a:r>
            <a:r>
              <a:rPr lang="zh-CN" altLang="en-US" sz="1200" dirty="0">
                <a:solidFill>
                  <a:schemeClr val="bg1"/>
                </a:solidFill>
                <a:latin typeface="Times New Roman" panose="02020603050405020304" pitchFamily="18" charset="0"/>
                <a:ea typeface="微软雅黑 Light" panose="020B0502040204020203" pitchFamily="34" charset="-122"/>
              </a:rPr>
              <a:t>具有 </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字节的数据</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=49ms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=53ms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 </a:t>
            </a:r>
            <a:r>
              <a:rPr lang="en-US" altLang="zh-CN" sz="1200" dirty="0">
                <a:solidFill>
                  <a:schemeClr val="bg1"/>
                </a:solidFill>
                <a:latin typeface="Times New Roman" panose="02020603050405020304" pitchFamily="18" charset="0"/>
                <a:ea typeface="微软雅黑 Light" panose="020B0502040204020203" pitchFamily="34" charset="-122"/>
              </a:rPr>
              <a:t>Ping </a:t>
            </a:r>
            <a:r>
              <a:rPr lang="zh-CN" altLang="en-US" sz="1200" dirty="0">
                <a:solidFill>
                  <a:schemeClr val="bg1"/>
                </a:solidFill>
                <a:latin typeface="Times New Roman" panose="02020603050405020304" pitchFamily="18" charset="0"/>
                <a:ea typeface="微软雅黑 Light" panose="020B0502040204020203" pitchFamily="34" charset="-122"/>
              </a:rPr>
              <a:t>统计信息</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数据包</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已发送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，已接收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，丢失 </a:t>
            </a:r>
            <a:r>
              <a:rPr lang="en-US" altLang="zh-CN" sz="1200" dirty="0">
                <a:solidFill>
                  <a:schemeClr val="bg1"/>
                </a:solidFill>
                <a:latin typeface="Times New Roman" panose="02020603050405020304" pitchFamily="18" charset="0"/>
                <a:ea typeface="微软雅黑 Light" panose="020B0502040204020203" pitchFamily="34" charset="-122"/>
              </a:rPr>
              <a:t>= 0 (0% </a:t>
            </a:r>
            <a:r>
              <a:rPr lang="zh-CN" altLang="en-US" sz="1200" dirty="0">
                <a:solidFill>
                  <a:schemeClr val="bg1"/>
                </a:solidFill>
                <a:latin typeface="Times New Roman" panose="02020603050405020304" pitchFamily="18" charset="0"/>
                <a:ea typeface="微软雅黑 Light" panose="020B0502040204020203" pitchFamily="34" charset="-122"/>
              </a:rPr>
              <a:t>丢失</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往返行程的估计时间</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以毫秒为单位</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最短 </a:t>
            </a:r>
            <a:r>
              <a:rPr lang="en-US" altLang="zh-CN" sz="1200" dirty="0">
                <a:solidFill>
                  <a:schemeClr val="bg1"/>
                </a:solidFill>
                <a:latin typeface="Times New Roman" panose="02020603050405020304" pitchFamily="18" charset="0"/>
                <a:ea typeface="微软雅黑 Light" panose="020B0502040204020203" pitchFamily="34" charset="-122"/>
              </a:rPr>
              <a:t>= 49ms</a:t>
            </a:r>
            <a:r>
              <a:rPr lang="zh-CN" altLang="en-US" sz="1200" dirty="0">
                <a:solidFill>
                  <a:schemeClr val="bg1"/>
                </a:solidFill>
                <a:latin typeface="Times New Roman" panose="02020603050405020304" pitchFamily="18" charset="0"/>
                <a:ea typeface="微软雅黑 Light" panose="020B0502040204020203" pitchFamily="34" charset="-122"/>
              </a:rPr>
              <a:t>，最长 </a:t>
            </a:r>
            <a:r>
              <a:rPr lang="en-US" altLang="zh-CN" sz="1200" dirty="0">
                <a:solidFill>
                  <a:schemeClr val="bg1"/>
                </a:solidFill>
                <a:latin typeface="Times New Roman" panose="02020603050405020304" pitchFamily="18" charset="0"/>
                <a:ea typeface="微软雅黑 Light" panose="020B0502040204020203" pitchFamily="34" charset="-122"/>
              </a:rPr>
              <a:t>= 53ms</a:t>
            </a:r>
            <a:r>
              <a:rPr lang="zh-CN" altLang="en-US" sz="1200" dirty="0">
                <a:solidFill>
                  <a:schemeClr val="bg1"/>
                </a:solidFill>
                <a:latin typeface="Times New Roman" panose="02020603050405020304" pitchFamily="18" charset="0"/>
                <a:ea typeface="微软雅黑 Light" panose="020B0502040204020203" pitchFamily="34" charset="-122"/>
              </a:rPr>
              <a:t>，平均 </a:t>
            </a:r>
            <a:r>
              <a:rPr lang="en-US" altLang="zh-CN" sz="1200" dirty="0">
                <a:solidFill>
                  <a:schemeClr val="bg1"/>
                </a:solidFill>
                <a:latin typeface="Times New Roman" panose="02020603050405020304" pitchFamily="18" charset="0"/>
                <a:ea typeface="微软雅黑 Light" panose="020B0502040204020203" pitchFamily="34" charset="-122"/>
              </a:rPr>
              <a:t>= 51ms</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C:\Users\huawei&gt;</a:t>
            </a:r>
            <a:endParaRPr lang="zh-CN" altLang="en-US" sz="1200" dirty="0">
              <a:solidFill>
                <a:schemeClr val="bg1"/>
              </a:solidFill>
              <a:latin typeface="Times New Roman" panose="02020603050405020304" pitchFamily="18"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2808000" y="144000"/>
            <a:ext cx="3528000" cy="400110"/>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836904"/>
            <a:ext cx="4320000" cy="461665"/>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2520000"/>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2808000" y="144000"/>
            <a:ext cx="3528000" cy="400110"/>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0"/>
          </p:nvPr>
        </p:nvSpPr>
        <p:spPr>
          <a:xfrm>
            <a:off x="612000" y="648000"/>
            <a:ext cx="7920000" cy="39600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2808000" y="144000"/>
            <a:ext cx="3528000" cy="400110"/>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2808000" y="144000"/>
            <a:ext cx="3528000" cy="400110"/>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0"/>
          </p:nvPr>
        </p:nvSpPr>
        <p:spPr>
          <a:xfrm>
            <a:off x="612000" y="648000"/>
            <a:ext cx="7920000" cy="39600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2808000" y="144000"/>
            <a:ext cx="3528000" cy="400110"/>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0"/>
          </p:nvPr>
        </p:nvSpPr>
        <p:spPr>
          <a:xfrm>
            <a:off x="612000" y="648000"/>
            <a:ext cx="7920000" cy="39600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2808000" y="144000"/>
            <a:ext cx="3528000" cy="400110"/>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0"/>
          </p:nvPr>
        </p:nvSpPr>
        <p:spPr>
          <a:xfrm>
            <a:off x="612000" y="648000"/>
            <a:ext cx="7920000" cy="39600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2808000" y="144000"/>
            <a:ext cx="3528000" cy="400110"/>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0"/>
          </p:nvPr>
        </p:nvSpPr>
        <p:spPr>
          <a:xfrm>
            <a:off x="612000" y="648000"/>
            <a:ext cx="7920000" cy="39600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2808000" y="144000"/>
            <a:ext cx="3528000" cy="400110"/>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2808000" y="144000"/>
            <a:ext cx="3528000" cy="400110"/>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59062"/>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地址类型</a:t>
                      </a:r>
                      <a:endParaRPr lang="zh-CN" sz="1400" b="0" baseline="0" dirty="0">
                        <a:solidFill>
                          <a:schemeClr val="bg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二进制前缀</a:t>
                      </a:r>
                      <a:endParaRPr lang="zh-CN" sz="1400" b="0" baseline="0" dirty="0">
                        <a:solidFill>
                          <a:schemeClr val="bg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Times New Roman" panose="02020603050405020304" pitchFamily="18" charset="0"/>
                          <a:ea typeface="微软雅黑 Light" panose="020B0502040204020203" pitchFamily="34" charset="-122"/>
                        </a:rPr>
                        <a:t>IPv6</a:t>
                      </a:r>
                      <a:r>
                        <a:rPr lang="zh-CN" altLang="en-US" sz="1400" b="0" baseline="0" dirty="0">
                          <a:solidFill>
                            <a:schemeClr val="bg1"/>
                          </a:solidFill>
                          <a:latin typeface="Times New Roman" panose="02020603050405020304" pitchFamily="18" charset="0"/>
                          <a:ea typeface="微软雅黑 Light" panose="020B0502040204020203" pitchFamily="34" charset="-122"/>
                        </a:rPr>
                        <a:t>记法</a:t>
                      </a:r>
                      <a:endParaRPr lang="zh-CN" sz="1400" b="0" baseline="0" dirty="0">
                        <a:solidFill>
                          <a:schemeClr val="bg1"/>
                        </a:solidFill>
                        <a:effectLst/>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未指明地址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00…0</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128</a:t>
                      </a:r>
                      <a:r>
                        <a:rPr lang="zh-CN" sz="1400" b="0" baseline="0" dirty="0">
                          <a:effectLst/>
                          <a:latin typeface="Times New Roman" panose="02020603050405020304" pitchFamily="18" charset="0"/>
                          <a:ea typeface="微软雅黑 Light" panose="020B0502040204020203" pitchFamily="34" charset="-122"/>
                        </a:rPr>
                        <a:t>位），</a:t>
                      </a:r>
                      <a:r>
                        <a:rPr lang="zh-CN" altLang="en-US" sz="1400" b="0" baseline="0" dirty="0">
                          <a:solidFill>
                            <a:srgbClr val="C00000"/>
                          </a:solidFill>
                          <a:latin typeface="Times New Roman" panose="02020603050405020304" pitchFamily="18" charset="0"/>
                          <a:ea typeface="微软雅黑 Light" panose="020B0502040204020203" pitchFamily="34" charset="-122"/>
                        </a:rPr>
                        <a:t>仅此一个</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::/128</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环回地址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00…1</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128</a:t>
                      </a:r>
                      <a:r>
                        <a:rPr lang="zh-CN" sz="1400" b="0" baseline="0" dirty="0">
                          <a:effectLst/>
                          <a:latin typeface="Times New Roman" panose="02020603050405020304" pitchFamily="18" charset="0"/>
                          <a:ea typeface="微软雅黑 Light" panose="020B0502040204020203" pitchFamily="34" charset="-122"/>
                        </a:rPr>
                        <a:t>位），</a:t>
                      </a:r>
                      <a:r>
                        <a:rPr lang="zh-CN" altLang="en-US" sz="1400" b="0" baseline="0" dirty="0">
                          <a:solidFill>
                            <a:srgbClr val="C00000"/>
                          </a:solidFill>
                          <a:latin typeface="Times New Roman" panose="02020603050405020304" pitchFamily="18" charset="0"/>
                          <a:ea typeface="微软雅黑 Light" panose="020B0502040204020203" pitchFamily="34" charset="-122"/>
                        </a:rPr>
                        <a:t>仅此一个</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::1/128</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多播地址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Times New Roman" panose="02020603050405020304" pitchFamily="18" charset="0"/>
                          <a:ea typeface="微软雅黑 Light" panose="020B0502040204020203" pitchFamily="34" charset="-122"/>
                        </a:rPr>
                        <a:t>11111111</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8</a:t>
                      </a:r>
                      <a:r>
                        <a:rPr lang="zh-CN" sz="1400" b="0" baseline="0" dirty="0">
                          <a:effectLst/>
                          <a:latin typeface="Times New Roman" panose="02020603050405020304" pitchFamily="18" charset="0"/>
                          <a:ea typeface="微软雅黑 Light" panose="020B0502040204020203" pitchFamily="34" charset="-122"/>
                        </a:rPr>
                        <a:t>位），</a:t>
                      </a:r>
                      <a:r>
                        <a:rPr lang="zh-CN" altLang="en-US" sz="1400" b="0" kern="1200" baseline="0" dirty="0">
                          <a:solidFill>
                            <a:srgbClr val="C00000"/>
                          </a:solidFill>
                          <a:latin typeface="Times New Roman" panose="02020603050405020304" pitchFamily="18" charset="0"/>
                          <a:ea typeface="微软雅黑 Light" panose="020B0502040204020203" pitchFamily="34" charset="-122"/>
                        </a:rPr>
                        <a:t>功能和 </a:t>
                      </a:r>
                      <a:r>
                        <a:rPr lang="en-US" altLang="zh-CN" sz="1400" b="0" kern="1200" baseline="0" dirty="0" err="1">
                          <a:solidFill>
                            <a:srgbClr val="C00000"/>
                          </a:solidFill>
                          <a:latin typeface="Times New Roman" panose="02020603050405020304" pitchFamily="18" charset="0"/>
                          <a:ea typeface="微软雅黑 Light" panose="020B0502040204020203" pitchFamily="34" charset="-122"/>
                        </a:rPr>
                        <a:t>IPv4</a:t>
                      </a:r>
                      <a:r>
                        <a:rPr lang="en-US" altLang="zh-CN" sz="1400" b="0" kern="1200" baseline="0" dirty="0">
                          <a:solidFill>
                            <a:srgbClr val="C00000"/>
                          </a:solidFill>
                          <a:latin typeface="Times New Roman" panose="02020603050405020304" pitchFamily="18" charset="0"/>
                          <a:ea typeface="微软雅黑 Light" panose="020B0502040204020203" pitchFamily="34" charset="-122"/>
                        </a:rPr>
                        <a:t> </a:t>
                      </a:r>
                      <a:r>
                        <a:rPr lang="zh-CN" altLang="en-US" sz="1400" b="0" kern="1200" baseline="0" dirty="0">
                          <a:solidFill>
                            <a:srgbClr val="C00000"/>
                          </a:solidFill>
                          <a:latin typeface="Times New Roman" panose="02020603050405020304" pitchFamily="18" charset="0"/>
                          <a:ea typeface="微软雅黑 Light" panose="020B0502040204020203" pitchFamily="34" charset="-122"/>
                        </a:rPr>
                        <a:t>的一样</a:t>
                      </a:r>
                      <a:endParaRPr lang="zh-CN" altLang="en-US" sz="1400" b="0" kern="1200" baseline="0" dirty="0">
                        <a:solidFill>
                          <a:srgbClr val="C00000"/>
                        </a:solidFill>
                        <a:latin typeface="Times New Roman" panose="02020603050405020304" pitchFamily="18"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Times New Roman" panose="02020603050405020304" pitchFamily="18" charset="0"/>
                          <a:ea typeface="微软雅黑 Light" panose="020B0502040204020203" pitchFamily="34" charset="-122"/>
                        </a:rPr>
                        <a:t>FF00</a:t>
                      </a:r>
                      <a:r>
                        <a:rPr lang="en-US" sz="1400" b="0" baseline="0" dirty="0">
                          <a:effectLst/>
                          <a:latin typeface="Times New Roman" panose="02020603050405020304" pitchFamily="18" charset="0"/>
                          <a:ea typeface="微软雅黑 Light" panose="020B0502040204020203" pitchFamily="34" charset="-122"/>
                        </a:rPr>
                        <a:t>::/8</a:t>
                      </a:r>
                      <a:endParaRPr lang="zh-CN" altLang="en-US" sz="1400" b="0" kern="1200" baseline="0" dirty="0">
                        <a:solidFill>
                          <a:srgbClr val="C00000"/>
                        </a:solidFill>
                        <a:latin typeface="Times New Roman" panose="02020603050405020304" pitchFamily="18"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本地链路单播地址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1111111010</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10</a:t>
                      </a:r>
                      <a:r>
                        <a:rPr lang="zh-CN" sz="1400" b="0" baseline="0" dirty="0">
                          <a:effectLst/>
                          <a:latin typeface="Times New Roman" panose="02020603050405020304" pitchFamily="18" charset="0"/>
                          <a:ea typeface="微软雅黑 Light" panose="020B0502040204020203" pitchFamily="34" charset="-122"/>
                        </a:rPr>
                        <a:t>位）</a:t>
                      </a:r>
                      <a:r>
                        <a:rPr lang="en-US" sz="1400" b="0" baseline="0" dirty="0">
                          <a:effectLst/>
                          <a:latin typeface="Times New Roman" panose="02020603050405020304" pitchFamily="18" charset="0"/>
                          <a:ea typeface="微软雅黑 Light" panose="020B0502040204020203" pitchFamily="34" charset="-122"/>
                        </a:rPr>
                        <a:t>, </a:t>
                      </a:r>
                      <a:r>
                        <a:rPr lang="zh-CN" altLang="en-US" sz="1400" b="0" baseline="0" dirty="0">
                          <a:solidFill>
                            <a:srgbClr val="C00000"/>
                          </a:solidFill>
                          <a:latin typeface="Times New Roman" panose="02020603050405020304" pitchFamily="18"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Times New Roman" panose="02020603050405020304" pitchFamily="18" charset="0"/>
                          <a:ea typeface="微软雅黑 Light" panose="020B0502040204020203" pitchFamily="34" charset="-122"/>
                        </a:rPr>
                        <a:t>FE80</a:t>
                      </a:r>
                      <a:r>
                        <a:rPr lang="en-US" sz="1400" b="0" baseline="0" dirty="0">
                          <a:effectLst/>
                          <a:latin typeface="Times New Roman" panose="02020603050405020304" pitchFamily="18" charset="0"/>
                          <a:ea typeface="微软雅黑 Light" panose="020B0502040204020203" pitchFamily="34" charset="-122"/>
                        </a:rPr>
                        <a:t>::/10</a:t>
                      </a:r>
                      <a:endParaRPr lang="zh-CN" altLang="en-US" sz="1400" b="0" baseline="0" dirty="0">
                        <a:solidFill>
                          <a:srgbClr val="C00000"/>
                        </a:solidFill>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全球单播地址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除上述四种外，所有其他的二进制前缀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2808000" y="144000"/>
            <a:ext cx="3528000" cy="400110"/>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2808000" y="144000"/>
            <a:ext cx="3528000" cy="400110"/>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2808000" y="144000"/>
            <a:ext cx="3528000" cy="400110"/>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0"/>
          </p:nvPr>
        </p:nvSpPr>
        <p:spPr>
          <a:xfrm>
            <a:off x="612000" y="648000"/>
            <a:ext cx="7920000" cy="39600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2808000" y="144000"/>
            <a:ext cx="3528000" cy="400110"/>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2808000" y="144000"/>
            <a:ext cx="3528000" cy="400110"/>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2808000" y="144000"/>
            <a:ext cx="3528000" cy="400110"/>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2808000" y="144000"/>
            <a:ext cx="3528000" cy="400110"/>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2808000" y="144000"/>
            <a:ext cx="3528000" cy="400110"/>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836904"/>
            <a:ext cx="4320000" cy="461665"/>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2808000" y="144000"/>
            <a:ext cx="3528000" cy="400110"/>
          </a:xfrm>
        </p:spPr>
        <p:txBody>
          <a:bodyPr/>
          <a:lstStyle/>
          <a:p>
            <a:r>
              <a:rPr lang="zh-CN" altLang="en-US" dirty="0"/>
              <a:t>自治系统和内部网关协议、外部网关协议 </a:t>
            </a:r>
          </a:p>
        </p:txBody>
      </p:sp>
      <p:sp>
        <p:nvSpPr>
          <p:cNvPr id="3" name="内容占位符 2">
            <a:extLst>
              <a:ext uri="{FF2B5EF4-FFF2-40B4-BE49-F238E27FC236}">
                <a16:creationId xmlns:a16="http://schemas.microsoft.com/office/drawing/2014/main" id="{9B176AB4-FC43-CB74-8044-A09097EB3579}"/>
              </a:ext>
            </a:extLst>
          </p:cNvPr>
          <p:cNvSpPr>
            <a:spLocks noGrp="1"/>
          </p:cNvSpPr>
          <p:nvPr>
            <p:ph sz="quarter" idx="10"/>
          </p:nvPr>
        </p:nvSpPr>
        <p:spPr>
          <a:xfrm>
            <a:off x="612000" y="648000"/>
            <a:ext cx="7920000" cy="39600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2808000" y="144000"/>
            <a:ext cx="3528000" cy="400110"/>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2808000" y="144000"/>
            <a:ext cx="3528000" cy="400110"/>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0"/>
          </p:nvPr>
        </p:nvSpPr>
        <p:spPr>
          <a:xfrm>
            <a:off x="612000" y="648000"/>
            <a:ext cx="7920000" cy="39600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NET1</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NET2</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NET3</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NET4</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2808000" y="144000"/>
            <a:ext cx="3528000" cy="400110"/>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0"/>
          </p:nvPr>
        </p:nvSpPr>
        <p:spPr>
          <a:xfrm>
            <a:off x="612000" y="648000"/>
            <a:ext cx="7920000" cy="39600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2808000" y="144000"/>
            <a:ext cx="3528000" cy="400110"/>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0"/>
          </p:nvPr>
        </p:nvSpPr>
        <p:spPr>
          <a:xfrm>
            <a:off x="612000" y="648000"/>
            <a:ext cx="7920000" cy="3960000"/>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2808000" y="144000"/>
            <a:ext cx="3528000" cy="400110"/>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0"/>
          </p:nvPr>
        </p:nvSpPr>
        <p:spPr>
          <a:xfrm>
            <a:off x="612000" y="648000"/>
            <a:ext cx="7920000" cy="39600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2808000" y="144000"/>
            <a:ext cx="3528000" cy="400110"/>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0"/>
          </p:nvPr>
        </p:nvSpPr>
        <p:spPr>
          <a:xfrm>
            <a:off x="612000" y="648000"/>
            <a:ext cx="7920000" cy="39600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2808000" y="144000"/>
            <a:ext cx="3528000" cy="400110"/>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0"/>
          </p:nvPr>
        </p:nvSpPr>
        <p:spPr>
          <a:xfrm>
            <a:off x="612000" y="648000"/>
            <a:ext cx="7920000" cy="39600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2808000" y="144000"/>
            <a:ext cx="3528000" cy="400110"/>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0"/>
          </p:nvPr>
        </p:nvSpPr>
        <p:spPr>
          <a:xfrm>
            <a:off x="612000" y="648000"/>
            <a:ext cx="7920000" cy="39600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2808000" y="144000"/>
            <a:ext cx="3528000" cy="400110"/>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0"/>
          </p:nvPr>
        </p:nvSpPr>
        <p:spPr>
          <a:xfrm>
            <a:off x="612000" y="648000"/>
            <a:ext cx="7920000" cy="39600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2808000" y="144000"/>
            <a:ext cx="3528000" cy="400110"/>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2808000" y="144000"/>
            <a:ext cx="3528000" cy="400110"/>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0"/>
          </p:nvPr>
        </p:nvSpPr>
        <p:spPr>
          <a:xfrm>
            <a:off x="612000" y="648000"/>
            <a:ext cx="7920000" cy="39600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2808000" y="144000"/>
            <a:ext cx="3528000" cy="400110"/>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0"/>
          </p:nvPr>
        </p:nvSpPr>
        <p:spPr>
          <a:xfrm>
            <a:off x="612000" y="648000"/>
            <a:ext cx="7920000" cy="39600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2808000" y="144000"/>
            <a:ext cx="3528000" cy="400110"/>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0"/>
          </p:nvPr>
        </p:nvSpPr>
        <p:spPr>
          <a:xfrm>
            <a:off x="612000" y="648000"/>
            <a:ext cx="7920000" cy="39600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2808000" y="144000"/>
            <a:ext cx="3528000" cy="400110"/>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2808000" y="144000"/>
            <a:ext cx="3528000" cy="400110"/>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0"/>
          </p:nvPr>
        </p:nvSpPr>
        <p:spPr>
          <a:xfrm>
            <a:off x="612000" y="648000"/>
            <a:ext cx="7920000" cy="39600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2808000" y="144000"/>
            <a:ext cx="3528000" cy="400110"/>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0"/>
          </p:nvPr>
        </p:nvSpPr>
        <p:spPr>
          <a:xfrm>
            <a:off x="612000" y="648000"/>
            <a:ext cx="7920000" cy="39600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2808000" y="144000"/>
            <a:ext cx="3528000" cy="400110"/>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0"/>
          </p:nvPr>
        </p:nvSpPr>
        <p:spPr>
          <a:xfrm>
            <a:off x="612000" y="648000"/>
            <a:ext cx="7920000" cy="39600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2808000" y="144000"/>
            <a:ext cx="3528000" cy="400110"/>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0"/>
          </p:nvPr>
        </p:nvSpPr>
        <p:spPr>
          <a:xfrm>
            <a:off x="612000" y="648000"/>
            <a:ext cx="7920000" cy="39600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2808000" y="144000"/>
            <a:ext cx="3528000" cy="400110"/>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0"/>
          </p:nvPr>
        </p:nvSpPr>
        <p:spPr>
          <a:xfrm>
            <a:off x="612000" y="648000"/>
            <a:ext cx="7920000" cy="39600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2808000" y="144000"/>
            <a:ext cx="3528000" cy="400110"/>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0"/>
          </p:nvPr>
        </p:nvSpPr>
        <p:spPr>
          <a:xfrm>
            <a:off x="612000" y="648000"/>
            <a:ext cx="7920000" cy="39600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2808000" y="144000"/>
            <a:ext cx="3528000" cy="400110"/>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0"/>
          </p:nvPr>
        </p:nvSpPr>
        <p:spPr>
          <a:xfrm>
            <a:off x="612000" y="648000"/>
            <a:ext cx="7920000" cy="39600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2808000" y="144000"/>
            <a:ext cx="3528000" cy="400110"/>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2808000" y="144000"/>
            <a:ext cx="3528000" cy="400110"/>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0"/>
          </p:nvPr>
        </p:nvSpPr>
        <p:spPr>
          <a:xfrm>
            <a:off x="612000" y="648000"/>
            <a:ext cx="7920000" cy="39600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2808000" y="144000"/>
            <a:ext cx="3528000" cy="400110"/>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2808000" y="144000"/>
            <a:ext cx="3528000" cy="400110"/>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0"/>
          </p:nvPr>
        </p:nvSpPr>
        <p:spPr>
          <a:xfrm>
            <a:off x="612000" y="648000"/>
            <a:ext cx="7920000" cy="39600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接连接符 53">
            <a:extLst>
              <a:ext uri="{FF2B5EF4-FFF2-40B4-BE49-F238E27FC236}">
                <a16:creationId xmlns:a16="http://schemas.microsoft.com/office/drawing/2014/main" id="{A33E64EE-578A-A538-3EFC-C3F00356B1AC}"/>
              </a:ext>
            </a:extLst>
          </p:cNvPr>
          <p:cNvCxnSpPr/>
          <p:nvPr/>
        </p:nvCxnSpPr>
        <p:spPr>
          <a:xfrm>
            <a:off x="5439355" y="762000"/>
            <a:ext cx="0" cy="3286125"/>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 name="云形 3">
            <a:extLst>
              <a:ext uri="{FF2B5EF4-FFF2-40B4-BE49-F238E27FC236}">
                <a16:creationId xmlns:a16="http://schemas.microsoft.com/office/drawing/2014/main" id="{02C59F20-D55E-B6B9-69AE-33DCC7CF4DAB}"/>
              </a:ext>
            </a:extLst>
          </p:cNvPr>
          <p:cNvSpPr/>
          <p:nvPr/>
        </p:nvSpPr>
        <p:spPr>
          <a:xfrm>
            <a:off x="1266825" y="1784039"/>
            <a:ext cx="2290649" cy="1787836"/>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3599698" y="144017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2460822" y="2370290"/>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4238789" y="1507040"/>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4079953" y="1876159"/>
            <a:ext cx="521298" cy="413459"/>
            <a:chOff x="2368153" y="1837372"/>
            <a:chExt cx="521298"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368153" y="1837372"/>
              <a:ext cx="5212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ABR</a:t>
              </a:r>
              <a:endParaRPr kumimoji="1" lang="zh-CN" altLang="en-US" sz="1200" dirty="0">
                <a:latin typeface="Montserrat" panose="00000500000000000000" pitchFamily="2" charset="0"/>
                <a:ea typeface="微软雅黑 Light" panose="020B0502040204020203" pitchFamily="34" charset="-122"/>
              </a:endParaRPr>
            </a:p>
          </p:txBody>
        </p:sp>
      </p:grpSp>
      <p:cxnSp>
        <p:nvCxnSpPr>
          <p:cNvPr id="21" name="直接连接符 20">
            <a:extLst>
              <a:ext uri="{FF2B5EF4-FFF2-40B4-BE49-F238E27FC236}">
                <a16:creationId xmlns:a16="http://schemas.microsoft.com/office/drawing/2014/main" id="{AC2F5095-58C8-AEA0-C5CE-3BA81AFB3DDC}"/>
              </a:ext>
            </a:extLst>
          </p:cNvPr>
          <p:cNvCxnSpPr>
            <a:stCxn id="7" idx="3"/>
            <a:endCxn id="14" idx="1"/>
          </p:cNvCxnSpPr>
          <p:nvPr/>
        </p:nvCxnSpPr>
        <p:spPr>
          <a:xfrm flipV="1">
            <a:off x="2858300" y="2186084"/>
            <a:ext cx="1314802" cy="556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18B4823D-40CC-4154-AFEF-5480B8887F15}"/>
              </a:ext>
            </a:extLst>
          </p:cNvPr>
          <p:cNvCxnSpPr>
            <a:cxnSpLocks/>
            <a:stCxn id="14" idx="3"/>
            <a:endCxn id="26" idx="0"/>
          </p:cNvCxnSpPr>
          <p:nvPr/>
        </p:nvCxnSpPr>
        <p:spPr>
          <a:xfrm flipV="1">
            <a:off x="4508105" y="1821675"/>
            <a:ext cx="931250" cy="3644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云形 23">
            <a:extLst>
              <a:ext uri="{FF2B5EF4-FFF2-40B4-BE49-F238E27FC236}">
                <a16:creationId xmlns:a16="http://schemas.microsoft.com/office/drawing/2014/main" id="{3ADEA4E3-838F-4158-36D9-CFD417E54902}"/>
              </a:ext>
            </a:extLst>
          </p:cNvPr>
          <p:cNvSpPr/>
          <p:nvPr/>
        </p:nvSpPr>
        <p:spPr>
          <a:xfrm>
            <a:off x="5561080" y="145106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25" name="组合 24">
            <a:extLst>
              <a:ext uri="{FF2B5EF4-FFF2-40B4-BE49-F238E27FC236}">
                <a16:creationId xmlns:a16="http://schemas.microsoft.com/office/drawing/2014/main" id="{1E81FD7A-5EA2-F594-F8F9-36AB9B04DB56}"/>
              </a:ext>
            </a:extLst>
          </p:cNvPr>
          <p:cNvGrpSpPr/>
          <p:nvPr/>
        </p:nvGrpSpPr>
        <p:grpSpPr>
          <a:xfrm>
            <a:off x="5011781" y="1529559"/>
            <a:ext cx="615874" cy="499184"/>
            <a:chOff x="2201230" y="1751647"/>
            <a:chExt cx="615874" cy="499184"/>
          </a:xfrm>
        </p:grpSpPr>
        <p:pic>
          <p:nvPicPr>
            <p:cNvPr id="26"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201230" y="1751647"/>
              <a:ext cx="6158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ASBR</a:t>
              </a:r>
              <a:endParaRPr kumimoji="1" lang="zh-CN" altLang="en-US" sz="1200" dirty="0">
                <a:latin typeface="Montserrat" panose="00000500000000000000" pitchFamily="2" charset="0"/>
                <a:ea typeface="微软雅黑 Light" panose="020B0502040204020203" pitchFamily="34" charset="-122"/>
              </a:endParaRPr>
            </a:p>
          </p:txBody>
        </p:sp>
      </p:grpSp>
      <p:sp>
        <p:nvSpPr>
          <p:cNvPr id="36" name="Text Box 39">
            <a:extLst>
              <a:ext uri="{FF2B5EF4-FFF2-40B4-BE49-F238E27FC236}">
                <a16:creationId xmlns:a16="http://schemas.microsoft.com/office/drawing/2014/main" id="{2F5A5224-E561-5879-E11B-4264E53BCB8A}"/>
              </a:ext>
            </a:extLst>
          </p:cNvPr>
          <p:cNvSpPr txBox="1">
            <a:spLocks noChangeArrowheads="1"/>
          </p:cNvSpPr>
          <p:nvPr/>
        </p:nvSpPr>
        <p:spPr bwMode="auto">
          <a:xfrm>
            <a:off x="6159992" y="1876159"/>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RIP</a:t>
            </a:r>
            <a:endParaRPr kumimoji="1" lang="zh-CN" altLang="en-US" sz="1200" dirty="0">
              <a:latin typeface="Montserrat" panose="00000500000000000000" pitchFamily="2" charset="0"/>
              <a:ea typeface="微软雅黑 Light" panose="020B0502040204020203" pitchFamily="34" charset="-122"/>
            </a:endParaRPr>
          </a:p>
        </p:txBody>
      </p:sp>
      <p:sp>
        <p:nvSpPr>
          <p:cNvPr id="38" name="云形 37">
            <a:extLst>
              <a:ext uri="{FF2B5EF4-FFF2-40B4-BE49-F238E27FC236}">
                <a16:creationId xmlns:a16="http://schemas.microsoft.com/office/drawing/2014/main" id="{ADDAFE8E-D1A2-FBF1-C2F1-C072F0B2D2A5}"/>
              </a:ext>
            </a:extLst>
          </p:cNvPr>
          <p:cNvSpPr/>
          <p:nvPr/>
        </p:nvSpPr>
        <p:spPr>
          <a:xfrm>
            <a:off x="1564456" y="2496609"/>
            <a:ext cx="703761" cy="569036"/>
          </a:xfrm>
          <a:prstGeom prst="cloud">
            <a:avLst/>
          </a:prstGeom>
          <a:solidFill>
            <a:schemeClr val="tx2">
              <a:lumMod val="40000"/>
              <a:lumOff val="60000"/>
            </a:schemeClr>
          </a:solidFill>
          <a:ln w="6350">
            <a:no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43" name="直接连接符 42">
            <a:extLst>
              <a:ext uri="{FF2B5EF4-FFF2-40B4-BE49-F238E27FC236}">
                <a16:creationId xmlns:a16="http://schemas.microsoft.com/office/drawing/2014/main" id="{3827E8E3-AC37-7222-3519-99A9C8D7DFA8}"/>
              </a:ext>
            </a:extLst>
          </p:cNvPr>
          <p:cNvCxnSpPr>
            <a:cxnSpLocks/>
            <a:stCxn id="7" idx="1"/>
            <a:endCxn id="38" idx="3"/>
          </p:cNvCxnSpPr>
          <p:nvPr/>
        </p:nvCxnSpPr>
        <p:spPr>
          <a:xfrm flipH="1">
            <a:off x="1916337" y="2191650"/>
            <a:ext cx="606960" cy="337494"/>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177AF1CB-C057-6DD4-BB76-33CFBF512964}"/>
              </a:ext>
            </a:extLst>
          </p:cNvPr>
          <p:cNvSpPr txBox="1"/>
          <p:nvPr/>
        </p:nvSpPr>
        <p:spPr>
          <a:xfrm>
            <a:off x="1424106" y="3018992"/>
            <a:ext cx="1266692" cy="276999"/>
          </a:xfrm>
          <a:prstGeom prst="rect">
            <a:avLst/>
          </a:prstGeom>
          <a:noFill/>
        </p:spPr>
        <p:txBody>
          <a:bodyPr wrap="none" rtlCol="0">
            <a:spAutoFit/>
          </a:bodyPr>
          <a:lstStyle/>
          <a:p>
            <a:pPr algn="ctr"/>
            <a:r>
              <a:rPr lang="en-US" altLang="zh-CN" sz="1200" dirty="0">
                <a:latin typeface="Montserrat" panose="00000500000000000000" pitchFamily="2" charset="0"/>
              </a:rPr>
              <a:t>192.168.10.0/24</a:t>
            </a:r>
          </a:p>
        </p:txBody>
      </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2808000" y="144000"/>
            <a:ext cx="3528000" cy="400110"/>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任意多边形: 形状 49">
            <a:extLst>
              <a:ext uri="{FF2B5EF4-FFF2-40B4-BE49-F238E27FC236}">
                <a16:creationId xmlns:a16="http://schemas.microsoft.com/office/drawing/2014/main" id="{9EBA20C7-E0DC-0BDC-CCDA-1BED2F2B6178}"/>
              </a:ext>
            </a:extLst>
          </p:cNvPr>
          <p:cNvSpPr>
            <a:spLocks noChangeArrowheads="1"/>
          </p:cNvSpPr>
          <p:nvPr/>
        </p:nvSpPr>
        <p:spPr bwMode="auto">
          <a:xfrm>
            <a:off x="4572000" y="2833465"/>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49" name="任意多边形: 形状 48">
            <a:extLst>
              <a:ext uri="{FF2B5EF4-FFF2-40B4-BE49-F238E27FC236}">
                <a16:creationId xmlns:a16="http://schemas.microsoft.com/office/drawing/2014/main" id="{05D46528-41F4-4114-4F8A-D210A3B420A9}"/>
              </a:ext>
            </a:extLst>
          </p:cNvPr>
          <p:cNvSpPr>
            <a:spLocks noChangeArrowheads="1"/>
          </p:cNvSpPr>
          <p:nvPr/>
        </p:nvSpPr>
        <p:spPr bwMode="auto">
          <a:xfrm>
            <a:off x="3347735" y="863232"/>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25" name="任意多边形: 形状 24">
            <a:extLst>
              <a:ext uri="{FF2B5EF4-FFF2-40B4-BE49-F238E27FC236}">
                <a16:creationId xmlns:a16="http://schemas.microsoft.com/office/drawing/2014/main" id="{B3044251-D3A0-78C8-DB81-8A0D9125A7EB}"/>
              </a:ext>
            </a:extLst>
          </p:cNvPr>
          <p:cNvSpPr>
            <a:spLocks noChangeArrowheads="1"/>
          </p:cNvSpPr>
          <p:nvPr/>
        </p:nvSpPr>
        <p:spPr bwMode="auto">
          <a:xfrm>
            <a:off x="1502054" y="2441148"/>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pic>
        <p:nvPicPr>
          <p:cNvPr id="38" name="Picture 52">
            <a:extLst>
              <a:ext uri="{FF2B5EF4-FFF2-40B4-BE49-F238E27FC236}">
                <a16:creationId xmlns:a16="http://schemas.microsoft.com/office/drawing/2014/main" id="{4968B9E9-C5C0-727C-8BC5-7450D6BFAAE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1294" y="2806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AAED645-3511-8B8A-76AA-56F7F3318C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6264" y="313141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Text Box 173">
            <a:extLst>
              <a:ext uri="{FF2B5EF4-FFF2-40B4-BE49-F238E27FC236}">
                <a16:creationId xmlns:a16="http://schemas.microsoft.com/office/drawing/2014/main" id="{D300FE31-E9AA-C74C-3A41-D6ECA11D88D8}"/>
              </a:ext>
            </a:extLst>
          </p:cNvPr>
          <p:cNvSpPr txBox="1">
            <a:spLocks noChangeArrowheads="1"/>
          </p:cNvSpPr>
          <p:nvPr/>
        </p:nvSpPr>
        <p:spPr bwMode="auto">
          <a:xfrm rot="18559332">
            <a:off x="3013162" y="212968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44" name="直接箭头连接符 43">
            <a:extLst>
              <a:ext uri="{FF2B5EF4-FFF2-40B4-BE49-F238E27FC236}">
                <a16:creationId xmlns:a16="http://schemas.microsoft.com/office/drawing/2014/main" id="{053D04F7-F9E2-9FE0-5001-47AC8A48544B}"/>
              </a:ext>
            </a:extLst>
          </p:cNvPr>
          <p:cNvCxnSpPr>
            <a:cxnSpLocks/>
            <a:stCxn id="53" idx="2"/>
            <a:endCxn id="38" idx="0"/>
          </p:cNvCxnSpPr>
          <p:nvPr/>
        </p:nvCxnSpPr>
        <p:spPr>
          <a:xfrm flipH="1">
            <a:off x="3071294" y="1705287"/>
            <a:ext cx="880547" cy="1100774"/>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a:extLst>
              <a:ext uri="{FF2B5EF4-FFF2-40B4-BE49-F238E27FC236}">
                <a16:creationId xmlns:a16="http://schemas.microsoft.com/office/drawing/2014/main" id="{494205ED-B672-90AF-005C-050D466911E9}"/>
              </a:ext>
            </a:extLst>
          </p:cNvPr>
          <p:cNvCxnSpPr>
            <a:cxnSpLocks/>
            <a:stCxn id="52" idx="2"/>
            <a:endCxn id="54" idx="0"/>
          </p:cNvCxnSpPr>
          <p:nvPr/>
        </p:nvCxnSpPr>
        <p:spPr>
          <a:xfrm>
            <a:off x="4945373" y="1886039"/>
            <a:ext cx="708643" cy="1197021"/>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 Box 173">
            <a:extLst>
              <a:ext uri="{FF2B5EF4-FFF2-40B4-BE49-F238E27FC236}">
                <a16:creationId xmlns:a16="http://schemas.microsoft.com/office/drawing/2014/main" id="{8896AE24-37B8-6A14-92C1-12FA24FDE6A9}"/>
              </a:ext>
            </a:extLst>
          </p:cNvPr>
          <p:cNvSpPr txBox="1">
            <a:spLocks noChangeArrowheads="1"/>
          </p:cNvSpPr>
          <p:nvPr/>
        </p:nvSpPr>
        <p:spPr bwMode="auto">
          <a:xfrm rot="20185036">
            <a:off x="2152208" y="3110064"/>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000">
                <a:latin typeface="Montserrat" panose="00000500000000000000" pitchFamily="2" charset="0"/>
                <a:ea typeface="微软雅黑" panose="020B0503020204020204" pitchFamily="34" charset="-122"/>
                <a:cs typeface="Courier New" panose="02070309020205020404" pitchFamily="49" charset="0"/>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cs typeface="Times New Roman" panose="02020603050405020304" pitchFamily="18" charset="0"/>
              </a:rPr>
              <a:t>iBGP</a:t>
            </a:r>
          </a:p>
        </p:txBody>
      </p:sp>
      <p:cxnSp>
        <p:nvCxnSpPr>
          <p:cNvPr id="48" name="直接箭头连接符 47">
            <a:extLst>
              <a:ext uri="{FF2B5EF4-FFF2-40B4-BE49-F238E27FC236}">
                <a16:creationId xmlns:a16="http://schemas.microsoft.com/office/drawing/2014/main" id="{A6370146-3DA2-18FB-157D-C74DFC42C603}"/>
              </a:ext>
            </a:extLst>
          </p:cNvPr>
          <p:cNvCxnSpPr>
            <a:cxnSpLocks/>
            <a:stCxn id="55" idx="1"/>
            <a:endCxn id="38" idx="3"/>
          </p:cNvCxnSpPr>
          <p:nvPr/>
        </p:nvCxnSpPr>
        <p:spPr>
          <a:xfrm flipH="1" flipV="1">
            <a:off x="3251294" y="2914061"/>
            <a:ext cx="1472136" cy="697712"/>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51" name="Picture 52">
            <a:extLst>
              <a:ext uri="{FF2B5EF4-FFF2-40B4-BE49-F238E27FC236}">
                <a16:creationId xmlns:a16="http://schemas.microsoft.com/office/drawing/2014/main" id="{9E194938-09D2-E301-9088-DA7E9E474C8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8150" y="106578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2" name="Picture 52">
            <a:extLst>
              <a:ext uri="{FF2B5EF4-FFF2-40B4-BE49-F238E27FC236}">
                <a16:creationId xmlns:a16="http://schemas.microsoft.com/office/drawing/2014/main" id="{653DFF3D-F4F3-EF14-FE80-AAEF7F8E0F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5373" y="167003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4B6E582F-8540-E833-6141-7D0C4851863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1841" y="148928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4" name="Picture 52">
            <a:extLst>
              <a:ext uri="{FF2B5EF4-FFF2-40B4-BE49-F238E27FC236}">
                <a16:creationId xmlns:a16="http://schemas.microsoft.com/office/drawing/2014/main" id="{291D01FD-7DDF-CC7F-642B-F98E12A0CE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016" y="3083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a:extLst>
              <a:ext uri="{FF2B5EF4-FFF2-40B4-BE49-F238E27FC236}">
                <a16:creationId xmlns:a16="http://schemas.microsoft.com/office/drawing/2014/main" id="{B23F19B5-FBD8-B2DA-2BC8-3AE8550F0F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23430" y="35037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a:extLst>
              <a:ext uri="{FF2B5EF4-FFF2-40B4-BE49-F238E27FC236}">
                <a16:creationId xmlns:a16="http://schemas.microsoft.com/office/drawing/2014/main" id="{C2F07088-4A39-7C6E-9751-5D6CB111EC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3922" y="37302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a:extLst>
              <a:ext uri="{FF2B5EF4-FFF2-40B4-BE49-F238E27FC236}">
                <a16:creationId xmlns:a16="http://schemas.microsoft.com/office/drawing/2014/main" id="{3B8C52EB-0250-C6AF-E031-A13F05124D2C}"/>
              </a:ext>
            </a:extLst>
          </p:cNvPr>
          <p:cNvSpPr txBox="1">
            <a:spLocks noChangeArrowheads="1"/>
          </p:cNvSpPr>
          <p:nvPr/>
        </p:nvSpPr>
        <p:spPr bwMode="auto">
          <a:xfrm>
            <a:off x="4145564" y="1991188"/>
            <a:ext cx="4732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AS2</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58" name="Text Box 173">
            <a:extLst>
              <a:ext uri="{FF2B5EF4-FFF2-40B4-BE49-F238E27FC236}">
                <a16:creationId xmlns:a16="http://schemas.microsoft.com/office/drawing/2014/main" id="{3A9EB75D-903C-CB33-DB07-54AC0E40BB82}"/>
              </a:ext>
            </a:extLst>
          </p:cNvPr>
          <p:cNvSpPr txBox="1">
            <a:spLocks noChangeArrowheads="1"/>
          </p:cNvSpPr>
          <p:nvPr/>
        </p:nvSpPr>
        <p:spPr bwMode="auto">
          <a:xfrm>
            <a:off x="5393204" y="3410155"/>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AS3</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60" name="直接连接符 59">
            <a:extLst>
              <a:ext uri="{FF2B5EF4-FFF2-40B4-BE49-F238E27FC236}">
                <a16:creationId xmlns:a16="http://schemas.microsoft.com/office/drawing/2014/main" id="{B466AAE2-8EC7-9603-4283-80EA351E3687}"/>
              </a:ext>
            </a:extLst>
          </p:cNvPr>
          <p:cNvCxnSpPr>
            <a:stCxn id="53" idx="0"/>
            <a:endCxn id="51" idx="1"/>
          </p:cNvCxnSpPr>
          <p:nvPr/>
        </p:nvCxnSpPr>
        <p:spPr>
          <a:xfrm flipV="1">
            <a:off x="3951841" y="1173785"/>
            <a:ext cx="336309" cy="31550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A8F82B34-EF00-BED4-A817-2CF5F9C11D7F}"/>
              </a:ext>
            </a:extLst>
          </p:cNvPr>
          <p:cNvCxnSpPr>
            <a:cxnSpLocks/>
            <a:stCxn id="52" idx="0"/>
            <a:endCxn id="51" idx="2"/>
          </p:cNvCxnSpPr>
          <p:nvPr/>
        </p:nvCxnSpPr>
        <p:spPr>
          <a:xfrm flipH="1" flipV="1">
            <a:off x="4468150" y="1281785"/>
            <a:ext cx="477223" cy="38825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E2C03ED-DCE5-F443-5878-8BE23745180E}"/>
              </a:ext>
            </a:extLst>
          </p:cNvPr>
          <p:cNvCxnSpPr>
            <a:stCxn id="53" idx="3"/>
            <a:endCxn id="52" idx="1"/>
          </p:cNvCxnSpPr>
          <p:nvPr/>
        </p:nvCxnSpPr>
        <p:spPr>
          <a:xfrm>
            <a:off x="4131841" y="1597287"/>
            <a:ext cx="633532" cy="18075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 Box 173">
            <a:extLst>
              <a:ext uri="{FF2B5EF4-FFF2-40B4-BE49-F238E27FC236}">
                <a16:creationId xmlns:a16="http://schemas.microsoft.com/office/drawing/2014/main" id="{ECC96BC9-168C-155A-C440-4E079AFE683E}"/>
              </a:ext>
            </a:extLst>
          </p:cNvPr>
          <p:cNvSpPr txBox="1">
            <a:spLocks noChangeArrowheads="1"/>
          </p:cNvSpPr>
          <p:nvPr/>
        </p:nvSpPr>
        <p:spPr bwMode="auto">
          <a:xfrm rot="18989096">
            <a:off x="3739952" y="11559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67" name="Text Box 173">
            <a:extLst>
              <a:ext uri="{FF2B5EF4-FFF2-40B4-BE49-F238E27FC236}">
                <a16:creationId xmlns:a16="http://schemas.microsoft.com/office/drawing/2014/main" id="{993EEF88-02BF-DECC-27A3-E3B4A67C9F52}"/>
              </a:ext>
            </a:extLst>
          </p:cNvPr>
          <p:cNvSpPr txBox="1">
            <a:spLocks noChangeArrowheads="1"/>
          </p:cNvSpPr>
          <p:nvPr/>
        </p:nvSpPr>
        <p:spPr bwMode="auto">
          <a:xfrm rot="2413121">
            <a:off x="4624463" y="1284378"/>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68" name="Text Box 173">
            <a:extLst>
              <a:ext uri="{FF2B5EF4-FFF2-40B4-BE49-F238E27FC236}">
                <a16:creationId xmlns:a16="http://schemas.microsoft.com/office/drawing/2014/main" id="{501BEF62-BDCB-28B6-E78A-8AF0501CF188}"/>
              </a:ext>
            </a:extLst>
          </p:cNvPr>
          <p:cNvSpPr txBox="1">
            <a:spLocks noChangeArrowheads="1"/>
          </p:cNvSpPr>
          <p:nvPr/>
        </p:nvSpPr>
        <p:spPr bwMode="auto">
          <a:xfrm rot="1194818">
            <a:off x="4078503" y="1652409"/>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70" name="直接连接符 69">
            <a:extLst>
              <a:ext uri="{FF2B5EF4-FFF2-40B4-BE49-F238E27FC236}">
                <a16:creationId xmlns:a16="http://schemas.microsoft.com/office/drawing/2014/main" id="{FCAF6F37-315F-B1C0-041E-43985903B4EB}"/>
              </a:ext>
            </a:extLst>
          </p:cNvPr>
          <p:cNvCxnSpPr>
            <a:stCxn id="54" idx="1"/>
            <a:endCxn id="55" idx="0"/>
          </p:cNvCxnSpPr>
          <p:nvPr/>
        </p:nvCxnSpPr>
        <p:spPr>
          <a:xfrm flipH="1">
            <a:off x="4903430" y="3191060"/>
            <a:ext cx="570586" cy="31271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C75CB168-D4B8-3C7C-FD5D-2DFE98F579AA}"/>
              </a:ext>
            </a:extLst>
          </p:cNvPr>
          <p:cNvCxnSpPr>
            <a:stCxn id="56" idx="1"/>
            <a:endCxn id="55" idx="3"/>
          </p:cNvCxnSpPr>
          <p:nvPr/>
        </p:nvCxnSpPr>
        <p:spPr>
          <a:xfrm flipH="1" flipV="1">
            <a:off x="5083430" y="3611773"/>
            <a:ext cx="820492" cy="2264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2045E390-DA4B-4284-2781-4455DF4125C1}"/>
              </a:ext>
            </a:extLst>
          </p:cNvPr>
          <p:cNvCxnSpPr>
            <a:stCxn id="54" idx="3"/>
            <a:endCxn id="56" idx="0"/>
          </p:cNvCxnSpPr>
          <p:nvPr/>
        </p:nvCxnSpPr>
        <p:spPr>
          <a:xfrm>
            <a:off x="5834016" y="3191060"/>
            <a:ext cx="249906" cy="53914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75" name="Text Box 173">
            <a:extLst>
              <a:ext uri="{FF2B5EF4-FFF2-40B4-BE49-F238E27FC236}">
                <a16:creationId xmlns:a16="http://schemas.microsoft.com/office/drawing/2014/main" id="{D14C9A24-E1FF-CEC4-6566-A46E06BBEA58}"/>
              </a:ext>
            </a:extLst>
          </p:cNvPr>
          <p:cNvSpPr txBox="1">
            <a:spLocks noChangeArrowheads="1"/>
          </p:cNvSpPr>
          <p:nvPr/>
        </p:nvSpPr>
        <p:spPr bwMode="auto">
          <a:xfrm rot="19801580">
            <a:off x="4918705" y="315459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6" name="Text Box 173">
            <a:extLst>
              <a:ext uri="{FF2B5EF4-FFF2-40B4-BE49-F238E27FC236}">
                <a16:creationId xmlns:a16="http://schemas.microsoft.com/office/drawing/2014/main" id="{E71C3B0E-6598-1F69-305C-748867D6ED7B}"/>
              </a:ext>
            </a:extLst>
          </p:cNvPr>
          <p:cNvSpPr txBox="1">
            <a:spLocks noChangeArrowheads="1"/>
          </p:cNvSpPr>
          <p:nvPr/>
        </p:nvSpPr>
        <p:spPr bwMode="auto">
          <a:xfrm rot="3776635">
            <a:off x="5907447" y="3337520"/>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7" name="Text Box 173">
            <a:extLst>
              <a:ext uri="{FF2B5EF4-FFF2-40B4-BE49-F238E27FC236}">
                <a16:creationId xmlns:a16="http://schemas.microsoft.com/office/drawing/2014/main" id="{F1E8FA4F-AC35-94E1-A613-2E7E7E3A9B1E}"/>
              </a:ext>
            </a:extLst>
          </p:cNvPr>
          <p:cNvSpPr txBox="1">
            <a:spLocks noChangeArrowheads="1"/>
          </p:cNvSpPr>
          <p:nvPr/>
        </p:nvSpPr>
        <p:spPr bwMode="auto">
          <a:xfrm rot="735613">
            <a:off x="5348610" y="37812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8" name="Text Box 173">
            <a:extLst>
              <a:ext uri="{FF2B5EF4-FFF2-40B4-BE49-F238E27FC236}">
                <a16:creationId xmlns:a16="http://schemas.microsoft.com/office/drawing/2014/main" id="{6D028EA6-F5FE-9634-9B13-84C5FE367B4F}"/>
              </a:ext>
            </a:extLst>
          </p:cNvPr>
          <p:cNvSpPr txBox="1">
            <a:spLocks noChangeArrowheads="1"/>
          </p:cNvSpPr>
          <p:nvPr/>
        </p:nvSpPr>
        <p:spPr bwMode="auto">
          <a:xfrm>
            <a:off x="2099003" y="2650166"/>
            <a:ext cx="4411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AS1</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80" name="直接连接符 79">
            <a:extLst>
              <a:ext uri="{FF2B5EF4-FFF2-40B4-BE49-F238E27FC236}">
                <a16:creationId xmlns:a16="http://schemas.microsoft.com/office/drawing/2014/main" id="{9158FED1-B6C3-0465-BDA1-109B7145691A}"/>
              </a:ext>
            </a:extLst>
          </p:cNvPr>
          <p:cNvCxnSpPr>
            <a:cxnSpLocks/>
            <a:stCxn id="40" idx="3"/>
            <a:endCxn id="38" idx="1"/>
          </p:cNvCxnSpPr>
          <p:nvPr/>
        </p:nvCxnSpPr>
        <p:spPr>
          <a:xfrm flipV="1">
            <a:off x="2086264" y="2914061"/>
            <a:ext cx="805030" cy="32535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Text Box 173">
            <a:extLst>
              <a:ext uri="{FF2B5EF4-FFF2-40B4-BE49-F238E27FC236}">
                <a16:creationId xmlns:a16="http://schemas.microsoft.com/office/drawing/2014/main" id="{D504C42E-F026-E0E2-4B5E-AB8571E76FB4}"/>
              </a:ext>
            </a:extLst>
          </p:cNvPr>
          <p:cNvSpPr txBox="1">
            <a:spLocks noChangeArrowheads="1"/>
          </p:cNvSpPr>
          <p:nvPr/>
        </p:nvSpPr>
        <p:spPr bwMode="auto">
          <a:xfrm rot="1568321">
            <a:off x="3771815" y="299757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94" name="Text Box 173">
            <a:extLst>
              <a:ext uri="{FF2B5EF4-FFF2-40B4-BE49-F238E27FC236}">
                <a16:creationId xmlns:a16="http://schemas.microsoft.com/office/drawing/2014/main" id="{0C2DD281-0724-1D14-CF04-A7CB3451B984}"/>
              </a:ext>
            </a:extLst>
          </p:cNvPr>
          <p:cNvSpPr txBox="1">
            <a:spLocks noChangeArrowheads="1"/>
          </p:cNvSpPr>
          <p:nvPr/>
        </p:nvSpPr>
        <p:spPr bwMode="auto">
          <a:xfrm rot="3428695">
            <a:off x="4819400" y="2429605"/>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42349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2808000" y="144000"/>
            <a:ext cx="3528000" cy="400110"/>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0"/>
          </p:nvPr>
        </p:nvSpPr>
        <p:spPr>
          <a:xfrm>
            <a:off x="612000" y="648000"/>
            <a:ext cx="7920000" cy="39600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2808000" y="144000"/>
            <a:ext cx="3528000" cy="400110"/>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2808000" y="144000"/>
            <a:ext cx="3528000" cy="400110"/>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2808000" y="144000"/>
            <a:ext cx="3528000" cy="400110"/>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2808000" y="144000"/>
            <a:ext cx="3528000" cy="400110"/>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0"/>
          </p:nvPr>
        </p:nvSpPr>
        <p:spPr>
          <a:xfrm>
            <a:off x="612000" y="648000"/>
            <a:ext cx="7920000" cy="39600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2808000" y="144000"/>
            <a:ext cx="3528000" cy="400110"/>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0"/>
          </p:nvPr>
        </p:nvSpPr>
        <p:spPr>
          <a:xfrm>
            <a:off x="612000" y="648000"/>
            <a:ext cx="7920000" cy="39600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0"/>
          </p:nvPr>
        </p:nvSpPr>
        <p:spPr>
          <a:xfrm>
            <a:off x="612000" y="648000"/>
            <a:ext cx="7920000" cy="39600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155">
            <a:extLst>
              <a:ext uri="{FF2B5EF4-FFF2-40B4-BE49-F238E27FC236}">
                <a16:creationId xmlns:a16="http://schemas.microsoft.com/office/drawing/2014/main" id="{3EC9AA71-5FF0-003A-3F6A-3A2314B341CF}"/>
              </a:ext>
            </a:extLst>
          </p:cNvPr>
          <p:cNvSpPr>
            <a:spLocks noChangeShapeType="1"/>
          </p:cNvSpPr>
          <p:nvPr/>
        </p:nvSpPr>
        <p:spPr bwMode="auto">
          <a:xfrm>
            <a:off x="3705815" y="3163704"/>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 name="Group 206">
            <a:extLst>
              <a:ext uri="{FF2B5EF4-FFF2-40B4-BE49-F238E27FC236}">
                <a16:creationId xmlns:a16="http://schemas.microsoft.com/office/drawing/2014/main" id="{F0E484A7-2135-250F-F043-B9EC312E1048}"/>
              </a:ext>
            </a:extLst>
          </p:cNvPr>
          <p:cNvGrpSpPr>
            <a:grpSpLocks/>
          </p:cNvGrpSpPr>
          <p:nvPr/>
        </p:nvGrpSpPr>
        <p:grpSpPr bwMode="auto">
          <a:xfrm>
            <a:off x="5243380" y="2770359"/>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6" name="Oval 207">
              <a:extLst>
                <a:ext uri="{FF2B5EF4-FFF2-40B4-BE49-F238E27FC236}">
                  <a16:creationId xmlns:a16="http://schemas.microsoft.com/office/drawing/2014/main" id="{1331ED16-A164-A1F7-1562-A2AC691821A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 name="Oval 208">
              <a:extLst>
                <a:ext uri="{FF2B5EF4-FFF2-40B4-BE49-F238E27FC236}">
                  <a16:creationId xmlns:a16="http://schemas.microsoft.com/office/drawing/2014/main" id="{B85F8DC5-6FF7-2FD8-CA66-4D5667917D22}"/>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8" name="Oval 209">
              <a:extLst>
                <a:ext uri="{FF2B5EF4-FFF2-40B4-BE49-F238E27FC236}">
                  <a16:creationId xmlns:a16="http://schemas.microsoft.com/office/drawing/2014/main" id="{272645F6-F659-A5A9-BE2A-B690E48798F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9" name="Oval 210">
              <a:extLst>
                <a:ext uri="{FF2B5EF4-FFF2-40B4-BE49-F238E27FC236}">
                  <a16:creationId xmlns:a16="http://schemas.microsoft.com/office/drawing/2014/main" id="{536466C1-60D9-97B7-F40D-7E50C1997C44}"/>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0" name="Oval 211">
              <a:extLst>
                <a:ext uri="{FF2B5EF4-FFF2-40B4-BE49-F238E27FC236}">
                  <a16:creationId xmlns:a16="http://schemas.microsoft.com/office/drawing/2014/main" id="{1A0C184D-97B0-5677-9350-0CC721AEAEF3}"/>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1" name="Oval 212">
              <a:extLst>
                <a:ext uri="{FF2B5EF4-FFF2-40B4-BE49-F238E27FC236}">
                  <a16:creationId xmlns:a16="http://schemas.microsoft.com/office/drawing/2014/main" id="{7A15CB1E-CA59-58E6-E849-2DE3EF447992}"/>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2" name="Oval 213">
              <a:extLst>
                <a:ext uri="{FF2B5EF4-FFF2-40B4-BE49-F238E27FC236}">
                  <a16:creationId xmlns:a16="http://schemas.microsoft.com/office/drawing/2014/main" id="{FDD397DE-E835-B2FE-AFB4-1CD228469C0D}"/>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3" name="Oval 214">
              <a:extLst>
                <a:ext uri="{FF2B5EF4-FFF2-40B4-BE49-F238E27FC236}">
                  <a16:creationId xmlns:a16="http://schemas.microsoft.com/office/drawing/2014/main" id="{8C9417BE-1B8E-1210-1055-7F21EAF02DC6}"/>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4" name="Oval 215">
              <a:extLst>
                <a:ext uri="{FF2B5EF4-FFF2-40B4-BE49-F238E27FC236}">
                  <a16:creationId xmlns:a16="http://schemas.microsoft.com/office/drawing/2014/main" id="{C5941892-ADE1-FB6B-8D6B-58D6023FD9E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15" name="Group 216">
              <a:extLst>
                <a:ext uri="{FF2B5EF4-FFF2-40B4-BE49-F238E27FC236}">
                  <a16:creationId xmlns:a16="http://schemas.microsoft.com/office/drawing/2014/main" id="{35F634C8-8F78-E7C2-2AC5-5EC4800405CD}"/>
                </a:ext>
              </a:extLst>
            </p:cNvPr>
            <p:cNvGrpSpPr>
              <a:grpSpLocks/>
            </p:cNvGrpSpPr>
            <p:nvPr/>
          </p:nvGrpSpPr>
          <p:grpSpPr bwMode="auto">
            <a:xfrm>
              <a:off x="912" y="768"/>
              <a:ext cx="2386" cy="1553"/>
              <a:chOff x="912" y="768"/>
              <a:chExt cx="2386" cy="1553"/>
            </a:xfrm>
            <a:grpFill/>
          </p:grpSpPr>
          <p:sp>
            <p:nvSpPr>
              <p:cNvPr id="16" name="Oval 217">
                <a:extLst>
                  <a:ext uri="{FF2B5EF4-FFF2-40B4-BE49-F238E27FC236}">
                    <a16:creationId xmlns:a16="http://schemas.microsoft.com/office/drawing/2014/main" id="{6C4DECAD-DB37-3444-D19F-E534202AD100}"/>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7" name="Oval 218">
                <a:extLst>
                  <a:ext uri="{FF2B5EF4-FFF2-40B4-BE49-F238E27FC236}">
                    <a16:creationId xmlns:a16="http://schemas.microsoft.com/office/drawing/2014/main" id="{781F7398-D6D7-28D9-FE85-9B2F2F08147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8" name="Oval 219">
                <a:extLst>
                  <a:ext uri="{FF2B5EF4-FFF2-40B4-BE49-F238E27FC236}">
                    <a16:creationId xmlns:a16="http://schemas.microsoft.com/office/drawing/2014/main" id="{54AD4C8E-21E0-F15D-3390-E8107C565DD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9" name="Oval 220">
                <a:extLst>
                  <a:ext uri="{FF2B5EF4-FFF2-40B4-BE49-F238E27FC236}">
                    <a16:creationId xmlns:a16="http://schemas.microsoft.com/office/drawing/2014/main" id="{DAA31722-4D1B-1CA9-A704-AFDD46DA9561}"/>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0" name="Oval 221">
                <a:extLst>
                  <a:ext uri="{FF2B5EF4-FFF2-40B4-BE49-F238E27FC236}">
                    <a16:creationId xmlns:a16="http://schemas.microsoft.com/office/drawing/2014/main" id="{728C0F75-AC07-48BA-5473-3EAB3C136349}"/>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 name="Oval 222">
                <a:extLst>
                  <a:ext uri="{FF2B5EF4-FFF2-40B4-BE49-F238E27FC236}">
                    <a16:creationId xmlns:a16="http://schemas.microsoft.com/office/drawing/2014/main" id="{52D4866B-A3F2-8277-50FC-717FCB911FD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 name="Oval 223">
                <a:extLst>
                  <a:ext uri="{FF2B5EF4-FFF2-40B4-BE49-F238E27FC236}">
                    <a16:creationId xmlns:a16="http://schemas.microsoft.com/office/drawing/2014/main" id="{7E26DB11-44E1-84CE-44FD-54400E878CDD}"/>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 name="Oval 224">
                <a:extLst>
                  <a:ext uri="{FF2B5EF4-FFF2-40B4-BE49-F238E27FC236}">
                    <a16:creationId xmlns:a16="http://schemas.microsoft.com/office/drawing/2014/main" id="{C54485FF-BF0A-6CF0-7BEA-0BBC034BAC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 name="Oval 225">
                <a:extLst>
                  <a:ext uri="{FF2B5EF4-FFF2-40B4-BE49-F238E27FC236}">
                    <a16:creationId xmlns:a16="http://schemas.microsoft.com/office/drawing/2014/main" id="{EB1D5CE5-79B8-4BAE-0E73-CE2AC8DB42DD}"/>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 name="Text Box 175">
            <a:extLst>
              <a:ext uri="{FF2B5EF4-FFF2-40B4-BE49-F238E27FC236}">
                <a16:creationId xmlns:a16="http://schemas.microsoft.com/office/drawing/2014/main" id="{B6E97A49-1285-6406-9FD8-01DE4A755858}"/>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26" name="任意多边形: 形状 25">
            <a:extLst>
              <a:ext uri="{FF2B5EF4-FFF2-40B4-BE49-F238E27FC236}">
                <a16:creationId xmlns:a16="http://schemas.microsoft.com/office/drawing/2014/main" id="{6CA361E6-A480-5E10-D8E3-6E828202E983}"/>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7" name="Text Box 173">
            <a:extLst>
              <a:ext uri="{FF2B5EF4-FFF2-40B4-BE49-F238E27FC236}">
                <a16:creationId xmlns:a16="http://schemas.microsoft.com/office/drawing/2014/main" id="{DB06EEBA-5DF9-A427-C2F6-5C84EE3F36B6}"/>
              </a:ext>
            </a:extLst>
          </p:cNvPr>
          <p:cNvSpPr txBox="1">
            <a:spLocks noChangeArrowheads="1"/>
          </p:cNvSpPr>
          <p:nvPr/>
        </p:nvSpPr>
        <p:spPr bwMode="auto">
          <a:xfrm>
            <a:off x="2544671" y="4035299"/>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28" name="云形 27">
            <a:extLst>
              <a:ext uri="{FF2B5EF4-FFF2-40B4-BE49-F238E27FC236}">
                <a16:creationId xmlns:a16="http://schemas.microsoft.com/office/drawing/2014/main" id="{A74B7BE5-4BDF-7F5C-6C1A-5C8875813F2C}"/>
              </a:ext>
            </a:extLst>
          </p:cNvPr>
          <p:cNvSpPr/>
          <p:nvPr/>
        </p:nvSpPr>
        <p:spPr>
          <a:xfrm>
            <a:off x="6091271" y="3230286"/>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sp>
        <p:nvSpPr>
          <p:cNvPr id="29" name="Text Box 173">
            <a:extLst>
              <a:ext uri="{FF2B5EF4-FFF2-40B4-BE49-F238E27FC236}">
                <a16:creationId xmlns:a16="http://schemas.microsoft.com/office/drawing/2014/main" id="{B7E7B18F-872A-F8FE-DA48-DD28221C9628}"/>
              </a:ext>
            </a:extLst>
          </p:cNvPr>
          <p:cNvSpPr txBox="1">
            <a:spLocks noChangeArrowheads="1"/>
          </p:cNvSpPr>
          <p:nvPr/>
        </p:nvSpPr>
        <p:spPr bwMode="auto">
          <a:xfrm>
            <a:off x="2912101" y="4182450"/>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0" name="Text Box 173">
            <a:extLst>
              <a:ext uri="{FF2B5EF4-FFF2-40B4-BE49-F238E27FC236}">
                <a16:creationId xmlns:a16="http://schemas.microsoft.com/office/drawing/2014/main" id="{CA4A6E74-9A37-8176-BA1E-BAB38B52EE7A}"/>
              </a:ext>
            </a:extLst>
          </p:cNvPr>
          <p:cNvSpPr txBox="1">
            <a:spLocks noChangeArrowheads="1"/>
          </p:cNvSpPr>
          <p:nvPr/>
        </p:nvSpPr>
        <p:spPr bwMode="auto">
          <a:xfrm>
            <a:off x="3256504" y="2827532"/>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1" name="Text Box 173">
            <a:extLst>
              <a:ext uri="{FF2B5EF4-FFF2-40B4-BE49-F238E27FC236}">
                <a16:creationId xmlns:a16="http://schemas.microsoft.com/office/drawing/2014/main" id="{84BA8B33-059F-6B24-30A2-23780940BC5F}"/>
              </a:ext>
            </a:extLst>
          </p:cNvPr>
          <p:cNvSpPr txBox="1">
            <a:spLocks noChangeArrowheads="1"/>
          </p:cNvSpPr>
          <p:nvPr/>
        </p:nvSpPr>
        <p:spPr bwMode="auto">
          <a:xfrm>
            <a:off x="1849063" y="3600011"/>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2" name="Text Box 173">
            <a:extLst>
              <a:ext uri="{FF2B5EF4-FFF2-40B4-BE49-F238E27FC236}">
                <a16:creationId xmlns:a16="http://schemas.microsoft.com/office/drawing/2014/main" id="{E31F47ED-7E1A-8DF4-D63D-B12C99E497BF}"/>
              </a:ext>
            </a:extLst>
          </p:cNvPr>
          <p:cNvSpPr txBox="1">
            <a:spLocks noChangeArrowheads="1"/>
          </p:cNvSpPr>
          <p:nvPr/>
        </p:nvSpPr>
        <p:spPr bwMode="auto">
          <a:xfrm>
            <a:off x="2442342" y="2891596"/>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3" name="Line 154">
            <a:extLst>
              <a:ext uri="{FF2B5EF4-FFF2-40B4-BE49-F238E27FC236}">
                <a16:creationId xmlns:a16="http://schemas.microsoft.com/office/drawing/2014/main" id="{52510F3B-F7BA-20A8-7D4E-2FD9D6BBB014}"/>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4" name="Line 154">
            <a:extLst>
              <a:ext uri="{FF2B5EF4-FFF2-40B4-BE49-F238E27FC236}">
                <a16:creationId xmlns:a16="http://schemas.microsoft.com/office/drawing/2014/main" id="{F9CB1EEB-C594-C63C-8829-72DAA09D37F9}"/>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5" name="Line 154">
            <a:extLst>
              <a:ext uri="{FF2B5EF4-FFF2-40B4-BE49-F238E27FC236}">
                <a16:creationId xmlns:a16="http://schemas.microsoft.com/office/drawing/2014/main" id="{89374169-4A6B-3FCF-688B-B70FD9DCA034}"/>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36" name="Picture 52">
            <a:extLst>
              <a:ext uri="{FF2B5EF4-FFF2-40B4-BE49-F238E27FC236}">
                <a16:creationId xmlns:a16="http://schemas.microsoft.com/office/drawing/2014/main" id="{F7E1ECCA-62B3-4FCB-7499-57BB6DFAFB0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 name="Picture 46">
            <a:extLst>
              <a:ext uri="{FF2B5EF4-FFF2-40B4-BE49-F238E27FC236}">
                <a16:creationId xmlns:a16="http://schemas.microsoft.com/office/drawing/2014/main" id="{2586DBBC-E25A-1611-0473-779FF059727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317709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 name="Text Box 173">
            <a:extLst>
              <a:ext uri="{FF2B5EF4-FFF2-40B4-BE49-F238E27FC236}">
                <a16:creationId xmlns:a16="http://schemas.microsoft.com/office/drawing/2014/main" id="{28473EE8-B8E6-09F2-F807-3DC1B6BD6947}"/>
              </a:ext>
            </a:extLst>
          </p:cNvPr>
          <p:cNvSpPr txBox="1">
            <a:spLocks noChangeArrowheads="1"/>
          </p:cNvSpPr>
          <p:nvPr/>
        </p:nvSpPr>
        <p:spPr bwMode="auto">
          <a:xfrm>
            <a:off x="5360920" y="2923484"/>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39" name="Picture 52">
            <a:extLst>
              <a:ext uri="{FF2B5EF4-FFF2-40B4-BE49-F238E27FC236}">
                <a16:creationId xmlns:a16="http://schemas.microsoft.com/office/drawing/2014/main" id="{B58927A2-FF45-91F8-3788-20D8568CE7B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2A8A3F0-5B29-E954-0737-B6DC3288B59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 name="Picture 52">
            <a:extLst>
              <a:ext uri="{FF2B5EF4-FFF2-40B4-BE49-F238E27FC236}">
                <a16:creationId xmlns:a16="http://schemas.microsoft.com/office/drawing/2014/main" id="{A652A031-ABFA-B2B6-DE46-9D7F12FE8F7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箭头: 下 41">
            <a:extLst>
              <a:ext uri="{FF2B5EF4-FFF2-40B4-BE49-F238E27FC236}">
                <a16:creationId xmlns:a16="http://schemas.microsoft.com/office/drawing/2014/main" id="{8C05F32E-6E6C-9BC8-05F2-E26E52B98006}"/>
              </a:ext>
            </a:extLst>
          </p:cNvPr>
          <p:cNvSpPr/>
          <p:nvPr/>
        </p:nvSpPr>
        <p:spPr>
          <a:xfrm rot="5665007">
            <a:off x="4461901" y="284208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43" name="Text Box 173">
            <a:extLst>
              <a:ext uri="{FF2B5EF4-FFF2-40B4-BE49-F238E27FC236}">
                <a16:creationId xmlns:a16="http://schemas.microsoft.com/office/drawing/2014/main" id="{2FCD752B-25B1-9069-A13C-33885B6718CA}"/>
              </a:ext>
            </a:extLst>
          </p:cNvPr>
          <p:cNvSpPr txBox="1">
            <a:spLocks noChangeArrowheads="1"/>
          </p:cNvSpPr>
          <p:nvPr/>
        </p:nvSpPr>
        <p:spPr bwMode="auto">
          <a:xfrm rot="446638">
            <a:off x="4295460" y="2797668"/>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50" name="Line 155">
            <a:extLst>
              <a:ext uri="{FF2B5EF4-FFF2-40B4-BE49-F238E27FC236}">
                <a16:creationId xmlns:a16="http://schemas.microsoft.com/office/drawing/2014/main" id="{4C18F1E2-CC4E-8C71-4022-19C16990B14C}"/>
              </a:ext>
            </a:extLst>
          </p:cNvPr>
          <p:cNvSpPr>
            <a:spLocks noChangeShapeType="1"/>
          </p:cNvSpPr>
          <p:nvPr/>
        </p:nvSpPr>
        <p:spPr bwMode="auto">
          <a:xfrm>
            <a:off x="3705815" y="1020579"/>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1"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627234"/>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52"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3"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4"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5"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6"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7"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8"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9"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0"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61"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62"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3"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4"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5"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6"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7"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8"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9"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0"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71"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98634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72" name="任意多边形: 形状 71">
            <a:extLst>
              <a:ext uri="{FF2B5EF4-FFF2-40B4-BE49-F238E27FC236}">
                <a16:creationId xmlns:a16="http://schemas.microsoft.com/office/drawing/2014/main" id="{62B7A8A0-5C2F-A914-21E6-A66577337C61}"/>
              </a:ext>
            </a:extLst>
          </p:cNvPr>
          <p:cNvSpPr>
            <a:spLocks noChangeArrowheads="1"/>
          </p:cNvSpPr>
          <p:nvPr/>
        </p:nvSpPr>
        <p:spPr bwMode="auto">
          <a:xfrm>
            <a:off x="1911487" y="830286"/>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3"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1892174"/>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74" name="云形 73">
            <a:extLst>
              <a:ext uri="{FF2B5EF4-FFF2-40B4-BE49-F238E27FC236}">
                <a16:creationId xmlns:a16="http://schemas.microsoft.com/office/drawing/2014/main" id="{D9818E91-3D52-B35B-F267-A488D1C6DFA6}"/>
              </a:ext>
            </a:extLst>
          </p:cNvPr>
          <p:cNvSpPr/>
          <p:nvPr/>
        </p:nvSpPr>
        <p:spPr>
          <a:xfrm>
            <a:off x="6091271" y="1087161"/>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sp>
        <p:nvSpPr>
          <p:cNvPr id="75"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2039325"/>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6"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684407"/>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7"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145688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8"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748471"/>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1136796"/>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1840338"/>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1020580"/>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100660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103397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360920" y="780359"/>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79" name="Picture 52">
            <a:extLst>
              <a:ext uri="{FF2B5EF4-FFF2-40B4-BE49-F238E27FC236}">
                <a16:creationId xmlns:a16="http://schemas.microsoft.com/office/drawing/2014/main" id="{2DC7A4AD-77C6-7602-8517-82704181771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183628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0" name="Picture 52">
            <a:extLst>
              <a:ext uri="{FF2B5EF4-FFF2-40B4-BE49-F238E27FC236}">
                <a16:creationId xmlns:a16="http://schemas.microsoft.com/office/drawing/2014/main" id="{167CE67A-9568-26C9-6C72-5ED28690525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92079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171167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665007">
            <a:off x="4461901" y="698959"/>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446638">
            <a:off x="4295460" y="654543"/>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1149553"/>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1152603"/>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197833" y="1441699"/>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1309333"/>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2136" y="1530097"/>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1292906"/>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7680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2808000" y="144000"/>
            <a:ext cx="3528000" cy="400110"/>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0"/>
          </p:nvPr>
        </p:nvSpPr>
        <p:spPr>
          <a:xfrm>
            <a:off x="612000" y="648000"/>
            <a:ext cx="7920000" cy="39600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0"/>
          </p:nvPr>
        </p:nvSpPr>
        <p:spPr>
          <a:xfrm>
            <a:off x="612000" y="648000"/>
            <a:ext cx="7920000" cy="39600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2808000" y="144000"/>
            <a:ext cx="3528000" cy="400110"/>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2808000" y="144000"/>
            <a:ext cx="3528000" cy="400110"/>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70793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179883" y="1697935"/>
            <a:ext cx="1273513" cy="924379"/>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495908" y="1996757"/>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4954119"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64744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700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075279" y="2691373"/>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2400300" y="1570987"/>
            <a:ext cx="1449084" cy="1426990"/>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257952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788792" y="2831813"/>
            <a:ext cx="869504" cy="1881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217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6889216" y="2138543"/>
            <a:ext cx="326458" cy="382814"/>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0401" y="27085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3383434" y="2345341"/>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3114720" y="1590662"/>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rot="203476">
            <a:off x="3749786" y="2890756"/>
            <a:ext cx="9669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low speed</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rot="21443353">
            <a:off x="3701739" y="1474081"/>
            <a:ext cx="1050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high speed</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139936" y="184531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R7</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765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530584" y="232401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R6</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406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427802" y="1480740"/>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2808000" y="144000"/>
            <a:ext cx="3528000" cy="400110"/>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2808000" y="144000"/>
            <a:ext cx="3528000" cy="400110"/>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443660" y="1813268"/>
            <a:ext cx="94501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71139"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R8</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R6</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R7</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2808000" y="144000"/>
            <a:ext cx="3528000" cy="400110"/>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407434"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303498"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27349"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2298"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743144" y="2477412"/>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752451" y="1496030"/>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345010" y="2268509"/>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38289" y="1560094"/>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677649"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855615"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123618"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845"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5616"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R6</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R7</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R8</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R9</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2808000" y="144000"/>
            <a:ext cx="3528000" cy="400110"/>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19050">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19050">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rgbClr val="FFC000"/>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rgbClr val="FFC000"/>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2808000" y="144000"/>
            <a:ext cx="3528000" cy="400110"/>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2808000" y="144000"/>
            <a:ext cx="3528000" cy="400110"/>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0"/>
          </p:nvPr>
        </p:nvSpPr>
        <p:spPr>
          <a:xfrm>
            <a:off x="612000" y="648000"/>
            <a:ext cx="7920000" cy="39600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2808000" y="144000"/>
            <a:ext cx="3528000" cy="400110"/>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2808000" y="144000"/>
            <a:ext cx="3528000" cy="400110"/>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2808000" y="144000"/>
            <a:ext cx="3528000" cy="400110"/>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2808000" y="144000"/>
            <a:ext cx="3528000" cy="400110"/>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2808000" y="144000"/>
            <a:ext cx="3528000" cy="400110"/>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0"/>
          </p:nvPr>
        </p:nvSpPr>
        <p:spPr>
          <a:xfrm>
            <a:off x="612000" y="648000"/>
            <a:ext cx="7920000" cy="39600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2808000" y="144000"/>
            <a:ext cx="3528000" cy="400110"/>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0"/>
          </p:nvPr>
        </p:nvSpPr>
        <p:spPr>
          <a:xfrm>
            <a:off x="501650" y="647700"/>
            <a:ext cx="3959225" cy="3960813"/>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2808000" y="144000"/>
            <a:ext cx="3528000" cy="400110"/>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0"/>
          </p:nvPr>
        </p:nvSpPr>
        <p:spPr>
          <a:xfrm>
            <a:off x="501650" y="647700"/>
            <a:ext cx="3959225" cy="3960813"/>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2808000" y="144000"/>
            <a:ext cx="3528000" cy="400110"/>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0"/>
          </p:nvPr>
        </p:nvSpPr>
        <p:spPr>
          <a:xfrm>
            <a:off x="501650" y="647700"/>
            <a:ext cx="3959225" cy="3960813"/>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836904"/>
            <a:ext cx="4320000" cy="461665"/>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2808000" y="144000"/>
            <a:ext cx="3528000" cy="400110"/>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0"/>
          </p:nvPr>
        </p:nvSpPr>
        <p:spPr>
          <a:xfrm>
            <a:off x="612000" y="648000"/>
            <a:ext cx="7920000" cy="39600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2808000" y="144000"/>
            <a:ext cx="3528000" cy="400110"/>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0"/>
          </p:nvPr>
        </p:nvSpPr>
        <p:spPr>
          <a:xfrm>
            <a:off x="612000" y="648000"/>
            <a:ext cx="7920000" cy="39600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2808000" y="144000"/>
            <a:ext cx="3528000" cy="400110"/>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0"/>
          </p:nvPr>
        </p:nvSpPr>
        <p:spPr>
          <a:xfrm>
            <a:off x="612000" y="648000"/>
            <a:ext cx="7920000" cy="39600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2808000" y="144000"/>
            <a:ext cx="3528000" cy="400110"/>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0"/>
          </p:nvPr>
        </p:nvSpPr>
        <p:spPr>
          <a:xfrm>
            <a:off x="612000" y="648000"/>
            <a:ext cx="7920000" cy="39600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2808000" y="144000"/>
            <a:ext cx="3528000" cy="400110"/>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2808000" y="144000"/>
            <a:ext cx="3528000" cy="400110"/>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0"/>
          </p:nvPr>
        </p:nvSpPr>
        <p:spPr>
          <a:xfrm>
            <a:off x="612000" y="648000"/>
            <a:ext cx="7920000" cy="39600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2808000" y="144000"/>
            <a:ext cx="3528000" cy="400110"/>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0"/>
          </p:nvPr>
        </p:nvSpPr>
        <p:spPr>
          <a:xfrm>
            <a:off x="612000" y="648000"/>
            <a:ext cx="7920000" cy="39600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2808000" y="144000"/>
            <a:ext cx="3528000" cy="400110"/>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0"/>
          </p:nvPr>
        </p:nvSpPr>
        <p:spPr>
          <a:xfrm>
            <a:off x="612000" y="648000"/>
            <a:ext cx="7920000" cy="39600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2808000" y="144000"/>
            <a:ext cx="3528000" cy="400110"/>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0"/>
          </p:nvPr>
        </p:nvSpPr>
        <p:spPr>
          <a:xfrm>
            <a:off x="612000" y="648000"/>
            <a:ext cx="7920000" cy="39600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2808000" y="144000"/>
            <a:ext cx="3528000" cy="400110"/>
          </a:xfrm>
        </p:spPr>
        <p:txBody>
          <a:bodyPr/>
          <a:lstStyle/>
          <a:p>
            <a:r>
              <a:rPr lang="en-US" altLang="zh-CN" dirty="0"/>
              <a:t>IGMP </a:t>
            </a:r>
            <a:r>
              <a:rPr lang="zh-CN" altLang="en-US" dirty="0"/>
              <a:t>使多播路由器知道多播组成员信息 </a:t>
            </a:r>
          </a:p>
        </p:txBody>
      </p:sp>
      <p:sp>
        <p:nvSpPr>
          <p:cNvPr id="2" name="内容占位符 1">
            <a:extLst>
              <a:ext uri="{FF2B5EF4-FFF2-40B4-BE49-F238E27FC236}">
                <a16:creationId xmlns:a16="http://schemas.microsoft.com/office/drawing/2014/main" id="{2561D0E6-A27E-D61A-5E89-5B0F8414ABB9}"/>
              </a:ext>
            </a:extLst>
          </p:cNvPr>
          <p:cNvSpPr>
            <a:spLocks noGrp="1"/>
          </p:cNvSpPr>
          <p:nvPr>
            <p:ph sz="quarter" idx="10"/>
          </p:nvPr>
        </p:nvSpPr>
        <p:spPr>
          <a:xfrm>
            <a:off x="612000" y="648000"/>
            <a:ext cx="7920000" cy="39600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2808000" y="144000"/>
            <a:ext cx="3528000" cy="400110"/>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0"/>
          </p:nvPr>
        </p:nvSpPr>
        <p:spPr>
          <a:xfrm>
            <a:off x="612000" y="648000"/>
            <a:ext cx="7920000" cy="39600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2808000" y="144000"/>
            <a:ext cx="3528000" cy="400110"/>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0"/>
          </p:nvPr>
        </p:nvSpPr>
        <p:spPr>
          <a:xfrm>
            <a:off x="612000" y="648000"/>
            <a:ext cx="7920000" cy="39600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2808000" y="144000"/>
            <a:ext cx="3528000" cy="400110"/>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0"/>
          </p:nvPr>
        </p:nvSpPr>
        <p:spPr>
          <a:xfrm>
            <a:off x="612000" y="648000"/>
            <a:ext cx="7920000" cy="39600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2808000" y="144000"/>
            <a:ext cx="3528000" cy="400110"/>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2808000" y="144000"/>
            <a:ext cx="3528000" cy="400110"/>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0"/>
          </p:nvPr>
        </p:nvSpPr>
        <p:spPr>
          <a:xfrm>
            <a:off x="612000" y="648000"/>
            <a:ext cx="7920000" cy="39600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2808000" y="144000"/>
            <a:ext cx="3528000" cy="400110"/>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0"/>
          </p:nvPr>
        </p:nvSpPr>
        <p:spPr>
          <a:xfrm>
            <a:off x="612000" y="648000"/>
            <a:ext cx="7920000" cy="39600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2808000" y="144000"/>
            <a:ext cx="3528000" cy="400110"/>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3E6FE68F-770F-2AAB-0E09-7F58EF0F6CA8}"/>
              </a:ext>
            </a:extLst>
          </p:cNvPr>
          <p:cNvSpPr>
            <a:spLocks noGrp="1"/>
          </p:cNvSpPr>
          <p:nvPr>
            <p:ph sz="quarter" idx="10"/>
          </p:nvPr>
        </p:nvSpPr>
        <p:spPr>
          <a:xfrm>
            <a:off x="612000" y="648000"/>
            <a:ext cx="7920000" cy="39600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2808000" y="144000"/>
            <a:ext cx="3528000" cy="400110"/>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0"/>
          </p:nvPr>
        </p:nvSpPr>
        <p:spPr>
          <a:xfrm>
            <a:off x="612000" y="648000"/>
            <a:ext cx="7920000" cy="39600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2808000" y="144000"/>
            <a:ext cx="3528000" cy="400110"/>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0"/>
          </p:nvPr>
        </p:nvSpPr>
        <p:spPr>
          <a:xfrm>
            <a:off x="612000" y="648000"/>
            <a:ext cx="7920000" cy="39600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2808000" y="144000"/>
            <a:ext cx="3528000" cy="400110"/>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0"/>
          </p:nvPr>
        </p:nvSpPr>
        <p:spPr>
          <a:xfrm>
            <a:off x="501650" y="647700"/>
            <a:ext cx="3959225" cy="3960813"/>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2808000" y="144000"/>
            <a:ext cx="3528000" cy="400110"/>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0"/>
          </p:nvPr>
        </p:nvSpPr>
        <p:spPr>
          <a:xfrm>
            <a:off x="612000" y="648000"/>
            <a:ext cx="7920000" cy="39600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2808000" y="144000"/>
            <a:ext cx="3528000" cy="400110"/>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0"/>
          </p:nvPr>
        </p:nvSpPr>
        <p:spPr>
          <a:xfrm>
            <a:off x="612000" y="648000"/>
            <a:ext cx="7920000" cy="39600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2808000" y="144000"/>
            <a:ext cx="3528000" cy="400110"/>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0"/>
          </p:nvPr>
        </p:nvSpPr>
        <p:spPr>
          <a:xfrm>
            <a:off x="612000" y="648000"/>
            <a:ext cx="7920000" cy="39600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2808000" y="144000"/>
            <a:ext cx="3528000" cy="400110"/>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0"/>
          </p:nvPr>
        </p:nvSpPr>
        <p:spPr>
          <a:xfrm>
            <a:off x="612000" y="648000"/>
            <a:ext cx="7920000" cy="39600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2808000" y="144000"/>
            <a:ext cx="3528000" cy="400110"/>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0"/>
          </p:nvPr>
        </p:nvSpPr>
        <p:spPr>
          <a:xfrm>
            <a:off x="612000" y="648000"/>
            <a:ext cx="7920000" cy="39600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2808000" y="144000"/>
            <a:ext cx="3528000" cy="400110"/>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2808000" y="144000"/>
            <a:ext cx="3528000" cy="400110"/>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0"/>
          </p:nvPr>
        </p:nvSpPr>
        <p:spPr>
          <a:xfrm>
            <a:off x="612000" y="648000"/>
            <a:ext cx="7920000" cy="39600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2808000" y="144000"/>
            <a:ext cx="3528000" cy="400110"/>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0"/>
          </p:nvPr>
        </p:nvSpPr>
        <p:spPr>
          <a:xfrm>
            <a:off x="612000" y="648000"/>
            <a:ext cx="7920000" cy="39600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2808000" y="144000"/>
            <a:ext cx="3528000" cy="400110"/>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0"/>
          </p:nvPr>
        </p:nvSpPr>
        <p:spPr>
          <a:xfrm>
            <a:off x="612000" y="648000"/>
            <a:ext cx="7920000" cy="39600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836904"/>
            <a:ext cx="4320000" cy="461665"/>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2808000" y="144000"/>
            <a:ext cx="3528000" cy="400110"/>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0"/>
          </p:nvPr>
        </p:nvSpPr>
        <p:spPr>
          <a:xfrm>
            <a:off x="612000" y="648000"/>
            <a:ext cx="7920000" cy="39600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2808000" y="144000"/>
            <a:ext cx="3528000" cy="400110"/>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0"/>
          </p:nvPr>
        </p:nvSpPr>
        <p:spPr>
          <a:xfrm>
            <a:off x="612000" y="648000"/>
            <a:ext cx="7920000" cy="39600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2808000" y="144000"/>
            <a:ext cx="3528000" cy="400110"/>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0"/>
          </p:nvPr>
        </p:nvSpPr>
        <p:spPr>
          <a:xfrm>
            <a:off x="612000" y="648000"/>
            <a:ext cx="7920000" cy="39600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2808000" y="144000"/>
            <a:ext cx="3528000" cy="400110"/>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0"/>
          </p:nvPr>
        </p:nvSpPr>
        <p:spPr>
          <a:xfrm>
            <a:off x="612000" y="648000"/>
            <a:ext cx="7920000" cy="39600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2808000" y="144000"/>
            <a:ext cx="3528000" cy="400110"/>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0"/>
          </p:nvPr>
        </p:nvSpPr>
        <p:spPr>
          <a:xfrm>
            <a:off x="612000" y="648000"/>
            <a:ext cx="7920000" cy="39600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2808000" y="144000"/>
            <a:ext cx="3528000" cy="400110"/>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0"/>
          </p:nvPr>
        </p:nvSpPr>
        <p:spPr>
          <a:xfrm>
            <a:off x="612000" y="648000"/>
            <a:ext cx="7920000" cy="39600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2" name="Text Box 70"/>
              <p:cNvSpPr txBox="1">
                <a:spLocks noChangeArrowheads="1"/>
              </p:cNvSpPr>
              <p:nvPr/>
            </p:nvSpPr>
            <p:spPr bwMode="auto">
              <a:xfrm>
                <a:off x="5316" y="1729"/>
                <a:ext cx="272"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0" name="Text Box 7"/>
              <p:cNvSpPr txBox="1">
                <a:spLocks noChangeArrowheads="1"/>
              </p:cNvSpPr>
              <p:nvPr/>
            </p:nvSpPr>
            <p:spPr bwMode="auto">
              <a:xfrm>
                <a:off x="25" y="1779"/>
                <a:ext cx="27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402044083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A</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55" name="Text Box 53"/>
          <p:cNvSpPr txBox="1">
            <a:spLocks noChangeArrowheads="1"/>
          </p:cNvSpPr>
          <p:nvPr/>
        </p:nvSpPr>
        <p:spPr bwMode="auto">
          <a:xfrm>
            <a:off x="3986072" y="2352892"/>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B</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7" name="Text Box 55"/>
          <p:cNvSpPr txBox="1">
            <a:spLocks noChangeArrowheads="1"/>
          </p:cNvSpPr>
          <p:nvPr/>
        </p:nvSpPr>
        <p:spPr bwMode="auto">
          <a:xfrm>
            <a:off x="3060072" y="2310507"/>
            <a:ext cx="3561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1</a:t>
            </a:r>
            <a:endParaRPr kumimoji="1" lang="en-US" altLang="zh-CN" sz="1400" b="1">
              <a:latin typeface="Montserrat" panose="00000500000000000000" pitchFamily="2" charset="0"/>
              <a:ea typeface="微软雅黑 Light" panose="020B0502040204020203" pitchFamily="34" charset="-122"/>
            </a:endParaRPr>
          </a:p>
        </p:txBody>
      </p:sp>
      <p:sp>
        <p:nvSpPr>
          <p:cNvPr id="58" name="Text Box 56"/>
          <p:cNvSpPr txBox="1">
            <a:spLocks noChangeArrowheads="1"/>
          </p:cNvSpPr>
          <p:nvPr/>
        </p:nvSpPr>
        <p:spPr bwMode="auto">
          <a:xfrm>
            <a:off x="5445977" y="2265129"/>
            <a:ext cx="3802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2</a:t>
            </a:r>
            <a:endParaRPr kumimoji="1" lang="en-US" altLang="zh-CN" sz="1400" b="1">
              <a:latin typeface="Montserrat" panose="00000500000000000000" pitchFamily="2" charset="0"/>
              <a:ea typeface="微软雅黑 Light" panose="020B0502040204020203" pitchFamily="34" charset="-122"/>
            </a:endParaRPr>
          </a:p>
        </p:txBody>
      </p:sp>
      <p:sp>
        <p:nvSpPr>
          <p:cNvPr id="59" name="Text Box 57"/>
          <p:cNvSpPr txBox="1">
            <a:spLocks noChangeArrowheads="1"/>
          </p:cNvSpPr>
          <p:nvPr/>
        </p:nvSpPr>
        <p:spPr bwMode="auto">
          <a:xfrm>
            <a:off x="3841000" y="2059081"/>
            <a:ext cx="11015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Light" panose="020B0502040204020203" pitchFamily="34" charset="-122"/>
              </a:rPr>
              <a:t>Tunneling</a:t>
            </a:r>
            <a:endParaRPr kumimoji="1"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nvGrpSpPr>
          <p:cNvPr id="62" name="Group 60"/>
          <p:cNvGrpSpPr>
            <a:grpSpLocks/>
          </p:cNvGrpSpPr>
          <p:nvPr/>
        </p:nvGrpSpPr>
        <p:grpSpPr bwMode="auto">
          <a:xfrm>
            <a:off x="2937953" y="1689456"/>
            <a:ext cx="3005330" cy="471940"/>
            <a:chOff x="1385" y="1348"/>
            <a:chExt cx="2751" cy="468"/>
          </a:xfrm>
        </p:grpSpPr>
        <p:sp>
          <p:nvSpPr>
            <p:cNvPr id="63" name="Text Box 61"/>
            <p:cNvSpPr txBox="1">
              <a:spLocks noChangeArrowheads="1"/>
            </p:cNvSpPr>
            <p:nvPr/>
          </p:nvSpPr>
          <p:spPr bwMode="auto">
            <a:xfrm>
              <a:off x="1385" y="1348"/>
              <a:ext cx="77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Light" panose="020B0502040204020203"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5" name="Text Box 63"/>
            <p:cNvSpPr txBox="1">
              <a:spLocks noChangeArrowheads="1"/>
            </p:cNvSpPr>
            <p:nvPr/>
          </p:nvSpPr>
          <p:spPr bwMode="auto">
            <a:xfrm>
              <a:off x="3293" y="1367"/>
              <a:ext cx="843"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Light" panose="020B0502040204020203"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Montserrat" panose="00000500000000000000" pitchFamily="2" charset="0"/>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2808000" y="144000"/>
            <a:ext cx="3528000" cy="400110"/>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2808000" y="144000"/>
            <a:ext cx="3528000" cy="400110"/>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0"/>
          </p:nvPr>
        </p:nvSpPr>
        <p:spPr>
          <a:xfrm>
            <a:off x="612000" y="648000"/>
            <a:ext cx="7920000" cy="39600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836904"/>
            <a:ext cx="4320000" cy="461665"/>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2808000" y="144000"/>
            <a:ext cx="3528000" cy="400110"/>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0"/>
          </p:nvPr>
        </p:nvSpPr>
        <p:spPr>
          <a:xfrm>
            <a:off x="612000" y="648000"/>
            <a:ext cx="7920000" cy="39600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2808000" y="144000"/>
            <a:ext cx="3528000" cy="400110"/>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0"/>
          </p:nvPr>
        </p:nvSpPr>
        <p:spPr>
          <a:xfrm>
            <a:off x="612000" y="648000"/>
            <a:ext cx="7920000" cy="39600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2808000" y="144000"/>
            <a:ext cx="3528000" cy="400110"/>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3247C-D535-E22C-96C8-C66321228FB5}"/>
            </a:ext>
          </a:extLst>
        </p:cNvPr>
        <p:cNvGrpSpPr/>
        <p:nvPr/>
      </p:nvGrpSpPr>
      <p:grpSpPr>
        <a:xfrm>
          <a:off x="0" y="0"/>
          <a:ext cx="0" cy="0"/>
          <a:chOff x="0" y="0"/>
          <a:chExt cx="0" cy="0"/>
        </a:xfrm>
      </p:grpSpPr>
      <p:sp>
        <p:nvSpPr>
          <p:cNvPr id="52" name="圆角矩形 51">
            <a:extLst>
              <a:ext uri="{FF2B5EF4-FFF2-40B4-BE49-F238E27FC236}">
                <a16:creationId xmlns:a16="http://schemas.microsoft.com/office/drawing/2014/main" id="{42740948-BCE1-1747-4BB7-35A647841745}"/>
              </a:ext>
            </a:extLst>
          </p:cNvPr>
          <p:cNvSpPr/>
          <p:nvPr/>
        </p:nvSpPr>
        <p:spPr>
          <a:xfrm>
            <a:off x="1083428" y="2003055"/>
            <a:ext cx="2426859" cy="1668015"/>
          </a:xfrm>
          <a:prstGeom prst="roundRect">
            <a:avLst>
              <a:gd name="adj" fmla="val 8491"/>
            </a:avLst>
          </a:prstGeom>
          <a:noFill/>
          <a:ln w="6350">
            <a:solidFill>
              <a:schemeClr val="tx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7" name="Line 74">
            <a:extLst>
              <a:ext uri="{FF2B5EF4-FFF2-40B4-BE49-F238E27FC236}">
                <a16:creationId xmlns:a16="http://schemas.microsoft.com/office/drawing/2014/main" id="{F4D392DD-90ED-A54B-6F9A-0608801F35F9}"/>
              </a:ext>
            </a:extLst>
          </p:cNvPr>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8" name="Line 73">
            <a:extLst>
              <a:ext uri="{FF2B5EF4-FFF2-40B4-BE49-F238E27FC236}">
                <a16:creationId xmlns:a16="http://schemas.microsoft.com/office/drawing/2014/main" id="{2B627C6D-ED5C-B42D-DBE5-A510F9684137}"/>
              </a:ext>
            </a:extLst>
          </p:cNvPr>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Line 72">
            <a:extLst>
              <a:ext uri="{FF2B5EF4-FFF2-40B4-BE49-F238E27FC236}">
                <a16:creationId xmlns:a16="http://schemas.microsoft.com/office/drawing/2014/main" id="{FA5A495E-AEE7-7863-9D6E-A34784DB4F02}"/>
              </a:ext>
            </a:extLst>
          </p:cNvPr>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0" name="Line 37">
            <a:extLst>
              <a:ext uri="{FF2B5EF4-FFF2-40B4-BE49-F238E27FC236}">
                <a16:creationId xmlns:a16="http://schemas.microsoft.com/office/drawing/2014/main" id="{A2BBAEBC-E996-78BA-17F6-22653A7E5C8D}"/>
              </a:ext>
            </a:extLst>
          </p:cNvPr>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34">
            <a:extLst>
              <a:ext uri="{FF2B5EF4-FFF2-40B4-BE49-F238E27FC236}">
                <a16:creationId xmlns:a16="http://schemas.microsoft.com/office/drawing/2014/main" id="{C60FCDD2-26FD-4134-8A43-A99082ECEB8B}"/>
              </a:ext>
            </a:extLst>
          </p:cNvPr>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62" name="Object 4">
            <a:extLst>
              <a:ext uri="{FF2B5EF4-FFF2-40B4-BE49-F238E27FC236}">
                <a16:creationId xmlns:a16="http://schemas.microsoft.com/office/drawing/2014/main" id="{96E0DCFA-CB43-F340-4BA6-8A80E5A2DA5E}"/>
              </a:ext>
            </a:extLst>
          </p:cNvPr>
          <p:cNvGraphicFramePr>
            <a:graphicFrameLocks noChangeAspect="1"/>
          </p:cNvGraphicFramePr>
          <p:nvPr>
            <p:extLst>
              <p:ext uri="{D42A27DB-BD31-4B8C-83A1-F6EECF244321}">
                <p14:modId xmlns:p14="http://schemas.microsoft.com/office/powerpoint/2010/main" val="3190318935"/>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6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a:extLst>
              <a:ext uri="{FF2B5EF4-FFF2-40B4-BE49-F238E27FC236}">
                <a16:creationId xmlns:a16="http://schemas.microsoft.com/office/drawing/2014/main" id="{11BEEA92-5E85-78BF-51F0-9C65E63F17CF}"/>
              </a:ext>
            </a:extLst>
          </p:cNvPr>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7794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a:extLst>
              <a:ext uri="{FF2B5EF4-FFF2-40B4-BE49-F238E27FC236}">
                <a16:creationId xmlns:a16="http://schemas.microsoft.com/office/drawing/2014/main" id="{E985E7D6-9161-BA72-68D5-47AAD4068741}"/>
              </a:ext>
            </a:extLst>
          </p:cNvPr>
          <p:cNvSpPr txBox="1">
            <a:spLocks noChangeArrowheads="1"/>
          </p:cNvSpPr>
          <p:nvPr/>
        </p:nvSpPr>
        <p:spPr bwMode="auto">
          <a:xfrm>
            <a:off x="3429617" y="2462630"/>
            <a:ext cx="1075937"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C00000"/>
                </a:solidFill>
                <a:latin typeface="Montserrat" panose="00000500000000000000" pitchFamily="2" charset="0"/>
                <a:ea typeface="微软雅黑 Light" panose="020B0502040204020203" pitchFamily="34" charset="-122"/>
              </a:rPr>
              <a:t>NAT Router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pic>
        <p:nvPicPr>
          <p:cNvPr id="65" name="Picture 30">
            <a:extLst>
              <a:ext uri="{FF2B5EF4-FFF2-40B4-BE49-F238E27FC236}">
                <a16:creationId xmlns:a16="http://schemas.microsoft.com/office/drawing/2014/main" id="{8DC487E3-C6CC-623B-0496-6CAA61236E79}"/>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a:extLst>
              <a:ext uri="{FF2B5EF4-FFF2-40B4-BE49-F238E27FC236}">
                <a16:creationId xmlns:a16="http://schemas.microsoft.com/office/drawing/2014/main" id="{280EA4F0-A31B-A510-7409-0988E297569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a:extLst>
              <a:ext uri="{FF2B5EF4-FFF2-40B4-BE49-F238E27FC236}">
                <a16:creationId xmlns:a16="http://schemas.microsoft.com/office/drawing/2014/main" id="{4211E933-28C6-AF4C-2681-D404D50A1845}"/>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a:extLst>
              <a:ext uri="{FF2B5EF4-FFF2-40B4-BE49-F238E27FC236}">
                <a16:creationId xmlns:a16="http://schemas.microsoft.com/office/drawing/2014/main" id="{5AE2AF77-1345-C04E-A699-635DC00E7911}"/>
              </a:ext>
            </a:extLst>
          </p:cNvPr>
          <p:cNvSpPr txBox="1">
            <a:spLocks noChangeArrowheads="1"/>
          </p:cNvSpPr>
          <p:nvPr/>
        </p:nvSpPr>
        <p:spPr bwMode="auto">
          <a:xfrm>
            <a:off x="1463576" y="3720025"/>
            <a:ext cx="16722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专用网 </a:t>
            </a:r>
            <a:r>
              <a:rPr kumimoji="1" lang="en-US" altLang="zh-CN" sz="1200" dirty="0">
                <a:latin typeface="Montserrat" panose="00000500000000000000" pitchFamily="2" charset="0"/>
                <a:ea typeface="微软雅黑 Light" panose="020B0502040204020203" pitchFamily="34" charset="-122"/>
              </a:rPr>
              <a:t>192.168.0.0/16</a:t>
            </a:r>
          </a:p>
        </p:txBody>
      </p:sp>
      <p:sp>
        <p:nvSpPr>
          <p:cNvPr id="69" name="Text Box 36">
            <a:extLst>
              <a:ext uri="{FF2B5EF4-FFF2-40B4-BE49-F238E27FC236}">
                <a16:creationId xmlns:a16="http://schemas.microsoft.com/office/drawing/2014/main" id="{2F2DA29F-8DEC-634C-F64F-996ADE96CA30}"/>
              </a:ext>
            </a:extLst>
          </p:cNvPr>
          <p:cNvSpPr txBox="1">
            <a:spLocks noChangeArrowheads="1"/>
          </p:cNvSpPr>
          <p:nvPr/>
        </p:nvSpPr>
        <p:spPr bwMode="auto">
          <a:xfrm>
            <a:off x="6273360" y="2650066"/>
            <a:ext cx="64633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互联网</a:t>
            </a:r>
          </a:p>
        </p:txBody>
      </p:sp>
      <p:sp>
        <p:nvSpPr>
          <p:cNvPr id="70" name="Line 38">
            <a:extLst>
              <a:ext uri="{FF2B5EF4-FFF2-40B4-BE49-F238E27FC236}">
                <a16:creationId xmlns:a16="http://schemas.microsoft.com/office/drawing/2014/main" id="{48F33F42-D16C-B576-0D01-805DD5600B63}"/>
              </a:ext>
            </a:extLst>
          </p:cNvPr>
          <p:cNvSpPr>
            <a:spLocks noChangeShapeType="1"/>
          </p:cNvSpPr>
          <p:nvPr/>
        </p:nvSpPr>
        <p:spPr bwMode="auto">
          <a:xfrm rot="5400000">
            <a:off x="1735526"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71" name="Picture 27">
            <a:extLst>
              <a:ext uri="{FF2B5EF4-FFF2-40B4-BE49-F238E27FC236}">
                <a16:creationId xmlns:a16="http://schemas.microsoft.com/office/drawing/2014/main" id="{6499468C-6E51-7AE3-477C-6C599C13B8F3}"/>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771259"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a:extLst>
              <a:ext uri="{FF2B5EF4-FFF2-40B4-BE49-F238E27FC236}">
                <a16:creationId xmlns:a16="http://schemas.microsoft.com/office/drawing/2014/main" id="{2DB58F82-0945-8D7E-614E-08BDBA4C6024}"/>
              </a:ext>
            </a:extLst>
          </p:cNvPr>
          <p:cNvSpPr txBox="1">
            <a:spLocks noChangeArrowheads="1"/>
          </p:cNvSpPr>
          <p:nvPr/>
        </p:nvSpPr>
        <p:spPr bwMode="auto">
          <a:xfrm>
            <a:off x="1142307" y="2194287"/>
            <a:ext cx="954108"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192.168.0.3</a:t>
            </a:r>
          </a:p>
        </p:txBody>
      </p:sp>
      <p:sp>
        <p:nvSpPr>
          <p:cNvPr id="80" name="Text Box 52">
            <a:extLst>
              <a:ext uri="{FF2B5EF4-FFF2-40B4-BE49-F238E27FC236}">
                <a16:creationId xmlns:a16="http://schemas.microsoft.com/office/drawing/2014/main" id="{293EA961-143E-312C-2128-6A503A539070}"/>
              </a:ext>
            </a:extLst>
          </p:cNvPr>
          <p:cNvSpPr txBox="1">
            <a:spLocks noChangeArrowheads="1"/>
          </p:cNvSpPr>
          <p:nvPr/>
        </p:nvSpPr>
        <p:spPr bwMode="auto">
          <a:xfrm>
            <a:off x="7248583" y="1930631"/>
            <a:ext cx="854722"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213.18.2.4</a:t>
            </a:r>
          </a:p>
        </p:txBody>
      </p:sp>
      <p:sp>
        <p:nvSpPr>
          <p:cNvPr id="86" name="Text Box 76">
            <a:extLst>
              <a:ext uri="{FF2B5EF4-FFF2-40B4-BE49-F238E27FC236}">
                <a16:creationId xmlns:a16="http://schemas.microsoft.com/office/drawing/2014/main" id="{665A83F4-14FA-CEB8-06DD-806199352B2C}"/>
              </a:ext>
            </a:extLst>
          </p:cNvPr>
          <p:cNvSpPr txBox="1">
            <a:spLocks noChangeArrowheads="1"/>
          </p:cNvSpPr>
          <p:nvPr/>
        </p:nvSpPr>
        <p:spPr bwMode="auto">
          <a:xfrm>
            <a:off x="3634022" y="2975742"/>
            <a:ext cx="84350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lgn="ctr">
              <a:lnSpc>
                <a:spcPct val="90000"/>
              </a:lnSpc>
              <a:defRPr kumimoji="1"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r>
              <a:rPr lang="en-US" altLang="zh-CN" dirty="0"/>
              <a:t>172.38.1.5</a:t>
            </a:r>
          </a:p>
        </p:txBody>
      </p:sp>
      <p:sp>
        <p:nvSpPr>
          <p:cNvPr id="100" name="Text Box 45">
            <a:extLst>
              <a:ext uri="{FF2B5EF4-FFF2-40B4-BE49-F238E27FC236}">
                <a16:creationId xmlns:a16="http://schemas.microsoft.com/office/drawing/2014/main" id="{FE3DA863-4A71-3413-9FEB-B06018ABC871}"/>
              </a:ext>
            </a:extLst>
          </p:cNvPr>
          <p:cNvSpPr txBox="1">
            <a:spLocks noChangeArrowheads="1"/>
          </p:cNvSpPr>
          <p:nvPr/>
        </p:nvSpPr>
        <p:spPr bwMode="auto">
          <a:xfrm>
            <a:off x="1467579" y="2408186"/>
            <a:ext cx="3385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solidFill>
                  <a:srgbClr val="0000FF"/>
                </a:solidFill>
                <a:latin typeface="Montserrat" panose="00000500000000000000" pitchFamily="2" charset="0"/>
                <a:ea typeface="微软雅黑 Light" panose="020B0502040204020203" pitchFamily="34" charset="-122"/>
              </a:rPr>
              <a:t> </a:t>
            </a:r>
            <a:r>
              <a:rPr kumimoji="1" lang="en-US" altLang="zh-CN" sz="1200" dirty="0">
                <a:solidFill>
                  <a:srgbClr val="0000FF"/>
                </a:solidFill>
                <a:latin typeface="Montserrat" panose="00000500000000000000" pitchFamily="2" charset="0"/>
                <a:ea typeface="微软雅黑 Light" panose="020B0502040204020203" pitchFamily="34" charset="-122"/>
              </a:rPr>
              <a:t>A</a:t>
            </a:r>
          </a:p>
        </p:txBody>
      </p:sp>
      <p:sp>
        <p:nvSpPr>
          <p:cNvPr id="102" name="Line 38">
            <a:extLst>
              <a:ext uri="{FF2B5EF4-FFF2-40B4-BE49-F238E27FC236}">
                <a16:creationId xmlns:a16="http://schemas.microsoft.com/office/drawing/2014/main" id="{99695DE8-93CC-5238-B3B4-B3B8AB46ED66}"/>
              </a:ext>
            </a:extLst>
          </p:cNvPr>
          <p:cNvSpPr>
            <a:spLocks noChangeShapeType="1"/>
          </p:cNvSpPr>
          <p:nvPr/>
        </p:nvSpPr>
        <p:spPr bwMode="auto">
          <a:xfrm rot="5400000">
            <a:off x="1609953"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03" name="Picture 27">
            <a:extLst>
              <a:ext uri="{FF2B5EF4-FFF2-40B4-BE49-F238E27FC236}">
                <a16:creationId xmlns:a16="http://schemas.microsoft.com/office/drawing/2014/main" id="{47718B7C-598A-66C0-6671-D326BBCBD0E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21586"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a:extLst>
              <a:ext uri="{FF2B5EF4-FFF2-40B4-BE49-F238E27FC236}">
                <a16:creationId xmlns:a16="http://schemas.microsoft.com/office/drawing/2014/main" id="{7DB7E063-90FE-4638-F6FD-83FA47F3E77C}"/>
              </a:ext>
            </a:extLst>
          </p:cNvPr>
          <p:cNvSpPr txBox="1">
            <a:spLocks noChangeArrowheads="1"/>
          </p:cNvSpPr>
          <p:nvPr/>
        </p:nvSpPr>
        <p:spPr bwMode="auto">
          <a:xfrm>
            <a:off x="1156979" y="3319111"/>
            <a:ext cx="968535"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latin typeface="Montserrat" panose="00000500000000000000" pitchFamily="2" charset="0"/>
                <a:ea typeface="微软雅黑 Light" panose="020B0502040204020203" pitchFamily="34" charset="-122"/>
              </a:rPr>
              <a:t>192.168.0.4</a:t>
            </a:r>
          </a:p>
        </p:txBody>
      </p:sp>
      <p:sp>
        <p:nvSpPr>
          <p:cNvPr id="83" name="Text Box 59">
            <a:extLst>
              <a:ext uri="{FF2B5EF4-FFF2-40B4-BE49-F238E27FC236}">
                <a16:creationId xmlns:a16="http://schemas.microsoft.com/office/drawing/2014/main" id="{094C64FF-D6E6-3981-AE11-28B6D0DC89B5}"/>
              </a:ext>
            </a:extLst>
          </p:cNvPr>
          <p:cNvSpPr txBox="1">
            <a:spLocks noChangeArrowheads="1"/>
          </p:cNvSpPr>
          <p:nvPr/>
        </p:nvSpPr>
        <p:spPr bwMode="auto">
          <a:xfrm>
            <a:off x="2288179" y="3121091"/>
            <a:ext cx="124906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192.168.0.3</a:t>
            </a:r>
          </a:p>
        </p:txBody>
      </p:sp>
      <p:grpSp>
        <p:nvGrpSpPr>
          <p:cNvPr id="87" name="Group 42">
            <a:extLst>
              <a:ext uri="{FF2B5EF4-FFF2-40B4-BE49-F238E27FC236}">
                <a16:creationId xmlns:a16="http://schemas.microsoft.com/office/drawing/2014/main" id="{0A50196E-6522-84E8-AC2F-4D4F4A0CE7A7}"/>
              </a:ext>
            </a:extLst>
          </p:cNvPr>
          <p:cNvGrpSpPr>
            <a:grpSpLocks/>
          </p:cNvGrpSpPr>
          <p:nvPr/>
        </p:nvGrpSpPr>
        <p:grpSpPr bwMode="auto">
          <a:xfrm flipH="1">
            <a:off x="2692124" y="2917290"/>
            <a:ext cx="632937" cy="98436"/>
            <a:chOff x="521" y="2478"/>
            <a:chExt cx="1044" cy="136"/>
          </a:xfrm>
        </p:grpSpPr>
        <p:sp>
          <p:nvSpPr>
            <p:cNvPr id="88" name="AutoShape 41">
              <a:extLst>
                <a:ext uri="{FF2B5EF4-FFF2-40B4-BE49-F238E27FC236}">
                  <a16:creationId xmlns:a16="http://schemas.microsoft.com/office/drawing/2014/main" id="{B23CBDE3-6AB7-D743-DF27-4570390ED31A}"/>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89" name="Rectangle 39">
              <a:extLst>
                <a:ext uri="{FF2B5EF4-FFF2-40B4-BE49-F238E27FC236}">
                  <a16:creationId xmlns:a16="http://schemas.microsoft.com/office/drawing/2014/main" id="{0686410B-0CE4-03C5-A622-5AB6D1BD62DB}"/>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0" name="Rectangle 40">
              <a:extLst>
                <a:ext uri="{FF2B5EF4-FFF2-40B4-BE49-F238E27FC236}">
                  <a16:creationId xmlns:a16="http://schemas.microsoft.com/office/drawing/2014/main" id="{306E99AC-BB79-2712-1696-AE25950270D6}"/>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6" name="Text Box 155">
            <a:extLst>
              <a:ext uri="{FF2B5EF4-FFF2-40B4-BE49-F238E27FC236}">
                <a16:creationId xmlns:a16="http://schemas.microsoft.com/office/drawing/2014/main" id="{4C7B6E53-65AD-9320-0B57-11B8CCEFAAA9}"/>
              </a:ext>
            </a:extLst>
          </p:cNvPr>
          <p:cNvSpPr txBox="1">
            <a:spLocks noChangeArrowheads="1"/>
          </p:cNvSpPr>
          <p:nvPr/>
        </p:nvSpPr>
        <p:spPr bwMode="auto">
          <a:xfrm flipH="1">
            <a:off x="2414343" y="2828009"/>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84" name="Text Box 69">
            <a:extLst>
              <a:ext uri="{FF2B5EF4-FFF2-40B4-BE49-F238E27FC236}">
                <a16:creationId xmlns:a16="http://schemas.microsoft.com/office/drawing/2014/main" id="{94B65918-5387-9BE3-69CC-84335D543B3F}"/>
              </a:ext>
            </a:extLst>
          </p:cNvPr>
          <p:cNvSpPr txBox="1">
            <a:spLocks noChangeArrowheads="1"/>
          </p:cNvSpPr>
          <p:nvPr/>
        </p:nvSpPr>
        <p:spPr bwMode="auto">
          <a:xfrm>
            <a:off x="4707038" y="3038553"/>
            <a:ext cx="1146468"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p:txBody>
      </p:sp>
      <p:grpSp>
        <p:nvGrpSpPr>
          <p:cNvPr id="91" name="Group 42">
            <a:extLst>
              <a:ext uri="{FF2B5EF4-FFF2-40B4-BE49-F238E27FC236}">
                <a16:creationId xmlns:a16="http://schemas.microsoft.com/office/drawing/2014/main" id="{7AB4D083-AE49-3C00-28B4-37E06A2DF5F4}"/>
              </a:ext>
            </a:extLst>
          </p:cNvPr>
          <p:cNvGrpSpPr>
            <a:grpSpLocks/>
          </p:cNvGrpSpPr>
          <p:nvPr/>
        </p:nvGrpSpPr>
        <p:grpSpPr bwMode="auto">
          <a:xfrm flipH="1">
            <a:off x="4837242" y="2907555"/>
            <a:ext cx="632936" cy="98437"/>
            <a:chOff x="521" y="2478"/>
            <a:chExt cx="1044" cy="136"/>
          </a:xfrm>
        </p:grpSpPr>
        <p:sp>
          <p:nvSpPr>
            <p:cNvPr id="92" name="AutoShape 41">
              <a:extLst>
                <a:ext uri="{FF2B5EF4-FFF2-40B4-BE49-F238E27FC236}">
                  <a16:creationId xmlns:a16="http://schemas.microsoft.com/office/drawing/2014/main" id="{710E3C2A-39A7-F60B-8D12-3EF62A5CB5AF}"/>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3" name="Rectangle 39">
              <a:extLst>
                <a:ext uri="{FF2B5EF4-FFF2-40B4-BE49-F238E27FC236}">
                  <a16:creationId xmlns:a16="http://schemas.microsoft.com/office/drawing/2014/main" id="{56D2D33C-6B64-79CF-B20C-313B5E407BAE}"/>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4" name="Rectangle 40">
              <a:extLst>
                <a:ext uri="{FF2B5EF4-FFF2-40B4-BE49-F238E27FC236}">
                  <a16:creationId xmlns:a16="http://schemas.microsoft.com/office/drawing/2014/main" id="{8BD6CC3F-B9BC-B519-D419-8F8F7898ACCB}"/>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8" name="Text Box 154">
            <a:extLst>
              <a:ext uri="{FF2B5EF4-FFF2-40B4-BE49-F238E27FC236}">
                <a16:creationId xmlns:a16="http://schemas.microsoft.com/office/drawing/2014/main" id="{A7350D2E-4D51-C1F1-7EF7-57151F3A7C4E}"/>
              </a:ext>
            </a:extLst>
          </p:cNvPr>
          <p:cNvSpPr txBox="1">
            <a:spLocks noChangeArrowheads="1"/>
          </p:cNvSpPr>
          <p:nvPr/>
        </p:nvSpPr>
        <p:spPr bwMode="auto">
          <a:xfrm flipH="1">
            <a:off x="4561998" y="281827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grpSp>
        <p:nvGrpSpPr>
          <p:cNvPr id="72" name="Group 42">
            <a:extLst>
              <a:ext uri="{FF2B5EF4-FFF2-40B4-BE49-F238E27FC236}">
                <a16:creationId xmlns:a16="http://schemas.microsoft.com/office/drawing/2014/main" id="{707B9A04-7B52-0C2B-9FC7-D828ED929D41}"/>
              </a:ext>
            </a:extLst>
          </p:cNvPr>
          <p:cNvGrpSpPr>
            <a:grpSpLocks/>
          </p:cNvGrpSpPr>
          <p:nvPr/>
        </p:nvGrpSpPr>
        <p:grpSpPr bwMode="auto">
          <a:xfrm>
            <a:off x="2357264" y="2636609"/>
            <a:ext cx="632937" cy="98437"/>
            <a:chOff x="521" y="2478"/>
            <a:chExt cx="1044" cy="136"/>
          </a:xfrm>
        </p:grpSpPr>
        <p:sp>
          <p:nvSpPr>
            <p:cNvPr id="73" name="AutoShape 41">
              <a:extLst>
                <a:ext uri="{FF2B5EF4-FFF2-40B4-BE49-F238E27FC236}">
                  <a16:creationId xmlns:a16="http://schemas.microsoft.com/office/drawing/2014/main" id="{08E9B3E2-8A27-4F47-C85A-BEC1BC9E5275}"/>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4" name="Rectangle 39">
              <a:extLst>
                <a:ext uri="{FF2B5EF4-FFF2-40B4-BE49-F238E27FC236}">
                  <a16:creationId xmlns:a16="http://schemas.microsoft.com/office/drawing/2014/main" id="{06137D2E-F397-E845-B1FB-15211A68F601}"/>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5" name="Rectangle 40">
              <a:extLst>
                <a:ext uri="{FF2B5EF4-FFF2-40B4-BE49-F238E27FC236}">
                  <a16:creationId xmlns:a16="http://schemas.microsoft.com/office/drawing/2014/main" id="{71A4F556-7C4D-D7F0-475F-8F6662541002}"/>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76" name="Text Box 44">
            <a:extLst>
              <a:ext uri="{FF2B5EF4-FFF2-40B4-BE49-F238E27FC236}">
                <a16:creationId xmlns:a16="http://schemas.microsoft.com/office/drawing/2014/main" id="{A1D127FA-7D2F-0284-3AB0-E1646D7D53A7}"/>
              </a:ext>
            </a:extLst>
          </p:cNvPr>
          <p:cNvSpPr txBox="1">
            <a:spLocks noChangeArrowheads="1"/>
          </p:cNvSpPr>
          <p:nvPr/>
        </p:nvSpPr>
        <p:spPr bwMode="auto">
          <a:xfrm>
            <a:off x="2263528" y="2092438"/>
            <a:ext cx="121700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192.168.0.3</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213.28.2.4</a:t>
            </a:r>
          </a:p>
        </p:txBody>
      </p:sp>
      <p:sp>
        <p:nvSpPr>
          <p:cNvPr id="109" name="Text Box 177">
            <a:extLst>
              <a:ext uri="{FF2B5EF4-FFF2-40B4-BE49-F238E27FC236}">
                <a16:creationId xmlns:a16="http://schemas.microsoft.com/office/drawing/2014/main" id="{0D68279F-D07D-8E3F-0233-9B0F720C6522}"/>
              </a:ext>
            </a:extLst>
          </p:cNvPr>
          <p:cNvSpPr txBox="1">
            <a:spLocks noChangeArrowheads="1"/>
          </p:cNvSpPr>
          <p:nvPr/>
        </p:nvSpPr>
        <p:spPr bwMode="auto">
          <a:xfrm flipH="1">
            <a:off x="2931854" y="2547328"/>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110" name="椭圆 109">
            <a:extLst>
              <a:ext uri="{FF2B5EF4-FFF2-40B4-BE49-F238E27FC236}">
                <a16:creationId xmlns:a16="http://schemas.microsoft.com/office/drawing/2014/main" id="{708CEC40-D4FA-7614-BF34-AF8B45638AD7}"/>
              </a:ext>
            </a:extLst>
          </p:cNvPr>
          <p:cNvSpPr/>
          <p:nvPr/>
        </p:nvSpPr>
        <p:spPr>
          <a:xfrm>
            <a:off x="4011798"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117" name="Text Box 52">
            <a:extLst>
              <a:ext uri="{FF2B5EF4-FFF2-40B4-BE49-F238E27FC236}">
                <a16:creationId xmlns:a16="http://schemas.microsoft.com/office/drawing/2014/main" id="{6976FB6D-25B4-92F7-58D7-3B72DB7F5384}"/>
              </a:ext>
            </a:extLst>
          </p:cNvPr>
          <p:cNvSpPr txBox="1">
            <a:spLocks noChangeArrowheads="1"/>
          </p:cNvSpPr>
          <p:nvPr/>
        </p:nvSpPr>
        <p:spPr bwMode="auto">
          <a:xfrm>
            <a:off x="7692066" y="2190875"/>
            <a:ext cx="300083"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a:solidFill>
                  <a:srgbClr val="0000FF"/>
                </a:solidFill>
                <a:latin typeface="Montserrat" panose="00000500000000000000" pitchFamily="2" charset="0"/>
                <a:ea typeface="微软雅黑 Light" panose="020B0502040204020203" pitchFamily="34" charset="-122"/>
              </a:rPr>
              <a:t>B</a:t>
            </a:r>
          </a:p>
        </p:txBody>
      </p:sp>
      <p:sp>
        <p:nvSpPr>
          <p:cNvPr id="107" name="Text Box 141">
            <a:extLst>
              <a:ext uri="{FF2B5EF4-FFF2-40B4-BE49-F238E27FC236}">
                <a16:creationId xmlns:a16="http://schemas.microsoft.com/office/drawing/2014/main" id="{67C6019F-C8DA-DD4E-3B13-8D32FC0BF526}"/>
              </a:ext>
            </a:extLst>
          </p:cNvPr>
          <p:cNvSpPr txBox="1">
            <a:spLocks noChangeArrowheads="1"/>
          </p:cNvSpPr>
          <p:nvPr/>
        </p:nvSpPr>
        <p:spPr bwMode="auto">
          <a:xfrm flipH="1">
            <a:off x="5198738" y="256543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78" name="Text Box 50">
            <a:extLst>
              <a:ext uri="{FF2B5EF4-FFF2-40B4-BE49-F238E27FC236}">
                <a16:creationId xmlns:a16="http://schemas.microsoft.com/office/drawing/2014/main" id="{24945860-3CDB-6A55-4855-8DA24C60CCBB}"/>
              </a:ext>
            </a:extLst>
          </p:cNvPr>
          <p:cNvSpPr txBox="1">
            <a:spLocks noChangeArrowheads="1"/>
          </p:cNvSpPr>
          <p:nvPr/>
        </p:nvSpPr>
        <p:spPr bwMode="auto">
          <a:xfrm>
            <a:off x="4490357" y="2219480"/>
            <a:ext cx="1151277"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213.18.2.4</a:t>
            </a:r>
          </a:p>
        </p:txBody>
      </p:sp>
      <p:grpSp>
        <p:nvGrpSpPr>
          <p:cNvPr id="95" name="Group 42">
            <a:extLst>
              <a:ext uri="{FF2B5EF4-FFF2-40B4-BE49-F238E27FC236}">
                <a16:creationId xmlns:a16="http://schemas.microsoft.com/office/drawing/2014/main" id="{D830F523-7D96-E72F-C79D-80CD10D0629D}"/>
              </a:ext>
            </a:extLst>
          </p:cNvPr>
          <p:cNvGrpSpPr>
            <a:grpSpLocks/>
          </p:cNvGrpSpPr>
          <p:nvPr/>
        </p:nvGrpSpPr>
        <p:grpSpPr bwMode="auto">
          <a:xfrm>
            <a:off x="4606392" y="2654715"/>
            <a:ext cx="631668" cy="98437"/>
            <a:chOff x="521" y="2478"/>
            <a:chExt cx="1044" cy="136"/>
          </a:xfrm>
        </p:grpSpPr>
        <p:sp>
          <p:nvSpPr>
            <p:cNvPr id="96" name="AutoShape 41">
              <a:extLst>
                <a:ext uri="{FF2B5EF4-FFF2-40B4-BE49-F238E27FC236}">
                  <a16:creationId xmlns:a16="http://schemas.microsoft.com/office/drawing/2014/main" id="{18017F71-E383-D240-7F28-954809B3EBF3}"/>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7" name="Rectangle 39">
              <a:extLst>
                <a:ext uri="{FF2B5EF4-FFF2-40B4-BE49-F238E27FC236}">
                  <a16:creationId xmlns:a16="http://schemas.microsoft.com/office/drawing/2014/main" id="{EA60468F-C347-94B0-E271-8D23E5A6220F}"/>
                </a:ext>
              </a:extLst>
            </p:cNvPr>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8" name="Rectangle 40">
              <a:extLst>
                <a:ext uri="{FF2B5EF4-FFF2-40B4-BE49-F238E27FC236}">
                  <a16:creationId xmlns:a16="http://schemas.microsoft.com/office/drawing/2014/main" id="{8F4D2BA1-24A4-BF8D-949D-A9207832C1D5}"/>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2" name="标题 11">
            <a:extLst>
              <a:ext uri="{FF2B5EF4-FFF2-40B4-BE49-F238E27FC236}">
                <a16:creationId xmlns:a16="http://schemas.microsoft.com/office/drawing/2014/main" id="{13414F56-8540-F3CC-FC7D-E4D11818DB67}"/>
              </a:ext>
            </a:extLst>
          </p:cNvPr>
          <p:cNvSpPr>
            <a:spLocks noGrp="1"/>
          </p:cNvSpPr>
          <p:nvPr>
            <p:ph type="title"/>
          </p:nvPr>
        </p:nvSpPr>
        <p:spPr>
          <a:xfrm>
            <a:off x="2808000" y="144000"/>
            <a:ext cx="3528000" cy="400110"/>
          </a:xfrm>
        </p:spPr>
        <p:txBody>
          <a:bodyPr/>
          <a:lstStyle/>
          <a:p>
            <a:r>
              <a:rPr lang="zh-CN" altLang="en-US" dirty="0"/>
              <a:t>网络地址转换的过程</a:t>
            </a:r>
          </a:p>
        </p:txBody>
      </p:sp>
    </p:spTree>
    <p:extLst>
      <p:ext uri="{BB962C8B-B14F-4D97-AF65-F5344CB8AC3E}">
        <p14:creationId xmlns:p14="http://schemas.microsoft.com/office/powerpoint/2010/main" val="18518993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2808000" y="144000"/>
            <a:ext cx="3528000" cy="400110"/>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0"/>
          </p:nvPr>
        </p:nvSpPr>
        <p:spPr>
          <a:xfrm>
            <a:off x="612000" y="648000"/>
            <a:ext cx="7920000" cy="39600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2808000" y="144000"/>
            <a:ext cx="3528000" cy="400110"/>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0"/>
          </p:nvPr>
        </p:nvSpPr>
        <p:spPr>
          <a:xfrm>
            <a:off x="612000" y="648000"/>
            <a:ext cx="7920000" cy="39600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2808000" y="144000"/>
            <a:ext cx="3528000" cy="400110"/>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0"/>
          </p:nvPr>
        </p:nvSpPr>
        <p:spPr>
          <a:xfrm>
            <a:off x="612000" y="648000"/>
            <a:ext cx="7920000" cy="39600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2808000" y="144000"/>
            <a:ext cx="3528000" cy="400110"/>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0"/>
          </p:nvPr>
        </p:nvSpPr>
        <p:spPr>
          <a:xfrm>
            <a:off x="612000" y="648000"/>
            <a:ext cx="7920000" cy="39600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836904"/>
            <a:ext cx="4320000" cy="461665"/>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2808000" y="144000"/>
            <a:ext cx="3528000" cy="400110"/>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0"/>
          </p:nvPr>
        </p:nvSpPr>
        <p:spPr>
          <a:xfrm>
            <a:off x="612000" y="648000"/>
            <a:ext cx="7920000" cy="39600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2808000" y="144000"/>
            <a:ext cx="3528000" cy="400110"/>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2808000" y="144000"/>
            <a:ext cx="3528000" cy="400110"/>
          </a:xfrm>
        </p:spPr>
        <p:txBody>
          <a:bodyPr/>
          <a:lstStyle/>
          <a:p>
            <a:r>
              <a:rPr lang="en-US" altLang="zh-CN" dirty="0"/>
              <a:t>4.9.1  MPLS </a:t>
            </a:r>
            <a:r>
              <a:rPr lang="zh-CN" altLang="en-US" dirty="0"/>
              <a:t>的工作原理</a:t>
            </a:r>
          </a:p>
        </p:txBody>
      </p:sp>
      <p:sp>
        <p:nvSpPr>
          <p:cNvPr id="4" name="内容占位符 3">
            <a:extLst>
              <a:ext uri="{FF2B5EF4-FFF2-40B4-BE49-F238E27FC236}">
                <a16:creationId xmlns:a16="http://schemas.microsoft.com/office/drawing/2014/main" id="{A0C25AEB-91F6-0173-3A65-E37A7D0DB5B6}"/>
              </a:ext>
            </a:extLst>
          </p:cNvPr>
          <p:cNvSpPr>
            <a:spLocks noGrp="1"/>
          </p:cNvSpPr>
          <p:nvPr>
            <p:ph sz="quarter" idx="10"/>
          </p:nvPr>
        </p:nvSpPr>
        <p:spPr>
          <a:xfrm>
            <a:off x="612000" y="648000"/>
            <a:ext cx="7920000" cy="39600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2808000" y="144000"/>
            <a:ext cx="3528000" cy="400110"/>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2808000" y="144000"/>
            <a:ext cx="3528000" cy="400110"/>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2808000" y="144000"/>
            <a:ext cx="3528000" cy="400110"/>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2808000" y="144000"/>
            <a:ext cx="3528000" cy="400110"/>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0"/>
          </p:nvPr>
        </p:nvSpPr>
        <p:spPr>
          <a:xfrm>
            <a:off x="612000" y="648000"/>
            <a:ext cx="7920000" cy="39600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2808000" y="144000"/>
            <a:ext cx="3528000" cy="400110"/>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0"/>
          </p:nvPr>
        </p:nvSpPr>
        <p:spPr>
          <a:xfrm>
            <a:off x="612000" y="648000"/>
            <a:ext cx="7920000" cy="39600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2808000" y="144000"/>
            <a:ext cx="3528000" cy="400110"/>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F4654BF0-4F12-EF40-B436-084BE3E1F21D}"/>
              </a:ext>
            </a:extLst>
          </p:cNvPr>
          <p:cNvSpPr>
            <a:spLocks noGrp="1"/>
          </p:cNvSpPr>
          <p:nvPr>
            <p:ph sz="quarter" idx="10"/>
          </p:nvPr>
        </p:nvSpPr>
        <p:spPr>
          <a:xfrm>
            <a:off x="612000" y="648000"/>
            <a:ext cx="7920000" cy="39600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2808000" y="144000"/>
            <a:ext cx="3528000" cy="400110"/>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0"/>
          </p:nvPr>
        </p:nvSpPr>
        <p:spPr>
          <a:xfrm>
            <a:off x="612000" y="648000"/>
            <a:ext cx="7920000" cy="39600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2808000" y="144000"/>
            <a:ext cx="3528000" cy="400110"/>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0"/>
          </p:nvPr>
        </p:nvSpPr>
        <p:spPr>
          <a:xfrm>
            <a:off x="612000" y="648000"/>
            <a:ext cx="7920000" cy="39600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372602502"/>
              </p:ext>
            </p:extLst>
          </p:nvPr>
        </p:nvGraphicFramePr>
        <p:xfrm>
          <a:off x="612000" y="1204880"/>
          <a:ext cx="7920000"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2808000" y="144000"/>
            <a:ext cx="3528000" cy="400110"/>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2808000" y="144000"/>
            <a:ext cx="3528000" cy="400110"/>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2808000" y="144000"/>
            <a:ext cx="3528000" cy="400110"/>
          </a:xfrm>
        </p:spPr>
        <p:txBody>
          <a:bodyPr/>
          <a:lstStyle/>
          <a:p>
            <a:r>
              <a:rPr lang="en-US" altLang="zh-CN" dirty="0"/>
              <a:t>4.9.2  MPLS </a:t>
            </a:r>
            <a:r>
              <a:rPr lang="zh-CN" altLang="en-US" dirty="0"/>
              <a:t>首部的位置与格式</a:t>
            </a:r>
          </a:p>
        </p:txBody>
      </p:sp>
      <p:sp>
        <p:nvSpPr>
          <p:cNvPr id="13" name="内容占位符 12">
            <a:extLst>
              <a:ext uri="{FF2B5EF4-FFF2-40B4-BE49-F238E27FC236}">
                <a16:creationId xmlns:a16="http://schemas.microsoft.com/office/drawing/2014/main" id="{6D89897B-70FF-C4A4-78EC-E345872CA60A}"/>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endParaRPr lang="en-US" altLang="zh-CN" dirty="0"/>
          </a:p>
          <a:p>
            <a:r>
              <a:rPr lang="zh-CN" altLang="en-US" dirty="0"/>
              <a:t>给 </a:t>
            </a:r>
            <a:r>
              <a:rPr lang="en-US" altLang="zh-CN" dirty="0"/>
              <a:t>IP </a:t>
            </a:r>
            <a:r>
              <a:rPr lang="zh-CN" altLang="en-US" dirty="0"/>
              <a:t>数据报打标记：在以太网帧首部和 </a:t>
            </a:r>
            <a:r>
              <a:rPr lang="en-US" altLang="zh-CN" dirty="0"/>
              <a:t>IP </a:t>
            </a:r>
            <a:r>
              <a:rPr lang="zh-CN" altLang="en-US" dirty="0"/>
              <a:t>数据报首部之间插入一个 </a:t>
            </a:r>
            <a:r>
              <a:rPr lang="en-US" altLang="zh-CN" dirty="0"/>
              <a:t>4 </a:t>
            </a:r>
            <a:r>
              <a:rPr lang="zh-CN" altLang="en-US" dirty="0"/>
              <a:t>字节的首部</a:t>
            </a:r>
            <a:endParaRPr lang="en-US" altLang="zh-CN" dirty="0"/>
          </a:p>
          <a:p>
            <a:r>
              <a:rPr lang="zh-CN" altLang="en-US" dirty="0"/>
              <a:t>从层次的角度看，</a:t>
            </a:r>
            <a:r>
              <a:rPr lang="en-US" altLang="zh-CN" dirty="0"/>
              <a:t>MPLS </a:t>
            </a:r>
            <a:r>
              <a:rPr lang="zh-CN" altLang="en-US" dirty="0"/>
              <a:t>首部处在第二层和第三层之间</a:t>
            </a:r>
          </a:p>
          <a:p>
            <a:endParaRPr lang="zh-CN" altLang="en-US" dirty="0"/>
          </a:p>
          <a:p>
            <a:endParaRPr lang="zh-CN" altLang="en-US" dirty="0"/>
          </a:p>
          <a:p>
            <a:endParaRPr lang="zh-CN" altLang="en-US" dirty="0"/>
          </a:p>
        </p:txBody>
      </p:sp>
      <p:sp>
        <p:nvSpPr>
          <p:cNvPr id="6" name="矩形 5"/>
          <p:cNvSpPr/>
          <p:nvPr/>
        </p:nvSpPr>
        <p:spPr bwMode="auto">
          <a:xfrm>
            <a:off x="3340857" y="2138316"/>
            <a:ext cx="1842844" cy="462522"/>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340857" y="2600838"/>
            <a:ext cx="1842844" cy="447013"/>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340857" y="3047850"/>
            <a:ext cx="1842844" cy="447013"/>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245129" y="2734333"/>
            <a:ext cx="429997" cy="223506"/>
          </a:xfrm>
          <a:prstGeom prst="leftArrow">
            <a:avLst/>
          </a:prstGeom>
          <a:solidFill>
            <a:schemeClr val="bg1">
              <a:lumMod val="6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469802" y="3117187"/>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712419" y="3138036"/>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2913249" y="3287653"/>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1867044" y="3604056"/>
            <a:ext cx="758609" cy="372816"/>
          </a:xfrm>
          <a:prstGeom prst="rect">
            <a:avLst/>
          </a:prstGeom>
          <a:noFill/>
          <a:ln w="19050">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461831" y="2711260"/>
            <a:ext cx="6209709" cy="405927"/>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342568"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5935107" y="2711260"/>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119777"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068133" y="2775724"/>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612061" y="2775724"/>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416151" y="2775724"/>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5884622" y="2775724"/>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461831" y="2450063"/>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713083" y="4007484"/>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461831" y="3128225"/>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611577" y="4020657"/>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710708" y="4272303"/>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661614" y="4040792"/>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625653" y="3604056"/>
            <a:ext cx="1086766" cy="372816"/>
          </a:xfrm>
          <a:prstGeom prst="rect">
            <a:avLst/>
          </a:prstGeom>
          <a:solidFill>
            <a:srgbClr val="E46C0A"/>
          </a:solidFill>
          <a:ln w="19050">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713083" y="3604056"/>
            <a:ext cx="703418" cy="372816"/>
          </a:xfrm>
          <a:prstGeom prst="rect">
            <a:avLst/>
          </a:prstGeom>
          <a:noFill/>
          <a:ln w="19050">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416501" y="3604056"/>
            <a:ext cx="2195075" cy="372816"/>
          </a:xfrm>
          <a:prstGeom prst="rect">
            <a:avLst/>
          </a:prstGeom>
          <a:noFill/>
          <a:ln w="19050">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611577" y="3604056"/>
            <a:ext cx="758609" cy="372816"/>
          </a:xfrm>
          <a:prstGeom prst="rect">
            <a:avLst/>
          </a:prstGeom>
          <a:noFill/>
          <a:ln w="19050">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a:xfrm>
            <a:off x="2808000" y="144000"/>
            <a:ext cx="3528000" cy="400110"/>
          </a:xfrm>
        </p:spPr>
        <p:txBody>
          <a:bodyPr/>
          <a:lstStyle/>
          <a:p>
            <a:r>
              <a:rPr lang="en-US" altLang="zh-CN" dirty="0"/>
              <a:t>4.9.2  MPLS </a:t>
            </a:r>
            <a:r>
              <a:rPr lang="zh-CN" altLang="en-US" dirty="0"/>
              <a:t>首部的位置与格式</a:t>
            </a:r>
          </a:p>
        </p:txBody>
      </p:sp>
      <p:sp>
        <p:nvSpPr>
          <p:cNvPr id="3" name="内容占位符 2">
            <a:extLst>
              <a:ext uri="{FF2B5EF4-FFF2-40B4-BE49-F238E27FC236}">
                <a16:creationId xmlns:a16="http://schemas.microsoft.com/office/drawing/2014/main" id="{44B2C851-2453-C337-72E1-89843C6E3A34}"/>
              </a:ext>
            </a:extLst>
          </p:cNvPr>
          <p:cNvSpPr>
            <a:spLocks noGrp="1"/>
          </p:cNvSpPr>
          <p:nvPr>
            <p:ph sz="quarter" idx="10"/>
          </p:nvPr>
        </p:nvSpPr>
        <p:spPr>
          <a:xfrm>
            <a:off x="612000" y="648000"/>
            <a:ext cx="7920000" cy="3960000"/>
          </a:xfrm>
        </p:spPr>
        <p:txBody>
          <a:bodyPr/>
          <a:lstStyle/>
          <a:p>
            <a:r>
              <a:rPr lang="zh-CN" altLang="en-US" dirty="0"/>
              <a:t>标签值（占 </a:t>
            </a:r>
            <a:r>
              <a:rPr lang="en-US" altLang="zh-CN" dirty="0"/>
              <a:t>20 </a:t>
            </a:r>
            <a:r>
              <a:rPr lang="zh-CN" altLang="en-US" dirty="0"/>
              <a:t>位），可以同时容纳高达 </a:t>
            </a:r>
            <a:r>
              <a:rPr lang="en-US" altLang="zh-CN" dirty="0"/>
              <a:t>220 </a:t>
            </a:r>
            <a:r>
              <a:rPr lang="zh-CN" altLang="en-US" dirty="0"/>
              <a:t>个流（即 </a:t>
            </a:r>
            <a:r>
              <a:rPr lang="en-US" altLang="zh-CN" dirty="0"/>
              <a:t>1048576 </a:t>
            </a:r>
            <a:r>
              <a:rPr lang="zh-CN" altLang="en-US" dirty="0"/>
              <a:t>个流）</a:t>
            </a:r>
          </a:p>
          <a:p>
            <a:r>
              <a:rPr lang="zh-CN" altLang="en-US" dirty="0"/>
              <a:t>试验（占 </a:t>
            </a:r>
            <a:r>
              <a:rPr lang="en-US" altLang="zh-CN" dirty="0"/>
              <a:t>3 </a:t>
            </a:r>
            <a:r>
              <a:rPr lang="zh-CN" altLang="en-US" dirty="0"/>
              <a:t>位）。保留用</a:t>
            </a:r>
            <a:endParaRPr lang="en-US" altLang="zh-CN" dirty="0"/>
          </a:p>
          <a:p>
            <a:r>
              <a:rPr lang="zh-CN" altLang="en-US" dirty="0"/>
              <a:t>栈</a:t>
            </a:r>
            <a:r>
              <a:rPr lang="en-US" altLang="zh-CN" dirty="0"/>
              <a:t>S</a:t>
            </a:r>
            <a:r>
              <a:rPr lang="zh-CN" altLang="en-US" dirty="0"/>
              <a:t>（占 </a:t>
            </a:r>
            <a:r>
              <a:rPr lang="en-US" altLang="zh-CN" dirty="0"/>
              <a:t>1 </a:t>
            </a:r>
            <a:r>
              <a:rPr lang="zh-CN" altLang="en-US" dirty="0"/>
              <a:t>位）。在有“标签栈”时使用作试验</a:t>
            </a:r>
            <a:endParaRPr lang="en-US" altLang="zh-CN" dirty="0"/>
          </a:p>
          <a:p>
            <a:r>
              <a:rPr lang="zh-CN" altLang="en-US" dirty="0"/>
              <a:t>生存时间 </a:t>
            </a:r>
            <a:r>
              <a:rPr lang="en-US" altLang="zh-CN" dirty="0"/>
              <a:t>TTL</a:t>
            </a:r>
            <a:r>
              <a:rPr lang="zh-CN" altLang="en-US" dirty="0"/>
              <a:t>（占 </a:t>
            </a:r>
            <a:r>
              <a:rPr lang="en-US" altLang="zh-CN" dirty="0"/>
              <a:t>8 </a:t>
            </a:r>
            <a:r>
              <a:rPr lang="zh-CN" altLang="en-US" dirty="0"/>
              <a:t>位），用来防止 </a:t>
            </a:r>
            <a:r>
              <a:rPr lang="en-US" altLang="zh-CN" dirty="0"/>
              <a:t>MPLS </a:t>
            </a:r>
            <a:r>
              <a:rPr lang="zh-CN" altLang="en-US" dirty="0"/>
              <a:t>分组在 </a:t>
            </a:r>
            <a:r>
              <a:rPr lang="en-US" altLang="zh-CN" dirty="0"/>
              <a:t>MPLS </a:t>
            </a:r>
            <a:r>
              <a:rPr lang="zh-CN" altLang="en-US" dirty="0"/>
              <a:t>域中兜圈子</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2808000" y="144000"/>
            <a:ext cx="3528000" cy="400110"/>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a:t>
            </a:r>
            <a:endParaRPr lang="en-US" altLang="zh-CN" dirty="0"/>
          </a:p>
          <a:p>
            <a:pPr lvl="1"/>
            <a:r>
              <a:rPr lang="zh-CN" altLang="en-US" dirty="0"/>
              <a:t>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2808000" y="144000"/>
            <a:ext cx="3528000" cy="400110"/>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0"/>
          </p:nvPr>
        </p:nvSpPr>
        <p:spPr>
          <a:xfrm>
            <a:off x="612000" y="648000"/>
            <a:ext cx="7920000" cy="39600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2808000" y="144000"/>
            <a:ext cx="3528000" cy="400110"/>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0"/>
          </p:nvPr>
        </p:nvSpPr>
        <p:spPr>
          <a:xfrm>
            <a:off x="612000" y="648000"/>
            <a:ext cx="7920000" cy="39600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836904"/>
            <a:ext cx="4320000" cy="461665"/>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2808000" y="144000"/>
            <a:ext cx="3528000" cy="400110"/>
          </a:xfrm>
        </p:spPr>
        <p:txBody>
          <a:bodyPr/>
          <a:lstStyle/>
          <a:p>
            <a:r>
              <a:rPr lang="en-US" altLang="zh-CN" dirty="0"/>
              <a:t>4.10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0"/>
          </p:nvPr>
        </p:nvSpPr>
        <p:spPr>
          <a:xfrm>
            <a:off x="612000" y="648000"/>
            <a:ext cx="7920000" cy="3960000"/>
          </a:xfrm>
        </p:spPr>
        <p:txBody>
          <a:bodyPr/>
          <a:lstStyle/>
          <a:p>
            <a:r>
              <a:rPr lang="zh-CN" altLang="en-US" dirty="0"/>
              <a:t>软件定义网络 </a:t>
            </a:r>
            <a:r>
              <a:rPr lang="en-US" altLang="zh-CN" dirty="0"/>
              <a:t>SDN</a:t>
            </a:r>
            <a:r>
              <a:rPr lang="zh-CN" altLang="en-US" dirty="0"/>
              <a:t> </a:t>
            </a:r>
            <a:r>
              <a:rPr lang="en-US" altLang="zh-CN" dirty="0"/>
              <a:t>-</a:t>
            </a:r>
            <a:r>
              <a:rPr lang="zh-CN" altLang="en-US" dirty="0"/>
              <a:t> </a:t>
            </a:r>
            <a:r>
              <a:rPr lang="en-US" altLang="zh-CN" dirty="0"/>
              <a:t>Software Defined Network</a:t>
            </a:r>
          </a:p>
          <a:p>
            <a:pPr lvl="1"/>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693777346"/>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Montserrat" panose="00000500000000000000" pitchFamily="2" charset="0"/>
                <a:ea typeface="微软雅黑 Light" panose="020B0502040204020203" pitchFamily="34" charset="-122"/>
              </a:rPr>
              <a:t>注意：</a:t>
            </a:r>
            <a:endParaRPr lang="en-US" altLang="zh-CN" sz="1400" dirty="0">
              <a:solidFill>
                <a:srgbClr val="0000FF"/>
              </a:solidFill>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不是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endParaRPr lang="en-US" altLang="zh-CN" sz="1400" dirty="0">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未规定必须使用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p>
        </p:txBody>
      </p:sp>
      <p:grpSp>
        <p:nvGrpSpPr>
          <p:cNvPr id="17" name="组合 16"/>
          <p:cNvGrpSpPr/>
          <p:nvPr/>
        </p:nvGrpSpPr>
        <p:grpSpPr>
          <a:xfrm>
            <a:off x="5766005" y="1330858"/>
            <a:ext cx="3267416" cy="1614020"/>
            <a:chOff x="5766005" y="1330858"/>
            <a:chExt cx="3267416" cy="1614020"/>
          </a:xfrm>
        </p:grpSpPr>
        <p:grpSp>
          <p:nvGrpSpPr>
            <p:cNvPr id="7" name="组合 6"/>
            <p:cNvGrpSpPr/>
            <p:nvPr/>
          </p:nvGrpSpPr>
          <p:grpSpPr>
            <a:xfrm>
              <a:off x="5766005" y="1330858"/>
              <a:ext cx="2711030" cy="1614020"/>
              <a:chOff x="5423026" y="1627121"/>
              <a:chExt cx="3832569"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155568" cy="329548"/>
              </a:xfrm>
              <a:prstGeom prst="rect">
                <a:avLst/>
              </a:prstGeom>
              <a:noFill/>
            </p:spPr>
            <p:txBody>
              <a:bodyPr wrap="none" rtlCol="0">
                <a:spAutoFit/>
              </a:bodyPr>
              <a:lstStyle/>
              <a:p>
                <a:r>
                  <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rPr>
                  <a:t>协议 </a:t>
                </a:r>
                <a:r>
                  <a:rPr lang="en-US" altLang="zh-CN" sz="1400" dirty="0" err="1">
                    <a:solidFill>
                      <a:srgbClr val="C00000"/>
                    </a:solidFill>
                    <a:latin typeface="Montserrat" panose="00000500000000000000" pitchFamily="2" charset="0"/>
                    <a:ea typeface="微软雅黑 Light" panose="020B0502040204020203" pitchFamily="34" charset="-122"/>
                    <a:cs typeface="Times New Roman" pitchFamily="18" charset="0"/>
                  </a:rPr>
                  <a:t>OpenFlow</a:t>
                </a:r>
                <a:endPar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1</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2</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矩形 3"/>
            <p:cNvSpPr/>
            <p:nvPr/>
          </p:nvSpPr>
          <p:spPr>
            <a:xfrm>
              <a:off x="8443195" y="1989414"/>
              <a:ext cx="590226" cy="307777"/>
            </a:xfrm>
            <a:prstGeom prst="rect">
              <a:avLst/>
            </a:prstGeom>
          </p:spPr>
          <p:txBody>
            <a:bodyPr wrap="none">
              <a:spAutoFit/>
            </a:bodyPr>
            <a:lstStyle/>
            <a:p>
              <a:pPr lvl="0"/>
              <a:r>
                <a:rPr lang="en-US" altLang="en-US" sz="1400" dirty="0">
                  <a:latin typeface="Montserrat" panose="00000500000000000000" pitchFamily="2" charset="0"/>
                  <a:ea typeface="微软雅黑 Light" panose="020B0502040204020203" pitchFamily="34" charset="-122"/>
                </a:rPr>
                <a:t>SDN</a:t>
              </a:r>
              <a:endParaRPr lang="zh-CN" altLang="en-US" sz="1400" dirty="0">
                <a:latin typeface="Montserrat" panose="00000500000000000000" pitchFamily="2" charset="0"/>
                <a:ea typeface="微软雅黑 Light" panose="020B0502040204020203" pitchFamily="34" charset="-122"/>
              </a:endParaRPr>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2808000" y="144000"/>
            <a:ext cx="3528000" cy="400110"/>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1.0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2009</a:t>
              </a:r>
              <a:endParaRPr lang="zh-CN" altLang="en-US" sz="1400" kern="1200" dirty="0">
                <a:latin typeface="Montserrat" panose="00000500000000000000" pitchFamily="2" charset="0"/>
                <a:ea typeface="微软雅黑 Light" panose="020B0502040204020203"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2 </a:t>
              </a:r>
            </a:p>
            <a:p>
              <a:pPr lvl="0" algn="ctr" defTabSz="488950">
                <a:lnSpc>
                  <a:spcPts val="2000"/>
                </a:lnSpc>
                <a:spcBef>
                  <a:spcPct val="0"/>
                </a:spcBef>
                <a:spcAft>
                  <a:spcPts val="0"/>
                </a:spcAft>
              </a:pPr>
              <a:r>
                <a:rPr lang="en-US" altLang="zh-CN" sz="1400" kern="1200" dirty="0">
                  <a:latin typeface="Montserrat" panose="00000500000000000000" pitchFamily="2" charset="0"/>
                  <a:ea typeface="微软雅黑 Light" panose="020B0502040204020203" pitchFamily="34" charset="-122"/>
                </a:rPr>
                <a:t>2011-12 </a:t>
              </a:r>
            </a:p>
            <a:p>
              <a:pPr lvl="0" algn="ctr" defTabSz="488950">
                <a:lnSpc>
                  <a:spcPts val="20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开放网络基金会 </a:t>
              </a:r>
              <a:r>
                <a:rPr lang="en-US" altLang="en-US" sz="1400" kern="1200" dirty="0">
                  <a:latin typeface="Montserrat" panose="00000500000000000000" pitchFamily="2" charset="0"/>
                  <a:ea typeface="微软雅黑 Light" panose="020B0502040204020203" pitchFamily="34" charset="-122"/>
                </a:rPr>
                <a:t>ONF</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Open Networking Foundation</a:t>
              </a:r>
              <a:r>
                <a:rPr lang="zh-CN" altLang="en-US" sz="1400" kern="1200" dirty="0">
                  <a:latin typeface="Montserrat" panose="00000500000000000000" pitchFamily="2" charset="0"/>
                  <a:ea typeface="微软雅黑 Light" panose="020B0502040204020203"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x</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2</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4</a:t>
              </a:r>
              <a:endParaRPr lang="zh-CN" altLang="en-US" sz="1400" kern="1200" dirty="0">
                <a:latin typeface="Montserrat" panose="00000500000000000000" pitchFamily="2" charset="0"/>
                <a:ea typeface="微软雅黑 Light" panose="020B0502040204020203"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4</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8</a:t>
              </a:r>
              <a:endParaRPr lang="zh-CN" altLang="en-US" sz="1400" kern="1200" dirty="0">
                <a:latin typeface="Montserrat" panose="00000500000000000000" pitchFamily="2" charset="0"/>
                <a:ea typeface="微软雅黑 Light" panose="020B0502040204020203"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1.5.1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2015</a:t>
              </a:r>
              <a:r>
                <a:rPr lang="en-US" altLang="zh-CN" sz="1400" kern="1200" dirty="0">
                  <a:latin typeface="Montserrat" panose="00000500000000000000" pitchFamily="2" charset="0"/>
                  <a:ea typeface="微软雅黑 Light" panose="020B0502040204020203" pitchFamily="34" charset="-122"/>
                </a:rPr>
                <a:t>-03</a:t>
              </a:r>
              <a:endParaRPr lang="zh-CN" altLang="en-US" sz="1400" kern="1200" dirty="0">
                <a:latin typeface="Montserrat" panose="00000500000000000000" pitchFamily="2" charset="0"/>
                <a:ea typeface="微软雅黑 Light" panose="020B0502040204020203"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2808000" y="144000"/>
            <a:ext cx="3528000" cy="400110"/>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2808000" y="144000"/>
            <a:ext cx="3528000" cy="400110"/>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0"/>
          </p:nvPr>
        </p:nvSpPr>
        <p:spPr>
          <a:xfrm>
            <a:off x="612000" y="648000"/>
            <a:ext cx="7920000" cy="39600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dirty="0" err="1">
                  <a:solidFill>
                    <a:srgbClr val="000066"/>
                  </a:solidFill>
                  <a:latin typeface="微软雅黑" pitchFamily="34" charset="-122"/>
                  <a:ea typeface="微软雅黑" pitchFamily="34" charset="-122"/>
                </a:rPr>
                <a:t>OpenFlow</a:t>
              </a:r>
              <a:r>
                <a:rPr lang="en-US" altLang="zh-CN" dirty="0">
                  <a:solidFill>
                    <a:srgbClr val="000066"/>
                  </a:solidFill>
                  <a:latin typeface="微软雅黑" pitchFamily="34" charset="-122"/>
                  <a:ea typeface="微软雅黑" pitchFamily="34" charset="-122"/>
                </a:rPr>
                <a:t> </a:t>
              </a:r>
              <a:r>
                <a:rPr lang="zh-CN" altLang="en-US"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 </a:t>
            </a:r>
            <a:r>
              <a:rPr lang="en-US" altLang="zh-CN" sz="1400" dirty="0" err="1">
                <a:solidFill>
                  <a:schemeClr val="tx1"/>
                </a:solidFill>
                <a:latin typeface="微软雅黑 Light" panose="020B0502040204020203" pitchFamily="34" charset="-122"/>
                <a:ea typeface="微软雅黑 Light" panose="020B0502040204020203" pitchFamily="34" charset="-122"/>
              </a:rPr>
              <a:t>OpenFlow</a:t>
            </a:r>
            <a:r>
              <a:rPr lang="en-US" altLang="zh-CN" sz="1400" dirty="0">
                <a:solidFill>
                  <a:schemeClr val="tx1"/>
                </a:solidFill>
                <a:latin typeface="微软雅黑 Light" panose="020B0502040204020203" pitchFamily="34" charset="-122"/>
                <a:ea typeface="微软雅黑 Light" panose="020B0502040204020203" pitchFamily="34" charset="-122"/>
              </a:rPr>
              <a:t> </a:t>
            </a:r>
            <a:r>
              <a:rPr lang="zh-CN" altLang="en-US" sz="1400" dirty="0">
                <a:solidFill>
                  <a:schemeClr val="tx1"/>
                </a:solidFill>
                <a:latin typeface="微软雅黑 Light" panose="020B0502040204020203" pitchFamily="34" charset="-122"/>
                <a:ea typeface="微软雅黑 Light" panose="020B0502040204020203"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每个流表可以包括多个流表项 </a:t>
            </a:r>
            <a:r>
              <a:rPr lang="en-US" altLang="zh-CN" sz="1400" dirty="0">
                <a:solidFill>
                  <a:schemeClr val="tx1"/>
                </a:solidFill>
                <a:latin typeface="微软雅黑 Light" panose="020B0502040204020203" pitchFamily="34" charset="-122"/>
                <a:ea typeface="微软雅黑 Light" panose="020B0502040204020203" pitchFamily="34" charset="-122"/>
              </a:rPr>
              <a:t>(flow entry)</a:t>
            </a:r>
            <a:r>
              <a:rPr lang="zh-CN" altLang="en-US" sz="1400" dirty="0">
                <a:solidFill>
                  <a:schemeClr val="tx1"/>
                </a:solidFill>
                <a:latin typeface="微软雅黑 Light" panose="020B0502040204020203" pitchFamily="34" charset="-122"/>
                <a:ea typeface="微软雅黑 Light" panose="020B0502040204020203"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2808000" y="144000"/>
            <a:ext cx="3528000" cy="400110"/>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0"/>
          </p:nvPr>
        </p:nvSpPr>
        <p:spPr>
          <a:xfrm>
            <a:off x="612000" y="648000"/>
            <a:ext cx="7920000" cy="39600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42279" y="1829956"/>
            <a:ext cx="1704313"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Montserrat" panose="00000500000000000000" pitchFamily="2" charset="0"/>
              <a:ea typeface="微软雅黑 Light" panose="020B0502040204020203"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SDN</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远程控制器</a:t>
            </a:r>
          </a:p>
        </p:txBody>
      </p:sp>
      <p:sp>
        <p:nvSpPr>
          <p:cNvPr id="15" name="TextBox 85"/>
          <p:cNvSpPr txBox="1"/>
          <p:nvPr/>
        </p:nvSpPr>
        <p:spPr>
          <a:xfrm rot="21129718">
            <a:off x="4263048" y="2238088"/>
            <a:ext cx="1524777"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cs typeface="Times New Roman" pitchFamily="18" charset="0"/>
              </a:rPr>
              <a:t>协议</a:t>
            </a:r>
            <a:endParaRPr lang="zh-CN" altLang="en-US" sz="1400" dirty="0">
              <a:latin typeface="Montserrat" panose="00000500000000000000" pitchFamily="2" charset="0"/>
              <a:ea typeface="微软雅黑 Light" panose="020B0502040204020203"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Montserrat" panose="00000500000000000000" pitchFamily="2" charset="0"/>
              <a:ea typeface="微软雅黑 Light" panose="020B0502040204020203"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2808000" y="144000"/>
            <a:ext cx="3528000" cy="400110"/>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0"/>
          </p:nvPr>
        </p:nvSpPr>
        <p:spPr>
          <a:xfrm>
            <a:off x="612000" y="648000"/>
            <a:ext cx="7920000" cy="39600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5884944"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   以太网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VLAN </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C00000"/>
                </a:solidFill>
                <a:latin typeface="Montserrat" panose="00000500000000000000" pitchFamily="2" charset="0"/>
                <a:ea typeface="微软雅黑 Light" panose="020B0502040204020203" pitchFamily="34" charset="-122"/>
                <a:cs typeface="Times New Roman" pitchFamily="18" charset="0"/>
              </a:rPr>
              <a:t>IP</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660066"/>
                </a:solidFill>
                <a:latin typeface="Montserrat" panose="00000500000000000000" pitchFamily="2" charset="0"/>
                <a:ea typeface="微软雅黑 Light" panose="020B0502040204020203" pitchFamily="34" charset="-122"/>
                <a:cs typeface="Times New Roman" pitchFamily="18" charset="0"/>
              </a:rPr>
              <a:t>TCP/UDP</a:t>
            </a:r>
            <a:endPar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endParaRPr>
          </a:p>
        </p:txBody>
      </p:sp>
      <p:sp>
        <p:nvSpPr>
          <p:cNvPr id="23" name="TextBox 14"/>
          <p:cNvSpPr txBox="1"/>
          <p:nvPr/>
        </p:nvSpPr>
        <p:spPr>
          <a:xfrm>
            <a:off x="853839" y="2834279"/>
            <a:ext cx="646331" cy="276999"/>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源地址   目的地址    类型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ID    </a:t>
            </a:r>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优先级 </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C00000"/>
                </a:solidFill>
                <a:latin typeface="Montserrat" panose="00000500000000000000" pitchFamily="2" charset="0"/>
                <a:ea typeface="微软雅黑 Light" panose="020B0502040204020203" pitchFamily="34" charset="-122"/>
                <a:cs typeface="Times New Roman" pitchFamily="18" charset="0"/>
              </a:rPr>
              <a:t>源地址      目的地址    协议   服务类型</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链路层</a:t>
            </a:r>
          </a:p>
        </p:txBody>
      </p:sp>
      <p:sp>
        <p:nvSpPr>
          <p:cNvPr id="36" name="TextBox 55"/>
          <p:cNvSpPr txBox="1"/>
          <p:nvPr/>
        </p:nvSpPr>
        <p:spPr>
          <a:xfrm>
            <a:off x="5303829"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网络层</a:t>
            </a:r>
          </a:p>
        </p:txBody>
      </p:sp>
      <p:sp>
        <p:nvSpPr>
          <p:cNvPr id="37" name="TextBox 56"/>
          <p:cNvSpPr txBox="1"/>
          <p:nvPr/>
        </p:nvSpPr>
        <p:spPr>
          <a:xfrm>
            <a:off x="7318657"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spcAft>
                <a:spcPts val="12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492443" cy="276999"/>
          </a:xfrm>
          <a:prstGeom prst="rect">
            <a:avLst/>
          </a:prstGeom>
          <a:noFill/>
        </p:spPr>
        <p:txBody>
          <a:bodyPr wrap="none" rtlCol="0">
            <a:spAutoFit/>
          </a:bodyPr>
          <a:lstStyle/>
          <a:p>
            <a:r>
              <a:rPr lang="zh-CN" altLang="en-US" sz="1200" dirty="0">
                <a:latin typeface="微软雅黑 Light" panose="020B0502040204020203" pitchFamily="34" charset="-122"/>
                <a:ea typeface="微软雅黑 Light" panose="020B0502040204020203" pitchFamily="34" charset="-122"/>
                <a:cs typeface="Times New Roman" pitchFamily="18" charset="0"/>
              </a:rPr>
              <a:t>流表</a:t>
            </a:r>
          </a:p>
        </p:txBody>
      </p:sp>
      <p:sp>
        <p:nvSpPr>
          <p:cNvPr id="51" name="TextBox 78"/>
          <p:cNvSpPr txBox="1"/>
          <p:nvPr/>
        </p:nvSpPr>
        <p:spPr>
          <a:xfrm>
            <a:off x="342576" y="2686178"/>
            <a:ext cx="492443" cy="461665"/>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匹配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r>
              <a:rPr lang="zh-CN" altLang="en-US" sz="1200" dirty="0">
                <a:latin typeface="Montserrat" panose="00000500000000000000" pitchFamily="2" charset="0"/>
                <a:ea typeface="微软雅黑 Light" panose="020B0502040204020203"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矩形 38"/>
          <p:cNvSpPr/>
          <p:nvPr/>
        </p:nvSpPr>
        <p:spPr>
          <a:xfrm>
            <a:off x="2176538" y="1106115"/>
            <a:ext cx="2830643" cy="1019601"/>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2808000" y="144000"/>
            <a:ext cx="3528000" cy="400110"/>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95035" cy="338554"/>
          </a:xfrm>
          <a:prstGeom prst="rect">
            <a:avLst/>
          </a:prstGeom>
          <a:noFill/>
        </p:spPr>
        <p:txBody>
          <a:bodyPr wrap="none" rtlCol="0">
            <a:spAutoFit/>
          </a:bodyPr>
          <a:lstStyle/>
          <a:p>
            <a:r>
              <a:rPr lang="zh-CN" altLang="en-US" sz="1600"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2808000" y="144000"/>
            <a:ext cx="3528000" cy="400110"/>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2808000" y="144000"/>
            <a:ext cx="3528000" cy="400110"/>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2808000" y="144000"/>
            <a:ext cx="3528000" cy="400110"/>
          </a:xfrm>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2808000" y="144000"/>
            <a:ext cx="3528000" cy="400110"/>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2808000" y="144000"/>
            <a:ext cx="3528000" cy="400110"/>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0"/>
          </p:nvPr>
        </p:nvSpPr>
        <p:spPr>
          <a:xfrm>
            <a:off x="612000" y="648000"/>
            <a:ext cx="7920000" cy="39600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2808000" y="144000"/>
            <a:ext cx="3528000" cy="400110"/>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a:xfrm>
            <a:off x="2808000" y="144000"/>
            <a:ext cx="3528000" cy="400110"/>
          </a:xfrm>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2808000" y="144000"/>
            <a:ext cx="3528000" cy="400110"/>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2808000" y="144000"/>
            <a:ext cx="3528000" cy="400110"/>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2808000" y="144000"/>
            <a:ext cx="3528000" cy="400110"/>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2808000" y="144000"/>
            <a:ext cx="3528000" cy="400110"/>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2808000" y="144000"/>
            <a:ext cx="3528000" cy="400110"/>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2808000" y="144000"/>
            <a:ext cx="3528000" cy="400110"/>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2808000" y="144000"/>
            <a:ext cx="3528000" cy="400110"/>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8383</TotalTime>
  <Words>37052</Words>
  <Application>Microsoft Office PowerPoint</Application>
  <PresentationFormat>全屏显示(16:9)</PresentationFormat>
  <Paragraphs>5710</Paragraphs>
  <Slides>333</Slides>
  <Notes>112</Notes>
  <HiddenSlides>1</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2</vt:i4>
      </vt:variant>
      <vt:variant>
        <vt:lpstr>幻灯片标题</vt:lpstr>
      </vt:variant>
      <vt:variant>
        <vt:i4>333</vt:i4>
      </vt:variant>
    </vt:vector>
  </HeadingPairs>
  <TitlesOfParts>
    <vt:vector size="343" baseType="lpstr">
      <vt:lpstr>Wingdings</vt:lpstr>
      <vt:lpstr>微软雅黑</vt:lpstr>
      <vt:lpstr>Symbol</vt:lpstr>
      <vt:lpstr>Times New Roman</vt:lpstr>
      <vt:lpstr>Montserrat</vt:lpstr>
      <vt:lpstr>微软雅黑 Light</vt:lpstr>
      <vt:lpstr>Arial</vt:lpstr>
      <vt:lpstr>Office 主题​​</vt:lpstr>
      <vt:lpstr>Visio</vt:lpstr>
      <vt:lpstr>VISIO</vt:lpstr>
      <vt:lpstr>PowerPoint 演示文稿</vt:lpstr>
      <vt:lpstr>计算机网络体系结构</vt:lpstr>
      <vt:lpstr>PowerPoint 演示文稿</vt:lpstr>
      <vt:lpstr>4.1 重要概念</vt:lpstr>
      <vt:lpstr>4.1.1 网络层提供的两种服务</vt:lpstr>
      <vt:lpstr>观点1</vt:lpstr>
      <vt:lpstr>虚电路服务</vt:lpstr>
      <vt:lpstr>观点2</vt:lpstr>
      <vt:lpstr>数据报服务</vt:lpstr>
      <vt:lpstr>虚电路服务 vs 数据报服务</vt:lpstr>
      <vt:lpstr>4.1.2 网络层的两个层面</vt:lpstr>
      <vt:lpstr>4.1.2 网络层的两个层面</vt:lpstr>
      <vt:lpstr>数据层面和控制层面</vt:lpstr>
      <vt:lpstr>软件定义网络 SDN</vt:lpstr>
      <vt:lpstr>软件定义网络 SDN</vt:lpstr>
      <vt:lpstr>4.2 网际协议 IP</vt:lpstr>
      <vt:lpstr>4.2  网际协议 IP </vt:lpstr>
      <vt:lpstr>4.2.1  虚拟互连网络</vt:lpstr>
      <vt:lpstr>异构网络的互连互通</vt:lpstr>
      <vt:lpstr>使用中间设备进行互连</vt:lpstr>
      <vt:lpstr>使用转发器或网桥</vt:lpstr>
      <vt:lpstr>使用路由器</vt:lpstr>
      <vt:lpstr>互连网络与虚拟互连网络</vt:lpstr>
      <vt:lpstr>IP 网</vt:lpstr>
      <vt:lpstr>互联网</vt:lpstr>
      <vt:lpstr>分组传输</vt:lpstr>
      <vt:lpstr>4.2.2  IP 地址</vt:lpstr>
      <vt:lpstr>1. IP 地址及其表示方法</vt:lpstr>
      <vt:lpstr>点分十进制记法举例</vt:lpstr>
      <vt:lpstr>IP 地址的 2 级结构</vt:lpstr>
      <vt:lpstr>2. 分类的 IP 地址</vt:lpstr>
      <vt:lpstr>各类 IP 地址的指派范围</vt:lpstr>
      <vt:lpstr>一般不使用的特殊的 IP 地址</vt:lpstr>
      <vt:lpstr>分类 IP 地址的优点和缺点</vt:lpstr>
      <vt:lpstr>3. 无分类编址 CIDR</vt:lpstr>
      <vt:lpstr>网络前缀</vt:lpstr>
      <vt:lpstr>地址块</vt:lpstr>
      <vt:lpstr>地址块</vt:lpstr>
      <vt:lpstr>地址掩码 (address mask)</vt:lpstr>
      <vt:lpstr>默认地址掩码</vt:lpstr>
      <vt:lpstr>网络地址</vt:lpstr>
      <vt:lpstr>网络地址</vt:lpstr>
      <vt:lpstr>常用的 CIDR 地址块</vt:lpstr>
      <vt:lpstr>三个特殊的 CIDR 地址块</vt:lpstr>
      <vt:lpstr>构造超网</vt:lpstr>
      <vt:lpstr>路由聚合 (route aggregation)</vt:lpstr>
      <vt:lpstr>CIDR 地址块划分举例</vt:lpstr>
      <vt:lpstr>CIDR 地址块划分举例</vt:lpstr>
      <vt:lpstr>4. IP 地址的特点</vt:lpstr>
      <vt:lpstr>注意</vt:lpstr>
      <vt:lpstr>注意</vt:lpstr>
      <vt:lpstr>注意</vt:lpstr>
      <vt:lpstr>4.2.3  IP 地址与 MAC 地址</vt:lpstr>
      <vt:lpstr>4.2.3  IP 地址与 MAC 地址</vt:lpstr>
      <vt:lpstr>4.2.3  IP 地址与 MAC 地址</vt:lpstr>
      <vt:lpstr>4.2.3  IP 地址与 MAC 地址</vt:lpstr>
      <vt:lpstr>4.2.3  IP 地址与 MAC 地址</vt:lpstr>
      <vt:lpstr>4.2.3  IP 地址与 MAC 地址</vt:lpstr>
      <vt:lpstr>4.2.3  IP 地址与 MAC 地址</vt:lpstr>
      <vt:lpstr>4.2.3  IP 地址与 MAC 地址</vt:lpstr>
      <vt:lpstr>4.2.3  IP 地址与 MAC 地址</vt:lpstr>
      <vt:lpstr>4.2.4  地址解析协议 ARP</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PowerPoint 演示文稿</vt:lpstr>
      <vt:lpstr>4.6.4  外部网关协议 BGP</vt:lpstr>
      <vt:lpstr>BGP 发言者 (BGP speaker)</vt:lpstr>
      <vt:lpstr>eBGP 连接和 iBGP 连接</vt:lpstr>
      <vt:lpstr>IGP vs iBGP vs eBGP</vt:lpstr>
      <vt:lpstr> eBGP vs iBGP</vt:lpstr>
      <vt:lpstr> eBGP vs iBGP</vt:lpstr>
      <vt:lpstr>BGP 路由信息</vt:lpstr>
      <vt:lpstr>PowerPoint 演示文稿</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4.9.2  MPLS 首部的位置与格式</vt:lpstr>
      <vt:lpstr>4.9.3  新一代的 MPLS</vt:lpstr>
      <vt:lpstr>段路由选择协议 SR </vt:lpstr>
      <vt:lpstr>控制器</vt:lpstr>
      <vt:lpstr>4.10 SDN</vt:lpstr>
      <vt:lpstr>4.10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471</cp:revision>
  <dcterms:modified xsi:type="dcterms:W3CDTF">2026-07-25T11:26:44Z</dcterms:modified>
</cp:coreProperties>
</file>