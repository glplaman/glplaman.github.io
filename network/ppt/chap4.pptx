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3.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06.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07.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08.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bookmarkIdSeed="2">
  <p:sldMasterIdLst>
    <p:sldMasterId id="2147483648" r:id="rId1"/>
  </p:sldMasterIdLst>
  <p:notesMasterIdLst>
    <p:notesMasterId r:id="rId346"/>
  </p:notesMasterIdLst>
  <p:sldIdLst>
    <p:sldId id="257" r:id="rId2"/>
    <p:sldId id="613" r:id="rId3"/>
    <p:sldId id="256" r:id="rId4"/>
    <p:sldId id="608" r:id="rId5"/>
    <p:sldId id="609" r:id="rId6"/>
    <p:sldId id="259" r:id="rId7"/>
    <p:sldId id="260" r:id="rId8"/>
    <p:sldId id="262" r:id="rId9"/>
    <p:sldId id="264" r:id="rId10"/>
    <p:sldId id="265" r:id="rId11"/>
    <p:sldId id="610" r:id="rId12"/>
    <p:sldId id="612" r:id="rId13"/>
    <p:sldId id="611" r:id="rId14"/>
    <p:sldId id="615" r:id="rId15"/>
    <p:sldId id="616" r:id="rId16"/>
    <p:sldId id="266" r:id="rId17"/>
    <p:sldId id="267" r:id="rId18"/>
    <p:sldId id="269" r:id="rId19"/>
    <p:sldId id="618" r:id="rId20"/>
    <p:sldId id="617" r:id="rId21"/>
    <p:sldId id="619" r:id="rId22"/>
    <p:sldId id="271" r:id="rId23"/>
    <p:sldId id="272" r:id="rId24"/>
    <p:sldId id="273" r:id="rId25"/>
    <p:sldId id="274" r:id="rId26"/>
    <p:sldId id="275" r:id="rId27"/>
    <p:sldId id="276" r:id="rId28"/>
    <p:sldId id="277" r:id="rId29"/>
    <p:sldId id="291" r:id="rId30"/>
    <p:sldId id="621" r:id="rId31"/>
    <p:sldId id="622" r:id="rId32"/>
    <p:sldId id="282" r:id="rId33"/>
    <p:sldId id="283" r:id="rId34"/>
    <p:sldId id="284" r:id="rId35"/>
    <p:sldId id="285" r:id="rId36"/>
    <p:sldId id="286" r:id="rId37"/>
    <p:sldId id="287" r:id="rId38"/>
    <p:sldId id="288" r:id="rId39"/>
    <p:sldId id="289" r:id="rId40"/>
    <p:sldId id="843" r:id="rId41"/>
    <p:sldId id="293" r:id="rId42"/>
    <p:sldId id="623" r:id="rId43"/>
    <p:sldId id="624" r:id="rId44"/>
    <p:sldId id="625" r:id="rId45"/>
    <p:sldId id="628" r:id="rId46"/>
    <p:sldId id="631" r:id="rId47"/>
    <p:sldId id="632" r:id="rId48"/>
    <p:sldId id="636" r:id="rId49"/>
    <p:sldId id="635" r:id="rId50"/>
    <p:sldId id="637" r:id="rId51"/>
    <p:sldId id="640" r:id="rId52"/>
    <p:sldId id="642" r:id="rId53"/>
    <p:sldId id="641" r:id="rId54"/>
    <p:sldId id="643" r:id="rId55"/>
    <p:sldId id="644" r:id="rId56"/>
    <p:sldId id="646" r:id="rId57"/>
    <p:sldId id="647" r:id="rId58"/>
    <p:sldId id="648" r:id="rId59"/>
    <p:sldId id="649" r:id="rId60"/>
    <p:sldId id="650" r:id="rId61"/>
    <p:sldId id="855" r:id="rId62"/>
    <p:sldId id="856" r:id="rId63"/>
    <p:sldId id="857" r:id="rId64"/>
    <p:sldId id="306" r:id="rId65"/>
    <p:sldId id="869" r:id="rId66"/>
    <p:sldId id="654" r:id="rId67"/>
    <p:sldId id="308" r:id="rId68"/>
    <p:sldId id="309" r:id="rId69"/>
    <p:sldId id="657" r:id="rId70"/>
    <p:sldId id="658" r:id="rId71"/>
    <p:sldId id="316" r:id="rId72"/>
    <p:sldId id="659" r:id="rId73"/>
    <p:sldId id="317" r:id="rId74"/>
    <p:sldId id="318" r:id="rId75"/>
    <p:sldId id="319" r:id="rId76"/>
    <p:sldId id="662" r:id="rId77"/>
    <p:sldId id="663" r:id="rId78"/>
    <p:sldId id="322" r:id="rId79"/>
    <p:sldId id="323" r:id="rId80"/>
    <p:sldId id="665" r:id="rId81"/>
    <p:sldId id="666" r:id="rId82"/>
    <p:sldId id="667" r:id="rId83"/>
    <p:sldId id="669" r:id="rId84"/>
    <p:sldId id="668" r:id="rId85"/>
    <p:sldId id="326" r:id="rId86"/>
    <p:sldId id="840" r:id="rId87"/>
    <p:sldId id="841" r:id="rId88"/>
    <p:sldId id="842" r:id="rId89"/>
    <p:sldId id="670" r:id="rId90"/>
    <p:sldId id="671" r:id="rId91"/>
    <p:sldId id="672" r:id="rId92"/>
    <p:sldId id="673" r:id="rId93"/>
    <p:sldId id="333" r:id="rId94"/>
    <p:sldId id="334" r:id="rId95"/>
    <p:sldId id="335" r:id="rId96"/>
    <p:sldId id="336" r:id="rId97"/>
    <p:sldId id="337" r:id="rId98"/>
    <p:sldId id="338" r:id="rId99"/>
    <p:sldId id="339" r:id="rId100"/>
    <p:sldId id="341" r:id="rId101"/>
    <p:sldId id="342" r:id="rId102"/>
    <p:sldId id="343" r:id="rId103"/>
    <p:sldId id="344" r:id="rId104"/>
    <p:sldId id="345" r:id="rId105"/>
    <p:sldId id="674" r:id="rId106"/>
    <p:sldId id="346" r:id="rId107"/>
    <p:sldId id="347" r:id="rId108"/>
    <p:sldId id="348" r:id="rId109"/>
    <p:sldId id="349" r:id="rId110"/>
    <p:sldId id="675" r:id="rId111"/>
    <p:sldId id="350" r:id="rId112"/>
    <p:sldId id="351" r:id="rId113"/>
    <p:sldId id="844" r:id="rId114"/>
    <p:sldId id="845" r:id="rId115"/>
    <p:sldId id="846" r:id="rId116"/>
    <p:sldId id="847" r:id="rId117"/>
    <p:sldId id="848" r:id="rId118"/>
    <p:sldId id="849" r:id="rId119"/>
    <p:sldId id="850" r:id="rId120"/>
    <p:sldId id="851" r:id="rId121"/>
    <p:sldId id="852" r:id="rId122"/>
    <p:sldId id="853" r:id="rId123"/>
    <p:sldId id="854" r:id="rId124"/>
    <p:sldId id="861" r:id="rId125"/>
    <p:sldId id="352" r:id="rId126"/>
    <p:sldId id="355" r:id="rId127"/>
    <p:sldId id="357" r:id="rId128"/>
    <p:sldId id="691" r:id="rId129"/>
    <p:sldId id="694" r:id="rId130"/>
    <p:sldId id="695" r:id="rId131"/>
    <p:sldId id="697" r:id="rId132"/>
    <p:sldId id="698" r:id="rId133"/>
    <p:sldId id="699" r:id="rId134"/>
    <p:sldId id="872" r:id="rId135"/>
    <p:sldId id="700" r:id="rId136"/>
    <p:sldId id="701" r:id="rId137"/>
    <p:sldId id="703" r:id="rId138"/>
    <p:sldId id="704" r:id="rId139"/>
    <p:sldId id="705" r:id="rId140"/>
    <p:sldId id="706" r:id="rId141"/>
    <p:sldId id="707" r:id="rId142"/>
    <p:sldId id="708" r:id="rId143"/>
    <p:sldId id="709" r:id="rId144"/>
    <p:sldId id="862" r:id="rId145"/>
    <p:sldId id="711" r:id="rId146"/>
    <p:sldId id="712" r:id="rId147"/>
    <p:sldId id="714" r:id="rId148"/>
    <p:sldId id="715" r:id="rId149"/>
    <p:sldId id="716" r:id="rId150"/>
    <p:sldId id="717" r:id="rId151"/>
    <p:sldId id="718" r:id="rId152"/>
    <p:sldId id="719" r:id="rId153"/>
    <p:sldId id="720" r:id="rId154"/>
    <p:sldId id="721" r:id="rId155"/>
    <p:sldId id="722" r:id="rId156"/>
    <p:sldId id="723" r:id="rId157"/>
    <p:sldId id="724" r:id="rId158"/>
    <p:sldId id="725" r:id="rId159"/>
    <p:sldId id="727" r:id="rId160"/>
    <p:sldId id="728" r:id="rId161"/>
    <p:sldId id="729" r:id="rId162"/>
    <p:sldId id="730" r:id="rId163"/>
    <p:sldId id="731" r:id="rId164"/>
    <p:sldId id="732" r:id="rId165"/>
    <p:sldId id="735" r:id="rId166"/>
    <p:sldId id="736" r:id="rId167"/>
    <p:sldId id="737" r:id="rId168"/>
    <p:sldId id="738" r:id="rId169"/>
    <p:sldId id="740" r:id="rId170"/>
    <p:sldId id="741" r:id="rId171"/>
    <p:sldId id="743" r:id="rId172"/>
    <p:sldId id="863" r:id="rId173"/>
    <p:sldId id="416" r:id="rId174"/>
    <p:sldId id="745" r:id="rId175"/>
    <p:sldId id="746" r:id="rId176"/>
    <p:sldId id="747" r:id="rId177"/>
    <p:sldId id="419" r:id="rId178"/>
    <p:sldId id="421" r:id="rId179"/>
    <p:sldId id="422" r:id="rId180"/>
    <p:sldId id="423" r:id="rId181"/>
    <p:sldId id="873" r:id="rId182"/>
    <p:sldId id="874" r:id="rId183"/>
    <p:sldId id="426" r:id="rId184"/>
    <p:sldId id="748" r:id="rId185"/>
    <p:sldId id="875" r:id="rId186"/>
    <p:sldId id="427" r:id="rId187"/>
    <p:sldId id="749" r:id="rId188"/>
    <p:sldId id="429" r:id="rId189"/>
    <p:sldId id="430" r:id="rId190"/>
    <p:sldId id="750" r:id="rId191"/>
    <p:sldId id="876" r:id="rId192"/>
    <p:sldId id="431" r:id="rId193"/>
    <p:sldId id="432" r:id="rId194"/>
    <p:sldId id="434" r:id="rId195"/>
    <p:sldId id="435" r:id="rId196"/>
    <p:sldId id="436" r:id="rId197"/>
    <p:sldId id="437" r:id="rId198"/>
    <p:sldId id="751" r:id="rId199"/>
    <p:sldId id="442" r:id="rId200"/>
    <p:sldId id="441" r:id="rId201"/>
    <p:sldId id="443" r:id="rId202"/>
    <p:sldId id="444" r:id="rId203"/>
    <p:sldId id="445" r:id="rId204"/>
    <p:sldId id="446" r:id="rId205"/>
    <p:sldId id="447" r:id="rId206"/>
    <p:sldId id="753" r:id="rId207"/>
    <p:sldId id="449" r:id="rId208"/>
    <p:sldId id="450" r:id="rId209"/>
    <p:sldId id="452" r:id="rId210"/>
    <p:sldId id="453" r:id="rId211"/>
    <p:sldId id="457" r:id="rId212"/>
    <p:sldId id="459" r:id="rId213"/>
    <p:sldId id="458" r:id="rId214"/>
    <p:sldId id="460" r:id="rId215"/>
    <p:sldId id="756" r:id="rId216"/>
    <p:sldId id="461" r:id="rId217"/>
    <p:sldId id="463" r:id="rId218"/>
    <p:sldId id="464" r:id="rId219"/>
    <p:sldId id="759" r:id="rId220"/>
    <p:sldId id="760" r:id="rId221"/>
    <p:sldId id="761" r:id="rId222"/>
    <p:sldId id="762" r:id="rId223"/>
    <p:sldId id="764" r:id="rId224"/>
    <p:sldId id="763" r:id="rId225"/>
    <p:sldId id="766" r:id="rId226"/>
    <p:sldId id="765" r:id="rId227"/>
    <p:sldId id="769" r:id="rId228"/>
    <p:sldId id="770" r:id="rId229"/>
    <p:sldId id="771" r:id="rId230"/>
    <p:sldId id="467" r:id="rId231"/>
    <p:sldId id="469" r:id="rId232"/>
    <p:sldId id="773" r:id="rId233"/>
    <p:sldId id="774" r:id="rId234"/>
    <p:sldId id="859" r:id="rId235"/>
    <p:sldId id="776" r:id="rId236"/>
    <p:sldId id="777" r:id="rId237"/>
    <p:sldId id="858" r:id="rId238"/>
    <p:sldId id="778" r:id="rId239"/>
    <p:sldId id="860" r:id="rId240"/>
    <p:sldId id="474" r:id="rId241"/>
    <p:sldId id="475" r:id="rId242"/>
    <p:sldId id="476" r:id="rId243"/>
    <p:sldId id="781" r:id="rId244"/>
    <p:sldId id="782" r:id="rId245"/>
    <p:sldId id="483" r:id="rId246"/>
    <p:sldId id="485" r:id="rId247"/>
    <p:sldId id="487" r:id="rId248"/>
    <p:sldId id="488" r:id="rId249"/>
    <p:sldId id="784" r:id="rId250"/>
    <p:sldId id="785" r:id="rId251"/>
    <p:sldId id="864" r:id="rId252"/>
    <p:sldId id="527" r:id="rId253"/>
    <p:sldId id="528" r:id="rId254"/>
    <p:sldId id="529" r:id="rId255"/>
    <p:sldId id="530" r:id="rId256"/>
    <p:sldId id="531" r:id="rId257"/>
    <p:sldId id="532" r:id="rId258"/>
    <p:sldId id="533" r:id="rId259"/>
    <p:sldId id="534" r:id="rId260"/>
    <p:sldId id="786" r:id="rId261"/>
    <p:sldId id="537" r:id="rId262"/>
    <p:sldId id="539" r:id="rId263"/>
    <p:sldId id="540" r:id="rId264"/>
    <p:sldId id="541" r:id="rId265"/>
    <p:sldId id="542" r:id="rId266"/>
    <p:sldId id="789" r:id="rId267"/>
    <p:sldId id="790" r:id="rId268"/>
    <p:sldId id="791" r:id="rId269"/>
    <p:sldId id="792" r:id="rId270"/>
    <p:sldId id="545" r:id="rId271"/>
    <p:sldId id="794" r:id="rId272"/>
    <p:sldId id="548" r:id="rId273"/>
    <p:sldId id="549" r:id="rId274"/>
    <p:sldId id="550" r:id="rId275"/>
    <p:sldId id="797" r:id="rId276"/>
    <p:sldId id="796" r:id="rId277"/>
    <p:sldId id="552" r:id="rId278"/>
    <p:sldId id="553" r:id="rId279"/>
    <p:sldId id="554" r:id="rId280"/>
    <p:sldId id="800" r:id="rId281"/>
    <p:sldId id="555" r:id="rId282"/>
    <p:sldId id="865" r:id="rId283"/>
    <p:sldId id="557" r:id="rId284"/>
    <p:sldId id="558" r:id="rId285"/>
    <p:sldId id="560" r:id="rId286"/>
    <p:sldId id="561" r:id="rId287"/>
    <p:sldId id="562" r:id="rId288"/>
    <p:sldId id="563" r:id="rId289"/>
    <p:sldId id="564" r:id="rId290"/>
    <p:sldId id="565" r:id="rId291"/>
    <p:sldId id="566" r:id="rId292"/>
    <p:sldId id="868" r:id="rId293"/>
    <p:sldId id="568" r:id="rId294"/>
    <p:sldId id="569" r:id="rId295"/>
    <p:sldId id="570" r:id="rId296"/>
    <p:sldId id="572" r:id="rId297"/>
    <p:sldId id="573" r:id="rId298"/>
    <p:sldId id="574" r:id="rId299"/>
    <p:sldId id="575" r:id="rId300"/>
    <p:sldId id="866" r:id="rId301"/>
    <p:sldId id="578" r:id="rId302"/>
    <p:sldId id="579" r:id="rId303"/>
    <p:sldId id="581" r:id="rId304"/>
    <p:sldId id="582" r:id="rId305"/>
    <p:sldId id="584" r:id="rId306"/>
    <p:sldId id="583" r:id="rId307"/>
    <p:sldId id="585" r:id="rId308"/>
    <p:sldId id="805" r:id="rId309"/>
    <p:sldId id="806" r:id="rId310"/>
    <p:sldId id="588" r:id="rId311"/>
    <p:sldId id="808" r:id="rId312"/>
    <p:sldId id="809" r:id="rId313"/>
    <p:sldId id="590" r:id="rId314"/>
    <p:sldId id="592" r:id="rId315"/>
    <p:sldId id="593" r:id="rId316"/>
    <p:sldId id="810" r:id="rId317"/>
    <p:sldId id="811" r:id="rId318"/>
    <p:sldId id="812" r:id="rId319"/>
    <p:sldId id="813" r:id="rId320"/>
    <p:sldId id="814" r:id="rId321"/>
    <p:sldId id="815" r:id="rId322"/>
    <p:sldId id="816" r:id="rId323"/>
    <p:sldId id="867" r:id="rId324"/>
    <p:sldId id="817" r:id="rId325"/>
    <p:sldId id="821" r:id="rId326"/>
    <p:sldId id="820" r:id="rId327"/>
    <p:sldId id="822" r:id="rId328"/>
    <p:sldId id="823" r:id="rId329"/>
    <p:sldId id="824" r:id="rId330"/>
    <p:sldId id="826" r:id="rId331"/>
    <p:sldId id="827" r:id="rId332"/>
    <p:sldId id="828" r:id="rId333"/>
    <p:sldId id="825" r:id="rId334"/>
    <p:sldId id="829" r:id="rId335"/>
    <p:sldId id="870" r:id="rId336"/>
    <p:sldId id="830" r:id="rId337"/>
    <p:sldId id="871" r:id="rId338"/>
    <p:sldId id="831" r:id="rId339"/>
    <p:sldId id="835" r:id="rId340"/>
    <p:sldId id="833" r:id="rId341"/>
    <p:sldId id="836" r:id="rId342"/>
    <p:sldId id="834" r:id="rId343"/>
    <p:sldId id="838" r:id="rId344"/>
    <p:sldId id="839" r:id="rId345"/>
  </p:sldIdLst>
  <p:sldSz cx="9144000" cy="5143500" type="screen16x9"/>
  <p:notesSz cx="6858000" cy="9144000"/>
  <p:embeddedFontLst>
    <p:embeddedFont>
      <p:font typeface="Montserrat" panose="00000500000000000000" pitchFamily="2" charset="0"/>
      <p:regular r:id="rId347"/>
    </p:embeddedFont>
    <p:embeddedFont>
      <p:font typeface="Tahoma" panose="020B0604030504040204" pitchFamily="34" charset="0"/>
      <p:regular r:id="rId348"/>
      <p:bold r:id="rId349"/>
    </p:embeddedFont>
    <p:embeddedFont>
      <p:font typeface="黑体" panose="02010609060101010101" pitchFamily="49" charset="-122"/>
      <p:regular r:id="rId350"/>
    </p:embeddedFont>
    <p:embeddedFont>
      <p:font typeface="微软雅黑" panose="020B0503020204020204" pitchFamily="34" charset="-122"/>
      <p:regular r:id="rId351"/>
      <p:bold r:id="rId352"/>
    </p:embeddedFont>
    <p:embeddedFont>
      <p:font typeface="微软雅黑" panose="020B0503020204020204" pitchFamily="34" charset="-122"/>
      <p:regular r:id="rId351"/>
      <p:bold r:id="rId352"/>
    </p:embeddedFont>
    <p:embeddedFont>
      <p:font typeface="微软雅黑 Light" panose="020B0502040204020203" pitchFamily="34" charset="-122"/>
      <p:regular r:id="rId353"/>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46C0A"/>
    <a:srgbClr val="00B2FD"/>
    <a:srgbClr val="FFFFFF"/>
    <a:srgbClr val="00B0F0"/>
    <a:srgbClr val="CC0099"/>
    <a:srgbClr val="0000FF"/>
    <a:srgbClr val="0000CC"/>
    <a:srgbClr val="FFFF99"/>
    <a:srgbClr val="1FA3E5"/>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中度样式 2 - 强调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73A0DAA-6AF3-43AB-8588-CEC1D06C72B9}" styleName="中度样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636" autoAdjust="0"/>
    <p:restoredTop sz="62121" autoAdjust="0"/>
  </p:normalViewPr>
  <p:slideViewPr>
    <p:cSldViewPr snapToGrid="0">
      <p:cViewPr>
        <p:scale>
          <a:sx n="100" d="100"/>
          <a:sy n="100" d="100"/>
        </p:scale>
        <p:origin x="1824" y="918"/>
      </p:cViewPr>
      <p:guideLst>
        <p:guide orient="horz" pos="1620"/>
        <p:guide pos="288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notesMaster" Target="notesMasters/notesMaster1.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357" Type="http://schemas.openxmlformats.org/officeDocument/2006/relationships/tableStyles" Target="tableStyles.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228" Type="http://schemas.openxmlformats.org/officeDocument/2006/relationships/slide" Target="slides/slide227.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font" Target="fonts/font2.fntdata"/><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98" Type="http://schemas.openxmlformats.org/officeDocument/2006/relationships/slide" Target="slides/slide97.xml"/><Relationship Id="rId121" Type="http://schemas.openxmlformats.org/officeDocument/2006/relationships/slide" Target="slides/slide120.xml"/><Relationship Id="rId163" Type="http://schemas.openxmlformats.org/officeDocument/2006/relationships/slide" Target="slides/slide162.xml"/><Relationship Id="rId219" Type="http://schemas.openxmlformats.org/officeDocument/2006/relationships/slide" Target="slides/slide218.xml"/><Relationship Id="rId230" Type="http://schemas.openxmlformats.org/officeDocument/2006/relationships/slide" Target="slides/slide229.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328" Type="http://schemas.openxmlformats.org/officeDocument/2006/relationships/slide" Target="slides/slide327.xml"/><Relationship Id="rId349" Type="http://schemas.openxmlformats.org/officeDocument/2006/relationships/font" Target="fonts/font3.fntdata"/><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318" Type="http://schemas.openxmlformats.org/officeDocument/2006/relationships/slide" Target="slides/slide317.xml"/><Relationship Id="rId339" Type="http://schemas.openxmlformats.org/officeDocument/2006/relationships/slide" Target="slides/slide338.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350" Type="http://schemas.openxmlformats.org/officeDocument/2006/relationships/font" Target="fonts/font4.fntdata"/><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329" Type="http://schemas.openxmlformats.org/officeDocument/2006/relationships/slide" Target="slides/slide328.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340" Type="http://schemas.openxmlformats.org/officeDocument/2006/relationships/slide" Target="slides/slide339.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19" Type="http://schemas.openxmlformats.org/officeDocument/2006/relationships/slide" Target="slides/slide318.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330" Type="http://schemas.openxmlformats.org/officeDocument/2006/relationships/slide" Target="slides/slide329.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351" Type="http://schemas.openxmlformats.org/officeDocument/2006/relationships/font" Target="fonts/font5.fntdata"/><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320" Type="http://schemas.openxmlformats.org/officeDocument/2006/relationships/slide" Target="slides/slide319.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341" Type="http://schemas.openxmlformats.org/officeDocument/2006/relationships/slide" Target="slides/slide340.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slide" Target="slides/slide309.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331" Type="http://schemas.openxmlformats.org/officeDocument/2006/relationships/slide" Target="slides/slide330.xml"/><Relationship Id="rId352" Type="http://schemas.openxmlformats.org/officeDocument/2006/relationships/font" Target="fonts/font6.fntdata"/><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321" Type="http://schemas.openxmlformats.org/officeDocument/2006/relationships/slide" Target="slides/slide320.xml"/><Relationship Id="rId342" Type="http://schemas.openxmlformats.org/officeDocument/2006/relationships/slide" Target="slides/slide341.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332" Type="http://schemas.openxmlformats.org/officeDocument/2006/relationships/slide" Target="slides/slide331.xml"/><Relationship Id="rId353" Type="http://schemas.openxmlformats.org/officeDocument/2006/relationships/font" Target="fonts/font7.fntdata"/><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slide" Target="slides/slide342.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354" Type="http://schemas.openxmlformats.org/officeDocument/2006/relationships/presProps" Target="presProps.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slide" Target="slides/slide343.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355" Type="http://schemas.openxmlformats.org/officeDocument/2006/relationships/viewProps" Target="viewProps.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slide" Target="slides/slide344.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356" Type="http://schemas.openxmlformats.org/officeDocument/2006/relationships/theme" Target="theme/theme1.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font" Target="fonts/font1.fntdata"/><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162" Type="http://schemas.openxmlformats.org/officeDocument/2006/relationships/slide" Target="slides/slide161.xml"/><Relationship Id="rId218" Type="http://schemas.openxmlformats.org/officeDocument/2006/relationships/slide" Target="slides/slide217.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173" Type="http://schemas.openxmlformats.org/officeDocument/2006/relationships/slide" Target="slides/slide172.xml"/><Relationship Id="rId229" Type="http://schemas.openxmlformats.org/officeDocument/2006/relationships/slide" Target="slides/slide228.xml"/><Relationship Id="rId240" Type="http://schemas.openxmlformats.org/officeDocument/2006/relationships/slide" Target="slides/slide239.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slide" Target="slides/slide337.xml"/><Relationship Id="rId8" Type="http://schemas.openxmlformats.org/officeDocument/2006/relationships/slide" Target="slides/slide7.xml"/><Relationship Id="rId142" Type="http://schemas.openxmlformats.org/officeDocument/2006/relationships/slide" Target="slides/slide141.xml"/><Relationship Id="rId184" Type="http://schemas.openxmlformats.org/officeDocument/2006/relationships/slide" Target="slides/slide183.xml"/><Relationship Id="rId251" Type="http://schemas.openxmlformats.org/officeDocument/2006/relationships/slide" Target="slides/slide250.xml"/></Relationships>
</file>

<file path=ppt/diagrams/_rels/data12.xml.rels><?xml version="1.0" encoding="UTF-8" standalone="yes"?>
<Relationships xmlns="http://schemas.openxmlformats.org/package/2006/relationships"><Relationship Id="rId1" Type="http://schemas.openxmlformats.org/officeDocument/2006/relationships/image" Target="../media/image63.jpeg"/></Relationships>
</file>

<file path=ppt/diagrams/_rels/drawing12.xml.rels><?xml version="1.0" encoding="UTF-8" standalone="yes"?>
<Relationships xmlns="http://schemas.openxmlformats.org/package/2006/relationships"><Relationship Id="rId1" Type="http://schemas.openxmlformats.org/officeDocument/2006/relationships/image" Target="../media/image63.jpeg"/></Relationships>
</file>

<file path=ppt/diagrams/colors1.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3">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4">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5">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7">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8">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9">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10">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1E8D4AF-C3E5-4296-8051-0B2F71547B54}"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1D1D2F34-C7FA-4AB6-9F6A-8ADE395C1D21}">
      <dgm:prSet phldrT="[文本]" custT="1"/>
      <dgm:spPr/>
      <dgm:t>
        <a:bodyPr/>
        <a:lstStyle/>
        <a:p>
          <a:pPr>
            <a:lnSpc>
              <a:spcPct val="100000"/>
            </a:lnSpc>
            <a:spcAft>
              <a:spcPct val="20000"/>
            </a:spcAft>
          </a:pPr>
          <a:r>
            <a:rPr lang="zh-CN" altLang="zh-CN" sz="1400" b="0" i="0" baseline="0" dirty="0">
              <a:latin typeface="Montserrat" panose="00000500000000000000" pitchFamily="2" charset="0"/>
              <a:ea typeface="微软雅黑 Light" panose="020B0502040204020203" pitchFamily="34" charset="-122"/>
            </a:rPr>
            <a:t>数据层面</a:t>
          </a:r>
          <a:endParaRPr lang="zh-CN" altLang="en-US" sz="1400" b="0" i="0" baseline="0" dirty="0">
            <a:latin typeface="Montserrat" panose="00000500000000000000" pitchFamily="2" charset="0"/>
            <a:ea typeface="微软雅黑 Light" panose="020B0502040204020203" pitchFamily="34" charset="-122"/>
          </a:endParaRPr>
        </a:p>
      </dgm:t>
    </dgm:pt>
    <dgm:pt modelId="{823E78B8-C518-42AA-B742-F63C09C24725}" type="parTrans" cxnId="{CE6B0C5F-6082-4B18-B949-9E4AAF3E153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BE6E7425-9E56-4DFD-A344-6EEBA290BBA4}" type="sibTrans" cxnId="{CE6B0C5F-6082-4B18-B949-9E4AAF3E153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935A8CA-284C-4650-9388-2F2B918FB8CE}">
      <dgm:prSet phldrT="[文本]" custT="1"/>
      <dgm:spPr>
        <a:noFill/>
      </dgm:spPr>
      <dgm:t>
        <a:bodyPr/>
        <a:lstStyle/>
        <a:p>
          <a:pPr>
            <a:lnSpc>
              <a:spcPct val="100000"/>
            </a:lnSpc>
            <a:spcAft>
              <a:spcPct val="20000"/>
            </a:spcAft>
          </a:pPr>
          <a:r>
            <a:rPr lang="zh-CN" altLang="zh-CN" sz="1400" b="0" i="0" baseline="0" dirty="0">
              <a:latin typeface="Montserrat" panose="00000500000000000000" pitchFamily="2" charset="0"/>
              <a:ea typeface="微软雅黑 Light" panose="020B0502040204020203" pitchFamily="34" charset="-122"/>
            </a:rPr>
            <a:t>路由器根据本路由器生成的</a:t>
          </a:r>
          <a:r>
            <a:rPr lang="zh-CN" altLang="zh-CN" sz="1400" b="0" i="0" baseline="0" dirty="0">
              <a:solidFill>
                <a:srgbClr val="C00000"/>
              </a:solidFill>
              <a:latin typeface="Montserrat" panose="00000500000000000000" pitchFamily="2" charset="0"/>
              <a:ea typeface="微软雅黑 Light" panose="020B0502040204020203" pitchFamily="34" charset="-122"/>
            </a:rPr>
            <a:t>转发表，</a:t>
          </a:r>
          <a:r>
            <a:rPr lang="zh-CN" altLang="zh-CN" sz="1400" b="0" i="0" baseline="0" dirty="0">
              <a:latin typeface="Montserrat" panose="00000500000000000000" pitchFamily="2" charset="0"/>
              <a:ea typeface="微软雅黑 Light" panose="020B0502040204020203" pitchFamily="34" charset="-122"/>
            </a:rPr>
            <a:t>把收到的分组从查找到的对应接口</a:t>
          </a:r>
          <a:r>
            <a:rPr lang="zh-CN" altLang="zh-CN" sz="1400" b="0" i="0" baseline="0" dirty="0">
              <a:solidFill>
                <a:srgbClr val="C00000"/>
              </a:solidFill>
              <a:latin typeface="Montserrat" panose="00000500000000000000" pitchFamily="2" charset="0"/>
              <a:ea typeface="微软雅黑 Light" panose="020B0502040204020203" pitchFamily="34" charset="-122"/>
            </a:rPr>
            <a:t>转发</a:t>
          </a:r>
          <a:r>
            <a:rPr lang="zh-CN" altLang="zh-CN" sz="1400" b="0" i="0" baseline="0" dirty="0">
              <a:latin typeface="Montserrat" panose="00000500000000000000" pitchFamily="2" charset="0"/>
              <a:ea typeface="微软雅黑 Light" panose="020B0502040204020203" pitchFamily="34" charset="-122"/>
            </a:rPr>
            <a:t>出去。</a:t>
          </a:r>
          <a:endParaRPr lang="zh-CN" altLang="en-US" sz="1400" b="0" i="0" baseline="0" dirty="0">
            <a:latin typeface="Montserrat" panose="00000500000000000000" pitchFamily="2" charset="0"/>
            <a:ea typeface="微软雅黑 Light" panose="020B0502040204020203" pitchFamily="34" charset="-122"/>
          </a:endParaRPr>
        </a:p>
      </dgm:t>
    </dgm:pt>
    <dgm:pt modelId="{1AB30E51-878D-48CF-B841-5F815E24A9C0}" type="parTrans" cxnId="{340AA356-AC5F-4D1E-8A28-B82F236B559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1A923FD5-5350-4497-8558-17F724679014}" type="sibTrans" cxnId="{340AA356-AC5F-4D1E-8A28-B82F236B559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3094E70-DBBD-4776-8255-CA53223AA920}">
      <dgm:prSet custT="1"/>
      <dgm:spPr>
        <a:noFill/>
      </dgm:spPr>
      <dgm:t>
        <a:bodyPr/>
        <a:lstStyle/>
        <a:p>
          <a:r>
            <a:rPr lang="zh-CN" altLang="en-US" sz="1400" b="0" i="0" baseline="0" dirty="0">
              <a:solidFill>
                <a:srgbClr val="C00000"/>
              </a:solidFill>
              <a:latin typeface="Montserrat" panose="00000500000000000000" pitchFamily="2" charset="0"/>
              <a:ea typeface="微软雅黑 Light" panose="020B0502040204020203" pitchFamily="34" charset="-122"/>
            </a:rPr>
            <a:t>独立</a:t>
          </a:r>
          <a:r>
            <a:rPr lang="zh-CN" altLang="en-US" sz="1400" b="0" i="0" baseline="0" dirty="0">
              <a:latin typeface="Montserrat" panose="00000500000000000000" pitchFamily="2" charset="0"/>
              <a:ea typeface="微软雅黑 Light" panose="020B0502040204020203" pitchFamily="34" charset="-122"/>
            </a:rPr>
            <a:t>工作。</a:t>
          </a:r>
        </a:p>
      </dgm:t>
    </dgm:pt>
    <dgm:pt modelId="{519E4824-498E-46FA-B960-A44A0D038680}" type="parTrans" cxnId="{E3296F2A-0B4D-464F-ADA8-C6964557947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FD2573C-C2DF-4E9E-9FD2-0B5C268A3B0B}" type="sibTrans" cxnId="{E3296F2A-0B4D-464F-ADA8-C6964557947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DD6D6094-BAB0-4C98-83EB-DBC53F380A53}">
      <dgm:prSet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采用</a:t>
          </a:r>
          <a:r>
            <a:rPr lang="zh-CN" altLang="en-US" sz="1400" b="0" i="0" baseline="0" dirty="0">
              <a:solidFill>
                <a:srgbClr val="C00000"/>
              </a:solidFill>
              <a:latin typeface="Montserrat" panose="00000500000000000000" pitchFamily="2" charset="0"/>
              <a:ea typeface="微软雅黑 Light" panose="020B0502040204020203" pitchFamily="34" charset="-122"/>
            </a:rPr>
            <a:t>硬件</a:t>
          </a:r>
          <a:r>
            <a:rPr lang="zh-CN" altLang="en-US" sz="1400" b="0" i="0" baseline="0" dirty="0">
              <a:latin typeface="Montserrat" panose="00000500000000000000" pitchFamily="2" charset="0"/>
              <a:ea typeface="微软雅黑 Light" panose="020B0502040204020203" pitchFamily="34" charset="-122"/>
            </a:rPr>
            <a:t>进行转发，快。</a:t>
          </a:r>
        </a:p>
      </dgm:t>
    </dgm:pt>
    <dgm:pt modelId="{BA84FEF6-F368-4443-A62A-421A69C3F6D5}" type="parTrans" cxnId="{8732565D-506C-432B-ACAC-ABE3104AEA0E}">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914780BD-0098-4867-BFF3-65E2D0EAC974}" type="sibTrans" cxnId="{8732565D-506C-432B-ACAC-ABE3104AEA0E}">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1A85F913-0EA5-4E0C-AC2C-65AE114C5338}">
      <dgm:prSet phldrT="[文本]" custT="1"/>
      <dgm:spPr>
        <a:solidFill>
          <a:srgbClr val="00B050"/>
        </a:solidFill>
        <a:ln>
          <a:solidFill>
            <a:srgbClr val="00B050"/>
          </a:solidFill>
        </a:ln>
      </dgm:spPr>
      <dgm:t>
        <a:bodyPr/>
        <a:lstStyle/>
        <a:p>
          <a:r>
            <a:rPr lang="zh-CN" altLang="en-US" sz="1400" b="0" i="0" baseline="0" dirty="0">
              <a:latin typeface="Montserrat" panose="00000500000000000000" pitchFamily="2" charset="0"/>
              <a:ea typeface="微软雅黑 Light" panose="020B0502040204020203" pitchFamily="34" charset="-122"/>
            </a:rPr>
            <a:t>控制层面</a:t>
          </a:r>
        </a:p>
      </dgm:t>
    </dgm:pt>
    <dgm:pt modelId="{044010CB-C44F-465A-8995-A6613AF5FDF8}" type="parTrans" cxnId="{6EB5599E-5ED8-420E-9A24-7B10512E8346}">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BDA74EC5-1F01-4178-B3C1-EC48A63056F9}" type="sibTrans" cxnId="{6EB5599E-5ED8-420E-9A24-7B10512E8346}">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AC39144C-C5C3-4F40-9875-92D77BDC146E}">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根据路由选择协议所用的路由算法</a:t>
          </a:r>
          <a:r>
            <a:rPr lang="zh-CN" altLang="en-US" sz="1400" b="0" i="0" baseline="0" dirty="0">
              <a:solidFill>
                <a:srgbClr val="C00000"/>
              </a:solidFill>
              <a:latin typeface="Montserrat" panose="00000500000000000000" pitchFamily="2" charset="0"/>
              <a:ea typeface="微软雅黑 Light" panose="020B0502040204020203" pitchFamily="34" charset="-122"/>
            </a:rPr>
            <a:t>计算路由，</a:t>
          </a:r>
          <a:r>
            <a:rPr lang="zh-CN" altLang="en-US" sz="1400" b="0" i="0" baseline="0" dirty="0">
              <a:latin typeface="Montserrat" panose="00000500000000000000" pitchFamily="2" charset="0"/>
              <a:ea typeface="微软雅黑 Light" panose="020B0502040204020203" pitchFamily="34" charset="-122"/>
            </a:rPr>
            <a:t>创建出本路由器的</a:t>
          </a:r>
          <a:r>
            <a:rPr lang="zh-CN" altLang="en-US" sz="1400" b="0" i="0" baseline="0" dirty="0">
              <a:solidFill>
                <a:srgbClr val="C00000"/>
              </a:solidFill>
              <a:latin typeface="Montserrat" panose="00000500000000000000" pitchFamily="2" charset="0"/>
              <a:ea typeface="微软雅黑 Light" panose="020B0502040204020203" pitchFamily="34" charset="-122"/>
            </a:rPr>
            <a:t>路由表。</a:t>
          </a:r>
        </a:p>
      </dgm:t>
    </dgm:pt>
    <dgm:pt modelId="{24887F04-A30C-4082-B81F-D5BF30CB8D4C}" type="parTrans" cxnId="{59C54F2B-F071-456B-AD40-08EE23AFC6C1}">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0DDD565A-D754-4AF0-89A1-0FC5777271DE}" type="sibTrans" cxnId="{59C54F2B-F071-456B-AD40-08EE23AFC6C1}">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24FFE58-99DC-49F4-BD07-88A42CC55D35}">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许多路由器</a:t>
          </a:r>
          <a:r>
            <a:rPr lang="zh-CN" altLang="en-US" sz="1400" b="0" i="0" baseline="0" dirty="0">
              <a:solidFill>
                <a:srgbClr val="C00000"/>
              </a:solidFill>
              <a:latin typeface="Montserrat" panose="00000500000000000000" pitchFamily="2" charset="0"/>
              <a:ea typeface="微软雅黑 Light" panose="020B0502040204020203" pitchFamily="34" charset="-122"/>
            </a:rPr>
            <a:t>协同</a:t>
          </a:r>
          <a:r>
            <a:rPr lang="zh-CN" altLang="en-US" sz="1400" b="0" i="0" baseline="0" dirty="0">
              <a:latin typeface="Montserrat" panose="00000500000000000000" pitchFamily="2" charset="0"/>
              <a:ea typeface="微软雅黑 Light" panose="020B0502040204020203" pitchFamily="34" charset="-122"/>
            </a:rPr>
            <a:t>动作。</a:t>
          </a:r>
        </a:p>
      </dgm:t>
    </dgm:pt>
    <dgm:pt modelId="{EC5618CD-EDB7-44AB-9D3C-01FBC3B8045B}" type="parTrans" cxnId="{7F44E923-64EB-40DB-8E31-44887494718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6B4C0358-26D5-43CD-8563-ABEAE90D2FE6}" type="sibTrans" cxnId="{7F44E923-64EB-40DB-8E31-44887494718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2B15F2D-10F5-4986-91D4-C249C1200BE1}">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采用</a:t>
          </a:r>
          <a:r>
            <a:rPr lang="zh-CN" altLang="en-US" sz="1400" b="0" i="0" baseline="0" dirty="0">
              <a:solidFill>
                <a:srgbClr val="C00000"/>
              </a:solidFill>
              <a:latin typeface="Montserrat" panose="00000500000000000000" pitchFamily="2" charset="0"/>
              <a:ea typeface="微软雅黑 Light" panose="020B0502040204020203" pitchFamily="34" charset="-122"/>
            </a:rPr>
            <a:t>软件</a:t>
          </a:r>
          <a:r>
            <a:rPr lang="zh-CN" altLang="en-US" sz="1400" b="0" i="0" baseline="0" dirty="0">
              <a:latin typeface="Montserrat" panose="00000500000000000000" pitchFamily="2" charset="0"/>
              <a:ea typeface="微软雅黑 Light" panose="020B0502040204020203" pitchFamily="34" charset="-122"/>
            </a:rPr>
            <a:t>计算，慢。</a:t>
          </a:r>
        </a:p>
      </dgm:t>
    </dgm:pt>
    <dgm:pt modelId="{AB667672-D58D-44C0-8FE5-830A6B9B985B}" type="parTrans" cxnId="{784290CC-CD04-4279-9A28-8FD964E53255}">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CB3B0CF4-6C17-4712-8651-5214F31C3FF1}" type="sibTrans" cxnId="{784290CC-CD04-4279-9A28-8FD964E53255}">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E48A649-0DD6-4F1D-93E8-6C982A947BD7}" type="pres">
      <dgm:prSet presAssocID="{11E8D4AF-C3E5-4296-8051-0B2F71547B54}" presName="Name0" presStyleCnt="0">
        <dgm:presLayoutVars>
          <dgm:dir/>
          <dgm:animLvl val="lvl"/>
          <dgm:resizeHandles val="exact"/>
        </dgm:presLayoutVars>
      </dgm:prSet>
      <dgm:spPr/>
    </dgm:pt>
    <dgm:pt modelId="{B28DF133-4854-4981-9BB6-D542959CBDA5}" type="pres">
      <dgm:prSet presAssocID="{1D1D2F34-C7FA-4AB6-9F6A-8ADE395C1D21}" presName="composite" presStyleCnt="0"/>
      <dgm:spPr/>
    </dgm:pt>
    <dgm:pt modelId="{F0ADD619-6503-4051-9BF1-B84DDC798B9B}" type="pres">
      <dgm:prSet presAssocID="{1D1D2F34-C7FA-4AB6-9F6A-8ADE395C1D21}" presName="parTx" presStyleLbl="alignNode1" presStyleIdx="0" presStyleCnt="2">
        <dgm:presLayoutVars>
          <dgm:chMax val="0"/>
          <dgm:chPref val="0"/>
          <dgm:bulletEnabled val="1"/>
        </dgm:presLayoutVars>
      </dgm:prSet>
      <dgm:spPr/>
    </dgm:pt>
    <dgm:pt modelId="{69218C7D-A5C6-4BB9-B753-14FB4AB3733E}" type="pres">
      <dgm:prSet presAssocID="{1D1D2F34-C7FA-4AB6-9F6A-8ADE395C1D21}" presName="desTx" presStyleLbl="alignAccFollowNode1" presStyleIdx="0" presStyleCnt="2">
        <dgm:presLayoutVars>
          <dgm:bulletEnabled val="1"/>
        </dgm:presLayoutVars>
      </dgm:prSet>
      <dgm:spPr/>
    </dgm:pt>
    <dgm:pt modelId="{9CBB12D9-64BD-442A-BFBE-793FC1095AAD}" type="pres">
      <dgm:prSet presAssocID="{BE6E7425-9E56-4DFD-A344-6EEBA290BBA4}" presName="space" presStyleCnt="0"/>
      <dgm:spPr/>
    </dgm:pt>
    <dgm:pt modelId="{4C08A01E-0597-4B94-979E-9E7D393729A0}" type="pres">
      <dgm:prSet presAssocID="{1A85F913-0EA5-4E0C-AC2C-65AE114C5338}" presName="composite" presStyleCnt="0"/>
      <dgm:spPr/>
    </dgm:pt>
    <dgm:pt modelId="{A287357E-4392-4759-BB71-D2529A5E730A}" type="pres">
      <dgm:prSet presAssocID="{1A85F913-0EA5-4E0C-AC2C-65AE114C5338}" presName="parTx" presStyleLbl="alignNode1" presStyleIdx="1" presStyleCnt="2">
        <dgm:presLayoutVars>
          <dgm:chMax val="0"/>
          <dgm:chPref val="0"/>
          <dgm:bulletEnabled val="1"/>
        </dgm:presLayoutVars>
      </dgm:prSet>
      <dgm:spPr/>
    </dgm:pt>
    <dgm:pt modelId="{7E31D2C3-38FE-46A6-9137-AC78999E4E2D}" type="pres">
      <dgm:prSet presAssocID="{1A85F913-0EA5-4E0C-AC2C-65AE114C5338}" presName="desTx" presStyleLbl="alignAccFollowNode1" presStyleIdx="1" presStyleCnt="2">
        <dgm:presLayoutVars>
          <dgm:bulletEnabled val="1"/>
        </dgm:presLayoutVars>
      </dgm:prSet>
      <dgm:spPr/>
    </dgm:pt>
  </dgm:ptLst>
  <dgm:cxnLst>
    <dgm:cxn modelId="{68ED4107-A4A0-40FD-B7C6-20EAEC332C35}" type="presOf" srcId="{1D1D2F34-C7FA-4AB6-9F6A-8ADE395C1D21}" destId="{F0ADD619-6503-4051-9BF1-B84DDC798B9B}" srcOrd="0" destOrd="0" presId="urn:microsoft.com/office/officeart/2005/8/layout/hList1"/>
    <dgm:cxn modelId="{7F44E923-64EB-40DB-8E31-448874947188}" srcId="{1A85F913-0EA5-4E0C-AC2C-65AE114C5338}" destId="{324FFE58-99DC-49F4-BD07-88A42CC55D35}" srcOrd="1" destOrd="0" parTransId="{EC5618CD-EDB7-44AB-9D3C-01FBC3B8045B}" sibTransId="{6B4C0358-26D5-43CD-8563-ABEAE90D2FE6}"/>
    <dgm:cxn modelId="{E3296F2A-0B4D-464F-ADA8-C69645579478}" srcId="{1D1D2F34-C7FA-4AB6-9F6A-8ADE395C1D21}" destId="{E3094E70-DBBD-4776-8255-CA53223AA920}" srcOrd="1" destOrd="0" parTransId="{519E4824-498E-46FA-B960-A44A0D038680}" sibTransId="{3FD2573C-C2DF-4E9E-9FD2-0B5C268A3B0B}"/>
    <dgm:cxn modelId="{59C54F2B-F071-456B-AD40-08EE23AFC6C1}" srcId="{1A85F913-0EA5-4E0C-AC2C-65AE114C5338}" destId="{AC39144C-C5C3-4F40-9875-92D77BDC146E}" srcOrd="0" destOrd="0" parTransId="{24887F04-A30C-4082-B81F-D5BF30CB8D4C}" sibTransId="{0DDD565A-D754-4AF0-89A1-0FC5777271DE}"/>
    <dgm:cxn modelId="{8732565D-506C-432B-ACAC-ABE3104AEA0E}" srcId="{1D1D2F34-C7FA-4AB6-9F6A-8ADE395C1D21}" destId="{DD6D6094-BAB0-4C98-83EB-DBC53F380A53}" srcOrd="2" destOrd="0" parTransId="{BA84FEF6-F368-4443-A62A-421A69C3F6D5}" sibTransId="{914780BD-0098-4867-BFF3-65E2D0EAC974}"/>
    <dgm:cxn modelId="{CE6B0C5F-6082-4B18-B949-9E4AAF3E1530}" srcId="{11E8D4AF-C3E5-4296-8051-0B2F71547B54}" destId="{1D1D2F34-C7FA-4AB6-9F6A-8ADE395C1D21}" srcOrd="0" destOrd="0" parTransId="{823E78B8-C518-42AA-B742-F63C09C24725}" sibTransId="{BE6E7425-9E56-4DFD-A344-6EEBA290BBA4}"/>
    <dgm:cxn modelId="{74C21C63-665B-4014-9397-578CE4D11045}" type="presOf" srcId="{AC39144C-C5C3-4F40-9875-92D77BDC146E}" destId="{7E31D2C3-38FE-46A6-9137-AC78999E4E2D}" srcOrd="0" destOrd="0" presId="urn:microsoft.com/office/officeart/2005/8/layout/hList1"/>
    <dgm:cxn modelId="{BCE37D64-0EA8-453C-B3DB-9FBA46E1E2C3}" type="presOf" srcId="{DD6D6094-BAB0-4C98-83EB-DBC53F380A53}" destId="{69218C7D-A5C6-4BB9-B753-14FB4AB3733E}" srcOrd="0" destOrd="2" presId="urn:microsoft.com/office/officeart/2005/8/layout/hList1"/>
    <dgm:cxn modelId="{303CD875-476B-43CE-9AA5-8659E08FB972}" type="presOf" srcId="{E3094E70-DBBD-4776-8255-CA53223AA920}" destId="{69218C7D-A5C6-4BB9-B753-14FB4AB3733E}" srcOrd="0" destOrd="1" presId="urn:microsoft.com/office/officeart/2005/8/layout/hList1"/>
    <dgm:cxn modelId="{340AA356-AC5F-4D1E-8A28-B82F236B5590}" srcId="{1D1D2F34-C7FA-4AB6-9F6A-8ADE395C1D21}" destId="{3935A8CA-284C-4650-9388-2F2B918FB8CE}" srcOrd="0" destOrd="0" parTransId="{1AB30E51-878D-48CF-B841-5F815E24A9C0}" sibTransId="{1A923FD5-5350-4497-8558-17F724679014}"/>
    <dgm:cxn modelId="{C9911E91-049F-48F9-A921-1B771DC8B53F}" type="presOf" srcId="{11E8D4AF-C3E5-4296-8051-0B2F71547B54}" destId="{EE48A649-0DD6-4F1D-93E8-6C982A947BD7}" srcOrd="0" destOrd="0" presId="urn:microsoft.com/office/officeart/2005/8/layout/hList1"/>
    <dgm:cxn modelId="{09E8149B-E51F-461A-BA48-6F85A1FD3BFE}" type="presOf" srcId="{1A85F913-0EA5-4E0C-AC2C-65AE114C5338}" destId="{A287357E-4392-4759-BB71-D2529A5E730A}" srcOrd="0" destOrd="0" presId="urn:microsoft.com/office/officeart/2005/8/layout/hList1"/>
    <dgm:cxn modelId="{6EB5599E-5ED8-420E-9A24-7B10512E8346}" srcId="{11E8D4AF-C3E5-4296-8051-0B2F71547B54}" destId="{1A85F913-0EA5-4E0C-AC2C-65AE114C5338}" srcOrd="1" destOrd="0" parTransId="{044010CB-C44F-465A-8995-A6613AF5FDF8}" sibTransId="{BDA74EC5-1F01-4178-B3C1-EC48A63056F9}"/>
    <dgm:cxn modelId="{99614EC0-1431-4859-B338-77C3D22C3CB6}" type="presOf" srcId="{324FFE58-99DC-49F4-BD07-88A42CC55D35}" destId="{7E31D2C3-38FE-46A6-9137-AC78999E4E2D}" srcOrd="0" destOrd="1" presId="urn:microsoft.com/office/officeart/2005/8/layout/hList1"/>
    <dgm:cxn modelId="{784290CC-CD04-4279-9A28-8FD964E53255}" srcId="{1A85F913-0EA5-4E0C-AC2C-65AE114C5338}" destId="{E2B15F2D-10F5-4986-91D4-C249C1200BE1}" srcOrd="2" destOrd="0" parTransId="{AB667672-D58D-44C0-8FE5-830A6B9B985B}" sibTransId="{CB3B0CF4-6C17-4712-8651-5214F31C3FF1}"/>
    <dgm:cxn modelId="{FE1683E1-5CB8-4AA4-9EBE-B0B779C98F7F}" type="presOf" srcId="{3935A8CA-284C-4650-9388-2F2B918FB8CE}" destId="{69218C7D-A5C6-4BB9-B753-14FB4AB3733E}" srcOrd="0" destOrd="0" presId="urn:microsoft.com/office/officeart/2005/8/layout/hList1"/>
    <dgm:cxn modelId="{21248BFD-EEA5-4ED6-982F-0807B63BBDE0}" type="presOf" srcId="{E2B15F2D-10F5-4986-91D4-C249C1200BE1}" destId="{7E31D2C3-38FE-46A6-9137-AC78999E4E2D}" srcOrd="0" destOrd="2" presId="urn:microsoft.com/office/officeart/2005/8/layout/hList1"/>
    <dgm:cxn modelId="{90CE0658-75FE-4C9E-88A7-78A480232D83}" type="presParOf" srcId="{EE48A649-0DD6-4F1D-93E8-6C982A947BD7}" destId="{B28DF133-4854-4981-9BB6-D542959CBDA5}" srcOrd="0" destOrd="0" presId="urn:microsoft.com/office/officeart/2005/8/layout/hList1"/>
    <dgm:cxn modelId="{B45988E4-3786-4765-A83B-7F2845E38586}" type="presParOf" srcId="{B28DF133-4854-4981-9BB6-D542959CBDA5}" destId="{F0ADD619-6503-4051-9BF1-B84DDC798B9B}" srcOrd="0" destOrd="0" presId="urn:microsoft.com/office/officeart/2005/8/layout/hList1"/>
    <dgm:cxn modelId="{7C0CE279-B0A9-4382-B241-7416FBE5F562}" type="presParOf" srcId="{B28DF133-4854-4981-9BB6-D542959CBDA5}" destId="{69218C7D-A5C6-4BB9-B753-14FB4AB3733E}" srcOrd="1" destOrd="0" presId="urn:microsoft.com/office/officeart/2005/8/layout/hList1"/>
    <dgm:cxn modelId="{67E0BF8B-34DA-4327-B54B-C7DA069B0CBE}" type="presParOf" srcId="{EE48A649-0DD6-4F1D-93E8-6C982A947BD7}" destId="{9CBB12D9-64BD-442A-BFBE-793FC1095AAD}" srcOrd="1" destOrd="0" presId="urn:microsoft.com/office/officeart/2005/8/layout/hList1"/>
    <dgm:cxn modelId="{EC750223-E97A-4055-9C12-B9F787607EC9}" type="presParOf" srcId="{EE48A649-0DD6-4F1D-93E8-6C982A947BD7}" destId="{4C08A01E-0597-4B94-979E-9E7D393729A0}" srcOrd="2" destOrd="0" presId="urn:microsoft.com/office/officeart/2005/8/layout/hList1"/>
    <dgm:cxn modelId="{92399829-C69C-40F5-8473-AAB4A324EF2E}" type="presParOf" srcId="{4C08A01E-0597-4B94-979E-9E7D393729A0}" destId="{A287357E-4392-4759-BB71-D2529A5E730A}" srcOrd="0" destOrd="0" presId="urn:microsoft.com/office/officeart/2005/8/layout/hList1"/>
    <dgm:cxn modelId="{BBDDCC96-26D3-400B-B7AB-5E994742ECB6}" type="presParOf" srcId="{4C08A01E-0597-4B94-979E-9E7D393729A0}" destId="{7E31D2C3-38FE-46A6-9137-AC78999E4E2D}"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5A4DFC9D-11E0-4B97-9CB8-CB29870A3A87}" type="doc">
      <dgm:prSet loTypeId="urn:microsoft.com/office/officeart/2005/8/layout/default#1" loCatId="list" qsTypeId="urn:microsoft.com/office/officeart/2005/8/quickstyle/simple4" qsCatId="simple" csTypeId="urn:microsoft.com/office/officeart/2005/8/colors/colorful1#2" csCatId="colorful" phldr="1"/>
      <dgm:spPr/>
      <dgm:t>
        <a:bodyPr/>
        <a:lstStyle/>
        <a:p>
          <a:endParaRPr lang="zh-CN" altLang="en-US"/>
        </a:p>
      </dgm:t>
    </dgm:pt>
    <dgm:pt modelId="{E7EC3F5A-6FF5-4DAC-B7A7-62451E4288C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寻址方案</a:t>
          </a:r>
        </a:p>
      </dgm:t>
    </dgm:pt>
    <dgm:pt modelId="{C2D8A5DA-E5F7-449B-BAF1-6ACE8D37675E}" type="parTrans" cxnId="{95FE29FD-D14D-4489-B8E6-5C865BDAA8B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15571704-FBB1-4619-9716-EEC3A6EB88BE}" type="sibTrans" cxnId="{95FE29FD-D14D-4489-B8E6-5C865BDAA8B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738ED65A-AD96-4E5D-8658-FBC8032CA84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最大分组长度</a:t>
          </a:r>
        </a:p>
      </dgm:t>
    </dgm:pt>
    <dgm:pt modelId="{AA519882-9FF2-44E4-BDFE-61E8CCE8F6CD}" type="parTrans" cxnId="{D4ED029F-4144-4304-9546-CBEE30045520}">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568D5BD-9789-4855-AD1F-74E644C2853C}" type="sibTrans" cxnId="{D4ED029F-4144-4304-9546-CBEE30045520}">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343367E-6E0B-4D87-B42B-7BE9D32DBFB4}">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网络接入机制</a:t>
          </a:r>
        </a:p>
      </dgm:t>
    </dgm:pt>
    <dgm:pt modelId="{4707B6D6-66D1-43F8-9303-973EBBD6E514}" type="parTrans" cxnId="{4A243FFA-DBAF-4962-844F-48832D36811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0314ED14-9B56-4888-B408-DE6DFF861303}" type="sibTrans" cxnId="{4A243FFA-DBAF-4962-844F-48832D36811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7315578-E9A5-4134-B4A7-7D5BB6B07A6B}">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超时控制</a:t>
          </a:r>
        </a:p>
      </dgm:t>
    </dgm:pt>
    <dgm:pt modelId="{DE491F9E-7A51-45A3-837D-65396046329A}" type="parTrans" cxnId="{ECA30F4A-CF0A-4A67-99E4-488D44DDE982}">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553A5501-4DCA-43DB-8116-18230E569107}" type="sibTrans" cxnId="{ECA30F4A-CF0A-4A67-99E4-488D44DDE982}">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DE28F121-BA13-471C-A5FD-6C3525B4C1F7}">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差错恢复方法</a:t>
          </a:r>
        </a:p>
      </dgm:t>
    </dgm:pt>
    <dgm:pt modelId="{17042EB1-E666-4CFF-9C87-76C132D1B670}" type="parTrans" cxnId="{796988C0-8389-4954-96BB-383FDDE39E0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315D7A90-A1A0-453A-AF08-FC8444C88A25}" type="sibTrans" cxnId="{796988C0-8389-4954-96BB-383FDDE39E0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544A325-35B2-4DD5-9E7C-FA6BF05D8D51}">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状态报告方法</a:t>
          </a:r>
        </a:p>
      </dgm:t>
    </dgm:pt>
    <dgm:pt modelId="{BAA594F8-64A3-421B-B23E-46A3F9539157}" type="parTrans" cxnId="{37477746-43FA-4261-B4EE-1D76B566CEE3}">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6EEDF51-E5C4-4A5A-B013-06480DEF4436}" type="sibTrans" cxnId="{37477746-43FA-4261-B4EE-1D76B566CEE3}">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D94133B-61DA-4A34-A60F-0215265606B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用户接入控制</a:t>
          </a:r>
        </a:p>
      </dgm:t>
    </dgm:pt>
    <dgm:pt modelId="{29BACC2F-1438-406C-B1DC-2467396250CC}" type="parTrans" cxnId="{16E5146B-C006-4348-BAE1-0BBDA98A244C}">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A1DE52F-E845-4F08-AE5B-2B61D7C98B10}" type="sibTrans" cxnId="{16E5146B-C006-4348-BAE1-0BBDA98A244C}">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5C62CC07-8E06-4331-9E1A-9E7E663FD606}">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服务</a:t>
          </a:r>
        </a:p>
      </dgm:t>
    </dgm:pt>
    <dgm:pt modelId="{4D910CA0-0059-4CDF-8C89-C2BB2D2FE887}" type="parTrans" cxnId="{0D77A834-D62C-4120-8FCA-AD23E07BD22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085D55FC-2327-4CD6-95B6-439CA0F69403}" type="sibTrans" cxnId="{0D77A834-D62C-4120-8FCA-AD23E07BD22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41BAA9D-8539-4543-AF49-271CCD9C81AD}">
      <dgm:prSet phldrT="[文本]" custT="1"/>
      <dgm:spPr/>
      <dgm:t>
        <a:bodyPr/>
        <a:lstStyle/>
        <a:p>
          <a:pPr>
            <a:lnSpc>
              <a:spcPct val="50000"/>
            </a:lnSpc>
          </a:pPr>
          <a:r>
            <a:rPr lang="zh-CN" altLang="en-US" sz="1200" b="0" dirty="0">
              <a:latin typeface="微软雅黑 Light" panose="020B0502040204020203" pitchFamily="34" charset="-122"/>
              <a:ea typeface="微软雅黑 Light" panose="020B0502040204020203" pitchFamily="34" charset="-122"/>
            </a:rPr>
            <a:t>管理与</a:t>
          </a:r>
          <a:endParaRPr lang="en-US" altLang="zh-CN" sz="1200" b="0" dirty="0">
            <a:latin typeface="微软雅黑 Light" panose="020B0502040204020203" pitchFamily="34" charset="-122"/>
            <a:ea typeface="微软雅黑 Light" panose="020B0502040204020203" pitchFamily="34" charset="-122"/>
          </a:endParaRPr>
        </a:p>
        <a:p>
          <a:pPr>
            <a:lnSpc>
              <a:spcPct val="50000"/>
            </a:lnSpc>
          </a:pPr>
          <a:r>
            <a:rPr lang="zh-CN" altLang="en-US" sz="1200" b="0" dirty="0">
              <a:latin typeface="微软雅黑 Light" panose="020B0502040204020203" pitchFamily="34" charset="-122"/>
              <a:ea typeface="微软雅黑 Light" panose="020B0502040204020203" pitchFamily="34" charset="-122"/>
            </a:rPr>
            <a:t>控制方式</a:t>
          </a:r>
        </a:p>
      </dgm:t>
    </dgm:pt>
    <dgm:pt modelId="{6C939C71-D724-46F7-8A4F-A608FC064EB2}" type="parTrans" cxnId="{4538BD2D-F2C0-44AB-BAC0-642284A062B5}">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D0329EB-9064-4776-BEA3-A9FC5CEB0AC7}" type="sibTrans" cxnId="{4538BD2D-F2C0-44AB-BAC0-642284A062B5}">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8D508C0-6951-4B36-B9EC-720624817380}">
      <dgm:prSet custT="1"/>
      <dgm:spPr/>
      <dgm:t>
        <a:bodyPr/>
        <a:lstStyle/>
        <a:p>
          <a:r>
            <a:rPr lang="zh-CN" altLang="en-US" sz="1200" b="0" dirty="0">
              <a:latin typeface="微软雅黑 Light" panose="020B0502040204020203" pitchFamily="34" charset="-122"/>
              <a:ea typeface="微软雅黑 Light" panose="020B0502040204020203" pitchFamily="34" charset="-122"/>
            </a:rPr>
            <a:t>路由选择技术</a:t>
          </a:r>
        </a:p>
      </dgm:t>
    </dgm:pt>
    <dgm:pt modelId="{16B9E4BC-6FBE-49FE-9E54-55818D5A7EE9}" type="parTrans" cxnId="{6C08C3F8-3A1B-4934-9B40-7F04A9AE587E}">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92259BB0-9CE6-40B9-B8B6-7AC53350A293}" type="sibTrans" cxnId="{6C08C3F8-3A1B-4934-9B40-7F04A9AE587E}">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B759697-8CF0-4E48-9BAE-6E469FC93B90}">
      <dgm:prSet phldrT="[文本]" custT="1"/>
      <dgm:spPr/>
      <dgm:t>
        <a:bodyPr/>
        <a:lstStyle/>
        <a:p>
          <a:pPr>
            <a:lnSpc>
              <a:spcPct val="50000"/>
            </a:lnSpc>
          </a:pPr>
          <a:r>
            <a:rPr lang="en-US" altLang="zh-CN" sz="1200" b="0" dirty="0">
              <a:latin typeface="微软雅黑 Light" panose="020B0502040204020203" pitchFamily="34" charset="-122"/>
              <a:ea typeface="微软雅黑 Light" panose="020B0502040204020203" pitchFamily="34" charset="-122"/>
            </a:rPr>
            <a:t>……</a:t>
          </a:r>
          <a:endParaRPr lang="zh-CN" altLang="en-US" sz="1200" b="0" dirty="0">
            <a:latin typeface="微软雅黑 Light" panose="020B0502040204020203" pitchFamily="34" charset="-122"/>
            <a:ea typeface="微软雅黑 Light" panose="020B0502040204020203" pitchFamily="34" charset="-122"/>
          </a:endParaRPr>
        </a:p>
      </dgm:t>
    </dgm:pt>
    <dgm:pt modelId="{39C62AFE-22B8-443E-84C9-E27900DEF995}" type="parTrans" cxnId="{6EFBE5DA-FEA5-485E-8659-0DEF4B626CDB}">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DE9F9152-4665-44BF-88DA-2F8D11A40C6C}" type="sibTrans" cxnId="{6EFBE5DA-FEA5-485E-8659-0DEF4B626CDB}">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FD459526-A632-4165-84F0-DD4D44069092}" type="pres">
      <dgm:prSet presAssocID="{5A4DFC9D-11E0-4B97-9CB8-CB29870A3A87}" presName="diagram" presStyleCnt="0">
        <dgm:presLayoutVars>
          <dgm:dir/>
          <dgm:resizeHandles val="exact"/>
        </dgm:presLayoutVars>
      </dgm:prSet>
      <dgm:spPr/>
    </dgm:pt>
    <dgm:pt modelId="{4594C686-F253-4728-84C9-151C8028A3AE}" type="pres">
      <dgm:prSet presAssocID="{E7EC3F5A-6FF5-4DAC-B7A7-62451E4288C9}" presName="node" presStyleLbl="node1" presStyleIdx="0" presStyleCnt="11">
        <dgm:presLayoutVars>
          <dgm:bulletEnabled val="1"/>
        </dgm:presLayoutVars>
      </dgm:prSet>
      <dgm:spPr/>
    </dgm:pt>
    <dgm:pt modelId="{74539D1F-B807-430C-900E-CCC66E3F54E5}" type="pres">
      <dgm:prSet presAssocID="{15571704-FBB1-4619-9716-EEC3A6EB88BE}" presName="sibTrans" presStyleCnt="0"/>
      <dgm:spPr/>
    </dgm:pt>
    <dgm:pt modelId="{AAE6C2CE-B907-473D-B42E-74641FA2C01B}" type="pres">
      <dgm:prSet presAssocID="{738ED65A-AD96-4E5D-8658-FBC8032CA849}" presName="node" presStyleLbl="node1" presStyleIdx="1" presStyleCnt="11">
        <dgm:presLayoutVars>
          <dgm:bulletEnabled val="1"/>
        </dgm:presLayoutVars>
      </dgm:prSet>
      <dgm:spPr/>
    </dgm:pt>
    <dgm:pt modelId="{F0517EBC-8DC0-46F5-A141-0876ABB2AF94}" type="pres">
      <dgm:prSet presAssocID="{C568D5BD-9789-4855-AD1F-74E644C2853C}" presName="sibTrans" presStyleCnt="0"/>
      <dgm:spPr/>
    </dgm:pt>
    <dgm:pt modelId="{11150468-1E0C-461E-B081-3E871826CD6E}" type="pres">
      <dgm:prSet presAssocID="{C343367E-6E0B-4D87-B42B-7BE9D32DBFB4}" presName="node" presStyleLbl="node1" presStyleIdx="2" presStyleCnt="11">
        <dgm:presLayoutVars>
          <dgm:bulletEnabled val="1"/>
        </dgm:presLayoutVars>
      </dgm:prSet>
      <dgm:spPr/>
    </dgm:pt>
    <dgm:pt modelId="{4B8C546C-B2FE-484F-9D70-59FFA5E9AAC4}" type="pres">
      <dgm:prSet presAssocID="{0314ED14-9B56-4888-B408-DE6DFF861303}" presName="sibTrans" presStyleCnt="0"/>
      <dgm:spPr/>
    </dgm:pt>
    <dgm:pt modelId="{EADAD31E-CA68-4DED-84FB-90D8D4DBAECE}" type="pres">
      <dgm:prSet presAssocID="{C7315578-E9A5-4134-B4A7-7D5BB6B07A6B}" presName="node" presStyleLbl="node1" presStyleIdx="3" presStyleCnt="11">
        <dgm:presLayoutVars>
          <dgm:bulletEnabled val="1"/>
        </dgm:presLayoutVars>
      </dgm:prSet>
      <dgm:spPr/>
    </dgm:pt>
    <dgm:pt modelId="{A979BF5D-A54F-474D-9150-B63CCCFF5452}" type="pres">
      <dgm:prSet presAssocID="{553A5501-4DCA-43DB-8116-18230E569107}" presName="sibTrans" presStyleCnt="0"/>
      <dgm:spPr/>
    </dgm:pt>
    <dgm:pt modelId="{BA295F3A-6E33-4693-A4E0-373D4996D66D}" type="pres">
      <dgm:prSet presAssocID="{DE28F121-BA13-471C-A5FD-6C3525B4C1F7}" presName="node" presStyleLbl="node1" presStyleIdx="4" presStyleCnt="11">
        <dgm:presLayoutVars>
          <dgm:bulletEnabled val="1"/>
        </dgm:presLayoutVars>
      </dgm:prSet>
      <dgm:spPr/>
    </dgm:pt>
    <dgm:pt modelId="{9DB4707D-D1B6-4985-84D5-AF222DADAC5F}" type="pres">
      <dgm:prSet presAssocID="{315D7A90-A1A0-453A-AF08-FC8444C88A25}" presName="sibTrans" presStyleCnt="0"/>
      <dgm:spPr/>
    </dgm:pt>
    <dgm:pt modelId="{38F50AC9-831D-4F84-96CD-EC61271A73DD}" type="pres">
      <dgm:prSet presAssocID="{2544A325-35B2-4DD5-9E7C-FA6BF05D8D51}" presName="node" presStyleLbl="node1" presStyleIdx="5" presStyleCnt="11">
        <dgm:presLayoutVars>
          <dgm:bulletEnabled val="1"/>
        </dgm:presLayoutVars>
      </dgm:prSet>
      <dgm:spPr/>
    </dgm:pt>
    <dgm:pt modelId="{4E961102-4E39-4CDF-AB5D-D644311A25D4}" type="pres">
      <dgm:prSet presAssocID="{C6EEDF51-E5C4-4A5A-B013-06480DEF4436}" presName="sibTrans" presStyleCnt="0"/>
      <dgm:spPr/>
    </dgm:pt>
    <dgm:pt modelId="{581D08C6-B287-4F68-8947-E6A14A005145}" type="pres">
      <dgm:prSet presAssocID="{88D508C0-6951-4B36-B9EC-720624817380}" presName="node" presStyleLbl="node1" presStyleIdx="6" presStyleCnt="11">
        <dgm:presLayoutVars>
          <dgm:bulletEnabled val="1"/>
        </dgm:presLayoutVars>
      </dgm:prSet>
      <dgm:spPr/>
    </dgm:pt>
    <dgm:pt modelId="{498D3D3F-3BFB-4E1E-954C-F1D807A9AB9A}" type="pres">
      <dgm:prSet presAssocID="{92259BB0-9CE6-40B9-B8B6-7AC53350A293}" presName="sibTrans" presStyleCnt="0"/>
      <dgm:spPr/>
    </dgm:pt>
    <dgm:pt modelId="{38B4E769-5F4D-4AC9-AA16-740543B9CEDA}" type="pres">
      <dgm:prSet presAssocID="{CD94133B-61DA-4A34-A60F-0215265606B9}" presName="node" presStyleLbl="node1" presStyleIdx="7" presStyleCnt="11">
        <dgm:presLayoutVars>
          <dgm:bulletEnabled val="1"/>
        </dgm:presLayoutVars>
      </dgm:prSet>
      <dgm:spPr/>
    </dgm:pt>
    <dgm:pt modelId="{EF02E81B-75FD-4A87-9A35-0F6FB55004C4}" type="pres">
      <dgm:prSet presAssocID="{2A1DE52F-E845-4F08-AE5B-2B61D7C98B10}" presName="sibTrans" presStyleCnt="0"/>
      <dgm:spPr/>
    </dgm:pt>
    <dgm:pt modelId="{97AB1813-5306-47D8-8D3C-3A38D4B1BEC2}" type="pres">
      <dgm:prSet presAssocID="{5C62CC07-8E06-4331-9E1A-9E7E663FD606}" presName="node" presStyleLbl="node1" presStyleIdx="8" presStyleCnt="11">
        <dgm:presLayoutVars>
          <dgm:bulletEnabled val="1"/>
        </dgm:presLayoutVars>
      </dgm:prSet>
      <dgm:spPr/>
    </dgm:pt>
    <dgm:pt modelId="{A38CF849-1CB4-45B5-AC79-8ED2DA96DD23}" type="pres">
      <dgm:prSet presAssocID="{085D55FC-2327-4CD6-95B6-439CA0F69403}" presName="sibTrans" presStyleCnt="0"/>
      <dgm:spPr/>
    </dgm:pt>
    <dgm:pt modelId="{F1FBFE21-9DF5-4505-8D8B-6EF2CCB31FEE}" type="pres">
      <dgm:prSet presAssocID="{841BAA9D-8539-4543-AF49-271CCD9C81AD}" presName="node" presStyleLbl="node1" presStyleIdx="9" presStyleCnt="11">
        <dgm:presLayoutVars>
          <dgm:bulletEnabled val="1"/>
        </dgm:presLayoutVars>
      </dgm:prSet>
      <dgm:spPr/>
    </dgm:pt>
    <dgm:pt modelId="{A658F4B5-3950-439C-960E-6D73DCA80588}" type="pres">
      <dgm:prSet presAssocID="{8D0329EB-9064-4776-BEA3-A9FC5CEB0AC7}" presName="sibTrans" presStyleCnt="0"/>
      <dgm:spPr/>
    </dgm:pt>
    <dgm:pt modelId="{FC18BE71-30A4-4718-92D9-19F6EDF79A0C}" type="pres">
      <dgm:prSet presAssocID="{2B759697-8CF0-4E48-9BAE-6E469FC93B90}" presName="node" presStyleLbl="node1" presStyleIdx="10" presStyleCnt="11">
        <dgm:presLayoutVars>
          <dgm:bulletEnabled val="1"/>
        </dgm:presLayoutVars>
      </dgm:prSet>
      <dgm:spPr/>
    </dgm:pt>
  </dgm:ptLst>
  <dgm:cxnLst>
    <dgm:cxn modelId="{4A05C20D-7DE2-4FBC-A9B5-4A064E14A887}" type="presOf" srcId="{5C62CC07-8E06-4331-9E1A-9E7E663FD606}" destId="{97AB1813-5306-47D8-8D3C-3A38D4B1BEC2}" srcOrd="0" destOrd="0" presId="urn:microsoft.com/office/officeart/2005/8/layout/default#1"/>
    <dgm:cxn modelId="{94638D26-7CE8-4FBA-A785-48B5794A0A11}" type="presOf" srcId="{DE28F121-BA13-471C-A5FD-6C3525B4C1F7}" destId="{BA295F3A-6E33-4693-A4E0-373D4996D66D}" srcOrd="0" destOrd="0" presId="urn:microsoft.com/office/officeart/2005/8/layout/default#1"/>
    <dgm:cxn modelId="{6018B82A-916F-496B-8BC9-7B9DAF5532F6}" type="presOf" srcId="{2544A325-35B2-4DD5-9E7C-FA6BF05D8D51}" destId="{38F50AC9-831D-4F84-96CD-EC61271A73DD}" srcOrd="0" destOrd="0" presId="urn:microsoft.com/office/officeart/2005/8/layout/default#1"/>
    <dgm:cxn modelId="{4538BD2D-F2C0-44AB-BAC0-642284A062B5}" srcId="{5A4DFC9D-11E0-4B97-9CB8-CB29870A3A87}" destId="{841BAA9D-8539-4543-AF49-271CCD9C81AD}" srcOrd="9" destOrd="0" parTransId="{6C939C71-D724-46F7-8A4F-A608FC064EB2}" sibTransId="{8D0329EB-9064-4776-BEA3-A9FC5CEB0AC7}"/>
    <dgm:cxn modelId="{0D77A834-D62C-4120-8FCA-AD23E07BD22F}" srcId="{5A4DFC9D-11E0-4B97-9CB8-CB29870A3A87}" destId="{5C62CC07-8E06-4331-9E1A-9E7E663FD606}" srcOrd="8" destOrd="0" parTransId="{4D910CA0-0059-4CDF-8C89-C2BB2D2FE887}" sibTransId="{085D55FC-2327-4CD6-95B6-439CA0F69403}"/>
    <dgm:cxn modelId="{3A02123B-1AFD-4BE4-AB9C-D63EEF4E9033}" type="presOf" srcId="{CD94133B-61DA-4A34-A60F-0215265606B9}" destId="{38B4E769-5F4D-4AC9-AA16-740543B9CEDA}" srcOrd="0" destOrd="0" presId="urn:microsoft.com/office/officeart/2005/8/layout/default#1"/>
    <dgm:cxn modelId="{F03BBE3B-AE5B-48D7-A9E8-E72ED28EF102}" type="presOf" srcId="{841BAA9D-8539-4543-AF49-271CCD9C81AD}" destId="{F1FBFE21-9DF5-4505-8D8B-6EF2CCB31FEE}" srcOrd="0" destOrd="0" presId="urn:microsoft.com/office/officeart/2005/8/layout/default#1"/>
    <dgm:cxn modelId="{37477746-43FA-4261-B4EE-1D76B566CEE3}" srcId="{5A4DFC9D-11E0-4B97-9CB8-CB29870A3A87}" destId="{2544A325-35B2-4DD5-9E7C-FA6BF05D8D51}" srcOrd="5" destOrd="0" parTransId="{BAA594F8-64A3-421B-B23E-46A3F9539157}" sibTransId="{C6EEDF51-E5C4-4A5A-B013-06480DEF4436}"/>
    <dgm:cxn modelId="{ED4B2847-F2A8-49F7-B832-781FF44FA304}" type="presOf" srcId="{88D508C0-6951-4B36-B9EC-720624817380}" destId="{581D08C6-B287-4F68-8947-E6A14A005145}" srcOrd="0" destOrd="0" presId="urn:microsoft.com/office/officeart/2005/8/layout/default#1"/>
    <dgm:cxn modelId="{DEED2269-19FB-4490-8D8E-51573DA4BB39}" type="presOf" srcId="{5A4DFC9D-11E0-4B97-9CB8-CB29870A3A87}" destId="{FD459526-A632-4165-84F0-DD4D44069092}" srcOrd="0" destOrd="0" presId="urn:microsoft.com/office/officeart/2005/8/layout/default#1"/>
    <dgm:cxn modelId="{ECA30F4A-CF0A-4A67-99E4-488D44DDE982}" srcId="{5A4DFC9D-11E0-4B97-9CB8-CB29870A3A87}" destId="{C7315578-E9A5-4134-B4A7-7D5BB6B07A6B}" srcOrd="3" destOrd="0" parTransId="{DE491F9E-7A51-45A3-837D-65396046329A}" sibTransId="{553A5501-4DCA-43DB-8116-18230E569107}"/>
    <dgm:cxn modelId="{16E5146B-C006-4348-BAE1-0BBDA98A244C}" srcId="{5A4DFC9D-11E0-4B97-9CB8-CB29870A3A87}" destId="{CD94133B-61DA-4A34-A60F-0215265606B9}" srcOrd="7" destOrd="0" parTransId="{29BACC2F-1438-406C-B1DC-2467396250CC}" sibTransId="{2A1DE52F-E845-4F08-AE5B-2B61D7C98B10}"/>
    <dgm:cxn modelId="{90D3DD71-ADF4-4D2D-B2A1-C31FF5E191B9}" type="presOf" srcId="{2B759697-8CF0-4E48-9BAE-6E469FC93B90}" destId="{FC18BE71-30A4-4718-92D9-19F6EDF79A0C}" srcOrd="0" destOrd="0" presId="urn:microsoft.com/office/officeart/2005/8/layout/default#1"/>
    <dgm:cxn modelId="{53397B87-99E2-4DE9-AFB2-FD4068FAEF65}" type="presOf" srcId="{C343367E-6E0B-4D87-B42B-7BE9D32DBFB4}" destId="{11150468-1E0C-461E-B081-3E871826CD6E}" srcOrd="0" destOrd="0" presId="urn:microsoft.com/office/officeart/2005/8/layout/default#1"/>
    <dgm:cxn modelId="{7BA2FF8C-C064-4CD7-BFAD-96CC0AA3E2C6}" type="presOf" srcId="{E7EC3F5A-6FF5-4DAC-B7A7-62451E4288C9}" destId="{4594C686-F253-4728-84C9-151C8028A3AE}" srcOrd="0" destOrd="0" presId="urn:microsoft.com/office/officeart/2005/8/layout/default#1"/>
    <dgm:cxn modelId="{D4ED029F-4144-4304-9546-CBEE30045520}" srcId="{5A4DFC9D-11E0-4B97-9CB8-CB29870A3A87}" destId="{738ED65A-AD96-4E5D-8658-FBC8032CA849}" srcOrd="1" destOrd="0" parTransId="{AA519882-9FF2-44E4-BDFE-61E8CCE8F6CD}" sibTransId="{C568D5BD-9789-4855-AD1F-74E644C2853C}"/>
    <dgm:cxn modelId="{9F07ACB8-D182-41D1-9474-73291F2F16A2}" type="presOf" srcId="{C7315578-E9A5-4134-B4A7-7D5BB6B07A6B}" destId="{EADAD31E-CA68-4DED-84FB-90D8D4DBAECE}" srcOrd="0" destOrd="0" presId="urn:microsoft.com/office/officeart/2005/8/layout/default#1"/>
    <dgm:cxn modelId="{796988C0-8389-4954-96BB-383FDDE39E0F}" srcId="{5A4DFC9D-11E0-4B97-9CB8-CB29870A3A87}" destId="{DE28F121-BA13-471C-A5FD-6C3525B4C1F7}" srcOrd="4" destOrd="0" parTransId="{17042EB1-E666-4CFF-9C87-76C132D1B670}" sibTransId="{315D7A90-A1A0-453A-AF08-FC8444C88A25}"/>
    <dgm:cxn modelId="{6EFBE5DA-FEA5-485E-8659-0DEF4B626CDB}" srcId="{5A4DFC9D-11E0-4B97-9CB8-CB29870A3A87}" destId="{2B759697-8CF0-4E48-9BAE-6E469FC93B90}" srcOrd="10" destOrd="0" parTransId="{39C62AFE-22B8-443E-84C9-E27900DEF995}" sibTransId="{DE9F9152-4665-44BF-88DA-2F8D11A40C6C}"/>
    <dgm:cxn modelId="{EF947CF0-29F8-4E95-9D76-285944A93006}" type="presOf" srcId="{738ED65A-AD96-4E5D-8658-FBC8032CA849}" destId="{AAE6C2CE-B907-473D-B42E-74641FA2C01B}" srcOrd="0" destOrd="0" presId="urn:microsoft.com/office/officeart/2005/8/layout/default#1"/>
    <dgm:cxn modelId="{6C08C3F8-3A1B-4934-9B40-7F04A9AE587E}" srcId="{5A4DFC9D-11E0-4B97-9CB8-CB29870A3A87}" destId="{88D508C0-6951-4B36-B9EC-720624817380}" srcOrd="6" destOrd="0" parTransId="{16B9E4BC-6FBE-49FE-9E54-55818D5A7EE9}" sibTransId="{92259BB0-9CE6-40B9-B8B6-7AC53350A293}"/>
    <dgm:cxn modelId="{4A243FFA-DBAF-4962-844F-48832D368119}" srcId="{5A4DFC9D-11E0-4B97-9CB8-CB29870A3A87}" destId="{C343367E-6E0B-4D87-B42B-7BE9D32DBFB4}" srcOrd="2" destOrd="0" parTransId="{4707B6D6-66D1-43F8-9303-973EBBD6E514}" sibTransId="{0314ED14-9B56-4888-B408-DE6DFF861303}"/>
    <dgm:cxn modelId="{95FE29FD-D14D-4489-B8E6-5C865BDAA8B9}" srcId="{5A4DFC9D-11E0-4B97-9CB8-CB29870A3A87}" destId="{E7EC3F5A-6FF5-4DAC-B7A7-62451E4288C9}" srcOrd="0" destOrd="0" parTransId="{C2D8A5DA-E5F7-449B-BAF1-6ACE8D37675E}" sibTransId="{15571704-FBB1-4619-9716-EEC3A6EB88BE}"/>
    <dgm:cxn modelId="{32AAAB03-8F0E-46A3-A03E-6EE4E95EB739}" type="presParOf" srcId="{FD459526-A632-4165-84F0-DD4D44069092}" destId="{4594C686-F253-4728-84C9-151C8028A3AE}" srcOrd="0" destOrd="0" presId="urn:microsoft.com/office/officeart/2005/8/layout/default#1"/>
    <dgm:cxn modelId="{EA23CF42-340D-4B66-9E29-08ABB17BE7E5}" type="presParOf" srcId="{FD459526-A632-4165-84F0-DD4D44069092}" destId="{74539D1F-B807-430C-900E-CCC66E3F54E5}" srcOrd="1" destOrd="0" presId="urn:microsoft.com/office/officeart/2005/8/layout/default#1"/>
    <dgm:cxn modelId="{3A6664EA-1C67-4F1F-9C19-F40E00AA129B}" type="presParOf" srcId="{FD459526-A632-4165-84F0-DD4D44069092}" destId="{AAE6C2CE-B907-473D-B42E-74641FA2C01B}" srcOrd="2" destOrd="0" presId="urn:microsoft.com/office/officeart/2005/8/layout/default#1"/>
    <dgm:cxn modelId="{8FA81757-445F-4D22-9B4A-5B0FCDF6D1CF}" type="presParOf" srcId="{FD459526-A632-4165-84F0-DD4D44069092}" destId="{F0517EBC-8DC0-46F5-A141-0876ABB2AF94}" srcOrd="3" destOrd="0" presId="urn:microsoft.com/office/officeart/2005/8/layout/default#1"/>
    <dgm:cxn modelId="{CAD961DD-36E4-4E35-B548-3CC2F782FB7E}" type="presParOf" srcId="{FD459526-A632-4165-84F0-DD4D44069092}" destId="{11150468-1E0C-461E-B081-3E871826CD6E}" srcOrd="4" destOrd="0" presId="urn:microsoft.com/office/officeart/2005/8/layout/default#1"/>
    <dgm:cxn modelId="{83C97DA8-67C6-4CD6-95E8-143764DA714D}" type="presParOf" srcId="{FD459526-A632-4165-84F0-DD4D44069092}" destId="{4B8C546C-B2FE-484F-9D70-59FFA5E9AAC4}" srcOrd="5" destOrd="0" presId="urn:microsoft.com/office/officeart/2005/8/layout/default#1"/>
    <dgm:cxn modelId="{9B285612-34ED-4F93-A5BA-9A38826EA2D7}" type="presParOf" srcId="{FD459526-A632-4165-84F0-DD4D44069092}" destId="{EADAD31E-CA68-4DED-84FB-90D8D4DBAECE}" srcOrd="6" destOrd="0" presId="urn:microsoft.com/office/officeart/2005/8/layout/default#1"/>
    <dgm:cxn modelId="{4BB3879D-717C-4767-BB59-F563EC8EFD35}" type="presParOf" srcId="{FD459526-A632-4165-84F0-DD4D44069092}" destId="{A979BF5D-A54F-474D-9150-B63CCCFF5452}" srcOrd="7" destOrd="0" presId="urn:microsoft.com/office/officeart/2005/8/layout/default#1"/>
    <dgm:cxn modelId="{68AC56EA-5F1F-4E28-A9CD-18D06AB56906}" type="presParOf" srcId="{FD459526-A632-4165-84F0-DD4D44069092}" destId="{BA295F3A-6E33-4693-A4E0-373D4996D66D}" srcOrd="8" destOrd="0" presId="urn:microsoft.com/office/officeart/2005/8/layout/default#1"/>
    <dgm:cxn modelId="{400A5957-EF99-4AFD-B5EE-ACFAAE27458A}" type="presParOf" srcId="{FD459526-A632-4165-84F0-DD4D44069092}" destId="{9DB4707D-D1B6-4985-84D5-AF222DADAC5F}" srcOrd="9" destOrd="0" presId="urn:microsoft.com/office/officeart/2005/8/layout/default#1"/>
    <dgm:cxn modelId="{C385990A-636E-4939-82DD-8C3B785B72B7}" type="presParOf" srcId="{FD459526-A632-4165-84F0-DD4D44069092}" destId="{38F50AC9-831D-4F84-96CD-EC61271A73DD}" srcOrd="10" destOrd="0" presId="urn:microsoft.com/office/officeart/2005/8/layout/default#1"/>
    <dgm:cxn modelId="{B9814AA9-7D37-4F58-A96C-CBD23A6517C1}" type="presParOf" srcId="{FD459526-A632-4165-84F0-DD4D44069092}" destId="{4E961102-4E39-4CDF-AB5D-D644311A25D4}" srcOrd="11" destOrd="0" presId="urn:microsoft.com/office/officeart/2005/8/layout/default#1"/>
    <dgm:cxn modelId="{35C859A4-1F54-47E4-8431-FAF43614E98E}" type="presParOf" srcId="{FD459526-A632-4165-84F0-DD4D44069092}" destId="{581D08C6-B287-4F68-8947-E6A14A005145}" srcOrd="12" destOrd="0" presId="urn:microsoft.com/office/officeart/2005/8/layout/default#1"/>
    <dgm:cxn modelId="{26905EFB-971E-46D4-8EBA-44DD9C8BE782}" type="presParOf" srcId="{FD459526-A632-4165-84F0-DD4D44069092}" destId="{498D3D3F-3BFB-4E1E-954C-F1D807A9AB9A}" srcOrd="13" destOrd="0" presId="urn:microsoft.com/office/officeart/2005/8/layout/default#1"/>
    <dgm:cxn modelId="{382157CC-4E57-42E2-87B3-81F1F7BCF15B}" type="presParOf" srcId="{FD459526-A632-4165-84F0-DD4D44069092}" destId="{38B4E769-5F4D-4AC9-AA16-740543B9CEDA}" srcOrd="14" destOrd="0" presId="urn:microsoft.com/office/officeart/2005/8/layout/default#1"/>
    <dgm:cxn modelId="{8838A1EE-C614-486F-86AB-7310A54B5D3D}" type="presParOf" srcId="{FD459526-A632-4165-84F0-DD4D44069092}" destId="{EF02E81B-75FD-4A87-9A35-0F6FB55004C4}" srcOrd="15" destOrd="0" presId="urn:microsoft.com/office/officeart/2005/8/layout/default#1"/>
    <dgm:cxn modelId="{2CE5F2D8-5223-4D3C-BA8C-B2E8091B1D31}" type="presParOf" srcId="{FD459526-A632-4165-84F0-DD4D44069092}" destId="{97AB1813-5306-47D8-8D3C-3A38D4B1BEC2}" srcOrd="16" destOrd="0" presId="urn:microsoft.com/office/officeart/2005/8/layout/default#1"/>
    <dgm:cxn modelId="{B21222E5-5219-4EA8-B30C-45D3BDFB724C}" type="presParOf" srcId="{FD459526-A632-4165-84F0-DD4D44069092}" destId="{A38CF849-1CB4-45B5-AC79-8ED2DA96DD23}" srcOrd="17" destOrd="0" presId="urn:microsoft.com/office/officeart/2005/8/layout/default#1"/>
    <dgm:cxn modelId="{1101910C-E07F-486F-A276-86486C905C51}" type="presParOf" srcId="{FD459526-A632-4165-84F0-DD4D44069092}" destId="{F1FBFE21-9DF5-4505-8D8B-6EF2CCB31FEE}" srcOrd="18" destOrd="0" presId="urn:microsoft.com/office/officeart/2005/8/layout/default#1"/>
    <dgm:cxn modelId="{B4FFC812-52FA-4515-8CF5-B16F299497C2}" type="presParOf" srcId="{FD459526-A632-4165-84F0-DD4D44069092}" destId="{A658F4B5-3950-439C-960E-6D73DCA80588}" srcOrd="19" destOrd="0" presId="urn:microsoft.com/office/officeart/2005/8/layout/default#1"/>
    <dgm:cxn modelId="{C155C97A-0D86-4183-9CB3-62269E94BD6F}" type="presParOf" srcId="{FD459526-A632-4165-84F0-DD4D44069092}" destId="{FC18BE71-30A4-4718-92D9-19F6EDF79A0C}" srcOrd="20" destOrd="0" presId="urn:microsoft.com/office/officeart/2005/8/layout/defaul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2018E6E-0B9C-4FC3-8424-7F10274883EC}" type="doc">
      <dgm:prSet loTypeId="urn:microsoft.com/office/officeart/2009/3/layout/PlusandMinus" loCatId="relationship" qsTypeId="urn:microsoft.com/office/officeart/2005/8/quickstyle/simple1" qsCatId="simple" csTypeId="urn:microsoft.com/office/officeart/2005/8/colors/colorful1#3" csCatId="colorful" phldr="1"/>
      <dgm:spPr/>
      <dgm:t>
        <a:bodyPr/>
        <a:lstStyle/>
        <a:p>
          <a:endParaRPr lang="zh-CN" altLang="en-US"/>
        </a:p>
      </dgm:t>
    </dgm:pt>
    <dgm:pt modelId="{5374394C-E711-403B-87D3-95CE54295962}">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管理简单；</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使用方便；</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转发分组迅速；</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zh-CN" sz="1600" b="1" dirty="0">
              <a:latin typeface="微软雅黑" panose="020B0503020204020204" pitchFamily="34" charset="-122"/>
              <a:ea typeface="微软雅黑" panose="020B0503020204020204" pitchFamily="34" charset="-122"/>
            </a:rPr>
            <a:t>划分子网</a:t>
          </a:r>
          <a:r>
            <a:rPr lang="zh-CN" altLang="en-US" sz="1600" b="1" dirty="0">
              <a:latin typeface="微软雅黑" panose="020B0503020204020204" pitchFamily="34" charset="-122"/>
              <a:ea typeface="微软雅黑" panose="020B0503020204020204" pitchFamily="34" charset="-122"/>
            </a:rPr>
            <a:t>，灵活地使用。</a:t>
          </a:r>
        </a:p>
      </dgm:t>
    </dgm:pt>
    <dgm:pt modelId="{3074837E-5CB6-4F26-B3AF-0FBBF40E15D3}" type="par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B361991-367A-47AA-B4DE-F001008F5F5F}" type="sib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7364F2-2070-4A6D-AE9E-A9FC284A294E}">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设计上不合理：</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大地址块，</a:t>
          </a:r>
          <a:r>
            <a:rPr lang="zh-CN" altLang="en-US" sz="1600" b="1" dirty="0">
              <a:solidFill>
                <a:srgbClr val="C00000"/>
              </a:solidFill>
              <a:latin typeface="微软雅黑" panose="020B0503020204020204" pitchFamily="34" charset="-122"/>
              <a:ea typeface="微软雅黑" panose="020B0503020204020204" pitchFamily="34" charset="-122"/>
            </a:rPr>
            <a:t>浪费</a:t>
          </a:r>
          <a:r>
            <a:rPr lang="zh-CN" altLang="en-US" sz="1600" b="1" dirty="0">
              <a:latin typeface="微软雅黑" panose="020B0503020204020204" pitchFamily="34" charset="-122"/>
              <a:ea typeface="微软雅黑" panose="020B0503020204020204" pitchFamily="34" charset="-122"/>
            </a:rPr>
            <a:t>地址资源；</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即使采用划分子网的方法，也无法解决 </a:t>
          </a:r>
          <a:r>
            <a:rPr lang="en-US" altLang="en-US"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r>
            <a:rPr lang="zh-CN" altLang="en-US" sz="1600" b="1" dirty="0">
              <a:solidFill>
                <a:srgbClr val="C00000"/>
              </a:solidFill>
              <a:latin typeface="微软雅黑" panose="020B0503020204020204" pitchFamily="34" charset="-122"/>
              <a:ea typeface="微软雅黑" panose="020B0503020204020204" pitchFamily="34" charset="-122"/>
            </a:rPr>
            <a:t>枯竭</a:t>
          </a:r>
          <a:r>
            <a:rPr lang="zh-CN" altLang="en-US" sz="1600" b="1" dirty="0">
              <a:latin typeface="微软雅黑" panose="020B0503020204020204" pitchFamily="34" charset="-122"/>
              <a:ea typeface="微软雅黑" panose="020B0503020204020204" pitchFamily="34" charset="-122"/>
            </a:rPr>
            <a:t>的问题。</a:t>
          </a:r>
        </a:p>
      </dgm:t>
    </dgm:pt>
    <dgm:pt modelId="{66C9E57C-9FB1-41AA-B8BC-A30642C3D79C}" type="par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DD0817A-43BD-4AAE-BC82-551A36799611}" type="sib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9223938-D050-4F79-A23C-4AD2512126B0}" type="pres">
      <dgm:prSet presAssocID="{22018E6E-0B9C-4FC3-8424-7F10274883EC}" presName="Name0" presStyleCnt="0">
        <dgm:presLayoutVars>
          <dgm:chMax val="2"/>
          <dgm:chPref val="2"/>
          <dgm:dir/>
          <dgm:animOne/>
          <dgm:resizeHandles val="exact"/>
        </dgm:presLayoutVars>
      </dgm:prSet>
      <dgm:spPr/>
    </dgm:pt>
    <dgm:pt modelId="{424B0A0E-971B-4E83-B9F0-6072ADB97738}" type="pres">
      <dgm:prSet presAssocID="{22018E6E-0B9C-4FC3-8424-7F10274883EC}" presName="Background" presStyleLbl="bgImgPlace1" presStyleIdx="0" presStyleCnt="1" custScaleX="120220" custLinFactNeighborX="0"/>
      <dgm:spPr/>
    </dgm:pt>
    <dgm:pt modelId="{E873E07A-9E09-453F-95F0-A7AAEE2551B3}" type="pres">
      <dgm:prSet presAssocID="{22018E6E-0B9C-4FC3-8424-7F10274883EC}" presName="ParentText1" presStyleLbl="revTx" presStyleIdx="0" presStyleCnt="2" custScaleX="112967" custScaleY="86781" custLinFactNeighborX="-2508">
        <dgm:presLayoutVars>
          <dgm:chMax val="0"/>
          <dgm:chPref val="0"/>
          <dgm:bulletEnabled val="1"/>
        </dgm:presLayoutVars>
      </dgm:prSet>
      <dgm:spPr/>
    </dgm:pt>
    <dgm:pt modelId="{40AD89A0-37A1-4061-B639-561D759D430F}" type="pres">
      <dgm:prSet presAssocID="{22018E6E-0B9C-4FC3-8424-7F10274883EC}" presName="ParentText2" presStyleLbl="revTx" presStyleIdx="1" presStyleCnt="2" custScaleX="112967" custScaleY="86781" custLinFactNeighborX="9992">
        <dgm:presLayoutVars>
          <dgm:chMax val="0"/>
          <dgm:chPref val="0"/>
          <dgm:bulletEnabled val="1"/>
        </dgm:presLayoutVars>
      </dgm:prSet>
      <dgm:spPr/>
    </dgm:pt>
    <dgm:pt modelId="{69C13D01-1AFC-4B1D-A9D4-90EC30CD2E19}" type="pres">
      <dgm:prSet presAssocID="{22018E6E-0B9C-4FC3-8424-7F10274883EC}" presName="Plus" presStyleLbl="alignNode1" presStyleIdx="0" presStyleCnt="2" custLinFactNeighborX="-25576"/>
      <dgm:spPr/>
    </dgm:pt>
    <dgm:pt modelId="{279C3955-DDC3-45AE-ABAF-A714C59D6D50}" type="pres">
      <dgm:prSet presAssocID="{22018E6E-0B9C-4FC3-8424-7F10274883EC}" presName="Minus" presStyleLbl="alignNode1" presStyleIdx="1" presStyleCnt="2" custLinFactNeighborX="55376"/>
      <dgm:spPr>
        <a:solidFill>
          <a:srgbClr val="000099"/>
        </a:solidFill>
        <a:ln>
          <a:noFill/>
        </a:ln>
      </dgm:spPr>
    </dgm:pt>
    <dgm:pt modelId="{8D85BB93-CCEC-4AF9-A3E3-7305BF0CC5BD}" type="pres">
      <dgm:prSet presAssocID="{22018E6E-0B9C-4FC3-8424-7F10274883EC}" presName="Divider" presStyleLbl="parChTrans1D1" presStyleIdx="0" presStyleCnt="1"/>
      <dgm:spPr>
        <a:ln>
          <a:solidFill>
            <a:srgbClr val="000099"/>
          </a:solidFill>
        </a:ln>
      </dgm:spPr>
    </dgm:pt>
  </dgm:ptLst>
  <dgm:cxnLst>
    <dgm:cxn modelId="{42B30209-CEBA-49A2-B3AB-419B1C2AA1D6}" type="presOf" srcId="{007364F2-2070-4A6D-AE9E-A9FC284A294E}" destId="{40AD89A0-37A1-4061-B639-561D759D430F}" srcOrd="0" destOrd="0" presId="urn:microsoft.com/office/officeart/2009/3/layout/PlusandMinus"/>
    <dgm:cxn modelId="{77C5D026-ADDA-4B4D-90F6-E4378E9BBDE6}" type="presOf" srcId="{22018E6E-0B9C-4FC3-8424-7F10274883EC}" destId="{29223938-D050-4F79-A23C-4AD2512126B0}" srcOrd="0" destOrd="0" presId="urn:microsoft.com/office/officeart/2009/3/layout/PlusandMinus"/>
    <dgm:cxn modelId="{8072EEA7-81AC-4761-8640-6C093705A07C}" srcId="{22018E6E-0B9C-4FC3-8424-7F10274883EC}" destId="{5374394C-E711-403B-87D3-95CE54295962}" srcOrd="0" destOrd="0" parTransId="{3074837E-5CB6-4F26-B3AF-0FBBF40E15D3}" sibTransId="{EB361991-367A-47AA-B4DE-F001008F5F5F}"/>
    <dgm:cxn modelId="{D72063B5-D744-4718-BA9F-53E2C581F461}" srcId="{22018E6E-0B9C-4FC3-8424-7F10274883EC}" destId="{007364F2-2070-4A6D-AE9E-A9FC284A294E}" srcOrd="1" destOrd="0" parTransId="{66C9E57C-9FB1-41AA-B8BC-A30642C3D79C}" sibTransId="{2DD0817A-43BD-4AAE-BC82-551A36799611}"/>
    <dgm:cxn modelId="{3730DDDF-4055-44DF-AE58-4E3870ECC856}" type="presOf" srcId="{5374394C-E711-403B-87D3-95CE54295962}" destId="{E873E07A-9E09-453F-95F0-A7AAEE2551B3}" srcOrd="0" destOrd="0" presId="urn:microsoft.com/office/officeart/2009/3/layout/PlusandMinus"/>
    <dgm:cxn modelId="{6B858D72-137C-4B91-A78D-5A8099049508}" type="presParOf" srcId="{29223938-D050-4F79-A23C-4AD2512126B0}" destId="{424B0A0E-971B-4E83-B9F0-6072ADB97738}" srcOrd="0" destOrd="0" presId="urn:microsoft.com/office/officeart/2009/3/layout/PlusandMinus"/>
    <dgm:cxn modelId="{37065EDD-C235-4710-AE59-7F9B95BFD459}" type="presParOf" srcId="{29223938-D050-4F79-A23C-4AD2512126B0}" destId="{E873E07A-9E09-453F-95F0-A7AAEE2551B3}" srcOrd="1" destOrd="0" presId="urn:microsoft.com/office/officeart/2009/3/layout/PlusandMinus"/>
    <dgm:cxn modelId="{8ECF53E8-DADB-49DE-AF4C-4F48E1BDAE66}" type="presParOf" srcId="{29223938-D050-4F79-A23C-4AD2512126B0}" destId="{40AD89A0-37A1-4061-B639-561D759D430F}" srcOrd="2" destOrd="0" presId="urn:microsoft.com/office/officeart/2009/3/layout/PlusandMinus"/>
    <dgm:cxn modelId="{2677E292-37BC-44CB-B103-4B1C1D7B273B}" type="presParOf" srcId="{29223938-D050-4F79-A23C-4AD2512126B0}" destId="{69C13D01-1AFC-4B1D-A9D4-90EC30CD2E19}" srcOrd="3" destOrd="0" presId="urn:microsoft.com/office/officeart/2009/3/layout/PlusandMinus"/>
    <dgm:cxn modelId="{B0E207AB-9C79-4F83-BDAE-0FBB25B4D6FD}" type="presParOf" srcId="{29223938-D050-4F79-A23C-4AD2512126B0}" destId="{279C3955-DDC3-45AE-ABAF-A714C59D6D50}" srcOrd="4" destOrd="0" presId="urn:microsoft.com/office/officeart/2009/3/layout/PlusandMinus"/>
    <dgm:cxn modelId="{ED134484-4B78-4DE7-80D7-94CFDCF57574}" type="presParOf" srcId="{29223938-D050-4F79-A23C-4AD2512126B0}" destId="{8D85BB93-CCEC-4AF9-A3E3-7305BF0CC5BD}" srcOrd="5" destOrd="0" presId="urn:microsoft.com/office/officeart/2009/3/layout/PlusandMinu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D708020-4687-41CF-9D7F-6F2391C11BAA}" type="doc">
      <dgm:prSet loTypeId="urn:microsoft.com/office/officeart/2005/8/layout/hList1" loCatId="list" qsTypeId="urn:microsoft.com/office/officeart/2005/8/quickstyle/simple1" qsCatId="simple" csTypeId="urn:microsoft.com/office/officeart/2005/8/colors/colorful1#4" csCatId="colorful" phldr="1"/>
      <dgm:spPr/>
      <dgm:t>
        <a:bodyPr/>
        <a:lstStyle/>
        <a:p>
          <a:endParaRPr lang="zh-CN" altLang="en-US"/>
        </a:p>
      </dgm:t>
    </dgm:pt>
    <dgm:pt modelId="{99011571-F4E1-4446-A8BE-18E70C05927B}">
      <dgm:prSet phldrT="[文本]" custT="1"/>
      <dgm:spPr/>
      <dgm:t>
        <a:bodyPr/>
        <a:lstStyle/>
        <a:p>
          <a:r>
            <a:rPr lang="en-US" altLang="zh-CN"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地址</a:t>
          </a:r>
        </a:p>
      </dgm:t>
    </dgm:pt>
    <dgm:pt modelId="{4C539E80-9E04-44A9-8367-F7E03B34B249}" type="par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F7FCDC9-D001-4CEE-A5E4-71C7F184525C}" type="sib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AD62A53-8D22-4EE5-8913-0BBACA2364E4}">
      <dgm:prSet phldrT="[文本]" custT="1"/>
      <dgm:spPr/>
      <dgm:t>
        <a:bodyPr/>
        <a:lstStyle/>
        <a:p>
          <a:r>
            <a:rPr lang="zh-CN" altLang="en-US" sz="1800" b="1" dirty="0">
              <a:latin typeface="微软雅黑" panose="020B0503020204020204" pitchFamily="34" charset="-122"/>
              <a:ea typeface="微软雅黑" panose="020B0503020204020204" pitchFamily="34" charset="-122"/>
            </a:rPr>
            <a:t>虚拟地址、软件地址、逻辑地址。</a:t>
          </a:r>
        </a:p>
      </dgm:t>
    </dgm:pt>
    <dgm:pt modelId="{54C85AAA-179D-4E68-BF2A-FFEED0DDB07F}" type="par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5217E7-DE89-4742-BCCD-8BFF0AF57BAD}" type="sib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40657A4-D7B8-468B-A5F4-A2D889160995}">
      <dgm:prSet phldrT="[文本]" custT="1"/>
      <dgm:spPr/>
      <dgm:t>
        <a:bodyPr/>
        <a:lstStyle/>
        <a:p>
          <a:r>
            <a:rPr lang="en-US" altLang="zh-CN"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地址</a:t>
          </a:r>
        </a:p>
      </dgm:t>
    </dgm:pt>
    <dgm:pt modelId="{A7FDB1D6-023E-42DF-BB39-2015EF26DC0F}" type="par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09BF549-D68B-48BC-A9E0-62B2344773D6}" type="sib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79BE541-745A-4292-8465-C36F8EDD321B}">
      <dgm:prSet phldrT="[文本]" custT="1"/>
      <dgm:spPr/>
      <dgm:t>
        <a:bodyPr/>
        <a:lstStyle/>
        <a:p>
          <a:r>
            <a:rPr lang="zh-CN" altLang="en-US" sz="1800" b="1" dirty="0">
              <a:latin typeface="微软雅黑" panose="020B0503020204020204" pitchFamily="34" charset="-122"/>
              <a:ea typeface="微软雅黑" panose="020B0503020204020204" pitchFamily="34" charset="-122"/>
            </a:rPr>
            <a:t>固化在网卡上的 </a:t>
          </a:r>
          <a:r>
            <a:rPr lang="en-US" altLang="en-US" sz="1800" b="1" dirty="0">
              <a:latin typeface="微软雅黑" panose="020B0503020204020204" pitchFamily="34" charset="-122"/>
              <a:ea typeface="微软雅黑" panose="020B0503020204020204" pitchFamily="34" charset="-122"/>
            </a:rPr>
            <a:t>ROM </a:t>
          </a:r>
          <a:r>
            <a:rPr lang="zh-CN" altLang="en-US" sz="1800" b="1" dirty="0">
              <a:latin typeface="微软雅黑" panose="020B0503020204020204" pitchFamily="34" charset="-122"/>
              <a:ea typeface="微软雅黑" panose="020B0503020204020204" pitchFamily="34" charset="-122"/>
            </a:rPr>
            <a:t>中。</a:t>
          </a:r>
        </a:p>
      </dgm:t>
    </dgm:pt>
    <dgm:pt modelId="{5FBA12F4-C84B-4A28-AE84-34210DDD6316}" type="par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35C864-7EA2-4C2D-AC52-3EE5ABADC5B9}" type="sib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33B3BA4-3778-4402-B1E1-C8CFA33A382D}">
      <dgm:prSet phldrT="[文本]" custT="1"/>
      <dgm:spPr/>
      <dgm:t>
        <a:bodyPr/>
        <a:lstStyle/>
        <a:p>
          <a:r>
            <a:rPr lang="zh-CN" altLang="en-US" sz="1800" b="1" dirty="0">
              <a:latin typeface="微软雅黑" panose="020B0503020204020204" pitchFamily="34" charset="-122"/>
              <a:ea typeface="微软雅黑" panose="020B0503020204020204" pitchFamily="34" charset="-122"/>
            </a:rPr>
            <a:t>硬件地址、物理地址。</a:t>
          </a:r>
        </a:p>
      </dgm:t>
    </dgm:pt>
    <dgm:pt modelId="{A03C24AB-8B7A-424E-9BC6-9376C33A0BF3}" type="par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CC1D41-9035-4D7E-9009-AC68C1CAF263}" type="sib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DE000F3-D6C1-4803-A1E5-DC524A4AE480}">
      <dgm:prSet phldrT="[文本]" custT="1"/>
      <dgm:spPr/>
      <dgm:t>
        <a:bodyPr/>
        <a:lstStyle/>
        <a:p>
          <a:r>
            <a:rPr lang="zh-CN" altLang="en-US" sz="1800" b="1" dirty="0">
              <a:latin typeface="微软雅黑" panose="020B0503020204020204" pitchFamily="34" charset="-122"/>
              <a:ea typeface="微软雅黑" panose="020B0503020204020204" pitchFamily="34" charset="-122"/>
            </a:rPr>
            <a:t>数据链路层使用。</a:t>
          </a:r>
        </a:p>
      </dgm:t>
    </dgm:pt>
    <dgm:pt modelId="{C64D28C4-25B8-4CDC-8A89-C1CF980BB5C1}" type="parTrans" cxnId="{EF82BF05-16DC-4EA5-9A44-1323F3F73B87}">
      <dgm:prSet/>
      <dgm:spPr/>
      <dgm:t>
        <a:bodyPr/>
        <a:lstStyle/>
        <a:p>
          <a:endParaRPr lang="zh-CN" altLang="en-US"/>
        </a:p>
      </dgm:t>
    </dgm:pt>
    <dgm:pt modelId="{30D97064-16C7-4998-BF1A-DB22B53CF04E}" type="sibTrans" cxnId="{EF82BF05-16DC-4EA5-9A44-1323F3F73B87}">
      <dgm:prSet/>
      <dgm:spPr/>
      <dgm:t>
        <a:bodyPr/>
        <a:lstStyle/>
        <a:p>
          <a:endParaRPr lang="zh-CN" altLang="en-US"/>
        </a:p>
      </dgm:t>
    </dgm:pt>
    <dgm:pt modelId="{09A8615C-F22C-48F1-9E19-B8FC9AF13FE9}">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网络层和以上各层使用。</a:t>
          </a:r>
        </a:p>
      </dgm:t>
    </dgm:pt>
    <dgm:pt modelId="{5BD54EF1-4FAB-4065-92C9-BCE2DE81E584}" type="parTrans" cxnId="{A458A4B0-84AA-49EA-8BDC-E4ABE46A7F6F}">
      <dgm:prSet/>
      <dgm:spPr/>
      <dgm:t>
        <a:bodyPr/>
        <a:lstStyle/>
        <a:p>
          <a:endParaRPr lang="zh-CN" altLang="en-US"/>
        </a:p>
      </dgm:t>
    </dgm:pt>
    <dgm:pt modelId="{FB609984-1C85-4848-A207-F57B125554A5}" type="sibTrans" cxnId="{A458A4B0-84AA-49EA-8BDC-E4ABE46A7F6F}">
      <dgm:prSet/>
      <dgm:spPr/>
      <dgm:t>
        <a:bodyPr/>
        <a:lstStyle/>
        <a:p>
          <a:endParaRPr lang="zh-CN" altLang="en-US"/>
        </a:p>
      </dgm:t>
    </dgm:pt>
    <dgm:pt modelId="{323295A5-C594-443E-A7E6-624EA9254300}">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数据报的首部。</a:t>
          </a:r>
        </a:p>
      </dgm:t>
    </dgm:pt>
    <dgm:pt modelId="{200A6130-5C46-4C63-9F44-D454E24722AF}" type="parTrans" cxnId="{2A705B60-B7F3-4BE3-9093-3C1BB2EBCFB5}">
      <dgm:prSet/>
      <dgm:spPr/>
      <dgm:t>
        <a:bodyPr/>
        <a:lstStyle/>
        <a:p>
          <a:endParaRPr lang="zh-CN" altLang="en-US"/>
        </a:p>
      </dgm:t>
    </dgm:pt>
    <dgm:pt modelId="{3830A99E-A088-46F1-9D7A-13AD7413F170}" type="sibTrans" cxnId="{2A705B60-B7F3-4BE3-9093-3C1BB2EBCFB5}">
      <dgm:prSet/>
      <dgm:spPr/>
      <dgm:t>
        <a:bodyPr/>
        <a:lstStyle/>
        <a:p>
          <a:endParaRPr lang="zh-CN" altLang="en-US"/>
        </a:p>
      </dgm:t>
    </dgm:pt>
    <dgm:pt modelId="{0185F6EB-9C9F-4E3E-A388-326818E44F8C}">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帧的首部。</a:t>
          </a:r>
        </a:p>
      </dgm:t>
    </dgm:pt>
    <dgm:pt modelId="{572D545C-3C53-4B90-9A13-8FCA514B982D}" type="parTrans" cxnId="{C181352A-C0B0-4BDB-AF70-349C9595E6B5}">
      <dgm:prSet/>
      <dgm:spPr/>
      <dgm:t>
        <a:bodyPr/>
        <a:lstStyle/>
        <a:p>
          <a:endParaRPr lang="zh-CN" altLang="en-US"/>
        </a:p>
      </dgm:t>
    </dgm:pt>
    <dgm:pt modelId="{130173EF-01ED-485B-B8BB-D3163CE124C9}" type="sibTrans" cxnId="{C181352A-C0B0-4BDB-AF70-349C9595E6B5}">
      <dgm:prSet/>
      <dgm:spPr/>
      <dgm:t>
        <a:bodyPr/>
        <a:lstStyle/>
        <a:p>
          <a:endParaRPr lang="zh-CN" altLang="en-US"/>
        </a:p>
      </dgm:t>
    </dgm:pt>
    <dgm:pt modelId="{F3972236-93CB-4A8C-9066-D6256CD361C1}" type="pres">
      <dgm:prSet presAssocID="{AD708020-4687-41CF-9D7F-6F2391C11BAA}" presName="Name0" presStyleCnt="0">
        <dgm:presLayoutVars>
          <dgm:dir/>
          <dgm:animLvl val="lvl"/>
          <dgm:resizeHandles val="exact"/>
        </dgm:presLayoutVars>
      </dgm:prSet>
      <dgm:spPr/>
    </dgm:pt>
    <dgm:pt modelId="{E2C272DD-8977-4A4D-9E5A-865A155C8D0C}" type="pres">
      <dgm:prSet presAssocID="{99011571-F4E1-4446-A8BE-18E70C05927B}" presName="composite" presStyleCnt="0"/>
      <dgm:spPr/>
    </dgm:pt>
    <dgm:pt modelId="{8A93C829-AB1E-47B7-AF09-3489EE20D87D}" type="pres">
      <dgm:prSet presAssocID="{99011571-F4E1-4446-A8BE-18E70C05927B}" presName="parTx" presStyleLbl="alignNode1" presStyleIdx="0" presStyleCnt="2">
        <dgm:presLayoutVars>
          <dgm:chMax val="0"/>
          <dgm:chPref val="0"/>
          <dgm:bulletEnabled val="1"/>
        </dgm:presLayoutVars>
      </dgm:prSet>
      <dgm:spPr/>
    </dgm:pt>
    <dgm:pt modelId="{ADDE5FA6-A293-4009-AA1F-EF295D5FC61B}" type="pres">
      <dgm:prSet presAssocID="{99011571-F4E1-4446-A8BE-18E70C05927B}" presName="desTx" presStyleLbl="alignAccFollowNode1" presStyleIdx="0" presStyleCnt="2">
        <dgm:presLayoutVars>
          <dgm:bulletEnabled val="1"/>
        </dgm:presLayoutVars>
      </dgm:prSet>
      <dgm:spPr/>
    </dgm:pt>
    <dgm:pt modelId="{8F0BA76D-270F-46B0-A163-3FD6D431D901}" type="pres">
      <dgm:prSet presAssocID="{CF7FCDC9-D001-4CEE-A5E4-71C7F184525C}" presName="space" presStyleCnt="0"/>
      <dgm:spPr/>
    </dgm:pt>
    <dgm:pt modelId="{A71985B1-1665-4492-8E93-44CC7EFEB5EB}" type="pres">
      <dgm:prSet presAssocID="{240657A4-D7B8-468B-A5F4-A2D889160995}" presName="composite" presStyleCnt="0"/>
      <dgm:spPr/>
    </dgm:pt>
    <dgm:pt modelId="{A906942F-4CD9-406B-9703-826231E59346}" type="pres">
      <dgm:prSet presAssocID="{240657A4-D7B8-468B-A5F4-A2D889160995}" presName="parTx" presStyleLbl="alignNode1" presStyleIdx="1" presStyleCnt="2">
        <dgm:presLayoutVars>
          <dgm:chMax val="0"/>
          <dgm:chPref val="0"/>
          <dgm:bulletEnabled val="1"/>
        </dgm:presLayoutVars>
      </dgm:prSet>
      <dgm:spPr/>
    </dgm:pt>
    <dgm:pt modelId="{2B0E6FE9-FDF1-417E-907E-1431E3C22379}" type="pres">
      <dgm:prSet presAssocID="{240657A4-D7B8-468B-A5F4-A2D889160995}" presName="desTx" presStyleLbl="alignAccFollowNode1" presStyleIdx="1" presStyleCnt="2">
        <dgm:presLayoutVars>
          <dgm:bulletEnabled val="1"/>
        </dgm:presLayoutVars>
      </dgm:prSet>
      <dgm:spPr/>
    </dgm:pt>
  </dgm:ptLst>
  <dgm:cxnLst>
    <dgm:cxn modelId="{EF82BF05-16DC-4EA5-9A44-1323F3F73B87}" srcId="{240657A4-D7B8-468B-A5F4-A2D889160995}" destId="{8DE000F3-D6C1-4803-A1E5-DC524A4AE480}" srcOrd="2" destOrd="0" parTransId="{C64D28C4-25B8-4CDC-8A89-C1CF980BB5C1}" sibTransId="{30D97064-16C7-4998-BF1A-DB22B53CF04E}"/>
    <dgm:cxn modelId="{940E770D-49F6-4FC5-86C8-41A8CE548E49}" srcId="{99011571-F4E1-4446-A8BE-18E70C05927B}" destId="{9AD62A53-8D22-4EE5-8913-0BBACA2364E4}" srcOrd="0" destOrd="0" parTransId="{54C85AAA-179D-4E68-BF2A-FFEED0DDB07F}" sibTransId="{1B5217E7-DE89-4742-BCCD-8BFF0AF57BAD}"/>
    <dgm:cxn modelId="{100BB30D-DE2F-47C8-9C30-7B9A2130442F}" type="presOf" srcId="{A79BE541-745A-4292-8465-C36F8EDD321B}" destId="{2B0E6FE9-FDF1-417E-907E-1431E3C22379}" srcOrd="0" destOrd="0" presId="urn:microsoft.com/office/officeart/2005/8/layout/hList1"/>
    <dgm:cxn modelId="{C8E5120F-C10C-4AB6-8450-9F3E16AB7EB6}" srcId="{AD708020-4687-41CF-9D7F-6F2391C11BAA}" destId="{99011571-F4E1-4446-A8BE-18E70C05927B}" srcOrd="0" destOrd="0" parTransId="{4C539E80-9E04-44A9-8367-F7E03B34B249}" sibTransId="{CF7FCDC9-D001-4CEE-A5E4-71C7F184525C}"/>
    <dgm:cxn modelId="{E4FB4313-6C06-4EAF-8D9B-228838EC9797}" type="presOf" srcId="{8DE000F3-D6C1-4803-A1E5-DC524A4AE480}" destId="{2B0E6FE9-FDF1-417E-907E-1431E3C22379}" srcOrd="0" destOrd="2" presId="urn:microsoft.com/office/officeart/2005/8/layout/hList1"/>
    <dgm:cxn modelId="{1A44C014-EBAC-4613-804E-BF0BB88899E3}" type="presOf" srcId="{9AD62A53-8D22-4EE5-8913-0BBACA2364E4}" destId="{ADDE5FA6-A293-4009-AA1F-EF295D5FC61B}" srcOrd="0" destOrd="0" presId="urn:microsoft.com/office/officeart/2005/8/layout/hList1"/>
    <dgm:cxn modelId="{C181352A-C0B0-4BDB-AF70-349C9595E6B5}" srcId="{240657A4-D7B8-468B-A5F4-A2D889160995}" destId="{0185F6EB-9C9F-4E3E-A388-326818E44F8C}" srcOrd="3" destOrd="0" parTransId="{572D545C-3C53-4B90-9A13-8FCA514B982D}" sibTransId="{130173EF-01ED-485B-B8BB-D3163CE124C9}"/>
    <dgm:cxn modelId="{27B67B3E-051F-4D31-B5F5-C79A604E3D16}" type="presOf" srcId="{0185F6EB-9C9F-4E3E-A388-326818E44F8C}" destId="{2B0E6FE9-FDF1-417E-907E-1431E3C22379}" srcOrd="0" destOrd="3" presId="urn:microsoft.com/office/officeart/2005/8/layout/hList1"/>
    <dgm:cxn modelId="{2A705B60-B7F3-4BE3-9093-3C1BB2EBCFB5}" srcId="{99011571-F4E1-4446-A8BE-18E70C05927B}" destId="{323295A5-C594-443E-A7E6-624EA9254300}" srcOrd="2" destOrd="0" parTransId="{200A6130-5C46-4C63-9F44-D454E24722AF}" sibTransId="{3830A99E-A088-46F1-9D7A-13AD7413F170}"/>
    <dgm:cxn modelId="{12E18449-C8D2-4FBD-A252-91AE228C6AF5}" srcId="{240657A4-D7B8-468B-A5F4-A2D889160995}" destId="{A79BE541-745A-4292-8465-C36F8EDD321B}" srcOrd="0" destOrd="0" parTransId="{5FBA12F4-C84B-4A28-AE84-34210DDD6316}" sibTransId="{7E35C864-7EA2-4C2D-AC52-3EE5ABADC5B9}"/>
    <dgm:cxn modelId="{DDF1F850-80F6-4F9D-9863-46C86ADA4419}" type="presOf" srcId="{99011571-F4E1-4446-A8BE-18E70C05927B}" destId="{8A93C829-AB1E-47B7-AF09-3489EE20D87D}" srcOrd="0" destOrd="0" presId="urn:microsoft.com/office/officeart/2005/8/layout/hList1"/>
    <dgm:cxn modelId="{023F1E57-C472-4AFE-BA8E-552A2F3C1394}" type="presOf" srcId="{240657A4-D7B8-468B-A5F4-A2D889160995}" destId="{A906942F-4CD9-406B-9703-826231E59346}" srcOrd="0" destOrd="0" presId="urn:microsoft.com/office/officeart/2005/8/layout/hList1"/>
    <dgm:cxn modelId="{A28AD17C-328B-47C1-B697-997B944516EA}" type="presOf" srcId="{AD708020-4687-41CF-9D7F-6F2391C11BAA}" destId="{F3972236-93CB-4A8C-9066-D6256CD361C1}" srcOrd="0" destOrd="0" presId="urn:microsoft.com/office/officeart/2005/8/layout/hList1"/>
    <dgm:cxn modelId="{E1E0D985-A4D3-4EDE-A0B8-5EEBE6AE8892}" type="presOf" srcId="{033B3BA4-3778-4402-B1E1-C8CFA33A382D}" destId="{2B0E6FE9-FDF1-417E-907E-1431E3C22379}" srcOrd="0" destOrd="1" presId="urn:microsoft.com/office/officeart/2005/8/layout/hList1"/>
    <dgm:cxn modelId="{A458A4B0-84AA-49EA-8BDC-E4ABE46A7F6F}" srcId="{99011571-F4E1-4446-A8BE-18E70C05927B}" destId="{09A8615C-F22C-48F1-9E19-B8FC9AF13FE9}" srcOrd="1" destOrd="0" parTransId="{5BD54EF1-4FAB-4065-92C9-BCE2DE81E584}" sibTransId="{FB609984-1C85-4848-A207-F57B125554A5}"/>
    <dgm:cxn modelId="{CBF248CA-6463-4657-9F43-AF669DCBF514}" srcId="{AD708020-4687-41CF-9D7F-6F2391C11BAA}" destId="{240657A4-D7B8-468B-A5F4-A2D889160995}" srcOrd="1" destOrd="0" parTransId="{A7FDB1D6-023E-42DF-BB39-2015EF26DC0F}" sibTransId="{D09BF549-D68B-48BC-A9E0-62B2344773D6}"/>
    <dgm:cxn modelId="{A4AF79CA-B25E-4F05-82A1-3910C09D6251}" type="presOf" srcId="{09A8615C-F22C-48F1-9E19-B8FC9AF13FE9}" destId="{ADDE5FA6-A293-4009-AA1F-EF295D5FC61B}" srcOrd="0" destOrd="1" presId="urn:microsoft.com/office/officeart/2005/8/layout/hList1"/>
    <dgm:cxn modelId="{FEDB8DEC-B553-4BBF-92EA-A2D2D5DF7CE5}" srcId="{240657A4-D7B8-468B-A5F4-A2D889160995}" destId="{033B3BA4-3778-4402-B1E1-C8CFA33A382D}" srcOrd="1" destOrd="0" parTransId="{A03C24AB-8B7A-424E-9BC6-9376C33A0BF3}" sibTransId="{4BCC1D41-9035-4D7E-9009-AC68C1CAF263}"/>
    <dgm:cxn modelId="{A9D14BF2-E0BB-46D8-845C-FCF21D2BA831}" type="presOf" srcId="{323295A5-C594-443E-A7E6-624EA9254300}" destId="{ADDE5FA6-A293-4009-AA1F-EF295D5FC61B}" srcOrd="0" destOrd="2" presId="urn:microsoft.com/office/officeart/2005/8/layout/hList1"/>
    <dgm:cxn modelId="{1BD00B3F-CC87-45D5-8068-2A12062FAD02}" type="presParOf" srcId="{F3972236-93CB-4A8C-9066-D6256CD361C1}" destId="{E2C272DD-8977-4A4D-9E5A-865A155C8D0C}" srcOrd="0" destOrd="0" presId="urn:microsoft.com/office/officeart/2005/8/layout/hList1"/>
    <dgm:cxn modelId="{149624C9-1A75-44B1-9CFB-47B78E38453E}" type="presParOf" srcId="{E2C272DD-8977-4A4D-9E5A-865A155C8D0C}" destId="{8A93C829-AB1E-47B7-AF09-3489EE20D87D}" srcOrd="0" destOrd="0" presId="urn:microsoft.com/office/officeart/2005/8/layout/hList1"/>
    <dgm:cxn modelId="{C46F3658-24CA-48BE-AB2D-71A4709B311B}" type="presParOf" srcId="{E2C272DD-8977-4A4D-9E5A-865A155C8D0C}" destId="{ADDE5FA6-A293-4009-AA1F-EF295D5FC61B}" srcOrd="1" destOrd="0" presId="urn:microsoft.com/office/officeart/2005/8/layout/hList1"/>
    <dgm:cxn modelId="{A4CE841F-0440-440F-B346-027E34CE9AD6}" type="presParOf" srcId="{F3972236-93CB-4A8C-9066-D6256CD361C1}" destId="{8F0BA76D-270F-46B0-A163-3FD6D431D901}" srcOrd="1" destOrd="0" presId="urn:microsoft.com/office/officeart/2005/8/layout/hList1"/>
    <dgm:cxn modelId="{96A28BED-B426-4E80-8492-DA8F6E83919D}" type="presParOf" srcId="{F3972236-93CB-4A8C-9066-D6256CD361C1}" destId="{A71985B1-1665-4492-8E93-44CC7EFEB5EB}" srcOrd="2" destOrd="0" presId="urn:microsoft.com/office/officeart/2005/8/layout/hList1"/>
    <dgm:cxn modelId="{09D1CB4E-1BB2-4798-8737-C5280060228D}" type="presParOf" srcId="{A71985B1-1665-4492-8E93-44CC7EFEB5EB}" destId="{A906942F-4CD9-406B-9703-826231E59346}" srcOrd="0" destOrd="0" presId="urn:microsoft.com/office/officeart/2005/8/layout/hList1"/>
    <dgm:cxn modelId="{E4145535-F9B1-4E96-8A9A-E1BD35DFCE2B}" type="presParOf" srcId="{A71985B1-1665-4492-8E93-44CC7EFEB5EB}" destId="{2B0E6FE9-FDF1-417E-907E-1431E3C22379}"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7319EB9-4614-4568-9791-C9AE0156F741}" type="doc">
      <dgm:prSet loTypeId="urn:microsoft.com/office/officeart/2008/layout/AlternatingHexagons" loCatId="list" qsTypeId="urn:microsoft.com/office/officeart/2005/8/quickstyle/simple1" qsCatId="simple" csTypeId="urn:microsoft.com/office/officeart/2005/8/colors/colorful1#5" csCatId="colorful" phldr="1"/>
      <dgm:spPr/>
      <dgm:t>
        <a:bodyPr/>
        <a:lstStyle/>
        <a:p>
          <a:endParaRPr lang="zh-CN" altLang="en-US"/>
        </a:p>
      </dgm:t>
    </dgm:pt>
    <dgm:pt modelId="{AB5687E8-7BC4-4584-9467-92CFB3784C13}">
      <dgm:prSet phldrT="[文本]" custT="1"/>
      <dgm:spPr/>
      <dgm:t>
        <a:bodyPr/>
        <a:lstStyle/>
        <a:p>
          <a:r>
            <a:rPr lang="zh-CN" altLang="en-US" sz="1800" b="1" dirty="0">
              <a:latin typeface="微软雅黑" panose="020B0503020204020204" pitchFamily="34" charset="-122"/>
              <a:ea typeface="微软雅黑" panose="020B0503020204020204" pitchFamily="34" charset="-122"/>
            </a:rPr>
            <a:t>稳定</a:t>
          </a:r>
        </a:p>
      </dgm:t>
    </dgm:pt>
    <dgm:pt modelId="{814585C0-CCC5-4B07-B56D-34ECF1C65DD7}" type="parTrans" cxnId="{AF7B03E1-1404-4373-A86D-92C0E226D4F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F28841C-B424-47DC-9BDD-951BD626D164}" type="sibTrans" cxnId="{AF7B03E1-1404-4373-A86D-92C0E226D4F6}">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B13767DF-D7F0-42AE-9A33-BBD61F852019}">
      <dgm:prSet phldrT="[文本]" custT="1"/>
      <dgm:spPr/>
      <dgm:t>
        <a:bodyPr/>
        <a:lstStyle/>
        <a:p>
          <a:r>
            <a:rPr lang="zh-CN" altLang="en-US" sz="1800" b="1" dirty="0">
              <a:latin typeface="微软雅黑" panose="020B0503020204020204" pitchFamily="34" charset="-122"/>
              <a:ea typeface="微软雅黑" panose="020B0503020204020204" pitchFamily="34" charset="-122"/>
            </a:rPr>
            <a:t>计算简单</a:t>
          </a:r>
        </a:p>
      </dgm:t>
    </dgm:pt>
    <dgm:pt modelId="{53FCE7C6-1925-4D3C-A46D-F5501D7FD26E}" type="par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F2BB5ED8-761D-4AE3-8527-CD2935FBA572}" type="sib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9FEC0-3405-40B5-B834-1ADB41612053}">
      <dgm:prSet phldrT="[文本]" custT="1"/>
      <dgm:spPr/>
      <dgm:t>
        <a:bodyPr/>
        <a:lstStyle/>
        <a:p>
          <a:r>
            <a:rPr lang="zh-CN" altLang="en-US" sz="1800" b="1" dirty="0">
              <a:latin typeface="微软雅黑" panose="020B0503020204020204" pitchFamily="34" charset="-122"/>
              <a:ea typeface="微软雅黑" panose="020B0503020204020204" pitchFamily="34" charset="-122"/>
            </a:rPr>
            <a:t>公平</a:t>
          </a:r>
        </a:p>
      </dgm:t>
    </dgm:pt>
    <dgm:pt modelId="{D2CE15DA-8B28-4235-AA02-B5CFD4C10A77}" type="parTrans" cxnId="{0181C94A-406C-41C2-8903-44C5D0FAEA4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A56A9C6-98C6-4226-B6E3-7BD7731D2425}" type="sibTrans" cxnId="{0181C94A-406C-41C2-8903-44C5D0FAEA44}">
      <dgm:prSet custT="1"/>
      <dgm:spPr/>
      <dgm:t>
        <a:bodyPr/>
        <a:lstStyle/>
        <a:p>
          <a:pPr>
            <a:spcAft>
              <a:spcPts val="0"/>
            </a:spcAft>
          </a:pPr>
          <a:endParaRPr lang="zh-CN" altLang="en-US" sz="1800" b="1" dirty="0">
            <a:latin typeface="微软雅黑" panose="020B0503020204020204" pitchFamily="34" charset="-122"/>
            <a:ea typeface="微软雅黑" panose="020B0503020204020204" pitchFamily="34" charset="-122"/>
          </a:endParaRPr>
        </a:p>
      </dgm:t>
    </dgm:pt>
    <dgm:pt modelId="{65CB75E3-D942-499E-90E7-C58E3DF7223C}">
      <dgm:prSet phldrT="[文本]" custT="1"/>
      <dgm:spPr/>
      <dgm:t>
        <a:bodyPr/>
        <a:lstStyle/>
        <a:p>
          <a:endParaRPr lang="zh-CN" altLang="en-US" sz="1800" b="1" dirty="0">
            <a:latin typeface="微软雅黑" panose="020B0503020204020204" pitchFamily="34" charset="-122"/>
            <a:ea typeface="微软雅黑" panose="020B0503020204020204" pitchFamily="34" charset="-122"/>
          </a:endParaRPr>
        </a:p>
      </dgm:t>
    </dgm:pt>
    <dgm:pt modelId="{CC59D6ED-6908-4C5A-B37D-F88F0A01801C}" type="par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51142B5-0AE8-42B0-9ED8-2E612F0E474F}" type="sib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B2162A3-B6D6-4882-92D7-839ABCD99519}">
      <dgm:prSet phldrT="[文本]" custT="1"/>
      <dgm:spPr/>
      <dgm:t>
        <a:bodyPr/>
        <a:lstStyle/>
        <a:p>
          <a:pPr>
            <a:spcAft>
              <a:spcPts val="0"/>
            </a:spcAft>
          </a:pPr>
          <a:r>
            <a:rPr lang="zh-CN" altLang="en-US" sz="1800" b="1" dirty="0">
              <a:latin typeface="微软雅黑" panose="020B0503020204020204" pitchFamily="34" charset="-122"/>
              <a:ea typeface="微软雅黑" panose="020B0503020204020204" pitchFamily="34" charset="-122"/>
            </a:rPr>
            <a:t>正确完整</a:t>
          </a:r>
        </a:p>
      </dgm:t>
    </dgm:pt>
    <dgm:pt modelId="{A0DE5CA0-9936-4415-9D37-B5D7B0297554}" type="parTrans" cxnId="{B23DC919-1C5C-447D-8330-63D1A634F79F}">
      <dgm:prSet/>
      <dgm:spPr/>
      <dgm:t>
        <a:bodyPr/>
        <a:lstStyle/>
        <a:p>
          <a:endParaRPr lang="zh-CN" altLang="en-US"/>
        </a:p>
      </dgm:t>
    </dgm:pt>
    <dgm:pt modelId="{10B47134-1EE4-4E8B-98E5-55DB217025FD}" type="sibTrans" cxnId="{B23DC919-1C5C-447D-8330-63D1A634F79F}">
      <dgm:prSet/>
      <dgm:spPr/>
      <dgm:t>
        <a:bodyPr/>
        <a:lstStyle/>
        <a:p>
          <a:endParaRPr lang="zh-CN" altLang="en-US"/>
        </a:p>
      </dgm:t>
    </dgm:pt>
    <dgm:pt modelId="{B572B81A-C8A2-4261-9B1A-1A690FA730F2}">
      <dgm:prSet phldrT="[文本]" custT="1"/>
      <dgm:spPr/>
      <dgm:t>
        <a:bodyPr/>
        <a:lstStyle/>
        <a:p>
          <a:r>
            <a:rPr lang="zh-CN" altLang="en-US" sz="1800" b="1" dirty="0">
              <a:latin typeface="微软雅黑" panose="020B0503020204020204" pitchFamily="34" charset="-122"/>
              <a:ea typeface="微软雅黑" panose="020B0503020204020204" pitchFamily="34" charset="-122"/>
            </a:rPr>
            <a:t>最佳</a:t>
          </a:r>
        </a:p>
      </dgm:t>
    </dgm:pt>
    <dgm:pt modelId="{B15EB8DE-96C1-4360-B410-D682B58C471B}" type="sibTrans" cxnId="{AD1A8F3B-C1FC-4FD6-B24B-3D915E296046}">
      <dgm:prSet custT="1"/>
      <dgm:spPr/>
      <dgm:t>
        <a:bodyPr/>
        <a:lstStyle/>
        <a:p>
          <a:r>
            <a:rPr lang="zh-CN" altLang="en-US" sz="1600" b="1" dirty="0">
              <a:latin typeface="微软雅黑" panose="020B0503020204020204" pitchFamily="34" charset="-122"/>
              <a:ea typeface="微软雅黑" panose="020B0503020204020204" pitchFamily="34" charset="-122"/>
            </a:rPr>
            <a:t>自适应</a:t>
          </a:r>
        </a:p>
      </dgm:t>
    </dgm:pt>
    <dgm:pt modelId="{191F5F4E-3800-4CA8-B18A-223C9ADC88F8}" type="parTrans" cxnId="{AD1A8F3B-C1FC-4FD6-B24B-3D915E29604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DB79EA0-A44C-4962-A355-08F2557026A0}" type="pres">
      <dgm:prSet presAssocID="{57319EB9-4614-4568-9791-C9AE0156F741}" presName="Name0" presStyleCnt="0">
        <dgm:presLayoutVars>
          <dgm:chMax/>
          <dgm:chPref/>
          <dgm:dir/>
          <dgm:animLvl val="lvl"/>
        </dgm:presLayoutVars>
      </dgm:prSet>
      <dgm:spPr/>
    </dgm:pt>
    <dgm:pt modelId="{0A2E94F4-9538-4412-A5DB-82BF5599FE8B}" type="pres">
      <dgm:prSet presAssocID="{AB5687E8-7BC4-4584-9467-92CFB3784C13}" presName="composite" presStyleCnt="0"/>
      <dgm:spPr/>
    </dgm:pt>
    <dgm:pt modelId="{DC8CECCC-33E8-4D44-AF7B-D639E8E0A9B0}" type="pres">
      <dgm:prSet presAssocID="{AB5687E8-7BC4-4584-9467-92CFB3784C13}" presName="Parent1" presStyleLbl="node1" presStyleIdx="0" presStyleCnt="6">
        <dgm:presLayoutVars>
          <dgm:chMax val="1"/>
          <dgm:chPref val="1"/>
          <dgm:bulletEnabled val="1"/>
        </dgm:presLayoutVars>
      </dgm:prSet>
      <dgm:spPr/>
    </dgm:pt>
    <dgm:pt modelId="{77C4C6C5-334A-4E65-979D-B22FCFC4D25B}" type="pres">
      <dgm:prSet presAssocID="{AB5687E8-7BC4-4584-9467-92CFB3784C13}" presName="Childtext1" presStyleLbl="revTx" presStyleIdx="0" presStyleCnt="3">
        <dgm:presLayoutVars>
          <dgm:chMax val="0"/>
          <dgm:chPref val="0"/>
          <dgm:bulletEnabled val="1"/>
        </dgm:presLayoutVars>
      </dgm:prSet>
      <dgm:spPr/>
    </dgm:pt>
    <dgm:pt modelId="{ECCD8BEB-7330-44C1-BA10-F2A2DAC3CBF7}" type="pres">
      <dgm:prSet presAssocID="{AB5687E8-7BC4-4584-9467-92CFB3784C13}" presName="BalanceSpacing" presStyleCnt="0"/>
      <dgm:spPr/>
    </dgm:pt>
    <dgm:pt modelId="{291DBE6B-442F-4F4E-84CC-BF472AC858D2}" type="pres">
      <dgm:prSet presAssocID="{AB5687E8-7BC4-4584-9467-92CFB3784C13}" presName="BalanceSpacing1" presStyleCnt="0"/>
      <dgm:spPr/>
    </dgm:pt>
    <dgm:pt modelId="{FA279299-B666-469F-8777-B71225E62A40}" type="pres">
      <dgm:prSet presAssocID="{6F28841C-B424-47DC-9BDD-951BD626D164}" presName="Accent1Text" presStyleLbl="node1" presStyleIdx="1" presStyleCnt="6"/>
      <dgm:spPr/>
    </dgm:pt>
    <dgm:pt modelId="{151082C4-983E-4E15-A83E-ECEE4D75F748}" type="pres">
      <dgm:prSet presAssocID="{6F28841C-B424-47DC-9BDD-951BD626D164}" presName="spaceBetweenRectangles" presStyleCnt="0"/>
      <dgm:spPr/>
    </dgm:pt>
    <dgm:pt modelId="{05EA092A-05D3-4432-BC70-BC13F3DBD001}" type="pres">
      <dgm:prSet presAssocID="{B572B81A-C8A2-4261-9B1A-1A690FA730F2}" presName="composite" presStyleCnt="0"/>
      <dgm:spPr/>
    </dgm:pt>
    <dgm:pt modelId="{5CDA83B7-524F-419D-8B88-84CC727E3270}" type="pres">
      <dgm:prSet presAssocID="{B572B81A-C8A2-4261-9B1A-1A690FA730F2}" presName="Parent1" presStyleLbl="node1" presStyleIdx="2" presStyleCnt="6">
        <dgm:presLayoutVars>
          <dgm:chMax val="1"/>
          <dgm:chPref val="1"/>
          <dgm:bulletEnabled val="1"/>
        </dgm:presLayoutVars>
      </dgm:prSet>
      <dgm:spPr/>
    </dgm:pt>
    <dgm:pt modelId="{9F9A9FAC-12D3-4655-B2AA-04364F1E88CE}" type="pres">
      <dgm:prSet presAssocID="{B572B81A-C8A2-4261-9B1A-1A690FA730F2}" presName="Childtext1" presStyleLbl="revTx" presStyleIdx="1" presStyleCnt="3">
        <dgm:presLayoutVars>
          <dgm:chMax val="0"/>
          <dgm:chPref val="0"/>
          <dgm:bulletEnabled val="1"/>
        </dgm:presLayoutVars>
      </dgm:prSet>
      <dgm:spPr/>
    </dgm:pt>
    <dgm:pt modelId="{3FB203CB-0438-4D34-A30F-718B07D59709}" type="pres">
      <dgm:prSet presAssocID="{B572B81A-C8A2-4261-9B1A-1A690FA730F2}" presName="BalanceSpacing" presStyleCnt="0"/>
      <dgm:spPr/>
    </dgm:pt>
    <dgm:pt modelId="{8AB624BF-00CE-441D-9E28-FD69C6F7A5AB}" type="pres">
      <dgm:prSet presAssocID="{B572B81A-C8A2-4261-9B1A-1A690FA730F2}" presName="BalanceSpacing1" presStyleCnt="0"/>
      <dgm:spPr/>
    </dgm:pt>
    <dgm:pt modelId="{BC9E837C-7471-448B-B8E7-D49F71F18600}" type="pres">
      <dgm:prSet presAssocID="{B15EB8DE-96C1-4360-B410-D682B58C471B}" presName="Accent1Text" presStyleLbl="node1" presStyleIdx="3" presStyleCnt="6"/>
      <dgm:spPr/>
    </dgm:pt>
    <dgm:pt modelId="{93506089-6327-4A0E-8CB1-F7C151D7F04B}" type="pres">
      <dgm:prSet presAssocID="{B15EB8DE-96C1-4360-B410-D682B58C471B}" presName="spaceBetweenRectangles" presStyleCnt="0"/>
      <dgm:spPr/>
    </dgm:pt>
    <dgm:pt modelId="{53A265BD-9BFF-49CE-85B9-C0A8B390C52B}" type="pres">
      <dgm:prSet presAssocID="{A8D9FEC0-3405-40B5-B834-1ADB41612053}" presName="composite" presStyleCnt="0"/>
      <dgm:spPr/>
    </dgm:pt>
    <dgm:pt modelId="{F18AFA34-AF22-48CA-A491-D3AA2FDCF09E}" type="pres">
      <dgm:prSet presAssocID="{A8D9FEC0-3405-40B5-B834-1ADB41612053}" presName="Parent1" presStyleLbl="node1" presStyleIdx="4" presStyleCnt="6">
        <dgm:presLayoutVars>
          <dgm:chMax val="1"/>
          <dgm:chPref val="1"/>
          <dgm:bulletEnabled val="1"/>
        </dgm:presLayoutVars>
      </dgm:prSet>
      <dgm:spPr/>
    </dgm:pt>
    <dgm:pt modelId="{5B9F08EB-293A-42A1-ACFE-48E8E54FC3D0}" type="pres">
      <dgm:prSet presAssocID="{A8D9FEC0-3405-40B5-B834-1ADB41612053}" presName="Childtext1" presStyleLbl="revTx" presStyleIdx="2" presStyleCnt="3">
        <dgm:presLayoutVars>
          <dgm:chMax val="0"/>
          <dgm:chPref val="0"/>
          <dgm:bulletEnabled val="1"/>
        </dgm:presLayoutVars>
      </dgm:prSet>
      <dgm:spPr/>
    </dgm:pt>
    <dgm:pt modelId="{E1AE432F-E2E5-4DCE-8DE5-E8271CFC7CB9}" type="pres">
      <dgm:prSet presAssocID="{A8D9FEC0-3405-40B5-B834-1ADB41612053}" presName="BalanceSpacing" presStyleCnt="0"/>
      <dgm:spPr/>
    </dgm:pt>
    <dgm:pt modelId="{3CC8B6BB-8A89-4224-8AC0-36412DC26484}" type="pres">
      <dgm:prSet presAssocID="{A8D9FEC0-3405-40B5-B834-1ADB41612053}" presName="BalanceSpacing1" presStyleCnt="0"/>
      <dgm:spPr/>
    </dgm:pt>
    <dgm:pt modelId="{9DAF7479-96E8-43C9-8AC5-D44A0AC1DE87}" type="pres">
      <dgm:prSet presAssocID="{4A56A9C6-98C6-4226-B6E3-7BD7731D2425}" presName="Accent1Text" presStyleLbl="node1" presStyleIdx="5" presStyleCnt="6"/>
      <dgm:spPr/>
    </dgm:pt>
  </dgm:ptLst>
  <dgm:cxnLst>
    <dgm:cxn modelId="{B23DC919-1C5C-447D-8330-63D1A634F79F}" srcId="{B572B81A-C8A2-4261-9B1A-1A690FA730F2}" destId="{8B2162A3-B6D6-4882-92D7-839ABCD99519}" srcOrd="0" destOrd="0" parTransId="{A0DE5CA0-9936-4415-9D37-B5D7B0297554}" sibTransId="{10B47134-1EE4-4E8B-98E5-55DB217025FD}"/>
    <dgm:cxn modelId="{854B341E-478D-4377-88B0-5D9926DA9C22}" type="presOf" srcId="{65CB75E3-D942-499E-90E7-C58E3DF7223C}" destId="{5B9F08EB-293A-42A1-ACFE-48E8E54FC3D0}" srcOrd="0" destOrd="0" presId="urn:microsoft.com/office/officeart/2008/layout/AlternatingHexagons"/>
    <dgm:cxn modelId="{1EA89022-EAD6-4A1E-868E-ECEF52C36233}" type="presOf" srcId="{57319EB9-4614-4568-9791-C9AE0156F741}" destId="{BDB79EA0-A44C-4962-A355-08F2557026A0}" srcOrd="0" destOrd="0" presId="urn:microsoft.com/office/officeart/2008/layout/AlternatingHexagons"/>
    <dgm:cxn modelId="{D87EBE2F-2396-4B08-A3E0-9A01DAFD9930}" type="presOf" srcId="{B13767DF-D7F0-42AE-9A33-BBD61F852019}" destId="{77C4C6C5-334A-4E65-979D-B22FCFC4D25B}" srcOrd="0" destOrd="0" presId="urn:microsoft.com/office/officeart/2008/layout/AlternatingHexagons"/>
    <dgm:cxn modelId="{AD1A8F3B-C1FC-4FD6-B24B-3D915E296046}" srcId="{57319EB9-4614-4568-9791-C9AE0156F741}" destId="{B572B81A-C8A2-4261-9B1A-1A690FA730F2}" srcOrd="1" destOrd="0" parTransId="{191F5F4E-3800-4CA8-B18A-223C9ADC88F8}" sibTransId="{B15EB8DE-96C1-4360-B410-D682B58C471B}"/>
    <dgm:cxn modelId="{0181C94A-406C-41C2-8903-44C5D0FAEA44}" srcId="{57319EB9-4614-4568-9791-C9AE0156F741}" destId="{A8D9FEC0-3405-40B5-B834-1ADB41612053}" srcOrd="2" destOrd="0" parTransId="{D2CE15DA-8B28-4235-AA02-B5CFD4C10A77}" sibTransId="{4A56A9C6-98C6-4226-B6E3-7BD7731D2425}"/>
    <dgm:cxn modelId="{9934016B-A3D1-4F7B-8CFA-0172104FCA08}" srcId="{A8D9FEC0-3405-40B5-B834-1ADB41612053}" destId="{65CB75E3-D942-499E-90E7-C58E3DF7223C}" srcOrd="0" destOrd="0" parTransId="{CC59D6ED-6908-4C5A-B37D-F88F0A01801C}" sibTransId="{B51142B5-0AE8-42B0-9ED8-2E612F0E474F}"/>
    <dgm:cxn modelId="{EE27E354-F222-48DD-A34D-BF81FC976956}" srcId="{AB5687E8-7BC4-4584-9467-92CFB3784C13}" destId="{B13767DF-D7F0-42AE-9A33-BBD61F852019}" srcOrd="0" destOrd="0" parTransId="{53FCE7C6-1925-4D3C-A46D-F5501D7FD26E}" sibTransId="{F2BB5ED8-761D-4AE3-8527-CD2935FBA572}"/>
    <dgm:cxn modelId="{1A24AA79-36B7-4ABB-83C8-48E85D928774}" type="presOf" srcId="{A8D9FEC0-3405-40B5-B834-1ADB41612053}" destId="{F18AFA34-AF22-48CA-A491-D3AA2FDCF09E}" srcOrd="0" destOrd="0" presId="urn:microsoft.com/office/officeart/2008/layout/AlternatingHexagons"/>
    <dgm:cxn modelId="{7F1E3DAD-FB0E-411A-97C1-C61575C84E10}" type="presOf" srcId="{B572B81A-C8A2-4261-9B1A-1A690FA730F2}" destId="{5CDA83B7-524F-419D-8B88-84CC727E3270}" srcOrd="0" destOrd="0" presId="urn:microsoft.com/office/officeart/2008/layout/AlternatingHexagons"/>
    <dgm:cxn modelId="{B0D2AEB8-E263-4457-BE44-F9C58357F531}" type="presOf" srcId="{8B2162A3-B6D6-4882-92D7-839ABCD99519}" destId="{9F9A9FAC-12D3-4655-B2AA-04364F1E88CE}" srcOrd="0" destOrd="0" presId="urn:microsoft.com/office/officeart/2008/layout/AlternatingHexagons"/>
    <dgm:cxn modelId="{05D89DBA-EB48-4970-A84F-132494D3F8A4}" type="presOf" srcId="{B15EB8DE-96C1-4360-B410-D682B58C471B}" destId="{BC9E837C-7471-448B-B8E7-D49F71F18600}" srcOrd="0" destOrd="0" presId="urn:microsoft.com/office/officeart/2008/layout/AlternatingHexagons"/>
    <dgm:cxn modelId="{1A9FA0BD-6564-49D1-B4E7-071B852D71CF}" type="presOf" srcId="{AB5687E8-7BC4-4584-9467-92CFB3784C13}" destId="{DC8CECCC-33E8-4D44-AF7B-D639E8E0A9B0}" srcOrd="0" destOrd="0" presId="urn:microsoft.com/office/officeart/2008/layout/AlternatingHexagons"/>
    <dgm:cxn modelId="{A7F9E5C6-0819-42FE-9650-F38AD26399A1}" type="presOf" srcId="{4A56A9C6-98C6-4226-B6E3-7BD7731D2425}" destId="{9DAF7479-96E8-43C9-8AC5-D44A0AC1DE87}" srcOrd="0" destOrd="0" presId="urn:microsoft.com/office/officeart/2008/layout/AlternatingHexagons"/>
    <dgm:cxn modelId="{BD8500E0-55DF-45C7-A226-F3EFB2FC53C2}" type="presOf" srcId="{6F28841C-B424-47DC-9BDD-951BD626D164}" destId="{FA279299-B666-469F-8777-B71225E62A40}" srcOrd="0" destOrd="0" presId="urn:microsoft.com/office/officeart/2008/layout/AlternatingHexagons"/>
    <dgm:cxn modelId="{AF7B03E1-1404-4373-A86D-92C0E226D4F6}" srcId="{57319EB9-4614-4568-9791-C9AE0156F741}" destId="{AB5687E8-7BC4-4584-9467-92CFB3784C13}" srcOrd="0" destOrd="0" parTransId="{814585C0-CCC5-4B07-B56D-34ECF1C65DD7}" sibTransId="{6F28841C-B424-47DC-9BDD-951BD626D164}"/>
    <dgm:cxn modelId="{D7FA2035-EBD0-41D0-83AA-A076203A41BA}" type="presParOf" srcId="{BDB79EA0-A44C-4962-A355-08F2557026A0}" destId="{0A2E94F4-9538-4412-A5DB-82BF5599FE8B}" srcOrd="0" destOrd="0" presId="urn:microsoft.com/office/officeart/2008/layout/AlternatingHexagons"/>
    <dgm:cxn modelId="{E5590B59-C290-4C4E-ABCC-406384A041E6}" type="presParOf" srcId="{0A2E94F4-9538-4412-A5DB-82BF5599FE8B}" destId="{DC8CECCC-33E8-4D44-AF7B-D639E8E0A9B0}" srcOrd="0" destOrd="0" presId="urn:microsoft.com/office/officeart/2008/layout/AlternatingHexagons"/>
    <dgm:cxn modelId="{4A7D7427-D4DB-4797-A038-571B41276486}" type="presParOf" srcId="{0A2E94F4-9538-4412-A5DB-82BF5599FE8B}" destId="{77C4C6C5-334A-4E65-979D-B22FCFC4D25B}" srcOrd="1" destOrd="0" presId="urn:microsoft.com/office/officeart/2008/layout/AlternatingHexagons"/>
    <dgm:cxn modelId="{F24B6F93-D3E2-46F3-9AF4-E8DD68930C33}" type="presParOf" srcId="{0A2E94F4-9538-4412-A5DB-82BF5599FE8B}" destId="{ECCD8BEB-7330-44C1-BA10-F2A2DAC3CBF7}" srcOrd="2" destOrd="0" presId="urn:microsoft.com/office/officeart/2008/layout/AlternatingHexagons"/>
    <dgm:cxn modelId="{1902FE8E-9AB4-4C21-9DD8-EEB151A48058}" type="presParOf" srcId="{0A2E94F4-9538-4412-A5DB-82BF5599FE8B}" destId="{291DBE6B-442F-4F4E-84CC-BF472AC858D2}" srcOrd="3" destOrd="0" presId="urn:microsoft.com/office/officeart/2008/layout/AlternatingHexagons"/>
    <dgm:cxn modelId="{2C369838-422A-4B11-8142-14A7315BC8D1}" type="presParOf" srcId="{0A2E94F4-9538-4412-A5DB-82BF5599FE8B}" destId="{FA279299-B666-469F-8777-B71225E62A40}" srcOrd="4" destOrd="0" presId="urn:microsoft.com/office/officeart/2008/layout/AlternatingHexagons"/>
    <dgm:cxn modelId="{0FFE630C-18ED-44D8-9C49-F25E47BD9D4C}" type="presParOf" srcId="{BDB79EA0-A44C-4962-A355-08F2557026A0}" destId="{151082C4-983E-4E15-A83E-ECEE4D75F748}" srcOrd="1" destOrd="0" presId="urn:microsoft.com/office/officeart/2008/layout/AlternatingHexagons"/>
    <dgm:cxn modelId="{F718D841-33FE-4C9D-8E88-7ADEDC3741DC}" type="presParOf" srcId="{BDB79EA0-A44C-4962-A355-08F2557026A0}" destId="{05EA092A-05D3-4432-BC70-BC13F3DBD001}" srcOrd="2" destOrd="0" presId="urn:microsoft.com/office/officeart/2008/layout/AlternatingHexagons"/>
    <dgm:cxn modelId="{D2245785-5C4D-42DE-B1F1-A7398AB0880C}" type="presParOf" srcId="{05EA092A-05D3-4432-BC70-BC13F3DBD001}" destId="{5CDA83B7-524F-419D-8B88-84CC727E3270}" srcOrd="0" destOrd="0" presId="urn:microsoft.com/office/officeart/2008/layout/AlternatingHexagons"/>
    <dgm:cxn modelId="{A703FEEE-3538-4B3A-8AD2-BC9C10CF1CE5}" type="presParOf" srcId="{05EA092A-05D3-4432-BC70-BC13F3DBD001}" destId="{9F9A9FAC-12D3-4655-B2AA-04364F1E88CE}" srcOrd="1" destOrd="0" presId="urn:microsoft.com/office/officeart/2008/layout/AlternatingHexagons"/>
    <dgm:cxn modelId="{C504A51A-3EE2-4256-B251-287AACB5164C}" type="presParOf" srcId="{05EA092A-05D3-4432-BC70-BC13F3DBD001}" destId="{3FB203CB-0438-4D34-A30F-718B07D59709}" srcOrd="2" destOrd="0" presId="urn:microsoft.com/office/officeart/2008/layout/AlternatingHexagons"/>
    <dgm:cxn modelId="{26E25EEA-2650-4762-AA08-44B68793E464}" type="presParOf" srcId="{05EA092A-05D3-4432-BC70-BC13F3DBD001}" destId="{8AB624BF-00CE-441D-9E28-FD69C6F7A5AB}" srcOrd="3" destOrd="0" presId="urn:microsoft.com/office/officeart/2008/layout/AlternatingHexagons"/>
    <dgm:cxn modelId="{EE96E550-E8E9-4B4E-9C05-627AD2369012}" type="presParOf" srcId="{05EA092A-05D3-4432-BC70-BC13F3DBD001}" destId="{BC9E837C-7471-448B-B8E7-D49F71F18600}" srcOrd="4" destOrd="0" presId="urn:microsoft.com/office/officeart/2008/layout/AlternatingHexagons"/>
    <dgm:cxn modelId="{B1CD5167-D0BD-481E-9AB4-7CB02E0496ED}" type="presParOf" srcId="{BDB79EA0-A44C-4962-A355-08F2557026A0}" destId="{93506089-6327-4A0E-8CB1-F7C151D7F04B}" srcOrd="3" destOrd="0" presId="urn:microsoft.com/office/officeart/2008/layout/AlternatingHexagons"/>
    <dgm:cxn modelId="{EDA3F6DD-1F0C-433D-A159-BD7956608BAA}" type="presParOf" srcId="{BDB79EA0-A44C-4962-A355-08F2557026A0}" destId="{53A265BD-9BFF-49CE-85B9-C0A8B390C52B}" srcOrd="4" destOrd="0" presId="urn:microsoft.com/office/officeart/2008/layout/AlternatingHexagons"/>
    <dgm:cxn modelId="{A0A45F4F-34AF-475C-B94A-B6E1B6498E80}" type="presParOf" srcId="{53A265BD-9BFF-49CE-85B9-C0A8B390C52B}" destId="{F18AFA34-AF22-48CA-A491-D3AA2FDCF09E}" srcOrd="0" destOrd="0" presId="urn:microsoft.com/office/officeart/2008/layout/AlternatingHexagons"/>
    <dgm:cxn modelId="{3E7E0B01-05B3-48F4-984E-05EE59B75D64}" type="presParOf" srcId="{53A265BD-9BFF-49CE-85B9-C0A8B390C52B}" destId="{5B9F08EB-293A-42A1-ACFE-48E8E54FC3D0}" srcOrd="1" destOrd="0" presId="urn:microsoft.com/office/officeart/2008/layout/AlternatingHexagons"/>
    <dgm:cxn modelId="{1DE598C3-2566-438C-AC03-78FC8AD49E29}" type="presParOf" srcId="{53A265BD-9BFF-49CE-85B9-C0A8B390C52B}" destId="{E1AE432F-E2E5-4DCE-8DE5-E8271CFC7CB9}" srcOrd="2" destOrd="0" presId="urn:microsoft.com/office/officeart/2008/layout/AlternatingHexagons"/>
    <dgm:cxn modelId="{0D3E6AFB-074C-4100-B138-1515AA97D2BA}" type="presParOf" srcId="{53A265BD-9BFF-49CE-85B9-C0A8B390C52B}" destId="{3CC8B6BB-8A89-4224-8AC0-36412DC26484}" srcOrd="3" destOrd="0" presId="urn:microsoft.com/office/officeart/2008/layout/AlternatingHexagons"/>
    <dgm:cxn modelId="{F7A1D5E8-8DC7-45B4-A07E-A3D18E8038BB}" type="presParOf" srcId="{53A265BD-9BFF-49CE-85B9-C0A8B390C52B}" destId="{9DAF7479-96E8-43C9-8AC5-D44A0AC1DE87}" srcOrd="4" destOrd="0" presId="urn:microsoft.com/office/officeart/2008/layout/AlternatingHexagon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4533357B-E680-4D30-8206-A709B50D7624}" type="doc">
      <dgm:prSet loTypeId="urn:microsoft.com/office/officeart/2005/8/layout/vList2" loCatId="list" qsTypeId="urn:microsoft.com/office/officeart/2005/8/quickstyle/simple4" qsCatId="simple" csTypeId="urn:microsoft.com/office/officeart/2005/8/colors/colorful1#6" csCatId="colorful" phldr="1"/>
      <dgm:spPr/>
      <dgm:t>
        <a:bodyPr/>
        <a:lstStyle/>
        <a:p>
          <a:endParaRPr lang="zh-CN" altLang="en-US"/>
        </a:p>
      </dgm:t>
    </dgm:pt>
    <dgm:pt modelId="{16518293-AEFA-448E-8DCB-4EA94D6D26E9}">
      <dgm:prSet phldrT="[文本]" custT="1"/>
      <dgm:spPr/>
      <dgm:t>
        <a:bodyPr/>
        <a:lstStyle/>
        <a:p>
          <a:r>
            <a:rPr lang="zh-CN" altLang="en-US" sz="2000" b="1" dirty="0">
              <a:latin typeface="微软雅黑" panose="020B0503020204020204" pitchFamily="34" charset="-122"/>
              <a:ea typeface="微软雅黑" panose="020B0503020204020204" pitchFamily="34" charset="-122"/>
            </a:rPr>
            <a:t>关于“最佳路由”</a:t>
          </a:r>
        </a:p>
      </dgm:t>
    </dgm:pt>
    <dgm:pt modelId="{8ED58918-7B83-421A-963D-28174E03A511}" type="par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8748E35-BABA-4D79-9B11-5D2B51A27A71}" type="sib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0BC86A4-9190-42EE-99B2-658A1A49036F}">
      <dgm:prSet phldrT="[文本]" custT="1"/>
      <dgm:spPr/>
      <dgm:t>
        <a:bodyPr/>
        <a:lstStyle/>
        <a:p>
          <a:r>
            <a:rPr lang="zh-CN" altLang="en-US" sz="1800" b="1" dirty="0">
              <a:latin typeface="微软雅黑" panose="020B0503020204020204" pitchFamily="34" charset="-122"/>
              <a:ea typeface="微软雅黑" panose="020B0503020204020204" pitchFamily="34" charset="-122"/>
            </a:rPr>
            <a:t>不存在一种绝对的最佳路由算法。</a:t>
          </a:r>
        </a:p>
      </dgm:t>
    </dgm:pt>
    <dgm:pt modelId="{B6072E33-630B-42F5-8DAE-99755D96236B}" type="par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1ABABF71-BE3E-4043-A613-94AC93A7F26B}" type="sib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9BDB0A5-F0F3-4706-9AFB-422B45FD153E}">
      <dgm:prSet phldrT="[文本]" custT="1"/>
      <dgm:spPr/>
      <dgm:t>
        <a:bodyPr/>
        <a:lstStyle/>
        <a:p>
          <a:r>
            <a:rPr lang="zh-CN" altLang="en-US" sz="2000" b="1" dirty="0">
              <a:solidFill>
                <a:srgbClr val="000099"/>
              </a:solidFill>
              <a:latin typeface="微软雅黑" panose="020B0503020204020204" pitchFamily="34" charset="-122"/>
              <a:ea typeface="微软雅黑" panose="020B0503020204020204" pitchFamily="34" charset="-122"/>
            </a:rPr>
            <a:t>路由选择非常复杂</a:t>
          </a:r>
        </a:p>
      </dgm:t>
    </dgm:pt>
    <dgm:pt modelId="{E2DBBCBF-1890-4F06-A86E-DCDA76FC258B}" type="par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F3E56C1-0952-4029-B826-24948108077B}" type="sib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0C1749-000D-4777-85FF-5C0C6DCF8545}">
      <dgm:prSet phldrT="[文本]" custT="1"/>
      <dgm:spPr/>
      <dgm:t>
        <a:bodyPr/>
        <a:lstStyle/>
        <a:p>
          <a:r>
            <a:rPr lang="zh-CN" altLang="en-US" sz="1800" b="1" dirty="0">
              <a:latin typeface="微软雅黑" panose="020B0503020204020204" pitchFamily="34" charset="-122"/>
              <a:ea typeface="微软雅黑" panose="020B0503020204020204" pitchFamily="34" charset="-122"/>
            </a:rPr>
            <a:t>需要所有节点共同协调工作的。</a:t>
          </a:r>
        </a:p>
      </dgm:t>
    </dgm:pt>
    <dgm:pt modelId="{294E8973-375F-47DD-99FD-A3095944FF77}" type="par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5369DBC2-77C3-4BDD-A686-61AAFD126298}" type="sib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DB4822C-EDAC-4F58-B2EF-0B2BC98EE745}">
      <dgm:prSet custT="1"/>
      <dgm:spPr/>
      <dgm:t>
        <a:bodyPr/>
        <a:lstStyle/>
        <a:p>
          <a:r>
            <a:rPr lang="zh-CN" altLang="en-US" sz="1800" b="1" dirty="0">
              <a:latin typeface="微软雅黑" panose="020B0503020204020204" pitchFamily="34" charset="-122"/>
              <a:ea typeface="微软雅黑" panose="020B0503020204020204" pitchFamily="34" charset="-122"/>
            </a:rPr>
            <a:t>所谓“最佳”只能是相对于某一种特定要求下得出的较为合理的选择而已。</a:t>
          </a:r>
        </a:p>
      </dgm:t>
    </dgm:pt>
    <dgm:pt modelId="{E6040A55-1C57-4EB1-8C6E-03FF05DE4BB9}" type="parTrans" cxnId="{FBB4225B-94E0-4196-829E-65733A788C31}">
      <dgm:prSet/>
      <dgm:spPr/>
      <dgm:t>
        <a:bodyPr/>
        <a:lstStyle/>
        <a:p>
          <a:endParaRPr lang="zh-CN" altLang="en-US"/>
        </a:p>
      </dgm:t>
    </dgm:pt>
    <dgm:pt modelId="{2D11C94C-006E-4EB5-96A5-D2ED5AF21E96}" type="sibTrans" cxnId="{FBB4225B-94E0-4196-829E-65733A788C31}">
      <dgm:prSet/>
      <dgm:spPr/>
      <dgm:t>
        <a:bodyPr/>
        <a:lstStyle/>
        <a:p>
          <a:endParaRPr lang="zh-CN" altLang="en-US"/>
        </a:p>
      </dgm:t>
    </dgm:pt>
    <dgm:pt modelId="{A4481039-E4CE-4649-B9D0-640DB5B427B4}">
      <dgm:prSet phldrT="[文本]" custT="1"/>
      <dgm:spPr/>
      <dgm:t>
        <a:bodyPr/>
        <a:lstStyle/>
        <a:p>
          <a:r>
            <a:rPr lang="zh-CN" altLang="en-US" sz="1800" b="1" dirty="0">
              <a:latin typeface="微软雅黑" panose="020B0503020204020204" pitchFamily="34" charset="-122"/>
              <a:ea typeface="微软雅黑" panose="020B0503020204020204" pitchFamily="34" charset="-122"/>
            </a:rPr>
            <a:t>环境不断变化，而这种变化有时无法事先知道。</a:t>
          </a:r>
        </a:p>
      </dgm:t>
    </dgm:pt>
    <dgm:pt modelId="{BEBFFC1D-C59E-47B9-B0B3-891558399453}" type="parTrans" cxnId="{CBAF101D-7F5B-4F5D-BEBC-8D20544C5EBB}">
      <dgm:prSet/>
      <dgm:spPr/>
      <dgm:t>
        <a:bodyPr/>
        <a:lstStyle/>
        <a:p>
          <a:endParaRPr lang="zh-CN" altLang="en-US"/>
        </a:p>
      </dgm:t>
    </dgm:pt>
    <dgm:pt modelId="{91DA570E-EB18-40D3-A7FB-5972A6FFA677}" type="sibTrans" cxnId="{CBAF101D-7F5B-4F5D-BEBC-8D20544C5EBB}">
      <dgm:prSet/>
      <dgm:spPr/>
      <dgm:t>
        <a:bodyPr/>
        <a:lstStyle/>
        <a:p>
          <a:endParaRPr lang="zh-CN" altLang="en-US"/>
        </a:p>
      </dgm:t>
    </dgm:pt>
    <dgm:pt modelId="{09858582-0B12-493A-810B-816A4CEE2FC6}">
      <dgm:prSet phldrT="[文本]" custT="1"/>
      <dgm:spPr/>
      <dgm:t>
        <a:bodyPr/>
        <a:lstStyle/>
        <a:p>
          <a:r>
            <a:rPr lang="zh-CN" altLang="en-US" sz="1800" b="1" dirty="0">
              <a:latin typeface="微软雅黑" panose="020B0503020204020204" pitchFamily="34" charset="-122"/>
              <a:ea typeface="微软雅黑" panose="020B0503020204020204" pitchFamily="34" charset="-122"/>
            </a:rPr>
            <a:t>当网络发生拥塞时，很难获得所需的路由选择信息。</a:t>
          </a:r>
        </a:p>
      </dgm:t>
    </dgm:pt>
    <dgm:pt modelId="{112E2980-7B03-44EE-BC58-2AC9A21978F4}" type="parTrans" cxnId="{CE98317D-4C90-4E26-82BA-A80584AF744E}">
      <dgm:prSet/>
      <dgm:spPr/>
      <dgm:t>
        <a:bodyPr/>
        <a:lstStyle/>
        <a:p>
          <a:endParaRPr lang="zh-CN" altLang="en-US"/>
        </a:p>
      </dgm:t>
    </dgm:pt>
    <dgm:pt modelId="{6A0D61C3-2549-4D09-BD20-E16516E7EB52}" type="sibTrans" cxnId="{CE98317D-4C90-4E26-82BA-A80584AF744E}">
      <dgm:prSet/>
      <dgm:spPr/>
      <dgm:t>
        <a:bodyPr/>
        <a:lstStyle/>
        <a:p>
          <a:endParaRPr lang="zh-CN" altLang="en-US"/>
        </a:p>
      </dgm:t>
    </dgm:pt>
    <dgm:pt modelId="{BE7E2D9E-C291-4AD1-9C46-EBC6D82E26F0}" type="pres">
      <dgm:prSet presAssocID="{4533357B-E680-4D30-8206-A709B50D7624}" presName="linear" presStyleCnt="0">
        <dgm:presLayoutVars>
          <dgm:animLvl val="lvl"/>
          <dgm:resizeHandles val="exact"/>
        </dgm:presLayoutVars>
      </dgm:prSet>
      <dgm:spPr/>
    </dgm:pt>
    <dgm:pt modelId="{4B5FE49D-F768-452D-A9A2-52FCD77827E0}" type="pres">
      <dgm:prSet presAssocID="{16518293-AEFA-448E-8DCB-4EA94D6D26E9}" presName="parentText" presStyleLbl="node1" presStyleIdx="0" presStyleCnt="2" custScaleY="73964">
        <dgm:presLayoutVars>
          <dgm:chMax val="0"/>
          <dgm:bulletEnabled val="1"/>
        </dgm:presLayoutVars>
      </dgm:prSet>
      <dgm:spPr/>
    </dgm:pt>
    <dgm:pt modelId="{CCA9AB54-F7DF-42DA-BB14-49BA708108B7}" type="pres">
      <dgm:prSet presAssocID="{16518293-AEFA-448E-8DCB-4EA94D6D26E9}" presName="childText" presStyleLbl="revTx" presStyleIdx="0" presStyleCnt="2">
        <dgm:presLayoutVars>
          <dgm:bulletEnabled val="1"/>
        </dgm:presLayoutVars>
      </dgm:prSet>
      <dgm:spPr/>
    </dgm:pt>
    <dgm:pt modelId="{EDCCA3B5-69A3-4D4F-933E-C980F139D5CE}" type="pres">
      <dgm:prSet presAssocID="{89BDB0A5-F0F3-4706-9AFB-422B45FD153E}" presName="parentText" presStyleLbl="node1" presStyleIdx="1" presStyleCnt="2" custScaleY="73964">
        <dgm:presLayoutVars>
          <dgm:chMax val="0"/>
          <dgm:bulletEnabled val="1"/>
        </dgm:presLayoutVars>
      </dgm:prSet>
      <dgm:spPr/>
    </dgm:pt>
    <dgm:pt modelId="{7CB622EB-CFF9-4CEF-9C62-0D3FB7B9D848}" type="pres">
      <dgm:prSet presAssocID="{89BDB0A5-F0F3-4706-9AFB-422B45FD153E}" presName="childText" presStyleLbl="revTx" presStyleIdx="1" presStyleCnt="2">
        <dgm:presLayoutVars>
          <dgm:bulletEnabled val="1"/>
        </dgm:presLayoutVars>
      </dgm:prSet>
      <dgm:spPr/>
    </dgm:pt>
  </dgm:ptLst>
  <dgm:cxnLst>
    <dgm:cxn modelId="{CBAF101D-7F5B-4F5D-BEBC-8D20544C5EBB}" srcId="{89BDB0A5-F0F3-4706-9AFB-422B45FD153E}" destId="{A4481039-E4CE-4649-B9D0-640DB5B427B4}" srcOrd="1" destOrd="0" parTransId="{BEBFFC1D-C59E-47B9-B0B3-891558399453}" sibTransId="{91DA570E-EB18-40D3-A7FB-5972A6FFA677}"/>
    <dgm:cxn modelId="{2107EE29-0197-482C-99F5-B371CFDF47C6}" srcId="{16518293-AEFA-448E-8DCB-4EA94D6D26E9}" destId="{30BC86A4-9190-42EE-99B2-658A1A49036F}" srcOrd="0" destOrd="0" parTransId="{B6072E33-630B-42F5-8DAE-99755D96236B}" sibTransId="{1ABABF71-BE3E-4043-A613-94AC93A7F26B}"/>
    <dgm:cxn modelId="{1116B733-6290-4AD1-B772-7E2F47DE9587}" srcId="{4533357B-E680-4D30-8206-A709B50D7624}" destId="{16518293-AEFA-448E-8DCB-4EA94D6D26E9}" srcOrd="0" destOrd="0" parTransId="{8ED58918-7B83-421A-963D-28174E03A511}" sibTransId="{38748E35-BABA-4D79-9B11-5D2B51A27A71}"/>
    <dgm:cxn modelId="{8F743339-BB99-4604-9A51-F1C4C430EF07}" type="presOf" srcId="{4533357B-E680-4D30-8206-A709B50D7624}" destId="{BE7E2D9E-C291-4AD1-9C46-EBC6D82E26F0}" srcOrd="0" destOrd="0" presId="urn:microsoft.com/office/officeart/2005/8/layout/vList2"/>
    <dgm:cxn modelId="{FBB4225B-94E0-4196-829E-65733A788C31}" srcId="{16518293-AEFA-448E-8DCB-4EA94D6D26E9}" destId="{0DB4822C-EDAC-4F58-B2EF-0B2BC98EE745}" srcOrd="1" destOrd="0" parTransId="{E6040A55-1C57-4EB1-8C6E-03FF05DE4BB9}" sibTransId="{2D11C94C-006E-4EB5-96A5-D2ED5AF21E96}"/>
    <dgm:cxn modelId="{B01B1942-3382-4F25-958E-930C3D427AF0}" srcId="{4533357B-E680-4D30-8206-A709B50D7624}" destId="{89BDB0A5-F0F3-4706-9AFB-422B45FD153E}" srcOrd="1" destOrd="0" parTransId="{E2DBBCBF-1890-4F06-A86E-DCDA76FC258B}" sibTransId="{8F3E56C1-0952-4029-B826-24948108077B}"/>
    <dgm:cxn modelId="{70513945-B5E5-4F85-9B1E-329D72B56811}" srcId="{89BDB0A5-F0F3-4706-9AFB-422B45FD153E}" destId="{320C1749-000D-4777-85FF-5C0C6DCF8545}" srcOrd="0" destOrd="0" parTransId="{294E8973-375F-47DD-99FD-A3095944FF77}" sibTransId="{5369DBC2-77C3-4BDD-A686-61AAFD126298}"/>
    <dgm:cxn modelId="{CE98317D-4C90-4E26-82BA-A80584AF744E}" srcId="{89BDB0A5-F0F3-4706-9AFB-422B45FD153E}" destId="{09858582-0B12-493A-810B-816A4CEE2FC6}" srcOrd="2" destOrd="0" parTransId="{112E2980-7B03-44EE-BC58-2AC9A21978F4}" sibTransId="{6A0D61C3-2549-4D09-BD20-E16516E7EB52}"/>
    <dgm:cxn modelId="{09776885-12AF-4DBC-AB71-881EEA66E73A}" type="presOf" srcId="{09858582-0B12-493A-810B-816A4CEE2FC6}" destId="{7CB622EB-CFF9-4CEF-9C62-0D3FB7B9D848}" srcOrd="0" destOrd="2" presId="urn:microsoft.com/office/officeart/2005/8/layout/vList2"/>
    <dgm:cxn modelId="{04C14F8E-42A5-412A-A727-B1A415D5F573}" type="presOf" srcId="{A4481039-E4CE-4649-B9D0-640DB5B427B4}" destId="{7CB622EB-CFF9-4CEF-9C62-0D3FB7B9D848}" srcOrd="0" destOrd="1" presId="urn:microsoft.com/office/officeart/2005/8/layout/vList2"/>
    <dgm:cxn modelId="{42BAFF98-D7D3-46DA-BBFE-732D4FAE307E}" type="presOf" srcId="{89BDB0A5-F0F3-4706-9AFB-422B45FD153E}" destId="{EDCCA3B5-69A3-4D4F-933E-C980F139D5CE}" srcOrd="0" destOrd="0" presId="urn:microsoft.com/office/officeart/2005/8/layout/vList2"/>
    <dgm:cxn modelId="{0647F5AA-69F1-4B67-8A62-EFBE1B6A7161}" type="presOf" srcId="{30BC86A4-9190-42EE-99B2-658A1A49036F}" destId="{CCA9AB54-F7DF-42DA-BB14-49BA708108B7}" srcOrd="0" destOrd="0" presId="urn:microsoft.com/office/officeart/2005/8/layout/vList2"/>
    <dgm:cxn modelId="{7CF3BDAF-260E-4785-9CA7-9A6C96BA17C3}" type="presOf" srcId="{320C1749-000D-4777-85FF-5C0C6DCF8545}" destId="{7CB622EB-CFF9-4CEF-9C62-0D3FB7B9D848}" srcOrd="0" destOrd="0" presId="urn:microsoft.com/office/officeart/2005/8/layout/vList2"/>
    <dgm:cxn modelId="{7CC89CC0-ABA6-4D64-B6B0-D555B745BABC}" type="presOf" srcId="{0DB4822C-EDAC-4F58-B2EF-0B2BC98EE745}" destId="{CCA9AB54-F7DF-42DA-BB14-49BA708108B7}" srcOrd="0" destOrd="1" presId="urn:microsoft.com/office/officeart/2005/8/layout/vList2"/>
    <dgm:cxn modelId="{99F429DC-E4A9-4955-B062-4F8480A677CC}" type="presOf" srcId="{16518293-AEFA-448E-8DCB-4EA94D6D26E9}" destId="{4B5FE49D-F768-452D-A9A2-52FCD77827E0}" srcOrd="0" destOrd="0" presId="urn:microsoft.com/office/officeart/2005/8/layout/vList2"/>
    <dgm:cxn modelId="{4762189A-A012-4FA6-B59E-2A781D8F0C9A}" type="presParOf" srcId="{BE7E2D9E-C291-4AD1-9C46-EBC6D82E26F0}" destId="{4B5FE49D-F768-452D-A9A2-52FCD77827E0}" srcOrd="0" destOrd="0" presId="urn:microsoft.com/office/officeart/2005/8/layout/vList2"/>
    <dgm:cxn modelId="{BB91F1AA-0FFB-4AAD-B0DC-9EEBEEB49457}" type="presParOf" srcId="{BE7E2D9E-C291-4AD1-9C46-EBC6D82E26F0}" destId="{CCA9AB54-F7DF-42DA-BB14-49BA708108B7}" srcOrd="1" destOrd="0" presId="urn:microsoft.com/office/officeart/2005/8/layout/vList2"/>
    <dgm:cxn modelId="{34C45ABA-83A1-4F54-8313-BEF20D8D5BAF}" type="presParOf" srcId="{BE7E2D9E-C291-4AD1-9C46-EBC6D82E26F0}" destId="{EDCCA3B5-69A3-4D4F-933E-C980F139D5CE}" srcOrd="2" destOrd="0" presId="urn:microsoft.com/office/officeart/2005/8/layout/vList2"/>
    <dgm:cxn modelId="{2361A835-A2C2-4FAB-B685-A48F3C9B5815}" type="presParOf" srcId="{BE7E2D9E-C291-4AD1-9C46-EBC6D82E26F0}" destId="{7CB622EB-CFF9-4CEF-9C62-0D3FB7B9D848}"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4"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静态路由选择策略</a:t>
          </a: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zh-CN" altLang="en-US" sz="1800" b="1" dirty="0">
              <a:latin typeface="微软雅黑" panose="020B0503020204020204" pitchFamily="34" charset="-122"/>
              <a:ea typeface="微软雅黑" panose="020B0503020204020204" pitchFamily="34" charset="-122"/>
            </a:rPr>
            <a:t>非自适应路由选择；</a:t>
          </a: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latin typeface="微软雅黑" panose="020B0503020204020204" pitchFamily="34" charset="-122"/>
              <a:ea typeface="微软雅黑" panose="020B0503020204020204" pitchFamily="34" charset="-122"/>
            </a:rPr>
            <a:t>动态路由选择策略</a:t>
          </a: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zh-CN" altLang="en-US" sz="1800" b="1" dirty="0">
              <a:latin typeface="微软雅黑" panose="020B0503020204020204" pitchFamily="34" charset="-122"/>
              <a:ea typeface="微软雅黑" panose="020B0503020204020204" pitchFamily="34" charset="-122"/>
            </a:rPr>
            <a:t>自适应路由选择；</a:t>
          </a: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能较好地适应网络状态的变化；</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636C96B3-61DA-4AC2-A19D-01B5048C3392}">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不能及时适应网络状态的变化；</a:t>
          </a:r>
        </a:p>
      </dgm:t>
    </dgm:pt>
    <dgm:pt modelId="{8F8EF596-0DA9-4CBA-9CA1-6DF817CC12D4}" type="parTrans" cxnId="{FBAACC79-9763-4E5F-90F5-17AB0E867F60}">
      <dgm:prSet/>
      <dgm:spPr/>
      <dgm:t>
        <a:bodyPr/>
        <a:lstStyle/>
        <a:p>
          <a:endParaRPr lang="zh-CN" altLang="en-US"/>
        </a:p>
      </dgm:t>
    </dgm:pt>
    <dgm:pt modelId="{364E6CF1-F4F2-418E-89CC-04CE5C5C79A9}" type="sibTrans" cxnId="{FBAACC79-9763-4E5F-90F5-17AB0E867F60}">
      <dgm:prSet/>
      <dgm:spPr/>
      <dgm:t>
        <a:bodyPr/>
        <a:lstStyle/>
        <a:p>
          <a:endParaRPr lang="zh-CN" altLang="en-US"/>
        </a:p>
      </dgm:t>
    </dgm:pt>
    <dgm:pt modelId="{00A00060-6726-4710-909C-6A0A37C35ECC}">
      <dgm:prSet phldrT="[文本]" custT="1"/>
      <dgm:spPr/>
      <dgm:t>
        <a:bodyPr/>
        <a:lstStyle/>
        <a:p>
          <a:r>
            <a:rPr lang="zh-CN" altLang="en-US" sz="1800" b="1" dirty="0">
              <a:latin typeface="微软雅黑" panose="020B0503020204020204" pitchFamily="34" charset="-122"/>
              <a:ea typeface="微软雅黑" panose="020B0503020204020204" pitchFamily="34" charset="-122"/>
            </a:rPr>
            <a:t>简单，开销较小。 </a:t>
          </a:r>
        </a:p>
      </dgm:t>
    </dgm:pt>
    <dgm:pt modelId="{6D6C0D7F-AB74-45C9-A0A3-C773A85A1774}" type="parTrans" cxnId="{37F59AB5-2B4C-4C82-ACE3-E1F2D0DF400F}">
      <dgm:prSet/>
      <dgm:spPr/>
      <dgm:t>
        <a:bodyPr/>
        <a:lstStyle/>
        <a:p>
          <a:endParaRPr lang="zh-CN" altLang="en-US"/>
        </a:p>
      </dgm:t>
    </dgm:pt>
    <dgm:pt modelId="{1FC25A58-48C3-4783-B409-177C8E281BA7}" type="sibTrans" cxnId="{37F59AB5-2B4C-4C82-ACE3-E1F2D0DF400F}">
      <dgm:prSet/>
      <dgm:spPr/>
      <dgm:t>
        <a:bodyPr/>
        <a:lstStyle/>
        <a:p>
          <a:endParaRPr lang="zh-CN" altLang="en-US"/>
        </a:p>
      </dgm:t>
    </dgm:pt>
    <dgm:pt modelId="{542EE964-4A1B-437F-B556-349C4E3056A2}">
      <dgm:prSet phldrT="[文本]" custT="1"/>
      <dgm:spPr/>
      <dgm:t>
        <a:bodyPr/>
        <a:lstStyle/>
        <a:p>
          <a:r>
            <a:rPr lang="zh-CN" altLang="en-US" sz="1800" b="1" dirty="0">
              <a:latin typeface="微软雅黑" panose="020B0503020204020204" pitchFamily="34" charset="-122"/>
              <a:ea typeface="微软雅黑" panose="020B0503020204020204" pitchFamily="34" charset="-122"/>
            </a:rPr>
            <a:t>实现较为复杂，开销较大。 </a:t>
          </a:r>
        </a:p>
      </dgm:t>
    </dgm:pt>
    <dgm:pt modelId="{E24D57F5-E0B1-4481-9629-57A37932B263}" type="parTrans" cxnId="{2568ED17-DDBC-4080-9758-24C0A0E53BF0}">
      <dgm:prSet/>
      <dgm:spPr/>
      <dgm:t>
        <a:bodyPr/>
        <a:lstStyle/>
        <a:p>
          <a:endParaRPr lang="zh-CN" altLang="en-US"/>
        </a:p>
      </dgm:t>
    </dgm:pt>
    <dgm:pt modelId="{4275BCF2-BA64-49F0-8CCE-69DBBACFAA29}" type="sibTrans" cxnId="{2568ED17-DDBC-4080-9758-24C0A0E53BF0}">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0AFDA517-52A7-4106-9DEC-24ADAE9C1401}" type="presOf" srcId="{C7D5F8E2-243B-4DE9-B470-B712E8897F5B}" destId="{4CDFFC38-F27C-472E-A2F4-B6BCE3ADBC7B}" srcOrd="0" destOrd="0" presId="urn:microsoft.com/office/officeart/2005/8/layout/hList1"/>
    <dgm:cxn modelId="{2568ED17-DDBC-4080-9758-24C0A0E53BF0}" srcId="{45CE52F7-516C-41E7-98C3-DE6A902FC6B5}" destId="{542EE964-4A1B-437F-B556-349C4E3056A2}" srcOrd="2" destOrd="0" parTransId="{E24D57F5-E0B1-4481-9629-57A37932B263}" sibTransId="{4275BCF2-BA64-49F0-8CCE-69DBBACFAA29}"/>
    <dgm:cxn modelId="{F649F02C-3A0E-4CB9-B195-EBCA327DD96B}" type="presOf" srcId="{22EAAA66-547D-4B51-BF4D-D6DB3D7509FE}" destId="{ACA20801-F352-434C-8293-8F2818AFDE5B}" srcOrd="0" destOrd="0"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FBAACC79-9763-4E5F-90F5-17AB0E867F60}" srcId="{22EAAA66-547D-4B51-BF4D-D6DB3D7509FE}" destId="{636C96B3-61DA-4AC2-A19D-01B5048C3392}" srcOrd="1" destOrd="0" parTransId="{8F8EF596-0DA9-4CBA-9CA1-6DF817CC12D4}" sibTransId="{364E6CF1-F4F2-418E-89CC-04CE5C5C79A9}"/>
    <dgm:cxn modelId="{2C08637D-2B0D-4913-8010-A438C61F5AC0}" type="presOf" srcId="{00A00060-6726-4710-909C-6A0A37C35ECC}" destId="{19FF7ECD-B0E8-443E-8703-812623A25DE9}" srcOrd="0" destOrd="2" presId="urn:microsoft.com/office/officeart/2005/8/layout/hList1"/>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37F59AB5-2B4C-4C82-ACE3-E1F2D0DF400F}" srcId="{22EAAA66-547D-4B51-BF4D-D6DB3D7509FE}" destId="{00A00060-6726-4710-909C-6A0A37C35ECC}" srcOrd="2" destOrd="0" parTransId="{6D6C0D7F-AB74-45C9-A0A3-C773A85A1774}" sibTransId="{1FC25A58-48C3-4783-B409-177C8E281BA7}"/>
    <dgm:cxn modelId="{4A0742BC-43D8-4055-9627-372DE98EA475}" type="presOf" srcId="{EDC6E589-44E1-49CC-BAB5-1FCBE573BC1C}" destId="{4CDFFC38-F27C-472E-A2F4-B6BCE3ADBC7B}"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7B0024E4-E89E-43E8-8462-C7C14B8D1713}" type="presOf" srcId="{542EE964-4A1B-437F-B556-349C4E3056A2}" destId="{4CDFFC38-F27C-472E-A2F4-B6BCE3ADBC7B}" srcOrd="0" destOrd="2" presId="urn:microsoft.com/office/officeart/2005/8/layout/hList1"/>
    <dgm:cxn modelId="{F07B9FE5-15C6-45F2-A7B7-F311439C5154}" type="presOf" srcId="{00FEE0F5-92EC-4D73-8F97-62ABE0C0B1AD}" destId="{19FF7ECD-B0E8-443E-8703-812623A25DE9}" srcOrd="0" destOrd="0" presId="urn:microsoft.com/office/officeart/2005/8/layout/hList1"/>
    <dgm:cxn modelId="{BA0F64EE-5537-4A43-9770-4F86118648AE}" type="presOf" srcId="{636C96B3-61DA-4AC2-A19D-01B5048C3392}" destId="{19FF7ECD-B0E8-443E-8703-812623A25DE9}" srcOrd="0" destOrd="1" presId="urn:microsoft.com/office/officeart/2005/8/layout/hList1"/>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2"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内部网关协议 </a:t>
          </a:r>
          <a:r>
            <a:rPr lang="en-US" altLang="en-US" sz="2000" b="1" dirty="0">
              <a:latin typeface="微软雅黑" panose="020B0503020204020204" pitchFamily="34" charset="-122"/>
              <a:ea typeface="微软雅黑" panose="020B0503020204020204" pitchFamily="34" charset="-122"/>
            </a:rPr>
            <a:t>IGP </a:t>
          </a:r>
          <a:endParaRPr lang="zh-CN" altLang="en-US" sz="2000" b="1" dirty="0">
            <a:latin typeface="微软雅黑" panose="020B0503020204020204" pitchFamily="34" charset="-122"/>
            <a:ea typeface="微软雅黑" panose="020B0503020204020204" pitchFamily="34" charset="-122"/>
          </a:endParaRP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en-US" altLang="en-US" sz="1800" b="1" dirty="0">
              <a:latin typeface="微软雅黑" panose="020B0503020204020204" pitchFamily="34" charset="-122"/>
              <a:ea typeface="微软雅黑" panose="020B0503020204020204" pitchFamily="34" charset="-122"/>
            </a:rPr>
            <a:t>Interior Gateway Protocol</a:t>
          </a:r>
          <a:endParaRPr lang="zh-CN" altLang="en-US" sz="1800" b="1" dirty="0">
            <a:latin typeface="微软雅黑" panose="020B0503020204020204" pitchFamily="34" charset="-122"/>
            <a:ea typeface="微软雅黑" panose="020B0503020204020204" pitchFamily="34" charset="-122"/>
          </a:endParaRP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solidFill>
                <a:srgbClr val="0000FF"/>
              </a:solidFill>
              <a:latin typeface="微软雅黑" panose="020B0503020204020204" pitchFamily="34" charset="-122"/>
              <a:ea typeface="微软雅黑" panose="020B0503020204020204" pitchFamily="34" charset="-122"/>
            </a:rPr>
            <a:t>外部网关协议 </a:t>
          </a:r>
          <a:r>
            <a:rPr lang="en-US" altLang="en-US" sz="2000" b="1" dirty="0">
              <a:solidFill>
                <a:srgbClr val="0000FF"/>
              </a:solidFill>
              <a:latin typeface="微软雅黑" panose="020B0503020204020204" pitchFamily="34" charset="-122"/>
              <a:ea typeface="微软雅黑" panose="020B0503020204020204" pitchFamily="34" charset="-122"/>
            </a:rPr>
            <a:t>EGP </a:t>
          </a:r>
          <a:endParaRPr lang="zh-CN" altLang="en-US" sz="2000" b="1" dirty="0">
            <a:solidFill>
              <a:srgbClr val="0000FF"/>
            </a:solidFill>
            <a:latin typeface="微软雅黑" panose="020B0503020204020204" pitchFamily="34" charset="-122"/>
            <a:ea typeface="微软雅黑" panose="020B0503020204020204" pitchFamily="34" charset="-122"/>
          </a:endParaRP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en-US" altLang="en-US" sz="1800" b="1" dirty="0">
              <a:latin typeface="微软雅黑" panose="020B0503020204020204" pitchFamily="34" charset="-122"/>
              <a:ea typeface="微软雅黑" panose="020B0503020204020204" pitchFamily="34" charset="-122"/>
            </a:rPr>
            <a:t>External Gateway Protocol</a:t>
          </a:r>
          <a:endParaRPr lang="zh-CN" altLang="en-US" sz="1800" b="1" dirty="0">
            <a:latin typeface="微软雅黑" panose="020B0503020204020204" pitchFamily="34" charset="-122"/>
            <a:ea typeface="微软雅黑" panose="020B0503020204020204" pitchFamily="34" charset="-122"/>
          </a:endParaRP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在不同自治系统之间进行路由选择时使用的协议</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7D6E7755-F197-41FB-8605-1BFB9B1B3E4D}">
      <dgm:prSet custT="1"/>
      <dgm:spPr/>
      <dgm:t>
        <a:bodyPr/>
        <a:lstStyle/>
        <a:p>
          <a:r>
            <a:rPr lang="zh-CN" altLang="en-US" sz="1800" b="1" dirty="0">
              <a:latin typeface="微软雅黑" panose="020B0503020204020204" pitchFamily="34" charset="-122"/>
              <a:ea typeface="微软雅黑" panose="020B0503020204020204" pitchFamily="34" charset="-122"/>
            </a:rPr>
            <a:t>在一个自治系统内部使用的路由选择协议</a:t>
          </a:r>
        </a:p>
      </dgm:t>
    </dgm:pt>
    <dgm:pt modelId="{E10F256C-3A61-44A7-9FB9-5C7D0142FE8A}" type="parTrans" cxnId="{CAE0B115-114A-468C-BEDB-2D5FE2E0B17D}">
      <dgm:prSet/>
      <dgm:spPr/>
      <dgm:t>
        <a:bodyPr/>
        <a:lstStyle/>
        <a:p>
          <a:endParaRPr lang="zh-CN" altLang="en-US"/>
        </a:p>
      </dgm:t>
    </dgm:pt>
    <dgm:pt modelId="{998963D5-F615-4C0F-BC06-0F0483E40DAF}" type="sibTrans" cxnId="{CAE0B115-114A-468C-BEDB-2D5FE2E0B17D}">
      <dgm:prSet/>
      <dgm:spPr/>
      <dgm:t>
        <a:bodyPr/>
        <a:lstStyle/>
        <a:p>
          <a:endParaRPr lang="zh-CN" altLang="en-US"/>
        </a:p>
      </dgm:t>
    </dgm:pt>
    <dgm:pt modelId="{427CA751-AD5C-4205-9441-B3381D745046}">
      <dgm:prSet custT="1"/>
      <dgm:spPr/>
      <dgm:t>
        <a:bodyPr/>
        <a:lstStyle/>
        <a:p>
          <a:r>
            <a:rPr lang="zh-CN" altLang="en-US" sz="1800" b="1" dirty="0">
              <a:latin typeface="微软雅黑" panose="020B0503020204020204" pitchFamily="34" charset="-122"/>
              <a:ea typeface="微软雅黑" panose="020B0503020204020204" pitchFamily="34" charset="-122"/>
            </a:rPr>
            <a:t>常用：</a:t>
          </a:r>
          <a:r>
            <a:rPr lang="en-US" altLang="en-US" sz="1800" b="1" dirty="0">
              <a:latin typeface="微软雅黑" panose="020B0503020204020204" pitchFamily="34" charset="-122"/>
              <a:ea typeface="微软雅黑" panose="020B0503020204020204" pitchFamily="34" charset="-122"/>
            </a:rPr>
            <a:t>RIP</a:t>
          </a:r>
          <a:r>
            <a:rPr lang="zh-CN" altLang="en-US" sz="1800" b="1" dirty="0">
              <a:latin typeface="微软雅黑" panose="020B0503020204020204" pitchFamily="34" charset="-122"/>
              <a:ea typeface="微软雅黑" panose="020B0503020204020204" pitchFamily="34" charset="-122"/>
            </a:rPr>
            <a:t>，</a:t>
          </a:r>
          <a:r>
            <a:rPr lang="en-US" altLang="en-US" sz="1800" b="1" dirty="0">
              <a:latin typeface="微软雅黑" panose="020B0503020204020204" pitchFamily="34" charset="-122"/>
              <a:ea typeface="微软雅黑" panose="020B0503020204020204" pitchFamily="34" charset="-122"/>
            </a:rPr>
            <a:t>OSPF</a:t>
          </a:r>
          <a:endParaRPr lang="zh-CN" altLang="en-US" sz="1800" b="1" dirty="0">
            <a:latin typeface="微软雅黑" panose="020B0503020204020204" pitchFamily="34" charset="-122"/>
            <a:ea typeface="微软雅黑" panose="020B0503020204020204" pitchFamily="34" charset="-122"/>
          </a:endParaRPr>
        </a:p>
      </dgm:t>
    </dgm:pt>
    <dgm:pt modelId="{74833AC5-8572-4F1E-BAA1-CEC9100405A4}" type="parTrans" cxnId="{1B8DF4EF-6AB6-4FC0-AFE4-B74305DCB10F}">
      <dgm:prSet/>
      <dgm:spPr/>
      <dgm:t>
        <a:bodyPr/>
        <a:lstStyle/>
        <a:p>
          <a:endParaRPr lang="zh-CN" altLang="en-US"/>
        </a:p>
      </dgm:t>
    </dgm:pt>
    <dgm:pt modelId="{60A14015-7078-43BB-AB9E-4E4C76939902}" type="sibTrans" cxnId="{1B8DF4EF-6AB6-4FC0-AFE4-B74305DCB10F}">
      <dgm:prSet/>
      <dgm:spPr/>
      <dgm:t>
        <a:bodyPr/>
        <a:lstStyle/>
        <a:p>
          <a:endParaRPr lang="zh-CN" altLang="en-US"/>
        </a:p>
      </dgm:t>
    </dgm:pt>
    <dgm:pt modelId="{FA847D9B-745D-4745-B7C4-9547BD61697B}">
      <dgm:prSet phldrT="[文本]" custT="1"/>
      <dgm:spPr/>
      <dgm:t>
        <a:bodyPr/>
        <a:lstStyle/>
        <a:p>
          <a:r>
            <a:rPr lang="zh-CN" altLang="en-US" sz="1800" b="1" dirty="0">
              <a:latin typeface="微软雅黑" panose="020B0503020204020204" pitchFamily="34" charset="-122"/>
              <a:ea typeface="微软雅黑" panose="020B0503020204020204" pitchFamily="34" charset="-122"/>
            </a:rPr>
            <a:t>使用最多：</a:t>
          </a:r>
          <a:r>
            <a:rPr lang="en-US" altLang="en-US" sz="1800" b="1" dirty="0">
              <a:latin typeface="微软雅黑" panose="020B0503020204020204" pitchFamily="34" charset="-122"/>
              <a:ea typeface="微软雅黑" panose="020B0503020204020204" pitchFamily="34" charset="-122"/>
            </a:rPr>
            <a:t>BGP-4</a:t>
          </a:r>
          <a:endParaRPr lang="zh-CN" altLang="en-US" sz="1800" b="1" dirty="0">
            <a:latin typeface="微软雅黑" panose="020B0503020204020204" pitchFamily="34" charset="-122"/>
            <a:ea typeface="微软雅黑" panose="020B0503020204020204" pitchFamily="34" charset="-122"/>
          </a:endParaRPr>
        </a:p>
      </dgm:t>
    </dgm:pt>
    <dgm:pt modelId="{11E045D3-6FEC-4BAC-BBC6-E3F85AF3E6FE}" type="parTrans" cxnId="{8E15BA48-9F24-4760-BC2E-F975CEDF504B}">
      <dgm:prSet/>
      <dgm:spPr/>
      <dgm:t>
        <a:bodyPr/>
        <a:lstStyle/>
        <a:p>
          <a:endParaRPr lang="zh-CN" altLang="en-US"/>
        </a:p>
      </dgm:t>
    </dgm:pt>
    <dgm:pt modelId="{01A76F89-8655-45DB-8632-72B69EBACACB}" type="sibTrans" cxnId="{8E15BA48-9F24-4760-BC2E-F975CEDF504B}">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CAE0B115-114A-468C-BEDB-2D5FE2E0B17D}" srcId="{22EAAA66-547D-4B51-BF4D-D6DB3D7509FE}" destId="{7D6E7755-F197-41FB-8605-1BFB9B1B3E4D}" srcOrd="1" destOrd="0" parTransId="{E10F256C-3A61-44A7-9FB9-5C7D0142FE8A}" sibTransId="{998963D5-F615-4C0F-BC06-0F0483E40DAF}"/>
    <dgm:cxn modelId="{0AFDA517-52A7-4106-9DEC-24ADAE9C1401}" type="presOf" srcId="{C7D5F8E2-243B-4DE9-B470-B712E8897F5B}" destId="{4CDFFC38-F27C-472E-A2F4-B6BCE3ADBC7B}" srcOrd="0" destOrd="0" presId="urn:microsoft.com/office/officeart/2005/8/layout/hList1"/>
    <dgm:cxn modelId="{F649F02C-3A0E-4CB9-B195-EBCA327DD96B}" type="presOf" srcId="{22EAAA66-547D-4B51-BF4D-D6DB3D7509FE}" destId="{ACA20801-F352-434C-8293-8F2818AFDE5B}" srcOrd="0" destOrd="0" presId="urn:microsoft.com/office/officeart/2005/8/layout/hList1"/>
    <dgm:cxn modelId="{EEB0B035-25DE-410A-A6E6-950B73983029}" type="presOf" srcId="{427CA751-AD5C-4205-9441-B3381D745046}" destId="{19FF7ECD-B0E8-443E-8703-812623A25DE9}" srcOrd="0" destOrd="2" presId="urn:microsoft.com/office/officeart/2005/8/layout/hList1"/>
    <dgm:cxn modelId="{ED8FA239-3D16-4845-B639-C031EF97F765}" type="presOf" srcId="{FA847D9B-745D-4745-B7C4-9547BD61697B}" destId="{4CDFFC38-F27C-472E-A2F4-B6BCE3ADBC7B}" srcOrd="0" destOrd="2"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8E15BA48-9F24-4760-BC2E-F975CEDF504B}" srcId="{45CE52F7-516C-41E7-98C3-DE6A902FC6B5}" destId="{FA847D9B-745D-4745-B7C4-9547BD61697B}" srcOrd="2" destOrd="0" parTransId="{11E045D3-6FEC-4BAC-BBC6-E3F85AF3E6FE}" sibTransId="{01A76F89-8655-45DB-8632-72B69EBACACB}"/>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4A0742BC-43D8-4055-9627-372DE98EA475}" type="presOf" srcId="{EDC6E589-44E1-49CC-BAB5-1FCBE573BC1C}" destId="{4CDFFC38-F27C-472E-A2F4-B6BCE3ADBC7B}" srcOrd="0" destOrd="1" presId="urn:microsoft.com/office/officeart/2005/8/layout/hList1"/>
    <dgm:cxn modelId="{F43438D5-14FC-4C8D-8CAD-EAAFE8FE7119}" type="presOf" srcId="{7D6E7755-F197-41FB-8605-1BFB9B1B3E4D}" destId="{19FF7ECD-B0E8-443E-8703-812623A25DE9}"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F07B9FE5-15C6-45F2-A7B7-F311439C5154}" type="presOf" srcId="{00FEE0F5-92EC-4D73-8F97-62ABE0C0B1AD}" destId="{19FF7ECD-B0E8-443E-8703-812623A25DE9}" srcOrd="0" destOrd="0" presId="urn:microsoft.com/office/officeart/2005/8/layout/hList1"/>
    <dgm:cxn modelId="{1B8DF4EF-6AB6-4FC0-AFE4-B74305DCB10F}" srcId="{22EAAA66-547D-4B51-BF4D-D6DB3D7509FE}" destId="{427CA751-AD5C-4205-9441-B3381D745046}" srcOrd="2" destOrd="0" parTransId="{74833AC5-8572-4F1E-BAA1-CEC9100405A4}" sibTransId="{60A14015-7078-43BB-AB9E-4E4C76939902}"/>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D64D01F-8560-47A8-8127-355261850500}" type="doc">
      <dgm:prSet loTypeId="urn:microsoft.com/office/officeart/2005/8/layout/chevron2" loCatId="list" qsTypeId="urn:microsoft.com/office/officeart/2005/8/quickstyle/simple1" qsCatId="simple" csTypeId="urn:microsoft.com/office/officeart/2005/8/colors/colorful1#7" csCatId="colorful" phldr="1"/>
      <dgm:spPr/>
      <dgm:t>
        <a:bodyPr/>
        <a:lstStyle/>
        <a:p>
          <a:endParaRPr lang="zh-CN" altLang="en-US"/>
        </a:p>
      </dgm:t>
    </dgm:pt>
    <dgm:pt modelId="{C5D95768-64CF-4D5F-8F7F-4A5996C27CD9}">
      <dgm:prSet phldrT="[文本]" custT="1"/>
      <dgm:spPr/>
      <dgm:t>
        <a:bodyPr/>
        <a:lstStyle/>
        <a:p>
          <a:r>
            <a:rPr lang="en-US" altLang="zh-CN" sz="1600" b="0" dirty="0">
              <a:latin typeface="微软雅黑" panose="020B0503020204020204" pitchFamily="34" charset="-122"/>
              <a:ea typeface="微软雅黑" panose="020B0503020204020204" pitchFamily="34" charset="-122"/>
            </a:rPr>
            <a:t>1</a:t>
          </a:r>
          <a:endParaRPr lang="zh-CN" altLang="en-US" sz="1600" b="0" dirty="0">
            <a:latin typeface="微软雅黑" panose="020B0503020204020204" pitchFamily="34" charset="-122"/>
            <a:ea typeface="微软雅黑" panose="020B0503020204020204" pitchFamily="34" charset="-122"/>
          </a:endParaRPr>
        </a:p>
      </dgm:t>
    </dgm:pt>
    <dgm:pt modelId="{095A1CAB-4AA6-4555-A355-CFD87D44D186}" type="par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E2A83572-A1BA-4AEF-BB4D-0C9E0744D9DE}" type="sib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2E3AFA4-03DE-4EB5-974A-AAC8D531866F}">
      <dgm:prSet phldrT="[文本]" custT="1"/>
      <dgm:spPr/>
      <dgm:t>
        <a:bodyPr/>
        <a:lstStyle/>
        <a:p>
          <a:r>
            <a:rPr lang="zh-CN" altLang="en-US" sz="1600" b="0" baseline="0" dirty="0">
              <a:latin typeface="Montserrat" panose="00000500000000000000" pitchFamily="2" charset="0"/>
              <a:ea typeface="微软雅黑 Light" panose="020B0502040204020203" pitchFamily="34" charset="-122"/>
            </a:rPr>
            <a:t>本地偏好 </a:t>
          </a:r>
          <a:r>
            <a:rPr lang="en-US" altLang="en-US" sz="1600" b="0" baseline="0" dirty="0">
              <a:latin typeface="Montserrat" panose="00000500000000000000" pitchFamily="2" charset="0"/>
              <a:ea typeface="微软雅黑 Light" panose="020B0502040204020203" pitchFamily="34" charset="-122"/>
            </a:rPr>
            <a:t>(local preference) </a:t>
          </a:r>
          <a:r>
            <a:rPr lang="zh-CN" altLang="en-US" sz="1600" b="0" baseline="0" dirty="0">
              <a:latin typeface="Montserrat" panose="00000500000000000000" pitchFamily="2" charset="0"/>
              <a:ea typeface="微软雅黑 Light" panose="020B0502040204020203" pitchFamily="34" charset="-122"/>
            </a:rPr>
            <a:t>值最高的路由 （默认值</a:t>
          </a:r>
          <a:r>
            <a:rPr lang="en-US" altLang="zh-CN" sz="1600" b="0" baseline="0" dirty="0">
              <a:latin typeface="Montserrat" panose="00000500000000000000" pitchFamily="2" charset="0"/>
              <a:ea typeface="微软雅黑 Light" panose="020B0502040204020203" pitchFamily="34" charset="-122"/>
            </a:rPr>
            <a:t>=</a:t>
          </a:r>
          <a:r>
            <a:rPr lang="en-US" altLang="en-US" sz="1600" b="0" baseline="0" dirty="0">
              <a:latin typeface="Montserrat" panose="00000500000000000000" pitchFamily="2" charset="0"/>
              <a:ea typeface="微软雅黑 Light" panose="020B0502040204020203" pitchFamily="34" charset="-122"/>
            </a:rPr>
            <a:t>100</a:t>
          </a:r>
          <a:r>
            <a:rPr lang="zh-CN" altLang="en-US" sz="1600" b="0" baseline="0" dirty="0">
              <a:latin typeface="Montserrat" panose="00000500000000000000" pitchFamily="2" charset="0"/>
              <a:ea typeface="微软雅黑 Light" panose="020B0502040204020203" pitchFamily="34" charset="-122"/>
            </a:rPr>
            <a:t>）</a:t>
          </a:r>
        </a:p>
      </dgm:t>
    </dgm:pt>
    <dgm:pt modelId="{0A91646E-F85F-4DB9-8D79-8B2D2A89F3B1}" type="par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6B5DE66-85F8-4D27-90D3-EF3C3C3C171B}" type="sib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EEA00C2-93BC-4594-A89F-B19031BEA809}">
      <dgm:prSet phldrT="[文本]" custT="1"/>
      <dgm:spPr/>
      <dgm:t>
        <a:bodyPr/>
        <a:lstStyle/>
        <a:p>
          <a:r>
            <a:rPr lang="en-US" altLang="zh-CN" sz="1600" b="0" dirty="0">
              <a:latin typeface="微软雅黑" panose="020B0503020204020204" pitchFamily="34" charset="-122"/>
              <a:ea typeface="微软雅黑" panose="020B0503020204020204" pitchFamily="34" charset="-122"/>
            </a:rPr>
            <a:t>2</a:t>
          </a:r>
          <a:endParaRPr lang="zh-CN" altLang="en-US" sz="1600" b="0" dirty="0">
            <a:latin typeface="微软雅黑" panose="020B0503020204020204" pitchFamily="34" charset="-122"/>
            <a:ea typeface="微软雅黑" panose="020B0503020204020204" pitchFamily="34" charset="-122"/>
          </a:endParaRPr>
        </a:p>
      </dgm:t>
    </dgm:pt>
    <dgm:pt modelId="{13A3DC76-198C-46D6-9E07-18965F9979A0}" type="par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54D2AC9-7745-4621-BE80-FD0ED53C328A}" type="sib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BB0D0D92-7B41-47B9-88A7-C0582EC816C3}">
      <dgm:prSet phldrT="[文本]" custT="1"/>
      <dgm:spPr/>
      <dgm:t>
        <a:bodyPr/>
        <a:lstStyle/>
        <a:p>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gm:t>
    </dgm:pt>
    <dgm:pt modelId="{351E5DC5-A557-4ACF-B5F7-0E7AC090A2CF}" type="par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7BA015C-934C-4A85-97B4-C36259D5C27E}" type="sib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C75D0E3-AD55-409C-8E70-7C9A60C6090F}">
      <dgm:prSet phldrT="[文本]" custT="1"/>
      <dgm:spPr/>
      <dgm:t>
        <a:bodyPr/>
        <a:lstStyle/>
        <a:p>
          <a:r>
            <a:rPr lang="en-US" altLang="zh-CN" sz="1600" b="0" dirty="0">
              <a:latin typeface="微软雅黑" panose="020B0503020204020204" pitchFamily="34" charset="-122"/>
              <a:ea typeface="微软雅黑" panose="020B0503020204020204" pitchFamily="34" charset="-122"/>
            </a:rPr>
            <a:t>3</a:t>
          </a:r>
          <a:endParaRPr lang="zh-CN" altLang="en-US" sz="1600" b="0" dirty="0">
            <a:latin typeface="微软雅黑" panose="020B0503020204020204" pitchFamily="34" charset="-122"/>
            <a:ea typeface="微软雅黑" panose="020B0503020204020204" pitchFamily="34" charset="-122"/>
          </a:endParaRPr>
        </a:p>
      </dgm:t>
    </dgm:pt>
    <dgm:pt modelId="{4A0B1DED-E29F-41E6-8689-CB100BB93A33}" type="par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51E2091-1D7F-42F1-A9B4-CCE388AF88F1}" type="sib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FF64E73-C233-45A7-8F5D-4089CAD697FF}">
      <dgm:prSet phldrT="[文本]" custT="1"/>
      <dgm:spPr/>
      <dgm:t>
        <a:bodyPr/>
        <a:lstStyle/>
        <a:p>
          <a:r>
            <a:rPr lang="en-US" altLang="zh-CN" sz="1600" b="0" dirty="0">
              <a:latin typeface="微软雅黑" panose="020B0503020204020204" pitchFamily="34" charset="-122"/>
              <a:ea typeface="微软雅黑" panose="020B0503020204020204" pitchFamily="34" charset="-122"/>
            </a:rPr>
            <a:t>4</a:t>
          </a:r>
          <a:endParaRPr lang="zh-CN" altLang="en-US" sz="1600" b="0" dirty="0">
            <a:latin typeface="微软雅黑" panose="020B0503020204020204" pitchFamily="34" charset="-122"/>
            <a:ea typeface="微软雅黑" panose="020B0503020204020204" pitchFamily="34" charset="-122"/>
          </a:endParaRPr>
        </a:p>
      </dgm:t>
    </dgm:pt>
    <dgm:pt modelId="{33A5E1EF-C09D-4317-BF50-3E3A7AD8F5AD}" type="par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11CDF31-2C2A-4327-8158-DE91CDB3A98C}" type="sib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56CF85C-AFE6-43D4-BD07-CEBB31FE6836}">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gm:t>
    </dgm:pt>
    <dgm:pt modelId="{69CECD98-70EC-4789-9ADD-7B490C308C2C}" type="parTrans" cxnId="{C48B5691-7C60-423E-B931-CA3DFE359FB9}">
      <dgm:prSet/>
      <dgm:spPr/>
      <dgm:t>
        <a:bodyPr/>
        <a:lstStyle/>
        <a:p>
          <a:endParaRPr lang="zh-CN" altLang="en-US"/>
        </a:p>
      </dgm:t>
    </dgm:pt>
    <dgm:pt modelId="{DDF95A1A-C44D-4927-A030-6A34D414D84C}" type="sibTrans" cxnId="{C48B5691-7C60-423E-B931-CA3DFE359FB9}">
      <dgm:prSet/>
      <dgm:spPr/>
      <dgm:t>
        <a:bodyPr/>
        <a:lstStyle/>
        <a:p>
          <a:endParaRPr lang="zh-CN" altLang="en-US"/>
        </a:p>
      </dgm:t>
    </dgm:pt>
    <dgm:pt modelId="{BDC85DC2-8141-45A3-86C7-98E5B6509650}">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gm:t>
    </dgm:pt>
    <dgm:pt modelId="{19CA359C-E121-40CE-9D99-A97A650135B1}" type="parTrans" cxnId="{F3797FDF-B4B0-4767-9463-0A60D5B8E21B}">
      <dgm:prSet/>
      <dgm:spPr/>
      <dgm:t>
        <a:bodyPr/>
        <a:lstStyle/>
        <a:p>
          <a:endParaRPr lang="zh-CN" altLang="en-US"/>
        </a:p>
      </dgm:t>
    </dgm:pt>
    <dgm:pt modelId="{D0E75E54-8483-4E38-A5BF-CF0A25C2C09C}" type="sibTrans" cxnId="{F3797FDF-B4B0-4767-9463-0A60D5B8E21B}">
      <dgm:prSet/>
      <dgm:spPr/>
      <dgm:t>
        <a:bodyPr/>
        <a:lstStyle/>
        <a:p>
          <a:endParaRPr lang="zh-CN" altLang="en-US"/>
        </a:p>
      </dgm:t>
    </dgm:pt>
    <dgm:pt modelId="{8812DE91-C297-420B-AFB3-99A8E5FEF467}" type="pres">
      <dgm:prSet presAssocID="{FD64D01F-8560-47A8-8127-355261850500}" presName="linearFlow" presStyleCnt="0">
        <dgm:presLayoutVars>
          <dgm:dir/>
          <dgm:animLvl val="lvl"/>
          <dgm:resizeHandles val="exact"/>
        </dgm:presLayoutVars>
      </dgm:prSet>
      <dgm:spPr/>
    </dgm:pt>
    <dgm:pt modelId="{C5043315-3167-4242-8756-3EFDECDE697D}" type="pres">
      <dgm:prSet presAssocID="{C5D95768-64CF-4D5F-8F7F-4A5996C27CD9}" presName="composite" presStyleCnt="0"/>
      <dgm:spPr/>
    </dgm:pt>
    <dgm:pt modelId="{087CCF3B-B980-4744-A098-51E164BAF300}" type="pres">
      <dgm:prSet presAssocID="{C5D95768-64CF-4D5F-8F7F-4A5996C27CD9}" presName="parentText" presStyleLbl="alignNode1" presStyleIdx="0" presStyleCnt="4">
        <dgm:presLayoutVars>
          <dgm:chMax val="1"/>
          <dgm:bulletEnabled val="1"/>
        </dgm:presLayoutVars>
      </dgm:prSet>
      <dgm:spPr/>
    </dgm:pt>
    <dgm:pt modelId="{967F5469-8640-4696-BE0A-D179F4D13586}" type="pres">
      <dgm:prSet presAssocID="{C5D95768-64CF-4D5F-8F7F-4A5996C27CD9}" presName="descendantText" presStyleLbl="alignAcc1" presStyleIdx="0" presStyleCnt="4">
        <dgm:presLayoutVars>
          <dgm:bulletEnabled val="1"/>
        </dgm:presLayoutVars>
      </dgm:prSet>
      <dgm:spPr/>
    </dgm:pt>
    <dgm:pt modelId="{F234092F-7BEC-404E-8293-C36748A6A87C}" type="pres">
      <dgm:prSet presAssocID="{E2A83572-A1BA-4AEF-BB4D-0C9E0744D9DE}" presName="sp" presStyleCnt="0"/>
      <dgm:spPr/>
    </dgm:pt>
    <dgm:pt modelId="{9ECA41B6-16C1-4500-9E83-45EDD0D06E81}" type="pres">
      <dgm:prSet presAssocID="{0EEA00C2-93BC-4594-A89F-B19031BEA809}" presName="composite" presStyleCnt="0"/>
      <dgm:spPr/>
    </dgm:pt>
    <dgm:pt modelId="{1C1FCDAF-0D65-4A39-A0AC-A9D03E334517}" type="pres">
      <dgm:prSet presAssocID="{0EEA00C2-93BC-4594-A89F-B19031BEA809}" presName="parentText" presStyleLbl="alignNode1" presStyleIdx="1" presStyleCnt="4">
        <dgm:presLayoutVars>
          <dgm:chMax val="1"/>
          <dgm:bulletEnabled val="1"/>
        </dgm:presLayoutVars>
      </dgm:prSet>
      <dgm:spPr/>
    </dgm:pt>
    <dgm:pt modelId="{7FDDCB89-19F3-4537-A956-66DB05444287}" type="pres">
      <dgm:prSet presAssocID="{0EEA00C2-93BC-4594-A89F-B19031BEA809}" presName="descendantText" presStyleLbl="alignAcc1" presStyleIdx="1" presStyleCnt="4">
        <dgm:presLayoutVars>
          <dgm:bulletEnabled val="1"/>
        </dgm:presLayoutVars>
      </dgm:prSet>
      <dgm:spPr/>
    </dgm:pt>
    <dgm:pt modelId="{59AFE3C5-7CD4-4DD8-826C-548BC463411A}" type="pres">
      <dgm:prSet presAssocID="{154D2AC9-7745-4621-BE80-FD0ED53C328A}" presName="sp" presStyleCnt="0"/>
      <dgm:spPr/>
    </dgm:pt>
    <dgm:pt modelId="{E8A8C8B2-0AE7-4255-A2E4-A5468342E36B}" type="pres">
      <dgm:prSet presAssocID="{9C75D0E3-AD55-409C-8E70-7C9A60C6090F}" presName="composite" presStyleCnt="0"/>
      <dgm:spPr/>
    </dgm:pt>
    <dgm:pt modelId="{061776BC-E55D-472E-AA38-6C4CA9431466}" type="pres">
      <dgm:prSet presAssocID="{9C75D0E3-AD55-409C-8E70-7C9A60C6090F}" presName="parentText" presStyleLbl="alignNode1" presStyleIdx="2" presStyleCnt="4">
        <dgm:presLayoutVars>
          <dgm:chMax val="1"/>
          <dgm:bulletEnabled val="1"/>
        </dgm:presLayoutVars>
      </dgm:prSet>
      <dgm:spPr/>
    </dgm:pt>
    <dgm:pt modelId="{24E43028-DB82-414F-9136-AA94D471AC5C}" type="pres">
      <dgm:prSet presAssocID="{9C75D0E3-AD55-409C-8E70-7C9A60C6090F}" presName="descendantText" presStyleLbl="alignAcc1" presStyleIdx="2" presStyleCnt="4">
        <dgm:presLayoutVars>
          <dgm:bulletEnabled val="1"/>
        </dgm:presLayoutVars>
      </dgm:prSet>
      <dgm:spPr/>
    </dgm:pt>
    <dgm:pt modelId="{BADD0972-AE9D-4166-B00C-135E3FBC19C2}" type="pres">
      <dgm:prSet presAssocID="{751E2091-1D7F-42F1-A9B4-CCE388AF88F1}" presName="sp" presStyleCnt="0"/>
      <dgm:spPr/>
    </dgm:pt>
    <dgm:pt modelId="{010C641B-529F-49FF-8D75-853C0A91C8C6}" type="pres">
      <dgm:prSet presAssocID="{FFF64E73-C233-45A7-8F5D-4089CAD697FF}" presName="composite" presStyleCnt="0"/>
      <dgm:spPr/>
    </dgm:pt>
    <dgm:pt modelId="{AC9695CB-865B-4694-A98D-9F8EAB741670}" type="pres">
      <dgm:prSet presAssocID="{FFF64E73-C233-45A7-8F5D-4089CAD697FF}" presName="parentText" presStyleLbl="alignNode1" presStyleIdx="3" presStyleCnt="4">
        <dgm:presLayoutVars>
          <dgm:chMax val="1"/>
          <dgm:bulletEnabled val="1"/>
        </dgm:presLayoutVars>
      </dgm:prSet>
      <dgm:spPr/>
    </dgm:pt>
    <dgm:pt modelId="{0B7E51AB-E203-4D88-91EC-23BBEBF68989}" type="pres">
      <dgm:prSet presAssocID="{FFF64E73-C233-45A7-8F5D-4089CAD697FF}" presName="descendantText" presStyleLbl="alignAcc1" presStyleIdx="3" presStyleCnt="4">
        <dgm:presLayoutVars>
          <dgm:bulletEnabled val="1"/>
        </dgm:presLayoutVars>
      </dgm:prSet>
      <dgm:spPr/>
    </dgm:pt>
  </dgm:ptLst>
  <dgm:cxnLst>
    <dgm:cxn modelId="{1236EF00-0657-4E4D-8B27-2D49AF72D854}" srcId="{FD64D01F-8560-47A8-8127-355261850500}" destId="{C5D95768-64CF-4D5F-8F7F-4A5996C27CD9}" srcOrd="0" destOrd="0" parTransId="{095A1CAB-4AA6-4555-A355-CFD87D44D186}" sibTransId="{E2A83572-A1BA-4AEF-BB4D-0C9E0744D9DE}"/>
    <dgm:cxn modelId="{0B807519-E138-4175-A35B-827F947D649D}" type="presOf" srcId="{BB0D0D92-7B41-47B9-88A7-C0582EC816C3}" destId="{7FDDCB89-19F3-4537-A956-66DB05444287}" srcOrd="0" destOrd="0" presId="urn:microsoft.com/office/officeart/2005/8/layout/chevron2"/>
    <dgm:cxn modelId="{734AA91F-B8F4-4F8F-BC5B-66C78E0F36AC}" srcId="{0EEA00C2-93BC-4594-A89F-B19031BEA809}" destId="{BB0D0D92-7B41-47B9-88A7-C0582EC816C3}" srcOrd="0" destOrd="0" parTransId="{351E5DC5-A557-4ACF-B5F7-0E7AC090A2CF}" sibTransId="{77BA015C-934C-4A85-97B4-C36259D5C27E}"/>
    <dgm:cxn modelId="{964EE627-7EAD-42B6-96B6-724558A854D0}" srcId="{FD64D01F-8560-47A8-8127-355261850500}" destId="{FFF64E73-C233-45A7-8F5D-4089CAD697FF}" srcOrd="3" destOrd="0" parTransId="{33A5E1EF-C09D-4317-BF50-3E3A7AD8F5AD}" sibTransId="{C11CDF31-2C2A-4327-8158-DE91CDB3A98C}"/>
    <dgm:cxn modelId="{2007EE2B-C518-48B5-93E3-226E88A0D8DA}" type="presOf" srcId="{9C75D0E3-AD55-409C-8E70-7C9A60C6090F}" destId="{061776BC-E55D-472E-AA38-6C4CA9431466}" srcOrd="0" destOrd="0" presId="urn:microsoft.com/office/officeart/2005/8/layout/chevron2"/>
    <dgm:cxn modelId="{800DBB5C-0218-4C4C-B13E-9BA3A281C287}" type="presOf" srcId="{C2E3AFA4-03DE-4EB5-974A-AAC8D531866F}" destId="{967F5469-8640-4696-BE0A-D179F4D13586}" srcOrd="0" destOrd="0" presId="urn:microsoft.com/office/officeart/2005/8/layout/chevron2"/>
    <dgm:cxn modelId="{E05ADA4D-7A3E-4E06-9659-ACD04759E5FC}" srcId="{C5D95768-64CF-4D5F-8F7F-4A5996C27CD9}" destId="{C2E3AFA4-03DE-4EB5-974A-AAC8D531866F}" srcOrd="0" destOrd="0" parTransId="{0A91646E-F85F-4DB9-8D79-8B2D2A89F3B1}" sibTransId="{96B5DE66-85F8-4D27-90D3-EF3C3C3C171B}"/>
    <dgm:cxn modelId="{E463B871-7F4E-40F9-AC91-58B9FA598B8E}" type="presOf" srcId="{C5D95768-64CF-4D5F-8F7F-4A5996C27CD9}" destId="{087CCF3B-B980-4744-A098-51E164BAF300}" srcOrd="0" destOrd="0" presId="urn:microsoft.com/office/officeart/2005/8/layout/chevron2"/>
    <dgm:cxn modelId="{1E2D2E89-B2F5-4722-BBD0-70AAD5FB8339}" type="presOf" srcId="{856CF85C-AFE6-43D4-BD07-CEBB31FE6836}" destId="{24E43028-DB82-414F-9136-AA94D471AC5C}" srcOrd="0" destOrd="0" presId="urn:microsoft.com/office/officeart/2005/8/layout/chevron2"/>
    <dgm:cxn modelId="{BC70318A-D626-4006-9FF2-051025E4DD7D}" srcId="{FD64D01F-8560-47A8-8127-355261850500}" destId="{0EEA00C2-93BC-4594-A89F-B19031BEA809}" srcOrd="1" destOrd="0" parTransId="{13A3DC76-198C-46D6-9E07-18965F9979A0}" sibTransId="{154D2AC9-7745-4621-BE80-FD0ED53C328A}"/>
    <dgm:cxn modelId="{C48B5691-7C60-423E-B931-CA3DFE359FB9}" srcId="{9C75D0E3-AD55-409C-8E70-7C9A60C6090F}" destId="{856CF85C-AFE6-43D4-BD07-CEBB31FE6836}" srcOrd="0" destOrd="0" parTransId="{69CECD98-70EC-4789-9ADD-7B490C308C2C}" sibTransId="{DDF95A1A-C44D-4927-A030-6A34D414D84C}"/>
    <dgm:cxn modelId="{B1E56E97-41A8-4CB4-9F10-4879E95822BB}" type="presOf" srcId="{FFF64E73-C233-45A7-8F5D-4089CAD697FF}" destId="{AC9695CB-865B-4694-A98D-9F8EAB741670}" srcOrd="0" destOrd="0" presId="urn:microsoft.com/office/officeart/2005/8/layout/chevron2"/>
    <dgm:cxn modelId="{6B0E3C99-97A8-41EE-8644-3F9496A5CFE0}" type="presOf" srcId="{BDC85DC2-8141-45A3-86C7-98E5B6509650}" destId="{0B7E51AB-E203-4D88-91EC-23BBEBF68989}" srcOrd="0" destOrd="0" presId="urn:microsoft.com/office/officeart/2005/8/layout/chevron2"/>
    <dgm:cxn modelId="{171ACD99-DE4C-411B-89B4-AAF0D655C0E8}" type="presOf" srcId="{FD64D01F-8560-47A8-8127-355261850500}" destId="{8812DE91-C297-420B-AFB3-99A8E5FEF467}" srcOrd="0" destOrd="0" presId="urn:microsoft.com/office/officeart/2005/8/layout/chevron2"/>
    <dgm:cxn modelId="{61872CB5-2657-4CB5-A05C-B3BC0E2E1CEF}" type="presOf" srcId="{0EEA00C2-93BC-4594-A89F-B19031BEA809}" destId="{1C1FCDAF-0D65-4A39-A0AC-A9D03E334517}" srcOrd="0" destOrd="0" presId="urn:microsoft.com/office/officeart/2005/8/layout/chevron2"/>
    <dgm:cxn modelId="{ADF66DBB-9393-4116-8CC0-6D697476D591}" srcId="{FD64D01F-8560-47A8-8127-355261850500}" destId="{9C75D0E3-AD55-409C-8E70-7C9A60C6090F}" srcOrd="2" destOrd="0" parTransId="{4A0B1DED-E29F-41E6-8689-CB100BB93A33}" sibTransId="{751E2091-1D7F-42F1-A9B4-CCE388AF88F1}"/>
    <dgm:cxn modelId="{F3797FDF-B4B0-4767-9463-0A60D5B8E21B}" srcId="{FFF64E73-C233-45A7-8F5D-4089CAD697FF}" destId="{BDC85DC2-8141-45A3-86C7-98E5B6509650}" srcOrd="0" destOrd="0" parTransId="{19CA359C-E121-40CE-9D99-A97A650135B1}" sibTransId="{D0E75E54-8483-4E38-A5BF-CF0A25C2C09C}"/>
    <dgm:cxn modelId="{C64A0415-30F8-4657-94B5-B6770E2E4A17}" type="presParOf" srcId="{8812DE91-C297-420B-AFB3-99A8E5FEF467}" destId="{C5043315-3167-4242-8756-3EFDECDE697D}" srcOrd="0" destOrd="0" presId="urn:microsoft.com/office/officeart/2005/8/layout/chevron2"/>
    <dgm:cxn modelId="{4B8F6622-BF5B-4703-B962-0667A439B385}" type="presParOf" srcId="{C5043315-3167-4242-8756-3EFDECDE697D}" destId="{087CCF3B-B980-4744-A098-51E164BAF300}" srcOrd="0" destOrd="0" presId="urn:microsoft.com/office/officeart/2005/8/layout/chevron2"/>
    <dgm:cxn modelId="{2B0FCE80-9EA3-4976-981D-2B52FDA8ED11}" type="presParOf" srcId="{C5043315-3167-4242-8756-3EFDECDE697D}" destId="{967F5469-8640-4696-BE0A-D179F4D13586}" srcOrd="1" destOrd="0" presId="urn:microsoft.com/office/officeart/2005/8/layout/chevron2"/>
    <dgm:cxn modelId="{DD47DAED-CD71-4E9D-8360-F95A3345A2A0}" type="presParOf" srcId="{8812DE91-C297-420B-AFB3-99A8E5FEF467}" destId="{F234092F-7BEC-404E-8293-C36748A6A87C}" srcOrd="1" destOrd="0" presId="urn:microsoft.com/office/officeart/2005/8/layout/chevron2"/>
    <dgm:cxn modelId="{5E68F53B-7712-42DD-A075-CC6D0321C578}" type="presParOf" srcId="{8812DE91-C297-420B-AFB3-99A8E5FEF467}" destId="{9ECA41B6-16C1-4500-9E83-45EDD0D06E81}" srcOrd="2" destOrd="0" presId="urn:microsoft.com/office/officeart/2005/8/layout/chevron2"/>
    <dgm:cxn modelId="{CAC61C07-8FCE-4442-8685-419BE65095B7}" type="presParOf" srcId="{9ECA41B6-16C1-4500-9E83-45EDD0D06E81}" destId="{1C1FCDAF-0D65-4A39-A0AC-A9D03E334517}" srcOrd="0" destOrd="0" presId="urn:microsoft.com/office/officeart/2005/8/layout/chevron2"/>
    <dgm:cxn modelId="{6E1E0FD5-009A-4088-841D-8E21775B0BE1}" type="presParOf" srcId="{9ECA41B6-16C1-4500-9E83-45EDD0D06E81}" destId="{7FDDCB89-19F3-4537-A956-66DB05444287}" srcOrd="1" destOrd="0" presId="urn:microsoft.com/office/officeart/2005/8/layout/chevron2"/>
    <dgm:cxn modelId="{E7A20A1A-174C-4851-8A45-445601074D5F}" type="presParOf" srcId="{8812DE91-C297-420B-AFB3-99A8E5FEF467}" destId="{59AFE3C5-7CD4-4DD8-826C-548BC463411A}" srcOrd="3" destOrd="0" presId="urn:microsoft.com/office/officeart/2005/8/layout/chevron2"/>
    <dgm:cxn modelId="{324D96E4-DC48-4671-9928-50C0B339F514}" type="presParOf" srcId="{8812DE91-C297-420B-AFB3-99A8E5FEF467}" destId="{E8A8C8B2-0AE7-4255-A2E4-A5468342E36B}" srcOrd="4" destOrd="0" presId="urn:microsoft.com/office/officeart/2005/8/layout/chevron2"/>
    <dgm:cxn modelId="{3DFD4D47-1636-4781-A8AD-7E06FC395286}" type="presParOf" srcId="{E8A8C8B2-0AE7-4255-A2E4-A5468342E36B}" destId="{061776BC-E55D-472E-AA38-6C4CA9431466}" srcOrd="0" destOrd="0" presId="urn:microsoft.com/office/officeart/2005/8/layout/chevron2"/>
    <dgm:cxn modelId="{171FA9E3-E314-4295-9E5B-C7A3CB9F8A82}" type="presParOf" srcId="{E8A8C8B2-0AE7-4255-A2E4-A5468342E36B}" destId="{24E43028-DB82-414F-9136-AA94D471AC5C}" srcOrd="1" destOrd="0" presId="urn:microsoft.com/office/officeart/2005/8/layout/chevron2"/>
    <dgm:cxn modelId="{AE9E7E87-D686-4B45-A84D-5ABE2933C1B7}" type="presParOf" srcId="{8812DE91-C297-420B-AFB3-99A8E5FEF467}" destId="{BADD0972-AE9D-4166-B00C-135E3FBC19C2}" srcOrd="5" destOrd="0" presId="urn:microsoft.com/office/officeart/2005/8/layout/chevron2"/>
    <dgm:cxn modelId="{9056BABD-5574-4751-835D-FBA25C5BFFFA}" type="presParOf" srcId="{8812DE91-C297-420B-AFB3-99A8E5FEF467}" destId="{010C641B-529F-49FF-8D75-853C0A91C8C6}" srcOrd="6" destOrd="0" presId="urn:microsoft.com/office/officeart/2005/8/layout/chevron2"/>
    <dgm:cxn modelId="{6FCBEEF0-EF56-43AE-B9B7-3E326E2733D9}" type="presParOf" srcId="{010C641B-529F-49FF-8D75-853C0A91C8C6}" destId="{AC9695CB-865B-4694-A98D-9F8EAB741670}" srcOrd="0" destOrd="0" presId="urn:microsoft.com/office/officeart/2005/8/layout/chevron2"/>
    <dgm:cxn modelId="{4319CC0D-EB4C-4D7F-8882-92073AFDFC18}" type="presParOf" srcId="{010C641B-529F-49FF-8D75-853C0A91C8C6}" destId="{0B7E51AB-E203-4D88-91EC-23BBEBF68989}"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C21050E-147F-489A-A7FD-460FB797C877}" type="doc">
      <dgm:prSet loTypeId="urn:microsoft.com/office/officeart/2005/8/layout/vList3#1" loCatId="list" qsTypeId="urn:microsoft.com/office/officeart/2005/8/quickstyle/simple1" qsCatId="simple" csTypeId="urn:microsoft.com/office/officeart/2005/8/colors/colorful1#8" csCatId="colorful" phldr="1"/>
      <dgm:spPr/>
    </dgm:pt>
    <dgm:pt modelId="{72123855-C7C2-4715-833A-643B0141CF2B}">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划分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的方法不受限制，由网络管理员来控制。</a:t>
          </a:r>
        </a:p>
      </dgm:t>
    </dgm:pt>
    <dgm:pt modelId="{EFB12E30-3EA0-4797-A33C-A5797E53E130}" type="par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4EAAC225-00D2-467F-90A9-343FAE4B171E}" type="sib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59A4C5F6-314A-4936-ADC5-2168787225BA}">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入口节点并不是给每一个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数据报指派一个不同的标签，而是将属于同样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数据报都指派同样的标签。</a:t>
          </a:r>
        </a:p>
      </dgm:t>
    </dgm:pt>
    <dgm:pt modelId="{617A193A-8D76-4CFD-94A5-95F09FA1A387}" type="par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3459D600-7DE3-44AF-8ED5-5B9FAB851A17}" type="sib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6F41222E-4FA5-4BEB-A9EB-D1EE924C0B5A}">
      <dgm:prSet phldrT="[文本]" custT="1"/>
      <dgm:spPr/>
      <dgm:t>
        <a:bodyPr/>
        <a:lstStyle/>
        <a:p>
          <a:pPr algn="l"/>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和标签是一一对应的关系。</a:t>
          </a:r>
        </a:p>
      </dgm:t>
    </dgm:pt>
    <dgm:pt modelId="{C8352C99-6380-401A-B47B-173B5614AA1A}" type="parTrans" cxnId="{F4FB8D51-2C66-4983-A5AC-FDAF2399B53E}">
      <dgm:prSet/>
      <dgm:spPr/>
      <dgm:t>
        <a:bodyPr/>
        <a:lstStyle/>
        <a:p>
          <a:pPr algn="l"/>
          <a:endParaRPr lang="zh-CN" altLang="en-US"/>
        </a:p>
      </dgm:t>
    </dgm:pt>
    <dgm:pt modelId="{A1182F91-69BE-44CA-B9BC-8D9EEF59921F}" type="sibTrans" cxnId="{F4FB8D51-2C66-4983-A5AC-FDAF2399B53E}">
      <dgm:prSet/>
      <dgm:spPr/>
      <dgm:t>
        <a:bodyPr/>
        <a:lstStyle/>
        <a:p>
          <a:pPr algn="l"/>
          <a:endParaRPr lang="zh-CN" altLang="en-US"/>
        </a:p>
      </dgm:t>
    </dgm:pt>
    <dgm:pt modelId="{E52050CE-66B8-4300-ACB0-BB50B3E00040}" type="pres">
      <dgm:prSet presAssocID="{BC21050E-147F-489A-A7FD-460FB797C877}" presName="linearFlow" presStyleCnt="0">
        <dgm:presLayoutVars>
          <dgm:dir/>
          <dgm:resizeHandles val="exact"/>
        </dgm:presLayoutVars>
      </dgm:prSet>
      <dgm:spPr/>
    </dgm:pt>
    <dgm:pt modelId="{DDBE1894-9F24-459B-B087-5C7187620755}" type="pres">
      <dgm:prSet presAssocID="{72123855-C7C2-4715-833A-643B0141CF2B}" presName="composite" presStyleCnt="0"/>
      <dgm:spPr/>
    </dgm:pt>
    <dgm:pt modelId="{F63A45BE-87F8-4243-8A28-A9B96E270ED4}" type="pres">
      <dgm:prSet presAssocID="{72123855-C7C2-4715-833A-643B0141CF2B}" presName="imgShp" presStyleLbl="fgImgPlace1" presStyleIdx="0" presStyleCnt="3"/>
      <dgm:spPr/>
    </dgm:pt>
    <dgm:pt modelId="{46CEFA23-1767-4D57-91F8-8F65E8ACFD37}" type="pres">
      <dgm:prSet presAssocID="{72123855-C7C2-4715-833A-643B0141CF2B}" presName="txShp" presStyleLbl="node1" presStyleIdx="0" presStyleCnt="3">
        <dgm:presLayoutVars>
          <dgm:bulletEnabled val="1"/>
        </dgm:presLayoutVars>
      </dgm:prSet>
      <dgm:spPr/>
    </dgm:pt>
    <dgm:pt modelId="{C318E8D0-7087-4263-8D76-3FA664047E00}" type="pres">
      <dgm:prSet presAssocID="{4EAAC225-00D2-467F-90A9-343FAE4B171E}" presName="spacing" presStyleCnt="0"/>
      <dgm:spPr/>
    </dgm:pt>
    <dgm:pt modelId="{2FC35DD1-E357-457C-8C57-992751F026A0}" type="pres">
      <dgm:prSet presAssocID="{59A4C5F6-314A-4936-ADC5-2168787225BA}" presName="composite" presStyleCnt="0"/>
      <dgm:spPr/>
    </dgm:pt>
    <dgm:pt modelId="{FCC1DF99-0F26-4341-896E-169B093FC04C}" type="pres">
      <dgm:prSet presAssocID="{59A4C5F6-314A-4936-ADC5-2168787225BA}" presName="imgShp" presStyleLbl="fgImgPlace1" presStyleIdx="1" presStyleCnt="3"/>
      <dgm:spPr/>
    </dgm:pt>
    <dgm:pt modelId="{88C0456F-D6DF-4746-9CD6-A09A4CCC1C0D}" type="pres">
      <dgm:prSet presAssocID="{59A4C5F6-314A-4936-ADC5-2168787225BA}" presName="txShp" presStyleLbl="node1" presStyleIdx="1" presStyleCnt="3">
        <dgm:presLayoutVars>
          <dgm:bulletEnabled val="1"/>
        </dgm:presLayoutVars>
      </dgm:prSet>
      <dgm:spPr/>
    </dgm:pt>
    <dgm:pt modelId="{5489DDAE-D3FF-4105-BFE3-6F3E93B2F5B1}" type="pres">
      <dgm:prSet presAssocID="{3459D600-7DE3-44AF-8ED5-5B9FAB851A17}" presName="spacing" presStyleCnt="0"/>
      <dgm:spPr/>
    </dgm:pt>
    <dgm:pt modelId="{E6CD1C43-A5BA-4EA1-AE6E-81A125F735B7}" type="pres">
      <dgm:prSet presAssocID="{6F41222E-4FA5-4BEB-A9EB-D1EE924C0B5A}" presName="composite" presStyleCnt="0"/>
      <dgm:spPr/>
    </dgm:pt>
    <dgm:pt modelId="{6B868C05-F9BC-41B1-B7D8-606E2302DF2B}" type="pres">
      <dgm:prSet presAssocID="{6F41222E-4FA5-4BEB-A9EB-D1EE924C0B5A}" presName="imgShp" presStyleLbl="fgImgPlace1" presStyleIdx="2" presStyleCnt="3"/>
      <dgm:spPr/>
    </dgm:pt>
    <dgm:pt modelId="{7B8D19E8-A42A-42E7-B42A-280A0B9EB13B}" type="pres">
      <dgm:prSet presAssocID="{6F41222E-4FA5-4BEB-A9EB-D1EE924C0B5A}" presName="txShp" presStyleLbl="node1" presStyleIdx="2" presStyleCnt="3">
        <dgm:presLayoutVars>
          <dgm:bulletEnabled val="1"/>
        </dgm:presLayoutVars>
      </dgm:prSet>
      <dgm:spPr/>
    </dgm:pt>
  </dgm:ptLst>
  <dgm:cxnLst>
    <dgm:cxn modelId="{DB6ADD2E-4175-41EA-9F19-1420DDC4FE24}" srcId="{BC21050E-147F-489A-A7FD-460FB797C877}" destId="{59A4C5F6-314A-4936-ADC5-2168787225BA}" srcOrd="1" destOrd="0" parTransId="{617A193A-8D76-4CFD-94A5-95F09FA1A387}" sibTransId="{3459D600-7DE3-44AF-8ED5-5B9FAB851A17}"/>
    <dgm:cxn modelId="{1F3ACD60-0149-4B8F-A90C-BDDB34630995}" srcId="{BC21050E-147F-489A-A7FD-460FB797C877}" destId="{72123855-C7C2-4715-833A-643B0141CF2B}" srcOrd="0" destOrd="0" parTransId="{EFB12E30-3EA0-4797-A33C-A5797E53E130}" sibTransId="{4EAAC225-00D2-467F-90A9-343FAE4B171E}"/>
    <dgm:cxn modelId="{2A72386F-7C02-4735-850B-9F5F6E8C39E4}" type="presOf" srcId="{6F41222E-4FA5-4BEB-A9EB-D1EE924C0B5A}" destId="{7B8D19E8-A42A-42E7-B42A-280A0B9EB13B}" srcOrd="0" destOrd="0" presId="urn:microsoft.com/office/officeart/2005/8/layout/vList3#1"/>
    <dgm:cxn modelId="{F4FB8D51-2C66-4983-A5AC-FDAF2399B53E}" srcId="{BC21050E-147F-489A-A7FD-460FB797C877}" destId="{6F41222E-4FA5-4BEB-A9EB-D1EE924C0B5A}" srcOrd="2" destOrd="0" parTransId="{C8352C99-6380-401A-B47B-173B5614AA1A}" sibTransId="{A1182F91-69BE-44CA-B9BC-8D9EEF59921F}"/>
    <dgm:cxn modelId="{AB83A0D0-03B3-42E5-B86A-E8480837EF1E}" type="presOf" srcId="{BC21050E-147F-489A-A7FD-460FB797C877}" destId="{E52050CE-66B8-4300-ACB0-BB50B3E00040}" srcOrd="0" destOrd="0" presId="urn:microsoft.com/office/officeart/2005/8/layout/vList3#1"/>
    <dgm:cxn modelId="{3E2AAAE9-7A13-4C1F-B2E0-E516B13D67EF}" type="presOf" srcId="{72123855-C7C2-4715-833A-643B0141CF2B}" destId="{46CEFA23-1767-4D57-91F8-8F65E8ACFD37}" srcOrd="0" destOrd="0" presId="urn:microsoft.com/office/officeart/2005/8/layout/vList3#1"/>
    <dgm:cxn modelId="{E6B9DDFA-EC6E-4F1B-9579-C70C0741CBC7}" type="presOf" srcId="{59A4C5F6-314A-4936-ADC5-2168787225BA}" destId="{88C0456F-D6DF-4746-9CD6-A09A4CCC1C0D}" srcOrd="0" destOrd="0" presId="urn:microsoft.com/office/officeart/2005/8/layout/vList3#1"/>
    <dgm:cxn modelId="{C203B13B-5178-4505-BE6D-1A9D375A9E74}" type="presParOf" srcId="{E52050CE-66B8-4300-ACB0-BB50B3E00040}" destId="{DDBE1894-9F24-459B-B087-5C7187620755}" srcOrd="0" destOrd="0" presId="urn:microsoft.com/office/officeart/2005/8/layout/vList3#1"/>
    <dgm:cxn modelId="{C1E91C9E-8ABD-45CF-ADB3-5653F728FAA5}" type="presParOf" srcId="{DDBE1894-9F24-459B-B087-5C7187620755}" destId="{F63A45BE-87F8-4243-8A28-A9B96E270ED4}" srcOrd="0" destOrd="0" presId="urn:microsoft.com/office/officeart/2005/8/layout/vList3#1"/>
    <dgm:cxn modelId="{B75F0A94-501E-46A2-ABB8-24FF15E75920}" type="presParOf" srcId="{DDBE1894-9F24-459B-B087-5C7187620755}" destId="{46CEFA23-1767-4D57-91F8-8F65E8ACFD37}" srcOrd="1" destOrd="0" presId="urn:microsoft.com/office/officeart/2005/8/layout/vList3#1"/>
    <dgm:cxn modelId="{E3051684-0B7C-4745-AC6A-095AAF4327E5}" type="presParOf" srcId="{E52050CE-66B8-4300-ACB0-BB50B3E00040}" destId="{C318E8D0-7087-4263-8D76-3FA664047E00}" srcOrd="1" destOrd="0" presId="urn:microsoft.com/office/officeart/2005/8/layout/vList3#1"/>
    <dgm:cxn modelId="{E25278FD-732D-4B2F-AF3E-1DE6122C96F1}" type="presParOf" srcId="{E52050CE-66B8-4300-ACB0-BB50B3E00040}" destId="{2FC35DD1-E357-457C-8C57-992751F026A0}" srcOrd="2" destOrd="0" presId="urn:microsoft.com/office/officeart/2005/8/layout/vList3#1"/>
    <dgm:cxn modelId="{B329EAC2-ECC3-406F-BE56-92A12EC808F1}" type="presParOf" srcId="{2FC35DD1-E357-457C-8C57-992751F026A0}" destId="{FCC1DF99-0F26-4341-896E-169B093FC04C}" srcOrd="0" destOrd="0" presId="urn:microsoft.com/office/officeart/2005/8/layout/vList3#1"/>
    <dgm:cxn modelId="{2AB4170D-0E4D-4D54-9DD5-04663508FF29}" type="presParOf" srcId="{2FC35DD1-E357-457C-8C57-992751F026A0}" destId="{88C0456F-D6DF-4746-9CD6-A09A4CCC1C0D}" srcOrd="1" destOrd="0" presId="urn:microsoft.com/office/officeart/2005/8/layout/vList3#1"/>
    <dgm:cxn modelId="{4C428128-76DD-4219-A5FB-9B908ED0180B}" type="presParOf" srcId="{E52050CE-66B8-4300-ACB0-BB50B3E00040}" destId="{5489DDAE-D3FF-4105-BFE3-6F3E93B2F5B1}" srcOrd="3" destOrd="0" presId="urn:microsoft.com/office/officeart/2005/8/layout/vList3#1"/>
    <dgm:cxn modelId="{0C96A5DD-6414-485C-B326-E5278700AE57}" type="presParOf" srcId="{E52050CE-66B8-4300-ACB0-BB50B3E00040}" destId="{E6CD1C43-A5BA-4EA1-AE6E-81A125F735B7}" srcOrd="4" destOrd="0" presId="urn:microsoft.com/office/officeart/2005/8/layout/vList3#1"/>
    <dgm:cxn modelId="{4E58E781-7248-4BD6-B0EE-A3E9D8646EAB}" type="presParOf" srcId="{E6CD1C43-A5BA-4EA1-AE6E-81A125F735B7}" destId="{6B868C05-F9BC-41B1-B7D8-606E2302DF2B}" srcOrd="0" destOrd="0" presId="urn:microsoft.com/office/officeart/2005/8/layout/vList3#1"/>
    <dgm:cxn modelId="{5A1F4C69-B884-44E0-94D1-29333AEA80A5}" type="presParOf" srcId="{E6CD1C43-A5BA-4EA1-AE6E-81A125F735B7}" destId="{7B8D19E8-A42A-42E7-B42A-280A0B9EB13B}" srcOrd="1" destOrd="0" presId="urn:microsoft.com/office/officeart/2005/8/layout/vList3#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07CF620-754C-42AA-B6D7-6E532B46496D}" type="doc">
      <dgm:prSet loTypeId="urn:microsoft.com/office/officeart/2005/8/layout/list1" loCatId="list" qsTypeId="urn:microsoft.com/office/officeart/2005/8/quickstyle/simple1" qsCatId="simple" csTypeId="urn:microsoft.com/office/officeart/2005/8/colors/colorful1#9" csCatId="colorful" phldr="1"/>
      <dgm:spPr/>
      <dgm:t>
        <a:bodyPr/>
        <a:lstStyle/>
        <a:p>
          <a:endParaRPr lang="zh-CN" altLang="en-US"/>
        </a:p>
      </dgm:t>
    </dgm:pt>
    <dgm:pt modelId="{E2D531EB-AB54-494E-9C1E-4C30D2113C22}">
      <dgm:prSet phldrT="[文本]" custT="1"/>
      <dgm:spPr/>
      <dgm:t>
        <a:bodyPr/>
        <a:lstStyle/>
        <a:p>
          <a:r>
            <a:rPr lang="en-US" altLang="en-US" sz="1800" b="1" dirty="0">
              <a:solidFill>
                <a:schemeClr val="bg1"/>
              </a:solidFill>
              <a:latin typeface="微软雅黑" panose="020B0503020204020204" pitchFamily="34" charset="-122"/>
              <a:ea typeface="微软雅黑" panose="020B0503020204020204" pitchFamily="34" charset="-122"/>
            </a:rPr>
            <a:t>SDN</a:t>
          </a:r>
          <a:endParaRPr lang="zh-CN" altLang="en-US" sz="1800" b="1" dirty="0">
            <a:solidFill>
              <a:schemeClr val="bg1"/>
            </a:solidFill>
            <a:latin typeface="微软雅黑" panose="020B0503020204020204" pitchFamily="34" charset="-122"/>
            <a:ea typeface="微软雅黑" panose="020B0503020204020204" pitchFamily="34" charset="-122"/>
          </a:endParaRPr>
        </a:p>
      </dgm:t>
    </dgm:pt>
    <dgm:pt modelId="{BE246D6D-5FC4-4574-ADA4-F9DF70A01C22}" type="par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6EA74CD-3BAB-4DA8-B288-8D367F33563E}" type="sib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CEA250F-A938-4832-8A35-1F6531FC8D25}">
      <dgm:prSet phldrT="[文本]"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是一个</a:t>
          </a:r>
          <a:r>
            <a:rPr lang="zh-CN" altLang="en-US" sz="1400" b="0" dirty="0">
              <a:solidFill>
                <a:srgbClr val="C00000"/>
              </a:solidFill>
              <a:latin typeface="微软雅黑" panose="020B0503020204020204" pitchFamily="34" charset="-122"/>
              <a:ea typeface="微软雅黑" panose="020B0503020204020204" pitchFamily="34" charset="-122"/>
            </a:rPr>
            <a:t>体系结构，</a:t>
          </a:r>
          <a:r>
            <a:rPr lang="zh-CN" altLang="en-US" sz="1400" b="0" dirty="0">
              <a:latin typeface="微软雅黑" panose="020B0503020204020204" pitchFamily="34" charset="-122"/>
              <a:ea typeface="微软雅黑" panose="020B0503020204020204" pitchFamily="34" charset="-122"/>
            </a:rPr>
            <a:t>是一种设计、构建和管理网络的新方法或新概念。</a:t>
          </a:r>
        </a:p>
      </dgm:t>
    </dgm:pt>
    <dgm:pt modelId="{855D1AA7-0014-42D1-AB55-0512522635CF}" type="par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3824E0-260D-44AF-A6A0-AF20B4EAB600}" type="sib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3C5C89E-14AA-4071-98C1-AD449E0D1A5F}">
      <dgm:prSet phldrT="[文本]" custT="1"/>
      <dgm:spPr/>
      <dgm:t>
        <a:bodyPr/>
        <a:lstStyle/>
        <a:p>
          <a:pPr>
            <a:spcAft>
              <a:spcPts val="0"/>
            </a:spcAft>
          </a:pPr>
          <a:r>
            <a:rPr lang="zh-CN" altLang="en-US" sz="1400" b="0" dirty="0">
              <a:solidFill>
                <a:schemeClr val="tx1"/>
              </a:solidFill>
              <a:latin typeface="微软雅黑" panose="020B0503020204020204" pitchFamily="34" charset="-122"/>
              <a:ea typeface="微软雅黑" panose="020B0503020204020204" pitchFamily="34" charset="-122"/>
            </a:rPr>
            <a:t>把</a:t>
          </a:r>
          <a:r>
            <a:rPr lang="zh-CN" altLang="en-US" sz="1400" b="0" dirty="0">
              <a:solidFill>
                <a:srgbClr val="0000FF"/>
              </a:solidFill>
              <a:latin typeface="微软雅黑" panose="020B0503020204020204" pitchFamily="34" charset="-122"/>
              <a:ea typeface="微软雅黑" panose="020B0503020204020204" pitchFamily="34" charset="-122"/>
            </a:rPr>
            <a:t>控制层面</a:t>
          </a:r>
          <a:r>
            <a:rPr lang="zh-CN" altLang="en-US" sz="1400" b="0" dirty="0">
              <a:solidFill>
                <a:schemeClr val="tx1"/>
              </a:solidFill>
              <a:latin typeface="微软雅黑" panose="020B0503020204020204" pitchFamily="34" charset="-122"/>
              <a:ea typeface="微软雅黑" panose="020B0503020204020204" pitchFamily="34" charset="-122"/>
            </a:rPr>
            <a:t>和</a:t>
          </a:r>
          <a:r>
            <a:rPr lang="zh-CN" altLang="en-US" sz="1400" b="0" dirty="0">
              <a:solidFill>
                <a:srgbClr val="0000FF"/>
              </a:solidFill>
              <a:latin typeface="微软雅黑" panose="020B0503020204020204" pitchFamily="34" charset="-122"/>
              <a:ea typeface="微软雅黑" panose="020B0503020204020204" pitchFamily="34" charset="-122"/>
            </a:rPr>
            <a:t>数据层面</a:t>
          </a:r>
          <a:r>
            <a:rPr lang="zh-CN" altLang="en-US" sz="1400" b="0" dirty="0">
              <a:solidFill>
                <a:srgbClr val="C00000"/>
              </a:solidFill>
              <a:latin typeface="微软雅黑" panose="020B0503020204020204" pitchFamily="34" charset="-122"/>
              <a:ea typeface="微软雅黑" panose="020B0503020204020204" pitchFamily="34" charset="-122"/>
            </a:rPr>
            <a:t>分离，</a:t>
          </a:r>
          <a:r>
            <a:rPr lang="zh-CN" altLang="en-US" sz="1400" b="0" dirty="0">
              <a:latin typeface="微软雅黑" panose="020B0503020204020204" pitchFamily="34" charset="-122"/>
              <a:ea typeface="微软雅黑" panose="020B0503020204020204" pitchFamily="34" charset="-122"/>
            </a:rPr>
            <a:t>而让控制层面</a:t>
          </a:r>
          <a:r>
            <a:rPr lang="zh-CN" altLang="en-US" sz="1400" b="0" dirty="0">
              <a:solidFill>
                <a:srgbClr val="C00000"/>
              </a:solidFill>
              <a:latin typeface="微软雅黑" panose="020B0503020204020204" pitchFamily="34" charset="-122"/>
              <a:ea typeface="微软雅黑" panose="020B0503020204020204" pitchFamily="34" charset="-122"/>
            </a:rPr>
            <a:t>利用软件</a:t>
          </a:r>
          <a:r>
            <a:rPr lang="zh-CN" altLang="en-US" sz="1400" b="0" dirty="0">
              <a:solidFill>
                <a:srgbClr val="0000FF"/>
              </a:solidFill>
              <a:latin typeface="微软雅黑" panose="020B0503020204020204" pitchFamily="34" charset="-122"/>
              <a:ea typeface="微软雅黑" panose="020B0503020204020204" pitchFamily="34" charset="-122"/>
            </a:rPr>
            <a:t>控制</a:t>
          </a:r>
          <a:r>
            <a:rPr lang="zh-CN" altLang="en-US" sz="1400" b="0" dirty="0">
              <a:latin typeface="微软雅黑" panose="020B0503020204020204" pitchFamily="34" charset="-122"/>
              <a:ea typeface="微软雅黑" panose="020B0503020204020204" pitchFamily="34" charset="-122"/>
            </a:rPr>
            <a:t>数据层面中的许多设备。</a:t>
          </a:r>
        </a:p>
      </dgm:t>
    </dgm:pt>
    <dgm:pt modelId="{391EB9A4-3860-4C75-B5FA-C5A625F7D484}" type="par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22B8AFC6-C448-4A2D-8799-F021A978A537}" type="sib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AA16250-CD1E-4D72-BB65-F717DC30B48F}">
      <dgm:prSet phldrT="[文本]" custT="1"/>
      <dgm:spPr/>
      <dgm:t>
        <a:bodyPr/>
        <a:lstStyle/>
        <a:p>
          <a:r>
            <a:rPr lang="en-US" altLang="zh-CN" sz="1800" b="1" dirty="0" err="1">
              <a:solidFill>
                <a:srgbClr val="0000CC"/>
              </a:solidFill>
              <a:latin typeface="微软雅黑" panose="020B0503020204020204" pitchFamily="34" charset="-122"/>
              <a:ea typeface="微软雅黑" panose="020B0503020204020204" pitchFamily="34" charset="-122"/>
            </a:rPr>
            <a:t>OpenFlow</a:t>
          </a:r>
          <a:endParaRPr lang="zh-CN" altLang="en-US" sz="1800" b="1" dirty="0">
            <a:solidFill>
              <a:srgbClr val="0000CC"/>
            </a:solidFill>
            <a:latin typeface="微软雅黑" panose="020B0503020204020204" pitchFamily="34" charset="-122"/>
            <a:ea typeface="微软雅黑" panose="020B0503020204020204" pitchFamily="34" charset="-122"/>
          </a:endParaRPr>
        </a:p>
      </dgm:t>
    </dgm:pt>
    <dgm:pt modelId="{EC3331E7-A551-4472-847B-BA00CA0EB852}" type="par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10F3F05-CD84-4A1B-BDC4-701D75C6400A}" type="sib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C64E32E3-7489-4BE5-BE96-0A66B49F7C7C}">
      <dgm:prSet phldrT="[文本]" custT="1"/>
      <dgm:spPr/>
      <dgm:t>
        <a:bodyPr/>
        <a:lstStyle/>
        <a:p>
          <a:pPr>
            <a:spcAft>
              <a:spcPts val="0"/>
            </a:spcAft>
          </a:pP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体系结构中控制层面和数据层面之间的</a:t>
          </a:r>
          <a:r>
            <a:rPr lang="zh-CN" altLang="en-US" sz="1400" b="0" dirty="0">
              <a:solidFill>
                <a:srgbClr val="C00000"/>
              </a:solidFill>
              <a:latin typeface="微软雅黑" panose="020B0503020204020204" pitchFamily="34" charset="-122"/>
              <a:ea typeface="微软雅黑" panose="020B0503020204020204" pitchFamily="34" charset="-122"/>
            </a:rPr>
            <a:t>通信接口。</a:t>
          </a:r>
        </a:p>
      </dgm:t>
    </dgm:pt>
    <dgm:pt modelId="{14A66DC3-6A24-4808-9C58-6D992E1C3957}" type="par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0CEC0CF-DDBB-4731-8B03-66D0B2C76B1F}" type="sib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AE228D1-650D-492F-9CFA-149583110835}">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dirty="0">
              <a:solidFill>
                <a:srgbClr val="C00000"/>
              </a:solidFill>
              <a:latin typeface="微软雅黑" panose="020B0503020204020204" pitchFamily="34" charset="-122"/>
              <a:ea typeface="微软雅黑" panose="020B0503020204020204" pitchFamily="34" charset="-122"/>
            </a:rPr>
            <a:t>直接</a:t>
          </a:r>
          <a:r>
            <a:rPr lang="zh-CN" altLang="en-US" sz="1400" b="0" dirty="0">
              <a:latin typeface="微软雅黑" panose="020B0503020204020204" pitchFamily="34" charset="-122"/>
              <a:ea typeface="微软雅黑" panose="020B0503020204020204" pitchFamily="34" charset="-122"/>
            </a:rPr>
            <a:t>访问和操纵。</a:t>
          </a:r>
        </a:p>
      </dgm:t>
    </dgm:pt>
    <dgm:pt modelId="{830A9A1B-188D-4195-805A-CA5EDEE1088D}" type="parTrans" cxnId="{E5EB32B7-1F72-49E1-BD4C-A7A32B148827}">
      <dgm:prSet/>
      <dgm:spPr/>
      <dgm:t>
        <a:bodyPr/>
        <a:lstStyle/>
        <a:p>
          <a:endParaRPr lang="zh-CN" altLang="en-US" sz="1400"/>
        </a:p>
      </dgm:t>
    </dgm:pt>
    <dgm:pt modelId="{D02ACEFA-FB25-4555-9831-CFBE994CDECF}" type="sibTrans" cxnId="{E5EB32B7-1F72-49E1-BD4C-A7A32B148827}">
      <dgm:prSet/>
      <dgm:spPr/>
      <dgm:t>
        <a:bodyPr/>
        <a:lstStyle/>
        <a:p>
          <a:endParaRPr lang="zh-CN" altLang="en-US" sz="1400"/>
        </a:p>
      </dgm:t>
    </dgm:pt>
    <dgm:pt modelId="{F3B5F212-4DC3-49A6-A050-132FF7B50466}">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在逻辑上是</a:t>
          </a:r>
          <a:r>
            <a:rPr lang="zh-CN" altLang="en-US" sz="1400" b="0" dirty="0">
              <a:solidFill>
                <a:srgbClr val="C00000"/>
              </a:solidFill>
              <a:latin typeface="微软雅黑" panose="020B0503020204020204" pitchFamily="34" charset="-122"/>
              <a:ea typeface="微软雅黑" panose="020B0503020204020204" pitchFamily="34" charset="-122"/>
            </a:rPr>
            <a:t>集中式</a:t>
          </a:r>
          <a:r>
            <a:rPr lang="zh-CN" altLang="en-US" sz="1400" b="0" dirty="0">
              <a:latin typeface="微软雅黑" panose="020B0503020204020204" pitchFamily="34" charset="-122"/>
              <a:ea typeface="微软雅黑" panose="020B0503020204020204" pitchFamily="34" charset="-122"/>
            </a:rPr>
            <a:t>的、</a:t>
          </a:r>
          <a:r>
            <a:rPr lang="zh-CN" altLang="en-US" sz="1400" b="0" dirty="0">
              <a:solidFill>
                <a:srgbClr val="C00000"/>
              </a:solidFill>
              <a:latin typeface="微软雅黑" panose="020B0503020204020204" pitchFamily="34" charset="-122"/>
              <a:ea typeface="微软雅黑" panose="020B0503020204020204" pitchFamily="34" charset="-122"/>
            </a:rPr>
            <a:t>基于流</a:t>
          </a:r>
          <a:r>
            <a:rPr lang="zh-CN" altLang="en-US" sz="1400" b="0" dirty="0">
              <a:latin typeface="微软雅黑" panose="020B0503020204020204" pitchFamily="34" charset="-122"/>
              <a:ea typeface="微软雅黑" panose="020B0503020204020204" pitchFamily="34" charset="-122"/>
            </a:rPr>
            <a:t>的。</a:t>
          </a:r>
        </a:p>
      </dgm:t>
    </dgm:pt>
    <dgm:pt modelId="{91B47B97-5167-4999-902E-79E2079E222C}" type="parTrans" cxnId="{B9E6440F-B9D8-497D-A6B6-C2745C1ED892}">
      <dgm:prSet/>
      <dgm:spPr/>
      <dgm:t>
        <a:bodyPr/>
        <a:lstStyle/>
        <a:p>
          <a:endParaRPr lang="zh-CN" altLang="en-US" sz="1400"/>
        </a:p>
      </dgm:t>
    </dgm:pt>
    <dgm:pt modelId="{EA26118C-98CD-4C73-BAEF-CB97F2569B5E}" type="sibTrans" cxnId="{B9E6440F-B9D8-497D-A6B6-C2745C1ED892}">
      <dgm:prSet/>
      <dgm:spPr/>
      <dgm:t>
        <a:bodyPr/>
        <a:lstStyle/>
        <a:p>
          <a:endParaRPr lang="zh-CN" altLang="en-US" sz="1400"/>
        </a:p>
      </dgm:t>
    </dgm:pt>
    <dgm:pt modelId="{AFB7E455-428C-4A0F-992C-629F9DA528A4}" type="pres">
      <dgm:prSet presAssocID="{507CF620-754C-42AA-B6D7-6E532B46496D}" presName="linear" presStyleCnt="0">
        <dgm:presLayoutVars>
          <dgm:dir/>
          <dgm:animLvl val="lvl"/>
          <dgm:resizeHandles val="exact"/>
        </dgm:presLayoutVars>
      </dgm:prSet>
      <dgm:spPr/>
    </dgm:pt>
    <dgm:pt modelId="{21C46C9B-7934-49C2-90CF-686CD588AD24}" type="pres">
      <dgm:prSet presAssocID="{E2D531EB-AB54-494E-9C1E-4C30D2113C22}" presName="parentLin" presStyleCnt="0"/>
      <dgm:spPr/>
    </dgm:pt>
    <dgm:pt modelId="{3532B21B-9813-41B4-9683-FF842EF22363}" type="pres">
      <dgm:prSet presAssocID="{E2D531EB-AB54-494E-9C1E-4C30D2113C22}" presName="parentLeftMargin" presStyleLbl="node1" presStyleIdx="0" presStyleCnt="2"/>
      <dgm:spPr/>
    </dgm:pt>
    <dgm:pt modelId="{08B5982C-5C29-4138-B12D-B1193F279CC1}" type="pres">
      <dgm:prSet presAssocID="{E2D531EB-AB54-494E-9C1E-4C30D2113C22}" presName="parentText" presStyleLbl="node1" presStyleIdx="0" presStyleCnt="2">
        <dgm:presLayoutVars>
          <dgm:chMax val="0"/>
          <dgm:bulletEnabled val="1"/>
        </dgm:presLayoutVars>
      </dgm:prSet>
      <dgm:spPr/>
    </dgm:pt>
    <dgm:pt modelId="{D4FE3960-E739-4C8C-BB91-934C55FB02C1}" type="pres">
      <dgm:prSet presAssocID="{E2D531EB-AB54-494E-9C1E-4C30D2113C22}" presName="negativeSpace" presStyleCnt="0"/>
      <dgm:spPr/>
    </dgm:pt>
    <dgm:pt modelId="{59A3D657-23B2-4553-AB55-365AF4AD92FC}" type="pres">
      <dgm:prSet presAssocID="{E2D531EB-AB54-494E-9C1E-4C30D2113C22}" presName="childText" presStyleLbl="conFgAcc1" presStyleIdx="0" presStyleCnt="2">
        <dgm:presLayoutVars>
          <dgm:bulletEnabled val="1"/>
        </dgm:presLayoutVars>
      </dgm:prSet>
      <dgm:spPr/>
    </dgm:pt>
    <dgm:pt modelId="{BF6BEC27-1E1E-441A-86C6-71C70AD619AE}" type="pres">
      <dgm:prSet presAssocID="{56EA74CD-3BAB-4DA8-B288-8D367F33563E}" presName="spaceBetweenRectangles" presStyleCnt="0"/>
      <dgm:spPr/>
    </dgm:pt>
    <dgm:pt modelId="{44061F98-C3D6-44C6-91CD-5583301AB560}" type="pres">
      <dgm:prSet presAssocID="{DAA16250-CD1E-4D72-BB65-F717DC30B48F}" presName="parentLin" presStyleCnt="0"/>
      <dgm:spPr/>
    </dgm:pt>
    <dgm:pt modelId="{5E0995F6-5D0E-466D-8876-7344AA812E34}" type="pres">
      <dgm:prSet presAssocID="{DAA16250-CD1E-4D72-BB65-F717DC30B48F}" presName="parentLeftMargin" presStyleLbl="node1" presStyleIdx="0" presStyleCnt="2"/>
      <dgm:spPr/>
    </dgm:pt>
    <dgm:pt modelId="{35AC4BD2-1828-4C40-9426-ADEA8908391D}" type="pres">
      <dgm:prSet presAssocID="{DAA16250-CD1E-4D72-BB65-F717DC30B48F}" presName="parentText" presStyleLbl="node1" presStyleIdx="1" presStyleCnt="2">
        <dgm:presLayoutVars>
          <dgm:chMax val="0"/>
          <dgm:bulletEnabled val="1"/>
        </dgm:presLayoutVars>
      </dgm:prSet>
      <dgm:spPr/>
    </dgm:pt>
    <dgm:pt modelId="{C5104255-B2A2-46DD-9C0E-385FD72891D3}" type="pres">
      <dgm:prSet presAssocID="{DAA16250-CD1E-4D72-BB65-F717DC30B48F}" presName="negativeSpace" presStyleCnt="0"/>
      <dgm:spPr/>
    </dgm:pt>
    <dgm:pt modelId="{6DBB5C1B-B5D3-489B-9520-25CF774BF611}" type="pres">
      <dgm:prSet presAssocID="{DAA16250-CD1E-4D72-BB65-F717DC30B48F}" presName="childText" presStyleLbl="conFgAcc1" presStyleIdx="1" presStyleCnt="2">
        <dgm:presLayoutVars>
          <dgm:bulletEnabled val="1"/>
        </dgm:presLayoutVars>
      </dgm:prSet>
      <dgm:spPr/>
    </dgm:pt>
  </dgm:ptLst>
  <dgm:cxnLst>
    <dgm:cxn modelId="{9D6B860D-0E14-4CC8-A428-362BB1799C68}" type="presOf" srcId="{DAA16250-CD1E-4D72-BB65-F717DC30B48F}" destId="{5E0995F6-5D0E-466D-8876-7344AA812E34}" srcOrd="0" destOrd="0" presId="urn:microsoft.com/office/officeart/2005/8/layout/list1"/>
    <dgm:cxn modelId="{B9E6440F-B9D8-497D-A6B6-C2745C1ED892}" srcId="{DAA16250-CD1E-4D72-BB65-F717DC30B48F}" destId="{F3B5F212-4DC3-49A6-A050-132FF7B50466}" srcOrd="2" destOrd="0" parTransId="{91B47B97-5167-4999-902E-79E2079E222C}" sibTransId="{EA26118C-98CD-4C73-BAEF-CB97F2569B5E}"/>
    <dgm:cxn modelId="{42BBB35B-3932-4FBA-9751-F9F466C19E30}" type="presOf" srcId="{93C5C89E-14AA-4071-98C1-AD449E0D1A5F}" destId="{59A3D657-23B2-4553-AB55-365AF4AD92FC}" srcOrd="0" destOrd="1" presId="urn:microsoft.com/office/officeart/2005/8/layout/list1"/>
    <dgm:cxn modelId="{95112D60-FCEF-4A6B-898C-81DF670D99D3}" type="presOf" srcId="{C64E32E3-7489-4BE5-BE96-0A66B49F7C7C}" destId="{6DBB5C1B-B5D3-489B-9520-25CF774BF611}" srcOrd="0" destOrd="0" presId="urn:microsoft.com/office/officeart/2005/8/layout/list1"/>
    <dgm:cxn modelId="{46A21861-9C4D-4EBB-BE53-C88A9997E30D}" srcId="{E2D531EB-AB54-494E-9C1E-4C30D2113C22}" destId="{93C5C89E-14AA-4071-98C1-AD449E0D1A5F}" srcOrd="1" destOrd="0" parTransId="{391EB9A4-3860-4C75-B5FA-C5A625F7D484}" sibTransId="{22B8AFC6-C448-4A2D-8799-F021A978A537}"/>
    <dgm:cxn modelId="{6A825066-EC95-48B5-93E0-4891291DE14F}" type="presOf" srcId="{DAA16250-CD1E-4D72-BB65-F717DC30B48F}" destId="{35AC4BD2-1828-4C40-9426-ADEA8908391D}" srcOrd="1" destOrd="0" presId="urn:microsoft.com/office/officeart/2005/8/layout/list1"/>
    <dgm:cxn modelId="{5F9A4C67-D08B-4F85-810B-EB9EEE0D0BC2}" type="presOf" srcId="{E2D531EB-AB54-494E-9C1E-4C30D2113C22}" destId="{08B5982C-5C29-4138-B12D-B1193F279CC1}" srcOrd="1" destOrd="0" presId="urn:microsoft.com/office/officeart/2005/8/layout/list1"/>
    <dgm:cxn modelId="{C5CFE188-6DB5-480D-A87D-9D9FF73C082C}" type="presOf" srcId="{BAE228D1-650D-492F-9CFA-149583110835}" destId="{6DBB5C1B-B5D3-489B-9520-25CF774BF611}" srcOrd="0" destOrd="1" presId="urn:microsoft.com/office/officeart/2005/8/layout/list1"/>
    <dgm:cxn modelId="{AF2C3A8A-234A-4580-A3A4-B75A436B1397}" type="presOf" srcId="{E2D531EB-AB54-494E-9C1E-4C30D2113C22}" destId="{3532B21B-9813-41B4-9683-FF842EF22363}" srcOrd="0" destOrd="0" presId="urn:microsoft.com/office/officeart/2005/8/layout/list1"/>
    <dgm:cxn modelId="{D466629A-CCF5-40B6-905B-D359772974E3}" type="presOf" srcId="{BCEA250F-A938-4832-8A35-1F6531FC8D25}" destId="{59A3D657-23B2-4553-AB55-365AF4AD92FC}" srcOrd="0" destOrd="0" presId="urn:microsoft.com/office/officeart/2005/8/layout/list1"/>
    <dgm:cxn modelId="{E5EB32B7-1F72-49E1-BD4C-A7A32B148827}" srcId="{DAA16250-CD1E-4D72-BB65-F717DC30B48F}" destId="{BAE228D1-650D-492F-9CFA-149583110835}" srcOrd="1" destOrd="0" parTransId="{830A9A1B-188D-4195-805A-CA5EDEE1088D}" sibTransId="{D02ACEFA-FB25-4555-9831-CFBE994CDECF}"/>
    <dgm:cxn modelId="{8E2021C0-CD78-4050-9460-52A1436A3A4F}" srcId="{507CF620-754C-42AA-B6D7-6E532B46496D}" destId="{DAA16250-CD1E-4D72-BB65-F717DC30B48F}" srcOrd="1" destOrd="0" parTransId="{EC3331E7-A551-4472-847B-BA00CA0EB852}" sibTransId="{E10F3F05-CD84-4A1B-BDC4-701D75C6400A}"/>
    <dgm:cxn modelId="{7EEB46C1-0061-467B-B4CB-0A4B7385BC8B}" type="presOf" srcId="{507CF620-754C-42AA-B6D7-6E532B46496D}" destId="{AFB7E455-428C-4A0F-992C-629F9DA528A4}" srcOrd="0" destOrd="0" presId="urn:microsoft.com/office/officeart/2005/8/layout/list1"/>
    <dgm:cxn modelId="{F51027CC-FC97-496C-82EF-F10BDC823C37}" srcId="{E2D531EB-AB54-494E-9C1E-4C30D2113C22}" destId="{BCEA250F-A938-4832-8A35-1F6531FC8D25}" srcOrd="0" destOrd="0" parTransId="{855D1AA7-0014-42D1-AB55-0512522635CF}" sibTransId="{1F3824E0-260D-44AF-A6A0-AF20B4EAB600}"/>
    <dgm:cxn modelId="{3D990FE7-B784-4266-9459-DD4F755F3900}" srcId="{507CF620-754C-42AA-B6D7-6E532B46496D}" destId="{E2D531EB-AB54-494E-9C1E-4C30D2113C22}" srcOrd="0" destOrd="0" parTransId="{BE246D6D-5FC4-4574-ADA4-F9DF70A01C22}" sibTransId="{56EA74CD-3BAB-4DA8-B288-8D367F33563E}"/>
    <dgm:cxn modelId="{03DB05EC-4D94-4E20-A89D-485856CEDD61}" srcId="{DAA16250-CD1E-4D72-BB65-F717DC30B48F}" destId="{C64E32E3-7489-4BE5-BE96-0A66B49F7C7C}" srcOrd="0" destOrd="0" parTransId="{14A66DC3-6A24-4808-9C58-6D992E1C3957}" sibTransId="{70CEC0CF-DDBB-4731-8B03-66D0B2C76B1F}"/>
    <dgm:cxn modelId="{0B0DA9FC-0CD9-4A96-A10A-EAEF241801FE}" type="presOf" srcId="{F3B5F212-4DC3-49A6-A050-132FF7B50466}" destId="{6DBB5C1B-B5D3-489B-9520-25CF774BF611}" srcOrd="0" destOrd="2" presId="urn:microsoft.com/office/officeart/2005/8/layout/list1"/>
    <dgm:cxn modelId="{18915AF6-5909-4B39-8CC5-C52925E71747}" type="presParOf" srcId="{AFB7E455-428C-4A0F-992C-629F9DA528A4}" destId="{21C46C9B-7934-49C2-90CF-686CD588AD24}" srcOrd="0" destOrd="0" presId="urn:microsoft.com/office/officeart/2005/8/layout/list1"/>
    <dgm:cxn modelId="{DA1C6F3D-61E4-4AC2-8C31-F64605F21A9F}" type="presParOf" srcId="{21C46C9B-7934-49C2-90CF-686CD588AD24}" destId="{3532B21B-9813-41B4-9683-FF842EF22363}" srcOrd="0" destOrd="0" presId="urn:microsoft.com/office/officeart/2005/8/layout/list1"/>
    <dgm:cxn modelId="{69926C88-43C4-48E7-9B1F-325DED9CEE3D}" type="presParOf" srcId="{21C46C9B-7934-49C2-90CF-686CD588AD24}" destId="{08B5982C-5C29-4138-B12D-B1193F279CC1}" srcOrd="1" destOrd="0" presId="urn:microsoft.com/office/officeart/2005/8/layout/list1"/>
    <dgm:cxn modelId="{332E3102-8DC4-48E3-9BDC-E3C4E4B64F57}" type="presParOf" srcId="{AFB7E455-428C-4A0F-992C-629F9DA528A4}" destId="{D4FE3960-E739-4C8C-BB91-934C55FB02C1}" srcOrd="1" destOrd="0" presId="urn:microsoft.com/office/officeart/2005/8/layout/list1"/>
    <dgm:cxn modelId="{4E18FB82-A1FF-4B7A-81D3-6908B63D0AC9}" type="presParOf" srcId="{AFB7E455-428C-4A0F-992C-629F9DA528A4}" destId="{59A3D657-23B2-4553-AB55-365AF4AD92FC}" srcOrd="2" destOrd="0" presId="urn:microsoft.com/office/officeart/2005/8/layout/list1"/>
    <dgm:cxn modelId="{682F0B1C-40EB-45F7-8322-E9E4C9C2072E}" type="presParOf" srcId="{AFB7E455-428C-4A0F-992C-629F9DA528A4}" destId="{BF6BEC27-1E1E-441A-86C6-71C70AD619AE}" srcOrd="3" destOrd="0" presId="urn:microsoft.com/office/officeart/2005/8/layout/list1"/>
    <dgm:cxn modelId="{396F96E6-F99C-4923-83B3-D5B412B2A49E}" type="presParOf" srcId="{AFB7E455-428C-4A0F-992C-629F9DA528A4}" destId="{44061F98-C3D6-44C6-91CD-5583301AB560}" srcOrd="4" destOrd="0" presId="urn:microsoft.com/office/officeart/2005/8/layout/list1"/>
    <dgm:cxn modelId="{439A51C0-DFF6-48D9-8B9A-D40B233796A6}" type="presParOf" srcId="{44061F98-C3D6-44C6-91CD-5583301AB560}" destId="{5E0995F6-5D0E-466D-8876-7344AA812E34}" srcOrd="0" destOrd="0" presId="urn:microsoft.com/office/officeart/2005/8/layout/list1"/>
    <dgm:cxn modelId="{905D11AA-77C5-42B8-9E27-B47DF10C6DBC}" type="presParOf" srcId="{44061F98-C3D6-44C6-91CD-5583301AB560}" destId="{35AC4BD2-1828-4C40-9426-ADEA8908391D}" srcOrd="1" destOrd="0" presId="urn:microsoft.com/office/officeart/2005/8/layout/list1"/>
    <dgm:cxn modelId="{B5828484-1869-45BA-955A-A4A7404C55DD}" type="presParOf" srcId="{AFB7E455-428C-4A0F-992C-629F9DA528A4}" destId="{C5104255-B2A2-46DD-9C0E-385FD72891D3}" srcOrd="5" destOrd="0" presId="urn:microsoft.com/office/officeart/2005/8/layout/list1"/>
    <dgm:cxn modelId="{67A98BC3-5602-40F9-A63A-D27FAE7828F0}" type="presParOf" srcId="{AFB7E455-428C-4A0F-992C-629F9DA528A4}" destId="{6DBB5C1B-B5D3-489B-9520-25CF774BF611}"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5C5DE803-CAA9-4D5F-AEE5-F9AF215821D3}" type="doc">
      <dgm:prSet loTypeId="urn:microsoft.com/office/officeart/2008/layout/VerticalCurvedList" loCatId="list" qsTypeId="urn:microsoft.com/office/officeart/2005/8/quickstyle/simple3" qsCatId="simple" csTypeId="urn:microsoft.com/office/officeart/2005/8/colors/colorful5" csCatId="colorful" phldr="1"/>
      <dgm:spPr/>
      <dgm:t>
        <a:bodyPr/>
        <a:lstStyle/>
        <a:p>
          <a:endParaRPr lang="zh-CN" altLang="en-US"/>
        </a:p>
      </dgm:t>
    </dgm:pt>
    <dgm:pt modelId="{6123DA5E-4CB5-4CD5-ACB7-992D49046590}">
      <dgm:prSet phldrT="[文本]" custT="1"/>
      <dgm:spPr/>
      <dgm:t>
        <a:bodyPr/>
        <a:lstStyle/>
        <a:p>
          <a:r>
            <a:rPr lang="zh-CN" altLang="en-US" sz="1400" b="0" dirty="0">
              <a:latin typeface="微软雅黑" panose="020B0503020204020204" pitchFamily="34" charset="-122"/>
              <a:ea typeface="微软雅黑" panose="020B0503020204020204" pitchFamily="34" charset="-122"/>
            </a:rPr>
            <a:t>基于流的转发。流表规定转发规则</a:t>
          </a:r>
        </a:p>
      </dgm:t>
    </dgm:pt>
    <dgm:pt modelId="{6CE172C9-9B24-43F7-9C0B-4D632E4522C8}" type="par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A597E6D3-74F3-4847-B5CE-BA23F7D2E699}" type="sib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C65F29AA-013A-4BC2-BE7C-71498B676318}">
      <dgm:prSet phldrT="[文本]" custT="1"/>
      <dgm:spPr/>
      <dgm:t>
        <a:bodyPr/>
        <a:lstStyle/>
        <a:p>
          <a:r>
            <a:rPr lang="zh-CN" altLang="en-US" sz="1400" b="0" dirty="0">
              <a:latin typeface="微软雅黑" panose="020B0503020204020204" pitchFamily="34" charset="-122"/>
              <a:ea typeface="微软雅黑" panose="020B0503020204020204" pitchFamily="34" charset="-122"/>
            </a:rPr>
            <a:t>数据层面与控制层面分离。二者不在同一个设备中</a:t>
          </a:r>
        </a:p>
      </dgm:t>
    </dgm:pt>
    <dgm:pt modelId="{DB3F4A5C-F70A-44C3-B32F-AB78CEAB21B7}" type="par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30507C28-B4D6-4D36-9957-A956330DF920}" type="sib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9A65616D-E3DD-41E5-99BE-605144920596}">
      <dgm:prSet phldrT="[文本]" custT="1"/>
      <dgm:spPr/>
      <dgm:t>
        <a:bodyPr/>
        <a:lstStyle/>
        <a:p>
          <a:r>
            <a:rPr lang="zh-CN" altLang="en-US" sz="1400" b="0" dirty="0">
              <a:latin typeface="微软雅黑" panose="020B0503020204020204" pitchFamily="34" charset="-122"/>
              <a:ea typeface="微软雅黑" panose="020B0503020204020204" pitchFamily="34" charset="-122"/>
            </a:rPr>
            <a:t>网络控制功能位于数据层面交换机之外，用软件实现</a:t>
          </a:r>
        </a:p>
      </dgm:t>
    </dgm:pt>
    <dgm:pt modelId="{4B020BB7-A13F-4E37-BED2-6CCAA4A2D58F}" type="par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5E6E51CB-D032-49AD-941A-DA0D26EB5B39}" type="sib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B7337D2B-536A-4EE6-B7CE-84C53B52301D}">
      <dgm:prSet phldrT="[文本]" custT="1"/>
      <dgm:spPr/>
      <dgm:t>
        <a:bodyPr/>
        <a:lstStyle/>
        <a:p>
          <a:r>
            <a:rPr lang="zh-CN" altLang="en-US" sz="1400" b="0" dirty="0">
              <a:latin typeface="微软雅黑" panose="020B0503020204020204" pitchFamily="34" charset="-122"/>
              <a:ea typeface="微软雅黑" panose="020B0503020204020204" pitchFamily="34" charset="-122"/>
            </a:rPr>
            <a:t>可编程的网络</a:t>
          </a:r>
        </a:p>
      </dgm:t>
    </dgm:pt>
    <dgm:pt modelId="{A60F3012-47AD-4476-AE0F-0CC50CFA37F8}" type="parTrans" cxnId="{F0FDE1B1-4A67-45D8-B043-924EF6F8653F}">
      <dgm:prSet/>
      <dgm:spPr/>
      <dgm:t>
        <a:bodyPr/>
        <a:lstStyle/>
        <a:p>
          <a:endParaRPr lang="zh-CN" altLang="en-US" sz="1400" b="0"/>
        </a:p>
      </dgm:t>
    </dgm:pt>
    <dgm:pt modelId="{2976B025-A9BA-4A82-8665-CDE503C5ECC6}" type="sibTrans" cxnId="{F0FDE1B1-4A67-45D8-B043-924EF6F8653F}">
      <dgm:prSet/>
      <dgm:spPr/>
      <dgm:t>
        <a:bodyPr/>
        <a:lstStyle/>
        <a:p>
          <a:endParaRPr lang="zh-CN" altLang="en-US" sz="1400" b="0"/>
        </a:p>
      </dgm:t>
    </dgm:pt>
    <dgm:pt modelId="{1E608E95-33A3-4F7B-8D0A-EAD16C077CBB}" type="pres">
      <dgm:prSet presAssocID="{5C5DE803-CAA9-4D5F-AEE5-F9AF215821D3}" presName="Name0" presStyleCnt="0">
        <dgm:presLayoutVars>
          <dgm:chMax val="7"/>
          <dgm:chPref val="7"/>
          <dgm:dir/>
        </dgm:presLayoutVars>
      </dgm:prSet>
      <dgm:spPr/>
    </dgm:pt>
    <dgm:pt modelId="{C02CDC2A-B911-4EC1-AEE9-7B2CCF3A733A}" type="pres">
      <dgm:prSet presAssocID="{5C5DE803-CAA9-4D5F-AEE5-F9AF215821D3}" presName="Name1" presStyleCnt="0"/>
      <dgm:spPr/>
    </dgm:pt>
    <dgm:pt modelId="{EFA93ACA-B74D-4531-B043-94FBF4B7F1B6}" type="pres">
      <dgm:prSet presAssocID="{5C5DE803-CAA9-4D5F-AEE5-F9AF215821D3}" presName="cycle" presStyleCnt="0"/>
      <dgm:spPr/>
    </dgm:pt>
    <dgm:pt modelId="{5ED3F379-7863-4C21-B064-971B73F272EC}" type="pres">
      <dgm:prSet presAssocID="{5C5DE803-CAA9-4D5F-AEE5-F9AF215821D3}" presName="srcNode" presStyleLbl="node1" presStyleIdx="0" presStyleCnt="4"/>
      <dgm:spPr/>
    </dgm:pt>
    <dgm:pt modelId="{69B0D5C1-FC08-4682-A068-87E58ADD3967}" type="pres">
      <dgm:prSet presAssocID="{5C5DE803-CAA9-4D5F-AEE5-F9AF215821D3}" presName="conn" presStyleLbl="parChTrans1D2" presStyleIdx="0" presStyleCnt="1"/>
      <dgm:spPr/>
    </dgm:pt>
    <dgm:pt modelId="{90453F25-A84C-4968-A8FB-6E5ACC8D68BD}" type="pres">
      <dgm:prSet presAssocID="{5C5DE803-CAA9-4D5F-AEE5-F9AF215821D3}" presName="extraNode" presStyleLbl="node1" presStyleIdx="0" presStyleCnt="4"/>
      <dgm:spPr/>
    </dgm:pt>
    <dgm:pt modelId="{AD1E8A44-308F-451C-B4E7-59FF88CB7A46}" type="pres">
      <dgm:prSet presAssocID="{5C5DE803-CAA9-4D5F-AEE5-F9AF215821D3}" presName="dstNode" presStyleLbl="node1" presStyleIdx="0" presStyleCnt="4"/>
      <dgm:spPr/>
    </dgm:pt>
    <dgm:pt modelId="{4A029A32-0911-4750-B9B4-49D271EFA4E0}" type="pres">
      <dgm:prSet presAssocID="{6123DA5E-4CB5-4CD5-ACB7-992D49046590}" presName="text_1" presStyleLbl="node1" presStyleIdx="0" presStyleCnt="4">
        <dgm:presLayoutVars>
          <dgm:bulletEnabled val="1"/>
        </dgm:presLayoutVars>
      </dgm:prSet>
      <dgm:spPr/>
    </dgm:pt>
    <dgm:pt modelId="{5B578E24-2ACC-475C-96B0-8C0203EE80B1}" type="pres">
      <dgm:prSet presAssocID="{6123DA5E-4CB5-4CD5-ACB7-992D49046590}" presName="accent_1" presStyleCnt="0"/>
      <dgm:spPr/>
    </dgm:pt>
    <dgm:pt modelId="{C2D66341-6C1E-4BCC-8C84-A646950EFF77}" type="pres">
      <dgm:prSet presAssocID="{6123DA5E-4CB5-4CD5-ACB7-992D49046590}" presName="accentRepeatNode" presStyleLbl="solidFgAcc1" presStyleIdx="0"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F5F98171-0BBC-44BA-A385-25C4F93E716D}" type="pres">
      <dgm:prSet presAssocID="{C65F29AA-013A-4BC2-BE7C-71498B676318}" presName="text_2" presStyleLbl="node1" presStyleIdx="1" presStyleCnt="4">
        <dgm:presLayoutVars>
          <dgm:bulletEnabled val="1"/>
        </dgm:presLayoutVars>
      </dgm:prSet>
      <dgm:spPr/>
    </dgm:pt>
    <dgm:pt modelId="{E4EA13F8-30A9-4839-8224-F3FF5CDAB0E7}" type="pres">
      <dgm:prSet presAssocID="{C65F29AA-013A-4BC2-BE7C-71498B676318}" presName="accent_2" presStyleCnt="0"/>
      <dgm:spPr/>
    </dgm:pt>
    <dgm:pt modelId="{6BA4FFC2-2FE1-4DE8-AFAD-430C985B0E85}" type="pres">
      <dgm:prSet presAssocID="{C65F29AA-013A-4BC2-BE7C-71498B676318}" presName="accentRepeatNode" presStyleLbl="solidFgAcc1" presStyleIdx="1"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CD11EB12-0408-40BE-A5E0-D1CFC22DFC2E}" type="pres">
      <dgm:prSet presAssocID="{9A65616D-E3DD-41E5-99BE-605144920596}" presName="text_3" presStyleLbl="node1" presStyleIdx="2" presStyleCnt="4">
        <dgm:presLayoutVars>
          <dgm:bulletEnabled val="1"/>
        </dgm:presLayoutVars>
      </dgm:prSet>
      <dgm:spPr/>
    </dgm:pt>
    <dgm:pt modelId="{99B5A6F6-D82D-4782-AAA5-78FBF2EE0209}" type="pres">
      <dgm:prSet presAssocID="{9A65616D-E3DD-41E5-99BE-605144920596}" presName="accent_3" presStyleCnt="0"/>
      <dgm:spPr/>
    </dgm:pt>
    <dgm:pt modelId="{AA66A021-7549-4FCB-AE4D-4B546BB936CD}" type="pres">
      <dgm:prSet presAssocID="{9A65616D-E3DD-41E5-99BE-605144920596}" presName="accentRepeatNode" presStyleLbl="solidFgAcc1" presStyleIdx="2"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2B5470FC-E1D3-437D-A66F-B24660D1DB5E}" type="pres">
      <dgm:prSet presAssocID="{B7337D2B-536A-4EE6-B7CE-84C53B52301D}" presName="text_4" presStyleLbl="node1" presStyleIdx="3" presStyleCnt="4">
        <dgm:presLayoutVars>
          <dgm:bulletEnabled val="1"/>
        </dgm:presLayoutVars>
      </dgm:prSet>
      <dgm:spPr/>
    </dgm:pt>
    <dgm:pt modelId="{20484678-A99D-4ED1-93DB-56062813EC2E}" type="pres">
      <dgm:prSet presAssocID="{B7337D2B-536A-4EE6-B7CE-84C53B52301D}" presName="accent_4" presStyleCnt="0"/>
      <dgm:spPr/>
    </dgm:pt>
    <dgm:pt modelId="{3445C45D-2AA7-4DBC-A20C-73321A134B77}" type="pres">
      <dgm:prSet presAssocID="{B7337D2B-536A-4EE6-B7CE-84C53B52301D}" presName="accentRepeatNode" presStyleLbl="solidFgAcc1" presStyleIdx="3"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Lst>
  <dgm:cxnLst>
    <dgm:cxn modelId="{288FFE22-3DB2-435B-8E99-C384685ABCE3}" srcId="{5C5DE803-CAA9-4D5F-AEE5-F9AF215821D3}" destId="{C65F29AA-013A-4BC2-BE7C-71498B676318}" srcOrd="1" destOrd="0" parTransId="{DB3F4A5C-F70A-44C3-B32F-AB78CEAB21B7}" sibTransId="{30507C28-B4D6-4D36-9957-A956330DF920}"/>
    <dgm:cxn modelId="{59444C32-66B7-46EB-AB13-2956F0B780D8}" type="presOf" srcId="{9A65616D-E3DD-41E5-99BE-605144920596}" destId="{CD11EB12-0408-40BE-A5E0-D1CFC22DFC2E}" srcOrd="0" destOrd="0" presId="urn:microsoft.com/office/officeart/2008/layout/VerticalCurvedList"/>
    <dgm:cxn modelId="{6ACF774D-F406-4245-8F3C-19CC8A9A2173}" type="presOf" srcId="{C65F29AA-013A-4BC2-BE7C-71498B676318}" destId="{F5F98171-0BBC-44BA-A385-25C4F93E716D}" srcOrd="0" destOrd="0" presId="urn:microsoft.com/office/officeart/2008/layout/VerticalCurvedList"/>
    <dgm:cxn modelId="{FE80CC53-738E-4B62-9539-4B07E227CE19}" srcId="{5C5DE803-CAA9-4D5F-AEE5-F9AF215821D3}" destId="{9A65616D-E3DD-41E5-99BE-605144920596}" srcOrd="2" destOrd="0" parTransId="{4B020BB7-A13F-4E37-BED2-6CCAA4A2D58F}" sibTransId="{5E6E51CB-D032-49AD-941A-DA0D26EB5B39}"/>
    <dgm:cxn modelId="{B3080F7A-5576-4E40-98EE-01C9AA648E93}" type="presOf" srcId="{B7337D2B-536A-4EE6-B7CE-84C53B52301D}" destId="{2B5470FC-E1D3-437D-A66F-B24660D1DB5E}" srcOrd="0" destOrd="0" presId="urn:microsoft.com/office/officeart/2008/layout/VerticalCurvedList"/>
    <dgm:cxn modelId="{FC132387-288F-4493-B572-0A792E45BFCE}" type="presOf" srcId="{5C5DE803-CAA9-4D5F-AEE5-F9AF215821D3}" destId="{1E608E95-33A3-4F7B-8D0A-EAD16C077CBB}" srcOrd="0" destOrd="0" presId="urn:microsoft.com/office/officeart/2008/layout/VerticalCurvedList"/>
    <dgm:cxn modelId="{032543A3-5345-4B90-B288-2E58AA3ACFA6}" srcId="{5C5DE803-CAA9-4D5F-AEE5-F9AF215821D3}" destId="{6123DA5E-4CB5-4CD5-ACB7-992D49046590}" srcOrd="0" destOrd="0" parTransId="{6CE172C9-9B24-43F7-9C0B-4D632E4522C8}" sibTransId="{A597E6D3-74F3-4847-B5CE-BA23F7D2E699}"/>
    <dgm:cxn modelId="{F0FDE1B1-4A67-45D8-B043-924EF6F8653F}" srcId="{5C5DE803-CAA9-4D5F-AEE5-F9AF215821D3}" destId="{B7337D2B-536A-4EE6-B7CE-84C53B52301D}" srcOrd="3" destOrd="0" parTransId="{A60F3012-47AD-4476-AE0F-0CC50CFA37F8}" sibTransId="{2976B025-A9BA-4A82-8665-CDE503C5ECC6}"/>
    <dgm:cxn modelId="{F2A66EBE-DCB2-4AA1-8337-923791308915}" type="presOf" srcId="{6123DA5E-4CB5-4CD5-ACB7-992D49046590}" destId="{4A029A32-0911-4750-B9B4-49D271EFA4E0}" srcOrd="0" destOrd="0" presId="urn:microsoft.com/office/officeart/2008/layout/VerticalCurvedList"/>
    <dgm:cxn modelId="{0443FAFB-1879-4632-8EE1-4FDED9088899}" type="presOf" srcId="{A597E6D3-74F3-4847-B5CE-BA23F7D2E699}" destId="{69B0D5C1-FC08-4682-A068-87E58ADD3967}" srcOrd="0" destOrd="0" presId="urn:microsoft.com/office/officeart/2008/layout/VerticalCurvedList"/>
    <dgm:cxn modelId="{1F742EC7-AB8C-4040-B571-C6E7EB018A5B}" type="presParOf" srcId="{1E608E95-33A3-4F7B-8D0A-EAD16C077CBB}" destId="{C02CDC2A-B911-4EC1-AEE9-7B2CCF3A733A}" srcOrd="0" destOrd="0" presId="urn:microsoft.com/office/officeart/2008/layout/VerticalCurvedList"/>
    <dgm:cxn modelId="{5DC1C32A-3058-4B2F-9380-5D49C8F83B5F}" type="presParOf" srcId="{C02CDC2A-B911-4EC1-AEE9-7B2CCF3A733A}" destId="{EFA93ACA-B74D-4531-B043-94FBF4B7F1B6}" srcOrd="0" destOrd="0" presId="urn:microsoft.com/office/officeart/2008/layout/VerticalCurvedList"/>
    <dgm:cxn modelId="{C0595C36-C164-4688-94C4-32E140B8711D}" type="presParOf" srcId="{EFA93ACA-B74D-4531-B043-94FBF4B7F1B6}" destId="{5ED3F379-7863-4C21-B064-971B73F272EC}" srcOrd="0" destOrd="0" presId="urn:microsoft.com/office/officeart/2008/layout/VerticalCurvedList"/>
    <dgm:cxn modelId="{E45E8CCA-F630-48E0-AF78-58AE45E7E317}" type="presParOf" srcId="{EFA93ACA-B74D-4531-B043-94FBF4B7F1B6}" destId="{69B0D5C1-FC08-4682-A068-87E58ADD3967}" srcOrd="1" destOrd="0" presId="urn:microsoft.com/office/officeart/2008/layout/VerticalCurvedList"/>
    <dgm:cxn modelId="{B1DF779C-8143-4B31-AC06-726AB15CE215}" type="presParOf" srcId="{EFA93ACA-B74D-4531-B043-94FBF4B7F1B6}" destId="{90453F25-A84C-4968-A8FB-6E5ACC8D68BD}" srcOrd="2" destOrd="0" presId="urn:microsoft.com/office/officeart/2008/layout/VerticalCurvedList"/>
    <dgm:cxn modelId="{0A6D522B-3433-439E-ADEF-69F548437F8C}" type="presParOf" srcId="{EFA93ACA-B74D-4531-B043-94FBF4B7F1B6}" destId="{AD1E8A44-308F-451C-B4E7-59FF88CB7A46}" srcOrd="3" destOrd="0" presId="urn:microsoft.com/office/officeart/2008/layout/VerticalCurvedList"/>
    <dgm:cxn modelId="{52D64DE7-F297-484A-A52F-1A5784D21497}" type="presParOf" srcId="{C02CDC2A-B911-4EC1-AEE9-7B2CCF3A733A}" destId="{4A029A32-0911-4750-B9B4-49D271EFA4E0}" srcOrd="1" destOrd="0" presId="urn:microsoft.com/office/officeart/2008/layout/VerticalCurvedList"/>
    <dgm:cxn modelId="{5D7A792C-71AA-4690-A242-0C6D13C7BEBC}" type="presParOf" srcId="{C02CDC2A-B911-4EC1-AEE9-7B2CCF3A733A}" destId="{5B578E24-2ACC-475C-96B0-8C0203EE80B1}" srcOrd="2" destOrd="0" presId="urn:microsoft.com/office/officeart/2008/layout/VerticalCurvedList"/>
    <dgm:cxn modelId="{AEECE7AA-1212-4474-83DC-DC34DC6F32F2}" type="presParOf" srcId="{5B578E24-2ACC-475C-96B0-8C0203EE80B1}" destId="{C2D66341-6C1E-4BCC-8C84-A646950EFF77}" srcOrd="0" destOrd="0" presId="urn:microsoft.com/office/officeart/2008/layout/VerticalCurvedList"/>
    <dgm:cxn modelId="{3A163285-ED1E-4CC1-BA1D-B1E52F3C4B96}" type="presParOf" srcId="{C02CDC2A-B911-4EC1-AEE9-7B2CCF3A733A}" destId="{F5F98171-0BBC-44BA-A385-25C4F93E716D}" srcOrd="3" destOrd="0" presId="urn:microsoft.com/office/officeart/2008/layout/VerticalCurvedList"/>
    <dgm:cxn modelId="{D3DF5174-11AB-4B29-80FE-7E446204ECC1}" type="presParOf" srcId="{C02CDC2A-B911-4EC1-AEE9-7B2CCF3A733A}" destId="{E4EA13F8-30A9-4839-8224-F3FF5CDAB0E7}" srcOrd="4" destOrd="0" presId="urn:microsoft.com/office/officeart/2008/layout/VerticalCurvedList"/>
    <dgm:cxn modelId="{F13E9A65-7B37-4915-82A9-50A56A4466D5}" type="presParOf" srcId="{E4EA13F8-30A9-4839-8224-F3FF5CDAB0E7}" destId="{6BA4FFC2-2FE1-4DE8-AFAD-430C985B0E85}" srcOrd="0" destOrd="0" presId="urn:microsoft.com/office/officeart/2008/layout/VerticalCurvedList"/>
    <dgm:cxn modelId="{5CE7359A-853B-4FF2-A1A4-B82DEECA542A}" type="presParOf" srcId="{C02CDC2A-B911-4EC1-AEE9-7B2CCF3A733A}" destId="{CD11EB12-0408-40BE-A5E0-D1CFC22DFC2E}" srcOrd="5" destOrd="0" presId="urn:microsoft.com/office/officeart/2008/layout/VerticalCurvedList"/>
    <dgm:cxn modelId="{F19BE40A-DFE4-443F-868E-E2244E89FCAE}" type="presParOf" srcId="{C02CDC2A-B911-4EC1-AEE9-7B2CCF3A733A}" destId="{99B5A6F6-D82D-4782-AAA5-78FBF2EE0209}" srcOrd="6" destOrd="0" presId="urn:microsoft.com/office/officeart/2008/layout/VerticalCurvedList"/>
    <dgm:cxn modelId="{E3D83F82-D637-4E2C-8E38-ADF72F6AE401}" type="presParOf" srcId="{99B5A6F6-D82D-4782-AAA5-78FBF2EE0209}" destId="{AA66A021-7549-4FCB-AE4D-4B546BB936CD}" srcOrd="0" destOrd="0" presId="urn:microsoft.com/office/officeart/2008/layout/VerticalCurvedList"/>
    <dgm:cxn modelId="{20EBA661-4AEB-416D-99AA-0EF6C4D82B56}" type="presParOf" srcId="{C02CDC2A-B911-4EC1-AEE9-7B2CCF3A733A}" destId="{2B5470FC-E1D3-437D-A66F-B24660D1DB5E}" srcOrd="7" destOrd="0" presId="urn:microsoft.com/office/officeart/2008/layout/VerticalCurvedList"/>
    <dgm:cxn modelId="{78960E1D-B8C3-4D43-A983-59483B584228}" type="presParOf" srcId="{C02CDC2A-B911-4EC1-AEE9-7B2CCF3A733A}" destId="{20484678-A99D-4ED1-93DB-56062813EC2E}" srcOrd="8" destOrd="0" presId="urn:microsoft.com/office/officeart/2008/layout/VerticalCurvedList"/>
    <dgm:cxn modelId="{CD17E837-69DC-4F7E-968F-B68645EF8156}" type="presParOf" srcId="{20484678-A99D-4ED1-93DB-56062813EC2E}" destId="{3445C45D-2AA7-4DBC-A20C-73321A134B77}"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619A35B-6F76-4F5B-9866-62BEE8E1B43C}" type="doc">
      <dgm:prSet loTypeId="urn:microsoft.com/office/officeart/2005/8/layout/hList1" loCatId="list" qsTypeId="urn:microsoft.com/office/officeart/2005/8/quickstyle/simple1" qsCatId="simple" csTypeId="urn:microsoft.com/office/officeart/2005/8/colors/colorful1#10" csCatId="colorful" phldr="1"/>
      <dgm:spPr/>
      <dgm:t>
        <a:bodyPr/>
        <a:lstStyle/>
        <a:p>
          <a:endParaRPr lang="zh-CN" altLang="en-US"/>
        </a:p>
      </dgm:t>
    </dgm:pt>
    <dgm:pt modelId="{4A5FAA12-B526-40D6-A585-8F25D8E3B5CF}">
      <dgm:prSet phldrT="[文本]" custT="1"/>
      <dgm:spPr/>
      <dgm:t>
        <a:bodyPr/>
        <a:lstStyle/>
        <a:p>
          <a:pPr>
            <a:lnSpc>
              <a:spcPts val="2200"/>
            </a:lnSpc>
            <a:spcBef>
              <a:spcPts val="0"/>
            </a:spcBef>
            <a:spcAft>
              <a:spcPts val="0"/>
            </a:spcAft>
          </a:pPr>
          <a:r>
            <a:rPr lang="en-US" altLang="zh-CN" sz="1400" b="0" dirty="0">
              <a:latin typeface="微软雅黑" panose="020B0503020204020204" pitchFamily="34" charset="-122"/>
              <a:ea typeface="微软雅黑" panose="020B0503020204020204" pitchFamily="34" charset="-122"/>
            </a:rPr>
            <a:t>SDN</a:t>
          </a:r>
          <a:endParaRPr lang="zh-CN" altLang="en-US" sz="1400" b="0" dirty="0">
            <a:latin typeface="微软雅黑" panose="020B0503020204020204" pitchFamily="34" charset="-122"/>
            <a:ea typeface="微软雅黑" panose="020B0503020204020204" pitchFamily="34" charset="-122"/>
          </a:endParaRPr>
        </a:p>
      </dgm:t>
    </dgm:pt>
    <dgm:pt modelId="{BA4ABDAD-0A84-478F-BEF5-D89876B2358C}" type="par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A0348CB2-E5AF-4DF4-82BC-60A5461B27CB}" type="sib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C9BCE8A9-D041-4DBC-8845-482A3A7A396F}">
      <dgm:prSet phldrT="[文本]" custT="1"/>
      <dgm:spPr/>
      <dgm:t>
        <a:bodyPr/>
        <a:lstStyle/>
        <a:p>
          <a:pPr>
            <a:lnSpc>
              <a:spcPts val="3000"/>
            </a:lnSpc>
            <a:spcBef>
              <a:spcPts val="0"/>
            </a:spcBef>
            <a:spcAft>
              <a:spcPts val="0"/>
            </a:spcAft>
          </a:pPr>
          <a:r>
            <a:rPr lang="zh-CN" altLang="en-US" sz="1400" b="0" dirty="0">
              <a:solidFill>
                <a:schemeClr val="bg1"/>
              </a:solidFill>
              <a:latin typeface="微软雅黑" panose="020B0503020204020204" pitchFamily="34" charset="-122"/>
              <a:ea typeface="微软雅黑" panose="020B0503020204020204" pitchFamily="34" charset="-122"/>
            </a:rPr>
            <a:t>传统网络</a:t>
          </a:r>
        </a:p>
      </dgm:t>
    </dgm:pt>
    <dgm:pt modelId="{75079E22-3A7E-434C-9C6F-14CEDBD0380B}" type="par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B0BC9EB0-9E94-476B-A8E0-C9226E36D271}" type="sib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5DC11C9-1070-46F3-B350-64BDA7654B0D}">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功能分散。交换机、</a:t>
          </a: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控制器、网络控制应用程序都是可以分开的实体</a:t>
          </a:r>
        </a:p>
      </dgm:t>
    </dgm:pt>
    <dgm:pt modelId="{7C5E2CCC-FBB6-425F-A045-D5C8158DA352}" type="par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612D70B-DEDE-49B9-BD1E-9FFB595FDC9C}" type="sib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8EECE90E-A4C1-468D-A54F-862B71E4AE7A}">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控制层面、数据层面、协议的实现都垂直集成在一个机器里</a:t>
          </a:r>
        </a:p>
      </dgm:t>
    </dgm:pt>
    <dgm:pt modelId="{8420BA46-EAF0-453F-80DA-728C83A553A1}" type="par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422BFC9-7AEE-4057-8A48-6FA836731397}" type="sib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677AFE12-F6B5-41EE-82A2-0A5381CBB9FC}">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由单独的厂商提供</a:t>
          </a:r>
        </a:p>
      </dgm:t>
    </dgm:pt>
    <dgm:pt modelId="{54FC2272-A771-46A9-B03B-FD4BB75D0955}" type="parTrans" cxnId="{F2270C93-4F27-4E3F-A0E2-D2F288985849}">
      <dgm:prSet/>
      <dgm:spPr/>
      <dgm:t>
        <a:bodyPr/>
        <a:lstStyle/>
        <a:p>
          <a:pPr>
            <a:lnSpc>
              <a:spcPts val="2200"/>
            </a:lnSpc>
            <a:spcBef>
              <a:spcPts val="0"/>
            </a:spcBef>
            <a:spcAft>
              <a:spcPts val="0"/>
            </a:spcAft>
          </a:pPr>
          <a:endParaRPr lang="zh-CN" altLang="en-US"/>
        </a:p>
      </dgm:t>
    </dgm:pt>
    <dgm:pt modelId="{6A251A62-7170-4B78-8FCC-1920BEA35D59}" type="sibTrans" cxnId="{F2270C93-4F27-4E3F-A0E2-D2F288985849}">
      <dgm:prSet/>
      <dgm:spPr/>
      <dgm:t>
        <a:bodyPr/>
        <a:lstStyle/>
        <a:p>
          <a:pPr>
            <a:lnSpc>
              <a:spcPts val="2200"/>
            </a:lnSpc>
            <a:spcBef>
              <a:spcPts val="0"/>
            </a:spcBef>
            <a:spcAft>
              <a:spcPts val="0"/>
            </a:spcAft>
          </a:pPr>
          <a:endParaRPr lang="zh-CN" altLang="en-US"/>
        </a:p>
      </dgm:t>
    </dgm:pt>
    <dgm:pt modelId="{12F350A1-BAB6-49E7-A675-F34567C93BB3}">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可以由不同的厂商和机构来提供</a:t>
          </a:r>
        </a:p>
      </dgm:t>
    </dgm:pt>
    <dgm:pt modelId="{A7B5A7E3-3C11-449F-8CAA-FEAA6559AD5C}" type="parTrans" cxnId="{0822A5D8-2704-4CC0-B9A8-A9B7BC1EF476}">
      <dgm:prSet/>
      <dgm:spPr/>
      <dgm:t>
        <a:bodyPr/>
        <a:lstStyle/>
        <a:p>
          <a:endParaRPr lang="zh-CN" altLang="en-US"/>
        </a:p>
      </dgm:t>
    </dgm:pt>
    <dgm:pt modelId="{2A814F3F-3BA8-42F7-8CA4-83FA04B7958B}" type="sibTrans" cxnId="{0822A5D8-2704-4CC0-B9A8-A9B7BC1EF476}">
      <dgm:prSet/>
      <dgm:spPr/>
      <dgm:t>
        <a:bodyPr/>
        <a:lstStyle/>
        <a:p>
          <a:endParaRPr lang="zh-CN" altLang="en-US"/>
        </a:p>
      </dgm:t>
    </dgm:pt>
    <dgm:pt modelId="{30969CD7-3CFD-4F4F-B564-8B7800529F16}" type="pres">
      <dgm:prSet presAssocID="{E619A35B-6F76-4F5B-9866-62BEE8E1B43C}" presName="Name0" presStyleCnt="0">
        <dgm:presLayoutVars>
          <dgm:dir/>
          <dgm:animLvl val="lvl"/>
          <dgm:resizeHandles val="exact"/>
        </dgm:presLayoutVars>
      </dgm:prSet>
      <dgm:spPr/>
    </dgm:pt>
    <dgm:pt modelId="{4B8CD339-4E78-4F6E-A0BF-974C4D6D4379}" type="pres">
      <dgm:prSet presAssocID="{4A5FAA12-B526-40D6-A585-8F25D8E3B5CF}" presName="composite" presStyleCnt="0"/>
      <dgm:spPr/>
    </dgm:pt>
    <dgm:pt modelId="{3519B39F-12B2-486D-92CD-79CCEF8A02D7}" type="pres">
      <dgm:prSet presAssocID="{4A5FAA12-B526-40D6-A585-8F25D8E3B5CF}" presName="parTx" presStyleLbl="alignNode1" presStyleIdx="0" presStyleCnt="2">
        <dgm:presLayoutVars>
          <dgm:chMax val="0"/>
          <dgm:chPref val="0"/>
          <dgm:bulletEnabled val="1"/>
        </dgm:presLayoutVars>
      </dgm:prSet>
      <dgm:spPr/>
    </dgm:pt>
    <dgm:pt modelId="{B896A519-3F35-4F76-BF45-313B4F09EBD3}" type="pres">
      <dgm:prSet presAssocID="{4A5FAA12-B526-40D6-A585-8F25D8E3B5CF}" presName="desTx" presStyleLbl="alignAccFollowNode1" presStyleIdx="0" presStyleCnt="2">
        <dgm:presLayoutVars>
          <dgm:bulletEnabled val="1"/>
        </dgm:presLayoutVars>
      </dgm:prSet>
      <dgm:spPr/>
    </dgm:pt>
    <dgm:pt modelId="{8B47AD68-727B-44C0-988D-4CD4C0258498}" type="pres">
      <dgm:prSet presAssocID="{A0348CB2-E5AF-4DF4-82BC-60A5461B27CB}" presName="space" presStyleCnt="0"/>
      <dgm:spPr/>
    </dgm:pt>
    <dgm:pt modelId="{336363FB-3CEF-426F-BE0A-60B5B48CDB7D}" type="pres">
      <dgm:prSet presAssocID="{C9BCE8A9-D041-4DBC-8845-482A3A7A396F}" presName="composite" presStyleCnt="0"/>
      <dgm:spPr/>
    </dgm:pt>
    <dgm:pt modelId="{2B37959A-E5FF-440C-9E9A-2AB5F0A6CAC6}" type="pres">
      <dgm:prSet presAssocID="{C9BCE8A9-D041-4DBC-8845-482A3A7A396F}" presName="parTx" presStyleLbl="alignNode1" presStyleIdx="1" presStyleCnt="2">
        <dgm:presLayoutVars>
          <dgm:chMax val="0"/>
          <dgm:chPref val="0"/>
          <dgm:bulletEnabled val="1"/>
        </dgm:presLayoutVars>
      </dgm:prSet>
      <dgm:spPr/>
    </dgm:pt>
    <dgm:pt modelId="{BB2710DA-629D-4E22-B2D2-AE96858090DD}" type="pres">
      <dgm:prSet presAssocID="{C9BCE8A9-D041-4DBC-8845-482A3A7A396F}" presName="desTx" presStyleLbl="alignAccFollowNode1" presStyleIdx="1" presStyleCnt="2">
        <dgm:presLayoutVars>
          <dgm:bulletEnabled val="1"/>
        </dgm:presLayoutVars>
      </dgm:prSet>
      <dgm:spPr/>
    </dgm:pt>
  </dgm:ptLst>
  <dgm:cxnLst>
    <dgm:cxn modelId="{09C48031-F32A-41AA-945B-53E3EA558246}" type="presOf" srcId="{12F350A1-BAB6-49E7-A675-F34567C93BB3}" destId="{B896A519-3F35-4F76-BF45-313B4F09EBD3}" srcOrd="0" destOrd="1" presId="urn:microsoft.com/office/officeart/2005/8/layout/hList1"/>
    <dgm:cxn modelId="{225E8865-646D-48FC-9B4C-841B6A568C22}" type="presOf" srcId="{E619A35B-6F76-4F5B-9866-62BEE8E1B43C}" destId="{30969CD7-3CFD-4F4F-B564-8B7800529F16}" srcOrd="0" destOrd="0" presId="urn:microsoft.com/office/officeart/2005/8/layout/hList1"/>
    <dgm:cxn modelId="{7862F34B-5480-4452-92E7-545087459F78}" type="presOf" srcId="{C9BCE8A9-D041-4DBC-8845-482A3A7A396F}" destId="{2B37959A-E5FF-440C-9E9A-2AB5F0A6CAC6}" srcOrd="0" destOrd="0" presId="urn:microsoft.com/office/officeart/2005/8/layout/hList1"/>
    <dgm:cxn modelId="{45EC468C-A451-486B-BF68-B6D0C92F0FC7}" type="presOf" srcId="{677AFE12-F6B5-41EE-82A2-0A5381CBB9FC}" destId="{BB2710DA-629D-4E22-B2D2-AE96858090DD}" srcOrd="0" destOrd="1" presId="urn:microsoft.com/office/officeart/2005/8/layout/hList1"/>
    <dgm:cxn modelId="{F2270C93-4F27-4E3F-A0E2-D2F288985849}" srcId="{C9BCE8A9-D041-4DBC-8845-482A3A7A396F}" destId="{677AFE12-F6B5-41EE-82A2-0A5381CBB9FC}" srcOrd="1" destOrd="0" parTransId="{54FC2272-A771-46A9-B03B-FD4BB75D0955}" sibTransId="{6A251A62-7170-4B78-8FCC-1920BEA35D59}"/>
    <dgm:cxn modelId="{7107CEBF-8819-45DA-BDD1-EBF80C60B67E}" type="presOf" srcId="{25DC11C9-1070-46F3-B350-64BDA7654B0D}" destId="{B896A519-3F35-4F76-BF45-313B4F09EBD3}" srcOrd="0" destOrd="0" presId="urn:microsoft.com/office/officeart/2005/8/layout/hList1"/>
    <dgm:cxn modelId="{0822A5D8-2704-4CC0-B9A8-A9B7BC1EF476}" srcId="{4A5FAA12-B526-40D6-A585-8F25D8E3B5CF}" destId="{12F350A1-BAB6-49E7-A675-F34567C93BB3}" srcOrd="1" destOrd="0" parTransId="{A7B5A7E3-3C11-449F-8CAA-FEAA6559AD5C}" sibTransId="{2A814F3F-3BA8-42F7-8CA4-83FA04B7958B}"/>
    <dgm:cxn modelId="{F368FFDA-F651-4BAF-9C1C-C2BDACD705E3}" srcId="{C9BCE8A9-D041-4DBC-8845-482A3A7A396F}" destId="{8EECE90E-A4C1-468D-A54F-862B71E4AE7A}" srcOrd="0" destOrd="0" parTransId="{8420BA46-EAF0-453F-80DA-728C83A553A1}" sibTransId="{2422BFC9-7AEE-4057-8A48-6FA836731397}"/>
    <dgm:cxn modelId="{B85657DE-96B6-41D9-B582-9304609C78D8}" type="presOf" srcId="{8EECE90E-A4C1-468D-A54F-862B71E4AE7A}" destId="{BB2710DA-629D-4E22-B2D2-AE96858090DD}" srcOrd="0" destOrd="0" presId="urn:microsoft.com/office/officeart/2005/8/layout/hList1"/>
    <dgm:cxn modelId="{AFAF82E4-9537-4799-97DF-952BDFCFEEAE}" type="presOf" srcId="{4A5FAA12-B526-40D6-A585-8F25D8E3B5CF}" destId="{3519B39F-12B2-486D-92CD-79CCEF8A02D7}" srcOrd="0" destOrd="0" presId="urn:microsoft.com/office/officeart/2005/8/layout/hList1"/>
    <dgm:cxn modelId="{48ED03E9-295B-4B0B-AAEF-E2CD78821D49}" srcId="{E619A35B-6F76-4F5B-9866-62BEE8E1B43C}" destId="{4A5FAA12-B526-40D6-A585-8F25D8E3B5CF}" srcOrd="0" destOrd="0" parTransId="{BA4ABDAD-0A84-478F-BEF5-D89876B2358C}" sibTransId="{A0348CB2-E5AF-4DF4-82BC-60A5461B27CB}"/>
    <dgm:cxn modelId="{6FED0BF3-2FB3-4A16-AC44-6DAA0B4E657B}" srcId="{4A5FAA12-B526-40D6-A585-8F25D8E3B5CF}" destId="{25DC11C9-1070-46F3-B350-64BDA7654B0D}" srcOrd="0" destOrd="0" parTransId="{7C5E2CCC-FBB6-425F-A045-D5C8158DA352}" sibTransId="{2612D70B-DEDE-49B9-BD1E-9FFB595FDC9C}"/>
    <dgm:cxn modelId="{294E84FE-1056-409C-8AD4-E0DD366816F1}" srcId="{E619A35B-6F76-4F5B-9866-62BEE8E1B43C}" destId="{C9BCE8A9-D041-4DBC-8845-482A3A7A396F}" srcOrd="1" destOrd="0" parTransId="{75079E22-3A7E-434C-9C6F-14CEDBD0380B}" sibTransId="{B0BC9EB0-9E94-476B-A8E0-C9226E36D271}"/>
    <dgm:cxn modelId="{1954D097-64AE-4427-AA43-71B2A982D57C}" type="presParOf" srcId="{30969CD7-3CFD-4F4F-B564-8B7800529F16}" destId="{4B8CD339-4E78-4F6E-A0BF-974C4D6D4379}" srcOrd="0" destOrd="0" presId="urn:microsoft.com/office/officeart/2005/8/layout/hList1"/>
    <dgm:cxn modelId="{CE01587A-847F-4F7B-A956-ABDC8396BFDE}" type="presParOf" srcId="{4B8CD339-4E78-4F6E-A0BF-974C4D6D4379}" destId="{3519B39F-12B2-486D-92CD-79CCEF8A02D7}" srcOrd="0" destOrd="0" presId="urn:microsoft.com/office/officeart/2005/8/layout/hList1"/>
    <dgm:cxn modelId="{DC9BF2D9-0C57-47D6-9255-63326D8A169D}" type="presParOf" srcId="{4B8CD339-4E78-4F6E-A0BF-974C4D6D4379}" destId="{B896A519-3F35-4F76-BF45-313B4F09EBD3}" srcOrd="1" destOrd="0" presId="urn:microsoft.com/office/officeart/2005/8/layout/hList1"/>
    <dgm:cxn modelId="{42A04382-E7DA-4171-9384-D7A7E80DFC8B}" type="presParOf" srcId="{30969CD7-3CFD-4F4F-B564-8B7800529F16}" destId="{8B47AD68-727B-44C0-988D-4CD4C0258498}" srcOrd="1" destOrd="0" presId="urn:microsoft.com/office/officeart/2005/8/layout/hList1"/>
    <dgm:cxn modelId="{03F4CD9A-D774-41E6-A65D-490AC687C0B6}" type="presParOf" srcId="{30969CD7-3CFD-4F4F-B564-8B7800529F16}" destId="{336363FB-3CEF-426F-BE0A-60B5B48CDB7D}" srcOrd="2" destOrd="0" presId="urn:microsoft.com/office/officeart/2005/8/layout/hList1"/>
    <dgm:cxn modelId="{24A251D5-9055-437E-A1F4-6113C4FAC564}" type="presParOf" srcId="{336363FB-3CEF-426F-BE0A-60B5B48CDB7D}" destId="{2B37959A-E5FF-440C-9E9A-2AB5F0A6CAC6}" srcOrd="0" destOrd="0" presId="urn:microsoft.com/office/officeart/2005/8/layout/hList1"/>
    <dgm:cxn modelId="{64854043-3AEF-4930-ABFB-C13EE168AA45}" type="presParOf" srcId="{336363FB-3CEF-426F-BE0A-60B5B48CDB7D}" destId="{BB2710DA-629D-4E22-B2D2-AE96858090DD}"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ADD619-6503-4051-9BF1-B84DDC798B9B}">
      <dsp:nvSpPr>
        <dsp:cNvPr id="0" name=""/>
        <dsp:cNvSpPr/>
      </dsp:nvSpPr>
      <dsp:spPr>
        <a:xfrm>
          <a:off x="39" y="19663"/>
          <a:ext cx="3818864" cy="1094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100000"/>
            </a:lnSpc>
            <a:spcBef>
              <a:spcPct val="0"/>
            </a:spcBef>
            <a:spcAft>
              <a:spcPct val="20000"/>
            </a:spcAft>
            <a:buNone/>
          </a:pPr>
          <a:r>
            <a:rPr lang="zh-CN" altLang="en-US" sz="1400" b="0" i="0" kern="1200" baseline="0" dirty="0">
              <a:latin typeface="Montserrat" panose="00000500000000000000" pitchFamily="2" charset="0"/>
              <a:ea typeface="微软雅黑 Light" panose="020B0502040204020203" pitchFamily="34" charset="-122"/>
            </a:rPr>
            <a:t>数据层面</a:t>
          </a:r>
        </a:p>
      </dsp:txBody>
      <dsp:txXfrm>
        <a:off x="39" y="19663"/>
        <a:ext cx="3818864" cy="1094400"/>
      </dsp:txXfrm>
    </dsp:sp>
    <dsp:sp modelId="{69218C7D-A5C6-4BB9-B753-14FB4AB3733E}">
      <dsp:nvSpPr>
        <dsp:cNvPr id="0" name=""/>
        <dsp:cNvSpPr/>
      </dsp:nvSpPr>
      <dsp:spPr>
        <a:xfrm>
          <a:off x="39" y="1114064"/>
          <a:ext cx="3818864" cy="166896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100000"/>
            </a:lnSpc>
            <a:spcBef>
              <a:spcPct val="0"/>
            </a:spcBef>
            <a:spcAft>
              <a:spcPct val="20000"/>
            </a:spcAft>
            <a:buChar char="•"/>
          </a:pPr>
          <a:r>
            <a:rPr lang="zh-CN" altLang="en-US" sz="1400" b="0" i="0" kern="1200" baseline="0" dirty="0">
              <a:latin typeface="Montserrat" panose="00000500000000000000" pitchFamily="2" charset="0"/>
              <a:ea typeface="微软雅黑 Light" panose="020B0502040204020203" pitchFamily="34" charset="-122"/>
            </a:rPr>
            <a:t>路由器根据本路由器生成的</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转发表，</a:t>
          </a:r>
          <a:r>
            <a:rPr lang="zh-CN" altLang="en-US" sz="1400" b="0" i="0" kern="1200" baseline="0" dirty="0">
              <a:latin typeface="Montserrat" panose="00000500000000000000" pitchFamily="2" charset="0"/>
              <a:ea typeface="微软雅黑 Light" panose="020B0502040204020203" pitchFamily="34" charset="-122"/>
            </a:rPr>
            <a:t>把收到的分组从查找到的对应接口</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转发</a:t>
          </a:r>
          <a:r>
            <a:rPr lang="zh-CN" altLang="en-US" sz="1400" b="0" i="0" kern="1200" baseline="0" dirty="0">
              <a:latin typeface="Montserrat" panose="00000500000000000000" pitchFamily="2" charset="0"/>
              <a:ea typeface="微软雅黑 Light" panose="020B0502040204020203" pitchFamily="34" charset="-122"/>
            </a:rPr>
            <a:t>出去。</a:t>
          </a:r>
        </a:p>
        <a:p>
          <a:pPr marL="114300" lvl="1" indent="-114300" algn="l" defTabSz="622300">
            <a:lnSpc>
              <a:spcPct val="90000"/>
            </a:lnSpc>
            <a:spcBef>
              <a:spcPct val="0"/>
            </a:spcBef>
            <a:spcAft>
              <a:spcPct val="15000"/>
            </a:spcAft>
            <a:buChar char="•"/>
          </a:pPr>
          <a:r>
            <a:rPr lang="zh-CN" altLang="en-US" sz="1400" b="0" i="0" kern="1200" baseline="0" dirty="0">
              <a:solidFill>
                <a:srgbClr val="C00000"/>
              </a:solidFill>
              <a:latin typeface="Montserrat" panose="00000500000000000000" pitchFamily="2" charset="0"/>
              <a:ea typeface="微软雅黑 Light" panose="020B0502040204020203" pitchFamily="34" charset="-122"/>
            </a:rPr>
            <a:t>独立</a:t>
          </a:r>
          <a:r>
            <a:rPr lang="zh-CN" altLang="en-US" sz="1400" b="0" i="0" kern="1200" baseline="0" dirty="0">
              <a:latin typeface="Montserrat" panose="00000500000000000000" pitchFamily="2" charset="0"/>
              <a:ea typeface="微软雅黑 Light" panose="020B0502040204020203" pitchFamily="34" charset="-122"/>
            </a:rPr>
            <a:t>工作。</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采用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硬件</a:t>
          </a:r>
          <a:r>
            <a:rPr lang="zh-CN" altLang="en-US" sz="1400" b="0" i="0" kern="1200" baseline="0" dirty="0">
              <a:latin typeface="Montserrat" panose="00000500000000000000" pitchFamily="2" charset="0"/>
              <a:ea typeface="微软雅黑 Light" panose="020B0502040204020203" pitchFamily="34" charset="-122"/>
            </a:rPr>
            <a:t>进行转发，快。</a:t>
          </a:r>
        </a:p>
      </dsp:txBody>
      <dsp:txXfrm>
        <a:off x="39" y="1114064"/>
        <a:ext cx="3818864" cy="1668960"/>
      </dsp:txXfrm>
    </dsp:sp>
    <dsp:sp modelId="{A287357E-4392-4759-BB71-D2529A5E730A}">
      <dsp:nvSpPr>
        <dsp:cNvPr id="0" name=""/>
        <dsp:cNvSpPr/>
      </dsp:nvSpPr>
      <dsp:spPr>
        <a:xfrm>
          <a:off x="4353545" y="19663"/>
          <a:ext cx="3818864" cy="1094400"/>
        </a:xfrm>
        <a:prstGeom prst="rect">
          <a:avLst/>
        </a:prstGeom>
        <a:solidFill>
          <a:srgbClr val="00B050"/>
        </a:solidFill>
        <a:ln w="25400" cap="flat" cmpd="sng" algn="ctr">
          <a:solidFill>
            <a:srgbClr val="00B050"/>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0" i="0" kern="1200" baseline="0" dirty="0">
              <a:latin typeface="Montserrat" panose="00000500000000000000" pitchFamily="2" charset="0"/>
              <a:ea typeface="微软雅黑 Light" panose="020B0502040204020203" pitchFamily="34" charset="-122"/>
            </a:rPr>
            <a:t>控制层面</a:t>
          </a:r>
        </a:p>
      </dsp:txBody>
      <dsp:txXfrm>
        <a:off x="4353545" y="19663"/>
        <a:ext cx="3818864" cy="1094400"/>
      </dsp:txXfrm>
    </dsp:sp>
    <dsp:sp modelId="{7E31D2C3-38FE-46A6-9137-AC78999E4E2D}">
      <dsp:nvSpPr>
        <dsp:cNvPr id="0" name=""/>
        <dsp:cNvSpPr/>
      </dsp:nvSpPr>
      <dsp:spPr>
        <a:xfrm>
          <a:off x="4353545" y="1114064"/>
          <a:ext cx="3818864" cy="166896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根据路由选择协议所用的路由算法</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计算路由，</a:t>
          </a:r>
          <a:r>
            <a:rPr lang="zh-CN" altLang="en-US" sz="1400" b="0" i="0" kern="1200" baseline="0" dirty="0">
              <a:latin typeface="Montserrat" panose="00000500000000000000" pitchFamily="2" charset="0"/>
              <a:ea typeface="微软雅黑 Light" panose="020B0502040204020203" pitchFamily="34" charset="-122"/>
            </a:rPr>
            <a:t>创建出本路由器的</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路由表。</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许多路由器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协同</a:t>
          </a:r>
          <a:r>
            <a:rPr lang="zh-CN" altLang="en-US" sz="1400" b="0" i="0" kern="1200" baseline="0" dirty="0">
              <a:latin typeface="Montserrat" panose="00000500000000000000" pitchFamily="2" charset="0"/>
              <a:ea typeface="微软雅黑 Light" panose="020B0502040204020203" pitchFamily="34" charset="-122"/>
            </a:rPr>
            <a:t>动作。</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采用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软件</a:t>
          </a:r>
          <a:r>
            <a:rPr lang="zh-CN" altLang="en-US" sz="1400" b="0" i="0" kern="1200" baseline="0" dirty="0">
              <a:latin typeface="Montserrat" panose="00000500000000000000" pitchFamily="2" charset="0"/>
              <a:ea typeface="微软雅黑 Light" panose="020B0502040204020203" pitchFamily="34" charset="-122"/>
            </a:rPr>
            <a:t>计算，慢。</a:t>
          </a:r>
        </a:p>
      </dsp:txBody>
      <dsp:txXfrm>
        <a:off x="4353545" y="1114064"/>
        <a:ext cx="3818864" cy="16689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94C686-F253-4728-84C9-151C8028A3AE}">
      <dsp:nvSpPr>
        <dsp:cNvPr id="0" name=""/>
        <dsp:cNvSpPr/>
      </dsp:nvSpPr>
      <dsp:spPr>
        <a:xfrm>
          <a:off x="182732" y="435"/>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寻址方案</a:t>
          </a:r>
        </a:p>
      </dsp:txBody>
      <dsp:txXfrm>
        <a:off x="182732" y="435"/>
        <a:ext cx="1346447" cy="807868"/>
      </dsp:txXfrm>
    </dsp:sp>
    <dsp:sp modelId="{AAE6C2CE-B907-473D-B42E-74641FA2C01B}">
      <dsp:nvSpPr>
        <dsp:cNvPr id="0" name=""/>
        <dsp:cNvSpPr/>
      </dsp:nvSpPr>
      <dsp:spPr>
        <a:xfrm>
          <a:off x="1663824" y="435"/>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最大分组长度</a:t>
          </a:r>
        </a:p>
      </dsp:txBody>
      <dsp:txXfrm>
        <a:off x="1663824" y="435"/>
        <a:ext cx="1346447" cy="807868"/>
      </dsp:txXfrm>
    </dsp:sp>
    <dsp:sp modelId="{11150468-1E0C-461E-B081-3E871826CD6E}">
      <dsp:nvSpPr>
        <dsp:cNvPr id="0" name=""/>
        <dsp:cNvSpPr/>
      </dsp:nvSpPr>
      <dsp:spPr>
        <a:xfrm>
          <a:off x="3144916" y="435"/>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网络接入机制</a:t>
          </a:r>
        </a:p>
      </dsp:txBody>
      <dsp:txXfrm>
        <a:off x="3144916" y="435"/>
        <a:ext cx="1346447" cy="807868"/>
      </dsp:txXfrm>
    </dsp:sp>
    <dsp:sp modelId="{EADAD31E-CA68-4DED-84FB-90D8D4DBAECE}">
      <dsp:nvSpPr>
        <dsp:cNvPr id="0" name=""/>
        <dsp:cNvSpPr/>
      </dsp:nvSpPr>
      <dsp:spPr>
        <a:xfrm>
          <a:off x="4626009" y="435"/>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超时控制</a:t>
          </a:r>
        </a:p>
      </dsp:txBody>
      <dsp:txXfrm>
        <a:off x="4626009" y="435"/>
        <a:ext cx="1346447" cy="807868"/>
      </dsp:txXfrm>
    </dsp:sp>
    <dsp:sp modelId="{BA295F3A-6E33-4693-A4E0-373D4996D66D}">
      <dsp:nvSpPr>
        <dsp:cNvPr id="0" name=""/>
        <dsp:cNvSpPr/>
      </dsp:nvSpPr>
      <dsp:spPr>
        <a:xfrm>
          <a:off x="182732" y="942949"/>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差错恢复方法</a:t>
          </a:r>
        </a:p>
      </dsp:txBody>
      <dsp:txXfrm>
        <a:off x="182732" y="942949"/>
        <a:ext cx="1346447" cy="807868"/>
      </dsp:txXfrm>
    </dsp:sp>
    <dsp:sp modelId="{38F50AC9-831D-4F84-96CD-EC61271A73DD}">
      <dsp:nvSpPr>
        <dsp:cNvPr id="0" name=""/>
        <dsp:cNvSpPr/>
      </dsp:nvSpPr>
      <dsp:spPr>
        <a:xfrm>
          <a:off x="1663824" y="942949"/>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状态报告方法</a:t>
          </a:r>
        </a:p>
      </dsp:txBody>
      <dsp:txXfrm>
        <a:off x="1663824" y="942949"/>
        <a:ext cx="1346447" cy="807868"/>
      </dsp:txXfrm>
    </dsp:sp>
    <dsp:sp modelId="{581D08C6-B287-4F68-8947-E6A14A005145}">
      <dsp:nvSpPr>
        <dsp:cNvPr id="0" name=""/>
        <dsp:cNvSpPr/>
      </dsp:nvSpPr>
      <dsp:spPr>
        <a:xfrm>
          <a:off x="3144916" y="942949"/>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路由选择技术</a:t>
          </a:r>
        </a:p>
      </dsp:txBody>
      <dsp:txXfrm>
        <a:off x="3144916" y="942949"/>
        <a:ext cx="1346447" cy="807868"/>
      </dsp:txXfrm>
    </dsp:sp>
    <dsp:sp modelId="{38B4E769-5F4D-4AC9-AA16-740543B9CEDA}">
      <dsp:nvSpPr>
        <dsp:cNvPr id="0" name=""/>
        <dsp:cNvSpPr/>
      </dsp:nvSpPr>
      <dsp:spPr>
        <a:xfrm>
          <a:off x="4626009" y="942949"/>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用户接入控制</a:t>
          </a:r>
        </a:p>
      </dsp:txBody>
      <dsp:txXfrm>
        <a:off x="4626009" y="942949"/>
        <a:ext cx="1346447" cy="807868"/>
      </dsp:txXfrm>
    </dsp:sp>
    <dsp:sp modelId="{97AB1813-5306-47D8-8D3C-3A38D4B1BEC2}">
      <dsp:nvSpPr>
        <dsp:cNvPr id="0" name=""/>
        <dsp:cNvSpPr/>
      </dsp:nvSpPr>
      <dsp:spPr>
        <a:xfrm>
          <a:off x="923278" y="1885462"/>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服务</a:t>
          </a:r>
        </a:p>
      </dsp:txBody>
      <dsp:txXfrm>
        <a:off x="923278" y="1885462"/>
        <a:ext cx="1346447" cy="807868"/>
      </dsp:txXfrm>
    </dsp:sp>
    <dsp:sp modelId="{F1FBFE21-9DF5-4505-8D8B-6EF2CCB31FEE}">
      <dsp:nvSpPr>
        <dsp:cNvPr id="0" name=""/>
        <dsp:cNvSpPr/>
      </dsp:nvSpPr>
      <dsp:spPr>
        <a:xfrm>
          <a:off x="2404370" y="1885462"/>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5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管理与</a:t>
          </a:r>
          <a:endParaRPr lang="en-US" altLang="zh-CN" sz="1200" b="0" kern="1200" dirty="0">
            <a:latin typeface="微软雅黑 Light" panose="020B0502040204020203" pitchFamily="34" charset="-122"/>
            <a:ea typeface="微软雅黑 Light" panose="020B0502040204020203" pitchFamily="34" charset="-122"/>
          </a:endParaRPr>
        </a:p>
        <a:p>
          <a:pPr marL="0" lvl="0" indent="0" algn="ctr" defTabSz="533400">
            <a:lnSpc>
              <a:spcPct val="5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控制方式</a:t>
          </a:r>
        </a:p>
      </dsp:txBody>
      <dsp:txXfrm>
        <a:off x="2404370" y="1885462"/>
        <a:ext cx="1346447" cy="807868"/>
      </dsp:txXfrm>
    </dsp:sp>
    <dsp:sp modelId="{FC18BE71-30A4-4718-92D9-19F6EDF79A0C}">
      <dsp:nvSpPr>
        <dsp:cNvPr id="0" name=""/>
        <dsp:cNvSpPr/>
      </dsp:nvSpPr>
      <dsp:spPr>
        <a:xfrm>
          <a:off x="3885463" y="1885462"/>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50000"/>
            </a:lnSpc>
            <a:spcBef>
              <a:spcPct val="0"/>
            </a:spcBef>
            <a:spcAft>
              <a:spcPct val="35000"/>
            </a:spcAft>
            <a:buNone/>
          </a:pPr>
          <a:r>
            <a:rPr lang="en-US" altLang="zh-CN" sz="1200" b="0" kern="1200" dirty="0">
              <a:latin typeface="微软雅黑 Light" panose="020B0502040204020203" pitchFamily="34" charset="-122"/>
              <a:ea typeface="微软雅黑 Light" panose="020B0502040204020203" pitchFamily="34" charset="-122"/>
            </a:rPr>
            <a:t>……</a:t>
          </a:r>
          <a:endParaRPr lang="zh-CN" altLang="en-US" sz="1200" b="0" kern="1200" dirty="0">
            <a:latin typeface="微软雅黑 Light" panose="020B0502040204020203" pitchFamily="34" charset="-122"/>
            <a:ea typeface="微软雅黑 Light" panose="020B0502040204020203" pitchFamily="34" charset="-122"/>
          </a:endParaRPr>
        </a:p>
      </dsp:txBody>
      <dsp:txXfrm>
        <a:off x="3885463" y="1885462"/>
        <a:ext cx="1346447" cy="80786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4B0A0E-971B-4E83-B9F0-6072ADB97738}">
      <dsp:nvSpPr>
        <dsp:cNvPr id="0" name=""/>
        <dsp:cNvSpPr/>
      </dsp:nvSpPr>
      <dsp:spPr>
        <a:xfrm>
          <a:off x="744798" y="481511"/>
          <a:ext cx="5338574" cy="2294911"/>
        </a:xfrm>
        <a:prstGeom prst="rect">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873E07A-9E09-453F-95F0-A7AAEE2551B3}">
      <dsp:nvSpPr>
        <dsp:cNvPr id="0" name=""/>
        <dsp:cNvSpPr/>
      </dsp:nvSpPr>
      <dsp:spPr>
        <a:xfrm>
          <a:off x="1141045"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管理简单；</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使用方便；</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转发分组迅速；</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zh-CN" sz="1600" b="1" kern="1200" dirty="0">
              <a:latin typeface="微软雅黑" panose="020B0503020204020204" pitchFamily="34" charset="-122"/>
              <a:ea typeface="微软雅黑" panose="020B0503020204020204" pitchFamily="34" charset="-122"/>
            </a:rPr>
            <a:t>划分子网</a:t>
          </a:r>
          <a:r>
            <a:rPr lang="zh-CN" altLang="en-US" sz="1600" b="1" kern="1200" dirty="0">
              <a:latin typeface="微软雅黑" panose="020B0503020204020204" pitchFamily="34" charset="-122"/>
              <a:ea typeface="微软雅黑" panose="020B0503020204020204" pitchFamily="34" charset="-122"/>
            </a:rPr>
            <a:t>，灵活地使用。</a:t>
          </a:r>
        </a:p>
      </dsp:txBody>
      <dsp:txXfrm>
        <a:off x="1141045" y="879666"/>
        <a:ext cx="2329497" cy="1703744"/>
      </dsp:txXfrm>
    </dsp:sp>
    <dsp:sp modelId="{40AD89A0-37A1-4061-B639-561D759D430F}">
      <dsp:nvSpPr>
        <dsp:cNvPr id="0" name=""/>
        <dsp:cNvSpPr/>
      </dsp:nvSpPr>
      <dsp:spPr>
        <a:xfrm>
          <a:off x="3506851"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设计上不合理：</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大地址块，</a:t>
          </a:r>
          <a:r>
            <a:rPr lang="zh-CN" altLang="en-US" sz="1600" b="1" kern="1200" dirty="0">
              <a:solidFill>
                <a:srgbClr val="C00000"/>
              </a:solidFill>
              <a:latin typeface="微软雅黑" panose="020B0503020204020204" pitchFamily="34" charset="-122"/>
              <a:ea typeface="微软雅黑" panose="020B0503020204020204" pitchFamily="34" charset="-122"/>
            </a:rPr>
            <a:t>浪费</a:t>
          </a:r>
          <a:r>
            <a:rPr lang="zh-CN" altLang="en-US" sz="1600" b="1" kern="1200" dirty="0">
              <a:latin typeface="微软雅黑" panose="020B0503020204020204" pitchFamily="34" charset="-122"/>
              <a:ea typeface="微软雅黑" panose="020B0503020204020204" pitchFamily="34" charset="-122"/>
            </a:rPr>
            <a:t>地址资源；</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即使采用划分子网的方法，也无法解决 </a:t>
          </a:r>
          <a:r>
            <a:rPr lang="en-US" altLang="en-US" sz="1600" b="1" kern="1200" dirty="0">
              <a:latin typeface="微软雅黑" panose="020B0503020204020204" pitchFamily="34" charset="-122"/>
              <a:ea typeface="微软雅黑" panose="020B0503020204020204" pitchFamily="34" charset="-122"/>
            </a:rPr>
            <a:t>IP </a:t>
          </a:r>
          <a:r>
            <a:rPr lang="zh-CN" altLang="en-US" sz="1600" b="1" kern="1200" dirty="0">
              <a:latin typeface="微软雅黑" panose="020B0503020204020204" pitchFamily="34" charset="-122"/>
              <a:ea typeface="微软雅黑" panose="020B0503020204020204" pitchFamily="34" charset="-122"/>
            </a:rPr>
            <a:t>地址</a:t>
          </a:r>
          <a:r>
            <a:rPr lang="zh-CN" altLang="en-US" sz="1600" b="1" kern="1200" dirty="0">
              <a:solidFill>
                <a:srgbClr val="C00000"/>
              </a:solidFill>
              <a:latin typeface="微软雅黑" panose="020B0503020204020204" pitchFamily="34" charset="-122"/>
              <a:ea typeface="微软雅黑" panose="020B0503020204020204" pitchFamily="34" charset="-122"/>
            </a:rPr>
            <a:t>枯竭</a:t>
          </a:r>
          <a:r>
            <a:rPr lang="zh-CN" altLang="en-US" sz="1600" b="1" kern="1200" dirty="0">
              <a:latin typeface="微软雅黑" panose="020B0503020204020204" pitchFamily="34" charset="-122"/>
              <a:ea typeface="微软雅黑" panose="020B0503020204020204" pitchFamily="34" charset="-122"/>
            </a:rPr>
            <a:t>的问题。</a:t>
          </a:r>
        </a:p>
      </dsp:txBody>
      <dsp:txXfrm>
        <a:off x="3506851" y="879666"/>
        <a:ext cx="2329497" cy="1703744"/>
      </dsp:txXfrm>
    </dsp:sp>
    <dsp:sp modelId="{69C13D01-1AFC-4B1D-A9D4-90EC30CD2E19}">
      <dsp:nvSpPr>
        <dsp:cNvPr id="0" name=""/>
        <dsp:cNvSpPr/>
      </dsp:nvSpPr>
      <dsp:spPr>
        <a:xfrm>
          <a:off x="512443" y="22249"/>
          <a:ext cx="867717" cy="867717"/>
        </a:xfrm>
        <a:prstGeom prst="plus">
          <a:avLst>
            <a:gd name="adj" fmla="val 328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9C3955-DDC3-45AE-ABAF-A714C59D6D50}">
      <dsp:nvSpPr>
        <dsp:cNvPr id="0" name=""/>
        <dsp:cNvSpPr/>
      </dsp:nvSpPr>
      <dsp:spPr>
        <a:xfrm>
          <a:off x="5474157" y="334301"/>
          <a:ext cx="816675" cy="279867"/>
        </a:xfrm>
        <a:prstGeom prst="rect">
          <a:avLst/>
        </a:prstGeom>
        <a:solidFill>
          <a:srgbClr val="000099"/>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D85BB93-CCEC-4AF9-A3E3-7305BF0CC5BD}">
      <dsp:nvSpPr>
        <dsp:cNvPr id="0" name=""/>
        <dsp:cNvSpPr/>
      </dsp:nvSpPr>
      <dsp:spPr>
        <a:xfrm>
          <a:off x="3414085" y="754102"/>
          <a:ext cx="510" cy="1875110"/>
        </a:xfrm>
        <a:prstGeom prst="line">
          <a:avLst/>
        </a:prstGeom>
        <a:noFill/>
        <a:ln w="25400" cap="flat" cmpd="sng" algn="ctr">
          <a:solidFill>
            <a:srgbClr val="000099"/>
          </a:solidFill>
          <a:prstDash val="solid"/>
        </a:ln>
        <a:effectLst/>
      </dsp:spPr>
      <dsp:style>
        <a:lnRef idx="2">
          <a:scrgbClr r="0" g="0" b="0"/>
        </a:lnRef>
        <a:fillRef idx="0">
          <a:scrgbClr r="0" g="0" b="0"/>
        </a:fillRef>
        <a:effectRef idx="0">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93C829-AB1E-47B7-AF09-3489EE20D87D}">
      <dsp:nvSpPr>
        <dsp:cNvPr id="0" name=""/>
        <dsp:cNvSpPr/>
      </dsp:nvSpPr>
      <dsp:spPr>
        <a:xfrm>
          <a:off x="32" y="13405"/>
          <a:ext cx="3125365" cy="662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地址</a:t>
          </a:r>
        </a:p>
      </dsp:txBody>
      <dsp:txXfrm>
        <a:off x="32" y="13405"/>
        <a:ext cx="3125365" cy="662400"/>
      </dsp:txXfrm>
    </dsp:sp>
    <dsp:sp modelId="{ADDE5FA6-A293-4009-AA1F-EF295D5FC61B}">
      <dsp:nvSpPr>
        <dsp:cNvPr id="0" name=""/>
        <dsp:cNvSpPr/>
      </dsp:nvSpPr>
      <dsp:spPr>
        <a:xfrm>
          <a:off x="32" y="675805"/>
          <a:ext cx="3125365" cy="1855577"/>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虚拟地址、软件地址、逻辑地址。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网络层和以上各层使用。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数据报的首部。</a:t>
          </a:r>
        </a:p>
      </dsp:txBody>
      <dsp:txXfrm>
        <a:off x="32" y="675805"/>
        <a:ext cx="3125365" cy="1855577"/>
      </dsp:txXfrm>
    </dsp:sp>
    <dsp:sp modelId="{A906942F-4CD9-406B-9703-826231E59346}">
      <dsp:nvSpPr>
        <dsp:cNvPr id="0" name=""/>
        <dsp:cNvSpPr/>
      </dsp:nvSpPr>
      <dsp:spPr>
        <a:xfrm>
          <a:off x="3562949" y="13405"/>
          <a:ext cx="3125365" cy="662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地址</a:t>
          </a:r>
        </a:p>
      </dsp:txBody>
      <dsp:txXfrm>
        <a:off x="3562949" y="13405"/>
        <a:ext cx="3125365" cy="662400"/>
      </dsp:txXfrm>
    </dsp:sp>
    <dsp:sp modelId="{2B0E6FE9-FDF1-417E-907E-1431E3C22379}">
      <dsp:nvSpPr>
        <dsp:cNvPr id="0" name=""/>
        <dsp:cNvSpPr/>
      </dsp:nvSpPr>
      <dsp:spPr>
        <a:xfrm>
          <a:off x="3562949" y="675805"/>
          <a:ext cx="3125365" cy="1855577"/>
        </a:xfrm>
        <a:prstGeom prst="rect">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固化在网卡上的 </a:t>
          </a:r>
          <a:r>
            <a:rPr lang="en-US" altLang="en-US" sz="1800" b="1" kern="1200" dirty="0">
              <a:latin typeface="微软雅黑" panose="020B0503020204020204" pitchFamily="34" charset="-122"/>
              <a:ea typeface="微软雅黑" panose="020B0503020204020204" pitchFamily="34" charset="-122"/>
            </a:rPr>
            <a:t>ROM </a:t>
          </a:r>
          <a:r>
            <a:rPr lang="zh-CN" altLang="en-US" sz="1800" b="1" kern="1200" dirty="0">
              <a:latin typeface="微软雅黑" panose="020B0503020204020204" pitchFamily="34" charset="-122"/>
              <a:ea typeface="微软雅黑" panose="020B0503020204020204" pitchFamily="34" charset="-122"/>
            </a:rPr>
            <a:t>中。</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硬件地址、物理地址。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数据链路层使用。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帧的首部。</a:t>
          </a:r>
        </a:p>
      </dsp:txBody>
      <dsp:txXfrm>
        <a:off x="3562949" y="675805"/>
        <a:ext cx="3125365" cy="185557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8CECCC-33E8-4D44-AF7B-D639E8E0A9B0}">
      <dsp:nvSpPr>
        <dsp:cNvPr id="0" name=""/>
        <dsp:cNvSpPr/>
      </dsp:nvSpPr>
      <dsp:spPr>
        <a:xfrm rot="5400000">
          <a:off x="2115430" y="70577"/>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稳定</a:t>
          </a:r>
        </a:p>
      </dsp:txBody>
      <dsp:txXfrm rot="-5400000">
        <a:off x="2328076" y="166876"/>
        <a:ext cx="634888" cy="729758"/>
      </dsp:txXfrm>
    </dsp:sp>
    <dsp:sp modelId="{77C4C6C5-334A-4E65-979D-B22FCFC4D25B}">
      <dsp:nvSpPr>
        <dsp:cNvPr id="0" name=""/>
        <dsp:cNvSpPr/>
      </dsp:nvSpPr>
      <dsp:spPr>
        <a:xfrm>
          <a:off x="3134687" y="213701"/>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计算简单</a:t>
          </a:r>
        </a:p>
      </dsp:txBody>
      <dsp:txXfrm>
        <a:off x="3134687" y="213701"/>
        <a:ext cx="1183161" cy="636108"/>
      </dsp:txXfrm>
    </dsp:sp>
    <dsp:sp modelId="{FA279299-B666-469F-8777-B71225E62A40}">
      <dsp:nvSpPr>
        <dsp:cNvPr id="0" name=""/>
        <dsp:cNvSpPr/>
      </dsp:nvSpPr>
      <dsp:spPr>
        <a:xfrm rot="5400000">
          <a:off x="1119285" y="70577"/>
          <a:ext cx="1060180" cy="922356"/>
        </a:xfrm>
        <a:prstGeom prst="hexagon">
          <a:avLst>
            <a:gd name="adj" fmla="val 25000"/>
            <a:gd name="vf" fmla="val 11547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1331931" y="166876"/>
        <a:ext cx="634888" cy="729758"/>
      </dsp:txXfrm>
    </dsp:sp>
    <dsp:sp modelId="{5CDA83B7-524F-419D-8B88-84CC727E3270}">
      <dsp:nvSpPr>
        <dsp:cNvPr id="0" name=""/>
        <dsp:cNvSpPr/>
      </dsp:nvSpPr>
      <dsp:spPr>
        <a:xfrm rot="5400000">
          <a:off x="1615449" y="970458"/>
          <a:ext cx="1060180" cy="922356"/>
        </a:xfrm>
        <a:prstGeom prst="hexagon">
          <a:avLst>
            <a:gd name="adj" fmla="val 25000"/>
            <a:gd name="vf" fmla="val 11547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最佳</a:t>
          </a:r>
        </a:p>
      </dsp:txBody>
      <dsp:txXfrm rot="-5400000">
        <a:off x="1828095" y="1066757"/>
        <a:ext cx="634888" cy="729758"/>
      </dsp:txXfrm>
    </dsp:sp>
    <dsp:sp modelId="{9F9A9FAC-12D3-4655-B2AA-04364F1E88CE}">
      <dsp:nvSpPr>
        <dsp:cNvPr id="0" name=""/>
        <dsp:cNvSpPr/>
      </dsp:nvSpPr>
      <dsp:spPr>
        <a:xfrm>
          <a:off x="501199" y="1113582"/>
          <a:ext cx="1144994"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r" defTabSz="800100">
            <a:lnSpc>
              <a:spcPct val="900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正确完整</a:t>
          </a:r>
        </a:p>
      </dsp:txBody>
      <dsp:txXfrm>
        <a:off x="501199" y="1113582"/>
        <a:ext cx="1144994" cy="636108"/>
      </dsp:txXfrm>
    </dsp:sp>
    <dsp:sp modelId="{BC9E837C-7471-448B-B8E7-D49F71F18600}">
      <dsp:nvSpPr>
        <dsp:cNvPr id="0" name=""/>
        <dsp:cNvSpPr/>
      </dsp:nvSpPr>
      <dsp:spPr>
        <a:xfrm rot="5400000">
          <a:off x="2611594" y="970458"/>
          <a:ext cx="1060180" cy="922356"/>
        </a:xfrm>
        <a:prstGeom prst="hexagon">
          <a:avLst>
            <a:gd name="adj" fmla="val 25000"/>
            <a:gd name="vf" fmla="val 11547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自适应</a:t>
          </a:r>
        </a:p>
      </dsp:txBody>
      <dsp:txXfrm rot="-5400000">
        <a:off x="2824240" y="1066757"/>
        <a:ext cx="634888" cy="729758"/>
      </dsp:txXfrm>
    </dsp:sp>
    <dsp:sp modelId="{F18AFA34-AF22-48CA-A491-D3AA2FDCF09E}">
      <dsp:nvSpPr>
        <dsp:cNvPr id="0" name=""/>
        <dsp:cNvSpPr/>
      </dsp:nvSpPr>
      <dsp:spPr>
        <a:xfrm rot="5400000">
          <a:off x="2115430" y="1870339"/>
          <a:ext cx="1060180" cy="922356"/>
        </a:xfrm>
        <a:prstGeom prst="hexagon">
          <a:avLst>
            <a:gd name="adj" fmla="val 25000"/>
            <a:gd name="vf" fmla="val 115470"/>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公平</a:t>
          </a:r>
        </a:p>
      </dsp:txBody>
      <dsp:txXfrm rot="-5400000">
        <a:off x="2328076" y="1966638"/>
        <a:ext cx="634888" cy="729758"/>
      </dsp:txXfrm>
    </dsp:sp>
    <dsp:sp modelId="{5B9F08EB-293A-42A1-ACFE-48E8E54FC3D0}">
      <dsp:nvSpPr>
        <dsp:cNvPr id="0" name=""/>
        <dsp:cNvSpPr/>
      </dsp:nvSpPr>
      <dsp:spPr>
        <a:xfrm>
          <a:off x="3134687" y="2013463"/>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endParaRPr lang="zh-CN" altLang="en-US" sz="1800" b="1" kern="1200" dirty="0">
            <a:latin typeface="微软雅黑" panose="020B0503020204020204" pitchFamily="34" charset="-122"/>
            <a:ea typeface="微软雅黑" panose="020B0503020204020204" pitchFamily="34" charset="-122"/>
          </a:endParaRPr>
        </a:p>
      </dsp:txBody>
      <dsp:txXfrm>
        <a:off x="3134687" y="2013463"/>
        <a:ext cx="1183161" cy="636108"/>
      </dsp:txXfrm>
    </dsp:sp>
    <dsp:sp modelId="{9DAF7479-96E8-43C9-8AC5-D44A0AC1DE87}">
      <dsp:nvSpPr>
        <dsp:cNvPr id="0" name=""/>
        <dsp:cNvSpPr/>
      </dsp:nvSpPr>
      <dsp:spPr>
        <a:xfrm rot="5400000">
          <a:off x="1119285" y="1870339"/>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ts val="0"/>
            </a:spcAft>
            <a:buNone/>
          </a:pPr>
          <a:endParaRPr lang="zh-CN" altLang="en-US" sz="1800" b="1" kern="1200" dirty="0">
            <a:latin typeface="微软雅黑" panose="020B0503020204020204" pitchFamily="34" charset="-122"/>
            <a:ea typeface="微软雅黑" panose="020B0503020204020204" pitchFamily="34" charset="-122"/>
          </a:endParaRPr>
        </a:p>
      </dsp:txBody>
      <dsp:txXfrm rot="-5400000">
        <a:off x="1331931" y="1966638"/>
        <a:ext cx="634888" cy="72975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5FE49D-F768-452D-A9A2-52FCD77827E0}">
      <dsp:nvSpPr>
        <dsp:cNvPr id="0" name=""/>
        <dsp:cNvSpPr/>
      </dsp:nvSpPr>
      <dsp:spPr>
        <a:xfrm>
          <a:off x="0" y="4659"/>
          <a:ext cx="6520872" cy="484612"/>
        </a:xfrm>
        <a:prstGeom prst="round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关于“最佳路由”</a:t>
          </a:r>
        </a:p>
      </dsp:txBody>
      <dsp:txXfrm>
        <a:off x="23657" y="28316"/>
        <a:ext cx="6473558" cy="437298"/>
      </dsp:txXfrm>
    </dsp:sp>
    <dsp:sp modelId="{CCA9AB54-F7DF-42DA-BB14-49BA708108B7}">
      <dsp:nvSpPr>
        <dsp:cNvPr id="0" name=""/>
        <dsp:cNvSpPr/>
      </dsp:nvSpPr>
      <dsp:spPr>
        <a:xfrm>
          <a:off x="0" y="489272"/>
          <a:ext cx="6520872" cy="11954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不存在一种绝对的最佳路由算法。</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所谓“最佳”只能是相对于某一种特定要求下得出的较为合理的选择而已。</a:t>
          </a:r>
        </a:p>
      </dsp:txBody>
      <dsp:txXfrm>
        <a:off x="0" y="489272"/>
        <a:ext cx="6520872" cy="1195424"/>
      </dsp:txXfrm>
    </dsp:sp>
    <dsp:sp modelId="{EDCCA3B5-69A3-4D4F-933E-C980F139D5CE}">
      <dsp:nvSpPr>
        <dsp:cNvPr id="0" name=""/>
        <dsp:cNvSpPr/>
      </dsp:nvSpPr>
      <dsp:spPr>
        <a:xfrm>
          <a:off x="0" y="1684697"/>
          <a:ext cx="6520872" cy="484612"/>
        </a:xfrm>
        <a:prstGeom prst="round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solidFill>
                <a:srgbClr val="000099"/>
              </a:solidFill>
              <a:latin typeface="微软雅黑" panose="020B0503020204020204" pitchFamily="34" charset="-122"/>
              <a:ea typeface="微软雅黑" panose="020B0503020204020204" pitchFamily="34" charset="-122"/>
            </a:rPr>
            <a:t>路由选择非常复杂</a:t>
          </a:r>
        </a:p>
      </dsp:txBody>
      <dsp:txXfrm>
        <a:off x="23657" y="1708354"/>
        <a:ext cx="6473558" cy="437298"/>
      </dsp:txXfrm>
    </dsp:sp>
    <dsp:sp modelId="{7CB622EB-CFF9-4CEF-9C62-0D3FB7B9D848}">
      <dsp:nvSpPr>
        <dsp:cNvPr id="0" name=""/>
        <dsp:cNvSpPr/>
      </dsp:nvSpPr>
      <dsp:spPr>
        <a:xfrm>
          <a:off x="0" y="2169309"/>
          <a:ext cx="6520872" cy="13041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需要所有节点共同协调工作的。</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环境不断变化，而这种变化有时无法事先知道。</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当网络发生拥塞时，很难获得所需的路由选择信息。</a:t>
          </a:r>
        </a:p>
      </dsp:txBody>
      <dsp:txXfrm>
        <a:off x="0" y="2169309"/>
        <a:ext cx="6520872" cy="13041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2228"/>
          <a:ext cx="3480866" cy="6336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静态路由选择策略</a:t>
          </a:r>
        </a:p>
      </dsp:txBody>
      <dsp:txXfrm>
        <a:off x="36" y="2228"/>
        <a:ext cx="3480866" cy="633600"/>
      </dsp:txXfrm>
    </dsp:sp>
    <dsp:sp modelId="{19FF7ECD-B0E8-443E-8703-812623A25DE9}">
      <dsp:nvSpPr>
        <dsp:cNvPr id="0" name=""/>
        <dsp:cNvSpPr/>
      </dsp:nvSpPr>
      <dsp:spPr>
        <a:xfrm>
          <a:off x="36" y="635828"/>
          <a:ext cx="3480866" cy="1449360"/>
        </a:xfrm>
        <a:prstGeom prst="rect">
          <a:avLst/>
        </a:prstGeom>
        <a:solidFill>
          <a:schemeClr val="accent4">
            <a:tint val="40000"/>
            <a:alpha val="90000"/>
            <a:hueOff val="0"/>
            <a:satOff val="0"/>
            <a:lumOff val="0"/>
            <a:alphaOff val="0"/>
          </a:schemeClr>
        </a:solid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非自适应路由选择；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不能及时适应网络状态的变化；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简单，开销较小。 </a:t>
          </a:r>
        </a:p>
      </dsp:txBody>
      <dsp:txXfrm>
        <a:off x="36" y="635828"/>
        <a:ext cx="3480866" cy="1449360"/>
      </dsp:txXfrm>
    </dsp:sp>
    <dsp:sp modelId="{2075194E-504D-46FF-9735-28FB3A1952A0}">
      <dsp:nvSpPr>
        <dsp:cNvPr id="0" name=""/>
        <dsp:cNvSpPr/>
      </dsp:nvSpPr>
      <dsp:spPr>
        <a:xfrm>
          <a:off x="3968224" y="2228"/>
          <a:ext cx="3480866" cy="6336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动态路由选择策略</a:t>
          </a:r>
        </a:p>
      </dsp:txBody>
      <dsp:txXfrm>
        <a:off x="3968224" y="2228"/>
        <a:ext cx="3480866" cy="633600"/>
      </dsp:txXfrm>
    </dsp:sp>
    <dsp:sp modelId="{4CDFFC38-F27C-472E-A2F4-B6BCE3ADBC7B}">
      <dsp:nvSpPr>
        <dsp:cNvPr id="0" name=""/>
        <dsp:cNvSpPr/>
      </dsp:nvSpPr>
      <dsp:spPr>
        <a:xfrm>
          <a:off x="3968224" y="635828"/>
          <a:ext cx="3480866" cy="1449360"/>
        </a:xfrm>
        <a:prstGeom prst="rect">
          <a:avLst/>
        </a:prstGeom>
        <a:solidFill>
          <a:schemeClr val="accent4">
            <a:tint val="40000"/>
            <a:alpha val="90000"/>
            <a:hueOff val="-3945710"/>
            <a:satOff val="22157"/>
            <a:lumOff val="1408"/>
            <a:alphaOff val="0"/>
          </a:schemeClr>
        </a:solid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能较好地适应网络状态的变化；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实现较为复杂，开销较大。 </a:t>
          </a:r>
        </a:p>
      </dsp:txBody>
      <dsp:txXfrm>
        <a:off x="3968224" y="635828"/>
        <a:ext cx="3480866" cy="144936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10305"/>
          <a:ext cx="3480866" cy="1008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内部网关协议 </a:t>
          </a:r>
          <a:r>
            <a:rPr lang="en-US" altLang="en-US" sz="2000" b="1" kern="1200" dirty="0">
              <a:latin typeface="微软雅黑" panose="020B0503020204020204" pitchFamily="34" charset="-122"/>
              <a:ea typeface="微软雅黑" panose="020B0503020204020204" pitchFamily="34" charset="-122"/>
            </a:rPr>
            <a:t>IGP </a:t>
          </a:r>
          <a:endParaRPr lang="zh-CN" altLang="en-US" sz="2000" b="1" kern="1200" dirty="0">
            <a:latin typeface="微软雅黑" panose="020B0503020204020204" pitchFamily="34" charset="-122"/>
            <a:ea typeface="微软雅黑" panose="020B0503020204020204" pitchFamily="34" charset="-122"/>
          </a:endParaRPr>
        </a:p>
      </dsp:txBody>
      <dsp:txXfrm>
        <a:off x="36" y="10305"/>
        <a:ext cx="3480866" cy="1008000"/>
      </dsp:txXfrm>
    </dsp:sp>
    <dsp:sp modelId="{19FF7ECD-B0E8-443E-8703-812623A25DE9}">
      <dsp:nvSpPr>
        <dsp:cNvPr id="0" name=""/>
        <dsp:cNvSpPr/>
      </dsp:nvSpPr>
      <dsp:spPr>
        <a:xfrm>
          <a:off x="36" y="1018305"/>
          <a:ext cx="3480866" cy="182542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Interior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在一个自治系统内部使用的路由选择协议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常用：</a:t>
          </a:r>
          <a:r>
            <a:rPr lang="en-US" altLang="en-US" sz="1800" b="1" kern="1200" dirty="0">
              <a:latin typeface="微软雅黑" panose="020B0503020204020204" pitchFamily="34" charset="-122"/>
              <a:ea typeface="微软雅黑" panose="020B0503020204020204" pitchFamily="34" charset="-122"/>
            </a:rPr>
            <a:t>RIP</a:t>
          </a:r>
          <a:r>
            <a:rPr lang="zh-CN" altLang="en-US" sz="1800" b="1" kern="1200" dirty="0">
              <a:latin typeface="微软雅黑" panose="020B0503020204020204" pitchFamily="34" charset="-122"/>
              <a:ea typeface="微软雅黑" panose="020B0503020204020204" pitchFamily="34" charset="-122"/>
            </a:rPr>
            <a:t>，</a:t>
          </a:r>
          <a:r>
            <a:rPr lang="en-US" altLang="en-US" sz="1800" b="1" kern="1200" dirty="0">
              <a:latin typeface="微软雅黑" panose="020B0503020204020204" pitchFamily="34" charset="-122"/>
              <a:ea typeface="微软雅黑" panose="020B0503020204020204" pitchFamily="34" charset="-122"/>
            </a:rPr>
            <a:t>OSPF</a:t>
          </a:r>
          <a:endParaRPr lang="zh-CN" altLang="en-US" sz="1800" b="1" kern="1200" dirty="0">
            <a:latin typeface="微软雅黑" panose="020B0503020204020204" pitchFamily="34" charset="-122"/>
            <a:ea typeface="微软雅黑" panose="020B0503020204020204" pitchFamily="34" charset="-122"/>
          </a:endParaRPr>
        </a:p>
      </dsp:txBody>
      <dsp:txXfrm>
        <a:off x="36" y="1018305"/>
        <a:ext cx="3480866" cy="1825425"/>
      </dsp:txXfrm>
    </dsp:sp>
    <dsp:sp modelId="{2075194E-504D-46FF-9735-28FB3A1952A0}">
      <dsp:nvSpPr>
        <dsp:cNvPr id="0" name=""/>
        <dsp:cNvSpPr/>
      </dsp:nvSpPr>
      <dsp:spPr>
        <a:xfrm>
          <a:off x="3968224" y="10305"/>
          <a:ext cx="3480866" cy="10080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rgbClr val="0000FF"/>
              </a:solidFill>
              <a:latin typeface="微软雅黑" panose="020B0503020204020204" pitchFamily="34" charset="-122"/>
              <a:ea typeface="微软雅黑" panose="020B0503020204020204" pitchFamily="34" charset="-122"/>
            </a:rPr>
            <a:t>外部网关协议 </a:t>
          </a:r>
          <a:r>
            <a:rPr lang="en-US" altLang="en-US" sz="2000" b="1" kern="1200" dirty="0">
              <a:solidFill>
                <a:srgbClr val="0000FF"/>
              </a:solidFill>
              <a:latin typeface="微软雅黑" panose="020B0503020204020204" pitchFamily="34" charset="-122"/>
              <a:ea typeface="微软雅黑" panose="020B0503020204020204" pitchFamily="34" charset="-122"/>
            </a:rPr>
            <a:t>EGP </a:t>
          </a:r>
          <a:endParaRPr lang="zh-CN" altLang="en-US" sz="2000" b="1" kern="1200" dirty="0">
            <a:solidFill>
              <a:srgbClr val="0000FF"/>
            </a:solidFill>
            <a:latin typeface="微软雅黑" panose="020B0503020204020204" pitchFamily="34" charset="-122"/>
            <a:ea typeface="微软雅黑" panose="020B0503020204020204" pitchFamily="34" charset="-122"/>
          </a:endParaRPr>
        </a:p>
      </dsp:txBody>
      <dsp:txXfrm>
        <a:off x="3968224" y="10305"/>
        <a:ext cx="3480866" cy="1008000"/>
      </dsp:txXfrm>
    </dsp:sp>
    <dsp:sp modelId="{4CDFFC38-F27C-472E-A2F4-B6BCE3ADBC7B}">
      <dsp:nvSpPr>
        <dsp:cNvPr id="0" name=""/>
        <dsp:cNvSpPr/>
      </dsp:nvSpPr>
      <dsp:spPr>
        <a:xfrm>
          <a:off x="3968224" y="1018305"/>
          <a:ext cx="3480866" cy="182542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External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在不同自治系统之间进行路由选择时使用的协议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使用最多：</a:t>
          </a:r>
          <a:r>
            <a:rPr lang="en-US" altLang="en-US" sz="1800" b="1" kern="1200" dirty="0">
              <a:latin typeface="微软雅黑" panose="020B0503020204020204" pitchFamily="34" charset="-122"/>
              <a:ea typeface="微软雅黑" panose="020B0503020204020204" pitchFamily="34" charset="-122"/>
            </a:rPr>
            <a:t>BGP-4</a:t>
          </a:r>
          <a:endParaRPr lang="zh-CN" altLang="en-US" sz="1800" b="1" kern="1200" dirty="0">
            <a:latin typeface="微软雅黑" panose="020B0503020204020204" pitchFamily="34" charset="-122"/>
            <a:ea typeface="微软雅黑" panose="020B0503020204020204" pitchFamily="34" charset="-122"/>
          </a:endParaRPr>
        </a:p>
      </dsp:txBody>
      <dsp:txXfrm>
        <a:off x="3968224" y="1018305"/>
        <a:ext cx="3480866" cy="182542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7CCF3B-B980-4744-A098-51E164BAF300}">
      <dsp:nvSpPr>
        <dsp:cNvPr id="0" name=""/>
        <dsp:cNvSpPr/>
      </dsp:nvSpPr>
      <dsp:spPr>
        <a:xfrm rot="5400000">
          <a:off x="-139479" y="143104"/>
          <a:ext cx="929862" cy="650903"/>
        </a:xfrm>
        <a:prstGeom prst="chevron">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1</a:t>
          </a:r>
          <a:endParaRPr lang="zh-CN" altLang="en-US" sz="1600" b="0" kern="1200" dirty="0">
            <a:latin typeface="微软雅黑" panose="020B0503020204020204" pitchFamily="34" charset="-122"/>
            <a:ea typeface="微软雅黑" panose="020B0503020204020204" pitchFamily="34" charset="-122"/>
          </a:endParaRPr>
        </a:p>
      </dsp:txBody>
      <dsp:txXfrm rot="-5400000">
        <a:off x="1" y="329077"/>
        <a:ext cx="650903" cy="278959"/>
      </dsp:txXfrm>
    </dsp:sp>
    <dsp:sp modelId="{967F5469-8640-4696-BE0A-D179F4D13586}">
      <dsp:nvSpPr>
        <dsp:cNvPr id="0" name=""/>
        <dsp:cNvSpPr/>
      </dsp:nvSpPr>
      <dsp:spPr>
        <a:xfrm rot="5400000">
          <a:off x="3454396" y="-2799867"/>
          <a:ext cx="604728" cy="6211714"/>
        </a:xfrm>
        <a:prstGeom prst="round2Same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latin typeface="Montserrat" panose="00000500000000000000" pitchFamily="2" charset="0"/>
              <a:ea typeface="微软雅黑 Light" panose="020B0502040204020203" pitchFamily="34" charset="-122"/>
            </a:rPr>
            <a:t>本地偏好 </a:t>
          </a:r>
          <a:r>
            <a:rPr lang="en-US" altLang="en-US" sz="1600" b="0" kern="1200" baseline="0" dirty="0">
              <a:latin typeface="Montserrat" panose="00000500000000000000" pitchFamily="2" charset="0"/>
              <a:ea typeface="微软雅黑 Light" panose="020B0502040204020203" pitchFamily="34" charset="-122"/>
            </a:rPr>
            <a:t>(local preference) </a:t>
          </a:r>
          <a:r>
            <a:rPr lang="zh-CN" altLang="en-US" sz="1600" b="0" kern="1200" baseline="0" dirty="0">
              <a:latin typeface="Montserrat" panose="00000500000000000000" pitchFamily="2" charset="0"/>
              <a:ea typeface="微软雅黑 Light" panose="020B0502040204020203" pitchFamily="34" charset="-122"/>
            </a:rPr>
            <a:t>值最高的路由 （默认值</a:t>
          </a:r>
          <a:r>
            <a:rPr lang="en-US" altLang="zh-CN" sz="1600" b="0" kern="1200" baseline="0" dirty="0">
              <a:latin typeface="Montserrat" panose="00000500000000000000" pitchFamily="2" charset="0"/>
              <a:ea typeface="微软雅黑 Light" panose="020B0502040204020203" pitchFamily="34" charset="-122"/>
            </a:rPr>
            <a:t>=</a:t>
          </a:r>
          <a:r>
            <a:rPr lang="en-US" altLang="en-US" sz="1600" b="0" kern="1200" baseline="0" dirty="0">
              <a:latin typeface="Montserrat" panose="00000500000000000000" pitchFamily="2" charset="0"/>
              <a:ea typeface="微软雅黑 Light" panose="020B0502040204020203" pitchFamily="34" charset="-122"/>
            </a:rPr>
            <a:t>100</a:t>
          </a:r>
          <a:r>
            <a:rPr lang="zh-CN" altLang="en-US" sz="1600" b="0" kern="1200" baseline="0" dirty="0">
              <a:latin typeface="Montserrat" panose="00000500000000000000" pitchFamily="2" charset="0"/>
              <a:ea typeface="微软雅黑 Light" panose="020B0502040204020203" pitchFamily="34" charset="-122"/>
            </a:rPr>
            <a:t>）</a:t>
          </a:r>
        </a:p>
      </dsp:txBody>
      <dsp:txXfrm rot="-5400000">
        <a:off x="650903" y="33146"/>
        <a:ext cx="6182194" cy="545688"/>
      </dsp:txXfrm>
    </dsp:sp>
    <dsp:sp modelId="{1C1FCDAF-0D65-4A39-A0AC-A9D03E334517}">
      <dsp:nvSpPr>
        <dsp:cNvPr id="0" name=""/>
        <dsp:cNvSpPr/>
      </dsp:nvSpPr>
      <dsp:spPr>
        <a:xfrm rot="5400000">
          <a:off x="-139479" y="920625"/>
          <a:ext cx="929862" cy="650903"/>
        </a:xfrm>
        <a:prstGeom prst="chevron">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2</a:t>
          </a:r>
          <a:endParaRPr lang="zh-CN" altLang="en-US" sz="1600" b="0" kern="1200" dirty="0">
            <a:latin typeface="微软雅黑" panose="020B0503020204020204" pitchFamily="34" charset="-122"/>
            <a:ea typeface="微软雅黑" panose="020B0503020204020204" pitchFamily="34" charset="-122"/>
          </a:endParaRPr>
        </a:p>
      </dsp:txBody>
      <dsp:txXfrm rot="-5400000">
        <a:off x="1" y="1106598"/>
        <a:ext cx="650903" cy="278959"/>
      </dsp:txXfrm>
    </dsp:sp>
    <dsp:sp modelId="{7FDDCB89-19F3-4537-A956-66DB05444287}">
      <dsp:nvSpPr>
        <dsp:cNvPr id="0" name=""/>
        <dsp:cNvSpPr/>
      </dsp:nvSpPr>
      <dsp:spPr>
        <a:xfrm rot="5400000">
          <a:off x="3454555" y="-2022505"/>
          <a:ext cx="604410" cy="6211714"/>
        </a:xfrm>
        <a:prstGeom prst="round2Same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sp:txBody>
      <dsp:txXfrm rot="-5400000">
        <a:off x="650904" y="810651"/>
        <a:ext cx="6182209" cy="545400"/>
      </dsp:txXfrm>
    </dsp:sp>
    <dsp:sp modelId="{061776BC-E55D-472E-AA38-6C4CA9431466}">
      <dsp:nvSpPr>
        <dsp:cNvPr id="0" name=""/>
        <dsp:cNvSpPr/>
      </dsp:nvSpPr>
      <dsp:spPr>
        <a:xfrm rot="5400000">
          <a:off x="-139479" y="1698145"/>
          <a:ext cx="929862" cy="650903"/>
        </a:xfrm>
        <a:prstGeom prst="chevron">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3</a:t>
          </a:r>
          <a:endParaRPr lang="zh-CN" altLang="en-US" sz="1600" b="0" kern="1200" dirty="0">
            <a:latin typeface="微软雅黑" panose="020B0503020204020204" pitchFamily="34" charset="-122"/>
            <a:ea typeface="微软雅黑" panose="020B0503020204020204" pitchFamily="34" charset="-122"/>
          </a:endParaRPr>
        </a:p>
      </dsp:txBody>
      <dsp:txXfrm rot="-5400000">
        <a:off x="1" y="1884118"/>
        <a:ext cx="650903" cy="278959"/>
      </dsp:txXfrm>
    </dsp:sp>
    <dsp:sp modelId="{24E43028-DB82-414F-9136-AA94D471AC5C}">
      <dsp:nvSpPr>
        <dsp:cNvPr id="0" name=""/>
        <dsp:cNvSpPr/>
      </dsp:nvSpPr>
      <dsp:spPr>
        <a:xfrm rot="5400000">
          <a:off x="3454555" y="-1244985"/>
          <a:ext cx="604410" cy="6211714"/>
        </a:xfrm>
        <a:prstGeom prst="round2SameRect">
          <a:avLst/>
        </a:prstGeom>
        <a:solidFill>
          <a:schemeClr val="lt1">
            <a:alpha val="90000"/>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sp:txBody>
      <dsp:txXfrm rot="-5400000">
        <a:off x="650904" y="1588171"/>
        <a:ext cx="6182209" cy="545400"/>
      </dsp:txXfrm>
    </dsp:sp>
    <dsp:sp modelId="{AC9695CB-865B-4694-A98D-9F8EAB741670}">
      <dsp:nvSpPr>
        <dsp:cNvPr id="0" name=""/>
        <dsp:cNvSpPr/>
      </dsp:nvSpPr>
      <dsp:spPr>
        <a:xfrm rot="5400000">
          <a:off x="-139479" y="2475666"/>
          <a:ext cx="929862" cy="650903"/>
        </a:xfrm>
        <a:prstGeom prst="chevron">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4</a:t>
          </a:r>
          <a:endParaRPr lang="zh-CN" altLang="en-US" sz="1600" b="0" kern="1200" dirty="0">
            <a:latin typeface="微软雅黑" panose="020B0503020204020204" pitchFamily="34" charset="-122"/>
            <a:ea typeface="微软雅黑" panose="020B0503020204020204" pitchFamily="34" charset="-122"/>
          </a:endParaRPr>
        </a:p>
      </dsp:txBody>
      <dsp:txXfrm rot="-5400000">
        <a:off x="1" y="2661639"/>
        <a:ext cx="650903" cy="278959"/>
      </dsp:txXfrm>
    </dsp:sp>
    <dsp:sp modelId="{0B7E51AB-E203-4D88-91EC-23BBEBF68989}">
      <dsp:nvSpPr>
        <dsp:cNvPr id="0" name=""/>
        <dsp:cNvSpPr/>
      </dsp:nvSpPr>
      <dsp:spPr>
        <a:xfrm rot="5400000">
          <a:off x="3454555" y="-467464"/>
          <a:ext cx="604410" cy="6211714"/>
        </a:xfrm>
        <a:prstGeom prst="round2SameRect">
          <a:avLst/>
        </a:prstGeom>
        <a:solidFill>
          <a:schemeClr val="lt1">
            <a:alpha val="90000"/>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sp:txBody>
      <dsp:txXfrm rot="-5400000">
        <a:off x="650904" y="2365692"/>
        <a:ext cx="6182209" cy="54540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6CEFA23-1767-4D57-91F8-8F65E8ACFD37}">
      <dsp:nvSpPr>
        <dsp:cNvPr id="0" name=""/>
        <dsp:cNvSpPr/>
      </dsp:nvSpPr>
      <dsp:spPr>
        <a:xfrm rot="10800000">
          <a:off x="1775760" y="307"/>
          <a:ext cx="6336690" cy="718708"/>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划分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的方法不受限制，由网络管理员来控制。</a:t>
          </a:r>
        </a:p>
      </dsp:txBody>
      <dsp:txXfrm rot="10800000">
        <a:off x="1955437" y="307"/>
        <a:ext cx="6157013" cy="718708"/>
      </dsp:txXfrm>
    </dsp:sp>
    <dsp:sp modelId="{F63A45BE-87F8-4243-8A28-A9B96E270ED4}">
      <dsp:nvSpPr>
        <dsp:cNvPr id="0" name=""/>
        <dsp:cNvSpPr/>
      </dsp:nvSpPr>
      <dsp:spPr>
        <a:xfrm>
          <a:off x="1416406" y="307"/>
          <a:ext cx="718708" cy="718708"/>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8C0456F-D6DF-4746-9CD6-A09A4CCC1C0D}">
      <dsp:nvSpPr>
        <dsp:cNvPr id="0" name=""/>
        <dsp:cNvSpPr/>
      </dsp:nvSpPr>
      <dsp:spPr>
        <a:xfrm rot="10800000">
          <a:off x="1775760" y="898692"/>
          <a:ext cx="6336690" cy="718708"/>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入口节点并不是给每一个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数据报指派一个不同的标签，而是将属于同样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数据报都指派同样的标签。</a:t>
          </a:r>
        </a:p>
      </dsp:txBody>
      <dsp:txXfrm rot="10800000">
        <a:off x="1955437" y="898692"/>
        <a:ext cx="6157013" cy="718708"/>
      </dsp:txXfrm>
    </dsp:sp>
    <dsp:sp modelId="{FCC1DF99-0F26-4341-896E-169B093FC04C}">
      <dsp:nvSpPr>
        <dsp:cNvPr id="0" name=""/>
        <dsp:cNvSpPr/>
      </dsp:nvSpPr>
      <dsp:spPr>
        <a:xfrm>
          <a:off x="1416406" y="898692"/>
          <a:ext cx="718708" cy="718708"/>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B8D19E8-A42A-42E7-B42A-280A0B9EB13B}">
      <dsp:nvSpPr>
        <dsp:cNvPr id="0" name=""/>
        <dsp:cNvSpPr/>
      </dsp:nvSpPr>
      <dsp:spPr>
        <a:xfrm rot="10800000">
          <a:off x="1775760" y="1797078"/>
          <a:ext cx="6336690" cy="718708"/>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和标签是一一对应的关系。</a:t>
          </a:r>
        </a:p>
      </dsp:txBody>
      <dsp:txXfrm rot="10800000">
        <a:off x="1955437" y="1797078"/>
        <a:ext cx="6157013" cy="718708"/>
      </dsp:txXfrm>
    </dsp:sp>
    <dsp:sp modelId="{6B868C05-F9BC-41B1-B7D8-606E2302DF2B}">
      <dsp:nvSpPr>
        <dsp:cNvPr id="0" name=""/>
        <dsp:cNvSpPr/>
      </dsp:nvSpPr>
      <dsp:spPr>
        <a:xfrm>
          <a:off x="1416406" y="1797078"/>
          <a:ext cx="718708" cy="718708"/>
        </a:xfrm>
        <a:prstGeom prst="ellipse">
          <a:avLst/>
        </a:prstGeom>
        <a:solidFill>
          <a:schemeClr val="accent4">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A3D657-23B2-4553-AB55-365AF4AD92FC}">
      <dsp:nvSpPr>
        <dsp:cNvPr id="0" name=""/>
        <dsp:cNvSpPr/>
      </dsp:nvSpPr>
      <dsp:spPr>
        <a:xfrm>
          <a:off x="0" y="259779"/>
          <a:ext cx="5105643" cy="1499400"/>
        </a:xfrm>
        <a:prstGeom prst="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是一个</a:t>
          </a:r>
          <a:r>
            <a:rPr lang="zh-CN" altLang="en-US" sz="1400" b="0" kern="1200" dirty="0">
              <a:solidFill>
                <a:srgbClr val="C00000"/>
              </a:solidFill>
              <a:latin typeface="微软雅黑" panose="020B0503020204020204" pitchFamily="34" charset="-122"/>
              <a:ea typeface="微软雅黑" panose="020B0503020204020204" pitchFamily="34" charset="-122"/>
            </a:rPr>
            <a:t>体系结构，</a:t>
          </a:r>
          <a:r>
            <a:rPr lang="zh-CN" altLang="en-US" sz="1400" b="0" kern="1200" dirty="0">
              <a:latin typeface="微软雅黑" panose="020B0503020204020204" pitchFamily="34" charset="-122"/>
              <a:ea typeface="微软雅黑" panose="020B0503020204020204" pitchFamily="34" charset="-122"/>
            </a:rPr>
            <a:t>是一种设计、构建和管理网络的新方法或新概念。</a:t>
          </a:r>
        </a:p>
        <a:p>
          <a:pPr marL="114300" lvl="1" indent="-114300" algn="l" defTabSz="622300">
            <a:lnSpc>
              <a:spcPct val="90000"/>
            </a:lnSpc>
            <a:spcBef>
              <a:spcPct val="0"/>
            </a:spcBef>
            <a:spcAft>
              <a:spcPts val="0"/>
            </a:spcAft>
            <a:buChar char="•"/>
          </a:pPr>
          <a:r>
            <a:rPr lang="zh-CN" altLang="en-US" sz="1400" b="0" kern="1200" dirty="0">
              <a:solidFill>
                <a:schemeClr val="tx1"/>
              </a:solidFill>
              <a:latin typeface="微软雅黑" panose="020B0503020204020204" pitchFamily="34" charset="-122"/>
              <a:ea typeface="微软雅黑" panose="020B0503020204020204" pitchFamily="34" charset="-122"/>
            </a:rPr>
            <a:t>把</a:t>
          </a:r>
          <a:r>
            <a:rPr lang="zh-CN" altLang="en-US" sz="1400" b="0" kern="1200" dirty="0">
              <a:solidFill>
                <a:srgbClr val="0000FF"/>
              </a:solidFill>
              <a:latin typeface="微软雅黑" panose="020B0503020204020204" pitchFamily="34" charset="-122"/>
              <a:ea typeface="微软雅黑" panose="020B0503020204020204" pitchFamily="34" charset="-122"/>
            </a:rPr>
            <a:t>控制层面</a:t>
          </a:r>
          <a:r>
            <a:rPr lang="zh-CN" altLang="en-US" sz="1400" b="0" kern="1200" dirty="0">
              <a:solidFill>
                <a:schemeClr val="tx1"/>
              </a:solidFill>
              <a:latin typeface="微软雅黑" panose="020B0503020204020204" pitchFamily="34" charset="-122"/>
              <a:ea typeface="微软雅黑" panose="020B0503020204020204" pitchFamily="34" charset="-122"/>
            </a:rPr>
            <a:t>和</a:t>
          </a:r>
          <a:r>
            <a:rPr lang="zh-CN" altLang="en-US" sz="1400" b="0" kern="1200" dirty="0">
              <a:solidFill>
                <a:srgbClr val="0000FF"/>
              </a:solidFill>
              <a:latin typeface="微软雅黑" panose="020B0503020204020204" pitchFamily="34" charset="-122"/>
              <a:ea typeface="微软雅黑" panose="020B0503020204020204" pitchFamily="34" charset="-122"/>
            </a:rPr>
            <a:t>数据层面</a:t>
          </a:r>
          <a:r>
            <a:rPr lang="zh-CN" altLang="en-US" sz="1400" b="0" kern="1200" dirty="0">
              <a:solidFill>
                <a:srgbClr val="C00000"/>
              </a:solidFill>
              <a:latin typeface="微软雅黑" panose="020B0503020204020204" pitchFamily="34" charset="-122"/>
              <a:ea typeface="微软雅黑" panose="020B0503020204020204" pitchFamily="34" charset="-122"/>
            </a:rPr>
            <a:t>分离，</a:t>
          </a:r>
          <a:r>
            <a:rPr lang="zh-CN" altLang="en-US" sz="1400" b="0" kern="1200" dirty="0">
              <a:latin typeface="微软雅黑" panose="020B0503020204020204" pitchFamily="34" charset="-122"/>
              <a:ea typeface="微软雅黑" panose="020B0503020204020204" pitchFamily="34" charset="-122"/>
            </a:rPr>
            <a:t>而让控制层面</a:t>
          </a:r>
          <a:r>
            <a:rPr lang="zh-CN" altLang="en-US" sz="1400" b="0" kern="1200" dirty="0">
              <a:solidFill>
                <a:srgbClr val="C00000"/>
              </a:solidFill>
              <a:latin typeface="微软雅黑" panose="020B0503020204020204" pitchFamily="34" charset="-122"/>
              <a:ea typeface="微软雅黑" panose="020B0503020204020204" pitchFamily="34" charset="-122"/>
            </a:rPr>
            <a:t>利用软件</a:t>
          </a:r>
          <a:r>
            <a:rPr lang="zh-CN" altLang="en-US" sz="1400" b="0" kern="1200" dirty="0">
              <a:solidFill>
                <a:srgbClr val="0000FF"/>
              </a:solidFill>
              <a:latin typeface="微软雅黑" panose="020B0503020204020204" pitchFamily="34" charset="-122"/>
              <a:ea typeface="微软雅黑" panose="020B0503020204020204" pitchFamily="34" charset="-122"/>
            </a:rPr>
            <a:t>控制</a:t>
          </a:r>
          <a:r>
            <a:rPr lang="zh-CN" altLang="en-US" sz="1400" b="0" kern="1200" dirty="0">
              <a:latin typeface="微软雅黑" panose="020B0503020204020204" pitchFamily="34" charset="-122"/>
              <a:ea typeface="微软雅黑" panose="020B0503020204020204" pitchFamily="34" charset="-122"/>
            </a:rPr>
            <a:t>数据层面中的许多设备。</a:t>
          </a:r>
        </a:p>
      </dsp:txBody>
      <dsp:txXfrm>
        <a:off x="0" y="259779"/>
        <a:ext cx="5105643" cy="1499400"/>
      </dsp:txXfrm>
    </dsp:sp>
    <dsp:sp modelId="{08B5982C-5C29-4138-B12D-B1193F279CC1}">
      <dsp:nvSpPr>
        <dsp:cNvPr id="0" name=""/>
        <dsp:cNvSpPr/>
      </dsp:nvSpPr>
      <dsp:spPr>
        <a:xfrm>
          <a:off x="255282" y="53139"/>
          <a:ext cx="3573950" cy="413280"/>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en-US" sz="1800" b="1" kern="1200" dirty="0">
              <a:solidFill>
                <a:schemeClr val="bg1"/>
              </a:solidFill>
              <a:latin typeface="微软雅黑" panose="020B0503020204020204" pitchFamily="34" charset="-122"/>
              <a:ea typeface="微软雅黑" panose="020B0503020204020204" pitchFamily="34" charset="-122"/>
            </a:rPr>
            <a:t>SDN</a:t>
          </a:r>
          <a:endParaRPr lang="zh-CN" altLang="en-US" sz="1800" b="1" kern="1200" dirty="0">
            <a:solidFill>
              <a:schemeClr val="bg1"/>
            </a:solidFill>
            <a:latin typeface="微软雅黑" panose="020B0503020204020204" pitchFamily="34" charset="-122"/>
            <a:ea typeface="微软雅黑" panose="020B0503020204020204" pitchFamily="34" charset="-122"/>
          </a:endParaRPr>
        </a:p>
      </dsp:txBody>
      <dsp:txXfrm>
        <a:off x="275457" y="73314"/>
        <a:ext cx="3533600" cy="372930"/>
      </dsp:txXfrm>
    </dsp:sp>
    <dsp:sp modelId="{6DBB5C1B-B5D3-489B-9520-25CF774BF611}">
      <dsp:nvSpPr>
        <dsp:cNvPr id="0" name=""/>
        <dsp:cNvSpPr/>
      </dsp:nvSpPr>
      <dsp:spPr>
        <a:xfrm>
          <a:off x="0" y="2041419"/>
          <a:ext cx="5105643" cy="1499400"/>
        </a:xfrm>
        <a:prstGeom prst="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体系结构中控制层面和数据层面之间的</a:t>
          </a:r>
          <a:r>
            <a:rPr lang="zh-CN" altLang="en-US" sz="1400" b="0" kern="1200" dirty="0">
              <a:solidFill>
                <a:srgbClr val="C00000"/>
              </a:solidFill>
              <a:latin typeface="微软雅黑" panose="020B0503020204020204" pitchFamily="34" charset="-122"/>
              <a:ea typeface="微软雅黑" panose="020B0503020204020204" pitchFamily="34" charset="-122"/>
            </a:rPr>
            <a:t>通信接口。</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kern="1200" dirty="0">
              <a:solidFill>
                <a:srgbClr val="C00000"/>
              </a:solidFill>
              <a:latin typeface="微软雅黑" panose="020B0503020204020204" pitchFamily="34" charset="-122"/>
              <a:ea typeface="微软雅黑" panose="020B0503020204020204" pitchFamily="34" charset="-122"/>
            </a:rPr>
            <a:t>直接</a:t>
          </a:r>
          <a:r>
            <a:rPr lang="zh-CN" altLang="en-US" sz="1400" b="0" kern="1200" dirty="0">
              <a:latin typeface="微软雅黑" panose="020B0503020204020204" pitchFamily="34" charset="-122"/>
              <a:ea typeface="微软雅黑" panose="020B0503020204020204" pitchFamily="34" charset="-122"/>
            </a:rPr>
            <a:t>访问和操纵。</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在逻辑上是</a:t>
          </a:r>
          <a:r>
            <a:rPr lang="zh-CN" altLang="en-US" sz="1400" b="0" kern="1200" dirty="0">
              <a:solidFill>
                <a:srgbClr val="C00000"/>
              </a:solidFill>
              <a:latin typeface="微软雅黑" panose="020B0503020204020204" pitchFamily="34" charset="-122"/>
              <a:ea typeface="微软雅黑" panose="020B0503020204020204" pitchFamily="34" charset="-122"/>
            </a:rPr>
            <a:t>集中式</a:t>
          </a:r>
          <a:r>
            <a:rPr lang="zh-CN" altLang="en-US" sz="1400" b="0" kern="1200" dirty="0">
              <a:latin typeface="微软雅黑" panose="020B0503020204020204" pitchFamily="34" charset="-122"/>
              <a:ea typeface="微软雅黑" panose="020B0503020204020204" pitchFamily="34" charset="-122"/>
            </a:rPr>
            <a:t>的、</a:t>
          </a:r>
          <a:r>
            <a:rPr lang="zh-CN" altLang="en-US" sz="1400" b="0" kern="1200" dirty="0">
              <a:solidFill>
                <a:srgbClr val="C00000"/>
              </a:solidFill>
              <a:latin typeface="微软雅黑" panose="020B0503020204020204" pitchFamily="34" charset="-122"/>
              <a:ea typeface="微软雅黑" panose="020B0503020204020204" pitchFamily="34" charset="-122"/>
            </a:rPr>
            <a:t>基于流</a:t>
          </a:r>
          <a:r>
            <a:rPr lang="zh-CN" altLang="en-US" sz="1400" b="0" kern="1200" dirty="0">
              <a:latin typeface="微软雅黑" panose="020B0503020204020204" pitchFamily="34" charset="-122"/>
              <a:ea typeface="微软雅黑" panose="020B0503020204020204" pitchFamily="34" charset="-122"/>
            </a:rPr>
            <a:t>的。</a:t>
          </a:r>
        </a:p>
      </dsp:txBody>
      <dsp:txXfrm>
        <a:off x="0" y="2041419"/>
        <a:ext cx="5105643" cy="1499400"/>
      </dsp:txXfrm>
    </dsp:sp>
    <dsp:sp modelId="{35AC4BD2-1828-4C40-9426-ADEA8908391D}">
      <dsp:nvSpPr>
        <dsp:cNvPr id="0" name=""/>
        <dsp:cNvSpPr/>
      </dsp:nvSpPr>
      <dsp:spPr>
        <a:xfrm>
          <a:off x="255282" y="1834779"/>
          <a:ext cx="3573950" cy="413280"/>
        </a:xfrm>
        <a:prstGeom prst="roundRect">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zh-CN" sz="1800" b="1" kern="1200" dirty="0" err="1">
              <a:solidFill>
                <a:srgbClr val="0000CC"/>
              </a:solidFill>
              <a:latin typeface="微软雅黑" panose="020B0503020204020204" pitchFamily="34" charset="-122"/>
              <a:ea typeface="微软雅黑" panose="020B0503020204020204" pitchFamily="34" charset="-122"/>
            </a:rPr>
            <a:t>OpenFlow</a:t>
          </a:r>
          <a:endParaRPr lang="zh-CN" altLang="en-US" sz="1800" b="1" kern="1200" dirty="0">
            <a:solidFill>
              <a:srgbClr val="0000CC"/>
            </a:solidFill>
            <a:latin typeface="微软雅黑" panose="020B0503020204020204" pitchFamily="34" charset="-122"/>
            <a:ea typeface="微软雅黑" panose="020B0503020204020204" pitchFamily="34" charset="-122"/>
          </a:endParaRPr>
        </a:p>
      </dsp:txBody>
      <dsp:txXfrm>
        <a:off x="275457" y="1854954"/>
        <a:ext cx="3533600" cy="37293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B0D5C1-FC08-4682-A068-87E58ADD3967}">
      <dsp:nvSpPr>
        <dsp:cNvPr id="0" name=""/>
        <dsp:cNvSpPr/>
      </dsp:nvSpPr>
      <dsp:spPr>
        <a:xfrm>
          <a:off x="-3623671" y="-556841"/>
          <a:ext cx="4319736" cy="4319736"/>
        </a:xfrm>
        <a:prstGeom prst="blockArc">
          <a:avLst>
            <a:gd name="adj1" fmla="val 18900000"/>
            <a:gd name="adj2" fmla="val 2700000"/>
            <a:gd name="adj3" fmla="val 500"/>
          </a:avLst>
        </a:prstGeom>
        <a:noFill/>
        <a:ln w="25400" cap="flat" cmpd="sng" algn="ctr">
          <a:solidFill>
            <a:schemeClr val="accent6">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4A029A32-0911-4750-B9B4-49D271EFA4E0}">
      <dsp:nvSpPr>
        <dsp:cNvPr id="0" name=""/>
        <dsp:cNvSpPr/>
      </dsp:nvSpPr>
      <dsp:spPr>
        <a:xfrm>
          <a:off x="364891" y="246481"/>
          <a:ext cx="6357688" cy="493219"/>
        </a:xfrm>
        <a:prstGeom prst="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基于流的转发。流表规定转发规则</a:t>
          </a:r>
        </a:p>
      </dsp:txBody>
      <dsp:txXfrm>
        <a:off x="364891" y="246481"/>
        <a:ext cx="6357688" cy="493219"/>
      </dsp:txXfrm>
    </dsp:sp>
    <dsp:sp modelId="{C2D66341-6C1E-4BCC-8C84-A646950EFF77}">
      <dsp:nvSpPr>
        <dsp:cNvPr id="0" name=""/>
        <dsp:cNvSpPr/>
      </dsp:nvSpPr>
      <dsp:spPr>
        <a:xfrm>
          <a:off x="56629" y="184829"/>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0"/>
              <a:satOff val="0"/>
              <a:lumOff val="0"/>
              <a:alphaOff val="0"/>
            </a:schemeClr>
          </a:solidFill>
          <a:prstDash val="solid"/>
        </a:ln>
        <a:effectLst/>
      </dsp:spPr>
      <dsp:style>
        <a:lnRef idx="1">
          <a:scrgbClr r="0" g="0" b="0"/>
        </a:lnRef>
        <a:fillRef idx="2">
          <a:scrgbClr r="0" g="0" b="0"/>
        </a:fillRef>
        <a:effectRef idx="0">
          <a:scrgbClr r="0" g="0" b="0"/>
        </a:effectRef>
        <a:fontRef idx="minor"/>
      </dsp:style>
    </dsp:sp>
    <dsp:sp modelId="{F5F98171-0BBC-44BA-A385-25C4F93E716D}">
      <dsp:nvSpPr>
        <dsp:cNvPr id="0" name=""/>
        <dsp:cNvSpPr/>
      </dsp:nvSpPr>
      <dsp:spPr>
        <a:xfrm>
          <a:off x="647665" y="986438"/>
          <a:ext cx="6074914" cy="493219"/>
        </a:xfrm>
        <a:prstGeom prst="rect">
          <a:avLst/>
        </a:prstGeom>
        <a:gradFill rotWithShape="0">
          <a:gsLst>
            <a:gs pos="0">
              <a:schemeClr val="accent5">
                <a:hueOff val="-3311292"/>
                <a:satOff val="13270"/>
                <a:lumOff val="2876"/>
                <a:alphaOff val="0"/>
                <a:tint val="50000"/>
                <a:satMod val="300000"/>
              </a:schemeClr>
            </a:gs>
            <a:gs pos="35000">
              <a:schemeClr val="accent5">
                <a:hueOff val="-3311292"/>
                <a:satOff val="13270"/>
                <a:lumOff val="2876"/>
                <a:alphaOff val="0"/>
                <a:tint val="37000"/>
                <a:satMod val="300000"/>
              </a:schemeClr>
            </a:gs>
            <a:gs pos="100000">
              <a:schemeClr val="accent5">
                <a:hueOff val="-3311292"/>
                <a:satOff val="13270"/>
                <a:lumOff val="2876"/>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数据层面与控制层面分离。二者不在同一个设备中</a:t>
          </a:r>
        </a:p>
      </dsp:txBody>
      <dsp:txXfrm>
        <a:off x="647665" y="986438"/>
        <a:ext cx="6074914" cy="493219"/>
      </dsp:txXfrm>
    </dsp:sp>
    <dsp:sp modelId="{6BA4FFC2-2FE1-4DE8-AFAD-430C985B0E85}">
      <dsp:nvSpPr>
        <dsp:cNvPr id="0" name=""/>
        <dsp:cNvSpPr/>
      </dsp:nvSpPr>
      <dsp:spPr>
        <a:xfrm>
          <a:off x="339403" y="924786"/>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3311292"/>
              <a:satOff val="13270"/>
              <a:lumOff val="2876"/>
              <a:alphaOff val="0"/>
            </a:schemeClr>
          </a:solidFill>
          <a:prstDash val="solid"/>
        </a:ln>
        <a:effectLst/>
      </dsp:spPr>
      <dsp:style>
        <a:lnRef idx="1">
          <a:scrgbClr r="0" g="0" b="0"/>
        </a:lnRef>
        <a:fillRef idx="2">
          <a:scrgbClr r="0" g="0" b="0"/>
        </a:fillRef>
        <a:effectRef idx="0">
          <a:scrgbClr r="0" g="0" b="0"/>
        </a:effectRef>
        <a:fontRef idx="minor"/>
      </dsp:style>
    </dsp:sp>
    <dsp:sp modelId="{CD11EB12-0408-40BE-A5E0-D1CFC22DFC2E}">
      <dsp:nvSpPr>
        <dsp:cNvPr id="0" name=""/>
        <dsp:cNvSpPr/>
      </dsp:nvSpPr>
      <dsp:spPr>
        <a:xfrm>
          <a:off x="647665" y="1726395"/>
          <a:ext cx="6074914" cy="493219"/>
        </a:xfrm>
        <a:prstGeom prst="rect">
          <a:avLst/>
        </a:prstGeom>
        <a:gradFill rotWithShape="0">
          <a:gsLst>
            <a:gs pos="0">
              <a:schemeClr val="accent5">
                <a:hueOff val="-6622584"/>
                <a:satOff val="26541"/>
                <a:lumOff val="5752"/>
                <a:alphaOff val="0"/>
                <a:tint val="50000"/>
                <a:satMod val="300000"/>
              </a:schemeClr>
            </a:gs>
            <a:gs pos="35000">
              <a:schemeClr val="accent5">
                <a:hueOff val="-6622584"/>
                <a:satOff val="26541"/>
                <a:lumOff val="5752"/>
                <a:alphaOff val="0"/>
                <a:tint val="37000"/>
                <a:satMod val="300000"/>
              </a:schemeClr>
            </a:gs>
            <a:gs pos="100000">
              <a:schemeClr val="accent5">
                <a:hueOff val="-6622584"/>
                <a:satOff val="26541"/>
                <a:lumOff val="5752"/>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网络控制功能位于数据层面交换机之外，用软件实现</a:t>
          </a:r>
        </a:p>
      </dsp:txBody>
      <dsp:txXfrm>
        <a:off x="647665" y="1726395"/>
        <a:ext cx="6074914" cy="493219"/>
      </dsp:txXfrm>
    </dsp:sp>
    <dsp:sp modelId="{AA66A021-7549-4FCB-AE4D-4B546BB936CD}">
      <dsp:nvSpPr>
        <dsp:cNvPr id="0" name=""/>
        <dsp:cNvSpPr/>
      </dsp:nvSpPr>
      <dsp:spPr>
        <a:xfrm>
          <a:off x="339403" y="1664743"/>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6622584"/>
              <a:satOff val="26541"/>
              <a:lumOff val="5752"/>
              <a:alphaOff val="0"/>
            </a:schemeClr>
          </a:solidFill>
          <a:prstDash val="solid"/>
        </a:ln>
        <a:effectLst/>
      </dsp:spPr>
      <dsp:style>
        <a:lnRef idx="1">
          <a:scrgbClr r="0" g="0" b="0"/>
        </a:lnRef>
        <a:fillRef idx="2">
          <a:scrgbClr r="0" g="0" b="0"/>
        </a:fillRef>
        <a:effectRef idx="0">
          <a:scrgbClr r="0" g="0" b="0"/>
        </a:effectRef>
        <a:fontRef idx="minor"/>
      </dsp:style>
    </dsp:sp>
    <dsp:sp modelId="{2B5470FC-E1D3-437D-A66F-B24660D1DB5E}">
      <dsp:nvSpPr>
        <dsp:cNvPr id="0" name=""/>
        <dsp:cNvSpPr/>
      </dsp:nvSpPr>
      <dsp:spPr>
        <a:xfrm>
          <a:off x="364891" y="2466353"/>
          <a:ext cx="6357688" cy="493219"/>
        </a:xfrm>
        <a:prstGeom prst="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可编程的网络</a:t>
          </a:r>
        </a:p>
      </dsp:txBody>
      <dsp:txXfrm>
        <a:off x="364891" y="2466353"/>
        <a:ext cx="6357688" cy="493219"/>
      </dsp:txXfrm>
    </dsp:sp>
    <dsp:sp modelId="{3445C45D-2AA7-4DBC-A20C-73321A134B77}">
      <dsp:nvSpPr>
        <dsp:cNvPr id="0" name=""/>
        <dsp:cNvSpPr/>
      </dsp:nvSpPr>
      <dsp:spPr>
        <a:xfrm>
          <a:off x="56629" y="2404700"/>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9933876"/>
              <a:satOff val="39811"/>
              <a:lumOff val="8628"/>
              <a:alphaOff val="0"/>
            </a:schemeClr>
          </a:solidFill>
          <a:prstDash val="solid"/>
        </a:ln>
        <a:effectLst/>
      </dsp:spPr>
      <dsp:style>
        <a:lnRef idx="1">
          <a:scrgbClr r="0" g="0" b="0"/>
        </a:lnRef>
        <a:fillRef idx="2">
          <a:scrgbClr r="0" g="0" b="0"/>
        </a:fillRef>
        <a:effectRef idx="0">
          <a:scrgbClr r="0" g="0" b="0"/>
        </a:effectRef>
        <a:fontRef idx="minor"/>
      </dsp:style>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19B39F-12B2-486D-92CD-79CCEF8A02D7}">
      <dsp:nvSpPr>
        <dsp:cNvPr id="0" name=""/>
        <dsp:cNvSpPr/>
      </dsp:nvSpPr>
      <dsp:spPr>
        <a:xfrm>
          <a:off x="39" y="31395"/>
          <a:ext cx="3818864" cy="1152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2200"/>
            </a:lnSpc>
            <a:spcBef>
              <a:spcPts val="0"/>
            </a:spcBef>
            <a:spcAft>
              <a:spcPts val="0"/>
            </a:spcAft>
            <a:buNone/>
          </a:pPr>
          <a:r>
            <a:rPr lang="en-US" altLang="zh-CN" sz="1400" b="0" kern="1200" dirty="0">
              <a:latin typeface="微软雅黑" panose="020B0503020204020204" pitchFamily="34" charset="-122"/>
              <a:ea typeface="微软雅黑" panose="020B0503020204020204" pitchFamily="34" charset="-122"/>
            </a:rPr>
            <a:t>SDN</a:t>
          </a:r>
          <a:endParaRPr lang="zh-CN" altLang="en-US" sz="1400" b="0" kern="1200" dirty="0">
            <a:latin typeface="微软雅黑" panose="020B0503020204020204" pitchFamily="34" charset="-122"/>
            <a:ea typeface="微软雅黑" panose="020B0503020204020204" pitchFamily="34" charset="-122"/>
          </a:endParaRPr>
        </a:p>
      </dsp:txBody>
      <dsp:txXfrm>
        <a:off x="39" y="31395"/>
        <a:ext cx="3818864" cy="1152000"/>
      </dsp:txXfrm>
    </dsp:sp>
    <dsp:sp modelId="{B896A519-3F35-4F76-BF45-313B4F09EBD3}">
      <dsp:nvSpPr>
        <dsp:cNvPr id="0" name=""/>
        <dsp:cNvSpPr/>
      </dsp:nvSpPr>
      <dsp:spPr>
        <a:xfrm>
          <a:off x="39" y="1183395"/>
          <a:ext cx="3818864" cy="175680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功能分散。交换机、</a:t>
          </a: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控制器、网络控制应用程序都是可以分开的实体</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可以由不同的厂商和机构来提供</a:t>
          </a:r>
        </a:p>
      </dsp:txBody>
      <dsp:txXfrm>
        <a:off x="39" y="1183395"/>
        <a:ext cx="3818864" cy="1756800"/>
      </dsp:txXfrm>
    </dsp:sp>
    <dsp:sp modelId="{2B37959A-E5FF-440C-9E9A-2AB5F0A6CAC6}">
      <dsp:nvSpPr>
        <dsp:cNvPr id="0" name=""/>
        <dsp:cNvSpPr/>
      </dsp:nvSpPr>
      <dsp:spPr>
        <a:xfrm>
          <a:off x="4353545" y="31395"/>
          <a:ext cx="3818864" cy="11520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3000"/>
            </a:lnSpc>
            <a:spcBef>
              <a:spcPts val="0"/>
            </a:spcBef>
            <a:spcAft>
              <a:spcPts val="0"/>
            </a:spcAft>
            <a:buNone/>
          </a:pPr>
          <a:r>
            <a:rPr lang="zh-CN" altLang="en-US" sz="1400" b="0" kern="1200" dirty="0">
              <a:solidFill>
                <a:schemeClr val="bg1"/>
              </a:solidFill>
              <a:latin typeface="微软雅黑" panose="020B0503020204020204" pitchFamily="34" charset="-122"/>
              <a:ea typeface="微软雅黑" panose="020B0503020204020204" pitchFamily="34" charset="-122"/>
            </a:rPr>
            <a:t>传统网络</a:t>
          </a:r>
        </a:p>
      </dsp:txBody>
      <dsp:txXfrm>
        <a:off x="4353545" y="31395"/>
        <a:ext cx="3818864" cy="1152000"/>
      </dsp:txXfrm>
    </dsp:sp>
    <dsp:sp modelId="{BB2710DA-629D-4E22-B2D2-AE96858090DD}">
      <dsp:nvSpPr>
        <dsp:cNvPr id="0" name=""/>
        <dsp:cNvSpPr/>
      </dsp:nvSpPr>
      <dsp:spPr>
        <a:xfrm>
          <a:off x="4353545" y="1183395"/>
          <a:ext cx="3818864" cy="175680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控制层面、数据层面、协议的实现都垂直集成在一个机器里</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由单独的厂商提供</a:t>
          </a:r>
        </a:p>
      </dsp:txBody>
      <dsp:txXfrm>
        <a:off x="4353545" y="1183395"/>
        <a:ext cx="3818864" cy="17568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1">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9/3/layout/PlusandMinus">
  <dgm:title val=""/>
  <dgm:desc val=""/>
  <dgm:catLst>
    <dgm:cat type="relationship" pri="3600"/>
  </dgm:catLst>
  <dgm:samp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2"/>
      <dgm:chPref val="2"/>
      <dgm:dir/>
      <dgm:animOne/>
      <dgm:resizeHandles val="exact"/>
    </dgm:varLst>
    <dgm:alg type="composite">
      <dgm:param type="ar" val="1.8238"/>
    </dgm:alg>
    <dgm:shape xmlns:r="http://schemas.openxmlformats.org/officeDocument/2006/relationships" r:blip="">
      <dgm:adjLst/>
    </dgm:shape>
    <dgm:choose name="Name1">
      <dgm:if name="Name2" func="var" arg="dir" op="equ" val="norm">
        <dgm:constrLst>
          <dgm:constr type="primFontSz" for="des" ptType="node" op="equ" val="65"/>
          <dgm:constr type="l" for="ch" forName="Background" refType="w" fact="0.09"/>
          <dgm:constr type="t" for="ch" forName="Background" refType="h" fact="0.1641"/>
          <dgm:constr type="w" for="ch" forName="Background" refType="w" fact="0.87"/>
          <dgm:constr type="h" for="ch" forName="Background" refType="h" fact="0.82"/>
          <dgm:constr type="l" for="ch" forName="ParentText1" refType="w" fact="0.116"/>
          <dgm:constr type="t" for="ch" forName="ParentText1" refType="h" fact="0.26"/>
          <dgm:constr type="w" for="ch" forName="ParentText1" refType="w" fact="0.404"/>
          <dgm:constr type="h" for="ch" forName="ParentText1" refType="h" fact="0.7015"/>
          <dgm:constr type="l" for="ch" forName="ParentText2" refType="w" fact="0.529"/>
          <dgm:constr type="t" for="ch" forName="ParentText2" refType="h" fact="0.26"/>
          <dgm:constr type="w" for="ch" forName="ParentText2" refType="w" fact="0.404"/>
          <dgm:constr type="h" for="ch" forName="ParentText2" refType="h" fact="0.7015"/>
          <dgm:constr type="l" for="ch" forName="Plus" refType="w" fact="0"/>
          <dgm:constr type="t" for="ch" forName="Plus" refType="h" fact="0"/>
          <dgm:constr type="w" for="ch" forName="Plus" refType="w" fact="0.17"/>
          <dgm:constr type="h" for="ch" forName="Plus" refType="w" refFor="ch" refForName="Plus"/>
          <dgm:constr type="l" for="ch" forName="Minus" refType="w" fact="0.84"/>
          <dgm:constr type="t" for="ch" forName="Minus" refType="h" fact="0.1115"/>
          <dgm:constr type="w" for="ch" forName="Minus" refType="w" fact="0.16"/>
          <dgm:constr type="h" for="ch" forName="Minus" refType="h" fact="0.1"/>
          <dgm:constr type="l" for="ch" forName="Divider" refType="w" fact="0.525"/>
          <dgm:constr type="t" for="ch" forName="Divider" refType="h" fact="0.2615"/>
          <dgm:constr type="w" for="ch" forName="Divider" refType="w" fact="0.0001"/>
          <dgm:constr type="h" for="ch" forName="Divider" refType="h" fact="0.67"/>
        </dgm:constrLst>
      </dgm:if>
      <dgm:else name="Name3">
        <dgm:constrLst>
          <dgm:constr type="primFontSz" for="des" ptType="node" op="equ" val="65"/>
          <dgm:constr type="r" for="ch" forName="Background" refType="w" fact="-0.09"/>
          <dgm:constr type="t" for="ch" forName="Background" refType="h" fact="0.1641"/>
          <dgm:constr type="w" for="ch" forName="Background" refType="w" fact="0.87"/>
          <dgm:constr type="h" for="ch" forName="Background" refType="h" fact="0.82"/>
          <dgm:constr type="r" for="ch" forName="ParentText1" refType="w" fact="-0.116"/>
          <dgm:constr type="t" for="ch" forName="ParentText1" refType="h" fact="0.26"/>
          <dgm:constr type="w" for="ch" forName="ParentText1" refType="w" fact="0.404"/>
          <dgm:constr type="h" for="ch" forName="ParentText1" refType="h" fact="0.7015"/>
          <dgm:constr type="r" for="ch" forName="ParentText2" refType="w" fact="-0.529"/>
          <dgm:constr type="t" for="ch" forName="ParentText2" refType="h" fact="0.26"/>
          <dgm:constr type="w" for="ch" forName="ParentText2" refType="w" fact="0.404"/>
          <dgm:constr type="h" for="ch" forName="ParentText2" refType="h" fact="0.7015"/>
          <dgm:constr type="r" for="ch" forName="Plus" refType="w" fact="0"/>
          <dgm:constr type="t" for="ch" forName="Plus" refType="h" fact="0"/>
          <dgm:constr type="w" for="ch" forName="Plus" refType="w" fact="0.17"/>
          <dgm:constr type="h" for="ch" forName="Plus" refType="w" refFor="ch" refForName="Plus"/>
          <dgm:constr type="r" for="ch" forName="Minus" refType="w" fact="-0.84"/>
          <dgm:constr type="t" for="ch" forName="Minus" refType="h" fact="0.1115"/>
          <dgm:constr type="w" for="ch" forName="Minus" refType="w" fact="0.16"/>
          <dgm:constr type="h" for="ch" forName="Minus" refType="h" fact="0.1"/>
          <dgm:constr type="r" for="ch" forName="Divider" refType="w" fact="-0.525"/>
          <dgm:constr type="t" for="ch" forName="Divider" refType="h" fact="0.2615"/>
          <dgm:constr type="w" for="ch" forName="Divider" refType="w" fact="0.0001"/>
          <dgm:constr type="h" for="ch" forName="Divider" refType="h" fact="0.67"/>
        </dgm:constrLst>
      </dgm:else>
    </dgm:choose>
    <dgm:layoutNode name="Background" styleLbl="bgImgPlace1">
      <dgm:alg type="sp"/>
      <dgm:shape xmlns:r="http://schemas.openxmlformats.org/officeDocument/2006/relationships" type="rect" r:blip="">
        <dgm:adjLst/>
      </dgm:shape>
      <dgm:presOf/>
    </dgm:layoutNode>
    <dgm:layoutNode name="ParentText1"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1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arentText2"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2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lus" styleLbl="alignNode1">
      <dgm:alg type="sp"/>
      <dgm:shape xmlns:r="http://schemas.openxmlformats.org/officeDocument/2006/relationships" type="plus" r:blip="">
        <dgm:adjLst>
          <dgm:adj idx="1" val="0.3281"/>
        </dgm:adjLst>
      </dgm:shape>
      <dgm:presOf/>
    </dgm:layoutNode>
    <dgm:layoutNode name="Minus" styleLbl="alignNode1">
      <dgm:alg type="sp"/>
      <dgm:shape xmlns:r="http://schemas.openxmlformats.org/officeDocument/2006/relationships" type="rect" r:blip="">
        <dgm:adjLst/>
      </dgm:shape>
      <dgm:presOf/>
    </dgm:layoutNode>
    <dgm:layoutNode name="Divider" styleLbl="parChTrans1D1">
      <dgm:alg type="sp"/>
      <dgm:shape xmlns:r="http://schemas.openxmlformats.org/officeDocument/2006/relationships" type="line" r:blip="">
        <dgm:adjLst/>
      </dgm:shape>
      <dgm:presOf/>
    </dgm:layoutNode>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3#1">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1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2025/11/18</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27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291.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295.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303.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322.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339.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341.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342.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343.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3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a:t>
            </a:fld>
            <a:endParaRPr lang="zh-CN" altLang="en-US"/>
          </a:p>
        </p:txBody>
      </p:sp>
    </p:spTree>
    <p:extLst>
      <p:ext uri="{BB962C8B-B14F-4D97-AF65-F5344CB8AC3E}">
        <p14:creationId xmlns:p14="http://schemas.microsoft.com/office/powerpoint/2010/main" val="32230060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a:t>
            </a:fld>
            <a:endParaRPr lang="zh-CN" altLang="en-US"/>
          </a:p>
        </p:txBody>
      </p:sp>
    </p:spTree>
    <p:extLst>
      <p:ext uri="{BB962C8B-B14F-4D97-AF65-F5344CB8AC3E}">
        <p14:creationId xmlns:p14="http://schemas.microsoft.com/office/powerpoint/2010/main" val="38508805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a:t>
            </a:fld>
            <a:endParaRPr lang="zh-CN" altLang="en-US"/>
          </a:p>
        </p:txBody>
      </p:sp>
    </p:spTree>
    <p:extLst>
      <p:ext uri="{BB962C8B-B14F-4D97-AF65-F5344CB8AC3E}">
        <p14:creationId xmlns:p14="http://schemas.microsoft.com/office/powerpoint/2010/main" val="31180118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a:t>
            </a:fld>
            <a:endParaRPr lang="zh-CN" altLang="en-US"/>
          </a:p>
        </p:txBody>
      </p:sp>
    </p:spTree>
    <p:extLst>
      <p:ext uri="{BB962C8B-B14F-4D97-AF65-F5344CB8AC3E}">
        <p14:creationId xmlns:p14="http://schemas.microsoft.com/office/powerpoint/2010/main" val="23210300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a:t>
            </a:fld>
            <a:endParaRPr lang="zh-CN" altLang="en-US"/>
          </a:p>
        </p:txBody>
      </p:sp>
    </p:spTree>
    <p:extLst>
      <p:ext uri="{BB962C8B-B14F-4D97-AF65-F5344CB8AC3E}">
        <p14:creationId xmlns:p14="http://schemas.microsoft.com/office/powerpoint/2010/main" val="38790734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a:t>
            </a:fld>
            <a:endParaRPr lang="zh-CN" altLang="en-US"/>
          </a:p>
        </p:txBody>
      </p:sp>
    </p:spTree>
    <p:extLst>
      <p:ext uri="{BB962C8B-B14F-4D97-AF65-F5344CB8AC3E}">
        <p14:creationId xmlns:p14="http://schemas.microsoft.com/office/powerpoint/2010/main" val="10100880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a:t>
            </a:fld>
            <a:endParaRPr lang="zh-CN" altLang="en-US"/>
          </a:p>
        </p:txBody>
      </p:sp>
    </p:spTree>
    <p:extLst>
      <p:ext uri="{BB962C8B-B14F-4D97-AF65-F5344CB8AC3E}">
        <p14:creationId xmlns:p14="http://schemas.microsoft.com/office/powerpoint/2010/main" val="28370223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a:t>
            </a:fld>
            <a:endParaRPr lang="zh-CN" altLang="en-US"/>
          </a:p>
        </p:txBody>
      </p:sp>
    </p:spTree>
    <p:extLst>
      <p:ext uri="{BB962C8B-B14F-4D97-AF65-F5344CB8AC3E}">
        <p14:creationId xmlns:p14="http://schemas.microsoft.com/office/powerpoint/2010/main" val="1576969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a:t>
            </a:fld>
            <a:endParaRPr lang="zh-CN" altLang="en-US"/>
          </a:p>
        </p:txBody>
      </p:sp>
    </p:spTree>
    <p:extLst>
      <p:ext uri="{BB962C8B-B14F-4D97-AF65-F5344CB8AC3E}">
        <p14:creationId xmlns:p14="http://schemas.microsoft.com/office/powerpoint/2010/main" val="12149601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2703419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a:t>
            </a:fld>
            <a:endParaRPr lang="zh-CN" altLang="en-US"/>
          </a:p>
        </p:txBody>
      </p:sp>
    </p:spTree>
    <p:extLst>
      <p:ext uri="{BB962C8B-B14F-4D97-AF65-F5344CB8AC3E}">
        <p14:creationId xmlns:p14="http://schemas.microsoft.com/office/powerpoint/2010/main" val="22064112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a:t>
            </a:fld>
            <a:endParaRPr lang="zh-CN" altLang="en-US"/>
          </a:p>
        </p:txBody>
      </p:sp>
    </p:spTree>
    <p:extLst>
      <p:ext uri="{BB962C8B-B14F-4D97-AF65-F5344CB8AC3E}">
        <p14:creationId xmlns:p14="http://schemas.microsoft.com/office/powerpoint/2010/main" val="14101142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a:t>
            </a:fld>
            <a:endParaRPr lang="zh-CN" altLang="en-US"/>
          </a:p>
        </p:txBody>
      </p:sp>
    </p:spTree>
    <p:extLst>
      <p:ext uri="{BB962C8B-B14F-4D97-AF65-F5344CB8AC3E}">
        <p14:creationId xmlns:p14="http://schemas.microsoft.com/office/powerpoint/2010/main" val="36739964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a:t>
            </a:fld>
            <a:endParaRPr lang="zh-CN" altLang="en-US"/>
          </a:p>
        </p:txBody>
      </p:sp>
    </p:spTree>
    <p:extLst>
      <p:ext uri="{BB962C8B-B14F-4D97-AF65-F5344CB8AC3E}">
        <p14:creationId xmlns:p14="http://schemas.microsoft.com/office/powerpoint/2010/main" val="21136235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最早的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对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地址的分类只到 </a:t>
            </a:r>
            <a:r>
              <a:rPr lang="en-US" altLang="zh-CN" sz="1200" b="0" i="0" kern="1200" dirty="0">
                <a:solidFill>
                  <a:schemeClr val="tx1"/>
                </a:solidFill>
                <a:effectLst/>
                <a:latin typeface="+mn-lt"/>
                <a:ea typeface="+mn-ea"/>
                <a:cs typeface="+mn-cs"/>
              </a:rPr>
              <a:t>C</a:t>
            </a:r>
            <a:r>
              <a:rPr lang="zh-CN" altLang="en-US" sz="1200" b="0" i="0" kern="1200" dirty="0">
                <a:solidFill>
                  <a:schemeClr val="tx1"/>
                </a:solidFill>
                <a:effectLst/>
                <a:latin typeface="+mn-lt"/>
                <a:ea typeface="+mn-ea"/>
                <a:cs typeface="+mn-cs"/>
              </a:rPr>
              <a:t>，并将</a:t>
            </a:r>
            <a:r>
              <a:rPr lang="en-US" altLang="zh-CN" sz="1200" b="0" i="0" kern="1200" dirty="0">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地址中的 </a:t>
            </a:r>
            <a:r>
              <a:rPr lang="en-US" altLang="zh-CN" sz="1200" b="0" i="0" kern="1200" dirty="0">
                <a:solidFill>
                  <a:schemeClr val="tx1"/>
                </a:solidFill>
                <a:effectLst/>
                <a:latin typeface="+mn-lt"/>
                <a:ea typeface="+mn-ea"/>
                <a:cs typeface="+mn-cs"/>
              </a:rPr>
              <a:t>Bit </a:t>
            </a:r>
            <a:r>
              <a:rPr lang="zh-CN" altLang="en-US" sz="1200" b="0" i="0" kern="1200" dirty="0">
                <a:solidFill>
                  <a:schemeClr val="tx1"/>
                </a:solidFill>
                <a:effectLst/>
                <a:latin typeface="+mn-lt"/>
                <a:ea typeface="+mn-ea"/>
                <a:cs typeface="+mn-cs"/>
              </a:rPr>
              <a:t>分为三类，分别是 </a:t>
            </a:r>
            <a:r>
              <a:rPr lang="en-US" altLang="zh-CN" sz="1200" b="0" i="0" kern="1200" dirty="0">
                <a:solidFill>
                  <a:schemeClr val="tx1"/>
                </a:solidFill>
                <a:effectLst/>
                <a:latin typeface="+mn-lt"/>
                <a:ea typeface="+mn-ea"/>
                <a:cs typeface="+mn-cs"/>
              </a:rPr>
              <a:t>High order,  net,  host</a:t>
            </a:r>
            <a:r>
              <a:rPr lang="zh-CN" altLang="en-US" sz="1200" b="0" i="0" kern="1200" dirty="0">
                <a:solidFill>
                  <a:schemeClr val="tx1"/>
                </a:solidFill>
                <a:effectLst/>
                <a:latin typeface="+mn-lt"/>
                <a:ea typeface="+mn-ea"/>
                <a:cs typeface="+mn-cs"/>
              </a:rPr>
              <a:t>。</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然后更为关键的是下面的一句话 “</a:t>
            </a:r>
            <a:r>
              <a:rPr lang="en-US" altLang="zh-CN" sz="1200" b="0" i="0" kern="1200" dirty="0">
                <a:solidFill>
                  <a:schemeClr val="tx1"/>
                </a:solidFill>
                <a:effectLst/>
                <a:latin typeface="+mn-lt"/>
                <a:ea typeface="+mn-ea"/>
                <a:cs typeface="+mn-cs"/>
              </a:rPr>
              <a:t>A value of zero in the network field means this network.</a:t>
            </a:r>
            <a:r>
              <a:rPr lang="zh-CN" altLang="en-US" sz="1200" b="0" i="0" kern="1200" dirty="0">
                <a:solidFill>
                  <a:schemeClr val="tx1"/>
                </a:solidFill>
                <a:effectLst/>
                <a:latin typeface="+mn-lt"/>
                <a:ea typeface="+mn-ea"/>
                <a:cs typeface="+mn-cs"/>
              </a:rPr>
              <a:t>” 也就是说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全</a:t>
            </a:r>
            <a:r>
              <a:rPr lang="en-US" altLang="zh-CN" sz="1200" b="0" i="0" kern="1200" dirty="0">
                <a:solidFill>
                  <a:schemeClr val="tx1"/>
                </a:solidFill>
                <a:effectLst/>
                <a:latin typeface="+mn-lt"/>
                <a:ea typeface="+mn-ea"/>
                <a:cs typeface="+mn-cs"/>
              </a:rPr>
              <a:t>0 </a:t>
            </a:r>
            <a:r>
              <a:rPr lang="zh-CN" altLang="en-US" sz="1200" b="0" i="0" kern="1200" dirty="0">
                <a:solidFill>
                  <a:schemeClr val="tx1"/>
                </a:solidFill>
                <a:effectLst/>
                <a:latin typeface="+mn-lt"/>
                <a:ea typeface="+mn-ea"/>
                <a:cs typeface="+mn-cs"/>
              </a:rPr>
              <a:t>表示本网络，因此真正可用的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值应该是从</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开始。</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因为这条规则而无法使用的网络号是：</a:t>
            </a:r>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0.0.0.0/8</a:t>
            </a:r>
          </a:p>
          <a:p>
            <a:r>
              <a:rPr lang="en-US" altLang="zh-CN" sz="1200" b="0" i="0" kern="1200" dirty="0">
                <a:solidFill>
                  <a:schemeClr val="tx1"/>
                </a:solidFill>
                <a:effectLst/>
                <a:latin typeface="+mn-lt"/>
                <a:ea typeface="+mn-ea"/>
                <a:cs typeface="+mn-cs"/>
              </a:rPr>
              <a:t>B: 128.0.0.0/16</a:t>
            </a:r>
          </a:p>
          <a:p>
            <a:r>
              <a:rPr lang="en-US" altLang="zh-CN" sz="1200" b="0" i="0" kern="1200" dirty="0">
                <a:solidFill>
                  <a:schemeClr val="tx1"/>
                </a:solidFill>
                <a:effectLst/>
                <a:latin typeface="+mn-lt"/>
                <a:ea typeface="+mn-ea"/>
                <a:cs typeface="+mn-cs"/>
              </a:rPr>
              <a:t>C: 192.0.0.0/24</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根据 </a:t>
            </a:r>
            <a:r>
              <a:rPr lang="en-US" altLang="zh-CN" sz="1200" b="1" i="0" kern="1200" dirty="0">
                <a:solidFill>
                  <a:schemeClr val="tx1"/>
                </a:solidFill>
                <a:effectLst/>
                <a:latin typeface="+mn-lt"/>
                <a:ea typeface="+mn-ea"/>
                <a:cs typeface="+mn-cs"/>
              </a:rPr>
              <a:t>RFC 791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-INTERNET PROTOCOL </a:t>
            </a:r>
            <a:r>
              <a:rPr lang="zh-CN" altLang="en-US" sz="1200" b="1" i="0" kern="1200" dirty="0">
                <a:solidFill>
                  <a:schemeClr val="tx1"/>
                </a:solidFill>
                <a:effectLst/>
                <a:latin typeface="+mn-lt"/>
                <a:ea typeface="+mn-ea"/>
                <a:cs typeface="+mn-cs"/>
              </a:rPr>
              <a:t>说明的标注继续在 </a:t>
            </a:r>
            <a:r>
              <a:rPr lang="en-US" altLang="zh-CN" sz="1200" b="1" i="0" kern="1200" dirty="0">
                <a:solidFill>
                  <a:schemeClr val="tx1"/>
                </a:solidFill>
                <a:effectLst/>
                <a:latin typeface="+mn-lt"/>
                <a:ea typeface="+mn-ea"/>
                <a:cs typeface="+mn-cs"/>
              </a:rPr>
              <a:t>RFC 790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 - ASSIGNED NUMBERS </a:t>
            </a:r>
            <a:r>
              <a:rPr lang="zh-CN" altLang="en-US" sz="1200" b="1" i="0" kern="1200" dirty="0">
                <a:solidFill>
                  <a:schemeClr val="tx1"/>
                </a:solidFill>
                <a:effectLst/>
                <a:latin typeface="+mn-lt"/>
                <a:ea typeface="+mn-ea"/>
                <a:cs typeface="+mn-cs"/>
              </a:rPr>
              <a:t>中找到了更为详细的说明：</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A Networks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000.rrr.rrr.rrr                 Reserved                               [JBP]  </a:t>
            </a: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B Networks      </a:t>
            </a:r>
          </a:p>
          <a:p>
            <a:r>
              <a:rPr lang="en-US" altLang="zh-CN" sz="1200" b="0" i="0" kern="1200" dirty="0">
                <a:solidFill>
                  <a:schemeClr val="tx1"/>
                </a:solidFill>
                <a:effectLst/>
                <a:latin typeface="+mn-lt"/>
                <a:ea typeface="+mn-ea"/>
                <a:cs typeface="+mn-cs"/>
              </a:rPr>
              <a:t>Internet Address  Name          Network                 References</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128.000.rrr.rrr                 Reserved                             [JBP]</a:t>
            </a: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a:t>
            </a:r>
            <a:r>
              <a:rPr lang="zh-CN" altLang="en-US" sz="1200" b="0" i="0" kern="1200" dirty="0">
                <a:solidFill>
                  <a:schemeClr val="tx1"/>
                </a:solidFill>
                <a:effectLst/>
                <a:latin typeface="+mn-lt"/>
                <a:ea typeface="+mn-ea"/>
                <a:cs typeface="+mn-cs"/>
              </a:rPr>
              <a:t>类和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类地址都明确说了 </a:t>
            </a:r>
            <a:r>
              <a:rPr lang="en-US" altLang="zh-CN" sz="1200" b="0" i="0" kern="1200" dirty="0">
                <a:solidFill>
                  <a:schemeClr val="tx1"/>
                </a:solidFill>
                <a:effectLst/>
                <a:latin typeface="+mn-lt"/>
                <a:ea typeface="+mn-ea"/>
                <a:cs typeface="+mn-cs"/>
              </a:rPr>
              <a:t>0.x.x.x </a:t>
            </a:r>
            <a:r>
              <a:rPr lang="zh-CN" altLang="en-US" sz="1200" b="0" i="0" kern="1200" dirty="0">
                <a:solidFill>
                  <a:schemeClr val="tx1"/>
                </a:solidFill>
                <a:effectLst/>
                <a:latin typeface="+mn-lt"/>
                <a:ea typeface="+mn-ea"/>
                <a:cs typeface="+mn-cs"/>
              </a:rPr>
              <a:t>及 </a:t>
            </a:r>
            <a:r>
              <a:rPr lang="en-US" altLang="zh-CN" sz="1200" b="0" i="0" kern="1200" dirty="0">
                <a:solidFill>
                  <a:schemeClr val="tx1"/>
                </a:solidFill>
                <a:effectLst/>
                <a:latin typeface="+mn-lt"/>
                <a:ea typeface="+mn-ea"/>
                <a:cs typeface="+mn-cs"/>
              </a:rPr>
              <a:t>128.0.x.x </a:t>
            </a:r>
            <a:r>
              <a:rPr lang="zh-CN" altLang="en-US" sz="1200" b="0" i="0" kern="1200" dirty="0">
                <a:solidFill>
                  <a:schemeClr val="tx1"/>
                </a:solidFill>
                <a:effectLst/>
                <a:latin typeface="+mn-lt"/>
                <a:ea typeface="+mn-ea"/>
                <a:cs typeface="+mn-cs"/>
              </a:rPr>
              <a:t>都是保留地址，而在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类中应该是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文档出现了明显的错误，因为 </a:t>
            </a:r>
            <a:r>
              <a:rPr lang="en-US" altLang="zh-CN" sz="1200" b="0" i="0" kern="1200" dirty="0">
                <a:solidFill>
                  <a:schemeClr val="tx1"/>
                </a:solidFill>
                <a:effectLst/>
                <a:latin typeface="+mn-lt"/>
                <a:ea typeface="+mn-ea"/>
                <a:cs typeface="+mn-cs"/>
              </a:rPr>
              <a:t>192.000.001 </a:t>
            </a:r>
            <a:r>
              <a:rPr lang="zh-CN" altLang="en-US" sz="1200" b="0" i="0" kern="1200" dirty="0">
                <a:solidFill>
                  <a:schemeClr val="tx1"/>
                </a:solidFill>
                <a:effectLst/>
                <a:latin typeface="+mn-lt"/>
                <a:ea typeface="+mn-ea"/>
                <a:cs typeface="+mn-cs"/>
              </a:rPr>
              <a:t>开头的地址不可能同属两行，显然这里要说明的是 </a:t>
            </a:r>
            <a:r>
              <a:rPr lang="en-US" altLang="zh-CN" sz="1200" b="0" i="0" kern="1200" dirty="0">
                <a:solidFill>
                  <a:schemeClr val="tx1"/>
                </a:solidFill>
                <a:effectLst/>
                <a:latin typeface="+mn-lt"/>
                <a:ea typeface="+mn-ea"/>
                <a:cs typeface="+mn-cs"/>
              </a:rPr>
              <a:t>192.0.0.x </a:t>
            </a:r>
            <a:r>
              <a:rPr lang="zh-CN" altLang="en-US" sz="1200" b="0" i="0" kern="1200" dirty="0">
                <a:solidFill>
                  <a:schemeClr val="tx1"/>
                </a:solidFill>
                <a:effectLst/>
                <a:latin typeface="+mn-lt"/>
                <a:ea typeface="+mn-ea"/>
                <a:cs typeface="+mn-cs"/>
              </a:rPr>
              <a:t>也是保留地址。  </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C Networks</a:t>
            </a:r>
            <a:r>
              <a:rPr lang="en-US" altLang="zh-CN" sz="1200" b="0" i="0" kern="1200" dirty="0">
                <a:solidFill>
                  <a:schemeClr val="tx1"/>
                </a:solidFill>
                <a:effectLst/>
                <a:latin typeface="+mn-lt"/>
                <a:ea typeface="+mn-ea"/>
                <a:cs typeface="+mn-cs"/>
              </a:rPr>
              <a:t>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192.000.001.rrr                              Reserved                      [JBP]      </a:t>
            </a:r>
          </a:p>
          <a:p>
            <a:r>
              <a:rPr lang="en-US" altLang="zh-CN" sz="1200" b="0" i="0" kern="1200" dirty="0">
                <a:solidFill>
                  <a:schemeClr val="tx1"/>
                </a:solidFill>
                <a:effectLst/>
                <a:latin typeface="+mn-lt"/>
                <a:ea typeface="+mn-ea"/>
                <a:cs typeface="+mn-cs"/>
              </a:rPr>
              <a:t>192.000.001.rrr-223.255.254.rrr   Unassigned                   [JBP]</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在 </a:t>
            </a:r>
            <a:r>
              <a:rPr lang="en-US" altLang="zh-CN" sz="1200" b="1" i="0" kern="1200" dirty="0">
                <a:solidFill>
                  <a:schemeClr val="tx1"/>
                </a:solidFill>
                <a:effectLst/>
                <a:latin typeface="+mn-lt"/>
                <a:ea typeface="+mn-ea"/>
                <a:cs typeface="+mn-cs"/>
              </a:rPr>
              <a:t>RFC 3330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2002</a:t>
            </a:r>
            <a:r>
              <a:rPr lang="zh-CN" altLang="en-US" sz="1200" b="1" i="0" kern="1200" dirty="0">
                <a:solidFill>
                  <a:schemeClr val="tx1"/>
                </a:solidFill>
                <a:effectLst/>
                <a:latin typeface="+mn-lt"/>
                <a:ea typeface="+mn-ea"/>
                <a:cs typeface="+mn-cs"/>
              </a:rPr>
              <a:t>年）</a:t>
            </a:r>
            <a:r>
              <a:rPr lang="en-US" altLang="zh-CN" sz="1200" b="1" i="0" kern="1200" dirty="0">
                <a:solidFill>
                  <a:schemeClr val="tx1"/>
                </a:solidFill>
                <a:effectLst/>
                <a:latin typeface="+mn-lt"/>
                <a:ea typeface="+mn-ea"/>
                <a:cs typeface="+mn-cs"/>
              </a:rPr>
              <a:t> - Special-Use IPv4 Addresses </a:t>
            </a:r>
            <a:r>
              <a:rPr lang="zh-CN" altLang="en-US" sz="1200" b="1" i="0" kern="1200" dirty="0">
                <a:solidFill>
                  <a:schemeClr val="tx1"/>
                </a:solidFill>
                <a:effectLst/>
                <a:latin typeface="+mn-lt"/>
                <a:ea typeface="+mn-ea"/>
                <a:cs typeface="+mn-cs"/>
              </a:rPr>
              <a:t>里有关于这两段地址的明确说明：   </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128.0.0.0/16 </a:t>
            </a:r>
            <a:r>
              <a:rPr lang="en-US" altLang="zh-CN" sz="1200" b="0" i="0" kern="1200" dirty="0">
                <a:solidFill>
                  <a:schemeClr val="tx1"/>
                </a:solidFill>
                <a:effectLst/>
                <a:latin typeface="+mn-lt"/>
                <a:ea typeface="+mn-ea"/>
                <a:cs typeface="+mn-cs"/>
              </a:rPr>
              <a:t>- This block, corresponding to the numerically lowest of   the former Class B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   </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128.0.0.0/16 - </a:t>
            </a:r>
            <a:r>
              <a:rPr lang="zh-CN" altLang="en-US" sz="1200" b="0" i="0" kern="1200" dirty="0">
                <a:solidFill>
                  <a:schemeClr val="tx1"/>
                </a:solidFill>
                <a:effectLst/>
                <a:latin typeface="+mn-lt"/>
                <a:ea typeface="+mn-ea"/>
                <a:cs typeface="+mn-cs"/>
              </a:rPr>
              <a:t>该块对应于前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192.0.0.0/24</a:t>
            </a:r>
            <a:r>
              <a:rPr lang="en-US" altLang="zh-CN" sz="1200" b="0" i="0" kern="1200" dirty="0">
                <a:solidFill>
                  <a:schemeClr val="tx1"/>
                </a:solidFill>
                <a:effectLst/>
                <a:latin typeface="+mn-lt"/>
                <a:ea typeface="+mn-ea"/>
                <a:cs typeface="+mn-cs"/>
              </a:rPr>
              <a:t> - This block, corresponding to the numerically lowest of   the former Class C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192.0.0.0/24 - </a:t>
            </a:r>
            <a:r>
              <a:rPr lang="zh-CN" altLang="en-US" sz="1200" b="0" i="0" kern="1200" dirty="0">
                <a:solidFill>
                  <a:schemeClr val="tx1"/>
                </a:solidFill>
                <a:effectLst/>
                <a:latin typeface="+mn-lt"/>
                <a:ea typeface="+mn-ea"/>
                <a:cs typeface="+mn-cs"/>
              </a:rPr>
              <a:t>该块对应于以前的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这个 </a:t>
            </a:r>
            <a:r>
              <a:rPr lang="en-US" altLang="zh-CN" sz="1200" b="1" i="0" kern="1200" dirty="0">
                <a:solidFill>
                  <a:schemeClr val="tx1"/>
                </a:solidFill>
                <a:effectLst/>
                <a:latin typeface="+mn-lt"/>
                <a:ea typeface="+mn-ea"/>
                <a:cs typeface="+mn-cs"/>
              </a:rPr>
              <a:t>RFC </a:t>
            </a:r>
            <a:r>
              <a:rPr lang="zh-CN" altLang="en-US" sz="1200" b="1" i="0" kern="1200" dirty="0">
                <a:solidFill>
                  <a:schemeClr val="tx1"/>
                </a:solidFill>
                <a:effectLst/>
                <a:latin typeface="+mn-lt"/>
                <a:ea typeface="+mn-ea"/>
                <a:cs typeface="+mn-cs"/>
              </a:rPr>
              <a:t>发表于 </a:t>
            </a:r>
            <a:r>
              <a:rPr lang="en-US" altLang="zh-CN" sz="1200" b="1" i="0" kern="1200" dirty="0">
                <a:solidFill>
                  <a:schemeClr val="tx1"/>
                </a:solidFill>
                <a:effectLst/>
                <a:latin typeface="+mn-lt"/>
                <a:ea typeface="+mn-ea"/>
                <a:cs typeface="+mn-cs"/>
              </a:rPr>
              <a:t>2002 </a:t>
            </a:r>
            <a:r>
              <a:rPr lang="zh-CN" altLang="en-US" sz="1200" b="1" i="0" kern="1200" dirty="0">
                <a:solidFill>
                  <a:schemeClr val="tx1"/>
                </a:solidFill>
                <a:effectLst/>
                <a:latin typeface="+mn-lt"/>
                <a:ea typeface="+mn-ea"/>
                <a:cs typeface="+mn-cs"/>
              </a:rPr>
              <a:t>年，对于这两段地址明确表示因为无类地址空间的原因，不再需要保留，地址将在今后进行分配。</a:t>
            </a:r>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主机号不能为全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主机位全为</a:t>
            </a:r>
            <a:r>
              <a:rPr lang="en-US" altLang="zh-CN" sz="1200" b="0" i="0" kern="1200" dirty="0">
                <a:solidFill>
                  <a:schemeClr val="tx1"/>
                </a:solidFill>
                <a:effectLst/>
                <a:latin typeface="+mn-lt"/>
                <a:ea typeface="+mn-ea"/>
                <a:cs typeface="+mn-cs"/>
              </a:rPr>
              <a:t>0</a:t>
            </a:r>
            <a:r>
              <a:rPr lang="zh-CN" altLang="en-US" sz="1200" b="0" i="0" kern="1200" dirty="0">
                <a:solidFill>
                  <a:schemeClr val="tx1"/>
                </a:solidFill>
                <a:effectLst/>
                <a:latin typeface="+mn-lt"/>
                <a:ea typeface="+mn-ea"/>
                <a:cs typeface="+mn-cs"/>
              </a:rPr>
              <a:t>表示的是这个网络中主机所处的网络地址，主机间能不能直接通信就是要看这两台主机是不是在同一个网络中！所以这个不能分配。</a:t>
            </a:r>
            <a:endParaRPr lang="en-US" altLang="zh-CN"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地址位全为</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的地址是这个网络中主机的广播地址，当网络中一台主机向这个</a:t>
            </a:r>
            <a:r>
              <a:rPr lang="en-US" altLang="zh-CN" sz="1200" b="0" i="0" kern="1200" dirty="0" err="1">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地址发送信息是，所有与这台主机在同一个网络的主机都能收到它发送的信息，所以这个也不能具体分配给一台主机。</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1" i="0" kern="1200" dirty="0">
                <a:solidFill>
                  <a:schemeClr val="tx1"/>
                </a:solidFill>
                <a:effectLst/>
                <a:latin typeface="+mn-lt"/>
                <a:ea typeface="+mn-ea"/>
                <a:cs typeface="+mn-cs"/>
              </a:rPr>
              <a:t>网络号或子网号是否能为 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r>
              <a:rPr lang="zh-CN" altLang="en-US" sz="1200" b="1" i="0" kern="1200" dirty="0">
                <a:solidFill>
                  <a:schemeClr val="tx1"/>
                </a:solidFill>
                <a:effectLst/>
                <a:latin typeface="+mn-lt"/>
                <a:ea typeface="+mn-ea"/>
                <a:cs typeface="+mn-cs"/>
              </a:rPr>
              <a:t>？</a:t>
            </a:r>
            <a:endParaRPr lang="en-US" altLang="zh-CN" sz="1200" b="1"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dirty="0"/>
              <a:t>在 </a:t>
            </a:r>
            <a:r>
              <a:rPr lang="en-US" altLang="zh-CN" dirty="0" err="1"/>
              <a:t>Classful</a:t>
            </a:r>
            <a:r>
              <a:rPr lang="en-US" altLang="zh-CN" dirty="0"/>
              <a:t> </a:t>
            </a:r>
            <a:r>
              <a:rPr lang="zh-CN" altLang="en-US" dirty="0"/>
              <a:t>环境，即严格按照</a:t>
            </a:r>
            <a:r>
              <a:rPr lang="en-US" altLang="zh-CN" dirty="0"/>
              <a:t> A.B.C.D </a:t>
            </a:r>
            <a:r>
              <a:rPr lang="zh-CN" altLang="en-US" dirty="0"/>
              <a:t>给 </a:t>
            </a:r>
            <a:r>
              <a:rPr lang="en-US" altLang="zh-CN" dirty="0"/>
              <a:t>IP </a:t>
            </a:r>
            <a:r>
              <a:rPr lang="zh-CN" altLang="en-US" dirty="0"/>
              <a:t>地址分类的环境下，为了避免二意性，全 </a:t>
            </a:r>
            <a:r>
              <a:rPr lang="en-US" altLang="zh-CN" dirty="0"/>
              <a:t>0 </a:t>
            </a:r>
            <a:r>
              <a:rPr lang="zh-CN" altLang="en-US" dirty="0"/>
              <a:t>和 全  </a:t>
            </a:r>
            <a:r>
              <a:rPr lang="en-US" altLang="zh-CN" dirty="0"/>
              <a:t>1 </a:t>
            </a:r>
            <a:r>
              <a:rPr lang="zh-CN" altLang="en-US" dirty="0"/>
              <a:t>子网号都不能使用。</a:t>
            </a:r>
            <a:endParaRPr lang="en-US" altLang="zh-CN" dirty="0"/>
          </a:p>
          <a:p>
            <a:pPr marL="171450" indent="-171450">
              <a:buFont typeface="Arial" panose="020B0604020202020204" pitchFamily="34" charset="0"/>
              <a:buChar char="•"/>
            </a:pPr>
            <a:r>
              <a:rPr lang="zh-CN" altLang="en-US" dirty="0"/>
              <a:t>在 </a:t>
            </a:r>
            <a:r>
              <a:rPr lang="en-US" altLang="zh-CN" dirty="0"/>
              <a:t>Classless</a:t>
            </a:r>
            <a:r>
              <a:rPr lang="zh-CN" altLang="en-US" baseline="0" dirty="0"/>
              <a:t> </a:t>
            </a:r>
            <a:r>
              <a:rPr lang="zh-CN" altLang="en-US" dirty="0"/>
              <a:t>环境下，任何时候掩码和 </a:t>
            </a:r>
            <a:r>
              <a:rPr lang="en-US" altLang="zh-CN" dirty="0"/>
              <a:t>IP </a:t>
            </a:r>
            <a:r>
              <a:rPr lang="zh-CN" altLang="en-US" dirty="0"/>
              <a:t>地址都成对出现，这样，前面谈到的二意性就不会存在。</a:t>
            </a:r>
            <a:endParaRPr lang="en-US" altLang="zh-CN" dirty="0"/>
          </a:p>
          <a:p>
            <a:endParaRPr lang="en-US" altLang="zh-CN" dirty="0"/>
          </a:p>
          <a:p>
            <a:r>
              <a:rPr lang="zh-CN" altLang="en-US" dirty="0"/>
              <a:t>是 </a:t>
            </a:r>
            <a:r>
              <a:rPr lang="en-US" altLang="zh-CN" dirty="0" err="1"/>
              <a:t>Classful</a:t>
            </a:r>
            <a:r>
              <a:rPr lang="en-US" altLang="zh-CN" dirty="0"/>
              <a:t> </a:t>
            </a:r>
            <a:r>
              <a:rPr lang="zh-CN" altLang="en-US" dirty="0"/>
              <a:t>还是 </a:t>
            </a:r>
            <a:r>
              <a:rPr lang="en-US" altLang="zh-CN" dirty="0"/>
              <a:t>Classless </a:t>
            </a:r>
            <a:r>
              <a:rPr lang="zh-CN" altLang="en-US" dirty="0"/>
              <a:t>取决于路由器运行的路由协议，一个路由器可同时运行 </a:t>
            </a:r>
            <a:r>
              <a:rPr lang="en-US" altLang="zh-CN" dirty="0" err="1"/>
              <a:t>Classful</a:t>
            </a:r>
            <a:r>
              <a:rPr lang="en-US" altLang="zh-CN" dirty="0"/>
              <a:t> </a:t>
            </a:r>
            <a:r>
              <a:rPr lang="zh-CN" altLang="en-US" dirty="0"/>
              <a:t>和 </a:t>
            </a:r>
            <a:r>
              <a:rPr lang="en-US" altLang="zh-CN" dirty="0"/>
              <a:t>Classless </a:t>
            </a:r>
            <a:r>
              <a:rPr lang="zh-CN" altLang="en-US" dirty="0"/>
              <a:t>路由协议。</a:t>
            </a:r>
            <a:endParaRPr lang="en-US" altLang="zh-CN" dirty="0"/>
          </a:p>
          <a:p>
            <a:r>
              <a:rPr lang="en-US" altLang="zh-CN" dirty="0"/>
              <a:t>RIP </a:t>
            </a:r>
            <a:r>
              <a:rPr lang="zh-CN" altLang="en-US" dirty="0"/>
              <a:t>是 </a:t>
            </a:r>
            <a:r>
              <a:rPr lang="en-US" altLang="zh-CN" dirty="0" err="1"/>
              <a:t>Classful</a:t>
            </a:r>
            <a:r>
              <a:rPr lang="zh-CN" altLang="en-US" dirty="0"/>
              <a:t>，</a:t>
            </a:r>
            <a:r>
              <a:rPr lang="en-US" altLang="zh-CN" dirty="0"/>
              <a:t>OSPF</a:t>
            </a:r>
            <a:r>
              <a:rPr lang="zh-CN" altLang="en-US" dirty="0"/>
              <a:t>、</a:t>
            </a:r>
            <a:r>
              <a:rPr lang="en-US" altLang="zh-CN" dirty="0"/>
              <a:t>EIGRP</a:t>
            </a:r>
            <a:r>
              <a:rPr lang="zh-CN" altLang="en-US" dirty="0"/>
              <a:t>、</a:t>
            </a:r>
            <a:r>
              <a:rPr lang="en-US" altLang="zh-CN" dirty="0"/>
              <a:t>BGP4 </a:t>
            </a:r>
            <a:r>
              <a:rPr lang="zh-CN" altLang="en-US" dirty="0"/>
              <a:t>是 </a:t>
            </a:r>
            <a:r>
              <a:rPr lang="en-US" altLang="zh-CN" dirty="0"/>
              <a:t>Classless</a:t>
            </a:r>
            <a:r>
              <a:rPr lang="zh-CN" altLang="en-US" dirty="0"/>
              <a:t>，它们可以同时运行在同一台路由器上。</a:t>
            </a:r>
            <a:endParaRPr lang="en-US" altLang="zh-CN" dirty="0"/>
          </a:p>
          <a:p>
            <a:r>
              <a:rPr lang="zh-CN" altLang="en-US" dirty="0"/>
              <a:t>例如：</a:t>
            </a:r>
            <a:endParaRPr lang="en-US" altLang="zh-CN" dirty="0"/>
          </a:p>
          <a:p>
            <a:r>
              <a:rPr lang="zh-CN" altLang="en-US" dirty="0"/>
              <a:t>在子网划分下，一个发往 </a:t>
            </a:r>
            <a:r>
              <a:rPr lang="en-US" altLang="zh-CN" dirty="0"/>
              <a:t>192.168.0.255 </a:t>
            </a:r>
            <a:r>
              <a:rPr lang="zh-CN" altLang="en-US" dirty="0"/>
              <a:t>的广播不能确认是发给主网络的还是子网；</a:t>
            </a:r>
            <a:endParaRPr lang="en-US" altLang="zh-CN" dirty="0"/>
          </a:p>
          <a:p>
            <a:r>
              <a:rPr lang="zh-CN" altLang="en-US" dirty="0"/>
              <a:t>然而采用 </a:t>
            </a:r>
            <a:r>
              <a:rPr lang="en-US" altLang="zh-CN" dirty="0"/>
              <a:t>CIDR </a:t>
            </a:r>
            <a:r>
              <a:rPr lang="zh-CN" altLang="en-US" dirty="0"/>
              <a:t>后，由于 </a:t>
            </a:r>
            <a:r>
              <a:rPr lang="en-US" altLang="zh-CN" dirty="0"/>
              <a:t>CIDR </a:t>
            </a:r>
            <a:r>
              <a:rPr lang="zh-CN" altLang="en-US" dirty="0"/>
              <a:t>在路由时采取最长前缀匹配，目的地址 </a:t>
            </a:r>
            <a:r>
              <a:rPr lang="en-US" altLang="zh-CN" dirty="0"/>
              <a:t>192.168.0.255 </a:t>
            </a:r>
            <a:r>
              <a:rPr lang="zh-CN" altLang="en-US" dirty="0"/>
              <a:t>和 地址块 </a:t>
            </a:r>
            <a:r>
              <a:rPr lang="en-US" altLang="zh-CN" dirty="0"/>
              <a:t>192.168.0.192/26 </a:t>
            </a:r>
            <a:r>
              <a:rPr lang="zh-CN" altLang="en-US" dirty="0"/>
              <a:t>的前缀匹配长度最长，所以广播发送到 </a:t>
            </a:r>
            <a:r>
              <a:rPr lang="en-US" altLang="zh-CN" dirty="0"/>
              <a:t>192.168.0.192/26 </a:t>
            </a:r>
            <a:r>
              <a:rPr lang="zh-CN" altLang="en-US" dirty="0"/>
              <a:t>地址块。</a:t>
            </a:r>
            <a:endParaRPr lang="en-US" altLang="zh-CN" dirty="0"/>
          </a:p>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40</a:t>
            </a:fld>
            <a:endParaRPr lang="zh-CN" altLang="en-US"/>
          </a:p>
        </p:txBody>
      </p:sp>
    </p:spTree>
    <p:extLst>
      <p:ext uri="{BB962C8B-B14F-4D97-AF65-F5344CB8AC3E}">
        <p14:creationId xmlns:p14="http://schemas.microsoft.com/office/powerpoint/2010/main" val="19938228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45</a:t>
            </a:fld>
            <a:endParaRPr lang="zh-CN" altLang="en-US"/>
          </a:p>
        </p:txBody>
      </p:sp>
    </p:spTree>
    <p:extLst>
      <p:ext uri="{BB962C8B-B14F-4D97-AF65-F5344CB8AC3E}">
        <p14:creationId xmlns:p14="http://schemas.microsoft.com/office/powerpoint/2010/main" val="27954956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63</a:t>
            </a:fld>
            <a:endParaRPr lang="zh-CN" altLang="en-US"/>
          </a:p>
        </p:txBody>
      </p:sp>
    </p:spTree>
    <p:extLst>
      <p:ext uri="{BB962C8B-B14F-4D97-AF65-F5344CB8AC3E}">
        <p14:creationId xmlns:p14="http://schemas.microsoft.com/office/powerpoint/2010/main" val="25727534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64</a:t>
            </a:fld>
            <a:endParaRPr lang="zh-CN" altLang="en-US"/>
          </a:p>
        </p:txBody>
      </p:sp>
    </p:spTree>
    <p:extLst>
      <p:ext uri="{BB962C8B-B14F-4D97-AF65-F5344CB8AC3E}">
        <p14:creationId xmlns:p14="http://schemas.microsoft.com/office/powerpoint/2010/main" val="17293909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66</a:t>
            </a:fld>
            <a:endParaRPr lang="zh-CN" altLang="en-US"/>
          </a:p>
        </p:txBody>
      </p:sp>
    </p:spTree>
    <p:extLst>
      <p:ext uri="{BB962C8B-B14F-4D97-AF65-F5344CB8AC3E}">
        <p14:creationId xmlns:p14="http://schemas.microsoft.com/office/powerpoint/2010/main" val="370244841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74</a:t>
            </a:fld>
            <a:endParaRPr lang="zh-CN" altLang="en-US"/>
          </a:p>
        </p:txBody>
      </p:sp>
    </p:spTree>
    <p:extLst>
      <p:ext uri="{BB962C8B-B14F-4D97-AF65-F5344CB8AC3E}">
        <p14:creationId xmlns:p14="http://schemas.microsoft.com/office/powerpoint/2010/main" val="350610509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75</a:t>
            </a:fld>
            <a:endParaRPr lang="zh-CN" altLang="en-US"/>
          </a:p>
        </p:txBody>
      </p:sp>
    </p:spTree>
    <p:extLst>
      <p:ext uri="{BB962C8B-B14F-4D97-AF65-F5344CB8AC3E}">
        <p14:creationId xmlns:p14="http://schemas.microsoft.com/office/powerpoint/2010/main" val="9638498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76</a:t>
            </a:fld>
            <a:endParaRPr lang="zh-CN" altLang="en-US"/>
          </a:p>
        </p:txBody>
      </p:sp>
    </p:spTree>
    <p:extLst>
      <p:ext uri="{BB962C8B-B14F-4D97-AF65-F5344CB8AC3E}">
        <p14:creationId xmlns:p14="http://schemas.microsoft.com/office/powerpoint/2010/main" val="31745780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77</a:t>
            </a:fld>
            <a:endParaRPr lang="zh-CN" altLang="en-US"/>
          </a:p>
        </p:txBody>
      </p:sp>
    </p:spTree>
    <p:extLst>
      <p:ext uri="{BB962C8B-B14F-4D97-AF65-F5344CB8AC3E}">
        <p14:creationId xmlns:p14="http://schemas.microsoft.com/office/powerpoint/2010/main" val="16517424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arenBoth"/>
            </a:pPr>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78</a:t>
            </a:fld>
            <a:endParaRPr lang="zh-CN" altLang="en-US"/>
          </a:p>
        </p:txBody>
      </p:sp>
    </p:spTree>
    <p:extLst>
      <p:ext uri="{BB962C8B-B14F-4D97-AF65-F5344CB8AC3E}">
        <p14:creationId xmlns:p14="http://schemas.microsoft.com/office/powerpoint/2010/main" val="23569177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79</a:t>
            </a:fld>
            <a:endParaRPr lang="zh-CN" altLang="en-US"/>
          </a:p>
        </p:txBody>
      </p:sp>
    </p:spTree>
    <p:extLst>
      <p:ext uri="{BB962C8B-B14F-4D97-AF65-F5344CB8AC3E}">
        <p14:creationId xmlns:p14="http://schemas.microsoft.com/office/powerpoint/2010/main" val="39498397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80</a:t>
            </a:fld>
            <a:endParaRPr lang="zh-CN" altLang="en-US"/>
          </a:p>
        </p:txBody>
      </p:sp>
    </p:spTree>
    <p:extLst>
      <p:ext uri="{BB962C8B-B14F-4D97-AF65-F5344CB8AC3E}">
        <p14:creationId xmlns:p14="http://schemas.microsoft.com/office/powerpoint/2010/main" val="33795851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81</a:t>
            </a:fld>
            <a:endParaRPr lang="zh-CN" altLang="en-US"/>
          </a:p>
        </p:txBody>
      </p:sp>
    </p:spTree>
    <p:extLst>
      <p:ext uri="{BB962C8B-B14F-4D97-AF65-F5344CB8AC3E}">
        <p14:creationId xmlns:p14="http://schemas.microsoft.com/office/powerpoint/2010/main" val="23717063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82</a:t>
            </a:fld>
            <a:endParaRPr lang="zh-CN" altLang="en-US"/>
          </a:p>
        </p:txBody>
      </p:sp>
    </p:spTree>
    <p:extLst>
      <p:ext uri="{BB962C8B-B14F-4D97-AF65-F5344CB8AC3E}">
        <p14:creationId xmlns:p14="http://schemas.microsoft.com/office/powerpoint/2010/main" val="9626164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83</a:t>
            </a:fld>
            <a:endParaRPr lang="zh-CN" altLang="en-US"/>
          </a:p>
        </p:txBody>
      </p:sp>
    </p:spTree>
    <p:extLst>
      <p:ext uri="{BB962C8B-B14F-4D97-AF65-F5344CB8AC3E}">
        <p14:creationId xmlns:p14="http://schemas.microsoft.com/office/powerpoint/2010/main" val="854660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84</a:t>
            </a:fld>
            <a:endParaRPr lang="zh-CN" altLang="en-US"/>
          </a:p>
        </p:txBody>
      </p:sp>
    </p:spTree>
    <p:extLst>
      <p:ext uri="{BB962C8B-B14F-4D97-AF65-F5344CB8AC3E}">
        <p14:creationId xmlns:p14="http://schemas.microsoft.com/office/powerpoint/2010/main" val="134189420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89</a:t>
            </a:fld>
            <a:endParaRPr lang="zh-CN" altLang="en-US"/>
          </a:p>
        </p:txBody>
      </p:sp>
    </p:spTree>
    <p:extLst>
      <p:ext uri="{BB962C8B-B14F-4D97-AF65-F5344CB8AC3E}">
        <p14:creationId xmlns:p14="http://schemas.microsoft.com/office/powerpoint/2010/main" val="56790120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91</a:t>
            </a:fld>
            <a:endParaRPr lang="zh-CN" altLang="en-US"/>
          </a:p>
        </p:txBody>
      </p:sp>
    </p:spTree>
    <p:extLst>
      <p:ext uri="{BB962C8B-B14F-4D97-AF65-F5344CB8AC3E}">
        <p14:creationId xmlns:p14="http://schemas.microsoft.com/office/powerpoint/2010/main" val="101496024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92</a:t>
            </a:fld>
            <a:endParaRPr lang="zh-CN" altLang="en-US"/>
          </a:p>
        </p:txBody>
      </p:sp>
    </p:spTree>
    <p:extLst>
      <p:ext uri="{BB962C8B-B14F-4D97-AF65-F5344CB8AC3E}">
        <p14:creationId xmlns:p14="http://schemas.microsoft.com/office/powerpoint/2010/main" val="258449770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100</a:t>
            </a:fld>
            <a:endParaRPr lang="zh-CN" altLang="en-US"/>
          </a:p>
        </p:txBody>
      </p:sp>
    </p:spTree>
    <p:extLst>
      <p:ext uri="{BB962C8B-B14F-4D97-AF65-F5344CB8AC3E}">
        <p14:creationId xmlns:p14="http://schemas.microsoft.com/office/powerpoint/2010/main" val="342118430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107</a:t>
            </a:fld>
            <a:endParaRPr lang="zh-CN" altLang="en-US"/>
          </a:p>
        </p:txBody>
      </p:sp>
    </p:spTree>
    <p:extLst>
      <p:ext uri="{BB962C8B-B14F-4D97-AF65-F5344CB8AC3E}">
        <p14:creationId xmlns:p14="http://schemas.microsoft.com/office/powerpoint/2010/main" val="25835584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110</a:t>
            </a:fld>
            <a:endParaRPr lang="zh-CN" altLang="en-US"/>
          </a:p>
        </p:txBody>
      </p:sp>
    </p:spTree>
    <p:extLst>
      <p:ext uri="{BB962C8B-B14F-4D97-AF65-F5344CB8AC3E}">
        <p14:creationId xmlns:p14="http://schemas.microsoft.com/office/powerpoint/2010/main" val="41849771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111</a:t>
            </a:fld>
            <a:endParaRPr lang="zh-CN" altLang="en-US"/>
          </a:p>
        </p:txBody>
      </p:sp>
    </p:spTree>
    <p:extLst>
      <p:ext uri="{BB962C8B-B14F-4D97-AF65-F5344CB8AC3E}">
        <p14:creationId xmlns:p14="http://schemas.microsoft.com/office/powerpoint/2010/main" val="51300588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112</a:t>
            </a:fld>
            <a:endParaRPr lang="zh-CN" altLang="en-US"/>
          </a:p>
        </p:txBody>
      </p:sp>
    </p:spTree>
    <p:extLst>
      <p:ext uri="{BB962C8B-B14F-4D97-AF65-F5344CB8AC3E}">
        <p14:creationId xmlns:p14="http://schemas.microsoft.com/office/powerpoint/2010/main" val="296904393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某网络如图所示。</a:t>
            </a:r>
            <a:endParaRPr lang="en-US" altLang="zh-CN" dirty="0"/>
          </a:p>
          <a:p>
            <a:r>
              <a:rPr lang="zh-CN" altLang="en-US" dirty="0"/>
              <a:t>假设</a:t>
            </a:r>
            <a:r>
              <a:rPr lang="en-US" altLang="zh-CN" dirty="0"/>
              <a:t>R1</a:t>
            </a:r>
            <a:r>
              <a:rPr lang="zh-CN" altLang="en-US" dirty="0"/>
              <a:t>的路由表包括到达</a:t>
            </a:r>
            <a:r>
              <a:rPr lang="en-US" altLang="zh-CN" dirty="0"/>
              <a:t>3</a:t>
            </a:r>
            <a:r>
              <a:rPr lang="zh-CN" altLang="en-US" dirty="0"/>
              <a:t>个子网的路由。</a:t>
            </a:r>
          </a:p>
          <a:p>
            <a:r>
              <a:rPr lang="zh-CN" altLang="en-US" dirty="0"/>
              <a:t>假设位于</a:t>
            </a:r>
            <a:r>
              <a:rPr lang="en-US" altLang="zh-CN" dirty="0"/>
              <a:t>N1</a:t>
            </a:r>
            <a:r>
              <a:rPr lang="zh-CN" altLang="en-US" dirty="0"/>
              <a:t>子网中的主机 </a:t>
            </a:r>
            <a:r>
              <a:rPr lang="en-US" altLang="zh-CN" dirty="0"/>
              <a:t>H1 </a:t>
            </a:r>
            <a:r>
              <a:rPr lang="zh-CN" altLang="en-US" dirty="0"/>
              <a:t>发送一个目的地址为 </a:t>
            </a:r>
            <a:r>
              <a:rPr lang="en-US" altLang="zh-CN" dirty="0"/>
              <a:t>128.1.2.132 </a:t>
            </a:r>
            <a:r>
              <a:rPr lang="zh-CN" altLang="en-US" dirty="0"/>
              <a:t>的分组，该目的地址的主机位于</a:t>
            </a:r>
            <a:r>
              <a:rPr lang="en-US" altLang="zh-CN" dirty="0"/>
              <a:t>N2</a:t>
            </a:r>
            <a:r>
              <a:rPr lang="zh-CN" altLang="en-US" dirty="0"/>
              <a:t>子网中。该分组是如何被转发到目的主机的？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113</a:t>
            </a:fld>
            <a:endParaRPr lang="zh-CN" altLang="en-US"/>
          </a:p>
        </p:txBody>
      </p:sp>
    </p:spTree>
    <p:extLst>
      <p:ext uri="{BB962C8B-B14F-4D97-AF65-F5344CB8AC3E}">
        <p14:creationId xmlns:p14="http://schemas.microsoft.com/office/powerpoint/2010/main" val="403663427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首先，</a:t>
            </a:r>
            <a:r>
              <a:rPr lang="en-US" altLang="zh-CN" dirty="0"/>
              <a:t>H1 </a:t>
            </a:r>
            <a:r>
              <a:rPr lang="zh-CN" altLang="en-US" dirty="0"/>
              <a:t>检查 </a:t>
            </a:r>
            <a:r>
              <a:rPr lang="en-US" altLang="zh-CN" dirty="0"/>
              <a:t>128.1.2.132 </a:t>
            </a:r>
            <a:r>
              <a:rPr lang="zh-CN" altLang="en-US" dirty="0"/>
              <a:t>是否与其连接在本网络上。如果是，则直接交付；否则，就送交路由器 </a:t>
            </a:r>
            <a:r>
              <a:rPr lang="en-US" altLang="zh-CN" dirty="0"/>
              <a:t>R1</a:t>
            </a:r>
            <a:r>
              <a:rPr lang="zh-CN" altLang="en-US" dirty="0"/>
              <a:t>。</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114</a:t>
            </a:fld>
            <a:endParaRPr lang="zh-CN" altLang="en-US"/>
          </a:p>
        </p:txBody>
      </p:sp>
    </p:spTree>
    <p:extLst>
      <p:ext uri="{BB962C8B-B14F-4D97-AF65-F5344CB8AC3E}">
        <p14:creationId xmlns:p14="http://schemas.microsoft.com/office/powerpoint/2010/main" val="350016040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当</a:t>
            </a:r>
            <a:r>
              <a:rPr lang="en-US" altLang="zh-CN" dirty="0"/>
              <a:t>R1</a:t>
            </a:r>
            <a:r>
              <a:rPr lang="zh-CN" altLang="en-US" dirty="0"/>
              <a:t>收到目的地址为</a:t>
            </a:r>
            <a:r>
              <a:rPr lang="en-US" altLang="zh-CN" dirty="0"/>
              <a:t>128.1.2.132</a:t>
            </a:r>
            <a:r>
              <a:rPr lang="zh-CN" altLang="en-US" dirty="0"/>
              <a:t>的分组时，应该从那个接口向外转发呢？</a:t>
            </a:r>
            <a:endParaRPr lang="en-US" altLang="zh-CN" dirty="0"/>
          </a:p>
          <a:p>
            <a:r>
              <a:rPr lang="zh-CN" altLang="en-US" dirty="0"/>
              <a:t>路由器必须查表，检查目的地址与哪条前缀或路由匹配。</a:t>
            </a:r>
            <a:endParaRPr lang="en-US" altLang="zh-CN" dirty="0"/>
          </a:p>
          <a:p>
            <a:r>
              <a:rPr lang="zh-CN" altLang="en-US" dirty="0"/>
              <a:t>不匹配，则继续查下一条前缀或路由。</a:t>
            </a:r>
          </a:p>
          <a:p>
            <a:endParaRPr lang="en-US" altLang="zh-CN" dirty="0"/>
          </a:p>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a:t>现在先检查第</a:t>
            </a:r>
            <a:r>
              <a:rPr lang="en-US" altLang="zh-CN" dirty="0"/>
              <a:t>1</a:t>
            </a:r>
            <a:r>
              <a:rPr lang="zh-CN" altLang="en-US" dirty="0"/>
              <a:t>行。经计算比较，不匹配。继续查下一条前缀或路由。</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115</a:t>
            </a:fld>
            <a:endParaRPr lang="zh-CN" altLang="en-US"/>
          </a:p>
        </p:txBody>
      </p:sp>
    </p:spTree>
    <p:extLst>
      <p:ext uri="{BB962C8B-B14F-4D97-AF65-F5344CB8AC3E}">
        <p14:creationId xmlns:p14="http://schemas.microsoft.com/office/powerpoint/2010/main" val="341184179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检查第</a:t>
            </a:r>
            <a:r>
              <a:rPr lang="en-US" altLang="zh-CN" dirty="0"/>
              <a:t>2</a:t>
            </a:r>
            <a:r>
              <a:rPr lang="zh-CN" altLang="en-US" dirty="0"/>
              <a:t>行。经计算比较，与此路由匹配，从下一跳指示的接口转发出去。</a:t>
            </a:r>
            <a:endParaRPr lang="en-US" altLang="zh-CN" dirty="0"/>
          </a:p>
          <a:p>
            <a:r>
              <a:rPr lang="zh-CN" altLang="en-US" dirty="0"/>
              <a:t>由于</a:t>
            </a:r>
            <a:r>
              <a:rPr lang="en-US" altLang="zh-CN" dirty="0"/>
              <a:t>R1</a:t>
            </a:r>
            <a:r>
              <a:rPr lang="zh-CN" altLang="en-US" dirty="0"/>
              <a:t>与目的主机 </a:t>
            </a:r>
            <a:r>
              <a:rPr lang="en-US" altLang="zh-CN" dirty="0"/>
              <a:t>128.1.2.128/25 </a:t>
            </a:r>
            <a:r>
              <a:rPr lang="zh-CN" altLang="en-US" dirty="0"/>
              <a:t>位于同一个子网，因此可以直接交付分组。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116</a:t>
            </a:fld>
            <a:endParaRPr lang="zh-CN" altLang="en-US"/>
          </a:p>
        </p:txBody>
      </p:sp>
    </p:spTree>
    <p:extLst>
      <p:ext uri="{BB962C8B-B14F-4D97-AF65-F5344CB8AC3E}">
        <p14:creationId xmlns:p14="http://schemas.microsoft.com/office/powerpoint/2010/main" val="3328212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117</a:t>
            </a:fld>
            <a:endParaRPr lang="zh-CN" altLang="en-US"/>
          </a:p>
        </p:txBody>
      </p:sp>
    </p:spTree>
    <p:extLst>
      <p:ext uri="{BB962C8B-B14F-4D97-AF65-F5344CB8AC3E}">
        <p14:creationId xmlns:p14="http://schemas.microsoft.com/office/powerpoint/2010/main" val="345893577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假设</a:t>
            </a:r>
            <a:r>
              <a:rPr lang="en-US" altLang="zh-CN" dirty="0"/>
              <a:t>R1</a:t>
            </a:r>
            <a:r>
              <a:rPr lang="zh-CN" altLang="en-US" dirty="0"/>
              <a:t>的路由表包括以下</a:t>
            </a:r>
            <a:r>
              <a:rPr lang="en-US" altLang="zh-CN" dirty="0"/>
              <a:t>3</a:t>
            </a:r>
            <a:r>
              <a:rPr lang="zh-CN" altLang="en-US" dirty="0"/>
              <a:t>条路由。</a:t>
            </a:r>
            <a:endParaRPr lang="en-US" altLang="zh-CN" dirty="0"/>
          </a:p>
          <a:p>
            <a:r>
              <a:rPr lang="zh-CN" altLang="en-US" b="0" dirty="0"/>
              <a:t>当</a:t>
            </a:r>
            <a:r>
              <a:rPr lang="en-US" altLang="zh-CN" b="0" dirty="0"/>
              <a:t>R1</a:t>
            </a:r>
            <a:r>
              <a:rPr lang="zh-CN" altLang="en-US" b="0" dirty="0"/>
              <a:t>收到目的地址为 </a:t>
            </a:r>
            <a:r>
              <a:rPr lang="en-US" altLang="zh-CN" b="0" dirty="0">
                <a:solidFill>
                  <a:srgbClr val="0000FF"/>
                </a:solidFill>
                <a:latin typeface="微软雅黑" panose="020B0503020204020204" pitchFamily="34" charset="-122"/>
                <a:ea typeface="微软雅黑" panose="020B0503020204020204" pitchFamily="34" charset="-122"/>
              </a:rPr>
              <a:t>128.1.2.196/26 </a:t>
            </a:r>
            <a:r>
              <a:rPr lang="zh-CN" altLang="en-US" b="0" dirty="0">
                <a:solidFill>
                  <a:srgbClr val="0000FF"/>
                </a:solidFill>
                <a:latin typeface="微软雅黑" panose="020B0503020204020204" pitchFamily="34" charset="-122"/>
                <a:ea typeface="微软雅黑" panose="020B0503020204020204" pitchFamily="34" charset="-122"/>
              </a:rPr>
              <a:t>的分组时，应该从那个接口向外转发呢？</a:t>
            </a:r>
            <a:endParaRPr lang="zh-CN" altLang="en-US" b="0"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118</a:t>
            </a:fld>
            <a:endParaRPr lang="zh-CN" altLang="en-US"/>
          </a:p>
        </p:txBody>
      </p:sp>
    </p:spTree>
    <p:extLst>
      <p:ext uri="{BB962C8B-B14F-4D97-AF65-F5344CB8AC3E}">
        <p14:creationId xmlns:p14="http://schemas.microsoft.com/office/powerpoint/2010/main" val="29660490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119</a:t>
            </a:fld>
            <a:endParaRPr lang="zh-CN" altLang="en-US"/>
          </a:p>
        </p:txBody>
      </p:sp>
    </p:spTree>
    <p:extLst>
      <p:ext uri="{BB962C8B-B14F-4D97-AF65-F5344CB8AC3E}">
        <p14:creationId xmlns:p14="http://schemas.microsoft.com/office/powerpoint/2010/main" val="34300541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120</a:t>
            </a:fld>
            <a:endParaRPr lang="zh-CN" altLang="en-US"/>
          </a:p>
        </p:txBody>
      </p:sp>
    </p:spTree>
    <p:extLst>
      <p:ext uri="{BB962C8B-B14F-4D97-AF65-F5344CB8AC3E}">
        <p14:creationId xmlns:p14="http://schemas.microsoft.com/office/powerpoint/2010/main" val="416762714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121</a:t>
            </a:fld>
            <a:endParaRPr lang="zh-CN" altLang="en-US"/>
          </a:p>
        </p:txBody>
      </p:sp>
    </p:spTree>
    <p:extLst>
      <p:ext uri="{BB962C8B-B14F-4D97-AF65-F5344CB8AC3E}">
        <p14:creationId xmlns:p14="http://schemas.microsoft.com/office/powerpoint/2010/main" val="361009891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123</a:t>
            </a:fld>
            <a:endParaRPr lang="zh-CN" altLang="en-US"/>
          </a:p>
        </p:txBody>
      </p:sp>
    </p:spTree>
    <p:extLst>
      <p:ext uri="{BB962C8B-B14F-4D97-AF65-F5344CB8AC3E}">
        <p14:creationId xmlns:p14="http://schemas.microsoft.com/office/powerpoint/2010/main" val="330629887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125</a:t>
            </a:fld>
            <a:endParaRPr lang="zh-CN" altLang="en-US"/>
          </a:p>
        </p:txBody>
      </p:sp>
    </p:spTree>
    <p:extLst>
      <p:ext uri="{BB962C8B-B14F-4D97-AF65-F5344CB8AC3E}">
        <p14:creationId xmlns:p14="http://schemas.microsoft.com/office/powerpoint/2010/main" val="1383191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127</a:t>
            </a:fld>
            <a:endParaRPr lang="zh-CN" altLang="en-US"/>
          </a:p>
        </p:txBody>
      </p:sp>
    </p:spTree>
    <p:extLst>
      <p:ext uri="{BB962C8B-B14F-4D97-AF65-F5344CB8AC3E}">
        <p14:creationId xmlns:p14="http://schemas.microsoft.com/office/powerpoint/2010/main" val="396036643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128</a:t>
            </a:fld>
            <a:endParaRPr lang="zh-CN" altLang="en-US"/>
          </a:p>
        </p:txBody>
      </p:sp>
    </p:spTree>
    <p:extLst>
      <p:ext uri="{BB962C8B-B14F-4D97-AF65-F5344CB8AC3E}">
        <p14:creationId xmlns:p14="http://schemas.microsoft.com/office/powerpoint/2010/main" val="336057015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136</a:t>
            </a:fld>
            <a:endParaRPr lang="zh-CN" altLang="en-US"/>
          </a:p>
        </p:txBody>
      </p:sp>
    </p:spTree>
    <p:extLst>
      <p:ext uri="{BB962C8B-B14F-4D97-AF65-F5344CB8AC3E}">
        <p14:creationId xmlns:p14="http://schemas.microsoft.com/office/powerpoint/2010/main" val="90130842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137</a:t>
            </a:fld>
            <a:endParaRPr lang="zh-CN" altLang="en-US"/>
          </a:p>
        </p:txBody>
      </p:sp>
    </p:spTree>
    <p:extLst>
      <p:ext uri="{BB962C8B-B14F-4D97-AF65-F5344CB8AC3E}">
        <p14:creationId xmlns:p14="http://schemas.microsoft.com/office/powerpoint/2010/main" val="169985091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158</a:t>
            </a:fld>
            <a:endParaRPr lang="zh-CN" altLang="en-US"/>
          </a:p>
        </p:txBody>
      </p:sp>
    </p:spTree>
    <p:extLst>
      <p:ext uri="{BB962C8B-B14F-4D97-AF65-F5344CB8AC3E}">
        <p14:creationId xmlns:p14="http://schemas.microsoft.com/office/powerpoint/2010/main" val="23464731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165</a:t>
            </a:fld>
            <a:endParaRPr lang="zh-CN" altLang="en-US"/>
          </a:p>
        </p:txBody>
      </p:sp>
    </p:spTree>
    <p:extLst>
      <p:ext uri="{BB962C8B-B14F-4D97-AF65-F5344CB8AC3E}">
        <p14:creationId xmlns:p14="http://schemas.microsoft.com/office/powerpoint/2010/main" val="44547205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167</a:t>
            </a:fld>
            <a:endParaRPr lang="zh-CN" altLang="en-US"/>
          </a:p>
        </p:txBody>
      </p:sp>
    </p:spTree>
    <p:extLst>
      <p:ext uri="{BB962C8B-B14F-4D97-AF65-F5344CB8AC3E}">
        <p14:creationId xmlns:p14="http://schemas.microsoft.com/office/powerpoint/2010/main" val="180002249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169</a:t>
            </a:fld>
            <a:endParaRPr lang="zh-CN" altLang="en-US"/>
          </a:p>
        </p:txBody>
      </p:sp>
    </p:spTree>
    <p:extLst>
      <p:ext uri="{BB962C8B-B14F-4D97-AF65-F5344CB8AC3E}">
        <p14:creationId xmlns:p14="http://schemas.microsoft.com/office/powerpoint/2010/main" val="15632567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170</a:t>
            </a:fld>
            <a:endParaRPr lang="zh-CN" altLang="en-US"/>
          </a:p>
        </p:txBody>
      </p:sp>
    </p:spTree>
    <p:extLst>
      <p:ext uri="{BB962C8B-B14F-4D97-AF65-F5344CB8AC3E}">
        <p14:creationId xmlns:p14="http://schemas.microsoft.com/office/powerpoint/2010/main" val="401480349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171</a:t>
            </a:fld>
            <a:endParaRPr lang="zh-CN" altLang="en-US"/>
          </a:p>
        </p:txBody>
      </p:sp>
    </p:spTree>
    <p:extLst>
      <p:ext uri="{BB962C8B-B14F-4D97-AF65-F5344CB8AC3E}">
        <p14:creationId xmlns:p14="http://schemas.microsoft.com/office/powerpoint/2010/main" val="129100287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173</a:t>
            </a:fld>
            <a:endParaRPr lang="zh-CN" altLang="en-US"/>
          </a:p>
        </p:txBody>
      </p:sp>
    </p:spTree>
    <p:extLst>
      <p:ext uri="{BB962C8B-B14F-4D97-AF65-F5344CB8AC3E}">
        <p14:creationId xmlns:p14="http://schemas.microsoft.com/office/powerpoint/2010/main" val="322365912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174</a:t>
            </a:fld>
            <a:endParaRPr lang="zh-CN" altLang="en-US"/>
          </a:p>
        </p:txBody>
      </p:sp>
    </p:spTree>
    <p:extLst>
      <p:ext uri="{BB962C8B-B14F-4D97-AF65-F5344CB8AC3E}">
        <p14:creationId xmlns:p14="http://schemas.microsoft.com/office/powerpoint/2010/main" val="397030603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176</a:t>
            </a:fld>
            <a:endParaRPr lang="zh-CN" altLang="en-US"/>
          </a:p>
        </p:txBody>
      </p:sp>
    </p:spTree>
    <p:extLst>
      <p:ext uri="{BB962C8B-B14F-4D97-AF65-F5344CB8AC3E}">
        <p14:creationId xmlns:p14="http://schemas.microsoft.com/office/powerpoint/2010/main" val="409538943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177</a:t>
            </a:fld>
            <a:endParaRPr lang="zh-CN" altLang="en-US"/>
          </a:p>
        </p:txBody>
      </p:sp>
    </p:spTree>
    <p:extLst>
      <p:ext uri="{BB962C8B-B14F-4D97-AF65-F5344CB8AC3E}">
        <p14:creationId xmlns:p14="http://schemas.microsoft.com/office/powerpoint/2010/main" val="212803640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178</a:t>
            </a:fld>
            <a:endParaRPr lang="zh-CN" altLang="en-US"/>
          </a:p>
        </p:txBody>
      </p:sp>
    </p:spTree>
    <p:extLst>
      <p:ext uri="{BB962C8B-B14F-4D97-AF65-F5344CB8AC3E}">
        <p14:creationId xmlns:p14="http://schemas.microsoft.com/office/powerpoint/2010/main" val="319831502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184</a:t>
            </a:fld>
            <a:endParaRPr lang="zh-CN" altLang="en-US"/>
          </a:p>
        </p:txBody>
      </p:sp>
    </p:spTree>
    <p:extLst>
      <p:ext uri="{BB962C8B-B14F-4D97-AF65-F5344CB8AC3E}">
        <p14:creationId xmlns:p14="http://schemas.microsoft.com/office/powerpoint/2010/main" val="356637744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187</a:t>
            </a:fld>
            <a:endParaRPr lang="zh-CN" altLang="en-US"/>
          </a:p>
        </p:txBody>
      </p:sp>
    </p:spTree>
    <p:extLst>
      <p:ext uri="{BB962C8B-B14F-4D97-AF65-F5344CB8AC3E}">
        <p14:creationId xmlns:p14="http://schemas.microsoft.com/office/powerpoint/2010/main" val="249518408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192</a:t>
            </a:fld>
            <a:endParaRPr lang="zh-CN" altLang="en-US"/>
          </a:p>
        </p:txBody>
      </p:sp>
    </p:spTree>
    <p:extLst>
      <p:ext uri="{BB962C8B-B14F-4D97-AF65-F5344CB8AC3E}">
        <p14:creationId xmlns:p14="http://schemas.microsoft.com/office/powerpoint/2010/main" val="94800029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193</a:t>
            </a:fld>
            <a:endParaRPr lang="zh-CN" altLang="en-US"/>
          </a:p>
        </p:txBody>
      </p:sp>
    </p:spTree>
    <p:extLst>
      <p:ext uri="{BB962C8B-B14F-4D97-AF65-F5344CB8AC3E}">
        <p14:creationId xmlns:p14="http://schemas.microsoft.com/office/powerpoint/2010/main" val="384510412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194</a:t>
            </a:fld>
            <a:endParaRPr lang="zh-CN" altLang="en-US"/>
          </a:p>
        </p:txBody>
      </p:sp>
    </p:spTree>
    <p:extLst>
      <p:ext uri="{BB962C8B-B14F-4D97-AF65-F5344CB8AC3E}">
        <p14:creationId xmlns:p14="http://schemas.microsoft.com/office/powerpoint/2010/main" val="73048347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208</a:t>
            </a:fld>
            <a:endParaRPr lang="zh-CN" altLang="en-US"/>
          </a:p>
        </p:txBody>
      </p:sp>
    </p:spTree>
    <p:extLst>
      <p:ext uri="{BB962C8B-B14F-4D97-AF65-F5344CB8AC3E}">
        <p14:creationId xmlns:p14="http://schemas.microsoft.com/office/powerpoint/2010/main" val="20505664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209</a:t>
            </a:fld>
            <a:endParaRPr lang="zh-CN" altLang="en-US"/>
          </a:p>
        </p:txBody>
      </p:sp>
    </p:spTree>
    <p:extLst>
      <p:ext uri="{BB962C8B-B14F-4D97-AF65-F5344CB8AC3E}">
        <p14:creationId xmlns:p14="http://schemas.microsoft.com/office/powerpoint/2010/main" val="219929790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220</a:t>
            </a:fld>
            <a:endParaRPr lang="zh-CN" altLang="en-US"/>
          </a:p>
        </p:txBody>
      </p:sp>
    </p:spTree>
    <p:extLst>
      <p:ext uri="{BB962C8B-B14F-4D97-AF65-F5344CB8AC3E}">
        <p14:creationId xmlns:p14="http://schemas.microsoft.com/office/powerpoint/2010/main" val="256224283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221</a:t>
            </a:fld>
            <a:endParaRPr lang="zh-CN" altLang="en-US"/>
          </a:p>
        </p:txBody>
      </p:sp>
    </p:spTree>
    <p:extLst>
      <p:ext uri="{BB962C8B-B14F-4D97-AF65-F5344CB8AC3E}">
        <p14:creationId xmlns:p14="http://schemas.microsoft.com/office/powerpoint/2010/main" val="231892167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222</a:t>
            </a:fld>
            <a:endParaRPr lang="zh-CN" altLang="en-US"/>
          </a:p>
        </p:txBody>
      </p:sp>
    </p:spTree>
    <p:extLst>
      <p:ext uri="{BB962C8B-B14F-4D97-AF65-F5344CB8AC3E}">
        <p14:creationId xmlns:p14="http://schemas.microsoft.com/office/powerpoint/2010/main" val="207875276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223</a:t>
            </a:fld>
            <a:endParaRPr lang="zh-CN" altLang="en-US"/>
          </a:p>
        </p:txBody>
      </p:sp>
    </p:spTree>
    <p:extLst>
      <p:ext uri="{BB962C8B-B14F-4D97-AF65-F5344CB8AC3E}">
        <p14:creationId xmlns:p14="http://schemas.microsoft.com/office/powerpoint/2010/main" val="385300616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224</a:t>
            </a:fld>
            <a:endParaRPr lang="zh-CN" altLang="en-US"/>
          </a:p>
        </p:txBody>
      </p:sp>
    </p:spTree>
    <p:extLst>
      <p:ext uri="{BB962C8B-B14F-4D97-AF65-F5344CB8AC3E}">
        <p14:creationId xmlns:p14="http://schemas.microsoft.com/office/powerpoint/2010/main" val="13621481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225</a:t>
            </a:fld>
            <a:endParaRPr lang="zh-CN" altLang="en-US"/>
          </a:p>
        </p:txBody>
      </p:sp>
    </p:spTree>
    <p:extLst>
      <p:ext uri="{BB962C8B-B14F-4D97-AF65-F5344CB8AC3E}">
        <p14:creationId xmlns:p14="http://schemas.microsoft.com/office/powerpoint/2010/main" val="250573515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226</a:t>
            </a:fld>
            <a:endParaRPr lang="zh-CN" altLang="en-US"/>
          </a:p>
        </p:txBody>
      </p:sp>
    </p:spTree>
    <p:extLst>
      <p:ext uri="{BB962C8B-B14F-4D97-AF65-F5344CB8AC3E}">
        <p14:creationId xmlns:p14="http://schemas.microsoft.com/office/powerpoint/2010/main" val="247389134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227</a:t>
            </a:fld>
            <a:endParaRPr lang="zh-CN" altLang="en-US"/>
          </a:p>
        </p:txBody>
      </p:sp>
    </p:spTree>
    <p:extLst>
      <p:ext uri="{BB962C8B-B14F-4D97-AF65-F5344CB8AC3E}">
        <p14:creationId xmlns:p14="http://schemas.microsoft.com/office/powerpoint/2010/main" val="83010788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228</a:t>
            </a:fld>
            <a:endParaRPr lang="zh-CN" altLang="en-US"/>
          </a:p>
        </p:txBody>
      </p:sp>
    </p:spTree>
    <p:extLst>
      <p:ext uri="{BB962C8B-B14F-4D97-AF65-F5344CB8AC3E}">
        <p14:creationId xmlns:p14="http://schemas.microsoft.com/office/powerpoint/2010/main" val="18887823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229</a:t>
            </a:fld>
            <a:endParaRPr lang="zh-CN" altLang="en-US"/>
          </a:p>
        </p:txBody>
      </p:sp>
    </p:spTree>
    <p:extLst>
      <p:ext uri="{BB962C8B-B14F-4D97-AF65-F5344CB8AC3E}">
        <p14:creationId xmlns:p14="http://schemas.microsoft.com/office/powerpoint/2010/main" val="212449007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231</a:t>
            </a:fld>
            <a:endParaRPr lang="zh-CN" altLang="en-US"/>
          </a:p>
        </p:txBody>
      </p:sp>
    </p:spTree>
    <p:extLst>
      <p:ext uri="{BB962C8B-B14F-4D97-AF65-F5344CB8AC3E}">
        <p14:creationId xmlns:p14="http://schemas.microsoft.com/office/powerpoint/2010/main" val="2279910769"/>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232</a:t>
            </a:fld>
            <a:endParaRPr lang="zh-CN" altLang="en-US"/>
          </a:p>
        </p:txBody>
      </p:sp>
    </p:spTree>
    <p:extLst>
      <p:ext uri="{BB962C8B-B14F-4D97-AF65-F5344CB8AC3E}">
        <p14:creationId xmlns:p14="http://schemas.microsoft.com/office/powerpoint/2010/main" val="203632850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233</a:t>
            </a:fld>
            <a:endParaRPr lang="zh-CN" altLang="en-US"/>
          </a:p>
        </p:txBody>
      </p:sp>
    </p:spTree>
    <p:extLst>
      <p:ext uri="{BB962C8B-B14F-4D97-AF65-F5344CB8AC3E}">
        <p14:creationId xmlns:p14="http://schemas.microsoft.com/office/powerpoint/2010/main" val="255685276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0BE61-5E84-E6EF-D61A-A54409C0FA7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8B148BD-67BC-079C-304A-9D54C1C2DBF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4AC15F3-BDB7-7DAF-FBE9-9A561660FE6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7A01456-B6EA-F139-9AB9-7117D6702AD0}"/>
              </a:ext>
            </a:extLst>
          </p:cNvPr>
          <p:cNvSpPr>
            <a:spLocks noGrp="1"/>
          </p:cNvSpPr>
          <p:nvPr>
            <p:ph type="sldNum" sz="quarter" idx="10"/>
          </p:nvPr>
        </p:nvSpPr>
        <p:spPr/>
        <p:txBody>
          <a:bodyPr/>
          <a:lstStyle/>
          <a:p>
            <a:fld id="{0B14BD24-89E3-4C51-B736-BCCE6C13A884}" type="slidenum">
              <a:rPr lang="zh-CN" altLang="en-US" smtClean="0"/>
              <a:pPr/>
              <a:t>234</a:t>
            </a:fld>
            <a:endParaRPr lang="zh-CN" altLang="en-US"/>
          </a:p>
        </p:txBody>
      </p:sp>
    </p:spTree>
    <p:extLst>
      <p:ext uri="{BB962C8B-B14F-4D97-AF65-F5344CB8AC3E}">
        <p14:creationId xmlns:p14="http://schemas.microsoft.com/office/powerpoint/2010/main" val="275629201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235</a:t>
            </a:fld>
            <a:endParaRPr lang="zh-CN" altLang="en-US"/>
          </a:p>
        </p:txBody>
      </p:sp>
    </p:spTree>
    <p:extLst>
      <p:ext uri="{BB962C8B-B14F-4D97-AF65-F5344CB8AC3E}">
        <p14:creationId xmlns:p14="http://schemas.microsoft.com/office/powerpoint/2010/main" val="460826212"/>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236</a:t>
            </a:fld>
            <a:endParaRPr lang="zh-CN" altLang="en-US"/>
          </a:p>
        </p:txBody>
      </p:sp>
    </p:spTree>
    <p:extLst>
      <p:ext uri="{BB962C8B-B14F-4D97-AF65-F5344CB8AC3E}">
        <p14:creationId xmlns:p14="http://schemas.microsoft.com/office/powerpoint/2010/main" val="7203256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0841E8-60C1-A069-1FB6-58E61C4977A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482C415-F315-16E1-0321-61F8215DC48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F965994-62F0-13A5-114A-59B9157B14A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D5F06E7-B00F-8EE8-FC4E-3B15AFC15B3A}"/>
              </a:ext>
            </a:extLst>
          </p:cNvPr>
          <p:cNvSpPr>
            <a:spLocks noGrp="1"/>
          </p:cNvSpPr>
          <p:nvPr>
            <p:ph type="sldNum" sz="quarter" idx="10"/>
          </p:nvPr>
        </p:nvSpPr>
        <p:spPr/>
        <p:txBody>
          <a:bodyPr/>
          <a:lstStyle/>
          <a:p>
            <a:fld id="{0B14BD24-89E3-4C51-B736-BCCE6C13A884}" type="slidenum">
              <a:rPr lang="zh-CN" altLang="en-US" smtClean="0"/>
              <a:pPr/>
              <a:t>237</a:t>
            </a:fld>
            <a:endParaRPr lang="zh-CN" altLang="en-US"/>
          </a:p>
        </p:txBody>
      </p:sp>
    </p:spTree>
    <p:extLst>
      <p:ext uri="{BB962C8B-B14F-4D97-AF65-F5344CB8AC3E}">
        <p14:creationId xmlns:p14="http://schemas.microsoft.com/office/powerpoint/2010/main" val="110951542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238</a:t>
            </a:fld>
            <a:endParaRPr lang="zh-CN" altLang="en-US"/>
          </a:p>
        </p:txBody>
      </p:sp>
    </p:spTree>
    <p:extLst>
      <p:ext uri="{BB962C8B-B14F-4D97-AF65-F5344CB8AC3E}">
        <p14:creationId xmlns:p14="http://schemas.microsoft.com/office/powerpoint/2010/main" val="63903700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44BE1-E9A7-EAAF-2A20-35FEAB7CF70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5BC8D80-3DBD-DF2F-961A-49655B1D24A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89B15AF-66F5-0892-C55E-D43265B6DEA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C1BCD324-E9C7-B7CC-E391-D8D70DC2843B}"/>
              </a:ext>
            </a:extLst>
          </p:cNvPr>
          <p:cNvSpPr>
            <a:spLocks noGrp="1"/>
          </p:cNvSpPr>
          <p:nvPr>
            <p:ph type="sldNum" sz="quarter" idx="10"/>
          </p:nvPr>
        </p:nvSpPr>
        <p:spPr/>
        <p:txBody>
          <a:bodyPr/>
          <a:lstStyle/>
          <a:p>
            <a:fld id="{0B14BD24-89E3-4C51-B736-BCCE6C13A884}" type="slidenum">
              <a:rPr lang="zh-CN" altLang="en-US" smtClean="0"/>
              <a:pPr/>
              <a:t>239</a:t>
            </a:fld>
            <a:endParaRPr lang="zh-CN" altLang="en-US"/>
          </a:p>
        </p:txBody>
      </p:sp>
    </p:spTree>
    <p:extLst>
      <p:ext uri="{BB962C8B-B14F-4D97-AF65-F5344CB8AC3E}">
        <p14:creationId xmlns:p14="http://schemas.microsoft.com/office/powerpoint/2010/main" val="39463743"/>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241</a:t>
            </a:fld>
            <a:endParaRPr lang="zh-CN" altLang="en-US"/>
          </a:p>
        </p:txBody>
      </p:sp>
    </p:spTree>
    <p:extLst>
      <p:ext uri="{BB962C8B-B14F-4D97-AF65-F5344CB8AC3E}">
        <p14:creationId xmlns:p14="http://schemas.microsoft.com/office/powerpoint/2010/main" val="3428263459"/>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243</a:t>
            </a:fld>
            <a:endParaRPr lang="zh-CN" altLang="en-US"/>
          </a:p>
        </p:txBody>
      </p:sp>
    </p:spTree>
    <p:extLst>
      <p:ext uri="{BB962C8B-B14F-4D97-AF65-F5344CB8AC3E}">
        <p14:creationId xmlns:p14="http://schemas.microsoft.com/office/powerpoint/2010/main" val="471001339"/>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244</a:t>
            </a:fld>
            <a:endParaRPr lang="zh-CN" altLang="en-US"/>
          </a:p>
        </p:txBody>
      </p:sp>
    </p:spTree>
    <p:extLst>
      <p:ext uri="{BB962C8B-B14F-4D97-AF65-F5344CB8AC3E}">
        <p14:creationId xmlns:p14="http://schemas.microsoft.com/office/powerpoint/2010/main" val="344530720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245</a:t>
            </a:fld>
            <a:endParaRPr lang="zh-CN" altLang="en-US"/>
          </a:p>
        </p:txBody>
      </p:sp>
    </p:spTree>
    <p:extLst>
      <p:ext uri="{BB962C8B-B14F-4D97-AF65-F5344CB8AC3E}">
        <p14:creationId xmlns:p14="http://schemas.microsoft.com/office/powerpoint/2010/main" val="26925135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246</a:t>
            </a:fld>
            <a:endParaRPr lang="zh-CN" altLang="en-US"/>
          </a:p>
        </p:txBody>
      </p:sp>
    </p:spTree>
    <p:extLst>
      <p:ext uri="{BB962C8B-B14F-4D97-AF65-F5344CB8AC3E}">
        <p14:creationId xmlns:p14="http://schemas.microsoft.com/office/powerpoint/2010/main" val="159550015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247</a:t>
            </a:fld>
            <a:endParaRPr lang="zh-CN" altLang="en-US"/>
          </a:p>
        </p:txBody>
      </p:sp>
    </p:spTree>
    <p:extLst>
      <p:ext uri="{BB962C8B-B14F-4D97-AF65-F5344CB8AC3E}">
        <p14:creationId xmlns:p14="http://schemas.microsoft.com/office/powerpoint/2010/main" val="405715721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249</a:t>
            </a:fld>
            <a:endParaRPr lang="zh-CN" altLang="en-US"/>
          </a:p>
        </p:txBody>
      </p:sp>
    </p:spTree>
    <p:extLst>
      <p:ext uri="{BB962C8B-B14F-4D97-AF65-F5344CB8AC3E}">
        <p14:creationId xmlns:p14="http://schemas.microsoft.com/office/powerpoint/2010/main" val="5920893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250</a:t>
            </a:fld>
            <a:endParaRPr lang="zh-CN" altLang="en-US"/>
          </a:p>
        </p:txBody>
      </p:sp>
    </p:spTree>
    <p:extLst>
      <p:ext uri="{BB962C8B-B14F-4D97-AF65-F5344CB8AC3E}">
        <p14:creationId xmlns:p14="http://schemas.microsoft.com/office/powerpoint/2010/main" val="354173558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274</a:t>
            </a:fld>
            <a:endParaRPr lang="zh-CN" altLang="en-US"/>
          </a:p>
        </p:txBody>
      </p:sp>
    </p:spTree>
    <p:extLst>
      <p:ext uri="{BB962C8B-B14F-4D97-AF65-F5344CB8AC3E}">
        <p14:creationId xmlns:p14="http://schemas.microsoft.com/office/powerpoint/2010/main" val="317370785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275</a:t>
            </a:fld>
            <a:endParaRPr lang="zh-CN" altLang="en-US"/>
          </a:p>
        </p:txBody>
      </p:sp>
    </p:spTree>
    <p:extLst>
      <p:ext uri="{BB962C8B-B14F-4D97-AF65-F5344CB8AC3E}">
        <p14:creationId xmlns:p14="http://schemas.microsoft.com/office/powerpoint/2010/main" val="329446579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291</a:t>
            </a:fld>
            <a:endParaRPr lang="zh-CN" altLang="en-US"/>
          </a:p>
        </p:txBody>
      </p:sp>
    </p:spTree>
    <p:extLst>
      <p:ext uri="{BB962C8B-B14F-4D97-AF65-F5344CB8AC3E}">
        <p14:creationId xmlns:p14="http://schemas.microsoft.com/office/powerpoint/2010/main" val="91311815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295</a:t>
            </a:fld>
            <a:endParaRPr lang="zh-CN" altLang="en-US"/>
          </a:p>
        </p:txBody>
      </p:sp>
    </p:spTree>
    <p:extLst>
      <p:ext uri="{BB962C8B-B14F-4D97-AF65-F5344CB8AC3E}">
        <p14:creationId xmlns:p14="http://schemas.microsoft.com/office/powerpoint/2010/main" val="406096149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303</a:t>
            </a:fld>
            <a:endParaRPr lang="zh-CN" altLang="en-US"/>
          </a:p>
        </p:txBody>
      </p:sp>
    </p:spTree>
    <p:extLst>
      <p:ext uri="{BB962C8B-B14F-4D97-AF65-F5344CB8AC3E}">
        <p14:creationId xmlns:p14="http://schemas.microsoft.com/office/powerpoint/2010/main" val="2285188704"/>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305</a:t>
            </a:fld>
            <a:endParaRPr lang="zh-CN" altLang="en-US"/>
          </a:p>
        </p:txBody>
      </p:sp>
    </p:spTree>
    <p:extLst>
      <p:ext uri="{BB962C8B-B14F-4D97-AF65-F5344CB8AC3E}">
        <p14:creationId xmlns:p14="http://schemas.microsoft.com/office/powerpoint/2010/main" val="2944275027"/>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322</a:t>
            </a:fld>
            <a:endParaRPr lang="zh-CN" altLang="en-US"/>
          </a:p>
        </p:txBody>
      </p:sp>
    </p:spTree>
    <p:extLst>
      <p:ext uri="{BB962C8B-B14F-4D97-AF65-F5344CB8AC3E}">
        <p14:creationId xmlns:p14="http://schemas.microsoft.com/office/powerpoint/2010/main" val="1850520232"/>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339</a:t>
            </a:fld>
            <a:endParaRPr lang="zh-CN" altLang="en-US"/>
          </a:p>
        </p:txBody>
      </p:sp>
    </p:spTree>
    <p:extLst>
      <p:ext uri="{BB962C8B-B14F-4D97-AF65-F5344CB8AC3E}">
        <p14:creationId xmlns:p14="http://schemas.microsoft.com/office/powerpoint/2010/main" val="295261215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341</a:t>
            </a:fld>
            <a:endParaRPr lang="zh-CN" altLang="en-US"/>
          </a:p>
        </p:txBody>
      </p:sp>
    </p:spTree>
    <p:extLst>
      <p:ext uri="{BB962C8B-B14F-4D97-AF65-F5344CB8AC3E}">
        <p14:creationId xmlns:p14="http://schemas.microsoft.com/office/powerpoint/2010/main" val="630903277"/>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342</a:t>
            </a:fld>
            <a:endParaRPr lang="zh-CN" altLang="en-US"/>
          </a:p>
        </p:txBody>
      </p:sp>
    </p:spTree>
    <p:extLst>
      <p:ext uri="{BB962C8B-B14F-4D97-AF65-F5344CB8AC3E}">
        <p14:creationId xmlns:p14="http://schemas.microsoft.com/office/powerpoint/2010/main" val="179872406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343</a:t>
            </a:fld>
            <a:endParaRPr lang="zh-CN" altLang="en-US"/>
          </a:p>
        </p:txBody>
      </p:sp>
    </p:spTree>
    <p:extLst>
      <p:ext uri="{BB962C8B-B14F-4D97-AF65-F5344CB8AC3E}">
        <p14:creationId xmlns:p14="http://schemas.microsoft.com/office/powerpoint/2010/main" val="3951002576"/>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344</a:t>
            </a:fld>
            <a:endParaRPr lang="zh-CN" altLang="en-US"/>
          </a:p>
        </p:txBody>
      </p:sp>
    </p:spTree>
    <p:extLst>
      <p:ext uri="{BB962C8B-B14F-4D97-AF65-F5344CB8AC3E}">
        <p14:creationId xmlns:p14="http://schemas.microsoft.com/office/powerpoint/2010/main" val="19355067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endParaRPr lang="zh-CN" altLang="en-US"/>
          </a:p>
        </p:txBody>
      </p:sp>
      <p:sp>
        <p:nvSpPr>
          <p:cNvPr id="14" name="矩形 13">
            <a:extLst>
              <a:ext uri="{FF2B5EF4-FFF2-40B4-BE49-F238E27FC236}">
                <a16:creationId xmlns:a16="http://schemas.microsoft.com/office/drawing/2014/main" id="{F2E6D061-3C50-625E-34AD-4578B5746C8C}"/>
              </a:ext>
            </a:extLst>
          </p:cNvPr>
          <p:cNvSpPr/>
          <p:nvPr userDrawn="1"/>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userDrawn="1"/>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userDrawn="1"/>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191604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486000" y="550723"/>
            <a:ext cx="8172000" cy="338554"/>
          </a:xfrm>
          <a:prstGeom prst="rect">
            <a:avLst/>
          </a:prstGeom>
          <a:solidFill>
            <a:srgbClr val="0070C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28398175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900000"/>
            <a:ext cx="8172000"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3319460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lumn">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900000"/>
            <a:ext cx="4086001"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6090516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2588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userDrawn="1"/>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163513"/>
            <a:ext cx="1065213"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100" b="0" dirty="0">
                <a:solidFill>
                  <a:srgbClr val="7F131F"/>
                </a:solidFill>
                <a:latin typeface="微软雅黑" pitchFamily="34" charset="-122"/>
                <a:ea typeface="微软雅黑" pitchFamily="34" charset="-122"/>
              </a:rPr>
              <a:t>广州华立学院</a:t>
            </a:r>
            <a:endParaRPr lang="fr-FR" sz="11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502840" y="165100"/>
            <a:ext cx="889987"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pitchFamily="34" charset="-122"/>
                <a:ea typeface="微软雅黑" pitchFamily="34" charset="-122"/>
              </a:rPr>
              <a:t>计算机网络</a:t>
            </a:r>
            <a:endParaRPr lang="fr-FR" altLang="zh-CN" sz="1100" b="0" dirty="0">
              <a:solidFill>
                <a:srgbClr val="7F131F"/>
              </a:solidFill>
              <a:latin typeface="微软雅黑" pitchFamily="34" charset="-122"/>
              <a:ea typeface="微软雅黑"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userDrawn="1"/>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pic>
        <p:nvPicPr>
          <p:cNvPr id="9" name="图片 1">
            <a:extLst>
              <a:ext uri="{FF2B5EF4-FFF2-40B4-BE49-F238E27FC236}">
                <a16:creationId xmlns:a16="http://schemas.microsoft.com/office/drawing/2014/main" id="{2BBB19EC-5864-9B90-7B1F-14893B93E252}"/>
              </a:ext>
            </a:extLst>
          </p:cNvPr>
          <p:cNvPicPr>
            <a:picLocks noChangeAspect="1"/>
          </p:cNvPicPr>
          <p:nvPr userDrawn="1"/>
        </p:nvPicPr>
        <p:blipFill>
          <a:blip r:embed="rId7">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Line 3">
            <a:extLst>
              <a:ext uri="{FF2B5EF4-FFF2-40B4-BE49-F238E27FC236}">
                <a16:creationId xmlns:a16="http://schemas.microsoft.com/office/drawing/2014/main" id="{5F7D9D61-B3C2-28C1-6793-844F70F55B01}"/>
              </a:ext>
            </a:extLst>
          </p:cNvPr>
          <p:cNvSpPr>
            <a:spLocks noChangeShapeType="1"/>
          </p:cNvSpPr>
          <p:nvPr userDrawn="1"/>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userDrawn="1"/>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userDrawn="1"/>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spTree>
    <p:extLst>
      <p:ext uri="{BB962C8B-B14F-4D97-AF65-F5344CB8AC3E}">
        <p14:creationId xmlns:p14="http://schemas.microsoft.com/office/powerpoint/2010/main" val="691602360"/>
      </p:ext>
    </p:extLst>
  </p:cSld>
  <p:clrMap bg1="lt1" tx1="dk1" bg2="lt2" tx2="dk2" accent1="accent1" accent2="accent2" accent3="accent3" accent4="accent4" accent5="accent5" accent6="accent6" hlink="hlink" folHlink="folHlink"/>
  <p:sldLayoutIdLst>
    <p:sldLayoutId id="2147483653" r:id="rId1"/>
    <p:sldLayoutId id="2147483651" r:id="rId2"/>
    <p:sldLayoutId id="2147483649" r:id="rId3"/>
    <p:sldLayoutId id="2147483652" r:id="rId4"/>
    <p:sldLayoutId id="2147483650"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wmf"/><Relationship Id="rId1" Type="http://schemas.openxmlformats.org/officeDocument/2006/relationships/slideLayout" Target="../slideLayouts/slideLayout3.xml"/><Relationship Id="rId4" Type="http://schemas.openxmlformats.org/officeDocument/2006/relationships/image" Target="../media/image9.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wmf"/><Relationship Id="rId1" Type="http://schemas.openxmlformats.org/officeDocument/2006/relationships/slideLayout" Target="../slideLayouts/slideLayout3.xml"/><Relationship Id="rId4" Type="http://schemas.openxmlformats.org/officeDocument/2006/relationships/image" Target="../media/image9.sv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wmf"/><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wmf"/></Relationships>
</file>

<file path=ppt/slides/_rels/slide15.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2.wmf"/></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9.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4.jpe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5.wmf"/><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0.wmf"/><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image" Target="../media/image7.wmf"/><Relationship Id="rId1" Type="http://schemas.openxmlformats.org/officeDocument/2006/relationships/slideLayout" Target="../slideLayouts/slideLayout5.xml"/><Relationship Id="rId6" Type="http://schemas.openxmlformats.org/officeDocument/2006/relationships/image" Target="../media/image18.png"/><Relationship Id="rId5" Type="http://schemas.openxmlformats.org/officeDocument/2006/relationships/image" Target="../media/image21.png"/><Relationship Id="rId4" Type="http://schemas.openxmlformats.org/officeDocument/2006/relationships/image" Target="../media/image20.jpe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5.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image" Target="../media/image22.wmf"/><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image" Target="../media/image22.wmf"/><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5.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5.xml"/><Relationship Id="rId4" Type="http://schemas.openxmlformats.org/officeDocument/2006/relationships/image" Target="../media/image25.svg"/></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7.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8.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9.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0.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1.xml"/><Relationship Id="rId1" Type="http://schemas.openxmlformats.org/officeDocument/2006/relationships/slideLayout" Target="../slideLayouts/slideLayout5.xml"/><Relationship Id="rId4" Type="http://schemas.openxmlformats.org/officeDocument/2006/relationships/image" Target="../media/image7.wmf"/></Relationships>
</file>

<file path=ppt/slides/_rels/slide8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112.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113.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0.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115.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2.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6.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3.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118.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5.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19.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6.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20.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7.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21.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48.xml"/><Relationship Id="rId1" Type="http://schemas.openxmlformats.org/officeDocument/2006/relationships/slideLayout" Target="../slideLayouts/slideLayout5.xml"/><Relationship Id="rId5" Type="http://schemas.openxmlformats.org/officeDocument/2006/relationships/image" Target="../media/image22.wmf"/><Relationship Id="rId4" Type="http://schemas.openxmlformats.org/officeDocument/2006/relationships/image" Target="../media/image10.wmf"/></Relationships>
</file>

<file path=ppt/slides/_rels/slide122.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124.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126.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7.wmf"/><Relationship Id="rId1" Type="http://schemas.openxmlformats.org/officeDocument/2006/relationships/slideLayout" Target="../slideLayouts/slideLayout5.xml"/><Relationship Id="rId5" Type="http://schemas.openxmlformats.org/officeDocument/2006/relationships/image" Target="../media/image18.png"/><Relationship Id="rId4" Type="http://schemas.openxmlformats.org/officeDocument/2006/relationships/image" Target="../media/image30.emf"/></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2.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61.xml"/><Relationship Id="rId1" Type="http://schemas.openxmlformats.org/officeDocument/2006/relationships/slideLayout" Target="../slideLayouts/slideLayout5.xml"/><Relationship Id="rId4" Type="http://schemas.openxmlformats.org/officeDocument/2006/relationships/image" Target="../media/image11.png"/></Relationships>
</file>

<file path=ppt/slides/_rels/slide174.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62.xml"/><Relationship Id="rId1" Type="http://schemas.openxmlformats.org/officeDocument/2006/relationships/slideLayout" Target="../slideLayouts/slideLayout5.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75.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5.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76.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63.xml"/><Relationship Id="rId1" Type="http://schemas.openxmlformats.org/officeDocument/2006/relationships/slideLayout" Target="../slideLayouts/slideLayout5.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178.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179.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5.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80.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3.xml"/></Relationships>
</file>

<file path=ppt/slides/_rels/slide181.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82.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18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5.xml"/></Relationships>
</file>

<file path=ppt/slides/_rels/slide18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22.wmf"/><Relationship Id="rId1" Type="http://schemas.openxmlformats.org/officeDocument/2006/relationships/slideLayout" Target="../slideLayouts/slideLayout3.xml"/><Relationship Id="rId4" Type="http://schemas.openxmlformats.org/officeDocument/2006/relationships/image" Target="../media/image10.wmf"/></Relationships>
</file>

<file path=ppt/slides/_rels/slide187.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notesSlide" Target="../notesSlides/notesSlide67.xml"/><Relationship Id="rId1" Type="http://schemas.openxmlformats.org/officeDocument/2006/relationships/slideLayout" Target="../slideLayouts/slideLayout3.xml"/><Relationship Id="rId5" Type="http://schemas.openxmlformats.org/officeDocument/2006/relationships/image" Target="../media/image10.wmf"/><Relationship Id="rId4" Type="http://schemas.openxmlformats.org/officeDocument/2006/relationships/image" Target="../media/image35.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1.xml.rels><?xml version="1.0" encoding="UTF-8" standalone="yes"?>
<Relationships xmlns="http://schemas.openxmlformats.org/package/2006/relationships"><Relationship Id="rId3" Type="http://schemas.openxmlformats.org/officeDocument/2006/relationships/image" Target="../media/image37.svg"/><Relationship Id="rId7" Type="http://schemas.openxmlformats.org/officeDocument/2006/relationships/image" Target="../media/image41.svg"/><Relationship Id="rId2" Type="http://schemas.openxmlformats.org/officeDocument/2006/relationships/image" Target="../media/image36.png"/><Relationship Id="rId1" Type="http://schemas.openxmlformats.org/officeDocument/2006/relationships/slideLayout" Target="../slideLayouts/slideLayout5.xml"/><Relationship Id="rId6" Type="http://schemas.openxmlformats.org/officeDocument/2006/relationships/image" Target="../media/image40.png"/><Relationship Id="rId5" Type="http://schemas.openxmlformats.org/officeDocument/2006/relationships/image" Target="../media/image39.svg"/><Relationship Id="rId4" Type="http://schemas.openxmlformats.org/officeDocument/2006/relationships/image" Target="../media/image38.png"/></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3.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9.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00.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01.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02.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03.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3.xml"/></Relationships>
</file>

<file path=ppt/slides/_rels/slide209.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72.xml"/><Relationship Id="rId1" Type="http://schemas.openxmlformats.org/officeDocument/2006/relationships/slideLayout" Target="../slideLayouts/slideLayout3.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5.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0.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4.xml"/><Relationship Id="rId1" Type="http://schemas.openxmlformats.org/officeDocument/2006/relationships/slideLayout" Target="../slideLayouts/slideLayout3.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3.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3.xml"/></Relationships>
</file>

<file path=ppt/slides/_rels/slide22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7.xml"/><Relationship Id="rId1" Type="http://schemas.openxmlformats.org/officeDocument/2006/relationships/slideLayout" Target="../slideLayouts/slideLayout3.xml"/></Relationships>
</file>

<file path=ppt/slides/_rels/slide225.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8.xml"/><Relationship Id="rId1" Type="http://schemas.openxmlformats.org/officeDocument/2006/relationships/slideLayout" Target="../slideLayouts/slideLayout3.xml"/></Relationships>
</file>

<file path=ppt/slides/_rels/slide226.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3.xml"/></Relationships>
</file>

<file path=ppt/slides/_rels/slide232.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23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235.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89.xml"/><Relationship Id="rId1" Type="http://schemas.openxmlformats.org/officeDocument/2006/relationships/slideLayout" Target="../slideLayouts/slideLayout5.xml"/></Relationships>
</file>

<file path=ppt/slides/_rels/slide238.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91.xml"/><Relationship Id="rId1" Type="http://schemas.openxmlformats.org/officeDocument/2006/relationships/slideLayout" Target="../slideLayouts/slideLayout5.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3.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4.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251.xml.rels><?xml version="1.0" encoding="UTF-8" standalone="yes"?>
<Relationships xmlns="http://schemas.openxmlformats.org/package/2006/relationships"><Relationship Id="rId2" Type="http://schemas.openxmlformats.org/officeDocument/2006/relationships/image" Target="../media/image42.jpeg"/><Relationship Id="rId1" Type="http://schemas.openxmlformats.org/officeDocument/2006/relationships/slideLayout" Target="../slideLayouts/slideLayout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3.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image" Target="../media/image43.png"/><Relationship Id="rId1" Type="http://schemas.openxmlformats.org/officeDocument/2006/relationships/slideLayout" Target="../slideLayouts/slideLayout3.xml"/><Relationship Id="rId6" Type="http://schemas.openxmlformats.org/officeDocument/2006/relationships/image" Target="../media/image45.svg"/><Relationship Id="rId5" Type="http://schemas.openxmlformats.org/officeDocument/2006/relationships/image" Target="../media/image44.png"/><Relationship Id="rId4" Type="http://schemas.openxmlformats.org/officeDocument/2006/relationships/image" Target="../media/image22.wmf"/></Relationships>
</file>

<file path=ppt/slides/_rels/slide254.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image" Target="../media/image43.png"/><Relationship Id="rId1" Type="http://schemas.openxmlformats.org/officeDocument/2006/relationships/slideLayout" Target="../slideLayouts/slideLayout3.xml"/><Relationship Id="rId6" Type="http://schemas.openxmlformats.org/officeDocument/2006/relationships/image" Target="../media/image45.svg"/><Relationship Id="rId5" Type="http://schemas.openxmlformats.org/officeDocument/2006/relationships/image" Target="../media/image44.png"/><Relationship Id="rId4" Type="http://schemas.openxmlformats.org/officeDocument/2006/relationships/image" Target="../media/image22.wmf"/></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1.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image" Target="../media/image10.wmf"/><Relationship Id="rId1" Type="http://schemas.openxmlformats.org/officeDocument/2006/relationships/slideLayout" Target="../slideLayouts/slideLayout3.xml"/><Relationship Id="rId5" Type="http://schemas.openxmlformats.org/officeDocument/2006/relationships/image" Target="../media/image45.svg"/><Relationship Id="rId4" Type="http://schemas.openxmlformats.org/officeDocument/2006/relationships/image" Target="../media/image44.png"/></Relationships>
</file>

<file path=ppt/slides/_rels/slide262.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22.wmf"/><Relationship Id="rId7" Type="http://schemas.openxmlformats.org/officeDocument/2006/relationships/image" Target="../media/image49.svg"/><Relationship Id="rId2" Type="http://schemas.openxmlformats.org/officeDocument/2006/relationships/image" Target="../media/image10.wmf"/><Relationship Id="rId1" Type="http://schemas.openxmlformats.org/officeDocument/2006/relationships/slideLayout" Target="../slideLayouts/slideLayout3.xml"/><Relationship Id="rId6" Type="http://schemas.openxmlformats.org/officeDocument/2006/relationships/image" Target="../media/image48.png"/><Relationship Id="rId5" Type="http://schemas.openxmlformats.org/officeDocument/2006/relationships/image" Target="../media/image47.svg"/><Relationship Id="rId4" Type="http://schemas.openxmlformats.org/officeDocument/2006/relationships/image" Target="../media/image46.png"/><Relationship Id="rId9" Type="http://schemas.openxmlformats.org/officeDocument/2006/relationships/image" Target="../media/image51.sv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7.xml.rels><?xml version="1.0" encoding="UTF-8" standalone="yes"?>
<Relationships xmlns="http://schemas.openxmlformats.org/package/2006/relationships"><Relationship Id="rId3" Type="http://schemas.openxmlformats.org/officeDocument/2006/relationships/image" Target="../media/image53.wmf"/><Relationship Id="rId2" Type="http://schemas.openxmlformats.org/officeDocument/2006/relationships/image" Target="../media/image52.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68.xml.rels><?xml version="1.0" encoding="UTF-8" standalone="yes"?>
<Relationships xmlns="http://schemas.openxmlformats.org/package/2006/relationships"><Relationship Id="rId3" Type="http://schemas.openxmlformats.org/officeDocument/2006/relationships/image" Target="../media/image53.wmf"/><Relationship Id="rId2" Type="http://schemas.openxmlformats.org/officeDocument/2006/relationships/image" Target="../media/image52.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69.xml.rels><?xml version="1.0" encoding="UTF-8" standalone="yes"?>
<Relationships xmlns="http://schemas.openxmlformats.org/package/2006/relationships"><Relationship Id="rId3" Type="http://schemas.openxmlformats.org/officeDocument/2006/relationships/image" Target="../media/image53.wmf"/><Relationship Id="rId2" Type="http://schemas.openxmlformats.org/officeDocument/2006/relationships/image" Target="../media/image52.wmf"/><Relationship Id="rId1" Type="http://schemas.openxmlformats.org/officeDocument/2006/relationships/slideLayout" Target="../slideLayouts/slideLayout3.xml"/><Relationship Id="rId4" Type="http://schemas.openxmlformats.org/officeDocument/2006/relationships/image" Target="../media/image22.wmf"/></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4.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4.xml.rels><?xml version="1.0" encoding="UTF-8" standalone="yes"?>
<Relationships xmlns="http://schemas.openxmlformats.org/package/2006/relationships"><Relationship Id="rId3" Type="http://schemas.openxmlformats.org/officeDocument/2006/relationships/image" Target="../media/image54.wmf"/><Relationship Id="rId2" Type="http://schemas.openxmlformats.org/officeDocument/2006/relationships/notesSlide" Target="../notesSlides/notesSlide100.xml"/><Relationship Id="rId1" Type="http://schemas.openxmlformats.org/officeDocument/2006/relationships/slideLayout" Target="../slideLayouts/slideLayout3.xml"/></Relationships>
</file>

<file path=ppt/slides/_rels/slide275.xml.rels><?xml version="1.0" encoding="UTF-8" standalone="yes"?>
<Relationships xmlns="http://schemas.openxmlformats.org/package/2006/relationships"><Relationship Id="rId3" Type="http://schemas.openxmlformats.org/officeDocument/2006/relationships/image" Target="../media/image54.wmf"/><Relationship Id="rId2" Type="http://schemas.openxmlformats.org/officeDocument/2006/relationships/notesSlide" Target="../notesSlides/notesSlide101.xml"/><Relationship Id="rId1" Type="http://schemas.openxmlformats.org/officeDocument/2006/relationships/slideLayout" Target="../slideLayouts/slideLayout3.xml"/></Relationships>
</file>

<file path=ppt/slides/_rels/slide276.xml.rels><?xml version="1.0" encoding="UTF-8" standalone="yes"?>
<Relationships xmlns="http://schemas.openxmlformats.org/package/2006/relationships"><Relationship Id="rId2" Type="http://schemas.openxmlformats.org/officeDocument/2006/relationships/image" Target="../media/image54.wmf"/><Relationship Id="rId1" Type="http://schemas.openxmlformats.org/officeDocument/2006/relationships/slideLayout" Target="../slideLayouts/slideLayout3.xml"/></Relationships>
</file>

<file path=ppt/slides/_rels/slide27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7.wmf"/><Relationship Id="rId1" Type="http://schemas.openxmlformats.org/officeDocument/2006/relationships/slideLayout" Target="../slideLayouts/slideLayout5.xml"/></Relationships>
</file>

<file path=ppt/slides/_rels/slide278.xml.rels><?xml version="1.0" encoding="UTF-8" standalone="yes"?>
<Relationships xmlns="http://schemas.openxmlformats.org/package/2006/relationships"><Relationship Id="rId3" Type="http://schemas.openxmlformats.org/officeDocument/2006/relationships/image" Target="../media/image55.wmf"/><Relationship Id="rId2" Type="http://schemas.openxmlformats.org/officeDocument/2006/relationships/oleObject" Target="../embeddings/oleObject2.bin"/><Relationship Id="rId1" Type="http://schemas.openxmlformats.org/officeDocument/2006/relationships/slideLayout" Target="../slideLayouts/slideLayout2.xml"/><Relationship Id="rId4" Type="http://schemas.openxmlformats.org/officeDocument/2006/relationships/image" Target="../media/image7.wmf"/></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2.xml.rels><?xml version="1.0" encoding="UTF-8" standalone="yes"?>
<Relationships xmlns="http://schemas.openxmlformats.org/package/2006/relationships"><Relationship Id="rId2" Type="http://schemas.openxmlformats.org/officeDocument/2006/relationships/image" Target="../media/image56.jpeg"/><Relationship Id="rId1" Type="http://schemas.openxmlformats.org/officeDocument/2006/relationships/slideLayout" Target="../slideLayouts/slideLayout1.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9.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image" Target="../media/image57.png"/><Relationship Id="rId1" Type="http://schemas.openxmlformats.org/officeDocument/2006/relationships/slideLayout" Target="../slideLayouts/slideLayout2.xml"/><Relationship Id="rId5" Type="http://schemas.openxmlformats.org/officeDocument/2006/relationships/image" Target="../media/image7.wmf"/><Relationship Id="rId4" Type="http://schemas.openxmlformats.org/officeDocument/2006/relationships/image" Target="../media/image55.wmf"/></Relationships>
</file>

<file path=ppt/slides/_rels/slide290.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image" Target="../media/image57.png"/><Relationship Id="rId1" Type="http://schemas.openxmlformats.org/officeDocument/2006/relationships/slideLayout" Target="../slideLayouts/slideLayout5.xml"/><Relationship Id="rId5" Type="http://schemas.openxmlformats.org/officeDocument/2006/relationships/image" Target="../media/image7.wmf"/><Relationship Id="rId4" Type="http://schemas.openxmlformats.org/officeDocument/2006/relationships/image" Target="../media/image55.wmf"/></Relationships>
</file>

<file path=ppt/slides/_rels/slide291.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3.xml"/></Relationships>
</file>

<file path=ppt/slides/_rels/slide292.xml.rels><?xml version="1.0" encoding="UTF-8" standalone="yes"?>
<Relationships xmlns="http://schemas.openxmlformats.org/package/2006/relationships"><Relationship Id="rId2" Type="http://schemas.openxmlformats.org/officeDocument/2006/relationships/image" Target="../media/image56.jpeg"/><Relationship Id="rId1" Type="http://schemas.openxmlformats.org/officeDocument/2006/relationships/slideLayout" Target="../slideLayouts/slideLayout1.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5.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103.xml"/><Relationship Id="rId1" Type="http://schemas.openxmlformats.org/officeDocument/2006/relationships/slideLayout" Target="../slideLayouts/slideLayout2.xml"/><Relationship Id="rId6" Type="http://schemas.openxmlformats.org/officeDocument/2006/relationships/image" Target="../media/image28.wmf"/><Relationship Id="rId5" Type="http://schemas.openxmlformats.org/officeDocument/2006/relationships/image" Target="../media/image10.wmf"/><Relationship Id="rId4" Type="http://schemas.openxmlformats.org/officeDocument/2006/relationships/image" Target="../media/image55.wmf"/></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0.xml.rels><?xml version="1.0" encoding="UTF-8" standalone="yes"?>
<Relationships xmlns="http://schemas.openxmlformats.org/package/2006/relationships"><Relationship Id="rId2" Type="http://schemas.openxmlformats.org/officeDocument/2006/relationships/image" Target="../media/image58.jpg"/><Relationship Id="rId1" Type="http://schemas.openxmlformats.org/officeDocument/2006/relationships/slideLayout" Target="../slideLayouts/slideLayout1.xml"/></Relationships>
</file>

<file path=ppt/slides/_rels/slide301.xml.rels><?xml version="1.0" encoding="UTF-8" standalone="yes"?>
<Relationships xmlns="http://schemas.openxmlformats.org/package/2006/relationships"><Relationship Id="rId2" Type="http://schemas.openxmlformats.org/officeDocument/2006/relationships/image" Target="../media/image59.wmf"/><Relationship Id="rId1" Type="http://schemas.openxmlformats.org/officeDocument/2006/relationships/slideLayout" Target="../slideLayouts/slideLayout3.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3.xml.rels><?xml version="1.0" encoding="UTF-8" standalone="yes"?>
<Relationships xmlns="http://schemas.openxmlformats.org/package/2006/relationships"><Relationship Id="rId3" Type="http://schemas.openxmlformats.org/officeDocument/2006/relationships/image" Target="../media/image59.wmf"/><Relationship Id="rId2" Type="http://schemas.openxmlformats.org/officeDocument/2006/relationships/notesSlide" Target="../notesSlides/notesSlide104.xml"/><Relationship Id="rId1" Type="http://schemas.openxmlformats.org/officeDocument/2006/relationships/slideLayout" Target="../slideLayouts/slideLayout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5.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105.xml"/><Relationship Id="rId1" Type="http://schemas.openxmlformats.org/officeDocument/2006/relationships/slideLayout" Target="../slideLayouts/slideLayout2.xml"/><Relationship Id="rId5" Type="http://schemas.openxmlformats.org/officeDocument/2006/relationships/image" Target="../media/image57.png"/><Relationship Id="rId4" Type="http://schemas.openxmlformats.org/officeDocument/2006/relationships/image" Target="../media/image59.wmf"/></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2.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1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7.wmf"/><Relationship Id="rId1" Type="http://schemas.openxmlformats.org/officeDocument/2006/relationships/slideLayout" Target="../slideLayouts/slideLayout2.xml"/><Relationship Id="rId4" Type="http://schemas.openxmlformats.org/officeDocument/2006/relationships/image" Target="../media/image59.wmf"/></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2.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3.xml"/></Relationships>
</file>

<file path=ppt/slides/_rels/slide323.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1.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5.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9.xml.rels><?xml version="1.0" encoding="UTF-8" standalone="yes"?>
<Relationships xmlns="http://schemas.openxmlformats.org/package/2006/relationships"><Relationship Id="rId3" Type="http://schemas.openxmlformats.org/officeDocument/2006/relationships/image" Target="../media/image12.wmf"/><Relationship Id="rId2" Type="http://schemas.openxmlformats.org/officeDocument/2006/relationships/image" Target="../media/image57.png"/><Relationship Id="rId1" Type="http://schemas.openxmlformats.org/officeDocument/2006/relationships/slideLayout" Target="../slideLayouts/slideLayout3.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10.wmf"/><Relationship Id="rId1" Type="http://schemas.openxmlformats.org/officeDocument/2006/relationships/slideLayout" Target="../slideLayouts/slideLayout2.xml"/><Relationship Id="rId4" Type="http://schemas.openxmlformats.org/officeDocument/2006/relationships/image" Target="../media/image62.wmf"/></Relationships>
</file>

<file path=ppt/slides/_rels/slide33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2.xml"/><Relationship Id="rId4" Type="http://schemas.openxmlformats.org/officeDocument/2006/relationships/image" Target="../media/image62.wmf"/></Relationships>
</file>

<file path=ppt/slides/_rels/slide335.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10.wmf"/><Relationship Id="rId1" Type="http://schemas.openxmlformats.org/officeDocument/2006/relationships/slideLayout" Target="../slideLayouts/slideLayout3.xml"/><Relationship Id="rId4" Type="http://schemas.openxmlformats.org/officeDocument/2006/relationships/image" Target="../media/image62.wmf"/></Relationships>
</file>

<file path=ppt/slides/_rels/slide336.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2.xml"/><Relationship Id="rId4" Type="http://schemas.openxmlformats.org/officeDocument/2006/relationships/image" Target="../media/image62.wmf"/></Relationships>
</file>

<file path=ppt/slides/_rels/slide33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10.wmf"/><Relationship Id="rId1" Type="http://schemas.openxmlformats.org/officeDocument/2006/relationships/slideLayout" Target="../slideLayouts/slideLayout2.xml"/><Relationship Id="rId4" Type="http://schemas.openxmlformats.org/officeDocument/2006/relationships/image" Target="../media/image62.wmf"/></Relationships>
</file>

<file path=ppt/slides/_rels/slide338.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image" Target="../media/image28.wmf"/><Relationship Id="rId1" Type="http://schemas.openxmlformats.org/officeDocument/2006/relationships/slideLayout" Target="../slideLayouts/slideLayout2.xml"/><Relationship Id="rId4" Type="http://schemas.openxmlformats.org/officeDocument/2006/relationships/image" Target="../media/image62.wmf"/></Relationships>
</file>

<file path=ppt/slides/_rels/slide33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107.xml"/><Relationship Id="rId1" Type="http://schemas.openxmlformats.org/officeDocument/2006/relationships/slideLayout" Target="../slideLayouts/slideLayout2.xml"/><Relationship Id="rId4" Type="http://schemas.openxmlformats.org/officeDocument/2006/relationships/image" Target="../media/image62.wmf"/></Relationships>
</file>

<file path=ppt/slides/_rels/slide340.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341.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108.xml"/><Relationship Id="rId1" Type="http://schemas.openxmlformats.org/officeDocument/2006/relationships/slideLayout" Target="../slideLayouts/slideLayout2.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342.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343.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344.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网</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络</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4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5A9D1B67-41F5-A720-CCB9-0592AFB25DF0}"/>
              </a:ext>
            </a:extLst>
          </p:cNvPr>
          <p:cNvGrpSpPr/>
          <p:nvPr/>
        </p:nvGrpSpPr>
        <p:grpSpPr>
          <a:xfrm>
            <a:off x="5983013" y="2166189"/>
            <a:ext cx="2160000" cy="2304000"/>
            <a:chOff x="6539325" y="1588039"/>
            <a:chExt cx="2160000" cy="2304000"/>
          </a:xfrm>
        </p:grpSpPr>
        <p:sp>
          <p:nvSpPr>
            <p:cNvPr id="4" name="立方体 3">
              <a:extLst>
                <a:ext uri="{FF2B5EF4-FFF2-40B4-BE49-F238E27FC236}">
                  <a16:creationId xmlns:a16="http://schemas.microsoft.com/office/drawing/2014/main" id="{77358EBD-EF4C-D96E-09AF-2D0F4403A058}"/>
                </a:ext>
              </a:extLst>
            </p:cNvPr>
            <p:cNvSpPr/>
            <p:nvPr/>
          </p:nvSpPr>
          <p:spPr>
            <a:xfrm>
              <a:off x="6539325" y="3316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6" name="立方体 5">
              <a:extLst>
                <a:ext uri="{FF2B5EF4-FFF2-40B4-BE49-F238E27FC236}">
                  <a16:creationId xmlns:a16="http://schemas.microsoft.com/office/drawing/2014/main" id="{E5BCB0B7-BF31-D2B7-9CAF-943171F50E85}"/>
                </a:ext>
              </a:extLst>
            </p:cNvPr>
            <p:cNvSpPr/>
            <p:nvPr/>
          </p:nvSpPr>
          <p:spPr>
            <a:xfrm>
              <a:off x="6539325" y="2884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9154458F-7620-BF33-3551-10C29FC036AD}"/>
                </a:ext>
              </a:extLst>
            </p:cNvPr>
            <p:cNvSpPr/>
            <p:nvPr/>
          </p:nvSpPr>
          <p:spPr>
            <a:xfrm>
              <a:off x="6539325" y="245203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立方体 8">
              <a:extLst>
                <a:ext uri="{FF2B5EF4-FFF2-40B4-BE49-F238E27FC236}">
                  <a16:creationId xmlns:a16="http://schemas.microsoft.com/office/drawing/2014/main" id="{22C2E59F-9CDA-BB99-31CC-37B3E55B82BB}"/>
                </a:ext>
              </a:extLst>
            </p:cNvPr>
            <p:cNvSpPr/>
            <p:nvPr/>
          </p:nvSpPr>
          <p:spPr>
            <a:xfrm>
              <a:off x="6539325" y="2020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立方体 9">
              <a:extLst>
                <a:ext uri="{FF2B5EF4-FFF2-40B4-BE49-F238E27FC236}">
                  <a16:creationId xmlns:a16="http://schemas.microsoft.com/office/drawing/2014/main" id="{BD38986F-0F29-08AF-4659-044DC071BC80}"/>
                </a:ext>
              </a:extLst>
            </p:cNvPr>
            <p:cNvSpPr/>
            <p:nvPr/>
          </p:nvSpPr>
          <p:spPr>
            <a:xfrm>
              <a:off x="6539325" y="1588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
        <p:nvSpPr>
          <p:cNvPr id="65" name="Text Box 13"/>
          <p:cNvSpPr txBox="1">
            <a:spLocks noChangeArrowheads="1"/>
          </p:cNvSpPr>
          <p:nvPr/>
        </p:nvSpPr>
        <p:spPr bwMode="auto">
          <a:xfrm>
            <a:off x="1380424" y="4522466"/>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66" name="Text Box 12"/>
          <p:cNvSpPr txBox="1">
            <a:spLocks noChangeArrowheads="1"/>
          </p:cNvSpPr>
          <p:nvPr/>
        </p:nvSpPr>
        <p:spPr bwMode="auto">
          <a:xfrm>
            <a:off x="3656394" y="4522466"/>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70" name="Text Box 113"/>
          <p:cNvSpPr txBox="1">
            <a:spLocks noChangeArrowheads="1"/>
          </p:cNvSpPr>
          <p:nvPr/>
        </p:nvSpPr>
        <p:spPr bwMode="auto">
          <a:xfrm>
            <a:off x="6170158" y="4522466"/>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200" dirty="0">
                <a:solidFill>
                  <a:srgbClr val="E46C0A"/>
                </a:solidFill>
                <a:latin typeface="Montserrat" panose="00000500000000000000" pitchFamily="2" charset="0"/>
                <a:ea typeface="微软雅黑 Light" panose="020B0502040204020203" pitchFamily="34" charset="-122"/>
              </a:rPr>
              <a:t>五层协议的体系结构</a:t>
            </a:r>
          </a:p>
        </p:txBody>
      </p:sp>
      <p:sp>
        <p:nvSpPr>
          <p:cNvPr id="2" name="标题 1">
            <a:extLst>
              <a:ext uri="{FF2B5EF4-FFF2-40B4-BE49-F238E27FC236}">
                <a16:creationId xmlns:a16="http://schemas.microsoft.com/office/drawing/2014/main" id="{3DE93DA0-B1DD-5FE2-0D1E-BCDC2281C95D}"/>
              </a:ext>
            </a:extLst>
          </p:cNvPr>
          <p:cNvSpPr>
            <a:spLocks noGrp="1"/>
          </p:cNvSpPr>
          <p:nvPr>
            <p:ph type="title"/>
          </p:nvPr>
        </p:nvSpPr>
        <p:spPr>
          <a:xfrm>
            <a:off x="486000" y="550723"/>
            <a:ext cx="8172000" cy="338554"/>
          </a:xfrm>
        </p:spPr>
        <p:txBody>
          <a:bodyPr/>
          <a:lstStyle/>
          <a:p>
            <a:r>
              <a:rPr lang="zh-CN" altLang="en-US" dirty="0"/>
              <a:t>计算机网络体系结构</a:t>
            </a:r>
          </a:p>
        </p:txBody>
      </p:sp>
      <p:grpSp>
        <p:nvGrpSpPr>
          <p:cNvPr id="18" name="组合 17">
            <a:extLst>
              <a:ext uri="{FF2B5EF4-FFF2-40B4-BE49-F238E27FC236}">
                <a16:creationId xmlns:a16="http://schemas.microsoft.com/office/drawing/2014/main" id="{DF76D175-9040-050C-CDD7-B3A1AB44BA4D}"/>
              </a:ext>
            </a:extLst>
          </p:cNvPr>
          <p:cNvGrpSpPr/>
          <p:nvPr/>
        </p:nvGrpSpPr>
        <p:grpSpPr>
          <a:xfrm>
            <a:off x="1079467" y="1303200"/>
            <a:ext cx="2160000" cy="3166989"/>
            <a:chOff x="1079467" y="1303200"/>
            <a:chExt cx="2160000" cy="3166989"/>
          </a:xfrm>
        </p:grpSpPr>
        <p:sp>
          <p:nvSpPr>
            <p:cNvPr id="8" name="立方体 7">
              <a:extLst>
                <a:ext uri="{FF2B5EF4-FFF2-40B4-BE49-F238E27FC236}">
                  <a16:creationId xmlns:a16="http://schemas.microsoft.com/office/drawing/2014/main" id="{0413351E-16F9-A732-E78B-B954297C7268}"/>
                </a:ext>
              </a:extLst>
            </p:cNvPr>
            <p:cNvSpPr/>
            <p:nvPr/>
          </p:nvSpPr>
          <p:spPr>
            <a:xfrm>
              <a:off x="1079467"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1" name="立方体 10">
              <a:extLst>
                <a:ext uri="{FF2B5EF4-FFF2-40B4-BE49-F238E27FC236}">
                  <a16:creationId xmlns:a16="http://schemas.microsoft.com/office/drawing/2014/main" id="{37C2CB0D-E5CF-59FF-D607-D7A27A33F9D5}"/>
                </a:ext>
              </a:extLst>
            </p:cNvPr>
            <p:cNvSpPr/>
            <p:nvPr/>
          </p:nvSpPr>
          <p:spPr>
            <a:xfrm>
              <a:off x="1079467"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2" name="立方体 11">
              <a:extLst>
                <a:ext uri="{FF2B5EF4-FFF2-40B4-BE49-F238E27FC236}">
                  <a16:creationId xmlns:a16="http://schemas.microsoft.com/office/drawing/2014/main" id="{4A1CDDEB-E036-6E84-7D5A-E9C5C1FA73EF}"/>
                </a:ext>
              </a:extLst>
            </p:cNvPr>
            <p:cNvSpPr/>
            <p:nvPr/>
          </p:nvSpPr>
          <p:spPr>
            <a:xfrm>
              <a:off x="1079467" y="3030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3" name="立方体 12">
              <a:extLst>
                <a:ext uri="{FF2B5EF4-FFF2-40B4-BE49-F238E27FC236}">
                  <a16:creationId xmlns:a16="http://schemas.microsoft.com/office/drawing/2014/main" id="{6C3F9207-02DC-9DD0-C545-A2B3251BFE5F}"/>
                </a:ext>
              </a:extLst>
            </p:cNvPr>
            <p:cNvSpPr/>
            <p:nvPr/>
          </p:nvSpPr>
          <p:spPr>
            <a:xfrm>
              <a:off x="1079467"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4" name="立方体 13">
              <a:extLst>
                <a:ext uri="{FF2B5EF4-FFF2-40B4-BE49-F238E27FC236}">
                  <a16:creationId xmlns:a16="http://schemas.microsoft.com/office/drawing/2014/main" id="{58848799-AA6E-1026-E294-71193A9D6A5B}"/>
                </a:ext>
              </a:extLst>
            </p:cNvPr>
            <p:cNvSpPr/>
            <p:nvPr/>
          </p:nvSpPr>
          <p:spPr>
            <a:xfrm>
              <a:off x="1079467"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8EE4DD13-0D77-1FB9-52BB-A049E8BB4B9A}"/>
                </a:ext>
              </a:extLst>
            </p:cNvPr>
            <p:cNvSpPr/>
            <p:nvPr/>
          </p:nvSpPr>
          <p:spPr>
            <a:xfrm>
              <a:off x="1079467" y="1735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C185869E-2D3F-B216-6B54-BD7740E15914}"/>
                </a:ext>
              </a:extLst>
            </p:cNvPr>
            <p:cNvSpPr/>
            <p:nvPr/>
          </p:nvSpPr>
          <p:spPr>
            <a:xfrm>
              <a:off x="1079467" y="1303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5" name="组合 24">
            <a:extLst>
              <a:ext uri="{FF2B5EF4-FFF2-40B4-BE49-F238E27FC236}">
                <a16:creationId xmlns:a16="http://schemas.microsoft.com/office/drawing/2014/main" id="{C25F19A7-DB27-A151-7D62-C3ACF6A58AAF}"/>
              </a:ext>
            </a:extLst>
          </p:cNvPr>
          <p:cNvGrpSpPr/>
          <p:nvPr/>
        </p:nvGrpSpPr>
        <p:grpSpPr>
          <a:xfrm>
            <a:off x="3531240" y="2598189"/>
            <a:ext cx="2160000" cy="1872000"/>
            <a:chOff x="3531240" y="2598189"/>
            <a:chExt cx="2160000" cy="1872000"/>
          </a:xfrm>
        </p:grpSpPr>
        <p:sp>
          <p:nvSpPr>
            <p:cNvPr id="20" name="立方体 19">
              <a:extLst>
                <a:ext uri="{FF2B5EF4-FFF2-40B4-BE49-F238E27FC236}">
                  <a16:creationId xmlns:a16="http://schemas.microsoft.com/office/drawing/2014/main" id="{AF479E60-DA2C-D85C-37CA-C7E702A1A78D}"/>
                </a:ext>
              </a:extLst>
            </p:cNvPr>
            <p:cNvSpPr/>
            <p:nvPr/>
          </p:nvSpPr>
          <p:spPr>
            <a:xfrm>
              <a:off x="3531240"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1" name="立方体 20">
              <a:extLst>
                <a:ext uri="{FF2B5EF4-FFF2-40B4-BE49-F238E27FC236}">
                  <a16:creationId xmlns:a16="http://schemas.microsoft.com/office/drawing/2014/main" id="{D4794A77-41CC-7FBD-1CCF-7CB94EC2CE20}"/>
                </a:ext>
              </a:extLst>
            </p:cNvPr>
            <p:cNvSpPr/>
            <p:nvPr/>
          </p:nvSpPr>
          <p:spPr>
            <a:xfrm>
              <a:off x="3531240" y="3462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p>
          </p:txBody>
        </p:sp>
        <p:sp>
          <p:nvSpPr>
            <p:cNvPr id="22" name="立方体 21">
              <a:extLst>
                <a:ext uri="{FF2B5EF4-FFF2-40B4-BE49-F238E27FC236}">
                  <a16:creationId xmlns:a16="http://schemas.microsoft.com/office/drawing/2014/main" id="{28690C63-CFF2-A4F5-3249-9BB09DBC8E24}"/>
                </a:ext>
              </a:extLst>
            </p:cNvPr>
            <p:cNvSpPr/>
            <p:nvPr/>
          </p:nvSpPr>
          <p:spPr>
            <a:xfrm>
              <a:off x="3531240" y="3030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p>
          </p:txBody>
        </p:sp>
        <p:sp>
          <p:nvSpPr>
            <p:cNvPr id="23" name="立方体 22">
              <a:extLst>
                <a:ext uri="{FF2B5EF4-FFF2-40B4-BE49-F238E27FC236}">
                  <a16:creationId xmlns:a16="http://schemas.microsoft.com/office/drawing/2014/main" id="{3CB04EE6-5963-680B-7F55-585D4B7D6A1C}"/>
                </a:ext>
              </a:extLst>
            </p:cNvPr>
            <p:cNvSpPr/>
            <p:nvPr/>
          </p:nvSpPr>
          <p:spPr>
            <a:xfrm>
              <a:off x="3531240"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p>
          </p:txBody>
        </p:sp>
      </p:grpSp>
    </p:spTree>
    <p:extLst>
      <p:ext uri="{BB962C8B-B14F-4D97-AF65-F5344CB8AC3E}">
        <p14:creationId xmlns:p14="http://schemas.microsoft.com/office/powerpoint/2010/main" val="18355629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7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Line 16"/>
          <p:cNvSpPr>
            <a:spLocks noChangeShapeType="1"/>
          </p:cNvSpPr>
          <p:nvPr/>
        </p:nvSpPr>
        <p:spPr bwMode="auto">
          <a:xfrm>
            <a:off x="2421504" y="500942"/>
            <a:ext cx="0" cy="422553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pic>
        <p:nvPicPr>
          <p:cNvPr id="2" name="Image 1" descr="preencoded.png">
            <a:extLst>
              <a:ext uri="{FF2B5EF4-FFF2-40B4-BE49-F238E27FC236}">
                <a16:creationId xmlns:a16="http://schemas.microsoft.com/office/drawing/2014/main" id="{F6CB0564-57A5-1D39-8CD8-67BEF9382DCF}"/>
              </a:ext>
            </a:extLst>
          </p:cNvPr>
          <p:cNvPicPr>
            <a:picLocks noChangeAspect="1"/>
          </p:cNvPicPr>
          <p:nvPr/>
        </p:nvPicPr>
        <p:blipFill>
          <a:blip r:embed="rId3"/>
          <a:srcRect t="6452" b="6452"/>
          <a:stretch/>
        </p:blipFill>
        <p:spPr>
          <a:xfrm>
            <a:off x="0" y="0"/>
            <a:ext cx="2919307" cy="5143500"/>
          </a:xfrm>
          <a:prstGeom prst="rect">
            <a:avLst/>
          </a:prstGeom>
        </p:spPr>
      </p:pic>
      <p:sp>
        <p:nvSpPr>
          <p:cNvPr id="3" name="Text 1">
            <a:extLst>
              <a:ext uri="{FF2B5EF4-FFF2-40B4-BE49-F238E27FC236}">
                <a16:creationId xmlns:a16="http://schemas.microsoft.com/office/drawing/2014/main" id="{CE4D5D60-7A70-54A9-EAB9-635B8F8DF2C9}"/>
              </a:ext>
            </a:extLst>
          </p:cNvPr>
          <p:cNvSpPr/>
          <p:nvPr/>
        </p:nvSpPr>
        <p:spPr>
          <a:xfrm>
            <a:off x="571500" y="3433763"/>
            <a:ext cx="2029458" cy="666750"/>
          </a:xfrm>
          <a:prstGeom prst="rect">
            <a:avLst/>
          </a:prstGeom>
          <a:noFill/>
          <a:ln/>
        </p:spPr>
        <p:txBody>
          <a:bodyPr vert="horz" wrap="square" lIns="0" tIns="0" rIns="0" bIns="0" rtlCol="0" anchor="ctr"/>
          <a:lstStyle/>
          <a:p>
            <a:pPr marL="0" indent="0" algn="l">
              <a:lnSpc>
                <a:spcPts val="5250"/>
              </a:lnSpc>
              <a:buNone/>
            </a:pPr>
            <a:r>
              <a:rPr lang="en-US" sz="3750" b="1" dirty="0">
                <a:solidFill>
                  <a:srgbClr val="FFFFFF"/>
                </a:solidFill>
                <a:latin typeface="Microsoft YaHei" pitchFamily="34" charset="0"/>
                <a:ea typeface="Microsoft YaHei" pitchFamily="34" charset="-122"/>
                <a:cs typeface="Microsoft YaHei" pitchFamily="34" charset="-120"/>
              </a:rPr>
              <a:t>Content</a:t>
            </a:r>
            <a:endParaRPr lang="en-US" sz="3750" dirty="0"/>
          </a:p>
        </p:txBody>
      </p:sp>
      <p:sp>
        <p:nvSpPr>
          <p:cNvPr id="4" name="Text 2">
            <a:extLst>
              <a:ext uri="{FF2B5EF4-FFF2-40B4-BE49-F238E27FC236}">
                <a16:creationId xmlns:a16="http://schemas.microsoft.com/office/drawing/2014/main" id="{A7A61522-A5AE-31F6-87EE-8D40E9BC618E}"/>
              </a:ext>
            </a:extLst>
          </p:cNvPr>
          <p:cNvSpPr/>
          <p:nvPr/>
        </p:nvSpPr>
        <p:spPr>
          <a:xfrm>
            <a:off x="571500" y="4176713"/>
            <a:ext cx="1809750" cy="400050"/>
          </a:xfrm>
          <a:prstGeom prst="rect">
            <a:avLst/>
          </a:prstGeom>
          <a:noFill/>
          <a:ln/>
        </p:spPr>
        <p:txBody>
          <a:bodyPr vert="horz" wrap="square" lIns="0" tIns="0" rIns="0" bIns="0" rtlCol="0" anchor="ctr"/>
          <a:lstStyle/>
          <a:p>
            <a:pPr marL="0" indent="0" algn="l">
              <a:lnSpc>
                <a:spcPts val="3150"/>
              </a:lnSpc>
              <a:buNone/>
            </a:pPr>
            <a:r>
              <a:rPr lang="en-US" sz="2250" b="1" dirty="0">
                <a:solidFill>
                  <a:srgbClr val="B6DFFF"/>
                </a:solidFill>
                <a:latin typeface="Microsoft YaHei" pitchFamily="34" charset="0"/>
                <a:ea typeface="Microsoft YaHei" pitchFamily="34" charset="-122"/>
                <a:cs typeface="Microsoft YaHei" pitchFamily="34" charset="-120"/>
              </a:rPr>
              <a:t>目录</a:t>
            </a:r>
            <a:endParaRPr lang="en-US" sz="2250" dirty="0"/>
          </a:p>
        </p:txBody>
      </p:sp>
      <p:sp>
        <p:nvSpPr>
          <p:cNvPr id="5" name="Text 3">
            <a:extLst>
              <a:ext uri="{FF2B5EF4-FFF2-40B4-BE49-F238E27FC236}">
                <a16:creationId xmlns:a16="http://schemas.microsoft.com/office/drawing/2014/main" id="{0FAC8C40-84C6-C0CC-B279-B050F362D7CD}"/>
              </a:ext>
            </a:extLst>
          </p:cNvPr>
          <p:cNvSpPr/>
          <p:nvPr/>
        </p:nvSpPr>
        <p:spPr>
          <a:xfrm>
            <a:off x="3524250" y="774225"/>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01</a:t>
            </a:r>
            <a:endParaRPr lang="en-US" sz="1875" b="1" dirty="0">
              <a:latin typeface="微软雅黑" panose="020B0503020204020204" pitchFamily="34" charset="-122"/>
              <a:ea typeface="微软雅黑" panose="020B0503020204020204" pitchFamily="34" charset="-122"/>
            </a:endParaRPr>
          </a:p>
        </p:txBody>
      </p:sp>
      <p:sp>
        <p:nvSpPr>
          <p:cNvPr id="6" name="Text 4">
            <a:extLst>
              <a:ext uri="{FF2B5EF4-FFF2-40B4-BE49-F238E27FC236}">
                <a16:creationId xmlns:a16="http://schemas.microsoft.com/office/drawing/2014/main" id="{D60B4C8A-915B-2C93-E60F-E8FD0FF65C37}"/>
              </a:ext>
            </a:extLst>
          </p:cNvPr>
          <p:cNvSpPr/>
          <p:nvPr/>
        </p:nvSpPr>
        <p:spPr>
          <a:xfrm>
            <a:off x="3990975" y="833190"/>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网络层的几个重要概念</a:t>
            </a:r>
            <a:endParaRPr lang="en-US" sz="1400" dirty="0">
              <a:latin typeface="Montserrat" panose="00000500000000000000" pitchFamily="2" charset="0"/>
            </a:endParaRPr>
          </a:p>
        </p:txBody>
      </p:sp>
      <p:sp>
        <p:nvSpPr>
          <p:cNvPr id="10" name="Text 3">
            <a:extLst>
              <a:ext uri="{FF2B5EF4-FFF2-40B4-BE49-F238E27FC236}">
                <a16:creationId xmlns:a16="http://schemas.microsoft.com/office/drawing/2014/main" id="{ED2B4905-C846-E55A-400E-AAFAC3F0D253}"/>
              </a:ext>
            </a:extLst>
          </p:cNvPr>
          <p:cNvSpPr/>
          <p:nvPr/>
        </p:nvSpPr>
        <p:spPr>
          <a:xfrm>
            <a:off x="3524250" y="1140361"/>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02</a:t>
            </a:r>
            <a:endParaRPr lang="en-US" sz="1875" b="1" dirty="0">
              <a:latin typeface="微软雅黑" panose="020B0503020204020204" pitchFamily="34" charset="-122"/>
              <a:ea typeface="微软雅黑" panose="020B0503020204020204" pitchFamily="34" charset="-122"/>
            </a:endParaRPr>
          </a:p>
        </p:txBody>
      </p:sp>
      <p:sp>
        <p:nvSpPr>
          <p:cNvPr id="11" name="Text 4">
            <a:extLst>
              <a:ext uri="{FF2B5EF4-FFF2-40B4-BE49-F238E27FC236}">
                <a16:creationId xmlns:a16="http://schemas.microsoft.com/office/drawing/2014/main" id="{EE7908C8-986C-4AB6-E682-DD870F1F519C}"/>
              </a:ext>
            </a:extLst>
          </p:cNvPr>
          <p:cNvSpPr/>
          <p:nvPr/>
        </p:nvSpPr>
        <p:spPr>
          <a:xfrm>
            <a:off x="3990975" y="1199326"/>
            <a:ext cx="1068705"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网际协议 </a:t>
            </a:r>
            <a:r>
              <a:rPr lang="en-US" altLang="zh-CN" sz="1400" dirty="0">
                <a:solidFill>
                  <a:srgbClr val="666666"/>
                </a:solidFill>
                <a:latin typeface="Montserrat" panose="00000500000000000000" pitchFamily="2" charset="0"/>
                <a:ea typeface="Microsoft YaHei" pitchFamily="34" charset="-122"/>
                <a:cs typeface="Microsoft YaHei" pitchFamily="34" charset="-120"/>
              </a:rPr>
              <a:t>IP</a:t>
            </a:r>
            <a:endParaRPr lang="en-US" sz="1400" dirty="0">
              <a:latin typeface="Montserrat" panose="00000500000000000000" pitchFamily="2" charset="0"/>
            </a:endParaRPr>
          </a:p>
        </p:txBody>
      </p:sp>
      <p:sp>
        <p:nvSpPr>
          <p:cNvPr id="14" name="Text 3">
            <a:extLst>
              <a:ext uri="{FF2B5EF4-FFF2-40B4-BE49-F238E27FC236}">
                <a16:creationId xmlns:a16="http://schemas.microsoft.com/office/drawing/2014/main" id="{EBF5EBD8-C2B3-70FC-5FF6-1E3C8E0634EB}"/>
              </a:ext>
            </a:extLst>
          </p:cNvPr>
          <p:cNvSpPr/>
          <p:nvPr/>
        </p:nvSpPr>
        <p:spPr>
          <a:xfrm>
            <a:off x="3524250" y="1506497"/>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03</a:t>
            </a:r>
            <a:endParaRPr lang="en-US" sz="1875" b="1" dirty="0">
              <a:latin typeface="微软雅黑" panose="020B0503020204020204" pitchFamily="34" charset="-122"/>
              <a:ea typeface="微软雅黑" panose="020B0503020204020204" pitchFamily="34" charset="-122"/>
            </a:endParaRPr>
          </a:p>
        </p:txBody>
      </p:sp>
      <p:sp>
        <p:nvSpPr>
          <p:cNvPr id="15" name="Text 4">
            <a:extLst>
              <a:ext uri="{FF2B5EF4-FFF2-40B4-BE49-F238E27FC236}">
                <a16:creationId xmlns:a16="http://schemas.microsoft.com/office/drawing/2014/main" id="{C7234A49-AD15-5541-85DA-4E42771E8CCF}"/>
              </a:ext>
            </a:extLst>
          </p:cNvPr>
          <p:cNvSpPr/>
          <p:nvPr/>
        </p:nvSpPr>
        <p:spPr>
          <a:xfrm>
            <a:off x="3990975" y="1565462"/>
            <a:ext cx="1698625"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层转发分组的过程</a:t>
            </a:r>
            <a:endParaRPr lang="en-US" sz="1400" dirty="0">
              <a:latin typeface="Montserrat" panose="00000500000000000000" pitchFamily="2" charset="0"/>
            </a:endParaRPr>
          </a:p>
        </p:txBody>
      </p:sp>
      <p:sp>
        <p:nvSpPr>
          <p:cNvPr id="17" name="Text 3">
            <a:extLst>
              <a:ext uri="{FF2B5EF4-FFF2-40B4-BE49-F238E27FC236}">
                <a16:creationId xmlns:a16="http://schemas.microsoft.com/office/drawing/2014/main" id="{7131ADED-C0E6-D664-607A-4175EBB69BE2}"/>
              </a:ext>
            </a:extLst>
          </p:cNvPr>
          <p:cNvSpPr/>
          <p:nvPr/>
        </p:nvSpPr>
        <p:spPr>
          <a:xfrm>
            <a:off x="3524250" y="1872633"/>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04</a:t>
            </a:r>
            <a:endParaRPr lang="en-US" sz="1875" b="1" dirty="0">
              <a:latin typeface="微软雅黑" panose="020B0503020204020204" pitchFamily="34" charset="-122"/>
              <a:ea typeface="微软雅黑" panose="020B0503020204020204" pitchFamily="34" charset="-122"/>
            </a:endParaRPr>
          </a:p>
        </p:txBody>
      </p:sp>
      <p:sp>
        <p:nvSpPr>
          <p:cNvPr id="18" name="Text 4">
            <a:extLst>
              <a:ext uri="{FF2B5EF4-FFF2-40B4-BE49-F238E27FC236}">
                <a16:creationId xmlns:a16="http://schemas.microsoft.com/office/drawing/2014/main" id="{0257B21C-1691-CEF1-7933-D69184D56C86}"/>
              </a:ext>
            </a:extLst>
          </p:cNvPr>
          <p:cNvSpPr/>
          <p:nvPr/>
        </p:nvSpPr>
        <p:spPr>
          <a:xfrm>
            <a:off x="3990975" y="1931598"/>
            <a:ext cx="1962150" cy="215444"/>
          </a:xfrm>
          <a:prstGeom prst="rect">
            <a:avLst/>
          </a:prstGeom>
          <a:noFill/>
          <a:ln/>
        </p:spPr>
        <p:txBody>
          <a:bodyPr vert="horz" wrap="square" lIns="0" tIns="0" rIns="0" bIns="0" rtlCol="0" anchor="ctr">
            <a:spAutoFit/>
          </a:bodyPr>
          <a:lstStyle/>
          <a:p>
            <a:r>
              <a:rPr lang="zh-CN" altLang="en-US" sz="1400" dirty="0">
                <a:solidFill>
                  <a:srgbClr val="666666"/>
                </a:solidFill>
                <a:latin typeface="Montserrat" panose="00000500000000000000" pitchFamily="2" charset="0"/>
                <a:ea typeface="Microsoft YaHei" pitchFamily="34" charset="-122"/>
              </a:rPr>
              <a:t>网际控制报文协议 </a:t>
            </a:r>
            <a:r>
              <a:rPr lang="en-US" altLang="zh-CN" sz="1400" dirty="0">
                <a:solidFill>
                  <a:srgbClr val="666666"/>
                </a:solidFill>
                <a:latin typeface="Montserrat" panose="00000500000000000000" pitchFamily="2" charset="0"/>
                <a:ea typeface="Microsoft YaHei" pitchFamily="34" charset="-122"/>
              </a:rPr>
              <a:t>ICMP</a:t>
            </a:r>
            <a:endParaRPr lang="en-US" sz="1400" dirty="0">
              <a:solidFill>
                <a:srgbClr val="666666"/>
              </a:solidFill>
              <a:latin typeface="Montserrat" panose="00000500000000000000" pitchFamily="2" charset="0"/>
              <a:ea typeface="Microsoft YaHei" pitchFamily="34" charset="-122"/>
            </a:endParaRPr>
          </a:p>
        </p:txBody>
      </p:sp>
      <p:sp>
        <p:nvSpPr>
          <p:cNvPr id="31" name="Text 3">
            <a:extLst>
              <a:ext uri="{FF2B5EF4-FFF2-40B4-BE49-F238E27FC236}">
                <a16:creationId xmlns:a16="http://schemas.microsoft.com/office/drawing/2014/main" id="{1E35BBC6-B61E-5561-93EB-070E48A17730}"/>
              </a:ext>
            </a:extLst>
          </p:cNvPr>
          <p:cNvSpPr/>
          <p:nvPr/>
        </p:nvSpPr>
        <p:spPr>
          <a:xfrm>
            <a:off x="3524250" y="2238769"/>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05</a:t>
            </a:r>
            <a:endParaRPr lang="en-US" sz="1875" b="1" dirty="0">
              <a:latin typeface="微软雅黑" panose="020B0503020204020204" pitchFamily="34" charset="-122"/>
              <a:ea typeface="微软雅黑" panose="020B0503020204020204" pitchFamily="34" charset="-122"/>
            </a:endParaRPr>
          </a:p>
        </p:txBody>
      </p:sp>
      <p:sp>
        <p:nvSpPr>
          <p:cNvPr id="32" name="Text 4">
            <a:extLst>
              <a:ext uri="{FF2B5EF4-FFF2-40B4-BE49-F238E27FC236}">
                <a16:creationId xmlns:a16="http://schemas.microsoft.com/office/drawing/2014/main" id="{67A4D1E5-0641-EA16-1849-4ADE3FDD4F43}"/>
              </a:ext>
            </a:extLst>
          </p:cNvPr>
          <p:cNvSpPr/>
          <p:nvPr/>
        </p:nvSpPr>
        <p:spPr>
          <a:xfrm>
            <a:off x="3990975" y="2297734"/>
            <a:ext cx="1962150"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IPv6</a:t>
            </a:r>
            <a:endParaRPr lang="en-US" sz="1400" dirty="0">
              <a:latin typeface="Montserrat" panose="00000500000000000000" pitchFamily="2" charset="0"/>
            </a:endParaRPr>
          </a:p>
        </p:txBody>
      </p:sp>
      <p:sp>
        <p:nvSpPr>
          <p:cNvPr id="34" name="Text 3">
            <a:extLst>
              <a:ext uri="{FF2B5EF4-FFF2-40B4-BE49-F238E27FC236}">
                <a16:creationId xmlns:a16="http://schemas.microsoft.com/office/drawing/2014/main" id="{93706C4C-E324-FC3D-545C-1A45F69C51B6}"/>
              </a:ext>
            </a:extLst>
          </p:cNvPr>
          <p:cNvSpPr/>
          <p:nvPr/>
        </p:nvSpPr>
        <p:spPr>
          <a:xfrm>
            <a:off x="3524250" y="2604905"/>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06</a:t>
            </a:r>
            <a:endParaRPr lang="en-US" sz="1875" b="1" dirty="0">
              <a:latin typeface="微软雅黑" panose="020B0503020204020204" pitchFamily="34" charset="-122"/>
              <a:ea typeface="微软雅黑" panose="020B0503020204020204" pitchFamily="34" charset="-122"/>
            </a:endParaRPr>
          </a:p>
        </p:txBody>
      </p:sp>
      <p:sp>
        <p:nvSpPr>
          <p:cNvPr id="35" name="Text 4">
            <a:extLst>
              <a:ext uri="{FF2B5EF4-FFF2-40B4-BE49-F238E27FC236}">
                <a16:creationId xmlns:a16="http://schemas.microsoft.com/office/drawing/2014/main" id="{E983DC73-34F9-2F0D-66A3-8E5798E8E628}"/>
              </a:ext>
            </a:extLst>
          </p:cNvPr>
          <p:cNvSpPr/>
          <p:nvPr/>
        </p:nvSpPr>
        <p:spPr>
          <a:xfrm>
            <a:off x="3990975" y="2663870"/>
            <a:ext cx="1827318"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互联网的路由选择协议</a:t>
            </a:r>
            <a:endParaRPr lang="en-US" sz="1400" dirty="0">
              <a:latin typeface="Montserrat" panose="00000500000000000000" pitchFamily="2" charset="0"/>
            </a:endParaRPr>
          </a:p>
        </p:txBody>
      </p:sp>
      <p:sp>
        <p:nvSpPr>
          <p:cNvPr id="37" name="Text 3">
            <a:extLst>
              <a:ext uri="{FF2B5EF4-FFF2-40B4-BE49-F238E27FC236}">
                <a16:creationId xmlns:a16="http://schemas.microsoft.com/office/drawing/2014/main" id="{D4A61890-32FA-3A4C-E675-2FAD7C9855A2}"/>
              </a:ext>
            </a:extLst>
          </p:cNvPr>
          <p:cNvSpPr/>
          <p:nvPr/>
        </p:nvSpPr>
        <p:spPr>
          <a:xfrm>
            <a:off x="3524250" y="2971041"/>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07</a:t>
            </a:r>
            <a:endParaRPr lang="en-US" sz="1875" b="1" dirty="0">
              <a:latin typeface="微软雅黑" panose="020B0503020204020204" pitchFamily="34" charset="-122"/>
              <a:ea typeface="微软雅黑" panose="020B0503020204020204" pitchFamily="34" charset="-122"/>
            </a:endParaRPr>
          </a:p>
        </p:txBody>
      </p:sp>
      <p:sp>
        <p:nvSpPr>
          <p:cNvPr id="38" name="Text 4">
            <a:extLst>
              <a:ext uri="{FF2B5EF4-FFF2-40B4-BE49-F238E27FC236}">
                <a16:creationId xmlns:a16="http://schemas.microsoft.com/office/drawing/2014/main" id="{75A8F2E7-DA98-05E7-3C91-2BF1929AA75B}"/>
              </a:ext>
            </a:extLst>
          </p:cNvPr>
          <p:cNvSpPr/>
          <p:nvPr/>
        </p:nvSpPr>
        <p:spPr>
          <a:xfrm>
            <a:off x="3990975" y="3030006"/>
            <a:ext cx="1962150"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多播</a:t>
            </a:r>
            <a:endParaRPr lang="en-US" sz="1400" dirty="0">
              <a:latin typeface="Montserrat" panose="00000500000000000000" pitchFamily="2" charset="0"/>
            </a:endParaRPr>
          </a:p>
        </p:txBody>
      </p:sp>
      <p:sp>
        <p:nvSpPr>
          <p:cNvPr id="40" name="Text 3">
            <a:extLst>
              <a:ext uri="{FF2B5EF4-FFF2-40B4-BE49-F238E27FC236}">
                <a16:creationId xmlns:a16="http://schemas.microsoft.com/office/drawing/2014/main" id="{A79044B5-A909-4696-4DFC-BDDC8326C629}"/>
              </a:ext>
            </a:extLst>
          </p:cNvPr>
          <p:cNvSpPr/>
          <p:nvPr/>
        </p:nvSpPr>
        <p:spPr>
          <a:xfrm>
            <a:off x="3524250" y="3337177"/>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08</a:t>
            </a:r>
            <a:endParaRPr lang="en-US" sz="1875" b="1" dirty="0">
              <a:latin typeface="微软雅黑" panose="020B0503020204020204" pitchFamily="34" charset="-122"/>
              <a:ea typeface="微软雅黑" panose="020B0503020204020204" pitchFamily="34" charset="-122"/>
            </a:endParaRPr>
          </a:p>
        </p:txBody>
      </p:sp>
      <p:sp>
        <p:nvSpPr>
          <p:cNvPr id="41" name="Text 4">
            <a:extLst>
              <a:ext uri="{FF2B5EF4-FFF2-40B4-BE49-F238E27FC236}">
                <a16:creationId xmlns:a16="http://schemas.microsoft.com/office/drawing/2014/main" id="{5C98CCA3-467D-84A3-5779-B6DF890D0492}"/>
              </a:ext>
            </a:extLst>
          </p:cNvPr>
          <p:cNvSpPr/>
          <p:nvPr/>
        </p:nvSpPr>
        <p:spPr>
          <a:xfrm>
            <a:off x="3990975" y="3396142"/>
            <a:ext cx="3148118"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虚拟专用网 </a:t>
            </a:r>
            <a:r>
              <a:rPr lang="en-US" altLang="zh-CN" sz="1400" dirty="0">
                <a:solidFill>
                  <a:srgbClr val="666666"/>
                </a:solidFill>
                <a:latin typeface="Montserrat" panose="00000500000000000000" pitchFamily="2" charset="0"/>
                <a:ea typeface="Microsoft YaHei" pitchFamily="34" charset="-122"/>
                <a:cs typeface="Microsoft YaHei" pitchFamily="34" charset="-120"/>
              </a:rPr>
              <a:t>VPN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和网络地址转换 </a:t>
            </a:r>
            <a:r>
              <a:rPr lang="en-US" altLang="zh-CN" sz="1400" dirty="0">
                <a:solidFill>
                  <a:srgbClr val="666666"/>
                </a:solidFill>
                <a:latin typeface="Montserrat" panose="00000500000000000000" pitchFamily="2" charset="0"/>
                <a:ea typeface="Microsoft YaHei" pitchFamily="34" charset="-122"/>
                <a:cs typeface="Microsoft YaHei" pitchFamily="34" charset="-120"/>
              </a:rPr>
              <a:t>NAT</a:t>
            </a:r>
            <a:endParaRPr lang="en-US" sz="1400" dirty="0">
              <a:latin typeface="Montserrat" panose="00000500000000000000" pitchFamily="2" charset="0"/>
            </a:endParaRPr>
          </a:p>
        </p:txBody>
      </p:sp>
      <p:sp>
        <p:nvSpPr>
          <p:cNvPr id="43" name="Text 3">
            <a:extLst>
              <a:ext uri="{FF2B5EF4-FFF2-40B4-BE49-F238E27FC236}">
                <a16:creationId xmlns:a16="http://schemas.microsoft.com/office/drawing/2014/main" id="{BD529478-DE27-28D3-7E45-1D7C3DD92DB5}"/>
              </a:ext>
            </a:extLst>
          </p:cNvPr>
          <p:cNvSpPr/>
          <p:nvPr/>
        </p:nvSpPr>
        <p:spPr>
          <a:xfrm>
            <a:off x="3524250" y="3703313"/>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09</a:t>
            </a:r>
            <a:endParaRPr lang="en-US" sz="1875" b="1" dirty="0">
              <a:latin typeface="微软雅黑" panose="020B0503020204020204" pitchFamily="34" charset="-122"/>
              <a:ea typeface="微软雅黑" panose="020B0503020204020204" pitchFamily="34" charset="-122"/>
            </a:endParaRPr>
          </a:p>
        </p:txBody>
      </p:sp>
      <p:sp>
        <p:nvSpPr>
          <p:cNvPr id="44" name="Text 4">
            <a:extLst>
              <a:ext uri="{FF2B5EF4-FFF2-40B4-BE49-F238E27FC236}">
                <a16:creationId xmlns:a16="http://schemas.microsoft.com/office/drawing/2014/main" id="{A71DD14F-A233-87AC-8BC3-B20E39035273}"/>
              </a:ext>
            </a:extLst>
          </p:cNvPr>
          <p:cNvSpPr/>
          <p:nvPr/>
        </p:nvSpPr>
        <p:spPr>
          <a:xfrm>
            <a:off x="3990975" y="3762278"/>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多协议标记交换 </a:t>
            </a:r>
            <a:r>
              <a:rPr lang="en-US" altLang="zh-CN" sz="1400" dirty="0">
                <a:solidFill>
                  <a:srgbClr val="666666"/>
                </a:solidFill>
                <a:latin typeface="Montserrat" panose="00000500000000000000" pitchFamily="2" charset="0"/>
                <a:ea typeface="Microsoft YaHei" pitchFamily="34" charset="-122"/>
                <a:cs typeface="Microsoft YaHei" pitchFamily="34" charset="-120"/>
              </a:rPr>
              <a:t>MPLS</a:t>
            </a:r>
            <a:endParaRPr lang="en-US" sz="1400" dirty="0">
              <a:latin typeface="Montserrat" panose="00000500000000000000" pitchFamily="2" charset="0"/>
            </a:endParaRPr>
          </a:p>
        </p:txBody>
      </p:sp>
      <p:sp>
        <p:nvSpPr>
          <p:cNvPr id="46" name="Text 3">
            <a:extLst>
              <a:ext uri="{FF2B5EF4-FFF2-40B4-BE49-F238E27FC236}">
                <a16:creationId xmlns:a16="http://schemas.microsoft.com/office/drawing/2014/main" id="{5380A8C9-E28E-D67A-D5EA-14B03C3C4C58}"/>
              </a:ext>
            </a:extLst>
          </p:cNvPr>
          <p:cNvSpPr/>
          <p:nvPr/>
        </p:nvSpPr>
        <p:spPr>
          <a:xfrm>
            <a:off x="3524250" y="4069448"/>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10</a:t>
            </a:r>
            <a:endParaRPr lang="en-US" sz="1875" b="1" dirty="0">
              <a:latin typeface="微软雅黑" panose="020B0503020204020204" pitchFamily="34" charset="-122"/>
              <a:ea typeface="微软雅黑" panose="020B0503020204020204" pitchFamily="34" charset="-122"/>
            </a:endParaRPr>
          </a:p>
        </p:txBody>
      </p:sp>
      <p:sp>
        <p:nvSpPr>
          <p:cNvPr id="47" name="Text 4">
            <a:extLst>
              <a:ext uri="{FF2B5EF4-FFF2-40B4-BE49-F238E27FC236}">
                <a16:creationId xmlns:a16="http://schemas.microsoft.com/office/drawing/2014/main" id="{19EDA4E9-7040-C8D5-BE5A-6379841D2C64}"/>
              </a:ext>
            </a:extLst>
          </p:cNvPr>
          <p:cNvSpPr/>
          <p:nvPr/>
        </p:nvSpPr>
        <p:spPr>
          <a:xfrm>
            <a:off x="3990975" y="4128413"/>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软件定义网络 </a:t>
            </a:r>
            <a:r>
              <a:rPr lang="en-US" altLang="zh-CN" sz="1400" dirty="0">
                <a:solidFill>
                  <a:srgbClr val="666666"/>
                </a:solidFill>
                <a:latin typeface="Montserrat" panose="00000500000000000000" pitchFamily="2" charset="0"/>
                <a:ea typeface="Microsoft YaHei" pitchFamily="34" charset="-122"/>
                <a:cs typeface="Microsoft YaHei" pitchFamily="34" charset="-120"/>
              </a:rPr>
              <a:t>SDN </a:t>
            </a:r>
            <a:r>
              <a:rPr lang="zh-CN" altLang="en-US" sz="1400" dirty="0">
                <a:solidFill>
                  <a:srgbClr val="666666"/>
                </a:solidFill>
                <a:latin typeface="Montserrat" panose="00000500000000000000" pitchFamily="2" charset="0"/>
                <a:ea typeface="Microsoft YaHei" pitchFamily="34" charset="-122"/>
                <a:cs typeface="Microsoft YaHei" pitchFamily="34" charset="-120"/>
              </a:rPr>
              <a:t>简介</a:t>
            </a:r>
            <a:endParaRPr lang="en-US" sz="1400" dirty="0">
              <a:latin typeface="Montserrat" panose="00000500000000000000" pitchFamily="2" charset="0"/>
            </a:endParaRPr>
          </a:p>
        </p:txBody>
      </p:sp>
      <p:cxnSp>
        <p:nvCxnSpPr>
          <p:cNvPr id="49" name="直接箭头连接符 48">
            <a:extLst>
              <a:ext uri="{FF2B5EF4-FFF2-40B4-BE49-F238E27FC236}">
                <a16:creationId xmlns:a16="http://schemas.microsoft.com/office/drawing/2014/main" id="{352A7F14-B362-2C1B-5893-8671481F85B7}"/>
              </a:ext>
            </a:extLst>
          </p:cNvPr>
          <p:cNvCxnSpPr>
            <a:cxnSpLocks/>
            <a:stCxn id="11" idx="3"/>
            <a:endCxn id="50" idx="1"/>
          </p:cNvCxnSpPr>
          <p:nvPr/>
        </p:nvCxnSpPr>
        <p:spPr>
          <a:xfrm>
            <a:off x="5059680" y="1307048"/>
            <a:ext cx="1510744"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6BD96B74-E4F5-67CE-58CB-A999607BBDFA}"/>
              </a:ext>
            </a:extLst>
          </p:cNvPr>
          <p:cNvSpPr txBox="1"/>
          <p:nvPr/>
        </p:nvSpPr>
        <p:spPr>
          <a:xfrm>
            <a:off x="6570424" y="1199326"/>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CIDR</a:t>
            </a:r>
            <a:endParaRPr lang="zh-CN" altLang="en-US" dirty="0"/>
          </a:p>
        </p:txBody>
      </p:sp>
      <p:cxnSp>
        <p:nvCxnSpPr>
          <p:cNvPr id="52" name="直接箭头连接符 51">
            <a:extLst>
              <a:ext uri="{FF2B5EF4-FFF2-40B4-BE49-F238E27FC236}">
                <a16:creationId xmlns:a16="http://schemas.microsoft.com/office/drawing/2014/main" id="{0B477652-918D-A160-28F8-01EF465A32A9}"/>
              </a:ext>
            </a:extLst>
          </p:cNvPr>
          <p:cNvCxnSpPr>
            <a:cxnSpLocks/>
            <a:stCxn id="18" idx="3"/>
            <a:endCxn id="53" idx="1"/>
          </p:cNvCxnSpPr>
          <p:nvPr/>
        </p:nvCxnSpPr>
        <p:spPr>
          <a:xfrm>
            <a:off x="5953125" y="2039320"/>
            <a:ext cx="944378"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3" name="文本框 52">
            <a:extLst>
              <a:ext uri="{FF2B5EF4-FFF2-40B4-BE49-F238E27FC236}">
                <a16:creationId xmlns:a16="http://schemas.microsoft.com/office/drawing/2014/main" id="{3F54FE91-773C-83F2-30F4-53541C1717FA}"/>
              </a:ext>
            </a:extLst>
          </p:cNvPr>
          <p:cNvSpPr txBox="1"/>
          <p:nvPr/>
        </p:nvSpPr>
        <p:spPr>
          <a:xfrm>
            <a:off x="6897503" y="1931598"/>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PING</a:t>
            </a:r>
            <a:endParaRPr lang="zh-CN" altLang="en-US" dirty="0"/>
          </a:p>
        </p:txBody>
      </p:sp>
      <p:sp>
        <p:nvSpPr>
          <p:cNvPr id="59" name="文本框 58">
            <a:extLst>
              <a:ext uri="{FF2B5EF4-FFF2-40B4-BE49-F238E27FC236}">
                <a16:creationId xmlns:a16="http://schemas.microsoft.com/office/drawing/2014/main" id="{25F58600-DD49-79F9-992F-74CB38A80B34}"/>
              </a:ext>
            </a:extLst>
          </p:cNvPr>
          <p:cNvSpPr txBox="1"/>
          <p:nvPr/>
        </p:nvSpPr>
        <p:spPr>
          <a:xfrm>
            <a:off x="6570423" y="2556149"/>
            <a:ext cx="1827318" cy="430887"/>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IGP – RIP OSPF</a:t>
            </a:r>
          </a:p>
          <a:p>
            <a:r>
              <a:rPr lang="en-US" altLang="zh-CN" dirty="0"/>
              <a:t>EGP - BGP</a:t>
            </a:r>
            <a:endParaRPr lang="zh-CN" altLang="en-US" dirty="0"/>
          </a:p>
        </p:txBody>
      </p:sp>
      <p:cxnSp>
        <p:nvCxnSpPr>
          <p:cNvPr id="60" name="直接箭头连接符 59">
            <a:extLst>
              <a:ext uri="{FF2B5EF4-FFF2-40B4-BE49-F238E27FC236}">
                <a16:creationId xmlns:a16="http://schemas.microsoft.com/office/drawing/2014/main" id="{931A4905-060F-0B20-5A22-489DC8D6EC2D}"/>
              </a:ext>
            </a:extLst>
          </p:cNvPr>
          <p:cNvCxnSpPr>
            <a:cxnSpLocks/>
            <a:stCxn id="35" idx="3"/>
            <a:endCxn id="59" idx="1"/>
          </p:cNvCxnSpPr>
          <p:nvPr/>
        </p:nvCxnSpPr>
        <p:spPr>
          <a:xfrm>
            <a:off x="5818293" y="2771592"/>
            <a:ext cx="752130" cy="1"/>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64" name="文本框 63">
            <a:extLst>
              <a:ext uri="{FF2B5EF4-FFF2-40B4-BE49-F238E27FC236}">
                <a16:creationId xmlns:a16="http://schemas.microsoft.com/office/drawing/2014/main" id="{3DA6536D-3E65-0645-999F-FD3CDFD05DDA}"/>
              </a:ext>
            </a:extLst>
          </p:cNvPr>
          <p:cNvSpPr txBox="1"/>
          <p:nvPr/>
        </p:nvSpPr>
        <p:spPr>
          <a:xfrm>
            <a:off x="6722824" y="1565462"/>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Router</a:t>
            </a:r>
            <a:endParaRPr lang="zh-CN" altLang="en-US" dirty="0"/>
          </a:p>
        </p:txBody>
      </p:sp>
      <p:cxnSp>
        <p:nvCxnSpPr>
          <p:cNvPr id="65" name="直接箭头连接符 64">
            <a:extLst>
              <a:ext uri="{FF2B5EF4-FFF2-40B4-BE49-F238E27FC236}">
                <a16:creationId xmlns:a16="http://schemas.microsoft.com/office/drawing/2014/main" id="{28282CC3-82F5-1168-7067-9EC18DD73C4F}"/>
              </a:ext>
            </a:extLst>
          </p:cNvPr>
          <p:cNvCxnSpPr>
            <a:cxnSpLocks/>
            <a:stCxn id="15" idx="3"/>
            <a:endCxn id="64" idx="1"/>
          </p:cNvCxnSpPr>
          <p:nvPr/>
        </p:nvCxnSpPr>
        <p:spPr>
          <a:xfrm>
            <a:off x="5689600" y="1673184"/>
            <a:ext cx="1033224"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35361"/>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41786"/>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263923"/>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081361"/>
            <a:ext cx="5602506"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4.1.1                             </a:t>
            </a:r>
            <a:r>
              <a:rPr lang="zh-CN" altLang="en-US" sz="2000" b="1" dirty="0">
                <a:solidFill>
                  <a:schemeClr val="bg1"/>
                </a:solidFill>
                <a:latin typeface="微软雅黑" pitchFamily="34" charset="-122"/>
                <a:ea typeface="微软雅黑" pitchFamily="34" charset="-122"/>
              </a:rPr>
              <a:t>网络层提供的两种服务</a:t>
            </a:r>
          </a:p>
          <a:p>
            <a:pPr eaLnBrk="0" hangingPunct="0">
              <a:lnSpc>
                <a:spcPct val="200000"/>
              </a:lnSpc>
            </a:pPr>
            <a:r>
              <a:rPr lang="en-US" altLang="zh-CN" sz="2000" b="1" dirty="0">
                <a:solidFill>
                  <a:schemeClr val="bg1"/>
                </a:solidFill>
                <a:latin typeface="微软雅黑" pitchFamily="34" charset="-122"/>
                <a:ea typeface="微软雅黑" pitchFamily="34" charset="-122"/>
              </a:rPr>
              <a:t>4.1.2                                    </a:t>
            </a:r>
            <a:r>
              <a:rPr lang="zh-CN" altLang="en-US" sz="2000" b="1" dirty="0">
                <a:solidFill>
                  <a:schemeClr val="bg1"/>
                </a:solidFill>
                <a:latin typeface="微软雅黑" pitchFamily="34" charset="-122"/>
                <a:ea typeface="微软雅黑" pitchFamily="34" charset="-122"/>
              </a:rPr>
              <a:t>网络层的两个层面</a:t>
            </a:r>
          </a:p>
        </p:txBody>
      </p:sp>
      <p:sp>
        <p:nvSpPr>
          <p:cNvPr id="7" name="Rectangle 27"/>
          <p:cNvSpPr>
            <a:spLocks noChangeArrowheads="1"/>
          </p:cNvSpPr>
          <p:nvPr/>
        </p:nvSpPr>
        <p:spPr bwMode="auto">
          <a:xfrm>
            <a:off x="639730" y="1335361"/>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30293"/>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pitchFamily="34" charset="-122"/>
                <a:ea typeface="微软雅黑" pitchFamily="34" charset="-122"/>
              </a:rPr>
              <a:t>4</a:t>
            </a:r>
            <a:r>
              <a:rPr lang="fr-FR" altLang="zh-CN" sz="2000" b="1" dirty="0">
                <a:solidFill>
                  <a:srgbClr val="FFFF00"/>
                </a:solidFill>
                <a:latin typeface="微软雅黑" pitchFamily="34" charset="-122"/>
                <a:ea typeface="微软雅黑" pitchFamily="34" charset="-122"/>
              </a:rPr>
              <a:t>.1</a:t>
            </a:r>
          </a:p>
          <a:p>
            <a:pPr eaLnBrk="0" hangingPunct="0"/>
            <a:r>
              <a:rPr lang="zh-CN" altLang="en-US" sz="2000" b="1" dirty="0">
                <a:solidFill>
                  <a:schemeClr val="bg1"/>
                </a:solidFill>
                <a:latin typeface="微软雅黑" pitchFamily="34" charset="-122"/>
                <a:ea typeface="微软雅黑" pitchFamily="34" charset="-122"/>
              </a:rPr>
              <a:t>网络层的几个重要概念</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72285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56C448-B4F2-E2EC-728A-A633D602341D}"/>
              </a:ext>
            </a:extLst>
          </p:cNvPr>
          <p:cNvSpPr>
            <a:spLocks noGrp="1"/>
          </p:cNvSpPr>
          <p:nvPr>
            <p:ph type="title"/>
          </p:nvPr>
        </p:nvSpPr>
        <p:spPr>
          <a:xfrm>
            <a:off x="486000" y="550723"/>
            <a:ext cx="8172000" cy="338554"/>
          </a:xfrm>
        </p:spPr>
        <p:txBody>
          <a:bodyPr/>
          <a:lstStyle/>
          <a:p>
            <a:r>
              <a:rPr lang="en-US" altLang="zh-CN" dirty="0"/>
              <a:t>4.1.1 </a:t>
            </a:r>
            <a:r>
              <a:rPr lang="zh-CN" altLang="en-US" dirty="0"/>
              <a:t>网络层提供的两种服务</a:t>
            </a:r>
          </a:p>
        </p:txBody>
      </p:sp>
      <p:sp>
        <p:nvSpPr>
          <p:cNvPr id="7" name="内容占位符 6">
            <a:extLst>
              <a:ext uri="{FF2B5EF4-FFF2-40B4-BE49-F238E27FC236}">
                <a16:creationId xmlns:a16="http://schemas.microsoft.com/office/drawing/2014/main" id="{477C66CB-67FA-62E1-EA6C-9665343395A5}"/>
              </a:ext>
            </a:extLst>
          </p:cNvPr>
          <p:cNvSpPr>
            <a:spLocks noGrp="1"/>
          </p:cNvSpPr>
          <p:nvPr>
            <p:ph sz="quarter" idx="11"/>
          </p:nvPr>
        </p:nvSpPr>
        <p:spPr>
          <a:xfrm>
            <a:off x="486000" y="900000"/>
            <a:ext cx="8172000" cy="3703500"/>
          </a:xfrm>
        </p:spPr>
        <p:txBody>
          <a:bodyPr/>
          <a:lstStyle/>
          <a:p>
            <a:r>
              <a:rPr lang="zh-CN" altLang="en-US" dirty="0"/>
              <a:t>争论：</a:t>
            </a:r>
            <a:endParaRPr lang="en-US" altLang="zh-CN" dirty="0"/>
          </a:p>
          <a:p>
            <a:pPr lvl="1"/>
            <a:r>
              <a:rPr lang="zh-CN" altLang="en-US" dirty="0"/>
              <a:t>网络层应该向运输层提供怎样的服务？面向连接还是无连接？</a:t>
            </a:r>
            <a:endParaRPr lang="en-US" altLang="zh-CN" dirty="0"/>
          </a:p>
          <a:p>
            <a:pPr lvl="1"/>
            <a:r>
              <a:rPr lang="zh-CN" altLang="en-US" dirty="0"/>
              <a:t>在计算机通信中，可靠交付应当由谁来负责？是网络还是端系统？</a:t>
            </a:r>
            <a:endParaRPr lang="en-US" altLang="zh-CN" dirty="0"/>
          </a:p>
          <a:p>
            <a:r>
              <a:rPr lang="en-US" altLang="zh-CN" dirty="0"/>
              <a:t>2 </a:t>
            </a:r>
            <a:r>
              <a:rPr lang="zh-CN" altLang="en-US" dirty="0"/>
              <a:t>种观点：</a:t>
            </a:r>
            <a:endParaRPr lang="en-US" altLang="zh-CN" dirty="0"/>
          </a:p>
          <a:p>
            <a:pPr lvl="1"/>
            <a:r>
              <a:rPr lang="zh-CN" altLang="en-US" dirty="0"/>
              <a:t>面向连接的可靠交付</a:t>
            </a:r>
            <a:endParaRPr lang="en-US" altLang="zh-CN" dirty="0"/>
          </a:p>
          <a:p>
            <a:pPr lvl="1"/>
            <a:r>
              <a:rPr lang="zh-CN" altLang="en-US" dirty="0"/>
              <a:t>无连接的、尽最大努力交付的数据报服务，不提供服务质量的承诺</a:t>
            </a:r>
          </a:p>
          <a:p>
            <a:endParaRPr lang="zh-CN" altLang="en-US" dirty="0"/>
          </a:p>
        </p:txBody>
      </p:sp>
    </p:spTree>
    <p:extLst>
      <p:ext uri="{BB962C8B-B14F-4D97-AF65-F5344CB8AC3E}">
        <p14:creationId xmlns:p14="http://schemas.microsoft.com/office/powerpoint/2010/main" val="3642272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12ADF0C-32C6-0BB6-93D3-5746E2161C09}"/>
              </a:ext>
            </a:extLst>
          </p:cNvPr>
          <p:cNvSpPr>
            <a:spLocks noGrp="1"/>
          </p:cNvSpPr>
          <p:nvPr>
            <p:ph type="title"/>
          </p:nvPr>
        </p:nvSpPr>
        <p:spPr>
          <a:xfrm>
            <a:off x="486000" y="550723"/>
            <a:ext cx="8172000" cy="338554"/>
          </a:xfrm>
        </p:spPr>
        <p:txBody>
          <a:bodyPr/>
          <a:lstStyle/>
          <a:p>
            <a:r>
              <a:rPr lang="zh-CN" altLang="en-US" dirty="0"/>
              <a:t>一种观点：让网络负责可靠交付</a:t>
            </a:r>
          </a:p>
        </p:txBody>
      </p:sp>
      <p:sp>
        <p:nvSpPr>
          <p:cNvPr id="3" name="内容占位符 2">
            <a:extLst>
              <a:ext uri="{FF2B5EF4-FFF2-40B4-BE49-F238E27FC236}">
                <a16:creationId xmlns:a16="http://schemas.microsoft.com/office/drawing/2014/main" id="{D3394314-7ACA-D638-A533-A607F32C53D2}"/>
              </a:ext>
            </a:extLst>
          </p:cNvPr>
          <p:cNvSpPr>
            <a:spLocks noGrp="1"/>
          </p:cNvSpPr>
          <p:nvPr>
            <p:ph sz="quarter" idx="11"/>
          </p:nvPr>
        </p:nvSpPr>
        <p:spPr>
          <a:xfrm>
            <a:off x="486000" y="900000"/>
            <a:ext cx="8172000" cy="3703500"/>
          </a:xfrm>
        </p:spPr>
        <p:txBody>
          <a:bodyPr/>
          <a:lstStyle/>
          <a:p>
            <a:r>
              <a:rPr lang="zh-CN" altLang="en-US" dirty="0"/>
              <a:t>计算机网络模仿电信网络，使用面向连接的通信方式</a:t>
            </a:r>
          </a:p>
          <a:p>
            <a:pPr lvl="1"/>
            <a:r>
              <a:rPr lang="zh-CN" altLang="en-US" dirty="0"/>
              <a:t>通信之前先建立虚电路 </a:t>
            </a:r>
            <a:r>
              <a:rPr lang="en-US" altLang="zh-CN" dirty="0"/>
              <a:t>VC</a:t>
            </a:r>
            <a:r>
              <a:rPr lang="zh-CN" altLang="en-US" dirty="0"/>
              <a:t> </a:t>
            </a:r>
            <a:r>
              <a:rPr lang="en-US" altLang="zh-CN" dirty="0"/>
              <a:t>(Virtual Circuit) (</a:t>
            </a:r>
            <a:r>
              <a:rPr lang="zh-CN" altLang="en-US" dirty="0"/>
              <a:t>即连接</a:t>
            </a:r>
            <a:r>
              <a:rPr lang="en-US" altLang="zh-CN" dirty="0"/>
              <a:t>)</a:t>
            </a:r>
            <a:r>
              <a:rPr lang="zh-CN" altLang="en-US" dirty="0"/>
              <a:t>，以保证双方通信所需的一切网络资源</a:t>
            </a:r>
          </a:p>
          <a:p>
            <a:pPr lvl="1"/>
            <a:r>
              <a:rPr lang="zh-CN" altLang="en-US" dirty="0"/>
              <a:t>如果再使用可靠传输的网络协议，可使所发送的分组无差错按序到达终点，不丢失、不重复</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2"/>
          <p:cNvSpPr>
            <a:spLocks noChangeArrowheads="1"/>
          </p:cNvSpPr>
          <p:nvPr/>
        </p:nvSpPr>
        <p:spPr bwMode="auto">
          <a:xfrm>
            <a:off x="6753601" y="3118501"/>
            <a:ext cx="1147864" cy="229156"/>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 name="Line 15"/>
          <p:cNvSpPr>
            <a:spLocks noChangeShapeType="1"/>
          </p:cNvSpPr>
          <p:nvPr/>
        </p:nvSpPr>
        <p:spPr bwMode="auto">
          <a:xfrm>
            <a:off x="6737840" y="2897832"/>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 name="Line 16"/>
          <p:cNvSpPr>
            <a:spLocks noChangeShapeType="1"/>
          </p:cNvSpPr>
          <p:nvPr/>
        </p:nvSpPr>
        <p:spPr bwMode="auto">
          <a:xfrm>
            <a:off x="6737840" y="3118501"/>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 name="Line 17"/>
          <p:cNvSpPr>
            <a:spLocks noChangeShapeType="1"/>
          </p:cNvSpPr>
          <p:nvPr/>
        </p:nvSpPr>
        <p:spPr bwMode="auto">
          <a:xfrm>
            <a:off x="6737840" y="3339170"/>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 name="Line 18"/>
          <p:cNvSpPr>
            <a:spLocks noChangeShapeType="1"/>
          </p:cNvSpPr>
          <p:nvPr/>
        </p:nvSpPr>
        <p:spPr bwMode="auto">
          <a:xfrm>
            <a:off x="6737840" y="3559839"/>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 name="Text Box 19"/>
          <p:cNvSpPr txBox="1">
            <a:spLocks noChangeArrowheads="1"/>
          </p:cNvSpPr>
          <p:nvPr/>
        </p:nvSpPr>
        <p:spPr bwMode="auto">
          <a:xfrm>
            <a:off x="2489632" y="2708422"/>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1</a:t>
            </a:r>
          </a:p>
        </p:txBody>
      </p:sp>
      <p:sp>
        <p:nvSpPr>
          <p:cNvPr id="47" name="Text Box 27"/>
          <p:cNvSpPr txBox="1">
            <a:spLocks noChangeArrowheads="1"/>
          </p:cNvSpPr>
          <p:nvPr/>
        </p:nvSpPr>
        <p:spPr bwMode="auto">
          <a:xfrm>
            <a:off x="6157988" y="2707876"/>
            <a:ext cx="44435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 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2</a:t>
            </a:r>
          </a:p>
        </p:txBody>
      </p:sp>
      <p:pic>
        <p:nvPicPr>
          <p:cNvPr id="39"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3488303"/>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0"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3157300"/>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1" name="Picture 3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3951466"/>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2"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3554990"/>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3" name="Picture 3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2560766"/>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5" name="Text Box 37"/>
          <p:cNvSpPr txBox="1">
            <a:spLocks noChangeArrowheads="1"/>
          </p:cNvSpPr>
          <p:nvPr/>
        </p:nvSpPr>
        <p:spPr bwMode="auto">
          <a:xfrm>
            <a:off x="4188911" y="3495578"/>
            <a:ext cx="80502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虚电路</a:t>
            </a:r>
            <a:endParaRPr kumimoji="0" lang="zh-CN" altLang="en-US" sz="1600" b="1" i="0" u="none" strike="noStrike" kern="0" cap="none" spc="0" normalizeH="0" baseline="-25000" noProof="0" dirty="0">
              <a:ln>
                <a:noFill/>
              </a:ln>
              <a:effectLst/>
              <a:uLnTx/>
              <a:uFillTx/>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6CE63EF-87C0-7F4F-6E96-C49DD3730913}"/>
              </a:ext>
            </a:extLst>
          </p:cNvPr>
          <p:cNvSpPr>
            <a:spLocks noGrp="1"/>
          </p:cNvSpPr>
          <p:nvPr>
            <p:ph type="title"/>
          </p:nvPr>
        </p:nvSpPr>
        <p:spPr>
          <a:xfrm>
            <a:off x="486000" y="550723"/>
            <a:ext cx="8172000" cy="338554"/>
          </a:xfrm>
        </p:spPr>
        <p:txBody>
          <a:bodyPr/>
          <a:lstStyle/>
          <a:p>
            <a:r>
              <a:rPr lang="zh-CN" altLang="en-US" dirty="0"/>
              <a:t>虚电路服务</a:t>
            </a:r>
          </a:p>
        </p:txBody>
      </p:sp>
      <p:sp>
        <p:nvSpPr>
          <p:cNvPr id="66" name="内容占位符 65">
            <a:extLst>
              <a:ext uri="{FF2B5EF4-FFF2-40B4-BE49-F238E27FC236}">
                <a16:creationId xmlns:a16="http://schemas.microsoft.com/office/drawing/2014/main" id="{CBF9F173-4F77-CEA8-A6F1-01BE5F3F8168}"/>
              </a:ext>
            </a:extLst>
          </p:cNvPr>
          <p:cNvSpPr>
            <a:spLocks noGrp="1"/>
          </p:cNvSpPr>
          <p:nvPr>
            <p:ph sz="quarter" idx="11"/>
          </p:nvPr>
        </p:nvSpPr>
        <p:spPr>
          <a:xfrm>
            <a:off x="486000" y="900000"/>
            <a:ext cx="8172000" cy="3703500"/>
          </a:xfrm>
        </p:spPr>
        <p:txBody>
          <a:bodyPr/>
          <a:lstStyle/>
          <a:p>
            <a:r>
              <a:rPr lang="en-US" altLang="zh-CN" dirty="0"/>
              <a:t>H1 </a:t>
            </a:r>
            <a:r>
              <a:rPr lang="zh-CN" altLang="en-US" dirty="0"/>
              <a:t>发送给 </a:t>
            </a:r>
            <a:r>
              <a:rPr lang="en-US" altLang="zh-CN" dirty="0"/>
              <a:t>H2 </a:t>
            </a:r>
            <a:r>
              <a:rPr lang="zh-CN" altLang="en-US" dirty="0"/>
              <a:t>的所有分组都沿着同一条虚电路传送</a:t>
            </a:r>
          </a:p>
          <a:p>
            <a:r>
              <a:rPr lang="zh-CN" altLang="en-US" dirty="0"/>
              <a:t>虚电路只是一条逻辑上的连接，分组都沿着这条逻辑连接按照存储转发方式传送，并不是真正建立了一条物理连接。</a:t>
            </a:r>
          </a:p>
          <a:p>
            <a:endParaRPr lang="zh-CN" altLang="en-US" dirty="0"/>
          </a:p>
        </p:txBody>
      </p:sp>
      <p:graphicFrame>
        <p:nvGraphicFramePr>
          <p:cNvPr id="4" name="表格 3">
            <a:extLst>
              <a:ext uri="{FF2B5EF4-FFF2-40B4-BE49-F238E27FC236}">
                <a16:creationId xmlns:a16="http://schemas.microsoft.com/office/drawing/2014/main" id="{5B2030D4-06F0-415D-43A4-394E702763CC}"/>
              </a:ext>
            </a:extLst>
          </p:cNvPr>
          <p:cNvGraphicFramePr>
            <a:graphicFrameLocks noGrp="1"/>
          </p:cNvGraphicFramePr>
          <p:nvPr>
            <p:extLst>
              <p:ext uri="{D42A27DB-BD31-4B8C-83A1-F6EECF244321}">
                <p14:modId xmlns:p14="http://schemas.microsoft.com/office/powerpoint/2010/main" val="639289699"/>
              </p:ext>
            </p:extLst>
          </p:nvPr>
        </p:nvGraphicFramePr>
        <p:xfrm>
          <a:off x="1185084" y="2598279"/>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graphicFrame>
        <p:nvGraphicFramePr>
          <p:cNvPr id="5" name="表格 4">
            <a:extLst>
              <a:ext uri="{FF2B5EF4-FFF2-40B4-BE49-F238E27FC236}">
                <a16:creationId xmlns:a16="http://schemas.microsoft.com/office/drawing/2014/main" id="{163094E3-5AD6-C7E1-E231-E5D80E8427CC}"/>
              </a:ext>
            </a:extLst>
          </p:cNvPr>
          <p:cNvGraphicFramePr>
            <a:graphicFrameLocks noGrp="1"/>
          </p:cNvGraphicFramePr>
          <p:nvPr>
            <p:extLst>
              <p:ext uri="{D42A27DB-BD31-4B8C-83A1-F6EECF244321}">
                <p14:modId xmlns:p14="http://schemas.microsoft.com/office/powerpoint/2010/main" val="3207351466"/>
              </p:ext>
            </p:extLst>
          </p:nvPr>
        </p:nvGraphicFramePr>
        <p:xfrm>
          <a:off x="6761156" y="2623815"/>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sp>
        <p:nvSpPr>
          <p:cNvPr id="44" name="Freeform 36"/>
          <p:cNvSpPr>
            <a:spLocks/>
          </p:cNvSpPr>
          <p:nvPr/>
        </p:nvSpPr>
        <p:spPr bwMode="auto">
          <a:xfrm>
            <a:off x="2208118" y="3274634"/>
            <a:ext cx="4695830" cy="885974"/>
          </a:xfrm>
          <a:custGeom>
            <a:avLst/>
            <a:gdLst>
              <a:gd name="T0" fmla="*/ 0 w 3314"/>
              <a:gd name="T1" fmla="*/ 0 h 433"/>
              <a:gd name="T2" fmla="*/ 184 w 3314"/>
              <a:gd name="T3" fmla="*/ 158 h 433"/>
              <a:gd name="T4" fmla="*/ 275 w 3314"/>
              <a:gd name="T5" fmla="*/ 249 h 433"/>
              <a:gd name="T6" fmla="*/ 362 w 3314"/>
              <a:gd name="T7" fmla="*/ 300 h 433"/>
              <a:gd name="T8" fmla="*/ 494 w 3314"/>
              <a:gd name="T9" fmla="*/ 364 h 433"/>
              <a:gd name="T10" fmla="*/ 683 w 3314"/>
              <a:gd name="T11" fmla="*/ 385 h 433"/>
              <a:gd name="T12" fmla="*/ 955 w 3314"/>
              <a:gd name="T13" fmla="*/ 339 h 433"/>
              <a:gd name="T14" fmla="*/ 1498 w 3314"/>
              <a:gd name="T15" fmla="*/ 216 h 433"/>
              <a:gd name="T16" fmla="*/ 1854 w 3314"/>
              <a:gd name="T17" fmla="*/ 216 h 433"/>
              <a:gd name="T18" fmla="*/ 2210 w 3314"/>
              <a:gd name="T19" fmla="*/ 316 h 433"/>
              <a:gd name="T20" fmla="*/ 2450 w 3314"/>
              <a:gd name="T21" fmla="*/ 392 h 433"/>
              <a:gd name="T22" fmla="*/ 2633 w 3314"/>
              <a:gd name="T23" fmla="*/ 430 h 433"/>
              <a:gd name="T24" fmla="*/ 2834 w 3314"/>
              <a:gd name="T25" fmla="*/ 372 h 433"/>
              <a:gd name="T26" fmla="*/ 2994 w 3314"/>
              <a:gd name="T27" fmla="*/ 276 h 433"/>
              <a:gd name="T28" fmla="*/ 3314 w 3314"/>
              <a:gd name="T29" fmla="*/ 22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3314" h="433">
                <a:moveTo>
                  <a:pt x="0" y="0"/>
                </a:moveTo>
                <a:cubicBezTo>
                  <a:pt x="27" y="26"/>
                  <a:pt x="138" y="116"/>
                  <a:pt x="184" y="158"/>
                </a:cubicBezTo>
                <a:cubicBezTo>
                  <a:pt x="230" y="200"/>
                  <a:pt x="245" y="225"/>
                  <a:pt x="275" y="249"/>
                </a:cubicBezTo>
                <a:cubicBezTo>
                  <a:pt x="305" y="273"/>
                  <a:pt x="326" y="281"/>
                  <a:pt x="362" y="300"/>
                </a:cubicBezTo>
                <a:cubicBezTo>
                  <a:pt x="398" y="319"/>
                  <a:pt x="441" y="350"/>
                  <a:pt x="494" y="364"/>
                </a:cubicBezTo>
                <a:cubicBezTo>
                  <a:pt x="547" y="378"/>
                  <a:pt x="606" y="389"/>
                  <a:pt x="683" y="385"/>
                </a:cubicBezTo>
                <a:cubicBezTo>
                  <a:pt x="760" y="381"/>
                  <a:pt x="819" y="367"/>
                  <a:pt x="955" y="339"/>
                </a:cubicBezTo>
                <a:cubicBezTo>
                  <a:pt x="1091" y="311"/>
                  <a:pt x="1348" y="236"/>
                  <a:pt x="1498" y="216"/>
                </a:cubicBezTo>
                <a:cubicBezTo>
                  <a:pt x="1648" y="196"/>
                  <a:pt x="1735" y="199"/>
                  <a:pt x="1854" y="216"/>
                </a:cubicBezTo>
                <a:cubicBezTo>
                  <a:pt x="1973" y="233"/>
                  <a:pt x="2111" y="287"/>
                  <a:pt x="2210" y="316"/>
                </a:cubicBezTo>
                <a:cubicBezTo>
                  <a:pt x="2309" y="345"/>
                  <a:pt x="2380" y="373"/>
                  <a:pt x="2450" y="392"/>
                </a:cubicBezTo>
                <a:cubicBezTo>
                  <a:pt x="2520" y="411"/>
                  <a:pt x="2569" y="433"/>
                  <a:pt x="2633" y="430"/>
                </a:cubicBezTo>
                <a:cubicBezTo>
                  <a:pt x="2697" y="427"/>
                  <a:pt x="2774" y="398"/>
                  <a:pt x="2834" y="372"/>
                </a:cubicBezTo>
                <a:cubicBezTo>
                  <a:pt x="2894" y="346"/>
                  <a:pt x="2914" y="334"/>
                  <a:pt x="2994" y="276"/>
                </a:cubicBezTo>
                <a:cubicBezTo>
                  <a:pt x="3074" y="218"/>
                  <a:pt x="3247" y="75"/>
                  <a:pt x="3314" y="22"/>
                </a:cubicBezTo>
              </a:path>
            </a:pathLst>
          </a:custGeom>
          <a:noFill/>
          <a:ln w="38100" cmpd="sng">
            <a:solidFill>
              <a:schemeClr val="tx1">
                <a:lumMod val="50000"/>
                <a:lumOff val="50000"/>
              </a:schemeClr>
            </a:solidFill>
            <a:prstDash val="lg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7" name="图形 6" descr="监视器">
            <a:extLst>
              <a:ext uri="{FF2B5EF4-FFF2-40B4-BE49-F238E27FC236}">
                <a16:creationId xmlns:a16="http://schemas.microsoft.com/office/drawing/2014/main" id="{E2379A26-0A43-1615-A230-45F34316D7B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24542" y="2938829"/>
            <a:ext cx="504000" cy="504000"/>
          </a:xfrm>
          <a:prstGeom prst="rect">
            <a:avLst/>
          </a:prstGeom>
        </p:spPr>
      </p:pic>
      <p:pic>
        <p:nvPicPr>
          <p:cNvPr id="8" name="图形 7" descr="监视器">
            <a:extLst>
              <a:ext uri="{FF2B5EF4-FFF2-40B4-BE49-F238E27FC236}">
                <a16:creationId xmlns:a16="http://schemas.microsoft.com/office/drawing/2014/main" id="{B7FDAB0A-2B77-F8F5-8312-5B587AA2EF9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28164" y="2938829"/>
            <a:ext cx="504000" cy="504000"/>
          </a:xfrm>
          <a:prstGeom prst="rect">
            <a:avLst/>
          </a:prstGeom>
        </p:spPr>
      </p:pic>
      <p:cxnSp>
        <p:nvCxnSpPr>
          <p:cNvPr id="10" name="直接连接符 9">
            <a:extLst>
              <a:ext uri="{FF2B5EF4-FFF2-40B4-BE49-F238E27FC236}">
                <a16:creationId xmlns:a16="http://schemas.microsoft.com/office/drawing/2014/main" id="{ABF88FB6-2941-D881-C87A-DAE83D0AEF37}"/>
              </a:ext>
            </a:extLst>
          </p:cNvPr>
          <p:cNvCxnSpPr>
            <a:cxnSpLocks/>
            <a:stCxn id="7" idx="2"/>
            <a:endCxn id="39" idx="1"/>
          </p:cNvCxnSpPr>
          <p:nvPr/>
        </p:nvCxnSpPr>
        <p:spPr>
          <a:xfrm>
            <a:off x="2676542" y="3442829"/>
            <a:ext cx="205652" cy="177633"/>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E814BEDB-EF48-8D64-0B44-13676D3620D5}"/>
              </a:ext>
            </a:extLst>
          </p:cNvPr>
          <p:cNvCxnSpPr>
            <a:cxnSpLocks/>
            <a:stCxn id="42" idx="3"/>
            <a:endCxn id="8" idx="2"/>
          </p:cNvCxnSpPr>
          <p:nvPr/>
        </p:nvCxnSpPr>
        <p:spPr>
          <a:xfrm flipV="1">
            <a:off x="6143730" y="3442829"/>
            <a:ext cx="236434" cy="244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A4420700-3EB2-B34B-270F-1C2509A1CF70}"/>
              </a:ext>
            </a:extLst>
          </p:cNvPr>
          <p:cNvCxnSpPr>
            <a:stCxn id="43" idx="3"/>
            <a:endCxn id="42" idx="0"/>
          </p:cNvCxnSpPr>
          <p:nvPr/>
        </p:nvCxnSpPr>
        <p:spPr>
          <a:xfrm>
            <a:off x="4785767" y="2692925"/>
            <a:ext cx="1123957" cy="862065"/>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5CE2AEFB-E121-14E4-1151-146A6B828F64}"/>
              </a:ext>
            </a:extLst>
          </p:cNvPr>
          <p:cNvCxnSpPr>
            <a:stCxn id="43" idx="1"/>
            <a:endCxn id="39" idx="0"/>
          </p:cNvCxnSpPr>
          <p:nvPr/>
        </p:nvCxnSpPr>
        <p:spPr>
          <a:xfrm flipH="1">
            <a:off x="3115594" y="2692925"/>
            <a:ext cx="1202161" cy="79537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EB80F31A-8555-CA45-0F1A-3D5AE97316D2}"/>
              </a:ext>
            </a:extLst>
          </p:cNvPr>
          <p:cNvCxnSpPr>
            <a:stCxn id="43" idx="2"/>
            <a:endCxn id="40" idx="0"/>
          </p:cNvCxnSpPr>
          <p:nvPr/>
        </p:nvCxnSpPr>
        <p:spPr>
          <a:xfrm>
            <a:off x="4551761" y="2825084"/>
            <a:ext cx="0" cy="332216"/>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C4C862A5-FA63-79E5-7488-F03ADFB7D7B7}"/>
              </a:ext>
            </a:extLst>
          </p:cNvPr>
          <p:cNvCxnSpPr>
            <a:stCxn id="40" idx="1"/>
            <a:endCxn id="39" idx="3"/>
          </p:cNvCxnSpPr>
          <p:nvPr/>
        </p:nvCxnSpPr>
        <p:spPr>
          <a:xfrm flipH="1">
            <a:off x="3348993" y="3290065"/>
            <a:ext cx="968762" cy="33039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BE0C27A9-F26B-0FB7-4386-BEA9BF67B205}"/>
              </a:ext>
            </a:extLst>
          </p:cNvPr>
          <p:cNvCxnSpPr>
            <a:stCxn id="40" idx="3"/>
            <a:endCxn id="42" idx="1"/>
          </p:cNvCxnSpPr>
          <p:nvPr/>
        </p:nvCxnSpPr>
        <p:spPr>
          <a:xfrm>
            <a:off x="4785767" y="3290065"/>
            <a:ext cx="889951" cy="39708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0D731166-9BF6-1A3E-E9A8-06B3D2F9D4E8}"/>
              </a:ext>
            </a:extLst>
          </p:cNvPr>
          <p:cNvCxnSpPr>
            <a:cxnSpLocks/>
            <a:stCxn id="42" idx="2"/>
            <a:endCxn id="41" idx="3"/>
          </p:cNvCxnSpPr>
          <p:nvPr/>
        </p:nvCxnSpPr>
        <p:spPr>
          <a:xfrm flipH="1">
            <a:off x="4721506" y="3819308"/>
            <a:ext cx="1188218" cy="26492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F1DD19BD-C12C-6D28-08EA-119F9334FA01}"/>
              </a:ext>
            </a:extLst>
          </p:cNvPr>
          <p:cNvCxnSpPr>
            <a:stCxn id="39" idx="2"/>
            <a:endCxn id="41" idx="1"/>
          </p:cNvCxnSpPr>
          <p:nvPr/>
        </p:nvCxnSpPr>
        <p:spPr>
          <a:xfrm>
            <a:off x="3115594" y="3752621"/>
            <a:ext cx="1137900" cy="331611"/>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a:spLocks noChangeArrowheads="1"/>
          </p:cNvSpPr>
          <p:nvPr/>
        </p:nvSpPr>
        <p:spPr bwMode="auto">
          <a:xfrm>
            <a:off x="4763945" y="408247"/>
            <a:ext cx="1847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endParaRPr lang="zh-CN" altLang="en-US" sz="2000" b="1" dirty="0">
              <a:solidFill>
                <a:schemeClr val="bg1"/>
              </a:solidFill>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6D6E589F-2F08-1D96-6E30-C7CEF26153FF}"/>
              </a:ext>
            </a:extLst>
          </p:cNvPr>
          <p:cNvSpPr>
            <a:spLocks noGrp="1"/>
          </p:cNvSpPr>
          <p:nvPr>
            <p:ph type="title"/>
          </p:nvPr>
        </p:nvSpPr>
        <p:spPr>
          <a:xfrm>
            <a:off x="486000" y="550723"/>
            <a:ext cx="8172000" cy="338554"/>
          </a:xfrm>
        </p:spPr>
        <p:txBody>
          <a:bodyPr/>
          <a:lstStyle/>
          <a:p>
            <a:r>
              <a:rPr lang="zh-CN" altLang="en-US" dirty="0"/>
              <a:t>另一种观点：网络提供数据报服务</a:t>
            </a:r>
          </a:p>
        </p:txBody>
      </p:sp>
      <p:sp>
        <p:nvSpPr>
          <p:cNvPr id="3" name="内容占位符 2">
            <a:extLst>
              <a:ext uri="{FF2B5EF4-FFF2-40B4-BE49-F238E27FC236}">
                <a16:creationId xmlns:a16="http://schemas.microsoft.com/office/drawing/2014/main" id="{F8E0C907-7DF2-8069-4E7B-AC571FEE26FC}"/>
              </a:ext>
            </a:extLst>
          </p:cNvPr>
          <p:cNvSpPr>
            <a:spLocks noGrp="1"/>
          </p:cNvSpPr>
          <p:nvPr>
            <p:ph sz="quarter" idx="11"/>
          </p:nvPr>
        </p:nvSpPr>
        <p:spPr>
          <a:xfrm>
            <a:off x="486000" y="900000"/>
            <a:ext cx="8172000" cy="3703500"/>
          </a:xfrm>
        </p:spPr>
        <p:txBody>
          <a:bodyPr/>
          <a:lstStyle/>
          <a:p>
            <a:r>
              <a:rPr lang="zh-CN" altLang="en-US" dirty="0"/>
              <a:t>网络层要设计得尽量简单，向其上层只提供简单灵活的、无连接的、尽最大努力交付的数据报服务</a:t>
            </a:r>
          </a:p>
          <a:p>
            <a:r>
              <a:rPr lang="zh-CN" altLang="en-US" dirty="0"/>
              <a:t>网络在发送分组时不需要先建立连接</a:t>
            </a:r>
            <a:endParaRPr lang="en-US" altLang="zh-CN" dirty="0"/>
          </a:p>
          <a:p>
            <a:r>
              <a:rPr lang="zh-CN" altLang="en-US" dirty="0"/>
              <a:t>每一个分组（即 </a:t>
            </a:r>
            <a:r>
              <a:rPr lang="en-US" altLang="zh-CN" dirty="0"/>
              <a:t>IP </a:t>
            </a:r>
            <a:r>
              <a:rPr lang="zh-CN" altLang="en-US" dirty="0"/>
              <a:t>数据报）独立发送，与其前后的分组无关（不进行编号）</a:t>
            </a:r>
          </a:p>
          <a:p>
            <a:r>
              <a:rPr lang="zh-CN" altLang="en-US" dirty="0"/>
              <a:t>网络层不提供服务质量的承诺。即所传送的分组可能出错、丢失、重复和失序（不按序到达终点），也不保证分组传送的时限</a:t>
            </a:r>
            <a:endParaRPr lang="en-US" altLang="zh-CN" dirty="0"/>
          </a:p>
          <a:p>
            <a:r>
              <a:rPr lang="zh-CN" altLang="en-US" dirty="0"/>
              <a:t>由主机中的运输层负责可靠的通信</a:t>
            </a:r>
          </a:p>
          <a:p>
            <a:endParaRPr lang="zh-CN" altLang="en-US" dirty="0"/>
          </a:p>
        </p:txBody>
      </p:sp>
    </p:spTree>
    <p:extLst>
      <p:ext uri="{BB962C8B-B14F-4D97-AF65-F5344CB8AC3E}">
        <p14:creationId xmlns:p14="http://schemas.microsoft.com/office/powerpoint/2010/main" val="8725010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2C4DE7-9C91-904B-086C-C56D28DBABC4}"/>
              </a:ext>
            </a:extLst>
          </p:cNvPr>
          <p:cNvSpPr>
            <a:spLocks noGrp="1"/>
          </p:cNvSpPr>
          <p:nvPr>
            <p:ph type="title"/>
          </p:nvPr>
        </p:nvSpPr>
        <p:spPr>
          <a:xfrm>
            <a:off x="486000" y="550723"/>
            <a:ext cx="8172000" cy="338554"/>
          </a:xfrm>
        </p:spPr>
        <p:txBody>
          <a:bodyPr/>
          <a:lstStyle/>
          <a:p>
            <a:r>
              <a:rPr lang="zh-CN" altLang="zh-CN" dirty="0"/>
              <a:t>数据报服务</a:t>
            </a:r>
            <a:endParaRPr lang="zh-CN" altLang="en-US" dirty="0"/>
          </a:p>
        </p:txBody>
      </p:sp>
      <p:sp>
        <p:nvSpPr>
          <p:cNvPr id="166" name="内容占位符 165">
            <a:extLst>
              <a:ext uri="{FF2B5EF4-FFF2-40B4-BE49-F238E27FC236}">
                <a16:creationId xmlns:a16="http://schemas.microsoft.com/office/drawing/2014/main" id="{474A715E-CB55-B821-378D-F0AD307872F7}"/>
              </a:ext>
            </a:extLst>
          </p:cNvPr>
          <p:cNvSpPr>
            <a:spLocks noGrp="1"/>
          </p:cNvSpPr>
          <p:nvPr>
            <p:ph sz="quarter" idx="11"/>
          </p:nvPr>
        </p:nvSpPr>
        <p:spPr>
          <a:xfrm>
            <a:off x="486000" y="900000"/>
            <a:ext cx="8172000" cy="3703500"/>
          </a:xfrm>
        </p:spPr>
        <p:txBody>
          <a:bodyPr/>
          <a:lstStyle/>
          <a:p>
            <a:r>
              <a:rPr lang="en-US" altLang="zh-CN" dirty="0"/>
              <a:t>H1 </a:t>
            </a:r>
            <a:r>
              <a:rPr lang="zh-CN" altLang="en-US" dirty="0"/>
              <a:t>发送给 </a:t>
            </a:r>
            <a:r>
              <a:rPr lang="en-US" altLang="zh-CN" dirty="0"/>
              <a:t>H2 </a:t>
            </a:r>
            <a:r>
              <a:rPr lang="zh-CN" altLang="en-US" dirty="0"/>
              <a:t>的分组可能沿着不同路径传送</a:t>
            </a:r>
          </a:p>
          <a:p>
            <a:endParaRPr lang="zh-CN" altLang="en-US" dirty="0"/>
          </a:p>
        </p:txBody>
      </p:sp>
      <p:sp>
        <p:nvSpPr>
          <p:cNvPr id="9" name="AutoShape 8"/>
          <p:cNvSpPr>
            <a:spLocks noChangeArrowheads="1"/>
          </p:cNvSpPr>
          <p:nvPr/>
        </p:nvSpPr>
        <p:spPr bwMode="auto">
          <a:xfrm>
            <a:off x="3509917" y="3620182"/>
            <a:ext cx="558243" cy="483050"/>
          </a:xfrm>
          <a:prstGeom prst="irregularSeal2">
            <a:avLst/>
          </a:prstGeom>
          <a:solidFill>
            <a:schemeClr val="bg1">
              <a:lumMod val="85000"/>
            </a:schemeClr>
          </a:solidFill>
          <a:ln w="9525">
            <a:no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nvGrpSpPr>
          <p:cNvPr id="33" name="Group 37"/>
          <p:cNvGrpSpPr>
            <a:grpSpLocks/>
          </p:cNvGrpSpPr>
          <p:nvPr/>
        </p:nvGrpSpPr>
        <p:grpSpPr bwMode="auto">
          <a:xfrm rot="1386369">
            <a:off x="3684704" y="3832514"/>
            <a:ext cx="248872" cy="107976"/>
            <a:chOff x="2064" y="1776"/>
            <a:chExt cx="171" cy="66"/>
          </a:xfrm>
          <a:solidFill>
            <a:srgbClr val="CC00CC"/>
          </a:solidFill>
        </p:grpSpPr>
        <p:sp>
          <p:nvSpPr>
            <p:cNvPr id="34" name="Rectangle 38"/>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35" name="Line 39"/>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36" name="Group 40"/>
          <p:cNvGrpSpPr>
            <a:grpSpLocks/>
          </p:cNvGrpSpPr>
          <p:nvPr/>
        </p:nvGrpSpPr>
        <p:grpSpPr bwMode="auto">
          <a:xfrm rot="20724003">
            <a:off x="4950796" y="3855204"/>
            <a:ext cx="248872" cy="107976"/>
            <a:chOff x="2064" y="1776"/>
            <a:chExt cx="171" cy="66"/>
          </a:xfrm>
          <a:solidFill>
            <a:srgbClr val="CC00CC"/>
          </a:solidFill>
        </p:grpSpPr>
        <p:sp>
          <p:nvSpPr>
            <p:cNvPr id="37" name="Rectangle 41"/>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39" name="Line 42"/>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40" name="Group 43"/>
          <p:cNvGrpSpPr>
            <a:grpSpLocks/>
          </p:cNvGrpSpPr>
          <p:nvPr/>
        </p:nvGrpSpPr>
        <p:grpSpPr bwMode="auto">
          <a:xfrm rot="18925072">
            <a:off x="6097484" y="3409077"/>
            <a:ext cx="248872" cy="107976"/>
            <a:chOff x="2064" y="1776"/>
            <a:chExt cx="171" cy="66"/>
          </a:xfrm>
          <a:solidFill>
            <a:srgbClr val="CC00CC"/>
          </a:solidFill>
        </p:grpSpPr>
        <p:sp>
          <p:nvSpPr>
            <p:cNvPr id="41" name="Rectangle 44"/>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2" name="Line 45"/>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43" name="Group 46"/>
          <p:cNvGrpSpPr>
            <a:grpSpLocks/>
          </p:cNvGrpSpPr>
          <p:nvPr/>
        </p:nvGrpSpPr>
        <p:grpSpPr bwMode="auto">
          <a:xfrm rot="19662556">
            <a:off x="3507219" y="2972353"/>
            <a:ext cx="248872" cy="107976"/>
            <a:chOff x="2064" y="1776"/>
            <a:chExt cx="171" cy="66"/>
          </a:xfrm>
          <a:solidFill>
            <a:srgbClr val="CC00CC"/>
          </a:solidFill>
        </p:grpSpPr>
        <p:sp>
          <p:nvSpPr>
            <p:cNvPr id="45" name="Rectangle 47"/>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7" name="Line 48"/>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62" name="Group 49"/>
          <p:cNvGrpSpPr>
            <a:grpSpLocks/>
          </p:cNvGrpSpPr>
          <p:nvPr/>
        </p:nvGrpSpPr>
        <p:grpSpPr bwMode="auto">
          <a:xfrm rot="2078388">
            <a:off x="5169598" y="2903835"/>
            <a:ext cx="248872" cy="109293"/>
            <a:chOff x="2064" y="1776"/>
            <a:chExt cx="171" cy="66"/>
          </a:xfrm>
          <a:solidFill>
            <a:srgbClr val="CC00CC"/>
          </a:solidFill>
        </p:grpSpPr>
        <p:sp>
          <p:nvSpPr>
            <p:cNvPr id="68" name="Rectangle 50"/>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70" name="Line 51"/>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19" name="Group 55"/>
          <p:cNvGrpSpPr>
            <a:grpSpLocks/>
          </p:cNvGrpSpPr>
          <p:nvPr/>
        </p:nvGrpSpPr>
        <p:grpSpPr bwMode="auto">
          <a:xfrm rot="20669726">
            <a:off x="3817347" y="3280639"/>
            <a:ext cx="247555" cy="107976"/>
            <a:chOff x="2064" y="1776"/>
            <a:chExt cx="171" cy="66"/>
          </a:xfrm>
          <a:solidFill>
            <a:srgbClr val="CC00CC"/>
          </a:solidFill>
        </p:grpSpPr>
        <p:sp>
          <p:nvSpPr>
            <p:cNvPr id="120" name="Rectangle 56"/>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1" name="Line 57"/>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22" name="Group 58"/>
          <p:cNvGrpSpPr>
            <a:grpSpLocks/>
          </p:cNvGrpSpPr>
          <p:nvPr/>
        </p:nvGrpSpPr>
        <p:grpSpPr bwMode="auto">
          <a:xfrm rot="2667475">
            <a:off x="2557620" y="3526027"/>
            <a:ext cx="248872" cy="107976"/>
            <a:chOff x="2064" y="1776"/>
            <a:chExt cx="171" cy="66"/>
          </a:xfrm>
          <a:solidFill>
            <a:srgbClr val="CC00CC"/>
          </a:solidFill>
        </p:grpSpPr>
        <p:sp>
          <p:nvSpPr>
            <p:cNvPr id="123" name="Rectangle 5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4" name="Line 6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26" name="Group 62"/>
          <p:cNvGrpSpPr>
            <a:grpSpLocks/>
          </p:cNvGrpSpPr>
          <p:nvPr/>
        </p:nvGrpSpPr>
        <p:grpSpPr bwMode="auto">
          <a:xfrm rot="1575704">
            <a:off x="5112513" y="3330839"/>
            <a:ext cx="248872" cy="107976"/>
            <a:chOff x="2064" y="1776"/>
            <a:chExt cx="171" cy="66"/>
          </a:xfrm>
          <a:solidFill>
            <a:srgbClr val="CC00CC"/>
          </a:solidFill>
        </p:grpSpPr>
        <p:sp>
          <p:nvSpPr>
            <p:cNvPr id="127" name="Rectangle 63"/>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8" name="Line 64"/>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32" name="Group 68"/>
          <p:cNvGrpSpPr>
            <a:grpSpLocks/>
          </p:cNvGrpSpPr>
          <p:nvPr/>
        </p:nvGrpSpPr>
        <p:grpSpPr bwMode="auto">
          <a:xfrm rot="5400000">
            <a:off x="4502253" y="2934965"/>
            <a:ext cx="280475" cy="96125"/>
            <a:chOff x="2064" y="1776"/>
            <a:chExt cx="171" cy="66"/>
          </a:xfrm>
          <a:solidFill>
            <a:srgbClr val="CC00CC"/>
          </a:solidFill>
        </p:grpSpPr>
        <p:sp>
          <p:nvSpPr>
            <p:cNvPr id="133" name="Rectangle 6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34" name="Line 7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44" name="Text Box 19">
            <a:extLst>
              <a:ext uri="{FF2B5EF4-FFF2-40B4-BE49-F238E27FC236}">
                <a16:creationId xmlns:a16="http://schemas.microsoft.com/office/drawing/2014/main" id="{6F63687C-9FF2-4BB3-63A0-7DC1FBFA8B30}"/>
              </a:ext>
            </a:extLst>
          </p:cNvPr>
          <p:cNvSpPr txBox="1">
            <a:spLocks noChangeArrowheads="1"/>
          </p:cNvSpPr>
          <p:nvPr/>
        </p:nvSpPr>
        <p:spPr bwMode="auto">
          <a:xfrm>
            <a:off x="2489632" y="2708422"/>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1</a:t>
            </a:r>
          </a:p>
        </p:txBody>
      </p:sp>
      <p:sp>
        <p:nvSpPr>
          <p:cNvPr id="145" name="Text Box 27">
            <a:extLst>
              <a:ext uri="{FF2B5EF4-FFF2-40B4-BE49-F238E27FC236}">
                <a16:creationId xmlns:a16="http://schemas.microsoft.com/office/drawing/2014/main" id="{312649AA-D1EE-B748-D03C-70C13A72E9D3}"/>
              </a:ext>
            </a:extLst>
          </p:cNvPr>
          <p:cNvSpPr txBox="1">
            <a:spLocks noChangeArrowheads="1"/>
          </p:cNvSpPr>
          <p:nvPr/>
        </p:nvSpPr>
        <p:spPr bwMode="auto">
          <a:xfrm>
            <a:off x="6157988" y="2707876"/>
            <a:ext cx="44435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 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2</a:t>
            </a:r>
          </a:p>
        </p:txBody>
      </p:sp>
      <p:pic>
        <p:nvPicPr>
          <p:cNvPr id="146" name="Picture 31">
            <a:extLst>
              <a:ext uri="{FF2B5EF4-FFF2-40B4-BE49-F238E27FC236}">
                <a16:creationId xmlns:a16="http://schemas.microsoft.com/office/drawing/2014/main" id="{385829CC-1139-3AB0-6906-AA349C65364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3488303"/>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7" name="Picture 32">
            <a:extLst>
              <a:ext uri="{FF2B5EF4-FFF2-40B4-BE49-F238E27FC236}">
                <a16:creationId xmlns:a16="http://schemas.microsoft.com/office/drawing/2014/main" id="{C4462112-588F-C6AE-F87D-FBFEE81040D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3157300"/>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8" name="Picture 33">
            <a:extLst>
              <a:ext uri="{FF2B5EF4-FFF2-40B4-BE49-F238E27FC236}">
                <a16:creationId xmlns:a16="http://schemas.microsoft.com/office/drawing/2014/main" id="{54D71DE3-3FBB-4C05-EA91-388E9CA4991A}"/>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3951466"/>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9" name="Picture 34">
            <a:extLst>
              <a:ext uri="{FF2B5EF4-FFF2-40B4-BE49-F238E27FC236}">
                <a16:creationId xmlns:a16="http://schemas.microsoft.com/office/drawing/2014/main" id="{AF97483C-5282-5552-9EA4-1FEE04EEBD4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3554990"/>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0" name="Picture 35">
            <a:extLst>
              <a:ext uri="{FF2B5EF4-FFF2-40B4-BE49-F238E27FC236}">
                <a16:creationId xmlns:a16="http://schemas.microsoft.com/office/drawing/2014/main" id="{442314E9-E444-8E5E-EB86-6001A937B36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2560766"/>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152" name="表格 151">
            <a:extLst>
              <a:ext uri="{FF2B5EF4-FFF2-40B4-BE49-F238E27FC236}">
                <a16:creationId xmlns:a16="http://schemas.microsoft.com/office/drawing/2014/main" id="{A3809F04-0E29-BA58-BDC4-B483D439F1D6}"/>
              </a:ext>
            </a:extLst>
          </p:cNvPr>
          <p:cNvGraphicFramePr>
            <a:graphicFrameLocks noGrp="1"/>
          </p:cNvGraphicFramePr>
          <p:nvPr>
            <p:extLst>
              <p:ext uri="{D42A27DB-BD31-4B8C-83A1-F6EECF244321}">
                <p14:modId xmlns:p14="http://schemas.microsoft.com/office/powerpoint/2010/main" val="3266780114"/>
              </p:ext>
            </p:extLst>
          </p:nvPr>
        </p:nvGraphicFramePr>
        <p:xfrm>
          <a:off x="1185084" y="2598279"/>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graphicFrame>
        <p:nvGraphicFramePr>
          <p:cNvPr id="153" name="表格 152">
            <a:extLst>
              <a:ext uri="{FF2B5EF4-FFF2-40B4-BE49-F238E27FC236}">
                <a16:creationId xmlns:a16="http://schemas.microsoft.com/office/drawing/2014/main" id="{75113EC7-84E6-C0E5-62D5-639326B0A3E7}"/>
              </a:ext>
            </a:extLst>
          </p:cNvPr>
          <p:cNvGraphicFramePr>
            <a:graphicFrameLocks noGrp="1"/>
          </p:cNvGraphicFramePr>
          <p:nvPr>
            <p:extLst>
              <p:ext uri="{D42A27DB-BD31-4B8C-83A1-F6EECF244321}">
                <p14:modId xmlns:p14="http://schemas.microsoft.com/office/powerpoint/2010/main" val="802763787"/>
              </p:ext>
            </p:extLst>
          </p:nvPr>
        </p:nvGraphicFramePr>
        <p:xfrm>
          <a:off x="6761156" y="2623815"/>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pic>
        <p:nvPicPr>
          <p:cNvPr id="155" name="图形 154" descr="监视器">
            <a:extLst>
              <a:ext uri="{FF2B5EF4-FFF2-40B4-BE49-F238E27FC236}">
                <a16:creationId xmlns:a16="http://schemas.microsoft.com/office/drawing/2014/main" id="{259CC069-AB86-D037-56AC-F3DA79D8D6F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24542" y="2938829"/>
            <a:ext cx="504000" cy="504000"/>
          </a:xfrm>
          <a:prstGeom prst="rect">
            <a:avLst/>
          </a:prstGeom>
        </p:spPr>
      </p:pic>
      <p:pic>
        <p:nvPicPr>
          <p:cNvPr id="156" name="图形 155" descr="监视器">
            <a:extLst>
              <a:ext uri="{FF2B5EF4-FFF2-40B4-BE49-F238E27FC236}">
                <a16:creationId xmlns:a16="http://schemas.microsoft.com/office/drawing/2014/main" id="{E20E515C-6286-A38B-481A-CF1F4E9B845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28164" y="2938829"/>
            <a:ext cx="504000" cy="504000"/>
          </a:xfrm>
          <a:prstGeom prst="rect">
            <a:avLst/>
          </a:prstGeom>
        </p:spPr>
      </p:pic>
      <p:cxnSp>
        <p:nvCxnSpPr>
          <p:cNvPr id="157" name="直接连接符 156">
            <a:extLst>
              <a:ext uri="{FF2B5EF4-FFF2-40B4-BE49-F238E27FC236}">
                <a16:creationId xmlns:a16="http://schemas.microsoft.com/office/drawing/2014/main" id="{1EF2E884-CAA0-4670-CADB-67D16415D70C}"/>
              </a:ext>
            </a:extLst>
          </p:cNvPr>
          <p:cNvCxnSpPr>
            <a:cxnSpLocks/>
            <a:stCxn id="155" idx="2"/>
            <a:endCxn id="146" idx="1"/>
          </p:cNvCxnSpPr>
          <p:nvPr/>
        </p:nvCxnSpPr>
        <p:spPr>
          <a:xfrm>
            <a:off x="2676542" y="3442829"/>
            <a:ext cx="205652" cy="177633"/>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8" name="直接连接符 157">
            <a:extLst>
              <a:ext uri="{FF2B5EF4-FFF2-40B4-BE49-F238E27FC236}">
                <a16:creationId xmlns:a16="http://schemas.microsoft.com/office/drawing/2014/main" id="{800D6E73-880B-6EC3-E531-2E512C6B06C2}"/>
              </a:ext>
            </a:extLst>
          </p:cNvPr>
          <p:cNvCxnSpPr>
            <a:cxnSpLocks/>
            <a:stCxn id="149" idx="3"/>
            <a:endCxn id="156" idx="2"/>
          </p:cNvCxnSpPr>
          <p:nvPr/>
        </p:nvCxnSpPr>
        <p:spPr>
          <a:xfrm flipV="1">
            <a:off x="6143730" y="3442829"/>
            <a:ext cx="236434" cy="244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9" name="直接连接符 158">
            <a:extLst>
              <a:ext uri="{FF2B5EF4-FFF2-40B4-BE49-F238E27FC236}">
                <a16:creationId xmlns:a16="http://schemas.microsoft.com/office/drawing/2014/main" id="{57F8B961-1492-D612-8CAB-EA01BAFBFA9E}"/>
              </a:ext>
            </a:extLst>
          </p:cNvPr>
          <p:cNvCxnSpPr>
            <a:stCxn id="150" idx="3"/>
            <a:endCxn id="149" idx="0"/>
          </p:cNvCxnSpPr>
          <p:nvPr/>
        </p:nvCxnSpPr>
        <p:spPr>
          <a:xfrm>
            <a:off x="4785767" y="2692925"/>
            <a:ext cx="1123957" cy="862065"/>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0" name="直接连接符 159">
            <a:extLst>
              <a:ext uri="{FF2B5EF4-FFF2-40B4-BE49-F238E27FC236}">
                <a16:creationId xmlns:a16="http://schemas.microsoft.com/office/drawing/2014/main" id="{09BE3221-5B29-33C1-10D3-946AAA89D9CD}"/>
              </a:ext>
            </a:extLst>
          </p:cNvPr>
          <p:cNvCxnSpPr>
            <a:stCxn id="150" idx="1"/>
            <a:endCxn id="146" idx="0"/>
          </p:cNvCxnSpPr>
          <p:nvPr/>
        </p:nvCxnSpPr>
        <p:spPr>
          <a:xfrm flipH="1">
            <a:off x="3115594" y="2692925"/>
            <a:ext cx="1202161" cy="79537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1" name="直接连接符 160">
            <a:extLst>
              <a:ext uri="{FF2B5EF4-FFF2-40B4-BE49-F238E27FC236}">
                <a16:creationId xmlns:a16="http://schemas.microsoft.com/office/drawing/2014/main" id="{C221FCAB-8845-E98D-908E-A38CB7DC4E31}"/>
              </a:ext>
            </a:extLst>
          </p:cNvPr>
          <p:cNvCxnSpPr>
            <a:stCxn id="150" idx="2"/>
            <a:endCxn id="147" idx="0"/>
          </p:cNvCxnSpPr>
          <p:nvPr/>
        </p:nvCxnSpPr>
        <p:spPr>
          <a:xfrm>
            <a:off x="4551761" y="2825084"/>
            <a:ext cx="0" cy="332216"/>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2" name="直接连接符 161">
            <a:extLst>
              <a:ext uri="{FF2B5EF4-FFF2-40B4-BE49-F238E27FC236}">
                <a16:creationId xmlns:a16="http://schemas.microsoft.com/office/drawing/2014/main" id="{ABEBD37D-3452-9BDB-7A51-7797B68C3C84}"/>
              </a:ext>
            </a:extLst>
          </p:cNvPr>
          <p:cNvCxnSpPr>
            <a:stCxn id="147" idx="1"/>
            <a:endCxn id="146" idx="3"/>
          </p:cNvCxnSpPr>
          <p:nvPr/>
        </p:nvCxnSpPr>
        <p:spPr>
          <a:xfrm flipH="1">
            <a:off x="3348993" y="3290065"/>
            <a:ext cx="968762" cy="33039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3" name="直接连接符 162">
            <a:extLst>
              <a:ext uri="{FF2B5EF4-FFF2-40B4-BE49-F238E27FC236}">
                <a16:creationId xmlns:a16="http://schemas.microsoft.com/office/drawing/2014/main" id="{FD47DC14-7EDE-9227-43DE-D03C760D82AD}"/>
              </a:ext>
            </a:extLst>
          </p:cNvPr>
          <p:cNvCxnSpPr>
            <a:stCxn id="147" idx="3"/>
            <a:endCxn id="149" idx="1"/>
          </p:cNvCxnSpPr>
          <p:nvPr/>
        </p:nvCxnSpPr>
        <p:spPr>
          <a:xfrm>
            <a:off x="4785767" y="3290065"/>
            <a:ext cx="889951" cy="39708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4" name="直接连接符 163">
            <a:extLst>
              <a:ext uri="{FF2B5EF4-FFF2-40B4-BE49-F238E27FC236}">
                <a16:creationId xmlns:a16="http://schemas.microsoft.com/office/drawing/2014/main" id="{FEFD1817-AB46-0F7A-D61A-05C7A43AA320}"/>
              </a:ext>
            </a:extLst>
          </p:cNvPr>
          <p:cNvCxnSpPr>
            <a:cxnSpLocks/>
            <a:stCxn id="149" idx="2"/>
            <a:endCxn id="148" idx="3"/>
          </p:cNvCxnSpPr>
          <p:nvPr/>
        </p:nvCxnSpPr>
        <p:spPr>
          <a:xfrm flipH="1">
            <a:off x="4721506" y="3819308"/>
            <a:ext cx="1188218" cy="26492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5" name="直接连接符 164">
            <a:extLst>
              <a:ext uri="{FF2B5EF4-FFF2-40B4-BE49-F238E27FC236}">
                <a16:creationId xmlns:a16="http://schemas.microsoft.com/office/drawing/2014/main" id="{5A8A2D41-9253-E61A-B326-64A564501C98}"/>
              </a:ext>
            </a:extLst>
          </p:cNvPr>
          <p:cNvCxnSpPr>
            <a:stCxn id="146" idx="2"/>
            <a:endCxn id="148" idx="1"/>
          </p:cNvCxnSpPr>
          <p:nvPr/>
        </p:nvCxnSpPr>
        <p:spPr>
          <a:xfrm>
            <a:off x="3115594" y="3752621"/>
            <a:ext cx="1137900" cy="331611"/>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8953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1" name="Group 171"/>
          <p:cNvGraphicFramePr>
            <a:graphicFrameLocks noGrp="1"/>
          </p:cNvGraphicFramePr>
          <p:nvPr>
            <p:extLst>
              <p:ext uri="{D42A27DB-BD31-4B8C-83A1-F6EECF244321}">
                <p14:modId xmlns:p14="http://schemas.microsoft.com/office/powerpoint/2010/main" val="463419156"/>
              </p:ext>
            </p:extLst>
          </p:nvPr>
        </p:nvGraphicFramePr>
        <p:xfrm>
          <a:off x="485776" y="1036803"/>
          <a:ext cx="8172000" cy="3335319"/>
        </p:xfrm>
        <a:graphic>
          <a:graphicData uri="http://schemas.openxmlformats.org/drawingml/2006/table">
            <a:tbl>
              <a:tblPr firstRow="1" firstCol="1" bandRow="1">
                <a:tableStyleId>{7DF18680-E054-41AD-8BC1-D1AEF772440D}</a:tableStyleId>
              </a:tblPr>
              <a:tblGrid>
                <a:gridCol w="1888968">
                  <a:extLst>
                    <a:ext uri="{9D8B030D-6E8A-4147-A177-3AD203B41FA5}">
                      <a16:colId xmlns:a16="http://schemas.microsoft.com/office/drawing/2014/main" val="20000"/>
                    </a:ext>
                  </a:extLst>
                </a:gridCol>
                <a:gridCol w="3089850">
                  <a:extLst>
                    <a:ext uri="{9D8B030D-6E8A-4147-A177-3AD203B41FA5}">
                      <a16:colId xmlns:a16="http://schemas.microsoft.com/office/drawing/2014/main" val="20001"/>
                    </a:ext>
                  </a:extLst>
                </a:gridCol>
                <a:gridCol w="3193182">
                  <a:extLst>
                    <a:ext uri="{9D8B030D-6E8A-4147-A177-3AD203B41FA5}">
                      <a16:colId xmlns:a16="http://schemas.microsoft.com/office/drawing/2014/main" val="20002"/>
                    </a:ext>
                  </a:extLst>
                </a:gridCol>
              </a:tblGrid>
              <a:tr h="348279">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对比的方面</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虚电路服务</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数据报服务</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0"/>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思路</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可靠通信应当由网络来保证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可靠通信应当由用户主机来保证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1"/>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连接的建立</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必须有</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不需要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2"/>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终点地址</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仅在连接建立阶段使用，每个分组使用短的虚电路号</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每个分组都有终点的完整地址</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3"/>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分组的转发</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属于同一条虚电路的分组均按照同一路由进行转发</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每个分组独立选择路由进行转发</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4"/>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当结点出故障时</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a:ln>
                            <a:noFill/>
                          </a:ln>
                          <a:effectLst/>
                          <a:latin typeface="微软雅黑 Light" panose="020B0502040204020203" pitchFamily="34" charset="-122"/>
                          <a:ea typeface="微软雅黑 Light" panose="020B0502040204020203" pitchFamily="34" charset="-122"/>
                        </a:rPr>
                        <a:t>所有通过出故障的结点的虚电路均不能工作</a:t>
                      </a:r>
                      <a:endParaRPr kumimoji="0" lang="zh-CN" altLang="en-US" sz="1400" b="0" i="0" u="none" strike="noStrike" cap="none" normalizeH="0" baseline="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出故障的结点可能会丢失分组，一些路由可能会发生变化</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5"/>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分组的顺序</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a:ln>
                            <a:noFill/>
                          </a:ln>
                          <a:effectLst/>
                          <a:latin typeface="微软雅黑 Light" panose="020B0502040204020203" pitchFamily="34" charset="-122"/>
                          <a:ea typeface="微软雅黑 Light" panose="020B0502040204020203" pitchFamily="34" charset="-122"/>
                        </a:rPr>
                        <a:t>总是按发送顺序到达终点</a:t>
                      </a:r>
                      <a:endParaRPr kumimoji="0" lang="zh-CN" altLang="en-US" sz="1400" b="0" i="0" u="none" strike="noStrike" cap="none" normalizeH="0" baseline="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到达终点时不一定按发送顺序</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6"/>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端到端的差错处理和流量控制</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可以由网络负责，也可以由用户主机负责</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由用户主机负责</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 name="标题 1">
            <a:extLst>
              <a:ext uri="{FF2B5EF4-FFF2-40B4-BE49-F238E27FC236}">
                <a16:creationId xmlns:a16="http://schemas.microsoft.com/office/drawing/2014/main" id="{546789CF-3961-8E4E-A3AF-F56C769BB340}"/>
              </a:ext>
            </a:extLst>
          </p:cNvPr>
          <p:cNvSpPr>
            <a:spLocks noGrp="1"/>
          </p:cNvSpPr>
          <p:nvPr>
            <p:ph type="title"/>
          </p:nvPr>
        </p:nvSpPr>
        <p:spPr>
          <a:xfrm>
            <a:off x="486000" y="550723"/>
            <a:ext cx="8172000" cy="338554"/>
          </a:xfrm>
        </p:spPr>
        <p:txBody>
          <a:bodyPr/>
          <a:lstStyle/>
          <a:p>
            <a:r>
              <a:rPr lang="zh-CN" altLang="en-US" dirty="0"/>
              <a:t>虚电路服务与数据报服务的对比</a:t>
            </a:r>
          </a:p>
        </p:txBody>
      </p:sp>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981C1A48-CECB-9EC7-9BAD-29E285199E93}"/>
              </a:ext>
            </a:extLst>
          </p:cNvPr>
          <p:cNvSpPr>
            <a:spLocks noGrp="1"/>
          </p:cNvSpPr>
          <p:nvPr>
            <p:ph type="title"/>
          </p:nvPr>
        </p:nvSpPr>
        <p:spPr>
          <a:xfrm>
            <a:off x="486000" y="550723"/>
            <a:ext cx="8172000" cy="338554"/>
          </a:xfrm>
        </p:spPr>
        <p:txBody>
          <a:bodyPr/>
          <a:lstStyle/>
          <a:p>
            <a:r>
              <a:rPr lang="en-US" altLang="zh-CN" dirty="0"/>
              <a:t>4.1.2 </a:t>
            </a:r>
            <a:r>
              <a:rPr lang="zh-CN" altLang="en-US" dirty="0"/>
              <a:t>网络层的两个层面</a:t>
            </a:r>
          </a:p>
        </p:txBody>
      </p:sp>
      <p:sp>
        <p:nvSpPr>
          <p:cNvPr id="8" name="内容占位符 7">
            <a:extLst>
              <a:ext uri="{FF2B5EF4-FFF2-40B4-BE49-F238E27FC236}">
                <a16:creationId xmlns:a16="http://schemas.microsoft.com/office/drawing/2014/main" id="{FAED2DDA-78F8-5B0F-EC55-C46D397318B4}"/>
              </a:ext>
            </a:extLst>
          </p:cNvPr>
          <p:cNvSpPr>
            <a:spLocks noGrp="1"/>
          </p:cNvSpPr>
          <p:nvPr>
            <p:ph sz="quarter" idx="11"/>
          </p:nvPr>
        </p:nvSpPr>
        <p:spPr>
          <a:xfrm>
            <a:off x="486000" y="900000"/>
            <a:ext cx="8172000" cy="3703500"/>
          </a:xfrm>
        </p:spPr>
        <p:txBody>
          <a:bodyPr/>
          <a:lstStyle/>
          <a:p>
            <a:r>
              <a:rPr lang="zh-CN" altLang="en-US" dirty="0"/>
              <a:t>不同网络中的两个主机之间的通信，要经过若干个路由器转发分组来完成</a:t>
            </a:r>
            <a:endParaRPr lang="en-US" altLang="zh-CN" dirty="0"/>
          </a:p>
          <a:p>
            <a:r>
              <a:rPr lang="zh-CN" altLang="en-US" dirty="0"/>
              <a:t>在路由器之间传送的信息有以下 </a:t>
            </a:r>
            <a:r>
              <a:rPr lang="en-US" altLang="zh-CN" dirty="0"/>
              <a:t>2 </a:t>
            </a:r>
            <a:r>
              <a:rPr lang="zh-CN" altLang="en-US" dirty="0"/>
              <a:t>大类：</a:t>
            </a:r>
          </a:p>
          <a:p>
            <a:pPr lvl="1"/>
            <a:r>
              <a:rPr lang="zh-CN" altLang="en-US" dirty="0"/>
              <a:t>数据</a:t>
            </a:r>
          </a:p>
          <a:p>
            <a:pPr lvl="1"/>
            <a:r>
              <a:rPr lang="zh-CN" altLang="en-US" dirty="0"/>
              <a:t>路由信息（为数据传送服务）</a:t>
            </a:r>
            <a:endParaRPr lang="en-US" altLang="zh-CN" dirty="0"/>
          </a:p>
          <a:p>
            <a:endParaRPr lang="zh-CN" altLang="en-US" dirty="0"/>
          </a:p>
        </p:txBody>
      </p:sp>
    </p:spTree>
    <p:extLst>
      <p:ext uri="{BB962C8B-B14F-4D97-AF65-F5344CB8AC3E}">
        <p14:creationId xmlns:p14="http://schemas.microsoft.com/office/powerpoint/2010/main" val="25441940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0" name="组合 99"/>
          <p:cNvGrpSpPr/>
          <p:nvPr/>
        </p:nvGrpSpPr>
        <p:grpSpPr>
          <a:xfrm>
            <a:off x="747560" y="1893219"/>
            <a:ext cx="7040366" cy="2667520"/>
            <a:chOff x="957532" y="1263300"/>
            <a:chExt cx="7040366" cy="2667520"/>
          </a:xfrm>
        </p:grpSpPr>
        <p:sp>
          <p:nvSpPr>
            <p:cNvPr id="6"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0"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1"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2"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3"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5"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6"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17" name="Picture 109"/>
            <p:cNvPicPr>
              <a:picLocks noChangeArrowheads="1"/>
            </p:cNvPicPr>
            <p:nvPr/>
          </p:nvPicPr>
          <p:blipFill>
            <a:blip r:embed="rId2" cstate="print"/>
            <a:srcRect/>
            <a:stretch>
              <a:fillRect/>
            </a:stretch>
          </p:blipFill>
          <p:spPr bwMode="auto">
            <a:xfrm>
              <a:off x="3609787" y="3427534"/>
              <a:ext cx="520700" cy="287337"/>
            </a:xfrm>
            <a:prstGeom prst="rect">
              <a:avLst/>
            </a:prstGeom>
            <a:noFill/>
            <a:ln w="12699">
              <a:noFill/>
              <a:miter lim="800000"/>
              <a:headEnd/>
              <a:tailEnd/>
            </a:ln>
          </p:spPr>
        </p:pic>
        <p:pic>
          <p:nvPicPr>
            <p:cNvPr id="18" name="Picture 110"/>
            <p:cNvPicPr>
              <a:picLocks noChangeArrowheads="1"/>
            </p:cNvPicPr>
            <p:nvPr/>
          </p:nvPicPr>
          <p:blipFill>
            <a:blip r:embed="rId2" cstate="print"/>
            <a:srcRect/>
            <a:stretch>
              <a:fillRect/>
            </a:stretch>
          </p:blipFill>
          <p:spPr bwMode="auto">
            <a:xfrm>
              <a:off x="5642481" y="3283443"/>
              <a:ext cx="520700" cy="287337"/>
            </a:xfrm>
            <a:prstGeom prst="rect">
              <a:avLst/>
            </a:prstGeom>
            <a:noFill/>
            <a:ln w="12699">
              <a:noFill/>
              <a:miter lim="800000"/>
              <a:headEnd/>
              <a:tailEnd/>
            </a:ln>
          </p:spPr>
        </p:pic>
        <p:pic>
          <p:nvPicPr>
            <p:cNvPr id="19" name="Picture 111"/>
            <p:cNvPicPr>
              <a:picLocks noChangeArrowheads="1"/>
            </p:cNvPicPr>
            <p:nvPr/>
          </p:nvPicPr>
          <p:blipFill>
            <a:blip r:embed="rId2" cstate="print"/>
            <a:srcRect/>
            <a:stretch>
              <a:fillRect/>
            </a:stretch>
          </p:blipFill>
          <p:spPr bwMode="auto">
            <a:xfrm>
              <a:off x="5066417" y="3643483"/>
              <a:ext cx="520700" cy="287337"/>
            </a:xfrm>
            <a:prstGeom prst="rect">
              <a:avLst/>
            </a:prstGeom>
            <a:noFill/>
            <a:ln w="12699">
              <a:noFill/>
              <a:miter lim="800000"/>
              <a:headEnd/>
              <a:tailEnd/>
            </a:ln>
          </p:spPr>
        </p:pic>
        <p:pic>
          <p:nvPicPr>
            <p:cNvPr id="20" name="Picture 112"/>
            <p:cNvPicPr>
              <a:picLocks noChangeArrowheads="1"/>
            </p:cNvPicPr>
            <p:nvPr/>
          </p:nvPicPr>
          <p:blipFill>
            <a:blip r:embed="rId2" cstate="print"/>
            <a:srcRect/>
            <a:stretch>
              <a:fillRect/>
            </a:stretch>
          </p:blipFill>
          <p:spPr bwMode="auto">
            <a:xfrm>
              <a:off x="6722874" y="3500559"/>
              <a:ext cx="520700" cy="287337"/>
            </a:xfrm>
            <a:prstGeom prst="rect">
              <a:avLst/>
            </a:prstGeom>
            <a:noFill/>
            <a:ln w="12699">
              <a:noFill/>
              <a:miter lim="800000"/>
              <a:headEnd/>
              <a:tailEnd/>
            </a:ln>
          </p:spPr>
        </p:pic>
        <p:pic>
          <p:nvPicPr>
            <p:cNvPr id="21" name="Picture 113"/>
            <p:cNvPicPr>
              <a:picLocks noChangeArrowheads="1"/>
            </p:cNvPicPr>
            <p:nvPr/>
          </p:nvPicPr>
          <p:blipFill>
            <a:blip r:embed="rId2" cstate="print"/>
            <a:srcRect/>
            <a:stretch>
              <a:fillRect/>
            </a:stretch>
          </p:blipFill>
          <p:spPr bwMode="auto">
            <a:xfrm>
              <a:off x="4418345" y="2635371"/>
              <a:ext cx="520700" cy="287338"/>
            </a:xfrm>
            <a:prstGeom prst="rect">
              <a:avLst/>
            </a:prstGeom>
            <a:noFill/>
            <a:ln w="12699">
              <a:noFill/>
              <a:miter lim="800000"/>
              <a:headEnd/>
              <a:tailEnd/>
            </a:ln>
          </p:spPr>
        </p:pic>
        <p:pic>
          <p:nvPicPr>
            <p:cNvPr id="22" name="Picture 113"/>
            <p:cNvPicPr>
              <a:picLocks noChangeArrowheads="1"/>
            </p:cNvPicPr>
            <p:nvPr/>
          </p:nvPicPr>
          <p:blipFill>
            <a:blip r:embed="rId2" cstate="print"/>
            <a:srcRect/>
            <a:stretch>
              <a:fillRect/>
            </a:stretch>
          </p:blipFill>
          <p:spPr bwMode="auto">
            <a:xfrm>
              <a:off x="3557370" y="1365789"/>
              <a:ext cx="351656" cy="189462"/>
            </a:xfrm>
            <a:prstGeom prst="rect">
              <a:avLst/>
            </a:prstGeom>
            <a:noFill/>
            <a:ln w="12699">
              <a:noFill/>
              <a:miter lim="800000"/>
              <a:headEnd/>
              <a:tailEnd/>
            </a:ln>
          </p:spPr>
        </p:pic>
        <p:sp>
          <p:nvSpPr>
            <p:cNvPr id="23" name="矩形 22"/>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24" name="直接连接符 23"/>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椭圆 28"/>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30" name="下箭头 29"/>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31" name="Picture 113"/>
            <p:cNvPicPr>
              <a:picLocks noChangeArrowheads="1"/>
            </p:cNvPicPr>
            <p:nvPr/>
          </p:nvPicPr>
          <p:blipFill>
            <a:blip r:embed="rId2" cstate="print"/>
            <a:srcRect/>
            <a:stretch>
              <a:fillRect/>
            </a:stretch>
          </p:blipFill>
          <p:spPr bwMode="auto">
            <a:xfrm>
              <a:off x="4423607" y="1365789"/>
              <a:ext cx="351656" cy="189462"/>
            </a:xfrm>
            <a:prstGeom prst="rect">
              <a:avLst/>
            </a:prstGeom>
            <a:noFill/>
            <a:ln w="12699">
              <a:noFill/>
              <a:miter lim="800000"/>
              <a:headEnd/>
              <a:tailEnd/>
            </a:ln>
          </p:spPr>
        </p:pic>
        <p:sp>
          <p:nvSpPr>
            <p:cNvPr id="32" name="矩形 31"/>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33" name="直接连接符 32"/>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椭圆 37"/>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39" name="下箭头 38"/>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40" name="Picture 113"/>
            <p:cNvPicPr>
              <a:picLocks noChangeArrowheads="1"/>
            </p:cNvPicPr>
            <p:nvPr/>
          </p:nvPicPr>
          <p:blipFill>
            <a:blip r:embed="rId2" cstate="print"/>
            <a:srcRect/>
            <a:stretch>
              <a:fillRect/>
            </a:stretch>
          </p:blipFill>
          <p:spPr bwMode="auto">
            <a:xfrm>
              <a:off x="5143687" y="1365789"/>
              <a:ext cx="351656" cy="189462"/>
            </a:xfrm>
            <a:prstGeom prst="rect">
              <a:avLst/>
            </a:prstGeom>
            <a:noFill/>
            <a:ln w="12699">
              <a:noFill/>
              <a:miter lim="800000"/>
              <a:headEnd/>
              <a:tailEnd/>
            </a:ln>
          </p:spPr>
        </p:pic>
        <p:sp>
          <p:nvSpPr>
            <p:cNvPr id="41" name="矩形 40"/>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42" name="直接连接符 41"/>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椭圆 46"/>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48" name="下箭头 47"/>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49" name="Picture 113"/>
            <p:cNvPicPr>
              <a:picLocks noChangeArrowheads="1"/>
            </p:cNvPicPr>
            <p:nvPr/>
          </p:nvPicPr>
          <p:blipFill>
            <a:blip r:embed="rId2" cstate="print"/>
            <a:srcRect/>
            <a:stretch>
              <a:fillRect/>
            </a:stretch>
          </p:blipFill>
          <p:spPr bwMode="auto">
            <a:xfrm>
              <a:off x="6727863" y="1365789"/>
              <a:ext cx="351656" cy="189462"/>
            </a:xfrm>
            <a:prstGeom prst="rect">
              <a:avLst/>
            </a:prstGeom>
            <a:noFill/>
            <a:ln w="12699">
              <a:noFill/>
              <a:miter lim="800000"/>
              <a:headEnd/>
              <a:tailEnd/>
            </a:ln>
          </p:spPr>
        </p:pic>
        <p:sp>
          <p:nvSpPr>
            <p:cNvPr id="50" name="矩形 49"/>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51" name="直接连接符 50"/>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6" name="椭圆 55"/>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57" name="下箭头 56"/>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58" name="Picture 113"/>
            <p:cNvPicPr>
              <a:picLocks noChangeArrowheads="1"/>
            </p:cNvPicPr>
            <p:nvPr/>
          </p:nvPicPr>
          <p:blipFill>
            <a:blip r:embed="rId2" cstate="print"/>
            <a:srcRect/>
            <a:stretch>
              <a:fillRect/>
            </a:stretch>
          </p:blipFill>
          <p:spPr bwMode="auto">
            <a:xfrm>
              <a:off x="5791759" y="1365789"/>
              <a:ext cx="351656" cy="189462"/>
            </a:xfrm>
            <a:prstGeom prst="rect">
              <a:avLst/>
            </a:prstGeom>
            <a:noFill/>
            <a:ln w="12699">
              <a:noFill/>
              <a:miter lim="800000"/>
              <a:headEnd/>
              <a:tailEnd/>
            </a:ln>
          </p:spPr>
        </p:pic>
        <p:sp>
          <p:nvSpPr>
            <p:cNvPr id="59" name="矩形 58"/>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60" name="直接连接符 59"/>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5" name="椭圆 64"/>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66" name="下箭头 65"/>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67" name="TextBox 175"/>
            <p:cNvSpPr txBox="1"/>
            <p:nvPr/>
          </p:nvSpPr>
          <p:spPr>
            <a:xfrm>
              <a:off x="2215359" y="1542425"/>
              <a:ext cx="1107996"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路由选择算法</a:t>
              </a:r>
            </a:p>
          </p:txBody>
        </p:sp>
        <p:sp>
          <p:nvSpPr>
            <p:cNvPr id="68" name="TextBox 176"/>
            <p:cNvSpPr txBox="1"/>
            <p:nvPr/>
          </p:nvSpPr>
          <p:spPr>
            <a:xfrm>
              <a:off x="2635594" y="2103292"/>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转发表</a:t>
              </a:r>
            </a:p>
          </p:txBody>
        </p:sp>
        <p:cxnSp>
          <p:nvCxnSpPr>
            <p:cNvPr id="69" name="直接连接符 68"/>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0" name="TextBox 179"/>
            <p:cNvSpPr txBox="1"/>
            <p:nvPr/>
          </p:nvSpPr>
          <p:spPr>
            <a:xfrm>
              <a:off x="1249993" y="1593350"/>
              <a:ext cx="1049536" cy="276999"/>
            </a:xfrm>
            <a:prstGeom prst="rect">
              <a:avLst/>
            </a:prstGeom>
            <a:solidFill>
              <a:srgbClr val="33CC33"/>
            </a:solidFill>
            <a:ln>
              <a:noFill/>
            </a:ln>
          </p:spPr>
          <p:txBody>
            <a:bodyPr wrap="square" rtlCol="0">
              <a:spAutoFit/>
            </a:bodyPr>
            <a:lstStyle/>
            <a:p>
              <a:pPr algn="ctr"/>
              <a:r>
                <a:rPr lang="zh-CN" altLang="en-US" sz="12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71" name="TextBox 180"/>
            <p:cNvSpPr txBox="1"/>
            <p:nvPr/>
          </p:nvSpPr>
          <p:spPr>
            <a:xfrm>
              <a:off x="1249993" y="1966408"/>
              <a:ext cx="1049536" cy="276999"/>
            </a:xfrm>
            <a:prstGeom prst="rect">
              <a:avLst/>
            </a:prstGeom>
            <a:solidFill>
              <a:schemeClr val="accent6">
                <a:lumMod val="75000"/>
              </a:schemeClr>
            </a:solidFill>
          </p:spPr>
          <p:txBody>
            <a:bodyPr wrap="square" rtlCol="0">
              <a:spAutoFit/>
            </a:bodyPr>
            <a:lstStyle/>
            <a:p>
              <a:pPr algn="ctr"/>
              <a:r>
                <a:rPr lang="zh-CN" altLang="en-US" sz="1200" dirty="0">
                  <a:solidFill>
                    <a:schemeClr val="bg1"/>
                  </a:solidFill>
                  <a:latin typeface="微软雅黑 Light" panose="020B0502040204020203" pitchFamily="34" charset="-122"/>
                  <a:ea typeface="微软雅黑 Light" panose="020B0502040204020203" pitchFamily="34" charset="-122"/>
                </a:rPr>
                <a:t>数据层面</a:t>
              </a:r>
            </a:p>
          </p:txBody>
        </p:sp>
        <p:cxnSp>
          <p:nvCxnSpPr>
            <p:cNvPr id="72" name="直接箭头连接符 71"/>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3" name="直接箭头连接符 72"/>
            <p:cNvCxnSpPr>
              <a:endCxn id="20"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flipV="1">
              <a:off x="3205872" y="2249184"/>
              <a:ext cx="288000"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grpSp>
          <p:nvGrpSpPr>
            <p:cNvPr id="84" name="组合 83"/>
            <p:cNvGrpSpPr/>
            <p:nvPr/>
          </p:nvGrpSpPr>
          <p:grpSpPr>
            <a:xfrm>
              <a:off x="1062847" y="1301094"/>
              <a:ext cx="206062" cy="1296142"/>
              <a:chOff x="199861" y="2026470"/>
              <a:chExt cx="288414" cy="1440153"/>
            </a:xfrm>
          </p:grpSpPr>
          <p:sp>
            <p:nvSpPr>
              <p:cNvPr id="85" name="上箭头 84"/>
              <p:cNvSpPr/>
              <p:nvPr/>
            </p:nvSpPr>
            <p:spPr>
              <a:xfrm>
                <a:off x="199861" y="2026470"/>
                <a:ext cx="288032" cy="688443"/>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6" name="上箭头 85"/>
              <p:cNvSpPr/>
              <p:nvPr/>
            </p:nvSpPr>
            <p:spPr>
              <a:xfrm flipV="1">
                <a:off x="200243" y="2775114"/>
                <a:ext cx="288032" cy="691509"/>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grpSp>
        <p:pic>
          <p:nvPicPr>
            <p:cNvPr id="8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97" name="直接箭头连接符 96"/>
            <p:cNvCxnSpPr/>
            <p:nvPr/>
          </p:nvCxnSpPr>
          <p:spPr>
            <a:xfrm flipV="1">
              <a:off x="3205872" y="1688364"/>
              <a:ext cx="288000"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4" name="标题 3">
            <a:extLst>
              <a:ext uri="{FF2B5EF4-FFF2-40B4-BE49-F238E27FC236}">
                <a16:creationId xmlns:a16="http://schemas.microsoft.com/office/drawing/2014/main" id="{4AE10CB1-C9DC-6015-61B9-4E4CE7103FDC}"/>
              </a:ext>
            </a:extLst>
          </p:cNvPr>
          <p:cNvSpPr>
            <a:spLocks noGrp="1"/>
          </p:cNvSpPr>
          <p:nvPr>
            <p:ph type="title"/>
          </p:nvPr>
        </p:nvSpPr>
        <p:spPr>
          <a:xfrm>
            <a:off x="486000" y="550723"/>
            <a:ext cx="8172000" cy="338554"/>
          </a:xfrm>
        </p:spPr>
        <p:txBody>
          <a:bodyPr/>
          <a:lstStyle/>
          <a:p>
            <a:r>
              <a:rPr lang="en-US" altLang="zh-CN" dirty="0"/>
              <a:t>4.1.2 </a:t>
            </a:r>
            <a:r>
              <a:rPr lang="zh-CN" altLang="en-US" dirty="0"/>
              <a:t>网络层的两个层面</a:t>
            </a:r>
          </a:p>
        </p:txBody>
      </p:sp>
      <p:sp>
        <p:nvSpPr>
          <p:cNvPr id="8" name="内容占位符 7">
            <a:extLst>
              <a:ext uri="{FF2B5EF4-FFF2-40B4-BE49-F238E27FC236}">
                <a16:creationId xmlns:a16="http://schemas.microsoft.com/office/drawing/2014/main" id="{7E825706-B7DB-67EB-4B8D-F01EC462303C}"/>
              </a:ext>
            </a:extLst>
          </p:cNvPr>
          <p:cNvSpPr>
            <a:spLocks noGrp="1"/>
          </p:cNvSpPr>
          <p:nvPr>
            <p:ph sz="quarter" idx="11"/>
          </p:nvPr>
        </p:nvSpPr>
        <p:spPr>
          <a:xfrm>
            <a:off x="486000" y="900000"/>
            <a:ext cx="8172000" cy="3703500"/>
          </a:xfrm>
        </p:spPr>
        <p:txBody>
          <a:bodyPr/>
          <a:lstStyle/>
          <a:p>
            <a:r>
              <a:rPr lang="zh-CN" altLang="en-US" dirty="0"/>
              <a:t>网络层的 </a:t>
            </a:r>
            <a:r>
              <a:rPr lang="en-US" altLang="zh-CN" dirty="0"/>
              <a:t>2 </a:t>
            </a:r>
            <a:r>
              <a:rPr lang="zh-CN" altLang="en-US" dirty="0"/>
              <a:t>个层面：数据层面和控制层面</a:t>
            </a:r>
          </a:p>
          <a:p>
            <a:endParaRPr lang="zh-CN" altLang="en-US" dirty="0"/>
          </a:p>
        </p:txBody>
      </p:sp>
    </p:spTree>
    <p:extLst>
      <p:ext uri="{BB962C8B-B14F-4D97-AF65-F5344CB8AC3E}">
        <p14:creationId xmlns:p14="http://schemas.microsoft.com/office/powerpoint/2010/main" val="41355071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示 4"/>
          <p:cNvGraphicFramePr/>
          <p:nvPr>
            <p:extLst>
              <p:ext uri="{D42A27DB-BD31-4B8C-83A1-F6EECF244321}">
                <p14:modId xmlns:p14="http://schemas.microsoft.com/office/powerpoint/2010/main" val="1942780655"/>
              </p:ext>
            </p:extLst>
          </p:nvPr>
        </p:nvGraphicFramePr>
        <p:xfrm>
          <a:off x="485775" y="1130957"/>
          <a:ext cx="8172450" cy="2802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15F21A1C-5EBC-1B2A-C1B5-5EF4CF2607C7}"/>
              </a:ext>
            </a:extLst>
          </p:cNvPr>
          <p:cNvSpPr>
            <a:spLocks noGrp="1"/>
          </p:cNvSpPr>
          <p:nvPr>
            <p:ph type="title"/>
          </p:nvPr>
        </p:nvSpPr>
        <p:spPr>
          <a:xfrm>
            <a:off x="485775" y="550863"/>
            <a:ext cx="8172450" cy="338137"/>
          </a:xfrm>
        </p:spPr>
        <p:txBody>
          <a:bodyPr/>
          <a:lstStyle/>
          <a:p>
            <a:r>
              <a:rPr lang="zh-CN" altLang="en-US" dirty="0"/>
              <a:t>数据层面和控制层面</a:t>
            </a:r>
          </a:p>
        </p:txBody>
      </p:sp>
    </p:spTree>
    <p:extLst>
      <p:ext uri="{BB962C8B-B14F-4D97-AF65-F5344CB8AC3E}">
        <p14:creationId xmlns:p14="http://schemas.microsoft.com/office/powerpoint/2010/main" val="26220446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 name="矩形 90"/>
          <p:cNvSpPr/>
          <p:nvPr/>
        </p:nvSpPr>
        <p:spPr>
          <a:xfrm>
            <a:off x="2089351" y="4204954"/>
            <a:ext cx="4965299" cy="307777"/>
          </a:xfrm>
          <a:prstGeom prst="rect">
            <a:avLst/>
          </a:prstGeom>
        </p:spPr>
        <p:txBody>
          <a:bodyPr wrap="square">
            <a:spAutoFit/>
          </a:bodyPr>
          <a:lstStyle/>
          <a:p>
            <a:pPr algn="ctr"/>
            <a:r>
              <a:rPr lang="zh-CN" altLang="en-US" sz="1400" dirty="0">
                <a:latin typeface="Montserrat" panose="00000500000000000000" pitchFamily="2" charset="0"/>
                <a:ea typeface="微软雅黑 Light" panose="020B0502040204020203" pitchFamily="34" charset="-122"/>
              </a:rPr>
              <a:t>软件定义网络 </a:t>
            </a: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中的数据层面和控制层面</a:t>
            </a:r>
          </a:p>
        </p:txBody>
      </p:sp>
      <p:grpSp>
        <p:nvGrpSpPr>
          <p:cNvPr id="173" name="组合 172"/>
          <p:cNvGrpSpPr/>
          <p:nvPr/>
        </p:nvGrpSpPr>
        <p:grpSpPr>
          <a:xfrm>
            <a:off x="845397" y="1226469"/>
            <a:ext cx="6944264" cy="2784814"/>
            <a:chOff x="1009291" y="1226469"/>
            <a:chExt cx="6944264" cy="2784814"/>
          </a:xfrm>
        </p:grpSpPr>
        <p:sp>
          <p:nvSpPr>
            <p:cNvPr id="92" name="Line 107"/>
            <p:cNvSpPr>
              <a:spLocks noChangeShapeType="1"/>
            </p:cNvSpPr>
            <p:nvPr/>
          </p:nvSpPr>
          <p:spPr bwMode="auto">
            <a:xfrm flipH="1">
              <a:off x="2970733" y="1637707"/>
              <a:ext cx="269479" cy="276607"/>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3" name="Line 107"/>
            <p:cNvSpPr>
              <a:spLocks noChangeShapeType="1"/>
            </p:cNvSpPr>
            <p:nvPr/>
          </p:nvSpPr>
          <p:spPr bwMode="auto">
            <a:xfrm flipH="1" flipV="1">
              <a:off x="6926882" y="1583226"/>
              <a:ext cx="372154" cy="354179"/>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4" name="Line 151"/>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5" name="Line 79"/>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7" name="Line 99"/>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8" name="Line 100"/>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9" name="Line 101"/>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0" name="Line 102"/>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1" name="Line 103"/>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3" name="Line 107"/>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4" name="Line 108"/>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pic>
          <p:nvPicPr>
            <p:cNvPr id="105" name="Picture 109"/>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106" name="Picture 110"/>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107" name="Picture 111"/>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108" name="Picture 112"/>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109" name="Picture 113"/>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110" name="矩形 109"/>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11" name="直接连接符 110"/>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直接连接符 111"/>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直接连接符 112"/>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16" name="矩形 115"/>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17" name="直接连接符 116"/>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 name="直接连接符 117"/>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9" name="直接连接符 118"/>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0" name="直接连接符 119"/>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 name="直接连接符 120"/>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2" name="矩形 121"/>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23" name="直接连接符 122"/>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4" name="直接连接符 123"/>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5" name="直接连接符 124"/>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 name="直接连接符 125"/>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 name="直接连接符 126"/>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8" name="矩形 127"/>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29" name="直接连接符 128"/>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直接连接符 129"/>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直接连接符 130"/>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2" name="直接连接符 131"/>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 name="直接连接符 132"/>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34" name="矩形 133"/>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35" name="直接连接符 134"/>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直接连接符 136"/>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直接连接符 137"/>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直接连接符 138"/>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40" name="TextBox 176"/>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latin typeface="微软雅黑 Light" panose="020B0502040204020203" pitchFamily="34" charset="-122"/>
                  <a:ea typeface="微软雅黑 Light" panose="020B0502040204020203" pitchFamily="34" charset="-122"/>
                </a:rPr>
                <a:t>转发表</a:t>
              </a:r>
            </a:p>
          </p:txBody>
        </p:sp>
        <p:cxnSp>
          <p:nvCxnSpPr>
            <p:cNvPr id="141" name="直接连接符 140"/>
            <p:cNvCxnSpPr/>
            <p:nvPr/>
          </p:nvCxnSpPr>
          <p:spPr>
            <a:xfrm>
              <a:off x="1009291" y="2215214"/>
              <a:ext cx="6944264" cy="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a:endCxn id="108"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5" name="直接箭头连接符 144"/>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6" name="直接箭头连接符 145"/>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7" name="直接箭头连接符 146"/>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49" name="矩形 148"/>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Light" panose="020B0502040204020203" pitchFamily="34" charset="-122"/>
                  <a:ea typeface="微软雅黑 Light" panose="020B0502040204020203" pitchFamily="34" charset="-122"/>
                </a:rPr>
                <a:t>远  程  控  制  器</a:t>
              </a:r>
              <a:endParaRPr lang="zh-CN" altLang="en-US" sz="1400" b="1" dirty="0">
                <a:latin typeface="微软雅黑 Light" panose="020B0502040204020203" pitchFamily="34" charset="-122"/>
                <a:ea typeface="微软雅黑 Light" panose="020B0502040204020203" pitchFamily="34" charset="-122"/>
              </a:endParaRPr>
            </a:p>
          </p:txBody>
        </p:sp>
        <p:pic>
          <p:nvPicPr>
            <p:cNvPr id="150" name="Picture 21"/>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151" name="Picture 21"/>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153" name="直接箭头连接符 152"/>
            <p:cNvCxnSpPr>
              <a:cxnSpLocks/>
            </p:cNvCxnSpPr>
            <p:nvPr/>
          </p:nvCxnSpPr>
          <p:spPr>
            <a:xfrm flipH="1">
              <a:off x="3679398" y="1958545"/>
              <a:ext cx="164088" cy="447976"/>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4" name="直接箭头连接符 153"/>
            <p:cNvCxnSpPr>
              <a:cxnSpLocks/>
            </p:cNvCxnSpPr>
            <p:nvPr/>
          </p:nvCxnSpPr>
          <p:spPr>
            <a:xfrm flipH="1">
              <a:off x="4485742" y="1958545"/>
              <a:ext cx="75315" cy="45124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5" name="直接箭头连接符 154"/>
            <p:cNvCxnSpPr>
              <a:cxnSpLocks/>
            </p:cNvCxnSpPr>
            <p:nvPr/>
          </p:nvCxnSpPr>
          <p:spPr>
            <a:xfrm>
              <a:off x="6457925" y="1958545"/>
              <a:ext cx="167988" cy="44798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a:cxnSpLocks/>
            </p:cNvCxnSpPr>
            <p:nvPr/>
          </p:nvCxnSpPr>
          <p:spPr>
            <a:xfrm>
              <a:off x="5654302" y="1958545"/>
              <a:ext cx="101898" cy="45055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cxnSpLocks/>
              <a:stCxn id="149" idx="2"/>
              <a:endCxn id="122" idx="0"/>
            </p:cNvCxnSpPr>
            <p:nvPr/>
          </p:nvCxnSpPr>
          <p:spPr>
            <a:xfrm>
              <a:off x="5083548" y="1958545"/>
              <a:ext cx="68027" cy="44917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63" name="TextBox 179"/>
            <p:cNvSpPr txBox="1"/>
            <p:nvPr/>
          </p:nvSpPr>
          <p:spPr>
            <a:xfrm>
              <a:off x="1249993" y="1881728"/>
              <a:ext cx="1049536" cy="307777"/>
            </a:xfrm>
            <a:prstGeom prst="rect">
              <a:avLst/>
            </a:prstGeom>
            <a:solidFill>
              <a:srgbClr val="33CC33"/>
            </a:solidFill>
            <a:ln>
              <a:noFill/>
            </a:ln>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164" name="TextBox 180"/>
            <p:cNvSpPr txBox="1"/>
            <p:nvPr/>
          </p:nvSpPr>
          <p:spPr>
            <a:xfrm>
              <a:off x="1249993" y="2254786"/>
              <a:ext cx="1049536" cy="307777"/>
            </a:xfrm>
            <a:prstGeom prst="rect">
              <a:avLst/>
            </a:prstGeom>
            <a:solidFill>
              <a:schemeClr val="accent6">
                <a:lumMod val="75000"/>
              </a:schemeClr>
            </a:solidFill>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数据层面</a:t>
              </a:r>
            </a:p>
          </p:txBody>
        </p:sp>
        <p:grpSp>
          <p:nvGrpSpPr>
            <p:cNvPr id="165" name="组合 164"/>
            <p:cNvGrpSpPr/>
            <p:nvPr/>
          </p:nvGrpSpPr>
          <p:grpSpPr>
            <a:xfrm>
              <a:off x="1062847" y="1569143"/>
              <a:ext cx="206062" cy="1296144"/>
              <a:chOff x="199861" y="1988840"/>
              <a:chExt cx="288414" cy="1440160"/>
            </a:xfrm>
          </p:grpSpPr>
          <p:sp>
            <p:nvSpPr>
              <p:cNvPr id="166" name="上箭头 165"/>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sp>
            <p:nvSpPr>
              <p:cNvPr id="167" name="上箭头 166"/>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grpSp>
        <p:cxnSp>
          <p:nvCxnSpPr>
            <p:cNvPr id="168" name="直接箭头连接符 167"/>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169"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170"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152" name="椭圆 151"/>
            <p:cNvSpPr/>
            <p:nvPr/>
          </p:nvSpPr>
          <p:spPr>
            <a:xfrm>
              <a:off x="3575364" y="1351374"/>
              <a:ext cx="3150428" cy="331342"/>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dirty="0">
                <a:latin typeface="微软雅黑 Light" panose="020B0502040204020203" pitchFamily="34" charset="-122"/>
                <a:ea typeface="微软雅黑 Light" panose="020B0502040204020203" pitchFamily="34" charset="-122"/>
              </a:endParaRPr>
            </a:p>
          </p:txBody>
        </p:sp>
      </p:grpSp>
      <p:sp>
        <p:nvSpPr>
          <p:cNvPr id="172" name="矩形 171"/>
          <p:cNvSpPr/>
          <p:nvPr/>
        </p:nvSpPr>
        <p:spPr>
          <a:xfrm>
            <a:off x="7434389" y="1490108"/>
            <a:ext cx="1223829" cy="1604927"/>
          </a:xfrm>
          <a:prstGeom prst="rect">
            <a:avLst/>
          </a:prstGeom>
          <a:solidFill>
            <a:schemeClr val="bg1">
              <a:lumMod val="95000"/>
            </a:schemeClr>
          </a:solidFill>
        </p:spPr>
        <p:txBody>
          <a:bodyPr wrap="square">
            <a:spAutoFit/>
          </a:bodyPr>
          <a:lstStyle/>
          <a:p>
            <a:pPr algn="just">
              <a:lnSpc>
                <a:spcPts val="2000"/>
              </a:lnSpc>
            </a:pPr>
            <a:r>
              <a:rPr lang="zh-CN" altLang="en-US" sz="1200" dirty="0">
                <a:latin typeface="微软雅黑 Light" panose="020B0502040204020203" pitchFamily="34" charset="-122"/>
                <a:ea typeface="微软雅黑 Light" panose="020B0502040204020203" pitchFamily="34" charset="-122"/>
              </a:rPr>
              <a:t>远程控制器：</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计算出最佳的路由，</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在每一个路由器中生成其正确的转发表。</a:t>
            </a:r>
          </a:p>
        </p:txBody>
      </p:sp>
      <p:sp>
        <p:nvSpPr>
          <p:cNvPr id="2" name="标题 1">
            <a:extLst>
              <a:ext uri="{FF2B5EF4-FFF2-40B4-BE49-F238E27FC236}">
                <a16:creationId xmlns:a16="http://schemas.microsoft.com/office/drawing/2014/main" id="{423FA40F-C9E5-7431-0ACD-39BB2F76F85D}"/>
              </a:ext>
            </a:extLst>
          </p:cNvPr>
          <p:cNvSpPr>
            <a:spLocks noGrp="1"/>
          </p:cNvSpPr>
          <p:nvPr>
            <p:ph type="title"/>
          </p:nvPr>
        </p:nvSpPr>
        <p:spPr>
          <a:xfrm>
            <a:off x="486000" y="550723"/>
            <a:ext cx="8172000" cy="338554"/>
          </a:xfrm>
        </p:spPr>
        <p:txBody>
          <a:bodyPr/>
          <a:lstStyle/>
          <a:p>
            <a:r>
              <a:rPr lang="zh-CN" altLang="en-US" dirty="0"/>
              <a:t>软件定义网络 </a:t>
            </a:r>
            <a:r>
              <a:rPr lang="en-US" altLang="zh-CN" dirty="0"/>
              <a:t>SDN (Software Defined Network)</a:t>
            </a:r>
            <a:endParaRPr lang="zh-CN" altLang="en-US" dirty="0"/>
          </a:p>
        </p:txBody>
      </p:sp>
    </p:spTree>
    <p:extLst>
      <p:ext uri="{BB962C8B-B14F-4D97-AF65-F5344CB8AC3E}">
        <p14:creationId xmlns:p14="http://schemas.microsoft.com/office/powerpoint/2010/main" val="370043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矩形 171"/>
          <p:cNvSpPr/>
          <p:nvPr/>
        </p:nvSpPr>
        <p:spPr>
          <a:xfrm>
            <a:off x="7532820" y="2356794"/>
            <a:ext cx="1125404" cy="835485"/>
          </a:xfrm>
          <a:prstGeom prst="rect">
            <a:avLst/>
          </a:prstGeom>
          <a:solidFill>
            <a:schemeClr val="bg1">
              <a:lumMod val="95000"/>
            </a:schemeClr>
          </a:solidFill>
        </p:spPr>
        <p:txBody>
          <a:bodyPr wrap="square">
            <a:spAutoFit/>
          </a:bodyPr>
          <a:lstStyle/>
          <a:p>
            <a:pPr algn="just">
              <a:lnSpc>
                <a:spcPts val="2000"/>
              </a:lnSpc>
            </a:pPr>
            <a:r>
              <a:rPr lang="zh-CN" altLang="en-US" sz="1200" dirty="0">
                <a:latin typeface="微软雅黑 Light" panose="020B0502040204020203" pitchFamily="34" charset="-122"/>
                <a:ea typeface="微软雅黑 Light" panose="020B0502040204020203" pitchFamily="34" charset="-122"/>
              </a:rPr>
              <a:t>路由器：</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查找转发表并转发分组。</a:t>
            </a:r>
          </a:p>
        </p:txBody>
      </p:sp>
      <p:sp>
        <p:nvSpPr>
          <p:cNvPr id="2" name="标题 1">
            <a:extLst>
              <a:ext uri="{FF2B5EF4-FFF2-40B4-BE49-F238E27FC236}">
                <a16:creationId xmlns:a16="http://schemas.microsoft.com/office/drawing/2014/main" id="{AD14B322-74F5-64B0-3658-0291CC6148ED}"/>
              </a:ext>
            </a:extLst>
          </p:cNvPr>
          <p:cNvSpPr>
            <a:spLocks noGrp="1"/>
          </p:cNvSpPr>
          <p:nvPr>
            <p:ph type="title"/>
          </p:nvPr>
        </p:nvSpPr>
        <p:spPr>
          <a:xfrm>
            <a:off x="486000" y="550723"/>
            <a:ext cx="8172000" cy="338554"/>
          </a:xfrm>
        </p:spPr>
        <p:txBody>
          <a:bodyPr/>
          <a:lstStyle/>
          <a:p>
            <a:r>
              <a:rPr lang="zh-CN" altLang="en-US" dirty="0"/>
              <a:t>软件定义网络 </a:t>
            </a:r>
            <a:r>
              <a:rPr lang="en-US" altLang="zh-CN" dirty="0"/>
              <a:t>SDN (Software Defined Network)</a:t>
            </a:r>
            <a:endParaRPr lang="zh-CN" altLang="en-US" dirty="0"/>
          </a:p>
        </p:txBody>
      </p:sp>
      <p:sp>
        <p:nvSpPr>
          <p:cNvPr id="4" name="矩形 3">
            <a:extLst>
              <a:ext uri="{FF2B5EF4-FFF2-40B4-BE49-F238E27FC236}">
                <a16:creationId xmlns:a16="http://schemas.microsoft.com/office/drawing/2014/main" id="{6EE00E80-C3BC-AAC1-9B10-5117B195F1A6}"/>
              </a:ext>
            </a:extLst>
          </p:cNvPr>
          <p:cNvSpPr/>
          <p:nvPr/>
        </p:nvSpPr>
        <p:spPr>
          <a:xfrm>
            <a:off x="2089351" y="4204954"/>
            <a:ext cx="4965299" cy="307777"/>
          </a:xfrm>
          <a:prstGeom prst="rect">
            <a:avLst/>
          </a:prstGeom>
        </p:spPr>
        <p:txBody>
          <a:bodyPr wrap="square">
            <a:spAutoFit/>
          </a:bodyPr>
          <a:lstStyle/>
          <a:p>
            <a:pPr algn="ctr"/>
            <a:r>
              <a:rPr lang="zh-CN" altLang="en-US" sz="1400" dirty="0">
                <a:latin typeface="Montserrat" panose="00000500000000000000" pitchFamily="2" charset="0"/>
                <a:ea typeface="微软雅黑 Light" panose="020B0502040204020203" pitchFamily="34" charset="-122"/>
              </a:rPr>
              <a:t>软件定义网络 </a:t>
            </a: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中的数据层面和控制层面</a:t>
            </a:r>
          </a:p>
        </p:txBody>
      </p:sp>
      <p:grpSp>
        <p:nvGrpSpPr>
          <p:cNvPr id="5" name="组合 4">
            <a:extLst>
              <a:ext uri="{FF2B5EF4-FFF2-40B4-BE49-F238E27FC236}">
                <a16:creationId xmlns:a16="http://schemas.microsoft.com/office/drawing/2014/main" id="{EC096B80-6015-0899-78B0-53F653630DEC}"/>
              </a:ext>
            </a:extLst>
          </p:cNvPr>
          <p:cNvGrpSpPr/>
          <p:nvPr/>
        </p:nvGrpSpPr>
        <p:grpSpPr>
          <a:xfrm>
            <a:off x="845397" y="1226469"/>
            <a:ext cx="6944264" cy="2784814"/>
            <a:chOff x="1009291" y="1226469"/>
            <a:chExt cx="6944264" cy="2784814"/>
          </a:xfrm>
        </p:grpSpPr>
        <p:sp>
          <p:nvSpPr>
            <p:cNvPr id="9" name="Line 107">
              <a:extLst>
                <a:ext uri="{FF2B5EF4-FFF2-40B4-BE49-F238E27FC236}">
                  <a16:creationId xmlns:a16="http://schemas.microsoft.com/office/drawing/2014/main" id="{C612B8FE-81C3-C4FE-22E2-05479732F6AA}"/>
                </a:ext>
              </a:extLst>
            </p:cNvPr>
            <p:cNvSpPr>
              <a:spLocks noChangeShapeType="1"/>
            </p:cNvSpPr>
            <p:nvPr/>
          </p:nvSpPr>
          <p:spPr bwMode="auto">
            <a:xfrm flipH="1">
              <a:off x="2970733" y="1637707"/>
              <a:ext cx="269479" cy="276607"/>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 name="Line 107">
              <a:extLst>
                <a:ext uri="{FF2B5EF4-FFF2-40B4-BE49-F238E27FC236}">
                  <a16:creationId xmlns:a16="http://schemas.microsoft.com/office/drawing/2014/main" id="{7EC3959C-011B-8DEE-05D8-BCAE07927C42}"/>
                </a:ext>
              </a:extLst>
            </p:cNvPr>
            <p:cNvSpPr>
              <a:spLocks noChangeShapeType="1"/>
            </p:cNvSpPr>
            <p:nvPr/>
          </p:nvSpPr>
          <p:spPr bwMode="auto">
            <a:xfrm flipH="1" flipV="1">
              <a:off x="6926882" y="1583226"/>
              <a:ext cx="372154" cy="354179"/>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1" name="Line 151">
              <a:extLst>
                <a:ext uri="{FF2B5EF4-FFF2-40B4-BE49-F238E27FC236}">
                  <a16:creationId xmlns:a16="http://schemas.microsoft.com/office/drawing/2014/main" id="{B57933BE-A00B-A6B0-3877-353ED2F383EA}"/>
                </a:ext>
              </a:extLst>
            </p:cNvPr>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2" name="Line 79">
              <a:extLst>
                <a:ext uri="{FF2B5EF4-FFF2-40B4-BE49-F238E27FC236}">
                  <a16:creationId xmlns:a16="http://schemas.microsoft.com/office/drawing/2014/main" id="{E4335105-BA59-CD3E-DA9A-2D2F529B9A90}"/>
                </a:ext>
              </a:extLst>
            </p:cNvPr>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3" name="Line 99">
              <a:extLst>
                <a:ext uri="{FF2B5EF4-FFF2-40B4-BE49-F238E27FC236}">
                  <a16:creationId xmlns:a16="http://schemas.microsoft.com/office/drawing/2014/main" id="{DA466551-67D8-85B2-9808-F1420E77A92C}"/>
                </a:ext>
              </a:extLst>
            </p:cNvPr>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4" name="Line 100">
              <a:extLst>
                <a:ext uri="{FF2B5EF4-FFF2-40B4-BE49-F238E27FC236}">
                  <a16:creationId xmlns:a16="http://schemas.microsoft.com/office/drawing/2014/main" id="{7069AB3A-A5FC-A6B7-24A8-817FB0F83E63}"/>
                </a:ext>
              </a:extLst>
            </p:cNvPr>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5" name="Line 101">
              <a:extLst>
                <a:ext uri="{FF2B5EF4-FFF2-40B4-BE49-F238E27FC236}">
                  <a16:creationId xmlns:a16="http://schemas.microsoft.com/office/drawing/2014/main" id="{2DE1D87E-07DB-838B-41F0-7F950C3CBAEE}"/>
                </a:ext>
              </a:extLst>
            </p:cNvPr>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6" name="Line 102">
              <a:extLst>
                <a:ext uri="{FF2B5EF4-FFF2-40B4-BE49-F238E27FC236}">
                  <a16:creationId xmlns:a16="http://schemas.microsoft.com/office/drawing/2014/main" id="{2D778FF9-4E41-F85B-7C0B-90C77E9631A9}"/>
                </a:ext>
              </a:extLst>
            </p:cNvPr>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7" name="Line 103">
              <a:extLst>
                <a:ext uri="{FF2B5EF4-FFF2-40B4-BE49-F238E27FC236}">
                  <a16:creationId xmlns:a16="http://schemas.microsoft.com/office/drawing/2014/main" id="{EF04A223-0C16-92E0-2807-7DFC4ABD1E28}"/>
                </a:ext>
              </a:extLst>
            </p:cNvPr>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8" name="Line 107">
              <a:extLst>
                <a:ext uri="{FF2B5EF4-FFF2-40B4-BE49-F238E27FC236}">
                  <a16:creationId xmlns:a16="http://schemas.microsoft.com/office/drawing/2014/main" id="{04B6D218-29BA-BE3D-FCC9-9CED3E7DD7C7}"/>
                </a:ext>
              </a:extLst>
            </p:cNvPr>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9" name="Line 108">
              <a:extLst>
                <a:ext uri="{FF2B5EF4-FFF2-40B4-BE49-F238E27FC236}">
                  <a16:creationId xmlns:a16="http://schemas.microsoft.com/office/drawing/2014/main" id="{3AC79649-2714-0CB5-3701-83E75D141148}"/>
                </a:ext>
              </a:extLst>
            </p:cNvPr>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pic>
          <p:nvPicPr>
            <p:cNvPr id="20" name="Picture 109">
              <a:extLst>
                <a:ext uri="{FF2B5EF4-FFF2-40B4-BE49-F238E27FC236}">
                  <a16:creationId xmlns:a16="http://schemas.microsoft.com/office/drawing/2014/main" id="{0ABAB5AB-5440-7369-6161-85FC1B819F80}"/>
                </a:ext>
              </a:extLst>
            </p:cNvPr>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21" name="Picture 110">
              <a:extLst>
                <a:ext uri="{FF2B5EF4-FFF2-40B4-BE49-F238E27FC236}">
                  <a16:creationId xmlns:a16="http://schemas.microsoft.com/office/drawing/2014/main" id="{25D2256A-A5FF-0336-2D4B-A5FBF8C5C1F2}"/>
                </a:ext>
              </a:extLst>
            </p:cNvPr>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22" name="Picture 111">
              <a:extLst>
                <a:ext uri="{FF2B5EF4-FFF2-40B4-BE49-F238E27FC236}">
                  <a16:creationId xmlns:a16="http://schemas.microsoft.com/office/drawing/2014/main" id="{D9982FC3-AF98-59E7-CE73-28D023EB74BD}"/>
                </a:ext>
              </a:extLst>
            </p:cNvPr>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23" name="Picture 112">
              <a:extLst>
                <a:ext uri="{FF2B5EF4-FFF2-40B4-BE49-F238E27FC236}">
                  <a16:creationId xmlns:a16="http://schemas.microsoft.com/office/drawing/2014/main" id="{5E21414A-76F2-5181-A5AB-68A410DB993B}"/>
                </a:ext>
              </a:extLst>
            </p:cNvPr>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24" name="Picture 113">
              <a:extLst>
                <a:ext uri="{FF2B5EF4-FFF2-40B4-BE49-F238E27FC236}">
                  <a16:creationId xmlns:a16="http://schemas.microsoft.com/office/drawing/2014/main" id="{12DFAB4D-D4CC-756F-F08D-149DC469F7AA}"/>
                </a:ext>
              </a:extLst>
            </p:cNvPr>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25" name="矩形 24">
              <a:extLst>
                <a:ext uri="{FF2B5EF4-FFF2-40B4-BE49-F238E27FC236}">
                  <a16:creationId xmlns:a16="http://schemas.microsoft.com/office/drawing/2014/main" id="{B82C7A9F-8C1B-8484-6BAE-38D96D5049B9}"/>
                </a:ext>
              </a:extLst>
            </p:cNvPr>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26" name="直接连接符 25">
              <a:extLst>
                <a:ext uri="{FF2B5EF4-FFF2-40B4-BE49-F238E27FC236}">
                  <a16:creationId xmlns:a16="http://schemas.microsoft.com/office/drawing/2014/main" id="{D088C3C9-1C25-58D9-F5DE-27EB6603FE27}"/>
                </a:ext>
              </a:extLst>
            </p:cNvPr>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B012B55B-A632-8958-8E7C-24E45B713509}"/>
                </a:ext>
              </a:extLst>
            </p:cNvPr>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4EA86B58-15D3-2C39-6130-22528CDA1708}"/>
                </a:ext>
              </a:extLst>
            </p:cNvPr>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8605C0C1-AAB6-CAF3-5F86-E9ECB36A760C}"/>
                </a:ext>
              </a:extLst>
            </p:cNvPr>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D55CEBA5-42DE-01AC-263E-6BEB670D678F}"/>
                </a:ext>
              </a:extLst>
            </p:cNvPr>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E42F68AF-ABB6-B6BD-EE55-929AA3A5A4B1}"/>
                </a:ext>
              </a:extLst>
            </p:cNvPr>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32" name="直接连接符 31">
              <a:extLst>
                <a:ext uri="{FF2B5EF4-FFF2-40B4-BE49-F238E27FC236}">
                  <a16:creationId xmlns:a16="http://schemas.microsoft.com/office/drawing/2014/main" id="{38AF4A6E-7B58-69C0-9C3C-A333E42BB972}"/>
                </a:ext>
              </a:extLst>
            </p:cNvPr>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0E7D64D6-BE2E-86E1-00D5-210B5F39A378}"/>
                </a:ext>
              </a:extLst>
            </p:cNvPr>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07EAAB87-A958-9B27-5984-F0D45DDFBACD}"/>
                </a:ext>
              </a:extLst>
            </p:cNvPr>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59B01BF8-5456-CCB4-997E-B4D167880602}"/>
                </a:ext>
              </a:extLst>
            </p:cNvPr>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967E67CF-1D2B-2CC2-53FD-8F81C5176FAB}"/>
                </a:ext>
              </a:extLst>
            </p:cNvPr>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矩形 36">
              <a:extLst>
                <a:ext uri="{FF2B5EF4-FFF2-40B4-BE49-F238E27FC236}">
                  <a16:creationId xmlns:a16="http://schemas.microsoft.com/office/drawing/2014/main" id="{BF81B78D-717B-0DCF-8EDE-5D98A833F96B}"/>
                </a:ext>
              </a:extLst>
            </p:cNvPr>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38" name="直接连接符 37">
              <a:extLst>
                <a:ext uri="{FF2B5EF4-FFF2-40B4-BE49-F238E27FC236}">
                  <a16:creationId xmlns:a16="http://schemas.microsoft.com/office/drawing/2014/main" id="{B3807C12-47ED-5FB4-1165-FA756339E4F9}"/>
                </a:ext>
              </a:extLst>
            </p:cNvPr>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9A88CF4A-21D5-01AF-5227-188B95E08C60}"/>
                </a:ext>
              </a:extLst>
            </p:cNvPr>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8904064A-812E-2998-4227-B78392B635F7}"/>
                </a:ext>
              </a:extLst>
            </p:cNvPr>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62B64B69-B6A2-338D-427C-E88636CBBBBB}"/>
                </a:ext>
              </a:extLst>
            </p:cNvPr>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7BF97CDC-D6E9-C349-D035-6CBE2A1089D7}"/>
                </a:ext>
              </a:extLst>
            </p:cNvPr>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矩形 42">
              <a:extLst>
                <a:ext uri="{FF2B5EF4-FFF2-40B4-BE49-F238E27FC236}">
                  <a16:creationId xmlns:a16="http://schemas.microsoft.com/office/drawing/2014/main" id="{42F0E6AC-79AD-EB57-03DF-30534E05FFCD}"/>
                </a:ext>
              </a:extLst>
            </p:cNvPr>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44" name="直接连接符 43">
              <a:extLst>
                <a:ext uri="{FF2B5EF4-FFF2-40B4-BE49-F238E27FC236}">
                  <a16:creationId xmlns:a16="http://schemas.microsoft.com/office/drawing/2014/main" id="{87E81795-5A87-FF09-4B24-B7A9CC87F0F0}"/>
                </a:ext>
              </a:extLst>
            </p:cNvPr>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0CB5DC6F-53D0-AABE-3563-8865A915E340}"/>
                </a:ext>
              </a:extLst>
            </p:cNvPr>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A6B418F3-D5CC-400F-1AB6-836F1301934D}"/>
                </a:ext>
              </a:extLst>
            </p:cNvPr>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EF01BF0D-9EAC-1988-1DE4-2AC86F467C6C}"/>
                </a:ext>
              </a:extLst>
            </p:cNvPr>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86242B42-6C72-3F28-9E58-EF608137018A}"/>
                </a:ext>
              </a:extLst>
            </p:cNvPr>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矩形 48">
              <a:extLst>
                <a:ext uri="{FF2B5EF4-FFF2-40B4-BE49-F238E27FC236}">
                  <a16:creationId xmlns:a16="http://schemas.microsoft.com/office/drawing/2014/main" id="{B5AB7D27-38E8-1B19-8383-C4F4298BC10C}"/>
                </a:ext>
              </a:extLst>
            </p:cNvPr>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50" name="直接连接符 49">
              <a:extLst>
                <a:ext uri="{FF2B5EF4-FFF2-40B4-BE49-F238E27FC236}">
                  <a16:creationId xmlns:a16="http://schemas.microsoft.com/office/drawing/2014/main" id="{954601FA-8FDA-004F-6B90-98AC784DC922}"/>
                </a:ext>
              </a:extLst>
            </p:cNvPr>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38ABD25E-0BB7-E581-5F6A-435F633136BD}"/>
                </a:ext>
              </a:extLst>
            </p:cNvPr>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DF55B99E-4BF4-B0A5-CAAF-8D4168C509D3}"/>
                </a:ext>
              </a:extLst>
            </p:cNvPr>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6958738D-252B-5948-3FA8-709366EC9CFC}"/>
                </a:ext>
              </a:extLst>
            </p:cNvPr>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E8886FC8-9365-3A5B-CEC3-589A18A1CF16}"/>
                </a:ext>
              </a:extLst>
            </p:cNvPr>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5" name="TextBox 176">
              <a:extLst>
                <a:ext uri="{FF2B5EF4-FFF2-40B4-BE49-F238E27FC236}">
                  <a16:creationId xmlns:a16="http://schemas.microsoft.com/office/drawing/2014/main" id="{ED00E4FD-CC21-3B86-6D89-4F32107CC1BA}"/>
                </a:ext>
              </a:extLst>
            </p:cNvPr>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latin typeface="微软雅黑 Light" panose="020B0502040204020203" pitchFamily="34" charset="-122"/>
                  <a:ea typeface="微软雅黑 Light" panose="020B0502040204020203" pitchFamily="34" charset="-122"/>
                </a:rPr>
                <a:t>转发表</a:t>
              </a:r>
            </a:p>
          </p:txBody>
        </p:sp>
        <p:cxnSp>
          <p:nvCxnSpPr>
            <p:cNvPr id="56" name="直接连接符 55">
              <a:extLst>
                <a:ext uri="{FF2B5EF4-FFF2-40B4-BE49-F238E27FC236}">
                  <a16:creationId xmlns:a16="http://schemas.microsoft.com/office/drawing/2014/main" id="{FAB3978A-7A19-2385-F537-9E5AE88E7B83}"/>
                </a:ext>
              </a:extLst>
            </p:cNvPr>
            <p:cNvCxnSpPr/>
            <p:nvPr/>
          </p:nvCxnSpPr>
          <p:spPr>
            <a:xfrm>
              <a:off x="1009291" y="2215214"/>
              <a:ext cx="6944264" cy="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箭头连接符 56">
              <a:extLst>
                <a:ext uri="{FF2B5EF4-FFF2-40B4-BE49-F238E27FC236}">
                  <a16:creationId xmlns:a16="http://schemas.microsoft.com/office/drawing/2014/main" id="{D4859D41-2BA5-D7AD-3B63-689821084010}"/>
                </a:ext>
              </a:extLst>
            </p:cNvPr>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8" name="直接箭头连接符 57">
              <a:extLst>
                <a:ext uri="{FF2B5EF4-FFF2-40B4-BE49-F238E27FC236}">
                  <a16:creationId xmlns:a16="http://schemas.microsoft.com/office/drawing/2014/main" id="{4F9282FA-56DB-6923-DAE6-5AA32DF60821}"/>
                </a:ext>
              </a:extLst>
            </p:cNvPr>
            <p:cNvCxnSpPr>
              <a:endCxn id="23"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9" name="直接箭头连接符 58">
              <a:extLst>
                <a:ext uri="{FF2B5EF4-FFF2-40B4-BE49-F238E27FC236}">
                  <a16:creationId xmlns:a16="http://schemas.microsoft.com/office/drawing/2014/main" id="{1DB9C6F6-EDC2-E1EE-1FDB-27FB1E28F4C9}"/>
                </a:ext>
              </a:extLst>
            </p:cNvPr>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0" name="直接箭头连接符 59">
              <a:extLst>
                <a:ext uri="{FF2B5EF4-FFF2-40B4-BE49-F238E27FC236}">
                  <a16:creationId xmlns:a16="http://schemas.microsoft.com/office/drawing/2014/main" id="{D076AF21-42DC-84B1-DE2C-E46DE8627520}"/>
                </a:ext>
              </a:extLst>
            </p:cNvPr>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1" name="直接箭头连接符 60">
              <a:extLst>
                <a:ext uri="{FF2B5EF4-FFF2-40B4-BE49-F238E27FC236}">
                  <a16:creationId xmlns:a16="http://schemas.microsoft.com/office/drawing/2014/main" id="{1A304E19-576E-45D6-AC1B-B5618C61996E}"/>
                </a:ext>
              </a:extLst>
            </p:cNvPr>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62" name="矩形 61">
              <a:extLst>
                <a:ext uri="{FF2B5EF4-FFF2-40B4-BE49-F238E27FC236}">
                  <a16:creationId xmlns:a16="http://schemas.microsoft.com/office/drawing/2014/main" id="{BB61E71A-B141-051E-A6EB-72E856C18772}"/>
                </a:ext>
              </a:extLst>
            </p:cNvPr>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Light" panose="020B0502040204020203" pitchFamily="34" charset="-122"/>
                  <a:ea typeface="微软雅黑 Light" panose="020B0502040204020203" pitchFamily="34" charset="-122"/>
                </a:rPr>
                <a:t>远  程  控  制  器</a:t>
              </a:r>
              <a:endParaRPr lang="zh-CN" altLang="en-US" sz="1400" b="1" dirty="0">
                <a:latin typeface="微软雅黑 Light" panose="020B0502040204020203" pitchFamily="34" charset="-122"/>
                <a:ea typeface="微软雅黑 Light" panose="020B0502040204020203" pitchFamily="34" charset="-122"/>
              </a:endParaRPr>
            </a:p>
          </p:txBody>
        </p:sp>
        <p:pic>
          <p:nvPicPr>
            <p:cNvPr id="63" name="Picture 21">
              <a:extLst>
                <a:ext uri="{FF2B5EF4-FFF2-40B4-BE49-F238E27FC236}">
                  <a16:creationId xmlns:a16="http://schemas.microsoft.com/office/drawing/2014/main" id="{FF34968F-A962-5067-5599-EC8248CDB56E}"/>
                </a:ext>
              </a:extLst>
            </p:cNvPr>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64" name="Picture 21">
              <a:extLst>
                <a:ext uri="{FF2B5EF4-FFF2-40B4-BE49-F238E27FC236}">
                  <a16:creationId xmlns:a16="http://schemas.microsoft.com/office/drawing/2014/main" id="{4CFFC442-0197-1B8A-A041-FBBF611090D0}"/>
                </a:ext>
              </a:extLst>
            </p:cNvPr>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65" name="直接箭头连接符 64">
              <a:extLst>
                <a:ext uri="{FF2B5EF4-FFF2-40B4-BE49-F238E27FC236}">
                  <a16:creationId xmlns:a16="http://schemas.microsoft.com/office/drawing/2014/main" id="{A26069B6-3407-5E80-131D-4DC9E5C26809}"/>
                </a:ext>
              </a:extLst>
            </p:cNvPr>
            <p:cNvCxnSpPr>
              <a:cxnSpLocks/>
            </p:cNvCxnSpPr>
            <p:nvPr/>
          </p:nvCxnSpPr>
          <p:spPr>
            <a:xfrm flipH="1">
              <a:off x="3679398" y="1958545"/>
              <a:ext cx="164088" cy="447976"/>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6" name="直接箭头连接符 65">
              <a:extLst>
                <a:ext uri="{FF2B5EF4-FFF2-40B4-BE49-F238E27FC236}">
                  <a16:creationId xmlns:a16="http://schemas.microsoft.com/office/drawing/2014/main" id="{E3EEC259-3F9D-620F-F6D5-12AAD053140A}"/>
                </a:ext>
              </a:extLst>
            </p:cNvPr>
            <p:cNvCxnSpPr>
              <a:cxnSpLocks/>
            </p:cNvCxnSpPr>
            <p:nvPr/>
          </p:nvCxnSpPr>
          <p:spPr>
            <a:xfrm flipH="1">
              <a:off x="4485742" y="1958545"/>
              <a:ext cx="75315" cy="45124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7" name="直接箭头连接符 66">
              <a:extLst>
                <a:ext uri="{FF2B5EF4-FFF2-40B4-BE49-F238E27FC236}">
                  <a16:creationId xmlns:a16="http://schemas.microsoft.com/office/drawing/2014/main" id="{A381343D-AF36-E646-BC80-4F98117B17B4}"/>
                </a:ext>
              </a:extLst>
            </p:cNvPr>
            <p:cNvCxnSpPr>
              <a:cxnSpLocks/>
            </p:cNvCxnSpPr>
            <p:nvPr/>
          </p:nvCxnSpPr>
          <p:spPr>
            <a:xfrm>
              <a:off x="6457925" y="1958545"/>
              <a:ext cx="167988" cy="44798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8" name="直接箭头连接符 67">
              <a:extLst>
                <a:ext uri="{FF2B5EF4-FFF2-40B4-BE49-F238E27FC236}">
                  <a16:creationId xmlns:a16="http://schemas.microsoft.com/office/drawing/2014/main" id="{58F3524E-4881-5E0C-A6AB-8D20E68A406A}"/>
                </a:ext>
              </a:extLst>
            </p:cNvPr>
            <p:cNvCxnSpPr>
              <a:cxnSpLocks/>
            </p:cNvCxnSpPr>
            <p:nvPr/>
          </p:nvCxnSpPr>
          <p:spPr>
            <a:xfrm>
              <a:off x="5654302" y="1958545"/>
              <a:ext cx="101898" cy="45055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9" name="直接箭头连接符 68">
              <a:extLst>
                <a:ext uri="{FF2B5EF4-FFF2-40B4-BE49-F238E27FC236}">
                  <a16:creationId xmlns:a16="http://schemas.microsoft.com/office/drawing/2014/main" id="{2DD306EC-7C01-B562-B7DA-947854A3F5CC}"/>
                </a:ext>
              </a:extLst>
            </p:cNvPr>
            <p:cNvCxnSpPr>
              <a:cxnSpLocks/>
              <a:stCxn id="62" idx="2"/>
              <a:endCxn id="37" idx="0"/>
            </p:cNvCxnSpPr>
            <p:nvPr/>
          </p:nvCxnSpPr>
          <p:spPr>
            <a:xfrm>
              <a:off x="5083548" y="1958545"/>
              <a:ext cx="68027" cy="44917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0" name="TextBox 179">
              <a:extLst>
                <a:ext uri="{FF2B5EF4-FFF2-40B4-BE49-F238E27FC236}">
                  <a16:creationId xmlns:a16="http://schemas.microsoft.com/office/drawing/2014/main" id="{8A363DA4-9A8B-8B21-72B7-71E8A8B758DE}"/>
                </a:ext>
              </a:extLst>
            </p:cNvPr>
            <p:cNvSpPr txBox="1"/>
            <p:nvPr/>
          </p:nvSpPr>
          <p:spPr>
            <a:xfrm>
              <a:off x="1249993" y="1881728"/>
              <a:ext cx="1049536" cy="307777"/>
            </a:xfrm>
            <a:prstGeom prst="rect">
              <a:avLst/>
            </a:prstGeom>
            <a:solidFill>
              <a:srgbClr val="33CC33"/>
            </a:solidFill>
            <a:ln>
              <a:noFill/>
            </a:ln>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71" name="TextBox 180">
              <a:extLst>
                <a:ext uri="{FF2B5EF4-FFF2-40B4-BE49-F238E27FC236}">
                  <a16:creationId xmlns:a16="http://schemas.microsoft.com/office/drawing/2014/main" id="{6470AB66-0C25-2DF4-E41F-A393B6FA34B5}"/>
                </a:ext>
              </a:extLst>
            </p:cNvPr>
            <p:cNvSpPr txBox="1"/>
            <p:nvPr/>
          </p:nvSpPr>
          <p:spPr>
            <a:xfrm>
              <a:off x="1249993" y="2254786"/>
              <a:ext cx="1049536" cy="307777"/>
            </a:xfrm>
            <a:prstGeom prst="rect">
              <a:avLst/>
            </a:prstGeom>
            <a:solidFill>
              <a:schemeClr val="accent6">
                <a:lumMod val="75000"/>
              </a:schemeClr>
            </a:solidFill>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数据层面</a:t>
              </a:r>
            </a:p>
          </p:txBody>
        </p:sp>
        <p:grpSp>
          <p:nvGrpSpPr>
            <p:cNvPr id="72" name="组合 71">
              <a:extLst>
                <a:ext uri="{FF2B5EF4-FFF2-40B4-BE49-F238E27FC236}">
                  <a16:creationId xmlns:a16="http://schemas.microsoft.com/office/drawing/2014/main" id="{AD9C0C51-C4E2-072C-227A-6BE17F9686F1}"/>
                </a:ext>
              </a:extLst>
            </p:cNvPr>
            <p:cNvGrpSpPr/>
            <p:nvPr/>
          </p:nvGrpSpPr>
          <p:grpSpPr>
            <a:xfrm>
              <a:off x="1062847" y="1569143"/>
              <a:ext cx="206062" cy="1296144"/>
              <a:chOff x="199861" y="1988840"/>
              <a:chExt cx="288414" cy="1440160"/>
            </a:xfrm>
          </p:grpSpPr>
          <p:sp>
            <p:nvSpPr>
              <p:cNvPr id="77" name="上箭头 165">
                <a:extLst>
                  <a:ext uri="{FF2B5EF4-FFF2-40B4-BE49-F238E27FC236}">
                    <a16:creationId xmlns:a16="http://schemas.microsoft.com/office/drawing/2014/main" id="{F9B56A7A-B121-742E-4DB2-51776A8D298E}"/>
                  </a:ext>
                </a:extLst>
              </p:cNvPr>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sp>
            <p:nvSpPr>
              <p:cNvPr id="78" name="上箭头 166">
                <a:extLst>
                  <a:ext uri="{FF2B5EF4-FFF2-40B4-BE49-F238E27FC236}">
                    <a16:creationId xmlns:a16="http://schemas.microsoft.com/office/drawing/2014/main" id="{5979310C-4521-CC86-226C-30AFE8F78194}"/>
                  </a:ext>
                </a:extLst>
              </p:cNvPr>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grpSp>
        <p:cxnSp>
          <p:nvCxnSpPr>
            <p:cNvPr id="73" name="直接箭头连接符 72">
              <a:extLst>
                <a:ext uri="{FF2B5EF4-FFF2-40B4-BE49-F238E27FC236}">
                  <a16:creationId xmlns:a16="http://schemas.microsoft.com/office/drawing/2014/main" id="{B5C16F11-50E2-ECD8-24BA-F400F14AFEA6}"/>
                </a:ext>
              </a:extLst>
            </p:cNvPr>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74" name="Picture 239" descr="jisuanji">
              <a:extLst>
                <a:ext uri="{FF2B5EF4-FFF2-40B4-BE49-F238E27FC236}">
                  <a16:creationId xmlns:a16="http://schemas.microsoft.com/office/drawing/2014/main" id="{76C57FCA-B0A4-646D-677A-700D76EA057B}"/>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39" descr="jisuanji">
              <a:extLst>
                <a:ext uri="{FF2B5EF4-FFF2-40B4-BE49-F238E27FC236}">
                  <a16:creationId xmlns:a16="http://schemas.microsoft.com/office/drawing/2014/main" id="{ACA77A86-12CC-DC5B-D2C6-4FBB3918B205}"/>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76" name="椭圆 75">
              <a:extLst>
                <a:ext uri="{FF2B5EF4-FFF2-40B4-BE49-F238E27FC236}">
                  <a16:creationId xmlns:a16="http://schemas.microsoft.com/office/drawing/2014/main" id="{1D2E0BE7-30D0-D7A7-F1EF-104E5C829EAD}"/>
                </a:ext>
              </a:extLst>
            </p:cNvPr>
            <p:cNvSpPr/>
            <p:nvPr/>
          </p:nvSpPr>
          <p:spPr>
            <a:xfrm>
              <a:off x="3575364" y="1351374"/>
              <a:ext cx="3150428" cy="331342"/>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2775212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
          <p:cNvSpPr>
            <a:spLocks noChangeArrowheads="1"/>
          </p:cNvSpPr>
          <p:nvPr/>
        </p:nvSpPr>
        <p:spPr bwMode="auto">
          <a:xfrm>
            <a:off x="2629135" y="280267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 name="Rectangle 11"/>
          <p:cNvSpPr>
            <a:spLocks noChangeArrowheads="1"/>
          </p:cNvSpPr>
          <p:nvPr/>
        </p:nvSpPr>
        <p:spPr bwMode="auto">
          <a:xfrm>
            <a:off x="2629135" y="342020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1" name="Rectangle 9"/>
          <p:cNvSpPr>
            <a:spLocks noChangeArrowheads="1"/>
          </p:cNvSpPr>
          <p:nvPr/>
        </p:nvSpPr>
        <p:spPr bwMode="auto">
          <a:xfrm>
            <a:off x="2629135" y="98514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591573"/>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20911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728985"/>
            <a:ext cx="0" cy="3676759"/>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950604"/>
            <a:ext cx="5574294" cy="31700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4.2.1                                          </a:t>
            </a:r>
            <a:r>
              <a:rPr lang="zh-CN" altLang="en-US" sz="2000" b="1" dirty="0">
                <a:solidFill>
                  <a:schemeClr val="bg1"/>
                </a:solidFill>
                <a:latin typeface="微软雅黑" pitchFamily="34" charset="-122"/>
                <a:ea typeface="微软雅黑" pitchFamily="34" charset="-122"/>
              </a:rPr>
              <a:t>虚拟互连网络</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4.2.2                                        </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4.2.3                               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4.2.4                                  </a:t>
            </a: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a:t>
            </a:r>
          </a:p>
          <a:p>
            <a:endParaRPr lang="en-US" altLang="zh-CN"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4.2.5                                      IP </a:t>
            </a:r>
            <a:r>
              <a:rPr lang="zh-CN" altLang="en-US" sz="2000" b="1" dirty="0">
                <a:solidFill>
                  <a:schemeClr val="bg1"/>
                </a:solidFill>
                <a:latin typeface="微软雅黑" pitchFamily="34" charset="-122"/>
                <a:ea typeface="微软雅黑" pitchFamily="34" charset="-122"/>
              </a:rPr>
              <a:t>数据报的格式</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p:txBody>
      </p:sp>
      <p:sp>
        <p:nvSpPr>
          <p:cNvPr id="16" name="Rectangle 27"/>
          <p:cNvSpPr>
            <a:spLocks noChangeArrowheads="1"/>
          </p:cNvSpPr>
          <p:nvPr/>
        </p:nvSpPr>
        <p:spPr bwMode="auto">
          <a:xfrm>
            <a:off x="639730" y="985148"/>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080080"/>
            <a:ext cx="1627651"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4.2</a:t>
            </a:r>
          </a:p>
          <a:p>
            <a:r>
              <a:rPr lang="zh-CN" altLang="en-US" sz="2000" b="1" dirty="0">
                <a:solidFill>
                  <a:schemeClr val="bg1"/>
                </a:solidFill>
                <a:latin typeface="微软雅黑" pitchFamily="34" charset="-122"/>
                <a:ea typeface="微软雅黑" pitchFamily="34" charset="-122"/>
              </a:rPr>
              <a:t>网际协议 </a:t>
            </a:r>
            <a:r>
              <a:rPr lang="en-US" altLang="zh-CN" sz="2000" b="1" dirty="0">
                <a:solidFill>
                  <a:schemeClr val="bg1"/>
                </a:solidFill>
                <a:latin typeface="微软雅黑" pitchFamily="34" charset="-122"/>
                <a:ea typeface="微软雅黑" pitchFamily="34" charset="-122"/>
              </a:rPr>
              <a:t>IP</a:t>
            </a:r>
            <a:endParaRPr lang="zh-CN" altLang="en-US"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0006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内容占位符 35">
            <a:extLst>
              <a:ext uri="{FF2B5EF4-FFF2-40B4-BE49-F238E27FC236}">
                <a16:creationId xmlns:a16="http://schemas.microsoft.com/office/drawing/2014/main" id="{348A1CF9-8876-B07C-ACD9-0B109C7A24CC}"/>
              </a:ext>
            </a:extLst>
          </p:cNvPr>
          <p:cNvSpPr>
            <a:spLocks noGrp="1"/>
          </p:cNvSpPr>
          <p:nvPr>
            <p:ph sz="quarter" idx="11"/>
          </p:nvPr>
        </p:nvSpPr>
        <p:spPr>
          <a:xfrm>
            <a:off x="486000" y="900000"/>
            <a:ext cx="8172000" cy="3703500"/>
          </a:xfrm>
        </p:spPr>
        <p:txBody>
          <a:bodyPr/>
          <a:lstStyle/>
          <a:p>
            <a:r>
              <a:rPr lang="zh-CN" altLang="en-US" dirty="0"/>
              <a:t>地址解析协议 </a:t>
            </a:r>
            <a:r>
              <a:rPr lang="fr-FR" altLang="zh-CN" dirty="0"/>
              <a:t>ARP</a:t>
            </a:r>
          </a:p>
          <a:p>
            <a:pPr lvl="1"/>
            <a:r>
              <a:rPr lang="fr-FR" altLang="zh-CN" dirty="0"/>
              <a:t>Address Resolution Protocol</a:t>
            </a:r>
          </a:p>
          <a:p>
            <a:r>
              <a:rPr lang="zh-CN" altLang="en-US" dirty="0"/>
              <a:t>网际控制报文协议 </a:t>
            </a:r>
            <a:r>
              <a:rPr lang="fr-FR" altLang="zh-CN" dirty="0"/>
              <a:t>ICMP</a:t>
            </a:r>
          </a:p>
          <a:p>
            <a:pPr lvl="1"/>
            <a:r>
              <a:rPr lang="fr-FR" altLang="zh-CN" dirty="0"/>
              <a:t>Internet Control Message Protocol</a:t>
            </a:r>
          </a:p>
          <a:p>
            <a:r>
              <a:rPr lang="zh-CN" altLang="en-US" dirty="0"/>
              <a:t>网际组管理协议 </a:t>
            </a:r>
            <a:r>
              <a:rPr lang="fr-FR" altLang="zh-CN" dirty="0"/>
              <a:t>IGMP</a:t>
            </a:r>
          </a:p>
          <a:p>
            <a:pPr lvl="1"/>
            <a:r>
              <a:rPr lang="fr-FR" altLang="zh-CN" dirty="0"/>
              <a:t>Internet Group Management Protocol</a:t>
            </a:r>
            <a:endParaRPr lang="zh-CN" altLang="en-US" dirty="0"/>
          </a:p>
        </p:txBody>
      </p:sp>
      <p:grpSp>
        <p:nvGrpSpPr>
          <p:cNvPr id="3" name="组合 2"/>
          <p:cNvGrpSpPr/>
          <p:nvPr/>
        </p:nvGrpSpPr>
        <p:grpSpPr>
          <a:xfrm>
            <a:off x="4572000" y="1492146"/>
            <a:ext cx="3416249" cy="2751241"/>
            <a:chOff x="2372076" y="1403136"/>
            <a:chExt cx="4224107" cy="2751241"/>
          </a:xfrm>
        </p:grpSpPr>
        <p:sp>
          <p:nvSpPr>
            <p:cNvPr id="15" name="Text Box 9"/>
            <p:cNvSpPr txBox="1">
              <a:spLocks noChangeArrowheads="1"/>
            </p:cNvSpPr>
            <p:nvPr/>
          </p:nvSpPr>
          <p:spPr bwMode="auto">
            <a:xfrm>
              <a:off x="2372076" y="3355900"/>
              <a:ext cx="1294691" cy="2328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a:latin typeface="Montserrat" panose="00000500000000000000" pitchFamily="2" charset="0"/>
                  <a:ea typeface="微软雅黑 Light" panose="020B0502040204020203" pitchFamily="34" charset="-122"/>
                </a:rPr>
                <a:t>  </a:t>
              </a:r>
              <a:r>
                <a:rPr kumimoji="1" lang="zh-CN" altLang="en-US" sz="1200">
                  <a:latin typeface="Montserrat" panose="00000500000000000000" pitchFamily="2" charset="0"/>
                  <a:ea typeface="微软雅黑 Light" panose="020B0502040204020203" pitchFamily="34" charset="-122"/>
                </a:rPr>
                <a:t>网络接口层</a:t>
              </a:r>
            </a:p>
          </p:txBody>
        </p:sp>
        <p:sp>
          <p:nvSpPr>
            <p:cNvPr id="19" name="Text Box 13"/>
            <p:cNvSpPr txBox="1">
              <a:spLocks noChangeArrowheads="1"/>
            </p:cNvSpPr>
            <p:nvPr/>
          </p:nvSpPr>
          <p:spPr bwMode="auto">
            <a:xfrm>
              <a:off x="2714268" y="1977466"/>
              <a:ext cx="7991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Montserrat" panose="00000500000000000000" pitchFamily="2" charset="0"/>
                  <a:ea typeface="微软雅黑 Light" panose="020B0502040204020203" pitchFamily="34" charset="-122"/>
                </a:rPr>
                <a:t>运输层</a:t>
              </a:r>
            </a:p>
          </p:txBody>
        </p:sp>
        <p:sp>
          <p:nvSpPr>
            <p:cNvPr id="21" name="Text Box 15"/>
            <p:cNvSpPr txBox="1">
              <a:spLocks noChangeArrowheads="1"/>
            </p:cNvSpPr>
            <p:nvPr/>
          </p:nvSpPr>
          <p:spPr bwMode="auto">
            <a:xfrm>
              <a:off x="2747925" y="1520750"/>
              <a:ext cx="7991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应用层</a:t>
              </a:r>
            </a:p>
          </p:txBody>
        </p:sp>
        <p:sp>
          <p:nvSpPr>
            <p:cNvPr id="27"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8"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9"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0" name="Line 25"/>
            <p:cNvSpPr>
              <a:spLocks noChangeShapeType="1"/>
            </p:cNvSpPr>
            <p:nvPr/>
          </p:nvSpPr>
          <p:spPr bwMode="auto">
            <a:xfrm>
              <a:off x="3513355"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1" name="Text Box 26"/>
            <p:cNvSpPr txBox="1">
              <a:spLocks noChangeArrowheads="1"/>
            </p:cNvSpPr>
            <p:nvPr/>
          </p:nvSpPr>
          <p:spPr bwMode="auto">
            <a:xfrm>
              <a:off x="2514069" y="2497357"/>
              <a:ext cx="1165222" cy="461665"/>
            </a:xfrm>
            <a:prstGeom prst="rect">
              <a:avLst/>
            </a:prstGeom>
            <a:noFill/>
            <a:ln>
              <a:noFill/>
            </a:ln>
            <a:effectLst/>
          </p:spPr>
          <p:txBody>
            <a:bodyPr wrap="square">
              <a:spAutoFit/>
            </a:bodyPr>
            <a:lstStyle/>
            <a:p>
              <a:pPr algn="ctr"/>
              <a:r>
                <a:rPr kumimoji="1" lang="zh-CN" altLang="en-US" sz="1200" dirty="0">
                  <a:solidFill>
                    <a:srgbClr val="C00000"/>
                  </a:solidFill>
                  <a:latin typeface="Montserrat" panose="00000500000000000000" pitchFamily="2" charset="0"/>
                  <a:ea typeface="微软雅黑 Light" panose="020B0502040204020203" pitchFamily="34" charset="-122"/>
                </a:rPr>
                <a:t>网络层</a:t>
              </a:r>
              <a:endParaRPr kumimoji="1" lang="en-US" altLang="zh-CN" sz="1200" dirty="0">
                <a:solidFill>
                  <a:srgbClr val="C00000"/>
                </a:solidFill>
                <a:latin typeface="Montserrat" panose="00000500000000000000" pitchFamily="2" charset="0"/>
                <a:ea typeface="微软雅黑 Light" panose="020B0502040204020203" pitchFamily="34" charset="-122"/>
              </a:endParaRPr>
            </a:p>
            <a:p>
              <a:pPr algn="ctr"/>
              <a:r>
                <a:rPr kumimoji="1" lang="zh-CN" altLang="en-US" sz="1200" dirty="0">
                  <a:solidFill>
                    <a:srgbClr val="C00000"/>
                  </a:solidFill>
                  <a:latin typeface="Montserrat" panose="00000500000000000000" pitchFamily="2" charset="0"/>
                  <a:ea typeface="微软雅黑 Light" panose="020B0502040204020203" pitchFamily="34" charset="-122"/>
                </a:rPr>
                <a:t>（网际层）</a:t>
              </a:r>
            </a:p>
          </p:txBody>
        </p:sp>
        <p:grpSp>
          <p:nvGrpSpPr>
            <p:cNvPr id="2" name="组合 1"/>
            <p:cNvGrpSpPr/>
            <p:nvPr/>
          </p:nvGrpSpPr>
          <p:grpSpPr>
            <a:xfrm>
              <a:off x="3718405" y="1403136"/>
              <a:ext cx="2877778" cy="2751241"/>
              <a:chOff x="3718405" y="1403136"/>
              <a:chExt cx="2877778" cy="2751241"/>
            </a:xfrm>
          </p:grpSpPr>
          <p:sp>
            <p:nvSpPr>
              <p:cNvPr id="8" name="Rectangle 5"/>
              <p:cNvSpPr>
                <a:spLocks noChangeArrowheads="1"/>
              </p:cNvSpPr>
              <p:nvPr/>
            </p:nvSpPr>
            <p:spPr bwMode="auto">
              <a:xfrm>
                <a:off x="3721771" y="1403723"/>
                <a:ext cx="2874412" cy="2223514"/>
              </a:xfrm>
              <a:prstGeom prst="rect">
                <a:avLst/>
              </a:prstGeom>
              <a:no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a:solidFill>
                    <a:srgbClr val="000099"/>
                  </a:solidFill>
                  <a:latin typeface="Montserrat" panose="00000500000000000000" pitchFamily="2" charset="0"/>
                  <a:ea typeface="微软雅黑 Light" panose="020B0502040204020203" pitchFamily="34" charset="-122"/>
                </a:endParaRPr>
              </a:p>
            </p:txBody>
          </p:sp>
          <p:sp>
            <p:nvSpPr>
              <p:cNvPr id="9" name="矩形 8"/>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0"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11"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Text Box 8"/>
              <p:cNvSpPr txBox="1">
                <a:spLocks noChangeArrowheads="1"/>
              </p:cNvSpPr>
              <p:nvPr/>
            </p:nvSpPr>
            <p:spPr bwMode="auto">
              <a:xfrm>
                <a:off x="4410642" y="1403136"/>
                <a:ext cx="15602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各种应用层协议</a:t>
                </a:r>
              </a:p>
            </p:txBody>
          </p:sp>
          <p:sp>
            <p:nvSpPr>
              <p:cNvPr id="16" name="Text Box 10"/>
              <p:cNvSpPr txBox="1">
                <a:spLocks noChangeArrowheads="1"/>
              </p:cNvSpPr>
              <p:nvPr/>
            </p:nvSpPr>
            <p:spPr bwMode="auto">
              <a:xfrm>
                <a:off x="4044889" y="1645744"/>
                <a:ext cx="219455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(HTTP, FTP, SMTP </a:t>
                </a:r>
                <a:r>
                  <a:rPr kumimoji="1" lang="zh-CN" altLang="zh-CN" sz="1200" dirty="0">
                    <a:latin typeface="Montserrat" panose="00000500000000000000" pitchFamily="2" charset="0"/>
                    <a:ea typeface="微软雅黑 Light" panose="020B0502040204020203" pitchFamily="34" charset="-122"/>
                  </a:rPr>
                  <a:t>等</a:t>
                </a:r>
                <a:r>
                  <a:rPr kumimoji="1" lang="en-US" altLang="zh-CN" sz="1200" dirty="0">
                    <a:latin typeface="Montserrat" panose="00000500000000000000" pitchFamily="2" charset="0"/>
                    <a:ea typeface="微软雅黑 Light" panose="020B0502040204020203" pitchFamily="34" charset="-122"/>
                  </a:rPr>
                  <a:t>)</a:t>
                </a:r>
              </a:p>
            </p:txBody>
          </p:sp>
          <p:sp>
            <p:nvSpPr>
              <p:cNvPr id="17"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8" name="Text Box 12"/>
              <p:cNvSpPr txBox="1">
                <a:spLocks noChangeArrowheads="1"/>
              </p:cNvSpPr>
              <p:nvPr/>
            </p:nvSpPr>
            <p:spPr bwMode="auto">
              <a:xfrm>
                <a:off x="4661957" y="3760589"/>
                <a:ext cx="98945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物理硬件</a:t>
                </a:r>
              </a:p>
            </p:txBody>
          </p:sp>
          <p:sp>
            <p:nvSpPr>
              <p:cNvPr id="20" name="Text Box 14"/>
              <p:cNvSpPr txBox="1">
                <a:spLocks noChangeArrowheads="1"/>
              </p:cNvSpPr>
              <p:nvPr/>
            </p:nvSpPr>
            <p:spPr bwMode="auto">
              <a:xfrm>
                <a:off x="4739371" y="1984375"/>
                <a:ext cx="114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TCP, UDP</a:t>
                </a:r>
              </a:p>
            </p:txBody>
          </p:sp>
          <p:sp>
            <p:nvSpPr>
              <p:cNvPr id="22" name="Rectangle 16"/>
              <p:cNvSpPr>
                <a:spLocks noChangeArrowheads="1"/>
              </p:cNvSpPr>
              <p:nvPr/>
            </p:nvSpPr>
            <p:spPr bwMode="auto">
              <a:xfrm>
                <a:off x="3781234" y="2343046"/>
                <a:ext cx="685505"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dirty="0">
                    <a:latin typeface="Montserrat" panose="00000500000000000000" pitchFamily="2" charset="0"/>
                    <a:ea typeface="微软雅黑 Light" panose="020B0502040204020203" pitchFamily="34" charset="-122"/>
                  </a:rPr>
                  <a:t>ICMP</a:t>
                </a:r>
              </a:p>
            </p:txBody>
          </p:sp>
          <p:sp>
            <p:nvSpPr>
              <p:cNvPr id="23" name="Text Box 17"/>
              <p:cNvSpPr txBox="1">
                <a:spLocks noChangeArrowheads="1"/>
              </p:cNvSpPr>
              <p:nvPr/>
            </p:nvSpPr>
            <p:spPr bwMode="auto">
              <a:xfrm>
                <a:off x="4975193" y="2674159"/>
                <a:ext cx="4225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000099"/>
                    </a:solidFill>
                    <a:latin typeface="Montserrat" panose="00000500000000000000" pitchFamily="2" charset="0"/>
                    <a:ea typeface="微软雅黑 Light" panose="020B0502040204020203" pitchFamily="34" charset="-122"/>
                  </a:rPr>
                  <a:t>IP</a:t>
                </a:r>
              </a:p>
            </p:txBody>
          </p:sp>
          <p:sp>
            <p:nvSpPr>
              <p:cNvPr id="24" name="Rectangle 19"/>
              <p:cNvSpPr>
                <a:spLocks noChangeArrowheads="1"/>
              </p:cNvSpPr>
              <p:nvPr/>
            </p:nvSpPr>
            <p:spPr bwMode="auto">
              <a:xfrm>
                <a:off x="5910678" y="2970643"/>
                <a:ext cx="624920"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dirty="0">
                    <a:latin typeface="Montserrat" panose="00000500000000000000" pitchFamily="2" charset="0"/>
                    <a:ea typeface="微软雅黑 Light" panose="020B0502040204020203" pitchFamily="34" charset="-122"/>
                  </a:rPr>
                  <a:t>ARP</a:t>
                </a:r>
              </a:p>
            </p:txBody>
          </p:sp>
          <p:sp>
            <p:nvSpPr>
              <p:cNvPr id="25" name="Text Box 20"/>
              <p:cNvSpPr txBox="1">
                <a:spLocks noChangeArrowheads="1"/>
              </p:cNvSpPr>
              <p:nvPr/>
            </p:nvSpPr>
            <p:spPr bwMode="auto">
              <a:xfrm>
                <a:off x="4375862" y="3290337"/>
                <a:ext cx="15602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与各种网络接口</a:t>
                </a:r>
              </a:p>
            </p:txBody>
          </p:sp>
          <p:sp>
            <p:nvSpPr>
              <p:cNvPr id="26"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2" name="Rectangle 27"/>
              <p:cNvSpPr>
                <a:spLocks noChangeArrowheads="1"/>
              </p:cNvSpPr>
              <p:nvPr/>
            </p:nvSpPr>
            <p:spPr bwMode="auto">
              <a:xfrm>
                <a:off x="4500398" y="2343046"/>
                <a:ext cx="684384"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a:latin typeface="Montserrat" panose="00000500000000000000" pitchFamily="2" charset="0"/>
                    <a:ea typeface="微软雅黑 Light" panose="020B0502040204020203" pitchFamily="34" charset="-122"/>
                  </a:rPr>
                  <a:t>IGMP</a:t>
                </a:r>
              </a:p>
            </p:txBody>
          </p:sp>
        </p:grpSp>
        <p:sp>
          <p:nvSpPr>
            <p:cNvPr id="33"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4"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grpSp>
      <p:sp>
        <p:nvSpPr>
          <p:cNvPr id="4" name="标题 3">
            <a:extLst>
              <a:ext uri="{FF2B5EF4-FFF2-40B4-BE49-F238E27FC236}">
                <a16:creationId xmlns:a16="http://schemas.microsoft.com/office/drawing/2014/main" id="{DD2882D4-A45B-696F-F6FD-CABEE939D1CE}"/>
              </a:ext>
            </a:extLst>
          </p:cNvPr>
          <p:cNvSpPr>
            <a:spLocks noGrp="1"/>
          </p:cNvSpPr>
          <p:nvPr>
            <p:ph type="title"/>
          </p:nvPr>
        </p:nvSpPr>
        <p:spPr>
          <a:xfrm>
            <a:off x="486000" y="550723"/>
            <a:ext cx="8172000" cy="338554"/>
          </a:xfrm>
        </p:spPr>
        <p:txBody>
          <a:bodyPr/>
          <a:lstStyle/>
          <a:p>
            <a:r>
              <a:rPr lang="en-US" altLang="zh-CN" dirty="0"/>
              <a:t>4.2  </a:t>
            </a:r>
            <a:r>
              <a:rPr lang="zh-CN" altLang="en-US" dirty="0"/>
              <a:t>网际协议 </a:t>
            </a:r>
            <a:r>
              <a:rPr lang="en-US" altLang="zh-CN" dirty="0"/>
              <a:t>IP </a:t>
            </a:r>
            <a:endParaRPr lang="zh-CN" altLang="en-US" dirty="0"/>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矩形 11"/>
          <p:cNvSpPr/>
          <p:nvPr/>
        </p:nvSpPr>
        <p:spPr>
          <a:xfrm>
            <a:off x="2232827" y="4415231"/>
            <a:ext cx="4678347" cy="307777"/>
          </a:xfrm>
          <a:prstGeom prst="rect">
            <a:avLst/>
          </a:prstGeom>
          <a:noFill/>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如何</a:t>
            </a:r>
            <a:r>
              <a:rPr lang="zh-CN" altLang="zh-CN" sz="1400" dirty="0">
                <a:latin typeface="微软雅黑 Light" panose="020B0502040204020203" pitchFamily="34" charset="-122"/>
                <a:ea typeface="微软雅黑 Light" panose="020B0502040204020203" pitchFamily="34" charset="-122"/>
              </a:rPr>
              <a:t>将</a:t>
            </a:r>
            <a:r>
              <a:rPr lang="zh-CN" altLang="en-US" sz="1400" dirty="0">
                <a:latin typeface="微软雅黑 Light" panose="020B0502040204020203" pitchFamily="34" charset="-122"/>
                <a:ea typeface="微软雅黑 Light" panose="020B0502040204020203" pitchFamily="34" charset="-122"/>
              </a:rPr>
              <a:t>异构的</a:t>
            </a:r>
            <a:r>
              <a:rPr lang="zh-CN" altLang="zh-CN" sz="1400" dirty="0">
                <a:latin typeface="微软雅黑 Light" panose="020B0502040204020203" pitchFamily="34" charset="-122"/>
                <a:ea typeface="微软雅黑 Light" panose="020B0502040204020203" pitchFamily="34" charset="-122"/>
              </a:rPr>
              <a:t>网络互相连接起来</a:t>
            </a:r>
            <a:r>
              <a:rPr lang="zh-CN" altLang="en-US" sz="1400" dirty="0">
                <a:latin typeface="微软雅黑 Light" panose="020B0502040204020203" pitchFamily="34" charset="-122"/>
                <a:ea typeface="微软雅黑 Light" panose="020B0502040204020203" pitchFamily="34" charset="-122"/>
              </a:rPr>
              <a:t>？</a:t>
            </a:r>
          </a:p>
        </p:txBody>
      </p:sp>
      <p:graphicFrame>
        <p:nvGraphicFramePr>
          <p:cNvPr id="4" name="图示 3"/>
          <p:cNvGraphicFramePr/>
          <p:nvPr>
            <p:extLst>
              <p:ext uri="{D42A27DB-BD31-4B8C-83A1-F6EECF244321}">
                <p14:modId xmlns:p14="http://schemas.microsoft.com/office/powerpoint/2010/main" val="1561905521"/>
              </p:ext>
            </p:extLst>
          </p:nvPr>
        </p:nvGraphicFramePr>
        <p:xfrm>
          <a:off x="1522320" y="1438286"/>
          <a:ext cx="6155189" cy="26937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BFAA9B8D-0FF8-7BEB-47E7-2A32FC1EA110}"/>
              </a:ext>
            </a:extLst>
          </p:cNvPr>
          <p:cNvSpPr>
            <a:spLocks noGrp="1"/>
          </p:cNvSpPr>
          <p:nvPr>
            <p:ph type="title"/>
          </p:nvPr>
        </p:nvSpPr>
        <p:spPr>
          <a:xfrm>
            <a:off x="486000" y="550723"/>
            <a:ext cx="8172000" cy="338554"/>
          </a:xfrm>
        </p:spPr>
        <p:txBody>
          <a:bodyPr/>
          <a:lstStyle/>
          <a:p>
            <a:r>
              <a:rPr lang="en-US" altLang="zh-CN" dirty="0"/>
              <a:t>4.2.1  </a:t>
            </a:r>
            <a:r>
              <a:rPr lang="zh-CN" altLang="en-US" dirty="0"/>
              <a:t>虚拟互连网络</a:t>
            </a:r>
          </a:p>
        </p:txBody>
      </p:sp>
      <p:sp>
        <p:nvSpPr>
          <p:cNvPr id="6" name="内容占位符 5">
            <a:extLst>
              <a:ext uri="{FF2B5EF4-FFF2-40B4-BE49-F238E27FC236}">
                <a16:creationId xmlns:a16="http://schemas.microsoft.com/office/drawing/2014/main" id="{3C5BBC27-B76C-DAEE-933D-E0444E6E0893}"/>
              </a:ext>
            </a:extLst>
          </p:cNvPr>
          <p:cNvSpPr>
            <a:spLocks noGrp="1"/>
          </p:cNvSpPr>
          <p:nvPr>
            <p:ph sz="quarter" idx="11"/>
          </p:nvPr>
        </p:nvSpPr>
        <p:spPr>
          <a:xfrm>
            <a:off x="486000" y="900000"/>
            <a:ext cx="8172000" cy="3703500"/>
          </a:xfrm>
        </p:spPr>
        <p:txBody>
          <a:bodyPr/>
          <a:lstStyle/>
          <a:p>
            <a:r>
              <a:rPr lang="zh-CN" altLang="en-US" dirty="0"/>
              <a:t>实现网络互连、互通时需要解决许多问题，如以下“不同”：</a:t>
            </a:r>
          </a:p>
          <a:p>
            <a:endParaRPr lang="zh-CN" altLang="en-US" dirty="0"/>
          </a:p>
        </p:txBody>
      </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9"/>
          <p:cNvSpPr/>
          <p:nvPr/>
        </p:nvSpPr>
        <p:spPr>
          <a:xfrm>
            <a:off x="2507411" y="1667175"/>
            <a:ext cx="5247735" cy="955255"/>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defTabSz="800100">
              <a:spcBef>
                <a:spcPct val="0"/>
              </a:spcBef>
              <a:spcAft>
                <a:spcPts val="600"/>
              </a:spcAft>
              <a:buChar char="••"/>
            </a:pPr>
            <a:r>
              <a:rPr lang="zh-CN" altLang="en-US" sz="1400" dirty="0">
                <a:solidFill>
                  <a:schemeClr val="tx1"/>
                </a:solidFill>
                <a:latin typeface="微软雅黑 Light" panose="020B0502040204020203" pitchFamily="34" charset="-122"/>
                <a:ea typeface="微软雅黑 Light" panose="020B0502040204020203" pitchFamily="34" charset="-122"/>
              </a:rPr>
              <a:t>不能满足不同用户需要。</a:t>
            </a:r>
            <a:r>
              <a:rPr lang="zh-CN" altLang="en-US" sz="1400" dirty="0">
                <a:solidFill>
                  <a:srgbClr val="0000FF"/>
                </a:solidFill>
                <a:latin typeface="微软雅黑 Light" panose="020B0502040204020203" pitchFamily="34" charset="-122"/>
                <a:ea typeface="微软雅黑 Light" panose="020B0502040204020203" pitchFamily="34" charset="-122"/>
              </a:rPr>
              <a:t>没有一种单一的网络能够适应所有用户的需求。</a:t>
            </a:r>
            <a:endParaRPr lang="en-US" altLang="zh-CN" sz="1400" dirty="0">
              <a:solidFill>
                <a:srgbClr val="0000FF"/>
              </a:solidFill>
              <a:latin typeface="微软雅黑 Light" panose="020B0502040204020203" pitchFamily="34" charset="-122"/>
              <a:ea typeface="微软雅黑 Light" panose="020B0502040204020203" pitchFamily="34" charset="-122"/>
            </a:endParaRPr>
          </a:p>
          <a:p>
            <a:pPr marL="171450" lvl="1" indent="-171450" defTabSz="800100">
              <a:spcBef>
                <a:spcPct val="0"/>
              </a:spcBef>
              <a:spcAft>
                <a:spcPts val="600"/>
              </a:spcAft>
              <a:buFontTx/>
              <a:buChar char="••"/>
            </a:pPr>
            <a:r>
              <a:rPr lang="zh-CN" altLang="en-US" sz="1400" dirty="0">
                <a:solidFill>
                  <a:schemeClr val="tx1"/>
                </a:solidFill>
                <a:latin typeface="微软雅黑 Light" panose="020B0502040204020203" pitchFamily="34" charset="-122"/>
                <a:ea typeface="微软雅黑 Light" panose="020B0502040204020203" pitchFamily="34" charset="-122"/>
              </a:rPr>
              <a:t>不适应技术发展</a:t>
            </a:r>
            <a:endParaRPr lang="en-US" altLang="zh-CN" sz="1400" dirty="0">
              <a:solidFill>
                <a:schemeClr val="tx1"/>
              </a:solidFill>
              <a:latin typeface="微软雅黑 Light" panose="020B0502040204020203" pitchFamily="34" charset="-122"/>
              <a:ea typeface="微软雅黑 Light" panose="020B0502040204020203" pitchFamily="34" charset="-122"/>
            </a:endParaRPr>
          </a:p>
        </p:txBody>
      </p:sp>
      <p:grpSp>
        <p:nvGrpSpPr>
          <p:cNvPr id="21" name="组合 20"/>
          <p:cNvGrpSpPr/>
          <p:nvPr/>
        </p:nvGrpSpPr>
        <p:grpSpPr>
          <a:xfrm>
            <a:off x="2507411" y="1200861"/>
            <a:ext cx="5247735" cy="1973655"/>
            <a:chOff x="1524000" y="1321631"/>
            <a:chExt cx="6096000" cy="1973655"/>
          </a:xfrm>
        </p:grpSpPr>
        <p:sp>
          <p:nvSpPr>
            <p:cNvPr id="9" name="任意多边形 8"/>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400" kern="1200" dirty="0">
                  <a:solidFill>
                    <a:schemeClr val="tx1"/>
                  </a:solidFill>
                  <a:latin typeface="微软雅黑 Light" panose="020B0502040204020203" pitchFamily="34" charset="-122"/>
                  <a:ea typeface="微软雅黑 Light" panose="020B0502040204020203" pitchFamily="34" charset="-122"/>
                </a:rPr>
                <a:t>A.  </a:t>
              </a:r>
              <a:r>
                <a:rPr lang="zh-CN" altLang="en-US" sz="1400" kern="1200" dirty="0">
                  <a:solidFill>
                    <a:schemeClr val="tx1"/>
                  </a:solidFill>
                  <a:latin typeface="微软雅黑 Light" panose="020B0502040204020203" pitchFamily="34" charset="-122"/>
                  <a:ea typeface="微软雅黑 Light" panose="020B0502040204020203" pitchFamily="34" charset="-122"/>
                </a:rPr>
                <a:t>都使用相同的网络？</a:t>
              </a:r>
            </a:p>
          </p:txBody>
        </p:sp>
        <p:sp>
          <p:nvSpPr>
            <p:cNvPr id="13" name="任意多边形 12"/>
            <p:cNvSpPr/>
            <p:nvPr/>
          </p:nvSpPr>
          <p:spPr>
            <a:xfrm>
              <a:off x="1524000" y="2855340"/>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400" kern="1200" dirty="0">
                  <a:solidFill>
                    <a:schemeClr val="tx1"/>
                  </a:solidFill>
                  <a:latin typeface="微软雅黑 Light" panose="020B0502040204020203" pitchFamily="34" charset="-122"/>
                  <a:ea typeface="微软雅黑 Light" panose="020B0502040204020203" pitchFamily="34" charset="-122"/>
                </a:rPr>
                <a:t>B.  </a:t>
              </a:r>
              <a:r>
                <a:rPr lang="zh-CN" altLang="en-US" sz="1400" kern="1200" dirty="0">
                  <a:solidFill>
                    <a:schemeClr val="tx1"/>
                  </a:solidFill>
                  <a:latin typeface="微软雅黑 Light" panose="020B0502040204020203" pitchFamily="34" charset="-122"/>
                  <a:ea typeface="微软雅黑 Light" panose="020B0502040204020203" pitchFamily="34" charset="-122"/>
                </a:rPr>
                <a:t>使用中间设备？</a:t>
              </a:r>
            </a:p>
          </p:txBody>
        </p:sp>
      </p:grpSp>
      <p:sp>
        <p:nvSpPr>
          <p:cNvPr id="14" name="任意多边形 13"/>
          <p:cNvSpPr/>
          <p:nvPr/>
        </p:nvSpPr>
        <p:spPr>
          <a:xfrm>
            <a:off x="2507411" y="3209521"/>
            <a:ext cx="5247735" cy="689622"/>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algn="l" defTabSz="800100">
              <a:spcBef>
                <a:spcPct val="0"/>
              </a:spcBef>
              <a:spcAft>
                <a:spcPts val="600"/>
              </a:spcAft>
              <a:buChar char="••"/>
            </a:pPr>
            <a:r>
              <a:rPr lang="zh-CN" altLang="en-US" sz="1400" dirty="0">
                <a:solidFill>
                  <a:schemeClr val="tx1"/>
                </a:solidFill>
                <a:latin typeface="微软雅黑 Light" panose="020B0502040204020203" pitchFamily="34" charset="-122"/>
                <a:ea typeface="微软雅黑 Light" panose="020B0502040204020203" pitchFamily="34" charset="-122"/>
              </a:rPr>
              <a:t>可以满足不同需求</a:t>
            </a:r>
            <a:endParaRPr lang="en-US" altLang="zh-CN" sz="1400" dirty="0">
              <a:solidFill>
                <a:schemeClr val="tx1"/>
              </a:solidFill>
              <a:latin typeface="微软雅黑 Light" panose="020B0502040204020203" pitchFamily="34" charset="-122"/>
              <a:ea typeface="微软雅黑 Light" panose="020B0502040204020203" pitchFamily="34" charset="-122"/>
            </a:endParaRPr>
          </a:p>
          <a:p>
            <a:pPr marL="171450" lvl="1" indent="-171450" algn="l" defTabSz="800100">
              <a:spcBef>
                <a:spcPct val="0"/>
              </a:spcBef>
              <a:spcAft>
                <a:spcPts val="600"/>
              </a:spcAft>
              <a:buChar char="••"/>
            </a:pPr>
            <a:r>
              <a:rPr lang="zh-CN" altLang="en-US" sz="1400" kern="1200" dirty="0">
                <a:solidFill>
                  <a:schemeClr val="tx1"/>
                </a:solidFill>
                <a:latin typeface="微软雅黑 Light" panose="020B0502040204020203" pitchFamily="34" charset="-122"/>
                <a:ea typeface="微软雅黑 Light" panose="020B0502040204020203" pitchFamily="34" charset="-122"/>
              </a:rPr>
              <a:t>实用</a:t>
            </a:r>
          </a:p>
        </p:txBody>
      </p:sp>
      <p:grpSp>
        <p:nvGrpSpPr>
          <p:cNvPr id="22" name="组合 21"/>
          <p:cNvGrpSpPr/>
          <p:nvPr/>
        </p:nvGrpSpPr>
        <p:grpSpPr>
          <a:xfrm>
            <a:off x="2014743" y="1200861"/>
            <a:ext cx="432614" cy="1956602"/>
            <a:chOff x="1031331" y="1321631"/>
            <a:chExt cx="432614" cy="1956602"/>
          </a:xfrm>
        </p:grpSpPr>
        <p:pic>
          <p:nvPicPr>
            <p:cNvPr id="19" name="图片 1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872401"/>
              <a:ext cx="405830" cy="405832"/>
            </a:xfrm>
            <a:prstGeom prst="rect">
              <a:avLst/>
            </a:prstGeom>
          </p:spPr>
        </p:pic>
        <p:pic>
          <p:nvPicPr>
            <p:cNvPr id="20" name="图片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31331" y="1321631"/>
              <a:ext cx="432614" cy="439946"/>
            </a:xfrm>
            <a:prstGeom prst="rect">
              <a:avLst/>
            </a:prstGeom>
          </p:spPr>
        </p:pic>
      </p:grpSp>
      <p:sp>
        <p:nvSpPr>
          <p:cNvPr id="2" name="标题 1">
            <a:extLst>
              <a:ext uri="{FF2B5EF4-FFF2-40B4-BE49-F238E27FC236}">
                <a16:creationId xmlns:a16="http://schemas.microsoft.com/office/drawing/2014/main" id="{8221A38B-721D-1326-8FF1-05C908C4EE08}"/>
              </a:ext>
            </a:extLst>
          </p:cNvPr>
          <p:cNvSpPr>
            <a:spLocks noGrp="1"/>
          </p:cNvSpPr>
          <p:nvPr>
            <p:ph type="title"/>
          </p:nvPr>
        </p:nvSpPr>
        <p:spPr>
          <a:xfrm>
            <a:off x="486000" y="550723"/>
            <a:ext cx="8172000" cy="338554"/>
          </a:xfrm>
        </p:spPr>
        <p:txBody>
          <a:bodyPr/>
          <a:lstStyle/>
          <a:p>
            <a:r>
              <a:rPr lang="zh-CN" altLang="en-US" dirty="0"/>
              <a:t>实现异构网络的互连互通方法，哪种好？</a:t>
            </a:r>
          </a:p>
        </p:txBody>
      </p:sp>
    </p:spTree>
    <p:extLst>
      <p:ext uri="{BB962C8B-B14F-4D97-AF65-F5344CB8AC3E}">
        <p14:creationId xmlns:p14="http://schemas.microsoft.com/office/powerpoint/2010/main" val="28710165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a:extLst>
              <a:ext uri="{FF2B5EF4-FFF2-40B4-BE49-F238E27FC236}">
                <a16:creationId xmlns:a16="http://schemas.microsoft.com/office/drawing/2014/main" id="{23E27D32-3694-478B-C229-E414C2158723}"/>
              </a:ext>
            </a:extLst>
          </p:cNvPr>
          <p:cNvSpPr>
            <a:spLocks noChangeArrowheads="1"/>
          </p:cNvSpPr>
          <p:nvPr/>
        </p:nvSpPr>
        <p:spPr bwMode="auto">
          <a:xfrm>
            <a:off x="3281929" y="1229167"/>
            <a:ext cx="4386954" cy="353930"/>
          </a:xfrm>
          <a:prstGeom prst="roundRect">
            <a:avLst>
              <a:gd name="adj" fmla="val 16667"/>
            </a:avLst>
          </a:prstGeom>
          <a:solidFill>
            <a:schemeClr val="bg1">
              <a:lumMod val="8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Device</a:t>
            </a:r>
            <a:endParaRPr lang="zh-CN" altLang="en-US" sz="1400" dirty="0">
              <a:latin typeface="Montserrat" panose="00000500000000000000" pitchFamily="2" charset="0"/>
              <a:ea typeface="微软雅黑 Light" panose="020B0502040204020203" pitchFamily="34" charset="-122"/>
            </a:endParaRPr>
          </a:p>
        </p:txBody>
      </p:sp>
      <p:sp>
        <p:nvSpPr>
          <p:cNvPr id="29" name="AutoShape 5"/>
          <p:cNvSpPr>
            <a:spLocks noChangeArrowheads="1"/>
          </p:cNvSpPr>
          <p:nvPr/>
        </p:nvSpPr>
        <p:spPr bwMode="auto">
          <a:xfrm>
            <a:off x="1508636" y="1229167"/>
            <a:ext cx="1749337" cy="353930"/>
          </a:xfrm>
          <a:prstGeom prst="roundRect">
            <a:avLst>
              <a:gd name="adj" fmla="val 16667"/>
            </a:avLst>
          </a:prstGeom>
          <a:solidFill>
            <a:schemeClr val="bg1">
              <a:lumMod val="8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Layer</a:t>
            </a:r>
            <a:endParaRPr lang="zh-CN" altLang="en-US" sz="1400"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281C4AC8-F3DD-948C-9E61-4167D5F22A03}"/>
              </a:ext>
            </a:extLst>
          </p:cNvPr>
          <p:cNvSpPr>
            <a:spLocks noGrp="1"/>
          </p:cNvSpPr>
          <p:nvPr>
            <p:ph type="title"/>
          </p:nvPr>
        </p:nvSpPr>
        <p:spPr>
          <a:xfrm>
            <a:off x="486000" y="550723"/>
            <a:ext cx="8172000" cy="338554"/>
          </a:xfrm>
        </p:spPr>
        <p:txBody>
          <a:bodyPr/>
          <a:lstStyle/>
          <a:p>
            <a:r>
              <a:rPr lang="zh-CN" altLang="en-US" dirty="0"/>
              <a:t>使用中间设备进行互连</a:t>
            </a:r>
          </a:p>
        </p:txBody>
      </p:sp>
      <p:sp>
        <p:nvSpPr>
          <p:cNvPr id="9" name="AutoShape 5">
            <a:extLst>
              <a:ext uri="{FF2B5EF4-FFF2-40B4-BE49-F238E27FC236}">
                <a16:creationId xmlns:a16="http://schemas.microsoft.com/office/drawing/2014/main" id="{E92A4394-0838-FE90-E816-1E73E3DB1ED8}"/>
              </a:ext>
            </a:extLst>
          </p:cNvPr>
          <p:cNvSpPr>
            <a:spLocks noChangeArrowheads="1"/>
          </p:cNvSpPr>
          <p:nvPr/>
        </p:nvSpPr>
        <p:spPr bwMode="auto">
          <a:xfrm>
            <a:off x="1508636" y="1625490"/>
            <a:ext cx="1749337" cy="35393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运输层</a:t>
            </a:r>
            <a:r>
              <a:rPr lang="en-US" altLang="zh-CN" sz="1400" dirty="0">
                <a:latin typeface="Montserrat" panose="00000500000000000000" pitchFamily="2" charset="0"/>
                <a:ea typeface="微软雅黑 Light" panose="020B0502040204020203" pitchFamily="34" charset="-122"/>
              </a:rPr>
              <a:t>+</a:t>
            </a:r>
            <a:endParaRPr lang="zh-CN" altLang="en-US" sz="1400" dirty="0">
              <a:latin typeface="Montserrat" panose="00000500000000000000" pitchFamily="2" charset="0"/>
              <a:ea typeface="微软雅黑 Light" panose="020B0502040204020203" pitchFamily="34" charset="-122"/>
            </a:endParaRPr>
          </a:p>
        </p:txBody>
      </p:sp>
      <p:sp>
        <p:nvSpPr>
          <p:cNvPr id="13" name="AutoShape 5">
            <a:extLst>
              <a:ext uri="{FF2B5EF4-FFF2-40B4-BE49-F238E27FC236}">
                <a16:creationId xmlns:a16="http://schemas.microsoft.com/office/drawing/2014/main" id="{C10C929B-35B3-40F0-3423-D7DC2B836FA6}"/>
              </a:ext>
            </a:extLst>
          </p:cNvPr>
          <p:cNvSpPr>
            <a:spLocks noChangeArrowheads="1"/>
          </p:cNvSpPr>
          <p:nvPr/>
        </p:nvSpPr>
        <p:spPr bwMode="auto">
          <a:xfrm>
            <a:off x="1508632" y="2022595"/>
            <a:ext cx="1749337" cy="35393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网络层</a:t>
            </a:r>
          </a:p>
        </p:txBody>
      </p:sp>
      <p:sp>
        <p:nvSpPr>
          <p:cNvPr id="14" name="AutoShape 5">
            <a:extLst>
              <a:ext uri="{FF2B5EF4-FFF2-40B4-BE49-F238E27FC236}">
                <a16:creationId xmlns:a16="http://schemas.microsoft.com/office/drawing/2014/main" id="{8746AA2E-5F02-4C9B-E58E-10C697E96F1B}"/>
              </a:ext>
            </a:extLst>
          </p:cNvPr>
          <p:cNvSpPr>
            <a:spLocks noChangeArrowheads="1"/>
          </p:cNvSpPr>
          <p:nvPr/>
        </p:nvSpPr>
        <p:spPr bwMode="auto">
          <a:xfrm>
            <a:off x="1508631" y="3222883"/>
            <a:ext cx="1749337" cy="74880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物理层</a:t>
            </a:r>
          </a:p>
        </p:txBody>
      </p:sp>
      <p:sp>
        <p:nvSpPr>
          <p:cNvPr id="15" name="AutoShape 5">
            <a:extLst>
              <a:ext uri="{FF2B5EF4-FFF2-40B4-BE49-F238E27FC236}">
                <a16:creationId xmlns:a16="http://schemas.microsoft.com/office/drawing/2014/main" id="{9B7EEB20-6769-C65D-370B-586D2E3907B0}"/>
              </a:ext>
            </a:extLst>
          </p:cNvPr>
          <p:cNvSpPr>
            <a:spLocks noChangeArrowheads="1"/>
          </p:cNvSpPr>
          <p:nvPr/>
        </p:nvSpPr>
        <p:spPr bwMode="auto">
          <a:xfrm>
            <a:off x="1508632" y="2418136"/>
            <a:ext cx="1749337" cy="77602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数据链路层</a:t>
            </a:r>
          </a:p>
        </p:txBody>
      </p:sp>
      <p:sp>
        <p:nvSpPr>
          <p:cNvPr id="17" name="AutoShape 5">
            <a:extLst>
              <a:ext uri="{FF2B5EF4-FFF2-40B4-BE49-F238E27FC236}">
                <a16:creationId xmlns:a16="http://schemas.microsoft.com/office/drawing/2014/main" id="{2D5817E0-1825-DB6D-8B81-9B0BE35DE69C}"/>
              </a:ext>
            </a:extLst>
          </p:cNvPr>
          <p:cNvSpPr>
            <a:spLocks noChangeArrowheads="1"/>
          </p:cNvSpPr>
          <p:nvPr/>
        </p:nvSpPr>
        <p:spPr bwMode="auto">
          <a:xfrm>
            <a:off x="3281929" y="1625490"/>
            <a:ext cx="4386954" cy="35393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Gateway</a:t>
            </a:r>
          </a:p>
        </p:txBody>
      </p:sp>
      <p:sp>
        <p:nvSpPr>
          <p:cNvPr id="18" name="AutoShape 5">
            <a:extLst>
              <a:ext uri="{FF2B5EF4-FFF2-40B4-BE49-F238E27FC236}">
                <a16:creationId xmlns:a16="http://schemas.microsoft.com/office/drawing/2014/main" id="{2E72F83C-3462-40A1-8F50-BB36141723DF}"/>
              </a:ext>
            </a:extLst>
          </p:cNvPr>
          <p:cNvSpPr>
            <a:spLocks noChangeArrowheads="1"/>
          </p:cNvSpPr>
          <p:nvPr/>
        </p:nvSpPr>
        <p:spPr bwMode="auto">
          <a:xfrm>
            <a:off x="3281929" y="2022595"/>
            <a:ext cx="4386954" cy="35393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Router</a:t>
            </a:r>
          </a:p>
        </p:txBody>
      </p:sp>
      <p:sp>
        <p:nvSpPr>
          <p:cNvPr id="19" name="AutoShape 5">
            <a:extLst>
              <a:ext uri="{FF2B5EF4-FFF2-40B4-BE49-F238E27FC236}">
                <a16:creationId xmlns:a16="http://schemas.microsoft.com/office/drawing/2014/main" id="{637F7A1D-EFE7-EA33-C98E-123CE89F015E}"/>
              </a:ext>
            </a:extLst>
          </p:cNvPr>
          <p:cNvSpPr>
            <a:spLocks noChangeArrowheads="1"/>
          </p:cNvSpPr>
          <p:nvPr/>
        </p:nvSpPr>
        <p:spPr bwMode="auto">
          <a:xfrm>
            <a:off x="3281929" y="2431020"/>
            <a:ext cx="4386954" cy="750253"/>
          </a:xfrm>
          <a:prstGeom prst="roundRect">
            <a:avLst>
              <a:gd name="adj" fmla="val 16667"/>
            </a:avLst>
          </a:prstGeom>
          <a:solidFill>
            <a:schemeClr val="bg1">
              <a:lumMod val="95000"/>
            </a:schemeClr>
          </a:solidFill>
          <a:ln>
            <a:noFill/>
          </a:ln>
          <a:effectLst/>
        </p:spPr>
        <p:txBody>
          <a:bodyPr wrap="none" anchor="ctr"/>
          <a:lstStyle/>
          <a:p>
            <a:pPr algn="ctr">
              <a:lnSpc>
                <a:spcPts val="2400"/>
              </a:lnSpc>
            </a:pPr>
            <a:r>
              <a:rPr lang="en-US" altLang="zh-CN" sz="1400" dirty="0">
                <a:latin typeface="Montserrat" panose="00000500000000000000" pitchFamily="2" charset="0"/>
                <a:ea typeface="微软雅黑 Light" panose="020B0502040204020203" pitchFamily="34" charset="-122"/>
              </a:rPr>
              <a:t>Bridge</a:t>
            </a:r>
          </a:p>
          <a:p>
            <a:pPr algn="ctr">
              <a:lnSpc>
                <a:spcPts val="2400"/>
              </a:lnSpc>
            </a:pPr>
            <a:r>
              <a:rPr lang="en-US" altLang="zh-CN" sz="1400" dirty="0">
                <a:latin typeface="Montserrat" panose="00000500000000000000" pitchFamily="2" charset="0"/>
                <a:ea typeface="微软雅黑 Light" panose="020B0502040204020203" pitchFamily="34" charset="-122"/>
              </a:rPr>
              <a:t>Switch</a:t>
            </a:r>
            <a:endParaRPr lang="zh-CN" altLang="en-US" sz="1400" dirty="0">
              <a:latin typeface="Montserrat" panose="00000500000000000000" pitchFamily="2" charset="0"/>
              <a:ea typeface="微软雅黑 Light" panose="020B0502040204020203" pitchFamily="34" charset="-122"/>
            </a:endParaRPr>
          </a:p>
        </p:txBody>
      </p:sp>
      <p:sp>
        <p:nvSpPr>
          <p:cNvPr id="20" name="AutoShape 5">
            <a:extLst>
              <a:ext uri="{FF2B5EF4-FFF2-40B4-BE49-F238E27FC236}">
                <a16:creationId xmlns:a16="http://schemas.microsoft.com/office/drawing/2014/main" id="{D0468B15-4303-E8B0-6868-383B0339036F}"/>
              </a:ext>
            </a:extLst>
          </p:cNvPr>
          <p:cNvSpPr>
            <a:spLocks noChangeArrowheads="1"/>
          </p:cNvSpPr>
          <p:nvPr/>
        </p:nvSpPr>
        <p:spPr bwMode="auto">
          <a:xfrm>
            <a:off x="3281929" y="3222883"/>
            <a:ext cx="4386954" cy="74880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Hub</a:t>
            </a:r>
          </a:p>
          <a:p>
            <a:pPr algn="ctr"/>
            <a:r>
              <a:rPr lang="en-US" altLang="zh-CN" sz="1400" dirty="0">
                <a:latin typeface="Montserrat" panose="00000500000000000000" pitchFamily="2" charset="0"/>
                <a:ea typeface="微软雅黑 Light" panose="020B0502040204020203" pitchFamily="34" charset="-122"/>
              </a:rPr>
              <a:t>Repeater</a:t>
            </a:r>
          </a:p>
        </p:txBody>
      </p:sp>
    </p:spTree>
    <p:extLst>
      <p:ext uri="{BB962C8B-B14F-4D97-AF65-F5344CB8AC3E}">
        <p14:creationId xmlns:p14="http://schemas.microsoft.com/office/powerpoint/2010/main" val="3416306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2352821" y="1177154"/>
            <a:ext cx="4600069" cy="1911103"/>
            <a:chOff x="2352822" y="1177154"/>
            <a:chExt cx="4413000" cy="1775543"/>
          </a:xfrm>
        </p:grpSpPr>
        <p:sp>
          <p:nvSpPr>
            <p:cNvPr id="16" name="Text Box 49"/>
            <p:cNvSpPr txBox="1">
              <a:spLocks noChangeArrowheads="1"/>
            </p:cNvSpPr>
            <p:nvPr/>
          </p:nvSpPr>
          <p:spPr bwMode="auto">
            <a:xfrm>
              <a:off x="3697878" y="1177154"/>
              <a:ext cx="1554806" cy="257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交换机</a:t>
              </a:r>
            </a:p>
          </p:txBody>
        </p:sp>
        <p:grpSp>
          <p:nvGrpSpPr>
            <p:cNvPr id="19" name="组合 18"/>
            <p:cNvGrpSpPr/>
            <p:nvPr/>
          </p:nvGrpSpPr>
          <p:grpSpPr>
            <a:xfrm>
              <a:off x="4684572" y="1635159"/>
              <a:ext cx="2081250" cy="1191418"/>
              <a:chOff x="4668477" y="2337063"/>
              <a:chExt cx="2081250" cy="1191418"/>
            </a:xfrm>
          </p:grpSpPr>
          <p:sp>
            <p:nvSpPr>
              <p:cNvPr id="20" name="Line 44"/>
              <p:cNvSpPr>
                <a:spLocks noChangeShapeType="1"/>
              </p:cNvSpPr>
              <p:nvPr/>
            </p:nvSpPr>
            <p:spPr bwMode="auto">
              <a:xfrm>
                <a:off x="4668477" y="2337063"/>
                <a:ext cx="1375569" cy="70629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1" name="Line 69"/>
              <p:cNvSpPr>
                <a:spLocks noChangeShapeType="1"/>
              </p:cNvSpPr>
              <p:nvPr/>
            </p:nvSpPr>
            <p:spPr bwMode="auto">
              <a:xfrm flipH="1">
                <a:off x="5712245" y="3044330"/>
                <a:ext cx="305115"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8" name="Line 71"/>
              <p:cNvSpPr>
                <a:spLocks noChangeShapeType="1"/>
              </p:cNvSpPr>
              <p:nvPr/>
            </p:nvSpPr>
            <p:spPr bwMode="auto">
              <a:xfrm>
                <a:off x="6189215"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0" name="Line 72"/>
              <p:cNvSpPr>
                <a:spLocks noChangeShapeType="1"/>
              </p:cNvSpPr>
              <p:nvPr/>
            </p:nvSpPr>
            <p:spPr bwMode="auto">
              <a:xfrm>
                <a:off x="6274415" y="3088723"/>
                <a:ext cx="300746"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1" name="Line 73"/>
              <p:cNvSpPr>
                <a:spLocks noChangeShapeType="1"/>
              </p:cNvSpPr>
              <p:nvPr/>
            </p:nvSpPr>
            <p:spPr bwMode="auto">
              <a:xfrm flipH="1">
                <a:off x="5996243" y="3048967"/>
                <a:ext cx="82286"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32" name="Picture 77"/>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5903761" y="2905847"/>
                <a:ext cx="527945"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25381"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0353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91566"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79598" y="3258352"/>
                <a:ext cx="270129" cy="270129"/>
              </a:xfrm>
              <a:prstGeom prst="rect">
                <a:avLst/>
              </a:prstGeom>
              <a:noFill/>
              <a:extLst>
                <a:ext uri="{909E8E84-426E-40DD-AFC4-6F175D3DCCD1}">
                  <a14:hiddenFill xmlns:a14="http://schemas.microsoft.com/office/drawing/2010/main">
                    <a:solidFill>
                      <a:srgbClr val="FFFFFF"/>
                    </a:solidFill>
                  </a14:hiddenFill>
                </a:ext>
              </a:extLst>
            </p:spPr>
          </p:pic>
          <p:sp>
            <p:nvSpPr>
              <p:cNvPr id="37" name="Text Box 49"/>
              <p:cNvSpPr txBox="1">
                <a:spLocks noChangeArrowheads="1"/>
              </p:cNvSpPr>
              <p:nvPr/>
            </p:nvSpPr>
            <p:spPr bwMode="auto">
              <a:xfrm>
                <a:off x="5842960" y="2700338"/>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39" name="组合 38"/>
            <p:cNvGrpSpPr/>
            <p:nvPr/>
          </p:nvGrpSpPr>
          <p:grpSpPr>
            <a:xfrm>
              <a:off x="2352822" y="1666689"/>
              <a:ext cx="1851608" cy="1159888"/>
              <a:chOff x="2336727" y="2368593"/>
              <a:chExt cx="1851608" cy="1159888"/>
            </a:xfrm>
          </p:grpSpPr>
          <p:grpSp>
            <p:nvGrpSpPr>
              <p:cNvPr id="40" name="组合 39"/>
              <p:cNvGrpSpPr/>
              <p:nvPr/>
            </p:nvGrpSpPr>
            <p:grpSpPr>
              <a:xfrm>
                <a:off x="2336727" y="2368593"/>
                <a:ext cx="1851608" cy="1159888"/>
                <a:chOff x="2336727" y="2368593"/>
                <a:chExt cx="1851608" cy="1159888"/>
              </a:xfrm>
            </p:grpSpPr>
            <p:sp>
              <p:nvSpPr>
                <p:cNvPr id="42" name="Line 43"/>
                <p:cNvSpPr>
                  <a:spLocks noChangeShapeType="1"/>
                </p:cNvSpPr>
                <p:nvPr/>
              </p:nvSpPr>
              <p:spPr bwMode="auto">
                <a:xfrm flipH="1">
                  <a:off x="3030003" y="2368593"/>
                  <a:ext cx="1158332" cy="6410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3" name="Line 51"/>
                <p:cNvSpPr>
                  <a:spLocks noChangeShapeType="1"/>
                </p:cNvSpPr>
                <p:nvPr/>
              </p:nvSpPr>
              <p:spPr bwMode="auto">
                <a:xfrm flipH="1">
                  <a:off x="2452519" y="304433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53"/>
                <p:cNvSpPr>
                  <a:spLocks noChangeShapeType="1"/>
                </p:cNvSpPr>
                <p:nvPr/>
              </p:nvSpPr>
              <p:spPr bwMode="auto">
                <a:xfrm>
                  <a:off x="2929490"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5" name="Line 54"/>
                <p:cNvSpPr>
                  <a:spLocks noChangeShapeType="1"/>
                </p:cNvSpPr>
                <p:nvPr/>
              </p:nvSpPr>
              <p:spPr bwMode="auto">
                <a:xfrm>
                  <a:off x="3014689" y="3088723"/>
                  <a:ext cx="300747"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55"/>
                <p:cNvSpPr>
                  <a:spLocks noChangeShapeType="1"/>
                </p:cNvSpPr>
                <p:nvPr/>
              </p:nvSpPr>
              <p:spPr bwMode="auto">
                <a:xfrm flipH="1">
                  <a:off x="2736517" y="304896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47" name="Picture 59"/>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2644036" y="2905847"/>
                  <a:ext cx="527944"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8"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36727"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49"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14880"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02912"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9094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41" name="Text Box 49"/>
              <p:cNvSpPr txBox="1">
                <a:spLocks noChangeArrowheads="1"/>
              </p:cNvSpPr>
              <p:nvPr/>
            </p:nvSpPr>
            <p:spPr bwMode="auto">
              <a:xfrm>
                <a:off x="2498460" y="269989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52" name="组合 51"/>
            <p:cNvGrpSpPr/>
            <p:nvPr/>
          </p:nvGrpSpPr>
          <p:grpSpPr>
            <a:xfrm>
              <a:off x="3995796" y="1645668"/>
              <a:ext cx="1156664" cy="1307029"/>
              <a:chOff x="3979701" y="2347572"/>
              <a:chExt cx="1156664" cy="1307029"/>
            </a:xfrm>
          </p:grpSpPr>
          <p:grpSp>
            <p:nvGrpSpPr>
              <p:cNvPr id="53" name="组合 52"/>
              <p:cNvGrpSpPr/>
              <p:nvPr/>
            </p:nvGrpSpPr>
            <p:grpSpPr>
              <a:xfrm>
                <a:off x="3979701" y="2347572"/>
                <a:ext cx="1124346" cy="1307029"/>
                <a:chOff x="3979701" y="2347572"/>
                <a:chExt cx="1124346" cy="1307029"/>
              </a:xfrm>
            </p:grpSpPr>
            <p:sp>
              <p:nvSpPr>
                <p:cNvPr id="55" name="Line 45"/>
                <p:cNvSpPr>
                  <a:spLocks noChangeShapeType="1"/>
                </p:cNvSpPr>
                <p:nvPr/>
              </p:nvSpPr>
              <p:spPr bwMode="auto">
                <a:xfrm>
                  <a:off x="4436440" y="2347572"/>
                  <a:ext cx="109446" cy="75042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6" name="Line 60"/>
                <p:cNvSpPr>
                  <a:spLocks noChangeShapeType="1"/>
                </p:cNvSpPr>
                <p:nvPr/>
              </p:nvSpPr>
              <p:spPr bwMode="auto">
                <a:xfrm flipH="1">
                  <a:off x="4070155" y="317045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2"/>
                <p:cNvSpPr>
                  <a:spLocks noChangeShapeType="1"/>
                </p:cNvSpPr>
                <p:nvPr/>
              </p:nvSpPr>
              <p:spPr bwMode="auto">
                <a:xfrm>
                  <a:off x="4547125" y="322412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8" name="Line 63"/>
                <p:cNvSpPr>
                  <a:spLocks noChangeShapeType="1"/>
                </p:cNvSpPr>
                <p:nvPr/>
              </p:nvSpPr>
              <p:spPr bwMode="auto">
                <a:xfrm>
                  <a:off x="4632325" y="3214843"/>
                  <a:ext cx="300018"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64"/>
                <p:cNvSpPr>
                  <a:spLocks noChangeShapeType="1"/>
                </p:cNvSpPr>
                <p:nvPr/>
              </p:nvSpPr>
              <p:spPr bwMode="auto">
                <a:xfrm flipH="1">
                  <a:off x="4354153" y="317508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60" name="Picture 6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4261672" y="3031967"/>
                  <a:ext cx="527216"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79701"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7854"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45886"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33918" y="338447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54" name="Text Box 49"/>
              <p:cNvSpPr txBox="1">
                <a:spLocks noChangeArrowheads="1"/>
              </p:cNvSpPr>
              <p:nvPr/>
            </p:nvSpPr>
            <p:spPr bwMode="auto">
              <a:xfrm>
                <a:off x="4417213" y="281846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sp>
          <p:nvSpPr>
            <p:cNvPr id="68" name="modem"/>
            <p:cNvSpPr>
              <a:spLocks noEditPoints="1" noChangeArrowheads="1"/>
            </p:cNvSpPr>
            <p:nvPr/>
          </p:nvSpPr>
          <p:spPr bwMode="auto">
            <a:xfrm>
              <a:off x="3973041" y="1444090"/>
              <a:ext cx="990656" cy="250365"/>
            </a:xfrm>
            <a:custGeom>
              <a:avLst/>
              <a:gdLst>
                <a:gd name="T0" fmla="*/ 0 w 21600"/>
                <a:gd name="T1" fmla="*/ 5152 h 21600"/>
                <a:gd name="T2" fmla="*/ 2941 w 21600"/>
                <a:gd name="T3" fmla="*/ 0 h 21600"/>
                <a:gd name="T4" fmla="*/ 18625 w 21600"/>
                <a:gd name="T5" fmla="*/ 0 h 21600"/>
                <a:gd name="T6" fmla="*/ 21600 w 21600"/>
                <a:gd name="T7" fmla="*/ 5152 h 21600"/>
                <a:gd name="T8" fmla="*/ 21600 w 21600"/>
                <a:gd name="T9" fmla="*/ 21600 h 21600"/>
                <a:gd name="T10" fmla="*/ 0 w 21600"/>
                <a:gd name="T11" fmla="*/ 21600 h 21600"/>
                <a:gd name="T12" fmla="*/ 10800 w 21600"/>
                <a:gd name="T13" fmla="*/ 0 h 21600"/>
                <a:gd name="T14" fmla="*/ 10800 w 21600"/>
                <a:gd name="T15" fmla="*/ 21600 h 21600"/>
                <a:gd name="T16" fmla="*/ 0 w 21600"/>
                <a:gd name="T17" fmla="*/ 13376 h 21600"/>
                <a:gd name="T18" fmla="*/ 21600 w 21600"/>
                <a:gd name="T19" fmla="*/ 13376 h 21600"/>
                <a:gd name="T20" fmla="*/ 400 w 21600"/>
                <a:gd name="T21" fmla="*/ 22400 h 21600"/>
                <a:gd name="T22" fmla="*/ 21200 w 21600"/>
                <a:gd name="T23" fmla="*/ 30000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T20" t="T21" r="T22" b="T23"/>
              <a:pathLst>
                <a:path w="21600" h="21600" extrusionOk="0">
                  <a:moveTo>
                    <a:pt x="0" y="5152"/>
                  </a:moveTo>
                  <a:lnTo>
                    <a:pt x="2941" y="0"/>
                  </a:lnTo>
                  <a:lnTo>
                    <a:pt x="18625" y="0"/>
                  </a:lnTo>
                  <a:lnTo>
                    <a:pt x="21600" y="5152"/>
                  </a:lnTo>
                  <a:lnTo>
                    <a:pt x="21600" y="21600"/>
                  </a:lnTo>
                  <a:lnTo>
                    <a:pt x="0" y="21600"/>
                  </a:lnTo>
                  <a:lnTo>
                    <a:pt x="0" y="5152"/>
                  </a:lnTo>
                  <a:close/>
                </a:path>
                <a:path w="21600" h="21600" extrusionOk="0">
                  <a:moveTo>
                    <a:pt x="0" y="5251"/>
                  </a:moveTo>
                  <a:lnTo>
                    <a:pt x="21600" y="5251"/>
                  </a:lnTo>
                  <a:moveTo>
                    <a:pt x="1961" y="11791"/>
                  </a:moveTo>
                  <a:lnTo>
                    <a:pt x="1961" y="14268"/>
                  </a:lnTo>
                  <a:lnTo>
                    <a:pt x="2806" y="14268"/>
                  </a:lnTo>
                  <a:lnTo>
                    <a:pt x="2806" y="11791"/>
                  </a:lnTo>
                  <a:lnTo>
                    <a:pt x="1961" y="11791"/>
                  </a:lnTo>
                  <a:close/>
                </a:path>
                <a:path w="21600" h="21600" extrusionOk="0">
                  <a:moveTo>
                    <a:pt x="3685" y="11791"/>
                  </a:moveTo>
                  <a:lnTo>
                    <a:pt x="3685" y="14268"/>
                  </a:lnTo>
                  <a:lnTo>
                    <a:pt x="4530" y="14268"/>
                  </a:lnTo>
                  <a:lnTo>
                    <a:pt x="4530" y="11791"/>
                  </a:lnTo>
                  <a:lnTo>
                    <a:pt x="3685" y="11791"/>
                  </a:lnTo>
                  <a:close/>
                </a:path>
                <a:path w="21600" h="21600" extrusionOk="0">
                  <a:moveTo>
                    <a:pt x="5408" y="11791"/>
                  </a:moveTo>
                  <a:lnTo>
                    <a:pt x="5408" y="14268"/>
                  </a:lnTo>
                  <a:lnTo>
                    <a:pt x="6254" y="14268"/>
                  </a:lnTo>
                  <a:lnTo>
                    <a:pt x="6254" y="11791"/>
                  </a:lnTo>
                  <a:lnTo>
                    <a:pt x="5408" y="11791"/>
                  </a:lnTo>
                  <a:close/>
                </a:path>
                <a:path w="21600" h="21600" extrusionOk="0">
                  <a:moveTo>
                    <a:pt x="7132" y="11791"/>
                  </a:moveTo>
                  <a:lnTo>
                    <a:pt x="7132" y="14268"/>
                  </a:lnTo>
                  <a:lnTo>
                    <a:pt x="7977" y="14268"/>
                  </a:lnTo>
                  <a:lnTo>
                    <a:pt x="7977" y="11791"/>
                  </a:lnTo>
                  <a:lnTo>
                    <a:pt x="7132" y="11791"/>
                  </a:lnTo>
                  <a:close/>
                </a:path>
              </a:pathLst>
            </a:custGeom>
            <a:solidFill>
              <a:schemeClr val="bg1">
                <a:lumMod val="6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dirty="0"/>
            </a:p>
          </p:txBody>
        </p:sp>
      </p:grpSp>
      <p:sp>
        <p:nvSpPr>
          <p:cNvPr id="69" name="Rectangle 6"/>
          <p:cNvSpPr>
            <a:spLocks noChangeArrowheads="1"/>
          </p:cNvSpPr>
          <p:nvPr/>
        </p:nvSpPr>
        <p:spPr bwMode="auto">
          <a:xfrm>
            <a:off x="1360874" y="3345300"/>
            <a:ext cx="641714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b="1" dirty="0">
                <a:latin typeface="微软雅黑" pitchFamily="34" charset="-122"/>
                <a:ea typeface="微软雅黑" pitchFamily="34" charset="-122"/>
              </a:rPr>
              <a:t>转发器、网桥或交换机仅把一个网络扩大了，仍然是一个网络</a:t>
            </a:r>
            <a:endParaRPr lang="fr-FR" altLang="zh-CN" b="1" dirty="0">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02292B6E-E932-7FC2-C991-38DB1F0C94D8}"/>
              </a:ext>
            </a:extLst>
          </p:cNvPr>
          <p:cNvSpPr>
            <a:spLocks noGrp="1"/>
          </p:cNvSpPr>
          <p:nvPr>
            <p:ph type="title"/>
          </p:nvPr>
        </p:nvSpPr>
        <p:spPr>
          <a:xfrm>
            <a:off x="486000" y="550723"/>
            <a:ext cx="8172000" cy="338554"/>
          </a:xfrm>
        </p:spPr>
        <p:txBody>
          <a:bodyPr/>
          <a:lstStyle/>
          <a:p>
            <a:r>
              <a:rPr lang="zh-CN" altLang="en-US" dirty="0"/>
              <a:t>使用转发器或网桥不称为网络互连</a:t>
            </a:r>
          </a:p>
        </p:txBody>
      </p:sp>
    </p:spTree>
    <p:extLst>
      <p:ext uri="{BB962C8B-B14F-4D97-AF65-F5344CB8AC3E}">
        <p14:creationId xmlns:p14="http://schemas.microsoft.com/office/powerpoint/2010/main" val="23800777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1542464" y="1176461"/>
            <a:ext cx="6042173" cy="3092466"/>
            <a:chOff x="1680487" y="1150582"/>
            <a:chExt cx="6042173" cy="3092466"/>
          </a:xfrm>
        </p:grpSpPr>
        <p:grpSp>
          <p:nvGrpSpPr>
            <p:cNvPr id="8" name="Group 1504"/>
            <p:cNvGrpSpPr>
              <a:grpSpLocks/>
            </p:cNvGrpSpPr>
            <p:nvPr/>
          </p:nvGrpSpPr>
          <p:grpSpPr bwMode="auto">
            <a:xfrm>
              <a:off x="2352522" y="1150582"/>
              <a:ext cx="4557485" cy="2945499"/>
              <a:chOff x="109" y="1226"/>
              <a:chExt cx="2516" cy="1675"/>
            </a:xfrm>
            <a:scene3d>
              <a:camera prst="orthographicFront">
                <a:rot lat="0" lon="0" rev="0"/>
              </a:camera>
              <a:lightRig rig="contrasting" dir="t">
                <a:rot lat="0" lon="0" rev="7800000"/>
              </a:lightRig>
            </a:scene3d>
          </p:grpSpPr>
          <p:grpSp>
            <p:nvGrpSpPr>
              <p:cNvPr id="9" name="Group 1505"/>
              <p:cNvGrpSpPr>
                <a:grpSpLocks/>
              </p:cNvGrpSpPr>
              <p:nvPr/>
            </p:nvGrpSpPr>
            <p:grpSpPr bwMode="auto">
              <a:xfrm>
                <a:off x="109" y="1226"/>
                <a:ext cx="2516" cy="1675"/>
                <a:chOff x="109" y="1226"/>
                <a:chExt cx="2516" cy="1675"/>
              </a:xfrm>
            </p:grpSpPr>
            <p:grpSp>
              <p:nvGrpSpPr>
                <p:cNvPr id="11" name="Group 1506"/>
                <p:cNvGrpSpPr>
                  <a:grpSpLocks/>
                </p:cNvGrpSpPr>
                <p:nvPr/>
              </p:nvGrpSpPr>
              <p:grpSpPr bwMode="auto">
                <a:xfrm>
                  <a:off x="109" y="1226"/>
                  <a:ext cx="2516" cy="1675"/>
                  <a:chOff x="109" y="1226"/>
                  <a:chExt cx="2516" cy="1675"/>
                </a:xfrm>
              </p:grpSpPr>
              <p:sp>
                <p:nvSpPr>
                  <p:cNvPr id="13" name="Oval 1507"/>
                  <p:cNvSpPr>
                    <a:spLocks noChangeArrowheads="1"/>
                  </p:cNvSpPr>
                  <p:nvPr/>
                </p:nvSpPr>
                <p:spPr bwMode="auto">
                  <a:xfrm>
                    <a:off x="1749" y="1896"/>
                    <a:ext cx="876"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4" name="Oval 1508"/>
                  <p:cNvSpPr>
                    <a:spLocks noChangeArrowheads="1"/>
                  </p:cNvSpPr>
                  <p:nvPr/>
                </p:nvSpPr>
                <p:spPr bwMode="auto">
                  <a:xfrm>
                    <a:off x="109" y="1632"/>
                    <a:ext cx="859" cy="83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 name="Oval 1509"/>
                  <p:cNvSpPr>
                    <a:spLocks noChangeArrowheads="1"/>
                  </p:cNvSpPr>
                  <p:nvPr/>
                </p:nvSpPr>
                <p:spPr bwMode="auto">
                  <a:xfrm>
                    <a:off x="1612" y="1341"/>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6" name="Oval 1510"/>
                  <p:cNvSpPr>
                    <a:spLocks noChangeArrowheads="1"/>
                  </p:cNvSpPr>
                  <p:nvPr/>
                </p:nvSpPr>
                <p:spPr bwMode="auto">
                  <a:xfrm>
                    <a:off x="1152" y="2055"/>
                    <a:ext cx="875" cy="846"/>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7" name="Oval 1511"/>
                  <p:cNvSpPr>
                    <a:spLocks noChangeArrowheads="1"/>
                  </p:cNvSpPr>
                  <p:nvPr/>
                </p:nvSpPr>
                <p:spPr bwMode="auto">
                  <a:xfrm>
                    <a:off x="400" y="1982"/>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8" name="Oval 1512"/>
                  <p:cNvSpPr>
                    <a:spLocks noChangeArrowheads="1"/>
                  </p:cNvSpPr>
                  <p:nvPr/>
                </p:nvSpPr>
                <p:spPr bwMode="auto">
                  <a:xfrm>
                    <a:off x="1075" y="1226"/>
                    <a:ext cx="859"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9" name="Oval 1513"/>
                  <p:cNvSpPr>
                    <a:spLocks noChangeArrowheads="1"/>
                  </p:cNvSpPr>
                  <p:nvPr/>
                </p:nvSpPr>
                <p:spPr bwMode="auto">
                  <a:xfrm>
                    <a:off x="523" y="1226"/>
                    <a:ext cx="859" cy="79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2" name="Oval 1514"/>
                <p:cNvSpPr>
                  <a:spLocks noChangeArrowheads="1"/>
                </p:cNvSpPr>
                <p:nvPr/>
              </p:nvSpPr>
              <p:spPr bwMode="auto">
                <a:xfrm>
                  <a:off x="339" y="1414"/>
                  <a:ext cx="2085" cy="115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0"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20" name="Line 1453"/>
            <p:cNvSpPr>
              <a:spLocks noChangeShapeType="1"/>
            </p:cNvSpPr>
            <p:nvPr/>
          </p:nvSpPr>
          <p:spPr bwMode="auto">
            <a:xfrm flipH="1">
              <a:off x="1947248" y="2509984"/>
              <a:ext cx="1091986"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 name="Line 1443"/>
            <p:cNvSpPr>
              <a:spLocks noChangeShapeType="1"/>
            </p:cNvSpPr>
            <p:nvPr/>
          </p:nvSpPr>
          <p:spPr bwMode="auto">
            <a:xfrm>
              <a:off x="6165493" y="2781173"/>
              <a:ext cx="1221041" cy="100115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2" name="Line 1452"/>
            <p:cNvSpPr>
              <a:spLocks noChangeShapeType="1"/>
            </p:cNvSpPr>
            <p:nvPr/>
          </p:nvSpPr>
          <p:spPr bwMode="auto">
            <a:xfrm flipV="1">
              <a:off x="5334870" y="1656167"/>
              <a:ext cx="1843891" cy="30191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4" name="Line 1443"/>
            <p:cNvSpPr>
              <a:spLocks noChangeShapeType="1"/>
            </p:cNvSpPr>
            <p:nvPr/>
          </p:nvSpPr>
          <p:spPr bwMode="auto">
            <a:xfrm flipV="1">
              <a:off x="6185542" y="2654242"/>
              <a:ext cx="1270357" cy="10546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5" name="组合 24"/>
            <p:cNvGrpSpPr/>
            <p:nvPr/>
          </p:nvGrpSpPr>
          <p:grpSpPr>
            <a:xfrm>
              <a:off x="2351004" y="1511323"/>
              <a:ext cx="4156325" cy="2270999"/>
              <a:chOff x="2712904" y="1571708"/>
              <a:chExt cx="4156325" cy="2270999"/>
            </a:xfrm>
          </p:grpSpPr>
          <p:sp>
            <p:nvSpPr>
              <p:cNvPr id="26" name="Line 1481"/>
              <p:cNvSpPr>
                <a:spLocks noChangeShapeType="1"/>
              </p:cNvSpPr>
              <p:nvPr/>
            </p:nvSpPr>
            <p:spPr bwMode="auto">
              <a:xfrm flipH="1">
                <a:off x="4829292" y="2736592"/>
                <a:ext cx="82550" cy="7080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7" name="Line 1480"/>
              <p:cNvSpPr>
                <a:spLocks noChangeShapeType="1"/>
              </p:cNvSpPr>
              <p:nvPr/>
            </p:nvSpPr>
            <p:spPr bwMode="auto">
              <a:xfrm flipH="1" flipV="1">
                <a:off x="4322879" y="2374642"/>
                <a:ext cx="506413" cy="274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 name="Line 1296"/>
              <p:cNvSpPr>
                <a:spLocks noChangeShapeType="1"/>
              </p:cNvSpPr>
              <p:nvPr/>
            </p:nvSpPr>
            <p:spPr bwMode="auto">
              <a:xfrm flipH="1" flipV="1">
                <a:off x="4166330" y="3182473"/>
                <a:ext cx="1248602" cy="35655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 name="Line 1297"/>
              <p:cNvSpPr>
                <a:spLocks noChangeShapeType="1"/>
              </p:cNvSpPr>
              <p:nvPr/>
            </p:nvSpPr>
            <p:spPr bwMode="auto">
              <a:xfrm flipV="1">
                <a:off x="4354629" y="1658680"/>
                <a:ext cx="409575" cy="87312"/>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0" name="Line 1440"/>
              <p:cNvSpPr>
                <a:spLocks noChangeShapeType="1"/>
              </p:cNvSpPr>
              <p:nvPr/>
            </p:nvSpPr>
            <p:spPr bwMode="auto">
              <a:xfrm flipH="1">
                <a:off x="3616442" y="2365117"/>
                <a:ext cx="738187" cy="8890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1" name="Line 1443"/>
              <p:cNvSpPr>
                <a:spLocks noChangeShapeType="1"/>
              </p:cNvSpPr>
              <p:nvPr/>
            </p:nvSpPr>
            <p:spPr bwMode="auto">
              <a:xfrm>
                <a:off x="4979258" y="1684770"/>
                <a:ext cx="343602" cy="21950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2" name="Line 1444"/>
              <p:cNvSpPr>
                <a:spLocks noChangeShapeType="1"/>
              </p:cNvSpPr>
              <p:nvPr/>
            </p:nvSpPr>
            <p:spPr bwMode="auto">
              <a:xfrm>
                <a:off x="5716138" y="2046643"/>
                <a:ext cx="772091" cy="67089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3" name="Line 1446"/>
              <p:cNvSpPr>
                <a:spLocks noChangeShapeType="1"/>
              </p:cNvSpPr>
              <p:nvPr/>
            </p:nvSpPr>
            <p:spPr bwMode="auto">
              <a:xfrm>
                <a:off x="5554426" y="2061471"/>
                <a:ext cx="15258" cy="65362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4" name="Line 1447"/>
              <p:cNvSpPr>
                <a:spLocks noChangeShapeType="1"/>
              </p:cNvSpPr>
              <p:nvPr/>
            </p:nvSpPr>
            <p:spPr bwMode="auto">
              <a:xfrm flipV="1">
                <a:off x="4340342" y="1923792"/>
                <a:ext cx="1082675" cy="4143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5" name="Line 1448"/>
              <p:cNvSpPr>
                <a:spLocks noChangeShapeType="1"/>
              </p:cNvSpPr>
              <p:nvPr/>
            </p:nvSpPr>
            <p:spPr bwMode="auto">
              <a:xfrm>
                <a:off x="4108567" y="1834892"/>
                <a:ext cx="165100" cy="528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6" name="Line 1449"/>
              <p:cNvSpPr>
                <a:spLocks noChangeShapeType="1"/>
              </p:cNvSpPr>
              <p:nvPr/>
            </p:nvSpPr>
            <p:spPr bwMode="auto">
              <a:xfrm flipV="1">
                <a:off x="4913429" y="2753396"/>
                <a:ext cx="600366" cy="7209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7" name="Line 1452"/>
              <p:cNvSpPr>
                <a:spLocks noChangeShapeType="1"/>
              </p:cNvSpPr>
              <p:nvPr/>
            </p:nvSpPr>
            <p:spPr bwMode="auto">
              <a:xfrm flipV="1">
                <a:off x="5656982" y="2717541"/>
                <a:ext cx="750285" cy="1661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53"/>
              <p:cNvSpPr>
                <a:spLocks noChangeShapeType="1"/>
              </p:cNvSpPr>
              <p:nvPr/>
            </p:nvSpPr>
            <p:spPr bwMode="auto">
              <a:xfrm flipH="1">
                <a:off x="4142045" y="2454017"/>
                <a:ext cx="49071" cy="56832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6"/>
              <p:cNvSpPr>
                <a:spLocks noChangeShapeType="1"/>
              </p:cNvSpPr>
              <p:nvPr/>
            </p:nvSpPr>
            <p:spPr bwMode="auto">
              <a:xfrm flipH="1">
                <a:off x="5441225" y="2788880"/>
                <a:ext cx="198830" cy="55199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0" name="Line 1445"/>
              <p:cNvSpPr>
                <a:spLocks noChangeShapeType="1"/>
              </p:cNvSpPr>
              <p:nvPr/>
            </p:nvSpPr>
            <p:spPr bwMode="auto">
              <a:xfrm flipH="1">
                <a:off x="5651617" y="2825492"/>
                <a:ext cx="819150" cy="6191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41" name="Picture 14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10142" y="2236530"/>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2"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229" y="328156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3" name="Picture 14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4959" y="2632721"/>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Picture 14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26923" y="2266464"/>
                <a:ext cx="477838" cy="322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Picture 146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779" y="1574087"/>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 name="Picture 146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91329" y="296043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7" name="Group 1468"/>
              <p:cNvGrpSpPr>
                <a:grpSpLocks/>
              </p:cNvGrpSpPr>
              <p:nvPr/>
            </p:nvGrpSpPr>
            <p:grpSpPr bwMode="auto">
              <a:xfrm rot="20933218">
                <a:off x="4506350" y="2466491"/>
                <a:ext cx="725487" cy="603250"/>
                <a:chOff x="2949" y="196"/>
                <a:chExt cx="941" cy="598"/>
              </a:xfrm>
            </p:grpSpPr>
            <p:sp>
              <p:nvSpPr>
                <p:cNvPr id="129" name="Oval 146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0" name="Oval 147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1" name="Oval 147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2" name="Oval 147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3" name="Oval 147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4" name="Oval 147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5" name="Oval 147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6" name="Oval 147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7"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8"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9"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48" name="Text Box 1524"/>
              <p:cNvSpPr txBox="1">
                <a:spLocks noChangeArrowheads="1"/>
              </p:cNvSpPr>
              <p:nvPr/>
            </p:nvSpPr>
            <p:spPr bwMode="auto">
              <a:xfrm>
                <a:off x="4619062" y="2626828"/>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49" name="Line 1453"/>
              <p:cNvSpPr>
                <a:spLocks noChangeShapeType="1"/>
              </p:cNvSpPr>
              <p:nvPr/>
            </p:nvSpPr>
            <p:spPr bwMode="auto">
              <a:xfrm flipH="1">
                <a:off x="2979665" y="3235356"/>
                <a:ext cx="1153437" cy="60735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3139508" y="2218388"/>
                <a:ext cx="768350" cy="528637"/>
                <a:chOff x="2949" y="196"/>
                <a:chExt cx="941" cy="598"/>
              </a:xfrm>
            </p:grpSpPr>
            <p:sp>
              <p:nvSpPr>
                <p:cNvPr id="118" name="Oval 135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9" name="Oval 135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0" name="Oval 135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1" name="Oval 136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2" name="Oval 136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3" name="Oval 136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4" name="Oval 136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5" name="Oval 136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126"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7"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8"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1" name="Text Box 1524"/>
              <p:cNvSpPr txBox="1">
                <a:spLocks noChangeArrowheads="1"/>
              </p:cNvSpPr>
              <p:nvPr/>
            </p:nvSpPr>
            <p:spPr bwMode="auto">
              <a:xfrm>
                <a:off x="3234758" y="2337450"/>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a:latin typeface="Times New Roman" pitchFamily="18" charset="0"/>
                    <a:ea typeface="微软雅黑" pitchFamily="34" charset="-122"/>
                  </a:rPr>
                  <a:t>网络</a:t>
                </a:r>
              </a:p>
            </p:txBody>
          </p:sp>
          <p:grpSp>
            <p:nvGrpSpPr>
              <p:cNvPr id="52" name="Group 1344"/>
              <p:cNvGrpSpPr>
                <a:grpSpLocks/>
              </p:cNvGrpSpPr>
              <p:nvPr/>
            </p:nvGrpSpPr>
            <p:grpSpPr bwMode="auto">
              <a:xfrm>
                <a:off x="5190791" y="1675914"/>
                <a:ext cx="738187" cy="617537"/>
                <a:chOff x="2949" y="196"/>
                <a:chExt cx="941" cy="598"/>
              </a:xfrm>
            </p:grpSpPr>
            <p:sp>
              <p:nvSpPr>
                <p:cNvPr id="107" name="Oval 134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8" name="Oval 134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9" name="Oval 134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0" name="Oval 134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1" name="Oval 134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2" name="Oval 135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3" name="Oval 135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4" name="Oval 135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5"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6"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7"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3" name="Text Box 1524"/>
              <p:cNvSpPr txBox="1">
                <a:spLocks noChangeArrowheads="1"/>
              </p:cNvSpPr>
              <p:nvPr/>
            </p:nvSpPr>
            <p:spPr bwMode="auto">
              <a:xfrm>
                <a:off x="5281278" y="1836251"/>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4" name="Group 1404"/>
              <p:cNvGrpSpPr>
                <a:grpSpLocks/>
              </p:cNvGrpSpPr>
              <p:nvPr/>
            </p:nvGrpSpPr>
            <p:grpSpPr bwMode="auto">
              <a:xfrm rot="20933218">
                <a:off x="5255197" y="3165217"/>
                <a:ext cx="611187" cy="523875"/>
                <a:chOff x="2949" y="196"/>
                <a:chExt cx="941" cy="598"/>
              </a:xfrm>
            </p:grpSpPr>
            <p:sp>
              <p:nvSpPr>
                <p:cNvPr id="96" name="Oval 140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7" name="Oval 140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8" name="Oval 140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9" name="Oval 140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0" name="Oval 140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1" name="Oval 141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2" name="Oval 141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3" name="Oval 141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4"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5"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6"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5" name="Text Box 1524"/>
              <p:cNvSpPr txBox="1">
                <a:spLocks noChangeArrowheads="1"/>
              </p:cNvSpPr>
              <p:nvPr/>
            </p:nvSpPr>
            <p:spPr bwMode="auto">
              <a:xfrm>
                <a:off x="5271072" y="3254117"/>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6" name="Group 1416"/>
              <p:cNvGrpSpPr>
                <a:grpSpLocks/>
              </p:cNvGrpSpPr>
              <p:nvPr/>
            </p:nvGrpSpPr>
            <p:grpSpPr bwMode="auto">
              <a:xfrm rot="282232">
                <a:off x="6224704" y="2566730"/>
                <a:ext cx="644525" cy="441325"/>
                <a:chOff x="2949" y="196"/>
                <a:chExt cx="941" cy="598"/>
              </a:xfrm>
            </p:grpSpPr>
            <p:sp>
              <p:nvSpPr>
                <p:cNvPr id="85" name="Oval 141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6" name="Oval 141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7" name="Oval 141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8" name="Oval 142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9" name="Oval 142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0" name="Oval 142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1" name="Oval 142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2" name="Oval 142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3"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4"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5"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7" name="Text Box 1524"/>
              <p:cNvSpPr txBox="1">
                <a:spLocks noChangeArrowheads="1"/>
              </p:cNvSpPr>
              <p:nvPr/>
            </p:nvSpPr>
            <p:spPr bwMode="auto">
              <a:xfrm>
                <a:off x="6278679" y="2620705"/>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58" name="Line 1453"/>
              <p:cNvSpPr>
                <a:spLocks noChangeShapeType="1"/>
              </p:cNvSpPr>
              <p:nvPr/>
            </p:nvSpPr>
            <p:spPr bwMode="auto">
              <a:xfrm flipH="1" flipV="1">
                <a:off x="2712904" y="1571708"/>
                <a:ext cx="1472339" cy="302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9" name="Group 1320"/>
              <p:cNvGrpSpPr>
                <a:grpSpLocks/>
              </p:cNvGrpSpPr>
              <p:nvPr/>
            </p:nvGrpSpPr>
            <p:grpSpPr bwMode="auto">
              <a:xfrm>
                <a:off x="3883138" y="1675914"/>
                <a:ext cx="738187" cy="441325"/>
                <a:chOff x="2949" y="196"/>
                <a:chExt cx="941" cy="598"/>
              </a:xfrm>
            </p:grpSpPr>
            <p:sp>
              <p:nvSpPr>
                <p:cNvPr id="74" name="Oval 1321"/>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5" name="Oval 1322"/>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6" name="Oval 1323"/>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7" name="Oval 1324"/>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8" name="Oval 1325"/>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9" name="Oval 1326"/>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0" name="Oval 1327"/>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1" name="Oval 1328"/>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2"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3"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4"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0" name="Text Box 1524"/>
              <p:cNvSpPr txBox="1">
                <a:spLocks noChangeArrowheads="1"/>
              </p:cNvSpPr>
              <p:nvPr/>
            </p:nvSpPr>
            <p:spPr bwMode="auto">
              <a:xfrm>
                <a:off x="3972038" y="1747351"/>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61" name="Group 1428"/>
              <p:cNvGrpSpPr>
                <a:grpSpLocks/>
              </p:cNvGrpSpPr>
              <p:nvPr/>
            </p:nvGrpSpPr>
            <p:grpSpPr bwMode="auto">
              <a:xfrm rot="20745072">
                <a:off x="3800586" y="2811209"/>
                <a:ext cx="655637" cy="615950"/>
                <a:chOff x="2949" y="196"/>
                <a:chExt cx="941" cy="598"/>
              </a:xfrm>
            </p:grpSpPr>
            <p:sp>
              <p:nvSpPr>
                <p:cNvPr id="63" name="Oval 142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4" name="Oval 143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5" name="Oval 143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6" name="Oval 143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7" name="Oval 143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8" name="Oval 143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9" name="Oval 143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0" name="Oval 143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71"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2"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3"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2" name="Text Box 1524"/>
              <p:cNvSpPr txBox="1">
                <a:spLocks noChangeArrowheads="1"/>
              </p:cNvSpPr>
              <p:nvPr/>
            </p:nvSpPr>
            <p:spPr bwMode="auto">
              <a:xfrm>
                <a:off x="3848211" y="2969959"/>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sp>
          <p:nvSpPr>
            <p:cNvPr id="140" name="Text Box 1524"/>
            <p:cNvSpPr txBox="1">
              <a:spLocks noChangeArrowheads="1"/>
            </p:cNvSpPr>
            <p:nvPr/>
          </p:nvSpPr>
          <p:spPr bwMode="auto">
            <a:xfrm>
              <a:off x="5949640" y="3935271"/>
              <a:ext cx="72327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路由器</a:t>
              </a:r>
            </a:p>
          </p:txBody>
        </p:sp>
        <p:grpSp>
          <p:nvGrpSpPr>
            <p:cNvPr id="141" name="Group 198"/>
            <p:cNvGrpSpPr>
              <a:grpSpLocks/>
            </p:cNvGrpSpPr>
            <p:nvPr/>
          </p:nvGrpSpPr>
          <p:grpSpPr bwMode="auto">
            <a:xfrm>
              <a:off x="2307462" y="3617758"/>
              <a:ext cx="533522" cy="534452"/>
              <a:chOff x="975" y="2584"/>
              <a:chExt cx="407" cy="438"/>
            </a:xfrm>
          </p:grpSpPr>
          <p:sp>
            <p:nvSpPr>
              <p:cNvPr id="14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3"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1680487" y="2320662"/>
              <a:ext cx="533522" cy="534452"/>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7" name="Group 198"/>
            <p:cNvGrpSpPr>
              <a:grpSpLocks/>
            </p:cNvGrpSpPr>
            <p:nvPr/>
          </p:nvGrpSpPr>
          <p:grpSpPr bwMode="auto">
            <a:xfrm>
              <a:off x="6912001" y="1371248"/>
              <a:ext cx="533522" cy="534452"/>
              <a:chOff x="975" y="2584"/>
              <a:chExt cx="407" cy="438"/>
            </a:xfrm>
          </p:grpSpPr>
          <p:sp>
            <p:nvSpPr>
              <p:cNvPr id="148"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9"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3" name="Group 198"/>
            <p:cNvGrpSpPr>
              <a:grpSpLocks/>
            </p:cNvGrpSpPr>
            <p:nvPr/>
          </p:nvGrpSpPr>
          <p:grpSpPr bwMode="auto">
            <a:xfrm>
              <a:off x="7088549" y="3434952"/>
              <a:ext cx="533522" cy="534452"/>
              <a:chOff x="975" y="2584"/>
              <a:chExt cx="407" cy="438"/>
            </a:xfrm>
          </p:grpSpPr>
          <p:sp>
            <p:nvSpPr>
              <p:cNvPr id="154"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5"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6" name="Group 198"/>
            <p:cNvGrpSpPr>
              <a:grpSpLocks/>
            </p:cNvGrpSpPr>
            <p:nvPr/>
          </p:nvGrpSpPr>
          <p:grpSpPr bwMode="auto">
            <a:xfrm>
              <a:off x="7189138" y="2345265"/>
              <a:ext cx="533522" cy="534452"/>
              <a:chOff x="975" y="2584"/>
              <a:chExt cx="407" cy="438"/>
            </a:xfrm>
          </p:grpSpPr>
          <p:sp>
            <p:nvSpPr>
              <p:cNvPr id="15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9" name="Group 198"/>
            <p:cNvGrpSpPr>
              <a:grpSpLocks/>
            </p:cNvGrpSpPr>
            <p:nvPr/>
          </p:nvGrpSpPr>
          <p:grpSpPr bwMode="auto">
            <a:xfrm>
              <a:off x="2092388" y="1218960"/>
              <a:ext cx="533522" cy="534452"/>
              <a:chOff x="975" y="2584"/>
              <a:chExt cx="407" cy="438"/>
            </a:xfrm>
          </p:grpSpPr>
          <p:sp>
            <p:nvSpPr>
              <p:cNvPr id="160"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61"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74" name="Line 1443"/>
            <p:cNvSpPr>
              <a:spLocks noChangeShapeType="1"/>
            </p:cNvSpPr>
            <p:nvPr/>
          </p:nvSpPr>
          <p:spPr bwMode="auto">
            <a:xfrm>
              <a:off x="5829582" y="3221014"/>
              <a:ext cx="413829" cy="768898"/>
            </a:xfrm>
            <a:prstGeom prst="line">
              <a:avLst/>
            </a:prstGeom>
            <a:noFill/>
            <a:ln w="12700">
              <a:solidFill>
                <a:srgbClr val="000000"/>
              </a:solidFill>
              <a:prstDash val="sysDot"/>
              <a:round/>
              <a:headEnd type="triangle" w="med" len="med"/>
              <a:tailEnd type="none" w="med" len="me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sp>
        <p:nvSpPr>
          <p:cNvPr id="3" name="标题 2">
            <a:extLst>
              <a:ext uri="{FF2B5EF4-FFF2-40B4-BE49-F238E27FC236}">
                <a16:creationId xmlns:a16="http://schemas.microsoft.com/office/drawing/2014/main" id="{427CB165-480F-54E6-DC2E-AAB4D6B71FB8}"/>
              </a:ext>
            </a:extLst>
          </p:cNvPr>
          <p:cNvSpPr>
            <a:spLocks noGrp="1"/>
          </p:cNvSpPr>
          <p:nvPr>
            <p:ph type="title"/>
          </p:nvPr>
        </p:nvSpPr>
        <p:spPr>
          <a:xfrm>
            <a:off x="486000" y="550723"/>
            <a:ext cx="8172000" cy="338554"/>
          </a:xfrm>
        </p:spPr>
        <p:txBody>
          <a:bodyPr/>
          <a:lstStyle/>
          <a:p>
            <a:r>
              <a:rPr lang="zh-CN" altLang="en-US" dirty="0"/>
              <a:t>网络互连使用路由器</a:t>
            </a:r>
          </a:p>
        </p:txBody>
      </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Oval 12"/>
          <p:cNvSpPr>
            <a:spLocks noChangeArrowheads="1"/>
          </p:cNvSpPr>
          <p:nvPr/>
        </p:nvSpPr>
        <p:spPr bwMode="auto">
          <a:xfrm>
            <a:off x="3494478" y="2332325"/>
            <a:ext cx="854484" cy="743231"/>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4" name="Oval 13"/>
          <p:cNvSpPr>
            <a:spLocks noChangeArrowheads="1"/>
          </p:cNvSpPr>
          <p:nvPr/>
        </p:nvSpPr>
        <p:spPr bwMode="auto">
          <a:xfrm>
            <a:off x="1895217" y="2094491"/>
            <a:ext cx="838379" cy="746947"/>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5" name="Oval 14"/>
          <p:cNvSpPr>
            <a:spLocks noChangeArrowheads="1"/>
          </p:cNvSpPr>
          <p:nvPr/>
        </p:nvSpPr>
        <p:spPr bwMode="auto">
          <a:xfrm>
            <a:off x="3360620" y="1833432"/>
            <a:ext cx="853476" cy="72000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6" name="Oval 15"/>
          <p:cNvSpPr>
            <a:spLocks noChangeArrowheads="1"/>
          </p:cNvSpPr>
          <p:nvPr/>
        </p:nvSpPr>
        <p:spPr bwMode="auto">
          <a:xfrm>
            <a:off x="2912746" y="2474468"/>
            <a:ext cx="853476" cy="75902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7" name="Oval 16"/>
          <p:cNvSpPr>
            <a:spLocks noChangeArrowheads="1"/>
          </p:cNvSpPr>
          <p:nvPr/>
        </p:nvSpPr>
        <p:spPr bwMode="auto">
          <a:xfrm>
            <a:off x="2179038" y="2408506"/>
            <a:ext cx="852470" cy="720004"/>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8" name="Oval 17"/>
          <p:cNvSpPr>
            <a:spLocks noChangeArrowheads="1"/>
          </p:cNvSpPr>
          <p:nvPr/>
        </p:nvSpPr>
        <p:spPr bwMode="auto">
          <a:xfrm>
            <a:off x="2837262" y="1729380"/>
            <a:ext cx="838379" cy="745089"/>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9" name="Oval 18"/>
          <p:cNvSpPr>
            <a:spLocks noChangeArrowheads="1"/>
          </p:cNvSpPr>
          <p:nvPr/>
        </p:nvSpPr>
        <p:spPr bwMode="auto">
          <a:xfrm>
            <a:off x="2298806" y="1729379"/>
            <a:ext cx="838380" cy="717218"/>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20" name="Oval 19"/>
          <p:cNvSpPr>
            <a:spLocks noChangeArrowheads="1"/>
          </p:cNvSpPr>
          <p:nvPr/>
        </p:nvSpPr>
        <p:spPr bwMode="auto">
          <a:xfrm>
            <a:off x="2119657" y="1898465"/>
            <a:ext cx="2034053" cy="1034949"/>
          </a:xfrm>
          <a:prstGeom prst="ellipse">
            <a:avLst/>
          </a:prstGeom>
          <a:solidFill>
            <a:srgbClr val="99FFCC"/>
          </a:solidFill>
          <a:ln>
            <a:noFill/>
          </a:ln>
          <a:extLst>
            <a:ext uri="{91240B29-F687-4F45-9708-019B960494DF}">
              <a14:hiddenLine xmlns:a14="http://schemas.microsoft.com/office/drawing/2010/main" w="9525">
                <a:solidFill>
                  <a:srgbClr val="000000"/>
                </a:solidFill>
                <a:prstDash val="dash"/>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1" name="Line 20"/>
          <p:cNvSpPr>
            <a:spLocks noChangeShapeType="1"/>
          </p:cNvSpPr>
          <p:nvPr/>
        </p:nvSpPr>
        <p:spPr bwMode="auto">
          <a:xfrm flipH="1">
            <a:off x="3472337" y="1577017"/>
            <a:ext cx="32971" cy="3744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2" name="Line 21"/>
          <p:cNvSpPr>
            <a:spLocks noChangeShapeType="1"/>
          </p:cNvSpPr>
          <p:nvPr/>
        </p:nvSpPr>
        <p:spPr bwMode="auto">
          <a:xfrm>
            <a:off x="3333446" y="2526494"/>
            <a:ext cx="218402" cy="2136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3" name="Line 22"/>
          <p:cNvSpPr>
            <a:spLocks noChangeShapeType="1"/>
          </p:cNvSpPr>
          <p:nvPr/>
        </p:nvSpPr>
        <p:spPr bwMode="auto">
          <a:xfrm flipH="1" flipV="1">
            <a:off x="3943359" y="3042110"/>
            <a:ext cx="186195" cy="3446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4" name="Line 23"/>
          <p:cNvSpPr>
            <a:spLocks noChangeShapeType="1"/>
          </p:cNvSpPr>
          <p:nvPr/>
        </p:nvSpPr>
        <p:spPr bwMode="auto">
          <a:xfrm flipH="1">
            <a:off x="3746093" y="1707082"/>
            <a:ext cx="38346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5" name="Line 24"/>
          <p:cNvSpPr>
            <a:spLocks noChangeShapeType="1"/>
          </p:cNvSpPr>
          <p:nvPr/>
        </p:nvSpPr>
        <p:spPr bwMode="auto">
          <a:xfrm flipH="1" flipV="1">
            <a:off x="3197574" y="2640766"/>
            <a:ext cx="324080" cy="83241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6" name="Line 25"/>
          <p:cNvSpPr>
            <a:spLocks noChangeShapeType="1"/>
          </p:cNvSpPr>
          <p:nvPr/>
        </p:nvSpPr>
        <p:spPr bwMode="auto">
          <a:xfrm flipH="1" flipV="1">
            <a:off x="2694344" y="2991943"/>
            <a:ext cx="172104"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7" name="Line 26"/>
          <p:cNvSpPr>
            <a:spLocks noChangeShapeType="1"/>
          </p:cNvSpPr>
          <p:nvPr/>
        </p:nvSpPr>
        <p:spPr bwMode="auto">
          <a:xfrm flipV="1">
            <a:off x="2119657" y="3020742"/>
            <a:ext cx="332131" cy="409706"/>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8" name="Line 27"/>
          <p:cNvSpPr>
            <a:spLocks noChangeShapeType="1"/>
          </p:cNvSpPr>
          <p:nvPr/>
        </p:nvSpPr>
        <p:spPr bwMode="auto">
          <a:xfrm>
            <a:off x="2136617" y="1677450"/>
            <a:ext cx="323224" cy="195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9" name="Freeform 28"/>
          <p:cNvSpPr>
            <a:spLocks/>
          </p:cNvSpPr>
          <p:nvPr/>
        </p:nvSpPr>
        <p:spPr bwMode="auto">
          <a:xfrm>
            <a:off x="2974140" y="1823213"/>
            <a:ext cx="110710" cy="101265"/>
          </a:xfrm>
          <a:custGeom>
            <a:avLst/>
            <a:gdLst>
              <a:gd name="T0" fmla="*/ 0 w 112"/>
              <a:gd name="T1" fmla="*/ 6 h 113"/>
              <a:gd name="T2" fmla="*/ 48 w 112"/>
              <a:gd name="T3" fmla="*/ 22 h 113"/>
              <a:gd name="T4" fmla="*/ 24 w 112"/>
              <a:gd name="T5" fmla="*/ 6 h 113"/>
              <a:gd name="T6" fmla="*/ 64 w 112"/>
              <a:gd name="T7" fmla="*/ 14 h 113"/>
              <a:gd name="T8" fmla="*/ 112 w 112"/>
              <a:gd name="T9" fmla="*/ 78 h 113"/>
              <a:gd name="T10" fmla="*/ 104 w 112"/>
              <a:gd name="T11" fmla="*/ 102 h 113"/>
              <a:gd name="T12" fmla="*/ 64 w 112"/>
              <a:gd name="T13" fmla="*/ 70 h 113"/>
              <a:gd name="T14" fmla="*/ 16 w 112"/>
              <a:gd name="T15" fmla="*/ 38 h 113"/>
              <a:gd name="T16" fmla="*/ 0 w 112"/>
              <a:gd name="T17" fmla="*/ 6 h 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12" h="113">
                <a:moveTo>
                  <a:pt x="0" y="6"/>
                </a:moveTo>
                <a:cubicBezTo>
                  <a:pt x="16" y="11"/>
                  <a:pt x="62" y="31"/>
                  <a:pt x="48" y="22"/>
                </a:cubicBezTo>
                <a:cubicBezTo>
                  <a:pt x="40" y="17"/>
                  <a:pt x="15" y="10"/>
                  <a:pt x="24" y="6"/>
                </a:cubicBezTo>
                <a:cubicBezTo>
                  <a:pt x="36" y="0"/>
                  <a:pt x="51" y="11"/>
                  <a:pt x="64" y="14"/>
                </a:cubicBezTo>
                <a:cubicBezTo>
                  <a:pt x="92" y="33"/>
                  <a:pt x="101" y="46"/>
                  <a:pt x="112" y="78"/>
                </a:cubicBezTo>
                <a:cubicBezTo>
                  <a:pt x="109" y="86"/>
                  <a:pt x="112" y="98"/>
                  <a:pt x="104" y="102"/>
                </a:cubicBezTo>
                <a:cubicBezTo>
                  <a:pt x="83" y="113"/>
                  <a:pt x="71" y="76"/>
                  <a:pt x="64" y="70"/>
                </a:cubicBezTo>
                <a:cubicBezTo>
                  <a:pt x="50" y="57"/>
                  <a:pt x="16" y="38"/>
                  <a:pt x="16" y="38"/>
                </a:cubicBezTo>
                <a:cubicBezTo>
                  <a:pt x="7" y="10"/>
                  <a:pt x="14" y="20"/>
                  <a:pt x="0" y="6"/>
                </a:cubicBezTo>
                <a:close/>
              </a:path>
            </a:pathLst>
          </a:custGeom>
          <a:solidFill>
            <a:srgbClr val="99FFCC"/>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0" name="Freeform 29"/>
          <p:cNvSpPr>
            <a:spLocks/>
          </p:cNvSpPr>
          <p:nvPr/>
        </p:nvSpPr>
        <p:spPr bwMode="auto">
          <a:xfrm>
            <a:off x="2128715" y="2598030"/>
            <a:ext cx="121781" cy="199743"/>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Lst>
            <a:ahLst/>
            <a:cxnLst>
              <a:cxn ang="0">
                <a:pos x="T0" y="T1"/>
              </a:cxn>
              <a:cxn ang="0">
                <a:pos x="T2" y="T3"/>
              </a:cxn>
              <a:cxn ang="0">
                <a:pos x="T4" y="T5"/>
              </a:cxn>
              <a:cxn ang="0">
                <a:pos x="T6" y="T7"/>
              </a:cxn>
              <a:cxn ang="0">
                <a:pos x="T8" y="T9"/>
              </a:cxn>
              <a:cxn ang="0">
                <a:pos x="T10" y="T11"/>
              </a:cxn>
              <a:cxn ang="0">
                <a:pos x="T12" y="T13"/>
              </a:cxn>
            </a:cxnLst>
            <a:rect l="0" t="0" r="r" b="b"/>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1" name="Line 30"/>
          <p:cNvSpPr>
            <a:spLocks noChangeShapeType="1"/>
          </p:cNvSpPr>
          <p:nvPr/>
        </p:nvSpPr>
        <p:spPr bwMode="auto">
          <a:xfrm>
            <a:off x="2203194" y="2396428"/>
            <a:ext cx="18720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2" name="Line 31"/>
          <p:cNvSpPr>
            <a:spLocks noChangeShapeType="1"/>
          </p:cNvSpPr>
          <p:nvPr/>
        </p:nvSpPr>
        <p:spPr bwMode="auto">
          <a:xfrm flipV="1">
            <a:off x="2249490" y="2094491"/>
            <a:ext cx="186194" cy="21553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3" name="Line 32"/>
          <p:cNvSpPr>
            <a:spLocks noChangeShapeType="1"/>
          </p:cNvSpPr>
          <p:nvPr/>
        </p:nvSpPr>
        <p:spPr bwMode="auto">
          <a:xfrm>
            <a:off x="2858397" y="2094491"/>
            <a:ext cx="171098" cy="2880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4" name="Line 33"/>
          <p:cNvSpPr>
            <a:spLocks noChangeShapeType="1"/>
          </p:cNvSpPr>
          <p:nvPr/>
        </p:nvSpPr>
        <p:spPr bwMode="auto">
          <a:xfrm flipV="1">
            <a:off x="3162347" y="2080556"/>
            <a:ext cx="226454" cy="3623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5" name="Line 34"/>
          <p:cNvSpPr>
            <a:spLocks noChangeShapeType="1"/>
          </p:cNvSpPr>
          <p:nvPr/>
        </p:nvSpPr>
        <p:spPr bwMode="auto">
          <a:xfrm>
            <a:off x="3817552" y="2173460"/>
            <a:ext cx="140904" cy="144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6" name="Line 35"/>
          <p:cNvSpPr>
            <a:spLocks noChangeShapeType="1"/>
          </p:cNvSpPr>
          <p:nvPr/>
        </p:nvSpPr>
        <p:spPr bwMode="auto">
          <a:xfrm flipH="1">
            <a:off x="3904107" y="2432662"/>
            <a:ext cx="92594" cy="2870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7" name="Line 36"/>
          <p:cNvSpPr>
            <a:spLocks noChangeShapeType="1"/>
          </p:cNvSpPr>
          <p:nvPr/>
        </p:nvSpPr>
        <p:spPr bwMode="auto">
          <a:xfrm>
            <a:off x="3645447" y="2598030"/>
            <a:ext cx="132853" cy="1152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8" name="Line 37"/>
          <p:cNvSpPr>
            <a:spLocks noChangeShapeType="1"/>
          </p:cNvSpPr>
          <p:nvPr/>
        </p:nvSpPr>
        <p:spPr bwMode="auto">
          <a:xfrm>
            <a:off x="2717493" y="2826574"/>
            <a:ext cx="234505" cy="864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9" name="Line 38"/>
          <p:cNvSpPr>
            <a:spLocks noChangeShapeType="1"/>
          </p:cNvSpPr>
          <p:nvPr/>
        </p:nvSpPr>
        <p:spPr bwMode="auto">
          <a:xfrm flipV="1">
            <a:off x="3045598" y="2719734"/>
            <a:ext cx="116749" cy="150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0" name="Line 39"/>
          <p:cNvSpPr>
            <a:spLocks noChangeShapeType="1"/>
          </p:cNvSpPr>
          <p:nvPr/>
        </p:nvSpPr>
        <p:spPr bwMode="auto">
          <a:xfrm>
            <a:off x="3607202" y="2224557"/>
            <a:ext cx="16104" cy="26570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1" name="Line 40"/>
          <p:cNvSpPr>
            <a:spLocks noChangeShapeType="1"/>
          </p:cNvSpPr>
          <p:nvPr/>
        </p:nvSpPr>
        <p:spPr bwMode="auto">
          <a:xfrm flipH="1">
            <a:off x="2600744" y="2138156"/>
            <a:ext cx="491151" cy="58157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242" name="Group 41"/>
          <p:cNvGrpSpPr>
            <a:grpSpLocks/>
          </p:cNvGrpSpPr>
          <p:nvPr/>
        </p:nvGrpSpPr>
        <p:grpSpPr bwMode="auto">
          <a:xfrm>
            <a:off x="3333446" y="1878955"/>
            <a:ext cx="562610" cy="388338"/>
            <a:chOff x="2949" y="196"/>
            <a:chExt cx="941" cy="598"/>
          </a:xfrm>
          <a:solidFill>
            <a:schemeClr val="bg1"/>
          </a:solidFill>
        </p:grpSpPr>
        <p:sp>
          <p:nvSpPr>
            <p:cNvPr id="311" name="Oval 4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2" name="Oval 4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3" name="Oval 4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4" name="Oval 4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5" name="Oval 4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6" name="Oval 4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7" name="Oval 4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8" name="Oval 4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9" name="Freeform 5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0" name="Freeform 5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1" name="Freeform 5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3" name="Group 53"/>
          <p:cNvGrpSpPr>
            <a:grpSpLocks/>
          </p:cNvGrpSpPr>
          <p:nvPr/>
        </p:nvGrpSpPr>
        <p:grpSpPr bwMode="auto">
          <a:xfrm>
            <a:off x="3615254" y="2655630"/>
            <a:ext cx="561604" cy="386480"/>
            <a:chOff x="2949" y="196"/>
            <a:chExt cx="941" cy="598"/>
          </a:xfrm>
          <a:solidFill>
            <a:schemeClr val="bg1"/>
          </a:solidFill>
        </p:grpSpPr>
        <p:sp>
          <p:nvSpPr>
            <p:cNvPr id="300" name="Oval 5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1" name="Oval 5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2" name="Oval 5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3" name="Oval 5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4" name="Oval 5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5" name="Oval 5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6" name="Oval 6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7" name="Oval 6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8" name="Freeform 6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9" name="Freeform 6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0" name="Freeform 6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4" name="Group 65"/>
          <p:cNvGrpSpPr>
            <a:grpSpLocks/>
          </p:cNvGrpSpPr>
          <p:nvPr/>
        </p:nvGrpSpPr>
        <p:grpSpPr bwMode="auto">
          <a:xfrm>
            <a:off x="2819146" y="2353693"/>
            <a:ext cx="561604" cy="388338"/>
            <a:chOff x="2949" y="196"/>
            <a:chExt cx="941" cy="598"/>
          </a:xfrm>
          <a:solidFill>
            <a:schemeClr val="bg1"/>
          </a:solidFill>
        </p:grpSpPr>
        <p:sp>
          <p:nvSpPr>
            <p:cNvPr id="289" name="Oval 6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0" name="Oval 6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1" name="Oval 6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2" name="Oval 6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3" name="Oval 7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4" name="Oval 7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5" name="Oval 7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6" name="Oval 7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7" name="Freeform 7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8" name="Freeform 7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9" name="Freeform 7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5" name="Group 77"/>
          <p:cNvGrpSpPr>
            <a:grpSpLocks/>
          </p:cNvGrpSpPr>
          <p:nvPr/>
        </p:nvGrpSpPr>
        <p:grpSpPr bwMode="auto">
          <a:xfrm>
            <a:off x="2211245" y="2655630"/>
            <a:ext cx="560597" cy="386480"/>
            <a:chOff x="2949" y="196"/>
            <a:chExt cx="941" cy="598"/>
          </a:xfrm>
          <a:solidFill>
            <a:schemeClr val="bg1"/>
          </a:solidFill>
        </p:grpSpPr>
        <p:sp>
          <p:nvSpPr>
            <p:cNvPr id="278" name="Oval 7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9" name="Oval 7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0" name="Oval 8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1" name="Oval 8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2" name="Oval 8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3" name="Oval 8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4" name="Oval 8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5" name="Oval 8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6" name="Freeform 8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7" name="Freeform 8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8" name="Freeform 8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6" name="Group 89"/>
          <p:cNvGrpSpPr>
            <a:grpSpLocks/>
          </p:cNvGrpSpPr>
          <p:nvPr/>
        </p:nvGrpSpPr>
        <p:grpSpPr bwMode="auto">
          <a:xfrm>
            <a:off x="2350136" y="1793483"/>
            <a:ext cx="562610" cy="387409"/>
            <a:chOff x="2949" y="196"/>
            <a:chExt cx="941" cy="598"/>
          </a:xfrm>
          <a:solidFill>
            <a:schemeClr val="bg1"/>
          </a:solidFill>
        </p:grpSpPr>
        <p:sp>
          <p:nvSpPr>
            <p:cNvPr id="267" name="Oval 9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8" name="Oval 9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9" name="Oval 9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0" name="Oval 9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1" name="Oval 9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2" name="Oval 9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3" name="Oval 9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4" name="Oval 9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5" name="Freeform 9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6" name="Freeform 9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7" name="Freeform 10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252" name="Text Box 106"/>
          <p:cNvSpPr txBox="1">
            <a:spLocks noChangeArrowheads="1"/>
          </p:cNvSpPr>
          <p:nvPr/>
        </p:nvSpPr>
        <p:spPr bwMode="auto">
          <a:xfrm>
            <a:off x="2540878" y="3720758"/>
            <a:ext cx="120097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(a) </a:t>
            </a:r>
            <a:r>
              <a:rPr kumimoji="1" lang="zh-CN" altLang="en-US" sz="1400" b="1" dirty="0">
                <a:solidFill>
                  <a:srgbClr val="0000CC"/>
                </a:solidFill>
                <a:latin typeface="微软雅黑" pitchFamily="34" charset="-122"/>
                <a:ea typeface="微软雅黑" pitchFamily="34" charset="-122"/>
              </a:rPr>
              <a:t>互连网络</a:t>
            </a:r>
          </a:p>
        </p:txBody>
      </p:sp>
      <p:pic>
        <p:nvPicPr>
          <p:cNvPr id="254"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0050" y="2009020"/>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1" name="Picture 1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82401" y="2440094"/>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2" name="Picture 12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6056"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3" name="Picture 1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66449" y="2784767"/>
            <a:ext cx="320054" cy="1960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4" name="Picture 12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23037"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65" name="Text Box 126"/>
          <p:cNvSpPr txBox="1">
            <a:spLocks noChangeArrowheads="1"/>
          </p:cNvSpPr>
          <p:nvPr/>
        </p:nvSpPr>
        <p:spPr bwMode="auto">
          <a:xfrm>
            <a:off x="1048101" y="224311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路由器</a:t>
            </a:r>
          </a:p>
        </p:txBody>
      </p:sp>
      <p:sp>
        <p:nvSpPr>
          <p:cNvPr id="266" name="Line 127"/>
          <p:cNvSpPr>
            <a:spLocks noChangeShapeType="1"/>
          </p:cNvSpPr>
          <p:nvPr/>
        </p:nvSpPr>
        <p:spPr bwMode="auto">
          <a:xfrm flipV="1">
            <a:off x="1632615" y="2380635"/>
            <a:ext cx="422216" cy="981"/>
          </a:xfrm>
          <a:prstGeom prst="line">
            <a:avLst/>
          </a:prstGeom>
          <a:noFill/>
          <a:ln w="28575">
            <a:solidFill>
              <a:srgbClr val="00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8" name="Line 5"/>
          <p:cNvSpPr>
            <a:spLocks noChangeShapeType="1"/>
          </p:cNvSpPr>
          <p:nvPr/>
        </p:nvSpPr>
        <p:spPr bwMode="auto">
          <a:xfrm>
            <a:off x="6191966" y="1577017"/>
            <a:ext cx="47304" cy="4320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9" name="Line 6"/>
          <p:cNvSpPr>
            <a:spLocks noChangeShapeType="1"/>
          </p:cNvSpPr>
          <p:nvPr/>
        </p:nvSpPr>
        <p:spPr bwMode="auto">
          <a:xfrm flipH="1" flipV="1">
            <a:off x="5551858" y="2999375"/>
            <a:ext cx="173111"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0" name="Line 7"/>
          <p:cNvSpPr>
            <a:spLocks noChangeShapeType="1"/>
          </p:cNvSpPr>
          <p:nvPr/>
        </p:nvSpPr>
        <p:spPr bwMode="auto">
          <a:xfrm>
            <a:off x="5162359" y="1663418"/>
            <a:ext cx="280801" cy="3883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1" name="Line 8"/>
          <p:cNvSpPr>
            <a:spLocks noChangeShapeType="1"/>
          </p:cNvSpPr>
          <p:nvPr/>
        </p:nvSpPr>
        <p:spPr bwMode="auto">
          <a:xfrm flipH="1">
            <a:off x="6614678" y="1707082"/>
            <a:ext cx="373396" cy="3874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2" name="Line 9"/>
          <p:cNvSpPr>
            <a:spLocks noChangeShapeType="1"/>
          </p:cNvSpPr>
          <p:nvPr/>
        </p:nvSpPr>
        <p:spPr bwMode="auto">
          <a:xfrm flipV="1">
            <a:off x="5068759" y="2955710"/>
            <a:ext cx="280802" cy="47473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3" name="Line 10"/>
          <p:cNvSpPr>
            <a:spLocks noChangeShapeType="1"/>
          </p:cNvSpPr>
          <p:nvPr/>
        </p:nvSpPr>
        <p:spPr bwMode="auto">
          <a:xfrm flipH="1" flipV="1">
            <a:off x="6286572" y="2999375"/>
            <a:ext cx="93601" cy="4738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4" name="Line 11"/>
          <p:cNvSpPr>
            <a:spLocks noChangeShapeType="1"/>
          </p:cNvSpPr>
          <p:nvPr/>
        </p:nvSpPr>
        <p:spPr bwMode="auto">
          <a:xfrm flipH="1" flipV="1">
            <a:off x="6754575" y="2955710"/>
            <a:ext cx="233498" cy="431074"/>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5" name="Text Box 107"/>
          <p:cNvSpPr txBox="1">
            <a:spLocks noChangeArrowheads="1"/>
          </p:cNvSpPr>
          <p:nvPr/>
        </p:nvSpPr>
        <p:spPr bwMode="auto">
          <a:xfrm>
            <a:off x="5385006" y="3720758"/>
            <a:ext cx="15760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(b) </a:t>
            </a:r>
            <a:r>
              <a:rPr kumimoji="1" lang="zh-CN" altLang="en-US" sz="1400" b="1" dirty="0">
                <a:solidFill>
                  <a:srgbClr val="0000CC"/>
                </a:solidFill>
                <a:latin typeface="微软雅黑" pitchFamily="34" charset="-122"/>
                <a:ea typeface="微软雅黑" pitchFamily="34" charset="-122"/>
              </a:rPr>
              <a:t>虚拟互连网络</a:t>
            </a:r>
          </a:p>
        </p:txBody>
      </p:sp>
      <p:grpSp>
        <p:nvGrpSpPr>
          <p:cNvPr id="193" name="Group 129"/>
          <p:cNvGrpSpPr>
            <a:grpSpLocks/>
          </p:cNvGrpSpPr>
          <p:nvPr/>
        </p:nvGrpSpPr>
        <p:grpSpPr bwMode="auto">
          <a:xfrm>
            <a:off x="4894641" y="1864090"/>
            <a:ext cx="2327938" cy="1393557"/>
            <a:chOff x="3134" y="1375"/>
            <a:chExt cx="2386" cy="1553"/>
          </a:xfrm>
          <a:effectLst/>
        </p:grpSpPr>
        <p:sp>
          <p:nvSpPr>
            <p:cNvPr id="204" name="Oval 130"/>
            <p:cNvSpPr>
              <a:spLocks noChangeArrowheads="1"/>
            </p:cNvSpPr>
            <p:nvPr/>
          </p:nvSpPr>
          <p:spPr bwMode="auto">
            <a:xfrm>
              <a:off x="3959" y="1375"/>
              <a:ext cx="1026" cy="628"/>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5" name="Oval 131"/>
            <p:cNvSpPr>
              <a:spLocks noChangeArrowheads="1"/>
            </p:cNvSpPr>
            <p:nvPr/>
          </p:nvSpPr>
          <p:spPr bwMode="auto">
            <a:xfrm>
              <a:off x="3380" y="1548"/>
              <a:ext cx="781" cy="62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6" name="Oval 132"/>
            <p:cNvSpPr>
              <a:spLocks noChangeArrowheads="1"/>
            </p:cNvSpPr>
            <p:nvPr/>
          </p:nvSpPr>
          <p:spPr bwMode="auto">
            <a:xfrm>
              <a:off x="3134" y="1940"/>
              <a:ext cx="521" cy="50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7" name="Oval 133"/>
            <p:cNvSpPr>
              <a:spLocks noChangeArrowheads="1"/>
            </p:cNvSpPr>
            <p:nvPr/>
          </p:nvSpPr>
          <p:spPr bwMode="auto">
            <a:xfrm>
              <a:off x="3293" y="2175"/>
              <a:ext cx="796" cy="54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8" name="Oval 134"/>
            <p:cNvSpPr>
              <a:spLocks noChangeArrowheads="1"/>
            </p:cNvSpPr>
            <p:nvPr/>
          </p:nvSpPr>
          <p:spPr bwMode="auto">
            <a:xfrm>
              <a:off x="3872" y="2269"/>
              <a:ext cx="1200" cy="65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9" name="Oval 135"/>
            <p:cNvSpPr>
              <a:spLocks noChangeArrowheads="1"/>
            </p:cNvSpPr>
            <p:nvPr/>
          </p:nvSpPr>
          <p:spPr bwMode="auto">
            <a:xfrm>
              <a:off x="4653" y="1564"/>
              <a:ext cx="751"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0" name="Oval 136"/>
            <p:cNvSpPr>
              <a:spLocks noChangeArrowheads="1"/>
            </p:cNvSpPr>
            <p:nvPr/>
          </p:nvSpPr>
          <p:spPr bwMode="auto">
            <a:xfrm>
              <a:off x="4768" y="1893"/>
              <a:ext cx="752"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1" name="Oval 137"/>
            <p:cNvSpPr>
              <a:spLocks noChangeArrowheads="1"/>
            </p:cNvSpPr>
            <p:nvPr/>
          </p:nvSpPr>
          <p:spPr bwMode="auto">
            <a:xfrm>
              <a:off x="4696" y="2003"/>
              <a:ext cx="752"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2" name="Oval 138"/>
            <p:cNvSpPr>
              <a:spLocks noChangeArrowheads="1"/>
            </p:cNvSpPr>
            <p:nvPr/>
          </p:nvSpPr>
          <p:spPr bwMode="auto">
            <a:xfrm>
              <a:off x="3568" y="1752"/>
              <a:ext cx="1547"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grpSp>
      <p:sp>
        <p:nvSpPr>
          <p:cNvPr id="194" name="Oval 139"/>
          <p:cNvSpPr>
            <a:spLocks noChangeArrowheads="1"/>
          </p:cNvSpPr>
          <p:nvPr/>
        </p:nvSpPr>
        <p:spPr bwMode="auto">
          <a:xfrm>
            <a:off x="5685717" y="1836220"/>
            <a:ext cx="1001425" cy="5629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5" name="Oval 140"/>
          <p:cNvSpPr>
            <a:spLocks noChangeArrowheads="1"/>
          </p:cNvSpPr>
          <p:nvPr/>
        </p:nvSpPr>
        <p:spPr bwMode="auto">
          <a:xfrm>
            <a:off x="5121094" y="1992298"/>
            <a:ext cx="762895" cy="562068"/>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6" name="Oval 141"/>
          <p:cNvSpPr>
            <a:spLocks noChangeArrowheads="1"/>
          </p:cNvSpPr>
          <p:nvPr/>
        </p:nvSpPr>
        <p:spPr bwMode="auto">
          <a:xfrm>
            <a:off x="4881557" y="2342545"/>
            <a:ext cx="507255" cy="450584"/>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7" name="Oval 142"/>
          <p:cNvSpPr>
            <a:spLocks noChangeArrowheads="1"/>
          </p:cNvSpPr>
          <p:nvPr/>
        </p:nvSpPr>
        <p:spPr bwMode="auto">
          <a:xfrm>
            <a:off x="5036552" y="2554366"/>
            <a:ext cx="774973" cy="492390"/>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8" name="Oval 143"/>
          <p:cNvSpPr>
            <a:spLocks noChangeArrowheads="1"/>
          </p:cNvSpPr>
          <p:nvPr/>
        </p:nvSpPr>
        <p:spPr bwMode="auto">
          <a:xfrm>
            <a:off x="5600168" y="2638909"/>
            <a:ext cx="1170511" cy="5917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9" name="Oval 144"/>
          <p:cNvSpPr>
            <a:spLocks noChangeArrowheads="1"/>
          </p:cNvSpPr>
          <p:nvPr/>
        </p:nvSpPr>
        <p:spPr bwMode="auto">
          <a:xfrm>
            <a:off x="6363063" y="2005305"/>
            <a:ext cx="732701" cy="435719"/>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0" name="Oval 145"/>
          <p:cNvSpPr>
            <a:spLocks noChangeArrowheads="1"/>
          </p:cNvSpPr>
          <p:nvPr/>
        </p:nvSpPr>
        <p:spPr bwMode="auto">
          <a:xfrm>
            <a:off x="6475787" y="2300738"/>
            <a:ext cx="732701" cy="43757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1" name="Oval 146"/>
          <p:cNvSpPr>
            <a:spLocks noChangeArrowheads="1"/>
          </p:cNvSpPr>
          <p:nvPr/>
        </p:nvSpPr>
        <p:spPr bwMode="auto">
          <a:xfrm>
            <a:off x="6404328" y="2399217"/>
            <a:ext cx="733708" cy="733011"/>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2" name="Oval 147"/>
          <p:cNvSpPr>
            <a:spLocks noChangeArrowheads="1"/>
          </p:cNvSpPr>
          <p:nvPr/>
        </p:nvSpPr>
        <p:spPr bwMode="auto">
          <a:xfrm>
            <a:off x="5305276" y="2173460"/>
            <a:ext cx="1508680" cy="732082"/>
          </a:xfrm>
          <a:prstGeom prst="ellipse">
            <a:avLst/>
          </a:prstGeom>
          <a:solidFill>
            <a:srgbClr val="00FFFF"/>
          </a:solidFill>
          <a:ln>
            <a:noFill/>
          </a:ln>
        </p:spPr>
        <p:txBody>
          <a:bodyPr/>
          <a:lstStyle/>
          <a:p>
            <a:endParaRPr lang="zh-CN" altLang="en-US" sz="1400" b="1">
              <a:solidFill>
                <a:srgbClr val="000099"/>
              </a:solidFill>
              <a:latin typeface="微软雅黑" pitchFamily="34" charset="-122"/>
              <a:ea typeface="微软雅黑" pitchFamily="34" charset="-122"/>
            </a:endParaRPr>
          </a:p>
        </p:txBody>
      </p:sp>
      <p:sp>
        <p:nvSpPr>
          <p:cNvPr id="203" name="Text Box 148"/>
          <p:cNvSpPr txBox="1">
            <a:spLocks noChangeArrowheads="1"/>
          </p:cNvSpPr>
          <p:nvPr/>
        </p:nvSpPr>
        <p:spPr bwMode="auto">
          <a:xfrm>
            <a:off x="5521479" y="2343453"/>
            <a:ext cx="120097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虚拟互连网络</a:t>
            </a:r>
          </a:p>
          <a:p>
            <a:pPr algn="ctr"/>
            <a:r>
              <a:rPr kumimoji="1" lang="zh-CN" altLang="en-US" sz="1200" b="1" dirty="0">
                <a:latin typeface="微软雅黑" pitchFamily="34" charset="-122"/>
                <a:ea typeface="微软雅黑" pitchFamily="34" charset="-122"/>
              </a:rPr>
              <a:t>（互联网）</a:t>
            </a:r>
          </a:p>
        </p:txBody>
      </p:sp>
      <p:sp>
        <p:nvSpPr>
          <p:cNvPr id="322" name="矩形 321"/>
          <p:cNvSpPr/>
          <p:nvPr/>
        </p:nvSpPr>
        <p:spPr>
          <a:xfrm>
            <a:off x="3169087" y="4148056"/>
            <a:ext cx="2805823" cy="338554"/>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latin typeface="微软雅黑" pitchFamily="34" charset="-122"/>
                <a:ea typeface="微软雅黑" pitchFamily="34" charset="-122"/>
              </a:rPr>
              <a:t>IP </a:t>
            </a:r>
            <a:r>
              <a:rPr kumimoji="1" lang="zh-CN" altLang="zh-CN" sz="1600" b="1" dirty="0">
                <a:latin typeface="微软雅黑" pitchFamily="34" charset="-122"/>
                <a:ea typeface="微软雅黑" pitchFamily="34" charset="-122"/>
              </a:rPr>
              <a:t>网的概念</a:t>
            </a:r>
            <a:endParaRPr kumimoji="1" lang="zh-CN" altLang="en-US" sz="1600" b="1" dirty="0">
              <a:latin typeface="微软雅黑" pitchFamily="34" charset="-122"/>
              <a:ea typeface="微软雅黑" pitchFamily="34" charset="-122"/>
            </a:endParaRPr>
          </a:p>
        </p:txBody>
      </p:sp>
      <p:sp>
        <p:nvSpPr>
          <p:cNvPr id="323" name="Text Box 101"/>
          <p:cNvSpPr txBox="1">
            <a:spLocks noChangeArrowheads="1"/>
          </p:cNvSpPr>
          <p:nvPr/>
        </p:nvSpPr>
        <p:spPr bwMode="auto">
          <a:xfrm>
            <a:off x="3669601" y="27143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4" name="Text Box 102"/>
          <p:cNvSpPr txBox="1">
            <a:spLocks noChangeArrowheads="1"/>
          </p:cNvSpPr>
          <p:nvPr/>
        </p:nvSpPr>
        <p:spPr bwMode="auto">
          <a:xfrm>
            <a:off x="2855379" y="242825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5" name="Text Box 103"/>
          <p:cNvSpPr txBox="1">
            <a:spLocks noChangeArrowheads="1"/>
          </p:cNvSpPr>
          <p:nvPr/>
        </p:nvSpPr>
        <p:spPr bwMode="auto">
          <a:xfrm>
            <a:off x="2264587" y="2722759"/>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6" name="Text Box 104"/>
          <p:cNvSpPr txBox="1">
            <a:spLocks noChangeArrowheads="1"/>
          </p:cNvSpPr>
          <p:nvPr/>
        </p:nvSpPr>
        <p:spPr bwMode="auto">
          <a:xfrm>
            <a:off x="3378738" y="194794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7" name="Text Box 105"/>
          <p:cNvSpPr txBox="1">
            <a:spLocks noChangeArrowheads="1"/>
          </p:cNvSpPr>
          <p:nvPr/>
        </p:nvSpPr>
        <p:spPr bwMode="auto">
          <a:xfrm>
            <a:off x="2391401" y="184296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网络</a:t>
            </a:r>
          </a:p>
        </p:txBody>
      </p:sp>
      <p:pic>
        <p:nvPicPr>
          <p:cNvPr id="32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947485" y="1472944"/>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2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126953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14855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2"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3"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5494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889628"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59199"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94470" y="1287637"/>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7"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333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53526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87191" y="3285755"/>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8EBDAC32-8BE7-6400-FBED-EEDD2261C69C}"/>
              </a:ext>
            </a:extLst>
          </p:cNvPr>
          <p:cNvSpPr>
            <a:spLocks noGrp="1"/>
          </p:cNvSpPr>
          <p:nvPr>
            <p:ph type="title"/>
          </p:nvPr>
        </p:nvSpPr>
        <p:spPr>
          <a:xfrm>
            <a:off x="486000" y="550723"/>
            <a:ext cx="8172000" cy="338554"/>
          </a:xfrm>
        </p:spPr>
        <p:txBody>
          <a:bodyPr/>
          <a:lstStyle/>
          <a:p>
            <a:r>
              <a:rPr lang="zh-CN" altLang="en-US" dirty="0"/>
              <a:t>互连网络与虚拟互连网络</a:t>
            </a:r>
          </a:p>
        </p:txBody>
      </p:sp>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A2BD14A-CB10-2B84-869E-0525030742CF}"/>
              </a:ext>
            </a:extLst>
          </p:cNvPr>
          <p:cNvSpPr>
            <a:spLocks noGrp="1"/>
          </p:cNvSpPr>
          <p:nvPr>
            <p:ph type="title"/>
          </p:nvPr>
        </p:nvSpPr>
        <p:spPr>
          <a:xfrm>
            <a:off x="486000" y="550723"/>
            <a:ext cx="8172000" cy="338554"/>
          </a:xfrm>
        </p:spPr>
        <p:txBody>
          <a:bodyPr/>
          <a:lstStyle/>
          <a:p>
            <a:r>
              <a:rPr lang="en-US" altLang="zh-CN" dirty="0"/>
              <a:t>IP </a:t>
            </a:r>
            <a:r>
              <a:rPr lang="zh-CN" altLang="en-US" dirty="0"/>
              <a:t>网的意义</a:t>
            </a:r>
          </a:p>
        </p:txBody>
      </p:sp>
      <p:sp>
        <p:nvSpPr>
          <p:cNvPr id="8" name="内容占位符 7">
            <a:extLst>
              <a:ext uri="{FF2B5EF4-FFF2-40B4-BE49-F238E27FC236}">
                <a16:creationId xmlns:a16="http://schemas.microsoft.com/office/drawing/2014/main" id="{C9BE740C-E928-6D4F-F459-C9F0AC66944D}"/>
              </a:ext>
            </a:extLst>
          </p:cNvPr>
          <p:cNvSpPr>
            <a:spLocks noGrp="1"/>
          </p:cNvSpPr>
          <p:nvPr>
            <p:ph sz="quarter" idx="11"/>
          </p:nvPr>
        </p:nvSpPr>
        <p:spPr>
          <a:xfrm>
            <a:off x="486000" y="900000"/>
            <a:ext cx="8172000" cy="3703500"/>
          </a:xfrm>
        </p:spPr>
        <p:txBody>
          <a:bodyPr/>
          <a:lstStyle/>
          <a:p>
            <a:r>
              <a:rPr lang="zh-CN" altLang="en-US" dirty="0"/>
              <a:t>当互联网上的主机进行通信时，就好像在一个网络上通信一样，看不见互连的各具体的网络异构细节</a:t>
            </a:r>
          </a:p>
          <a:p>
            <a:r>
              <a:rPr lang="zh-CN" altLang="en-US" dirty="0"/>
              <a:t>如果在这种覆盖全球的 </a:t>
            </a:r>
            <a:r>
              <a:rPr lang="en-US" altLang="zh-CN" dirty="0"/>
              <a:t>IP </a:t>
            </a:r>
            <a:r>
              <a:rPr lang="zh-CN" altLang="en-US" dirty="0"/>
              <a:t>网的上层使用 </a:t>
            </a:r>
            <a:r>
              <a:rPr lang="en-US" altLang="zh-CN" dirty="0"/>
              <a:t>TCP </a:t>
            </a:r>
            <a:r>
              <a:rPr lang="zh-CN" altLang="en-US" dirty="0"/>
              <a:t>协议，那么就是现在的互联网 </a:t>
            </a:r>
            <a:r>
              <a:rPr lang="en-US" altLang="zh-CN" dirty="0"/>
              <a:t>Internet</a:t>
            </a:r>
            <a:endParaRPr lang="zh-CN" altLang="en-US" dirty="0"/>
          </a:p>
        </p:txBody>
      </p:sp>
    </p:spTree>
    <p:extLst>
      <p:ext uri="{BB962C8B-B14F-4D97-AF65-F5344CB8AC3E}">
        <p14:creationId xmlns:p14="http://schemas.microsoft.com/office/powerpoint/2010/main" val="3780931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Rectangle 2"/>
          <p:cNvSpPr>
            <a:spLocks noChangeArrowheads="1"/>
          </p:cNvSpPr>
          <p:nvPr/>
        </p:nvSpPr>
        <p:spPr bwMode="auto">
          <a:xfrm>
            <a:off x="2468225" y="787845"/>
            <a:ext cx="387036" cy="734697"/>
          </a:xfrm>
          <a:prstGeom prst="rect">
            <a:avLst/>
          </a:prstGeom>
          <a:solidFill>
            <a:srgbClr val="00FF99"/>
          </a:solidFill>
          <a:ln w="952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4" name="Rectangle 3"/>
          <p:cNvSpPr>
            <a:spLocks noChangeArrowheads="1"/>
          </p:cNvSpPr>
          <p:nvPr/>
        </p:nvSpPr>
        <p:spPr bwMode="auto">
          <a:xfrm>
            <a:off x="2473987" y="1084605"/>
            <a:ext cx="377432" cy="155583"/>
          </a:xfrm>
          <a:prstGeom prst="rect">
            <a:avLst/>
          </a:prstGeom>
          <a:solidFill>
            <a:srgbClr val="00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5" name="Text Box 4"/>
          <p:cNvSpPr txBox="1">
            <a:spLocks noChangeArrowheads="1"/>
          </p:cNvSpPr>
          <p:nvPr/>
        </p:nvSpPr>
        <p:spPr bwMode="auto">
          <a:xfrm>
            <a:off x="2539425" y="739983"/>
            <a:ext cx="255198" cy="861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116" name="Line 5"/>
          <p:cNvSpPr>
            <a:spLocks noChangeShapeType="1"/>
          </p:cNvSpPr>
          <p:nvPr/>
        </p:nvSpPr>
        <p:spPr bwMode="auto">
          <a:xfrm>
            <a:off x="2468225" y="944388"/>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7" name="Line 6"/>
          <p:cNvSpPr>
            <a:spLocks noChangeShapeType="1"/>
          </p:cNvSpPr>
          <p:nvPr/>
        </p:nvSpPr>
        <p:spPr bwMode="auto">
          <a:xfrm>
            <a:off x="2468225" y="1089407"/>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8" name="Line 7"/>
          <p:cNvSpPr>
            <a:spLocks noChangeShapeType="1"/>
          </p:cNvSpPr>
          <p:nvPr/>
        </p:nvSpPr>
        <p:spPr bwMode="auto">
          <a:xfrm>
            <a:off x="2468225" y="1234425"/>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9" name="Line 8"/>
          <p:cNvSpPr>
            <a:spLocks noChangeShapeType="1"/>
          </p:cNvSpPr>
          <p:nvPr/>
        </p:nvSpPr>
        <p:spPr bwMode="auto">
          <a:xfrm>
            <a:off x="2468225" y="1380404"/>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0" name="Freeform 9"/>
          <p:cNvSpPr>
            <a:spLocks/>
          </p:cNvSpPr>
          <p:nvPr/>
        </p:nvSpPr>
        <p:spPr bwMode="auto">
          <a:xfrm>
            <a:off x="6854320" y="1844273"/>
            <a:ext cx="189197" cy="1089081"/>
          </a:xfrm>
          <a:custGeom>
            <a:avLst/>
            <a:gdLst>
              <a:gd name="T0" fmla="*/ 197 w 197"/>
              <a:gd name="T1" fmla="*/ 0 h 1134"/>
              <a:gd name="T2" fmla="*/ 0 w 197"/>
              <a:gd name="T3" fmla="*/ 507 h 1134"/>
              <a:gd name="T4" fmla="*/ 16 w 197"/>
              <a:gd name="T5" fmla="*/ 1134 h 1134"/>
            </a:gdLst>
            <a:ahLst/>
            <a:cxnLst>
              <a:cxn ang="0">
                <a:pos x="T0" y="T1"/>
              </a:cxn>
              <a:cxn ang="0">
                <a:pos x="T2" y="T3"/>
              </a:cxn>
              <a:cxn ang="0">
                <a:pos x="T4" y="T5"/>
              </a:cxn>
            </a:cxnLst>
            <a:rect l="0" t="0" r="r" b="b"/>
            <a:pathLst>
              <a:path w="197" h="1134">
                <a:moveTo>
                  <a:pt x="197" y="0"/>
                </a:moveTo>
                <a:lnTo>
                  <a:pt x="0" y="507"/>
                </a:lnTo>
                <a:lnTo>
                  <a:pt x="16" y="1134"/>
                </a:lnTo>
              </a:path>
            </a:pathLst>
          </a:custGeom>
          <a:noFill/>
          <a:ln w="19050">
            <a:solidFill>
              <a:srgbClr val="000000"/>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4" name="Rectangle 13"/>
          <p:cNvSpPr>
            <a:spLocks noChangeArrowheads="1"/>
          </p:cNvSpPr>
          <p:nvPr/>
        </p:nvSpPr>
        <p:spPr bwMode="auto">
          <a:xfrm>
            <a:off x="3644700" y="3494379"/>
            <a:ext cx="387037" cy="734698"/>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2" name="Rectangle 11"/>
          <p:cNvSpPr>
            <a:spLocks noChangeArrowheads="1"/>
          </p:cNvSpPr>
          <p:nvPr/>
        </p:nvSpPr>
        <p:spPr bwMode="auto">
          <a:xfrm>
            <a:off x="3650462" y="3791139"/>
            <a:ext cx="377433" cy="155583"/>
          </a:xfrm>
          <a:prstGeom prst="rect">
            <a:avLst/>
          </a:prstGeom>
          <a:solidFill>
            <a:srgbClr val="0000CC"/>
          </a:solidFill>
          <a:ln>
            <a:noFill/>
          </a:ln>
          <a:effec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3" name="Text Box 12"/>
          <p:cNvSpPr txBox="1">
            <a:spLocks noChangeArrowheads="1"/>
          </p:cNvSpPr>
          <p:nvPr/>
        </p:nvSpPr>
        <p:spPr bwMode="auto">
          <a:xfrm>
            <a:off x="3716729" y="3465567"/>
            <a:ext cx="255464" cy="8614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395" name="Line 14"/>
          <p:cNvSpPr>
            <a:spLocks noChangeShapeType="1"/>
          </p:cNvSpPr>
          <p:nvPr/>
        </p:nvSpPr>
        <p:spPr bwMode="auto">
          <a:xfrm>
            <a:off x="3644700" y="3650922"/>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6" name="Line 15"/>
          <p:cNvSpPr>
            <a:spLocks noChangeShapeType="1"/>
          </p:cNvSpPr>
          <p:nvPr/>
        </p:nvSpPr>
        <p:spPr bwMode="auto">
          <a:xfrm>
            <a:off x="3644700" y="3795941"/>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7" name="Line 16"/>
          <p:cNvSpPr>
            <a:spLocks noChangeShapeType="1"/>
          </p:cNvSpPr>
          <p:nvPr/>
        </p:nvSpPr>
        <p:spPr bwMode="auto">
          <a:xfrm>
            <a:off x="3644700" y="3940960"/>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8" name="Line 17"/>
          <p:cNvSpPr>
            <a:spLocks noChangeShapeType="1"/>
          </p:cNvSpPr>
          <p:nvPr/>
        </p:nvSpPr>
        <p:spPr bwMode="auto">
          <a:xfrm>
            <a:off x="3644700" y="4086939"/>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122" name="Line 18"/>
          <p:cNvSpPr>
            <a:spLocks noChangeShapeType="1"/>
          </p:cNvSpPr>
          <p:nvPr/>
        </p:nvSpPr>
        <p:spPr bwMode="auto">
          <a:xfrm flipV="1">
            <a:off x="3905926" y="1801055"/>
            <a:ext cx="3049234"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3" name="Line 19"/>
          <p:cNvSpPr>
            <a:spLocks noChangeShapeType="1"/>
          </p:cNvSpPr>
          <p:nvPr/>
        </p:nvSpPr>
        <p:spPr bwMode="auto">
          <a:xfrm flipV="1">
            <a:off x="4297765" y="2933354"/>
            <a:ext cx="523412" cy="96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4" name="Line 20"/>
          <p:cNvSpPr>
            <a:spLocks noChangeShapeType="1"/>
          </p:cNvSpPr>
          <p:nvPr/>
        </p:nvSpPr>
        <p:spPr bwMode="auto">
          <a:xfrm>
            <a:off x="2555620"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33781" y="2846919"/>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6" name="Group 22"/>
          <p:cNvGrpSpPr>
            <a:grpSpLocks/>
          </p:cNvGrpSpPr>
          <p:nvPr/>
        </p:nvGrpSpPr>
        <p:grpSpPr bwMode="auto">
          <a:xfrm>
            <a:off x="4211330" y="1583047"/>
            <a:ext cx="871073" cy="522452"/>
            <a:chOff x="385" y="2795"/>
            <a:chExt cx="1769" cy="816"/>
          </a:xfrm>
          <a:solidFill>
            <a:srgbClr val="3399FF"/>
          </a:solidFill>
        </p:grpSpPr>
        <p:sp>
          <p:nvSpPr>
            <p:cNvPr id="375" name="Oval 2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6" name="Oval 2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7" name="Oval 2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8" name="Oval 2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9" name="Oval 2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0" name="Oval 2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1" name="Oval 2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2" name="Oval 3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3" name="Oval 3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4" name="Oval 3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5" name="Oval 3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6" name="Oval 3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7" name="Oval 3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8" name="Oval 3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9" name="Oval 3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0" name="Oval 3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1" name="Freeform 3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27" name="Text Box 40"/>
          <p:cNvSpPr txBox="1">
            <a:spLocks noChangeArrowheads="1"/>
          </p:cNvSpPr>
          <p:nvPr/>
        </p:nvSpPr>
        <p:spPr bwMode="auto">
          <a:xfrm>
            <a:off x="1946988" y="1535715"/>
            <a:ext cx="45397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pic>
        <p:nvPicPr>
          <p:cNvPr id="128"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01379"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9" name="Group 42"/>
          <p:cNvGrpSpPr>
            <a:grpSpLocks/>
          </p:cNvGrpSpPr>
          <p:nvPr/>
        </p:nvGrpSpPr>
        <p:grpSpPr bwMode="auto">
          <a:xfrm>
            <a:off x="5735467" y="1583047"/>
            <a:ext cx="871072" cy="522452"/>
            <a:chOff x="385" y="2795"/>
            <a:chExt cx="1769" cy="816"/>
          </a:xfrm>
          <a:solidFill>
            <a:srgbClr val="3399FF"/>
          </a:solidFill>
        </p:grpSpPr>
        <p:sp>
          <p:nvSpPr>
            <p:cNvPr id="358" name="Oval 4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9" name="Oval 4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0" name="Oval 4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1" name="Oval 4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2" name="Oval 4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3" name="Oval 4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4" name="Oval 4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5" name="Oval 5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6" name="Oval 5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7" name="Oval 5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8" name="Oval 5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9" name="Oval 5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0" name="Oval 5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1" name="Oval 5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2" name="Oval 5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3" name="Oval 5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4" name="Freeform 5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30" name="Group 60"/>
          <p:cNvGrpSpPr>
            <a:grpSpLocks/>
          </p:cNvGrpSpPr>
          <p:nvPr/>
        </p:nvGrpSpPr>
        <p:grpSpPr bwMode="auto">
          <a:xfrm>
            <a:off x="4779488" y="2585790"/>
            <a:ext cx="247262" cy="302228"/>
            <a:chOff x="4420" y="2719"/>
            <a:chExt cx="397" cy="571"/>
          </a:xfrm>
          <a:solidFill>
            <a:srgbClr val="00FF99"/>
          </a:solidFill>
        </p:grpSpPr>
        <p:grpSp>
          <p:nvGrpSpPr>
            <p:cNvPr id="311" name="Group 62"/>
            <p:cNvGrpSpPr>
              <a:grpSpLocks/>
            </p:cNvGrpSpPr>
            <p:nvPr/>
          </p:nvGrpSpPr>
          <p:grpSpPr bwMode="auto">
            <a:xfrm>
              <a:off x="4562" y="3066"/>
              <a:ext cx="13" cy="70"/>
              <a:chOff x="4562" y="3066"/>
              <a:chExt cx="13" cy="70"/>
            </a:xfrm>
            <a:grpFill/>
          </p:grpSpPr>
          <p:sp>
            <p:nvSpPr>
              <p:cNvPr id="356" name="Rectangle 63"/>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7" name="Line 64"/>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312" name="Rectangle 65"/>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3" name="Freeform 66"/>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4" name="Freeform 67"/>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5" name="Freeform 68"/>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6" name="Freeform 69"/>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7" name="Freeform 70"/>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8" name="Freeform 71"/>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9" name="Rectangle 72"/>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0" name="Line 73"/>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1" name="Freeform 74"/>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2" name="Freeform 75"/>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3" name="Freeform 76"/>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4" name="Rectangle 77"/>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5" name="Rectangle 78"/>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6" name="Rectangle 79"/>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7" name="Rectangle 80"/>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8" name="Oval 81"/>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9" name="Rectangle 82"/>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0" name="Freeform 83"/>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31" name="Group 84"/>
            <p:cNvGrpSpPr>
              <a:grpSpLocks/>
            </p:cNvGrpSpPr>
            <p:nvPr/>
          </p:nvGrpSpPr>
          <p:grpSpPr bwMode="auto">
            <a:xfrm>
              <a:off x="4455" y="2913"/>
              <a:ext cx="126" cy="116"/>
              <a:chOff x="4455" y="2913"/>
              <a:chExt cx="126" cy="116"/>
            </a:xfrm>
            <a:grpFill/>
          </p:grpSpPr>
          <p:sp>
            <p:nvSpPr>
              <p:cNvPr id="354" name="Oval 85"/>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5" name="Oval 86"/>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332" name="Group 87"/>
            <p:cNvGrpSpPr>
              <a:grpSpLocks/>
            </p:cNvGrpSpPr>
            <p:nvPr/>
          </p:nvGrpSpPr>
          <p:grpSpPr bwMode="auto">
            <a:xfrm>
              <a:off x="4504" y="3136"/>
              <a:ext cx="43" cy="112"/>
              <a:chOff x="4504" y="3136"/>
              <a:chExt cx="43" cy="112"/>
            </a:xfrm>
            <a:grpFill/>
          </p:grpSpPr>
          <p:sp>
            <p:nvSpPr>
              <p:cNvPr id="345" name="Rectangle 88"/>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46" name="Group 89"/>
              <p:cNvGrpSpPr>
                <a:grpSpLocks/>
              </p:cNvGrpSpPr>
              <p:nvPr/>
            </p:nvGrpSpPr>
            <p:grpSpPr bwMode="auto">
              <a:xfrm>
                <a:off x="4504" y="3149"/>
                <a:ext cx="43" cy="87"/>
                <a:chOff x="4504" y="3149"/>
                <a:chExt cx="43" cy="87"/>
              </a:xfrm>
              <a:grpFill/>
            </p:grpSpPr>
            <p:sp>
              <p:nvSpPr>
                <p:cNvPr id="347" name="Line 90"/>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8" name="Line 91"/>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9" name="Line 92"/>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0" name="Line 93"/>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1" name="Line 94"/>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2" name="Line 95"/>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3" name="Line 96"/>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333" name="Rectangle 97"/>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4" name="Freeform 98"/>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5" name="Freeform 99"/>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6" name="Freeform 100"/>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7" name="Freeform 101"/>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8" name="Freeform 102"/>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9" name="Freeform 103"/>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0" name="Freeform 104"/>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1" name="Freeform 105"/>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2" name="Freeform 106"/>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3" name="Freeform 107"/>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4" name="Freeform 108"/>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1"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74241" y="2236111"/>
            <a:ext cx="598322" cy="216087"/>
          </a:xfrm>
          <a:prstGeom prst="rect">
            <a:avLst/>
          </a:prstGeom>
          <a:noFill/>
          <a:ln w="12699">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2" name="Picture 1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47717" y="2845958"/>
            <a:ext cx="315007" cy="1738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3" name="Picture 11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33064"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4" name="Group 112"/>
          <p:cNvGrpSpPr>
            <a:grpSpLocks/>
          </p:cNvGrpSpPr>
          <p:nvPr/>
        </p:nvGrpSpPr>
        <p:grpSpPr bwMode="auto">
          <a:xfrm flipH="1">
            <a:off x="6923418" y="2629968"/>
            <a:ext cx="247262" cy="302228"/>
            <a:chOff x="4420" y="2719"/>
            <a:chExt cx="397" cy="571"/>
          </a:xfrm>
          <a:solidFill>
            <a:srgbClr val="00FF99"/>
          </a:solidFill>
        </p:grpSpPr>
        <p:grpSp>
          <p:nvGrpSpPr>
            <p:cNvPr id="263" name="Group 114"/>
            <p:cNvGrpSpPr>
              <a:grpSpLocks/>
            </p:cNvGrpSpPr>
            <p:nvPr/>
          </p:nvGrpSpPr>
          <p:grpSpPr bwMode="auto">
            <a:xfrm>
              <a:off x="4562" y="3066"/>
              <a:ext cx="13" cy="70"/>
              <a:chOff x="4562" y="3066"/>
              <a:chExt cx="13" cy="70"/>
            </a:xfrm>
            <a:grpFill/>
          </p:grpSpPr>
          <p:sp>
            <p:nvSpPr>
              <p:cNvPr id="308" name="Rectangle 115"/>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9" name="Line 116"/>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264" name="Rectangle 117"/>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5" name="Freeform 118"/>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6" name="Freeform 119"/>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7" name="Freeform 120"/>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8" name="Freeform 121"/>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9" name="Freeform 122"/>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0" name="Freeform 123"/>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1" name="Rectangle 124"/>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2" name="Line 125"/>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3" name="Freeform 126"/>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4" name="Freeform 127"/>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5" name="Freeform 128"/>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6" name="Rectangle 129"/>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7" name="Rectangle 130"/>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8" name="Rectangle 131"/>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9" name="Rectangle 132"/>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0" name="Oval 133"/>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1" name="Rectangle 134"/>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2" name="Freeform 135"/>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83" name="Group 136"/>
            <p:cNvGrpSpPr>
              <a:grpSpLocks/>
            </p:cNvGrpSpPr>
            <p:nvPr/>
          </p:nvGrpSpPr>
          <p:grpSpPr bwMode="auto">
            <a:xfrm>
              <a:off x="4455" y="2913"/>
              <a:ext cx="126" cy="116"/>
              <a:chOff x="4455" y="2913"/>
              <a:chExt cx="126" cy="116"/>
            </a:xfrm>
            <a:grpFill/>
          </p:grpSpPr>
          <p:sp>
            <p:nvSpPr>
              <p:cNvPr id="306" name="Oval 137"/>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7" name="Oval 138"/>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284" name="Group 139"/>
            <p:cNvGrpSpPr>
              <a:grpSpLocks/>
            </p:cNvGrpSpPr>
            <p:nvPr/>
          </p:nvGrpSpPr>
          <p:grpSpPr bwMode="auto">
            <a:xfrm>
              <a:off x="4504" y="3136"/>
              <a:ext cx="43" cy="112"/>
              <a:chOff x="4504" y="3136"/>
              <a:chExt cx="43" cy="112"/>
            </a:xfrm>
            <a:grpFill/>
          </p:grpSpPr>
          <p:sp>
            <p:nvSpPr>
              <p:cNvPr id="297" name="Rectangle 140"/>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98" name="Group 141"/>
              <p:cNvGrpSpPr>
                <a:grpSpLocks/>
              </p:cNvGrpSpPr>
              <p:nvPr/>
            </p:nvGrpSpPr>
            <p:grpSpPr bwMode="auto">
              <a:xfrm>
                <a:off x="4504" y="3149"/>
                <a:ext cx="43" cy="87"/>
                <a:chOff x="4504" y="3149"/>
                <a:chExt cx="43" cy="87"/>
              </a:xfrm>
              <a:grpFill/>
            </p:grpSpPr>
            <p:sp>
              <p:nvSpPr>
                <p:cNvPr id="299" name="Line 142"/>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0" name="Line 143"/>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1" name="Line 144"/>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2" name="Line 145"/>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3" name="Line 146"/>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4" name="Line 147"/>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5" name="Line 148"/>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285" name="Rectangle 149"/>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6" name="Freeform 150"/>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7" name="Freeform 151"/>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8" name="Freeform 152"/>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9" name="Freeform 153"/>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0" name="Freeform 154"/>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1" name="Freeform 155"/>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2" name="Freeform 156"/>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3" name="Freeform 157"/>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4" name="Freeform 158"/>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5" name="Freeform 159"/>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6" name="Freeform 160"/>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5" name="Picture 161" descr="D-Link%20DI-713P%20Wireless%20Broadband%20route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01125" y="2706702"/>
            <a:ext cx="453303" cy="377433"/>
          </a:xfrm>
          <a:prstGeom prst="rect">
            <a:avLst/>
          </a:prstGeom>
          <a:noFill/>
          <a:extLst>
            <a:ext uri="{909E8E84-426E-40DD-AFC4-6F175D3DCCD1}">
              <a14:hiddenFill xmlns:a14="http://schemas.microsoft.com/office/drawing/2010/main">
                <a:solidFill>
                  <a:srgbClr val="FFFFFF"/>
                </a:solidFill>
              </a14:hiddenFill>
            </a:ext>
          </a:extLst>
        </p:spPr>
      </p:pic>
      <p:sp>
        <p:nvSpPr>
          <p:cNvPr id="137" name="Freeform 173"/>
          <p:cNvSpPr>
            <a:spLocks/>
          </p:cNvSpPr>
          <p:nvPr/>
        </p:nvSpPr>
        <p:spPr bwMode="auto">
          <a:xfrm rot="1390605">
            <a:off x="4196924" y="2541515"/>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0" name="Line 175"/>
          <p:cNvSpPr>
            <a:spLocks noChangeShapeType="1"/>
          </p:cNvSpPr>
          <p:nvPr/>
        </p:nvSpPr>
        <p:spPr bwMode="auto">
          <a:xfrm>
            <a:off x="2686233" y="201810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0" name="Line 178"/>
          <p:cNvSpPr>
            <a:spLocks noChangeShapeType="1"/>
          </p:cNvSpPr>
          <p:nvPr/>
        </p:nvSpPr>
        <p:spPr bwMode="auto">
          <a:xfrm flipV="1">
            <a:off x="2250216" y="2018103"/>
            <a:ext cx="183050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1" name="Line 179"/>
          <p:cNvSpPr>
            <a:spLocks noChangeShapeType="1"/>
          </p:cNvSpPr>
          <p:nvPr/>
        </p:nvSpPr>
        <p:spPr bwMode="auto">
          <a:xfrm>
            <a:off x="3949144"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42"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8927"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43" name="Group 181"/>
          <p:cNvGrpSpPr>
            <a:grpSpLocks/>
          </p:cNvGrpSpPr>
          <p:nvPr/>
        </p:nvGrpSpPr>
        <p:grpSpPr bwMode="auto">
          <a:xfrm>
            <a:off x="2694757" y="2966062"/>
            <a:ext cx="528334" cy="389692"/>
            <a:chOff x="762" y="2391"/>
            <a:chExt cx="423" cy="312"/>
          </a:xfrm>
        </p:grpSpPr>
        <p:grpSp>
          <p:nvGrpSpPr>
            <p:cNvPr id="240" name="Group 182"/>
            <p:cNvGrpSpPr>
              <a:grpSpLocks/>
            </p:cNvGrpSpPr>
            <p:nvPr/>
          </p:nvGrpSpPr>
          <p:grpSpPr bwMode="auto">
            <a:xfrm>
              <a:off x="867" y="2432"/>
              <a:ext cx="318" cy="271"/>
              <a:chOff x="657" y="1570"/>
              <a:chExt cx="318" cy="311"/>
            </a:xfrm>
          </p:grpSpPr>
          <p:sp>
            <p:nvSpPr>
              <p:cNvPr id="248"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249"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41" name="Group 185"/>
            <p:cNvGrpSpPr>
              <a:grpSpLocks/>
            </p:cNvGrpSpPr>
            <p:nvPr/>
          </p:nvGrpSpPr>
          <p:grpSpPr bwMode="auto">
            <a:xfrm>
              <a:off x="762" y="2391"/>
              <a:ext cx="306" cy="90"/>
              <a:chOff x="748" y="2251"/>
              <a:chExt cx="306" cy="90"/>
            </a:xfrm>
          </p:grpSpPr>
          <p:sp>
            <p:nvSpPr>
              <p:cNvPr id="242"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3"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4"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5"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6"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7"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145" name="Line 203"/>
          <p:cNvSpPr>
            <a:spLocks noChangeShapeType="1"/>
          </p:cNvSpPr>
          <p:nvPr/>
        </p:nvSpPr>
        <p:spPr bwMode="auto">
          <a:xfrm>
            <a:off x="6040871" y="2392602"/>
            <a:ext cx="914290" cy="392799"/>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6" name="Line 204"/>
          <p:cNvSpPr>
            <a:spLocks noChangeShapeType="1"/>
          </p:cNvSpPr>
          <p:nvPr/>
        </p:nvSpPr>
        <p:spPr bwMode="auto">
          <a:xfrm flipH="1">
            <a:off x="5038225" y="2410902"/>
            <a:ext cx="435056" cy="261226"/>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7" name="Freeform 205"/>
          <p:cNvSpPr>
            <a:spLocks/>
          </p:cNvSpPr>
          <p:nvPr/>
        </p:nvSpPr>
        <p:spPr bwMode="auto">
          <a:xfrm rot="1901313">
            <a:off x="3717690" y="2759523"/>
            <a:ext cx="122930" cy="181514"/>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8" name="Freeform 206"/>
          <p:cNvSpPr>
            <a:spLocks/>
          </p:cNvSpPr>
          <p:nvPr/>
        </p:nvSpPr>
        <p:spPr bwMode="auto">
          <a:xfrm rot="18818791" flipH="1">
            <a:off x="3717210" y="2614984"/>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9" name="Freeform 207"/>
          <p:cNvSpPr>
            <a:spLocks/>
          </p:cNvSpPr>
          <p:nvPr/>
        </p:nvSpPr>
        <p:spPr bwMode="auto">
          <a:xfrm rot="3575381">
            <a:off x="4226216" y="2650519"/>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0" name="Text Box 208"/>
          <p:cNvSpPr txBox="1">
            <a:spLocks noChangeArrowheads="1"/>
          </p:cNvSpPr>
          <p:nvPr/>
        </p:nvSpPr>
        <p:spPr bwMode="auto">
          <a:xfrm>
            <a:off x="2912785" y="3518738"/>
            <a:ext cx="53412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 </a:t>
            </a:r>
            <a:endParaRPr kumimoji="0" lang="en-US" altLang="zh-CN" sz="105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228" name="Line 210"/>
          <p:cNvSpPr>
            <a:spLocks noChangeShapeType="1"/>
          </p:cNvSpPr>
          <p:nvPr/>
        </p:nvSpPr>
        <p:spPr bwMode="auto">
          <a:xfrm>
            <a:off x="3165467" y="201906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6" name="Line 213"/>
          <p:cNvSpPr>
            <a:spLocks noChangeShapeType="1"/>
          </p:cNvSpPr>
          <p:nvPr/>
        </p:nvSpPr>
        <p:spPr bwMode="auto">
          <a:xfrm>
            <a:off x="3775313" y="202002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3" name="Text Box 215"/>
          <p:cNvSpPr txBox="1">
            <a:spLocks noChangeArrowheads="1"/>
          </p:cNvSpPr>
          <p:nvPr/>
        </p:nvSpPr>
        <p:spPr bwMode="auto">
          <a:xfrm>
            <a:off x="363605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1</a:t>
            </a:r>
          </a:p>
        </p:txBody>
      </p:sp>
      <p:sp>
        <p:nvSpPr>
          <p:cNvPr id="154" name="Text Box 216"/>
          <p:cNvSpPr txBox="1">
            <a:spLocks noChangeArrowheads="1"/>
          </p:cNvSpPr>
          <p:nvPr/>
        </p:nvSpPr>
        <p:spPr bwMode="auto">
          <a:xfrm>
            <a:off x="6733355" y="296808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55" name="Text Box 217"/>
          <p:cNvSpPr txBox="1">
            <a:spLocks noChangeArrowheads="1"/>
          </p:cNvSpPr>
          <p:nvPr/>
        </p:nvSpPr>
        <p:spPr bwMode="auto">
          <a:xfrm>
            <a:off x="4470089" y="265094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56" name="Text Box 218"/>
          <p:cNvSpPr txBox="1">
            <a:spLocks noChangeArrowheads="1"/>
          </p:cNvSpPr>
          <p:nvPr/>
        </p:nvSpPr>
        <p:spPr bwMode="auto">
          <a:xfrm>
            <a:off x="511697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2</a:t>
            </a:r>
          </a:p>
        </p:txBody>
      </p:sp>
      <p:sp>
        <p:nvSpPr>
          <p:cNvPr id="157" name="Text Box 219"/>
          <p:cNvSpPr txBox="1">
            <a:spLocks noChangeArrowheads="1"/>
          </p:cNvSpPr>
          <p:nvPr/>
        </p:nvSpPr>
        <p:spPr bwMode="auto">
          <a:xfrm>
            <a:off x="6755141" y="151106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58" name="Text Box 220"/>
          <p:cNvSpPr txBox="1">
            <a:spLocks noChangeArrowheads="1"/>
          </p:cNvSpPr>
          <p:nvPr/>
        </p:nvSpPr>
        <p:spPr bwMode="auto">
          <a:xfrm>
            <a:off x="3442187" y="100943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59" name="Text Box 221"/>
          <p:cNvSpPr txBox="1">
            <a:spLocks noChangeArrowheads="1"/>
          </p:cNvSpPr>
          <p:nvPr/>
        </p:nvSpPr>
        <p:spPr bwMode="auto">
          <a:xfrm>
            <a:off x="4970383" y="1017487"/>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160" name="Text Box 222"/>
          <p:cNvSpPr txBox="1">
            <a:spLocks noChangeArrowheads="1"/>
          </p:cNvSpPr>
          <p:nvPr/>
        </p:nvSpPr>
        <p:spPr bwMode="auto">
          <a:xfrm>
            <a:off x="6847382" y="85315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61" name="Text Box 223"/>
          <p:cNvSpPr txBox="1">
            <a:spLocks noChangeArrowheads="1"/>
          </p:cNvSpPr>
          <p:nvPr/>
        </p:nvSpPr>
        <p:spPr bwMode="auto">
          <a:xfrm>
            <a:off x="2519067" y="576559"/>
            <a:ext cx="351378"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62" name="Text Box 224"/>
          <p:cNvSpPr txBox="1">
            <a:spLocks noChangeArrowheads="1"/>
          </p:cNvSpPr>
          <p:nvPr/>
        </p:nvSpPr>
        <p:spPr bwMode="auto">
          <a:xfrm>
            <a:off x="4713497" y="296173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63" name="Text Box 225"/>
          <p:cNvSpPr txBox="1">
            <a:spLocks noChangeArrowheads="1"/>
          </p:cNvSpPr>
          <p:nvPr/>
        </p:nvSpPr>
        <p:spPr bwMode="auto">
          <a:xfrm>
            <a:off x="3958818" y="3408745"/>
            <a:ext cx="39145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grpSp>
        <p:nvGrpSpPr>
          <p:cNvPr id="164" name="Group 226"/>
          <p:cNvGrpSpPr>
            <a:grpSpLocks/>
          </p:cNvGrpSpPr>
          <p:nvPr/>
        </p:nvGrpSpPr>
        <p:grpSpPr bwMode="auto">
          <a:xfrm>
            <a:off x="6345314" y="2062281"/>
            <a:ext cx="871073" cy="522452"/>
            <a:chOff x="385" y="2795"/>
            <a:chExt cx="1769" cy="816"/>
          </a:xfrm>
          <a:solidFill>
            <a:srgbClr val="3399FF"/>
          </a:solidFill>
        </p:grpSpPr>
        <p:sp>
          <p:nvSpPr>
            <p:cNvPr id="209" name="Oval 227"/>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0" name="Oval 228"/>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1" name="Oval 229"/>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2" name="Oval 230"/>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3" name="Oval 231"/>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4" name="Oval 232"/>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5" name="Oval 233"/>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6" name="Oval 234"/>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7" name="Oval 235"/>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8" name="Oval 236"/>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9" name="Oval 237"/>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0" name="Oval 238"/>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1" name="Oval 239"/>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2" name="Oval 240"/>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3" name="Oval 241"/>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4" name="Oval 242"/>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5" name="Freeform 243"/>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65" name="Text Box 244"/>
          <p:cNvSpPr txBox="1">
            <a:spLocks noChangeArrowheads="1"/>
          </p:cNvSpPr>
          <p:nvPr/>
        </p:nvSpPr>
        <p:spPr bwMode="auto">
          <a:xfrm>
            <a:off x="6485890" y="2668286"/>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68" name="AutoShape 247"/>
          <p:cNvSpPr>
            <a:spLocks noChangeArrowheads="1"/>
          </p:cNvSpPr>
          <p:nvPr/>
        </p:nvSpPr>
        <p:spPr bwMode="auto">
          <a:xfrm>
            <a:off x="2860063" y="166948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69" name="AutoShape 248"/>
          <p:cNvSpPr>
            <a:spLocks noChangeArrowheads="1"/>
          </p:cNvSpPr>
          <p:nvPr/>
        </p:nvSpPr>
        <p:spPr bwMode="auto">
          <a:xfrm rot="6744589" flipV="1">
            <a:off x="6676363" y="2085712"/>
            <a:ext cx="827855" cy="309934"/>
          </a:xfrm>
          <a:prstGeom prst="rightArrow">
            <a:avLst>
              <a:gd name="adj1" fmla="val 59778"/>
              <a:gd name="adj2" fmla="val 102652"/>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70" name="AutoShape 249"/>
          <p:cNvSpPr>
            <a:spLocks noChangeArrowheads="1"/>
          </p:cNvSpPr>
          <p:nvPr/>
        </p:nvSpPr>
        <p:spPr bwMode="auto">
          <a:xfrm flipH="1">
            <a:off x="5333063" y="2802741"/>
            <a:ext cx="1000188" cy="348622"/>
          </a:xfrm>
          <a:prstGeom prst="rightArrow">
            <a:avLst>
              <a:gd name="adj1" fmla="val 59778"/>
              <a:gd name="adj2" fmla="val 151908"/>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171" name="AutoShape 250"/>
          <p:cNvSpPr>
            <a:spLocks noChangeArrowheads="1"/>
          </p:cNvSpPr>
          <p:nvPr/>
        </p:nvSpPr>
        <p:spPr bwMode="auto">
          <a:xfrm rot="20314671" flipH="1">
            <a:off x="3732494" y="3053513"/>
            <a:ext cx="914290" cy="326419"/>
          </a:xfrm>
          <a:prstGeom prst="rightArrow">
            <a:avLst>
              <a:gd name="adj1" fmla="val 59778"/>
              <a:gd name="adj2" fmla="val 113871"/>
            </a:avLst>
          </a:prstGeom>
          <a:solidFill>
            <a:srgbClr val="FF99FF"/>
          </a:solidFill>
          <a:ln w="12700" cmpd="sng">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effectLst/>
                <a:uLnTx/>
                <a:uFillTx/>
                <a:latin typeface="微软雅黑" pitchFamily="34" charset="-122"/>
                <a:ea typeface="微软雅黑" pitchFamily="34" charset="-122"/>
              </a:rPr>
              <a:t>直接交付</a:t>
            </a:r>
          </a:p>
        </p:txBody>
      </p:sp>
      <p:grpSp>
        <p:nvGrpSpPr>
          <p:cNvPr id="172" name="Group 251"/>
          <p:cNvGrpSpPr>
            <a:grpSpLocks/>
          </p:cNvGrpSpPr>
          <p:nvPr/>
        </p:nvGrpSpPr>
        <p:grpSpPr bwMode="auto">
          <a:xfrm>
            <a:off x="3751305" y="1072121"/>
            <a:ext cx="460026" cy="450423"/>
            <a:chOff x="1721" y="585"/>
            <a:chExt cx="479" cy="469"/>
          </a:xfrm>
        </p:grpSpPr>
        <p:sp>
          <p:nvSpPr>
            <p:cNvPr id="204" name="Rectangle 253"/>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3" name="Rectangle 252"/>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5" name="Line 254"/>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6" name="Line 255"/>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7" name="Line 256"/>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3" name="Group 258"/>
          <p:cNvGrpSpPr>
            <a:grpSpLocks/>
          </p:cNvGrpSpPr>
          <p:nvPr/>
        </p:nvGrpSpPr>
        <p:grpSpPr bwMode="auto">
          <a:xfrm>
            <a:off x="5275440" y="1072121"/>
            <a:ext cx="460026" cy="450423"/>
            <a:chOff x="1721" y="585"/>
            <a:chExt cx="479" cy="469"/>
          </a:xfrm>
        </p:grpSpPr>
        <p:sp>
          <p:nvSpPr>
            <p:cNvPr id="198" name="Rectangle 260"/>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7" name="Rectangle 259"/>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9" name="Line 261"/>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0" name="Line 262"/>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1" name="Line 263"/>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4" name="Group 265"/>
          <p:cNvGrpSpPr>
            <a:grpSpLocks/>
          </p:cNvGrpSpPr>
          <p:nvPr/>
        </p:nvGrpSpPr>
        <p:grpSpPr bwMode="auto">
          <a:xfrm>
            <a:off x="6824549" y="1072121"/>
            <a:ext cx="460026" cy="450423"/>
            <a:chOff x="1721" y="585"/>
            <a:chExt cx="479" cy="469"/>
          </a:xfrm>
        </p:grpSpPr>
        <p:sp>
          <p:nvSpPr>
            <p:cNvPr id="192" name="Rectangle 267"/>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1" name="Rectangle 266"/>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3" name="Line 268"/>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4" name="Line 269"/>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5" name="Line 270"/>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5" name="Group 272"/>
          <p:cNvGrpSpPr>
            <a:grpSpLocks/>
          </p:cNvGrpSpPr>
          <p:nvPr/>
        </p:nvGrpSpPr>
        <p:grpSpPr bwMode="auto">
          <a:xfrm>
            <a:off x="4665595" y="3196501"/>
            <a:ext cx="460026" cy="450423"/>
            <a:chOff x="1721" y="585"/>
            <a:chExt cx="479" cy="469"/>
          </a:xfrm>
        </p:grpSpPr>
        <p:sp>
          <p:nvSpPr>
            <p:cNvPr id="186" name="Rectangle 274"/>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5" name="Rectangle 273"/>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7" name="Line 275"/>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8" name="Line 276"/>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9" name="Line 277"/>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6" name="Group 279"/>
          <p:cNvGrpSpPr>
            <a:grpSpLocks/>
          </p:cNvGrpSpPr>
          <p:nvPr/>
        </p:nvGrpSpPr>
        <p:grpSpPr bwMode="auto">
          <a:xfrm>
            <a:off x="6713144" y="3196501"/>
            <a:ext cx="460026" cy="450423"/>
            <a:chOff x="1721" y="585"/>
            <a:chExt cx="479" cy="469"/>
          </a:xfrm>
        </p:grpSpPr>
        <p:sp>
          <p:nvSpPr>
            <p:cNvPr id="180" name="Rectangle 281"/>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79" name="Rectangle 280"/>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1" name="Line 282"/>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2" name="Line 283"/>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3" name="Line 284"/>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78" name="Text Box 287"/>
          <p:cNvSpPr txBox="1">
            <a:spLocks noChangeArrowheads="1"/>
          </p:cNvSpPr>
          <p:nvPr/>
        </p:nvSpPr>
        <p:spPr bwMode="auto">
          <a:xfrm>
            <a:off x="3261881" y="652916"/>
            <a:ext cx="2639804" cy="338554"/>
          </a:xfrm>
          <a:prstGeom prst="rect">
            <a:avLst/>
          </a:prstGeom>
          <a:solidFill>
            <a:srgbClr val="0000CC"/>
          </a:solidFill>
          <a:ln w="9525">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分组在互联网中的传送 </a:t>
            </a:r>
          </a:p>
        </p:txBody>
      </p:sp>
      <p:sp>
        <p:nvSpPr>
          <p:cNvPr id="399" name="矩形 398"/>
          <p:cNvSpPr/>
          <p:nvPr/>
        </p:nvSpPr>
        <p:spPr>
          <a:xfrm>
            <a:off x="881220" y="2968085"/>
            <a:ext cx="1486721" cy="1015663"/>
          </a:xfrm>
          <a:prstGeom prst="rect">
            <a:avLst/>
          </a:prstGeom>
          <a:solidFill>
            <a:schemeClr val="bg1"/>
          </a:solidFill>
          <a:ln>
            <a:solidFill>
              <a:schemeClr val="tx1"/>
            </a:solidFill>
          </a:ln>
        </p:spPr>
        <p:txBody>
          <a:bodyPr wrap="square">
            <a:spAutoFit/>
          </a:bodyPr>
          <a:lstStyle/>
          <a:p>
            <a:pPr>
              <a:lnSpc>
                <a:spcPts val="2400"/>
              </a:lnSpc>
            </a:pPr>
            <a:r>
              <a:rPr lang="zh-CN" altLang="zh-CN" sz="1600" b="1" dirty="0">
                <a:latin typeface="微软雅黑" pitchFamily="34" charset="-122"/>
                <a:ea typeface="微软雅黑" pitchFamily="34" charset="-122"/>
              </a:rPr>
              <a:t>互联网可以由多种异构网络互连组成。</a:t>
            </a:r>
            <a:endParaRPr lang="zh-CN" altLang="en-US" sz="1600" b="1" dirty="0">
              <a:latin typeface="微软雅黑" pitchFamily="34" charset="-122"/>
              <a:ea typeface="微软雅黑" pitchFamily="34" charset="-122"/>
            </a:endParaRPr>
          </a:p>
        </p:txBody>
      </p:sp>
      <p:sp>
        <p:nvSpPr>
          <p:cNvPr id="400" name="AutoShape 247"/>
          <p:cNvSpPr>
            <a:spLocks noChangeArrowheads="1"/>
          </p:cNvSpPr>
          <p:nvPr/>
        </p:nvSpPr>
        <p:spPr bwMode="auto">
          <a:xfrm>
            <a:off x="4311526"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402" name="AutoShape 247"/>
          <p:cNvSpPr>
            <a:spLocks noChangeArrowheads="1"/>
          </p:cNvSpPr>
          <p:nvPr/>
        </p:nvSpPr>
        <p:spPr bwMode="auto">
          <a:xfrm>
            <a:off x="5842744"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pic>
        <p:nvPicPr>
          <p:cNvPr id="403"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47453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352452" y="1563638"/>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5"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956074"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6"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57658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grpSp>
        <p:nvGrpSpPr>
          <p:cNvPr id="415" name="Group 181"/>
          <p:cNvGrpSpPr>
            <a:grpSpLocks/>
          </p:cNvGrpSpPr>
          <p:nvPr/>
        </p:nvGrpSpPr>
        <p:grpSpPr bwMode="auto">
          <a:xfrm>
            <a:off x="3210198" y="3363838"/>
            <a:ext cx="528334" cy="389692"/>
            <a:chOff x="762" y="2391"/>
            <a:chExt cx="423" cy="312"/>
          </a:xfrm>
        </p:grpSpPr>
        <p:grpSp>
          <p:nvGrpSpPr>
            <p:cNvPr id="416" name="Group 182"/>
            <p:cNvGrpSpPr>
              <a:grpSpLocks/>
            </p:cNvGrpSpPr>
            <p:nvPr/>
          </p:nvGrpSpPr>
          <p:grpSpPr bwMode="auto">
            <a:xfrm>
              <a:off x="867" y="2432"/>
              <a:ext cx="318" cy="271"/>
              <a:chOff x="657" y="1570"/>
              <a:chExt cx="318" cy="311"/>
            </a:xfrm>
          </p:grpSpPr>
          <p:sp>
            <p:nvSpPr>
              <p:cNvPr id="424"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25"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17" name="Group 185"/>
            <p:cNvGrpSpPr>
              <a:grpSpLocks/>
            </p:cNvGrpSpPr>
            <p:nvPr/>
          </p:nvGrpSpPr>
          <p:grpSpPr bwMode="auto">
            <a:xfrm>
              <a:off x="762" y="2391"/>
              <a:ext cx="306" cy="90"/>
              <a:chOff x="748" y="2251"/>
              <a:chExt cx="306" cy="90"/>
            </a:xfrm>
          </p:grpSpPr>
          <p:sp>
            <p:nvSpPr>
              <p:cNvPr id="418"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19"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0"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1"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2"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3"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grpSp>
        <p:nvGrpSpPr>
          <p:cNvPr id="426" name="Group 181"/>
          <p:cNvGrpSpPr>
            <a:grpSpLocks/>
          </p:cNvGrpSpPr>
          <p:nvPr/>
        </p:nvGrpSpPr>
        <p:grpSpPr bwMode="auto">
          <a:xfrm>
            <a:off x="3178448" y="2787774"/>
            <a:ext cx="528334" cy="389692"/>
            <a:chOff x="762" y="2391"/>
            <a:chExt cx="423" cy="312"/>
          </a:xfrm>
        </p:grpSpPr>
        <p:grpSp>
          <p:nvGrpSpPr>
            <p:cNvPr id="427" name="Group 182"/>
            <p:cNvGrpSpPr>
              <a:grpSpLocks/>
            </p:cNvGrpSpPr>
            <p:nvPr/>
          </p:nvGrpSpPr>
          <p:grpSpPr bwMode="auto">
            <a:xfrm>
              <a:off x="867" y="2432"/>
              <a:ext cx="318" cy="271"/>
              <a:chOff x="657" y="1570"/>
              <a:chExt cx="318" cy="311"/>
            </a:xfrm>
          </p:grpSpPr>
          <p:sp>
            <p:nvSpPr>
              <p:cNvPr id="435"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36"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28" name="Group 185"/>
            <p:cNvGrpSpPr>
              <a:grpSpLocks/>
            </p:cNvGrpSpPr>
            <p:nvPr/>
          </p:nvGrpSpPr>
          <p:grpSpPr bwMode="auto">
            <a:xfrm>
              <a:off x="762" y="2391"/>
              <a:ext cx="306" cy="90"/>
              <a:chOff x="748" y="2251"/>
              <a:chExt cx="306" cy="90"/>
            </a:xfrm>
          </p:grpSpPr>
          <p:sp>
            <p:nvSpPr>
              <p:cNvPr id="429"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0"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1"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2"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3"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4"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437" name="Text Box 257"/>
          <p:cNvSpPr txBox="1">
            <a:spLocks noChangeArrowheads="1"/>
          </p:cNvSpPr>
          <p:nvPr/>
        </p:nvSpPr>
        <p:spPr bwMode="auto">
          <a:xfrm>
            <a:off x="3729491"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8" name="Text Box 264"/>
          <p:cNvSpPr txBox="1">
            <a:spLocks noChangeArrowheads="1"/>
          </p:cNvSpPr>
          <p:nvPr/>
        </p:nvSpPr>
        <p:spPr bwMode="auto">
          <a:xfrm>
            <a:off x="5253629"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9" name="Text Box 278"/>
          <p:cNvSpPr txBox="1">
            <a:spLocks noChangeArrowheads="1"/>
          </p:cNvSpPr>
          <p:nvPr/>
        </p:nvSpPr>
        <p:spPr bwMode="auto">
          <a:xfrm>
            <a:off x="4643781" y="315152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0" name="Text Box 278"/>
          <p:cNvSpPr txBox="1">
            <a:spLocks noChangeArrowheads="1"/>
          </p:cNvSpPr>
          <p:nvPr/>
        </p:nvSpPr>
        <p:spPr bwMode="auto">
          <a:xfrm>
            <a:off x="6707777" y="3157413"/>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1" name="Text Box 278"/>
          <p:cNvSpPr txBox="1">
            <a:spLocks noChangeArrowheads="1"/>
          </p:cNvSpPr>
          <p:nvPr/>
        </p:nvSpPr>
        <p:spPr bwMode="auto">
          <a:xfrm>
            <a:off x="6810598" y="102999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177" name="Freeform 286"/>
          <p:cNvSpPr>
            <a:spLocks/>
          </p:cNvSpPr>
          <p:nvPr/>
        </p:nvSpPr>
        <p:spPr bwMode="auto">
          <a:xfrm>
            <a:off x="2773628" y="842586"/>
            <a:ext cx="4713588" cy="3501579"/>
          </a:xfrm>
          <a:custGeom>
            <a:avLst/>
            <a:gdLst>
              <a:gd name="T0" fmla="*/ 4 w 4908"/>
              <a:gd name="T1" fmla="*/ 0 h 3646"/>
              <a:gd name="T2" fmla="*/ 4 w 4908"/>
              <a:gd name="T3" fmla="*/ 453 h 3646"/>
              <a:gd name="T4" fmla="*/ 13 w 4908"/>
              <a:gd name="T5" fmla="*/ 736 h 3646"/>
              <a:gd name="T6" fmla="*/ 69 w 4908"/>
              <a:gd name="T7" fmla="*/ 794 h 3646"/>
              <a:gd name="T8" fmla="*/ 279 w 4908"/>
              <a:gd name="T9" fmla="*/ 812 h 3646"/>
              <a:gd name="T10" fmla="*/ 579 w 4908"/>
              <a:gd name="T11" fmla="*/ 815 h 3646"/>
              <a:gd name="T12" fmla="*/ 924 w 4908"/>
              <a:gd name="T13" fmla="*/ 809 h 3646"/>
              <a:gd name="T14" fmla="*/ 1083 w 4908"/>
              <a:gd name="T15" fmla="*/ 737 h 3646"/>
              <a:gd name="T16" fmla="*/ 1098 w 4908"/>
              <a:gd name="T17" fmla="*/ 398 h 3646"/>
              <a:gd name="T18" fmla="*/ 1175 w 4908"/>
              <a:gd name="T19" fmla="*/ 269 h 3646"/>
              <a:gd name="T20" fmla="*/ 1406 w 4908"/>
              <a:gd name="T21" fmla="*/ 290 h 3646"/>
              <a:gd name="T22" fmla="*/ 1442 w 4908"/>
              <a:gd name="T23" fmla="*/ 551 h 3646"/>
              <a:gd name="T24" fmla="*/ 1466 w 4908"/>
              <a:gd name="T25" fmla="*/ 773 h 3646"/>
              <a:gd name="T26" fmla="*/ 1676 w 4908"/>
              <a:gd name="T27" fmla="*/ 809 h 3646"/>
              <a:gd name="T28" fmla="*/ 1859 w 4908"/>
              <a:gd name="T29" fmla="*/ 803 h 3646"/>
              <a:gd name="T30" fmla="*/ 2349 w 4908"/>
              <a:gd name="T31" fmla="*/ 803 h 3646"/>
              <a:gd name="T32" fmla="*/ 2514 w 4908"/>
              <a:gd name="T33" fmla="*/ 779 h 3646"/>
              <a:gd name="T34" fmla="*/ 2636 w 4908"/>
              <a:gd name="T35" fmla="*/ 680 h 3646"/>
              <a:gd name="T36" fmla="*/ 2660 w 4908"/>
              <a:gd name="T37" fmla="*/ 392 h 3646"/>
              <a:gd name="T38" fmla="*/ 2726 w 4908"/>
              <a:gd name="T39" fmla="*/ 275 h 3646"/>
              <a:gd name="T40" fmla="*/ 2975 w 4908"/>
              <a:gd name="T41" fmla="*/ 287 h 3646"/>
              <a:gd name="T42" fmla="*/ 3026 w 4908"/>
              <a:gd name="T43" fmla="*/ 464 h 3646"/>
              <a:gd name="T44" fmla="*/ 3053 w 4908"/>
              <a:gd name="T45" fmla="*/ 695 h 3646"/>
              <a:gd name="T46" fmla="*/ 3185 w 4908"/>
              <a:gd name="T47" fmla="*/ 806 h 3646"/>
              <a:gd name="T48" fmla="*/ 3479 w 4908"/>
              <a:gd name="T49" fmla="*/ 815 h 3646"/>
              <a:gd name="T50" fmla="*/ 3875 w 4908"/>
              <a:gd name="T51" fmla="*/ 818 h 3646"/>
              <a:gd name="T52" fmla="*/ 4208 w 4908"/>
              <a:gd name="T53" fmla="*/ 791 h 3646"/>
              <a:gd name="T54" fmla="*/ 4265 w 4908"/>
              <a:gd name="T55" fmla="*/ 629 h 3646"/>
              <a:gd name="T56" fmla="*/ 4274 w 4908"/>
              <a:gd name="T57" fmla="*/ 410 h 3646"/>
              <a:gd name="T58" fmla="*/ 4358 w 4908"/>
              <a:gd name="T59" fmla="*/ 272 h 3646"/>
              <a:gd name="T60" fmla="*/ 4598 w 4908"/>
              <a:gd name="T61" fmla="*/ 299 h 3646"/>
              <a:gd name="T62" fmla="*/ 4652 w 4908"/>
              <a:gd name="T63" fmla="*/ 608 h 3646"/>
              <a:gd name="T64" fmla="*/ 4681 w 4908"/>
              <a:gd name="T65" fmla="*/ 814 h 3646"/>
              <a:gd name="T66" fmla="*/ 4873 w 4908"/>
              <a:gd name="T67" fmla="*/ 1094 h 3646"/>
              <a:gd name="T68" fmla="*/ 4889 w 4908"/>
              <a:gd name="T69" fmla="*/ 1798 h 3646"/>
              <a:gd name="T70" fmla="*/ 4873 w 4908"/>
              <a:gd name="T71" fmla="*/ 2478 h 3646"/>
              <a:gd name="T72" fmla="*/ 4829 w 4908"/>
              <a:gd name="T73" fmla="*/ 2962 h 3646"/>
              <a:gd name="T74" fmla="*/ 4661 w 4908"/>
              <a:gd name="T75" fmla="*/ 3026 h 3646"/>
              <a:gd name="T76" fmla="*/ 4545 w 4908"/>
              <a:gd name="T77" fmla="*/ 2982 h 3646"/>
              <a:gd name="T78" fmla="*/ 4521 w 4908"/>
              <a:gd name="T79" fmla="*/ 2838 h 3646"/>
              <a:gd name="T80" fmla="*/ 4517 w 4908"/>
              <a:gd name="T81" fmla="*/ 2626 h 3646"/>
              <a:gd name="T82" fmla="*/ 4469 w 4908"/>
              <a:gd name="T83" fmla="*/ 2494 h 3646"/>
              <a:gd name="T84" fmla="*/ 4209 w 4908"/>
              <a:gd name="T85" fmla="*/ 2494 h 3646"/>
              <a:gd name="T86" fmla="*/ 4141 w 4908"/>
              <a:gd name="T87" fmla="*/ 2650 h 3646"/>
              <a:gd name="T88" fmla="*/ 4125 w 4908"/>
              <a:gd name="T89" fmla="*/ 2978 h 3646"/>
              <a:gd name="T90" fmla="*/ 3881 w 4908"/>
              <a:gd name="T91" fmla="*/ 3053 h 3646"/>
              <a:gd name="T92" fmla="*/ 3213 w 4908"/>
              <a:gd name="T93" fmla="*/ 3046 h 3646"/>
              <a:gd name="T94" fmla="*/ 2893 w 4908"/>
              <a:gd name="T95" fmla="*/ 3042 h 3646"/>
              <a:gd name="T96" fmla="*/ 2617 w 4908"/>
              <a:gd name="T97" fmla="*/ 3026 h 3646"/>
              <a:gd name="T98" fmla="*/ 2417 w 4908"/>
              <a:gd name="T99" fmla="*/ 2950 h 3646"/>
              <a:gd name="T100" fmla="*/ 2393 w 4908"/>
              <a:gd name="T101" fmla="*/ 2666 h 3646"/>
              <a:gd name="T102" fmla="*/ 2309 w 4908"/>
              <a:gd name="T103" fmla="*/ 2490 h 3646"/>
              <a:gd name="T104" fmla="*/ 2085 w 4908"/>
              <a:gd name="T105" fmla="*/ 2514 h 3646"/>
              <a:gd name="T106" fmla="*/ 2017 w 4908"/>
              <a:gd name="T107" fmla="*/ 2862 h 3646"/>
              <a:gd name="T108" fmla="*/ 2001 w 4908"/>
              <a:gd name="T109" fmla="*/ 3226 h 3646"/>
              <a:gd name="T110" fmla="*/ 1961 w 4908"/>
              <a:gd name="T111" fmla="*/ 3522 h 3646"/>
              <a:gd name="T112" fmla="*/ 1837 w 4908"/>
              <a:gd name="T113" fmla="*/ 3626 h 3646"/>
              <a:gd name="T114" fmla="*/ 1637 w 4908"/>
              <a:gd name="T115" fmla="*/ 3642 h 3646"/>
              <a:gd name="T116" fmla="*/ 1415 w 4908"/>
              <a:gd name="T117" fmla="*/ 3632 h 3646"/>
              <a:gd name="T118" fmla="*/ 1247 w 4908"/>
              <a:gd name="T119" fmla="*/ 3563 h 3646"/>
              <a:gd name="T120" fmla="*/ 1229 w 4908"/>
              <a:gd name="T121" fmla="*/ 3191 h 3646"/>
              <a:gd name="T122" fmla="*/ 1229 w 4908"/>
              <a:gd name="T123" fmla="*/ 2826 h 3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908" h="3646">
                <a:moveTo>
                  <a:pt x="4" y="0"/>
                </a:moveTo>
                <a:cubicBezTo>
                  <a:pt x="0" y="162"/>
                  <a:pt x="3" y="330"/>
                  <a:pt x="4" y="453"/>
                </a:cubicBezTo>
                <a:cubicBezTo>
                  <a:pt x="5" y="576"/>
                  <a:pt x="2" y="679"/>
                  <a:pt x="13" y="736"/>
                </a:cubicBezTo>
                <a:cubicBezTo>
                  <a:pt x="24" y="793"/>
                  <a:pt x="25" y="781"/>
                  <a:pt x="69" y="794"/>
                </a:cubicBezTo>
                <a:cubicBezTo>
                  <a:pt x="113" y="807"/>
                  <a:pt x="194" y="808"/>
                  <a:pt x="279" y="812"/>
                </a:cubicBezTo>
                <a:cubicBezTo>
                  <a:pt x="364" y="816"/>
                  <a:pt x="472" y="815"/>
                  <a:pt x="579" y="815"/>
                </a:cubicBezTo>
                <a:cubicBezTo>
                  <a:pt x="686" y="815"/>
                  <a:pt x="840" y="822"/>
                  <a:pt x="924" y="809"/>
                </a:cubicBezTo>
                <a:cubicBezTo>
                  <a:pt x="1008" y="796"/>
                  <a:pt x="1054" y="806"/>
                  <a:pt x="1083" y="737"/>
                </a:cubicBezTo>
                <a:cubicBezTo>
                  <a:pt x="1112" y="668"/>
                  <a:pt x="1083" y="476"/>
                  <a:pt x="1098" y="398"/>
                </a:cubicBezTo>
                <a:cubicBezTo>
                  <a:pt x="1113" y="320"/>
                  <a:pt x="1124" y="287"/>
                  <a:pt x="1175" y="269"/>
                </a:cubicBezTo>
                <a:cubicBezTo>
                  <a:pt x="1226" y="251"/>
                  <a:pt x="1361" y="243"/>
                  <a:pt x="1406" y="290"/>
                </a:cubicBezTo>
                <a:cubicBezTo>
                  <a:pt x="1451" y="337"/>
                  <a:pt x="1432" y="471"/>
                  <a:pt x="1442" y="551"/>
                </a:cubicBezTo>
                <a:cubicBezTo>
                  <a:pt x="1452" y="631"/>
                  <a:pt x="1427" y="730"/>
                  <a:pt x="1466" y="773"/>
                </a:cubicBezTo>
                <a:cubicBezTo>
                  <a:pt x="1505" y="816"/>
                  <a:pt x="1611" y="804"/>
                  <a:pt x="1676" y="809"/>
                </a:cubicBezTo>
                <a:cubicBezTo>
                  <a:pt x="1741" y="814"/>
                  <a:pt x="1747" y="804"/>
                  <a:pt x="1859" y="803"/>
                </a:cubicBezTo>
                <a:cubicBezTo>
                  <a:pt x="1971" y="802"/>
                  <a:pt x="2240" y="807"/>
                  <a:pt x="2349" y="803"/>
                </a:cubicBezTo>
                <a:cubicBezTo>
                  <a:pt x="2458" y="799"/>
                  <a:pt x="2466" y="800"/>
                  <a:pt x="2514" y="779"/>
                </a:cubicBezTo>
                <a:cubicBezTo>
                  <a:pt x="2562" y="758"/>
                  <a:pt x="2612" y="744"/>
                  <a:pt x="2636" y="680"/>
                </a:cubicBezTo>
                <a:cubicBezTo>
                  <a:pt x="2660" y="616"/>
                  <a:pt x="2645" y="459"/>
                  <a:pt x="2660" y="392"/>
                </a:cubicBezTo>
                <a:cubicBezTo>
                  <a:pt x="2675" y="325"/>
                  <a:pt x="2674" y="292"/>
                  <a:pt x="2726" y="275"/>
                </a:cubicBezTo>
                <a:cubicBezTo>
                  <a:pt x="2778" y="258"/>
                  <a:pt x="2925" y="256"/>
                  <a:pt x="2975" y="287"/>
                </a:cubicBezTo>
                <a:cubicBezTo>
                  <a:pt x="3025" y="318"/>
                  <a:pt x="3013" y="396"/>
                  <a:pt x="3026" y="464"/>
                </a:cubicBezTo>
                <a:cubicBezTo>
                  <a:pt x="3039" y="532"/>
                  <a:pt x="3027" y="638"/>
                  <a:pt x="3053" y="695"/>
                </a:cubicBezTo>
                <a:cubicBezTo>
                  <a:pt x="3079" y="752"/>
                  <a:pt x="3114" y="786"/>
                  <a:pt x="3185" y="806"/>
                </a:cubicBezTo>
                <a:cubicBezTo>
                  <a:pt x="3256" y="826"/>
                  <a:pt x="3364" y="813"/>
                  <a:pt x="3479" y="815"/>
                </a:cubicBezTo>
                <a:cubicBezTo>
                  <a:pt x="3594" y="817"/>
                  <a:pt x="3754" y="822"/>
                  <a:pt x="3875" y="818"/>
                </a:cubicBezTo>
                <a:cubicBezTo>
                  <a:pt x="3996" y="814"/>
                  <a:pt x="4143" y="822"/>
                  <a:pt x="4208" y="791"/>
                </a:cubicBezTo>
                <a:cubicBezTo>
                  <a:pt x="4273" y="760"/>
                  <a:pt x="4254" y="692"/>
                  <a:pt x="4265" y="629"/>
                </a:cubicBezTo>
                <a:cubicBezTo>
                  <a:pt x="4276" y="566"/>
                  <a:pt x="4259" y="469"/>
                  <a:pt x="4274" y="410"/>
                </a:cubicBezTo>
                <a:cubicBezTo>
                  <a:pt x="4289" y="351"/>
                  <a:pt x="4304" y="290"/>
                  <a:pt x="4358" y="272"/>
                </a:cubicBezTo>
                <a:cubicBezTo>
                  <a:pt x="4412" y="254"/>
                  <a:pt x="4549" y="243"/>
                  <a:pt x="4598" y="299"/>
                </a:cubicBezTo>
                <a:cubicBezTo>
                  <a:pt x="4647" y="355"/>
                  <a:pt x="4638" y="522"/>
                  <a:pt x="4652" y="608"/>
                </a:cubicBezTo>
                <a:cubicBezTo>
                  <a:pt x="4666" y="694"/>
                  <a:pt x="4644" y="733"/>
                  <a:pt x="4681" y="814"/>
                </a:cubicBezTo>
                <a:cubicBezTo>
                  <a:pt x="4718" y="895"/>
                  <a:pt x="4838" y="930"/>
                  <a:pt x="4873" y="1094"/>
                </a:cubicBezTo>
                <a:cubicBezTo>
                  <a:pt x="4908" y="1258"/>
                  <a:pt x="4889" y="1567"/>
                  <a:pt x="4889" y="1798"/>
                </a:cubicBezTo>
                <a:cubicBezTo>
                  <a:pt x="4889" y="2029"/>
                  <a:pt x="4883" y="2284"/>
                  <a:pt x="4873" y="2478"/>
                </a:cubicBezTo>
                <a:cubicBezTo>
                  <a:pt x="4863" y="2672"/>
                  <a:pt x="4864" y="2871"/>
                  <a:pt x="4829" y="2962"/>
                </a:cubicBezTo>
                <a:cubicBezTo>
                  <a:pt x="4794" y="3053"/>
                  <a:pt x="4708" y="3023"/>
                  <a:pt x="4661" y="3026"/>
                </a:cubicBezTo>
                <a:cubicBezTo>
                  <a:pt x="4614" y="3029"/>
                  <a:pt x="4568" y="3013"/>
                  <a:pt x="4545" y="2982"/>
                </a:cubicBezTo>
                <a:cubicBezTo>
                  <a:pt x="4522" y="2951"/>
                  <a:pt x="4526" y="2897"/>
                  <a:pt x="4521" y="2838"/>
                </a:cubicBezTo>
                <a:cubicBezTo>
                  <a:pt x="4516" y="2779"/>
                  <a:pt x="4526" y="2683"/>
                  <a:pt x="4517" y="2626"/>
                </a:cubicBezTo>
                <a:cubicBezTo>
                  <a:pt x="4508" y="2569"/>
                  <a:pt x="4520" y="2516"/>
                  <a:pt x="4469" y="2494"/>
                </a:cubicBezTo>
                <a:cubicBezTo>
                  <a:pt x="4418" y="2472"/>
                  <a:pt x="4264" y="2468"/>
                  <a:pt x="4209" y="2494"/>
                </a:cubicBezTo>
                <a:cubicBezTo>
                  <a:pt x="4154" y="2520"/>
                  <a:pt x="4155" y="2569"/>
                  <a:pt x="4141" y="2650"/>
                </a:cubicBezTo>
                <a:cubicBezTo>
                  <a:pt x="4127" y="2731"/>
                  <a:pt x="4168" y="2911"/>
                  <a:pt x="4125" y="2978"/>
                </a:cubicBezTo>
                <a:cubicBezTo>
                  <a:pt x="4082" y="3045"/>
                  <a:pt x="4033" y="3042"/>
                  <a:pt x="3881" y="3053"/>
                </a:cubicBezTo>
                <a:cubicBezTo>
                  <a:pt x="3729" y="3064"/>
                  <a:pt x="3378" y="3048"/>
                  <a:pt x="3213" y="3046"/>
                </a:cubicBezTo>
                <a:cubicBezTo>
                  <a:pt x="3048" y="3044"/>
                  <a:pt x="2992" y="3045"/>
                  <a:pt x="2893" y="3042"/>
                </a:cubicBezTo>
                <a:cubicBezTo>
                  <a:pt x="2794" y="3039"/>
                  <a:pt x="2696" y="3041"/>
                  <a:pt x="2617" y="3026"/>
                </a:cubicBezTo>
                <a:cubicBezTo>
                  <a:pt x="2538" y="3011"/>
                  <a:pt x="2454" y="3010"/>
                  <a:pt x="2417" y="2950"/>
                </a:cubicBezTo>
                <a:cubicBezTo>
                  <a:pt x="2380" y="2890"/>
                  <a:pt x="2411" y="2743"/>
                  <a:pt x="2393" y="2666"/>
                </a:cubicBezTo>
                <a:cubicBezTo>
                  <a:pt x="2375" y="2589"/>
                  <a:pt x="2360" y="2515"/>
                  <a:pt x="2309" y="2490"/>
                </a:cubicBezTo>
                <a:cubicBezTo>
                  <a:pt x="2258" y="2465"/>
                  <a:pt x="2134" y="2452"/>
                  <a:pt x="2085" y="2514"/>
                </a:cubicBezTo>
                <a:cubicBezTo>
                  <a:pt x="2036" y="2576"/>
                  <a:pt x="2031" y="2743"/>
                  <a:pt x="2017" y="2862"/>
                </a:cubicBezTo>
                <a:cubicBezTo>
                  <a:pt x="2003" y="2981"/>
                  <a:pt x="2010" y="3116"/>
                  <a:pt x="2001" y="3226"/>
                </a:cubicBezTo>
                <a:cubicBezTo>
                  <a:pt x="1992" y="3336"/>
                  <a:pt x="1988" y="3455"/>
                  <a:pt x="1961" y="3522"/>
                </a:cubicBezTo>
                <a:cubicBezTo>
                  <a:pt x="1934" y="3589"/>
                  <a:pt x="1891" y="3606"/>
                  <a:pt x="1837" y="3626"/>
                </a:cubicBezTo>
                <a:cubicBezTo>
                  <a:pt x="1783" y="3646"/>
                  <a:pt x="1707" y="3641"/>
                  <a:pt x="1637" y="3642"/>
                </a:cubicBezTo>
                <a:cubicBezTo>
                  <a:pt x="1567" y="3643"/>
                  <a:pt x="1480" y="3645"/>
                  <a:pt x="1415" y="3632"/>
                </a:cubicBezTo>
                <a:cubicBezTo>
                  <a:pt x="1350" y="3619"/>
                  <a:pt x="1278" y="3636"/>
                  <a:pt x="1247" y="3563"/>
                </a:cubicBezTo>
                <a:cubicBezTo>
                  <a:pt x="1216" y="3490"/>
                  <a:pt x="1232" y="3314"/>
                  <a:pt x="1229" y="3191"/>
                </a:cubicBezTo>
                <a:cubicBezTo>
                  <a:pt x="1226" y="3068"/>
                  <a:pt x="1229" y="2902"/>
                  <a:pt x="1229" y="2826"/>
                </a:cubicBezTo>
              </a:path>
            </a:pathLst>
          </a:custGeom>
          <a:noFill/>
          <a:ln w="28575" cmpd="sng">
            <a:solidFill>
              <a:srgbClr val="FF00FF"/>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AutoShape 5"/>
          <p:cNvSpPr>
            <a:spLocks noChangeArrowheads="1"/>
          </p:cNvSpPr>
          <p:nvPr/>
        </p:nvSpPr>
        <p:spPr bwMode="auto">
          <a:xfrm>
            <a:off x="556963" y="62471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8" name="Rectangle 6"/>
          <p:cNvSpPr>
            <a:spLocks noChangeArrowheads="1"/>
          </p:cNvSpPr>
          <p:nvPr/>
        </p:nvSpPr>
        <p:spPr bwMode="auto">
          <a:xfrm>
            <a:off x="3719576" y="591500"/>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分组传输路径</a:t>
            </a:r>
          </a:p>
        </p:txBody>
      </p:sp>
      <p:grpSp>
        <p:nvGrpSpPr>
          <p:cNvPr id="25" name="组合 24"/>
          <p:cNvGrpSpPr/>
          <p:nvPr/>
        </p:nvGrpSpPr>
        <p:grpSpPr>
          <a:xfrm>
            <a:off x="7060601" y="2241379"/>
            <a:ext cx="902811" cy="700650"/>
            <a:chOff x="7060601" y="2241379"/>
            <a:chExt cx="902811" cy="700650"/>
          </a:xfrm>
        </p:grpSpPr>
        <p:sp>
          <p:nvSpPr>
            <p:cNvPr id="42" name="TextBox 5"/>
            <p:cNvSpPr txBox="1"/>
            <p:nvPr/>
          </p:nvSpPr>
          <p:spPr>
            <a:xfrm>
              <a:off x="7060601"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直接交付</a:t>
              </a:r>
            </a:p>
          </p:txBody>
        </p:sp>
        <p:cxnSp>
          <p:nvCxnSpPr>
            <p:cNvPr id="48" name="直接箭头连接符 47"/>
            <p:cNvCxnSpPr/>
            <p:nvPr/>
          </p:nvCxnSpPr>
          <p:spPr>
            <a:xfrm flipV="1">
              <a:off x="7534010" y="2241379"/>
              <a:ext cx="0" cy="412465"/>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grpSp>
        <p:nvGrpSpPr>
          <p:cNvPr id="23" name="组合 22"/>
          <p:cNvGrpSpPr/>
          <p:nvPr/>
        </p:nvGrpSpPr>
        <p:grpSpPr>
          <a:xfrm>
            <a:off x="645100" y="1324921"/>
            <a:ext cx="7879255" cy="1021469"/>
            <a:chOff x="645100" y="1324921"/>
            <a:chExt cx="7879255" cy="1021469"/>
          </a:xfrm>
        </p:grpSpPr>
        <p:sp>
          <p:nvSpPr>
            <p:cNvPr id="161"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6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6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8"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 name="组合 1"/>
            <p:cNvGrpSpPr/>
            <p:nvPr/>
          </p:nvGrpSpPr>
          <p:grpSpPr>
            <a:xfrm>
              <a:off x="1195777" y="1324921"/>
              <a:ext cx="856156" cy="940368"/>
              <a:chOff x="1204403" y="1807995"/>
              <a:chExt cx="856156" cy="940368"/>
            </a:xfrm>
          </p:grpSpPr>
          <p:sp>
            <p:nvSpPr>
              <p:cNvPr id="49" name="弧形 4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3" name="组合 62"/>
            <p:cNvGrpSpPr/>
            <p:nvPr/>
          </p:nvGrpSpPr>
          <p:grpSpPr>
            <a:xfrm>
              <a:off x="2346779" y="1324921"/>
              <a:ext cx="856156" cy="940368"/>
              <a:chOff x="1204403" y="1807995"/>
              <a:chExt cx="856156" cy="940368"/>
            </a:xfrm>
          </p:grpSpPr>
          <p:sp>
            <p:nvSpPr>
              <p:cNvPr id="64" name="弧形 63"/>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6" name="组合 65"/>
            <p:cNvGrpSpPr/>
            <p:nvPr/>
          </p:nvGrpSpPr>
          <p:grpSpPr>
            <a:xfrm>
              <a:off x="3546083" y="1324921"/>
              <a:ext cx="856156" cy="940368"/>
              <a:chOff x="1204403" y="1807995"/>
              <a:chExt cx="856156" cy="940368"/>
            </a:xfrm>
          </p:grpSpPr>
          <p:sp>
            <p:nvSpPr>
              <p:cNvPr id="67" name="弧形 6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9" name="组合 68"/>
            <p:cNvGrpSpPr/>
            <p:nvPr/>
          </p:nvGrpSpPr>
          <p:grpSpPr>
            <a:xfrm>
              <a:off x="4697085" y="1324921"/>
              <a:ext cx="856156" cy="940368"/>
              <a:chOff x="1204403" y="1807995"/>
              <a:chExt cx="856156" cy="940368"/>
            </a:xfrm>
          </p:grpSpPr>
          <p:sp>
            <p:nvSpPr>
              <p:cNvPr id="70" name="弧形 69"/>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1"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2" name="组合 71"/>
            <p:cNvGrpSpPr/>
            <p:nvPr/>
          </p:nvGrpSpPr>
          <p:grpSpPr>
            <a:xfrm>
              <a:off x="5888545" y="1324921"/>
              <a:ext cx="856156" cy="940368"/>
              <a:chOff x="1204403" y="1807995"/>
              <a:chExt cx="856156" cy="940368"/>
            </a:xfrm>
          </p:grpSpPr>
          <p:sp>
            <p:nvSpPr>
              <p:cNvPr id="73" name="弧形 7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5" name="组合 74"/>
            <p:cNvGrpSpPr/>
            <p:nvPr/>
          </p:nvGrpSpPr>
          <p:grpSpPr>
            <a:xfrm>
              <a:off x="7039547" y="1324921"/>
              <a:ext cx="856156" cy="940368"/>
              <a:chOff x="1204403" y="1807995"/>
              <a:chExt cx="856156" cy="940368"/>
            </a:xfrm>
          </p:grpSpPr>
          <p:sp>
            <p:nvSpPr>
              <p:cNvPr id="76" name="弧形 75"/>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7"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94"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7"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8"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9"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0"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1"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24" name="组合 23"/>
          <p:cNvGrpSpPr/>
          <p:nvPr/>
        </p:nvGrpSpPr>
        <p:grpSpPr>
          <a:xfrm>
            <a:off x="1458614" y="2209033"/>
            <a:ext cx="4843980" cy="732996"/>
            <a:chOff x="1458614" y="2209033"/>
            <a:chExt cx="4843980" cy="732996"/>
          </a:xfrm>
        </p:grpSpPr>
        <p:sp>
          <p:nvSpPr>
            <p:cNvPr id="41" name="TextBox 4"/>
            <p:cNvSpPr txBox="1"/>
            <p:nvPr/>
          </p:nvSpPr>
          <p:spPr>
            <a:xfrm>
              <a:off x="3524814"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间接交付</a:t>
              </a:r>
            </a:p>
          </p:txBody>
        </p:sp>
        <p:cxnSp>
          <p:nvCxnSpPr>
            <p:cNvPr id="43" name="直接箭头连接符 42"/>
            <p:cNvCxnSpPr>
              <a:stCxn id="41" idx="0"/>
            </p:cNvCxnSpPr>
            <p:nvPr/>
          </p:nvCxnSpPr>
          <p:spPr>
            <a:xfrm flipV="1">
              <a:off x="3976220" y="2241379"/>
              <a:ext cx="0" cy="392873"/>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4" name="直接箭头连接符 43"/>
            <p:cNvCxnSpPr/>
            <p:nvPr/>
          </p:nvCxnSpPr>
          <p:spPr>
            <a:xfrm flipV="1">
              <a:off x="4354867" y="2225168"/>
              <a:ext cx="867925" cy="517380"/>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5" name="直接箭头连接符 44"/>
            <p:cNvCxnSpPr>
              <a:stCxn id="41" idx="3"/>
            </p:cNvCxnSpPr>
            <p:nvPr/>
          </p:nvCxnSpPr>
          <p:spPr>
            <a:xfrm flipV="1">
              <a:off x="4427625" y="2225167"/>
              <a:ext cx="1874969" cy="562974"/>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6" name="直接箭头连接符 45"/>
            <p:cNvCxnSpPr>
              <a:stCxn id="41" idx="1"/>
            </p:cNvCxnSpPr>
            <p:nvPr/>
          </p:nvCxnSpPr>
          <p:spPr>
            <a:xfrm flipH="1" flipV="1">
              <a:off x="1458614" y="2209033"/>
              <a:ext cx="2066200" cy="579108"/>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7" name="直接箭头连接符 46"/>
            <p:cNvCxnSpPr/>
            <p:nvPr/>
          </p:nvCxnSpPr>
          <p:spPr>
            <a:xfrm flipH="1" flipV="1">
              <a:off x="2724034" y="2225166"/>
              <a:ext cx="860263" cy="517382"/>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385169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30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childTnLst>
                                </p:cTn>
                              </p:par>
                            </p:childTnLst>
                          </p:cTn>
                        </p:par>
                        <p:par>
                          <p:cTn id="12" fill="hold">
                            <p:stCondLst>
                              <p:cond delay="0"/>
                            </p:stCondLst>
                            <p:childTnLst>
                              <p:par>
                                <p:cTn id="13" presetID="1" presetClass="entr" presetSubtype="0"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4192"/>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3510652" y="582121"/>
            <a:ext cx="212269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4.2.2  IP </a:t>
            </a:r>
            <a:r>
              <a:rPr lang="zh-CN" altLang="en-US" sz="2400" b="1" dirty="0">
                <a:solidFill>
                  <a:schemeClr val="bg1"/>
                </a:solidFill>
                <a:latin typeface="微软雅黑" pitchFamily="34" charset="-122"/>
                <a:ea typeface="微软雅黑" pitchFamily="34" charset="-122"/>
              </a:rPr>
              <a:t>地址</a:t>
            </a:r>
          </a:p>
        </p:txBody>
      </p:sp>
      <p:sp>
        <p:nvSpPr>
          <p:cNvPr id="7" name="Rectangle 8"/>
          <p:cNvSpPr>
            <a:spLocks noChangeArrowheads="1"/>
          </p:cNvSpPr>
          <p:nvPr/>
        </p:nvSpPr>
        <p:spPr bwMode="auto">
          <a:xfrm>
            <a:off x="545144" y="1046233"/>
            <a:ext cx="7665002"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 </a:t>
            </a:r>
            <a:r>
              <a:rPr lang="en-US" altLang="zh-CN" sz="2000" b="1" dirty="0">
                <a:latin typeface="微软雅黑" pitchFamily="34" charset="-122"/>
                <a:ea typeface="微软雅黑" pitchFamily="34" charset="-122"/>
              </a:rPr>
              <a:t>TCP/IP </a:t>
            </a:r>
            <a:r>
              <a:rPr lang="zh-CN" altLang="en-US" sz="2000" b="1" dirty="0">
                <a:latin typeface="微软雅黑" pitchFamily="34" charset="-122"/>
                <a:ea typeface="微软雅黑" pitchFamily="34" charset="-122"/>
              </a:rPr>
              <a:t>体系中，</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地址是一个最基本的概念。</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没有</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地址，就无法和网上的其他设备进行通信。</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本部分重点：</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地址及其表示方法</a:t>
            </a: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分类的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a:t>
            </a:r>
            <a:endParaRPr lang="en-US" altLang="zh-CN" sz="2000" b="1" dirty="0">
              <a:solidFill>
                <a:srgbClr val="0000FF"/>
              </a:solidFill>
              <a:latin typeface="微软雅黑" pitchFamily="34" charset="-122"/>
              <a:ea typeface="微软雅黑" pitchFamily="34" charset="-122"/>
            </a:endParaRP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无分类编址 </a:t>
            </a:r>
            <a:r>
              <a:rPr lang="en-US" altLang="zh-CN" sz="2000" b="1" dirty="0">
                <a:solidFill>
                  <a:srgbClr val="0000FF"/>
                </a:solidFill>
                <a:latin typeface="微软雅黑" pitchFamily="34" charset="-122"/>
                <a:ea typeface="微软雅黑" pitchFamily="34" charset="-122"/>
              </a:rPr>
              <a:t>CIDR</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地址的特点</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104023" y="581433"/>
            <a:ext cx="295465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地址及其表示方法</a:t>
            </a:r>
          </a:p>
        </p:txBody>
      </p:sp>
      <p:sp>
        <p:nvSpPr>
          <p:cNvPr id="5" name="圆角矩形 4"/>
          <p:cNvSpPr/>
          <p:nvPr/>
        </p:nvSpPr>
        <p:spPr>
          <a:xfrm>
            <a:off x="552028" y="1032006"/>
            <a:ext cx="8053711" cy="266010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9" name="Group 3"/>
          <p:cNvGrpSpPr>
            <a:grpSpLocks/>
          </p:cNvGrpSpPr>
          <p:nvPr/>
        </p:nvGrpSpPr>
        <p:grpSpPr bwMode="auto">
          <a:xfrm>
            <a:off x="733834" y="1187799"/>
            <a:ext cx="6640977" cy="415504"/>
            <a:chOff x="-845" y="1217"/>
            <a:chExt cx="6553" cy="410"/>
          </a:xfrm>
        </p:grpSpPr>
        <p:sp>
          <p:nvSpPr>
            <p:cNvPr id="10" name="Rectangle 4"/>
            <p:cNvSpPr>
              <a:spLocks noChangeArrowheads="1"/>
            </p:cNvSpPr>
            <p:nvPr/>
          </p:nvSpPr>
          <p:spPr bwMode="auto">
            <a:xfrm>
              <a:off x="2134" y="1217"/>
              <a:ext cx="3574" cy="410"/>
            </a:xfrm>
            <a:prstGeom prst="rect">
              <a:avLst/>
            </a:prstGeom>
            <a:solidFill>
              <a:srgbClr val="00FF99"/>
            </a:solidFill>
            <a:ln w="1905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  10000000000010110000001100011111  </a:t>
              </a:r>
            </a:p>
          </p:txBody>
        </p:sp>
        <p:sp>
          <p:nvSpPr>
            <p:cNvPr id="11" name="Text Box 5"/>
            <p:cNvSpPr txBox="1">
              <a:spLocks noChangeArrowheads="1"/>
            </p:cNvSpPr>
            <p:nvPr/>
          </p:nvSpPr>
          <p:spPr bwMode="auto">
            <a:xfrm>
              <a:off x="-845" y="1252"/>
              <a:ext cx="2933" cy="3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地址：</a:t>
              </a:r>
              <a:r>
                <a:rPr kumimoji="0" lang="en-US" altLang="zh-CN"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位</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二进制代码</a:t>
              </a:r>
            </a:p>
          </p:txBody>
        </p:sp>
      </p:grpSp>
      <p:grpSp>
        <p:nvGrpSpPr>
          <p:cNvPr id="12" name="Group 6"/>
          <p:cNvGrpSpPr>
            <a:grpSpLocks/>
          </p:cNvGrpSpPr>
          <p:nvPr/>
        </p:nvGrpSpPr>
        <p:grpSpPr bwMode="auto">
          <a:xfrm>
            <a:off x="1831376" y="1816372"/>
            <a:ext cx="5798817" cy="314162"/>
            <a:chOff x="207" y="1738"/>
            <a:chExt cx="5722" cy="310"/>
          </a:xfrm>
        </p:grpSpPr>
        <p:sp>
          <p:nvSpPr>
            <p:cNvPr id="13" name="Text Box 7"/>
            <p:cNvSpPr txBox="1">
              <a:spLocks noChangeArrowheads="1"/>
            </p:cNvSpPr>
            <p:nvPr/>
          </p:nvSpPr>
          <p:spPr bwMode="auto">
            <a:xfrm>
              <a:off x="1993" y="1738"/>
              <a:ext cx="39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10000000 </a:t>
              </a:r>
              <a:r>
                <a:rPr lang="en-US" altLang="zh-CN" sz="1400" b="1" dirty="0">
                  <a:latin typeface="微软雅黑" pitchFamily="34" charset="-122"/>
                  <a:ea typeface="微软雅黑" pitchFamily="34" charset="-122"/>
                </a:rPr>
                <a:t>00001011</a:t>
              </a:r>
              <a:r>
                <a:rPr lang="en-US" altLang="zh-CN" sz="1400" b="1" dirty="0">
                  <a:solidFill>
                    <a:srgbClr val="0000FF"/>
                  </a:solidFill>
                  <a:latin typeface="微软雅黑" pitchFamily="34" charset="-122"/>
                  <a:ea typeface="微软雅黑" pitchFamily="34" charset="-122"/>
                </a:rPr>
                <a:t> 00000011 </a:t>
              </a:r>
              <a:r>
                <a:rPr lang="en-US" altLang="zh-CN" sz="1400" b="1" dirty="0">
                  <a:latin typeface="微软雅黑" pitchFamily="34" charset="-122"/>
                  <a:ea typeface="微软雅黑" pitchFamily="34" charset="-122"/>
                </a:rPr>
                <a:t>00011111</a:t>
              </a:r>
              <a:r>
                <a:rPr lang="en-US" altLang="zh-CN" sz="1400" b="1" dirty="0">
                  <a:solidFill>
                    <a:srgbClr val="0000FF"/>
                  </a:solidFill>
                  <a:latin typeface="微软雅黑" pitchFamily="34" charset="-122"/>
                  <a:ea typeface="微软雅黑" pitchFamily="34" charset="-122"/>
                </a:rPr>
                <a:t> </a:t>
              </a:r>
            </a:p>
          </p:txBody>
        </p:sp>
        <p:sp>
          <p:nvSpPr>
            <p:cNvPr id="14" name="Text Box 8"/>
            <p:cNvSpPr txBox="1">
              <a:spLocks noChangeArrowheads="1"/>
            </p:cNvSpPr>
            <p:nvPr/>
          </p:nvSpPr>
          <p:spPr bwMode="auto">
            <a:xfrm>
              <a:off x="207" y="1744"/>
              <a:ext cx="16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b="1" dirty="0">
                  <a:solidFill>
                    <a:srgbClr val="0000FF"/>
                  </a:solidFill>
                  <a:latin typeface="微软雅黑" pitchFamily="34" charset="-122"/>
                  <a:ea typeface="微软雅黑" pitchFamily="34" charset="-122"/>
                </a:rPr>
                <a:t>分为每 </a:t>
              </a:r>
              <a:r>
                <a:rPr lang="en-US" altLang="zh-CN" sz="1400" b="1" dirty="0">
                  <a:solidFill>
                    <a:srgbClr val="0000FF"/>
                  </a:solidFill>
                  <a:latin typeface="微软雅黑" pitchFamily="34" charset="-122"/>
                  <a:ea typeface="微软雅黑" pitchFamily="34" charset="-122"/>
                </a:rPr>
                <a:t>8 </a:t>
              </a:r>
              <a:r>
                <a:rPr lang="zh-CN" altLang="en-US" sz="1400" b="1" dirty="0">
                  <a:solidFill>
                    <a:srgbClr val="0000FF"/>
                  </a:solidFill>
                  <a:latin typeface="微软雅黑" pitchFamily="34" charset="-122"/>
                  <a:ea typeface="微软雅黑" pitchFamily="34" charset="-122"/>
                </a:rPr>
                <a:t>位为一组</a:t>
              </a:r>
            </a:p>
          </p:txBody>
        </p:sp>
      </p:grpSp>
      <p:sp>
        <p:nvSpPr>
          <p:cNvPr id="15" name="Text Box 9"/>
          <p:cNvSpPr txBox="1">
            <a:spLocks noChangeArrowheads="1"/>
          </p:cNvSpPr>
          <p:nvPr/>
        </p:nvSpPr>
        <p:spPr bwMode="auto">
          <a:xfrm>
            <a:off x="1388858" y="3055611"/>
            <a:ext cx="222894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600" b="1" dirty="0">
                <a:solidFill>
                  <a:srgbClr val="0000FF"/>
                </a:solidFill>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点分十进制记法</a:t>
            </a:r>
          </a:p>
        </p:txBody>
      </p:sp>
      <p:sp>
        <p:nvSpPr>
          <p:cNvPr id="16" name="Text Box 10"/>
          <p:cNvSpPr txBox="1">
            <a:spLocks noChangeArrowheads="1"/>
          </p:cNvSpPr>
          <p:nvPr/>
        </p:nvSpPr>
        <p:spPr bwMode="auto">
          <a:xfrm>
            <a:off x="4702468" y="3049906"/>
            <a:ext cx="1592103" cy="369332"/>
          </a:xfrm>
          <a:prstGeom prst="rect">
            <a:avLst/>
          </a:prstGeom>
          <a:solidFill>
            <a:srgbClr val="00FFFF"/>
          </a:solidFill>
          <a:ln w="19050">
            <a:solidFill>
              <a:srgbClr val="000000"/>
            </a:solidFill>
            <a:miter lim="800000"/>
            <a:headEnd/>
            <a:tailEnd/>
          </a:ln>
          <a:effec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128.11.3.31 </a:t>
            </a:r>
          </a:p>
        </p:txBody>
      </p:sp>
      <p:grpSp>
        <p:nvGrpSpPr>
          <p:cNvPr id="17" name="Group 16"/>
          <p:cNvGrpSpPr>
            <a:grpSpLocks/>
          </p:cNvGrpSpPr>
          <p:nvPr/>
        </p:nvGrpSpPr>
        <p:grpSpPr bwMode="auto">
          <a:xfrm>
            <a:off x="4285587" y="2606071"/>
            <a:ext cx="2570671" cy="384469"/>
            <a:chOff x="2665" y="2904"/>
            <a:chExt cx="2609" cy="543"/>
          </a:xfrm>
        </p:grpSpPr>
        <p:sp>
          <p:nvSpPr>
            <p:cNvPr id="18" name="Line 17"/>
            <p:cNvSpPr>
              <a:spLocks noChangeShapeType="1"/>
            </p:cNvSpPr>
            <p:nvPr/>
          </p:nvSpPr>
          <p:spPr bwMode="auto">
            <a:xfrm>
              <a:off x="2665" y="2922"/>
              <a:ext cx="665" cy="509"/>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Line 18"/>
            <p:cNvSpPr>
              <a:spLocks noChangeShapeType="1"/>
            </p:cNvSpPr>
            <p:nvPr/>
          </p:nvSpPr>
          <p:spPr bwMode="auto">
            <a:xfrm flipH="1">
              <a:off x="4393" y="2904"/>
              <a:ext cx="881" cy="543"/>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19"/>
            <p:cNvSpPr>
              <a:spLocks noChangeShapeType="1"/>
            </p:cNvSpPr>
            <p:nvPr/>
          </p:nvSpPr>
          <p:spPr bwMode="auto">
            <a:xfrm>
              <a:off x="3549" y="2934"/>
              <a:ext cx="223" cy="504"/>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Line 20"/>
            <p:cNvSpPr>
              <a:spLocks noChangeShapeType="1"/>
            </p:cNvSpPr>
            <p:nvPr/>
          </p:nvSpPr>
          <p:spPr bwMode="auto">
            <a:xfrm flipH="1">
              <a:off x="4080" y="2944"/>
              <a:ext cx="240" cy="497"/>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grpSp>
        <p:nvGrpSpPr>
          <p:cNvPr id="22" name="组合 21"/>
          <p:cNvGrpSpPr/>
          <p:nvPr/>
        </p:nvGrpSpPr>
        <p:grpSpPr>
          <a:xfrm>
            <a:off x="1628081" y="2115898"/>
            <a:ext cx="5747223" cy="675537"/>
            <a:chOff x="1629823" y="2403736"/>
            <a:chExt cx="5747223" cy="675537"/>
          </a:xfrm>
        </p:grpSpPr>
        <p:sp>
          <p:nvSpPr>
            <p:cNvPr id="23" name="AutoShape 11"/>
            <p:cNvSpPr>
              <a:spLocks/>
            </p:cNvSpPr>
            <p:nvPr/>
          </p:nvSpPr>
          <p:spPr bwMode="auto">
            <a:xfrm rot="16200000">
              <a:off x="4101149" y="2099202"/>
              <a:ext cx="156067" cy="765135"/>
            </a:xfrm>
            <a:prstGeom prst="leftBrace">
              <a:avLst>
                <a:gd name="adj1" fmla="val 40855"/>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 name="AutoShape 12"/>
            <p:cNvSpPr>
              <a:spLocks/>
            </p:cNvSpPr>
            <p:nvPr/>
          </p:nvSpPr>
          <p:spPr bwMode="auto">
            <a:xfrm rot="16200000">
              <a:off x="5013739" y="2089574"/>
              <a:ext cx="175322" cy="803646"/>
            </a:xfrm>
            <a:prstGeom prst="leftBrace">
              <a:avLst>
                <a:gd name="adj1" fmla="val 38199"/>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AutoShape 13"/>
            <p:cNvSpPr>
              <a:spLocks/>
            </p:cNvSpPr>
            <p:nvPr/>
          </p:nvSpPr>
          <p:spPr bwMode="auto">
            <a:xfrm rot="16200000">
              <a:off x="5936968" y="2109842"/>
              <a:ext cx="156067" cy="798579"/>
            </a:xfrm>
            <a:prstGeom prst="leftBrace">
              <a:avLst>
                <a:gd name="adj1" fmla="val 42641"/>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 name="AutoShape 14"/>
            <p:cNvSpPr>
              <a:spLocks/>
            </p:cNvSpPr>
            <p:nvPr/>
          </p:nvSpPr>
          <p:spPr bwMode="auto">
            <a:xfrm rot="16200000">
              <a:off x="6875907" y="2085013"/>
              <a:ext cx="145933" cy="856344"/>
            </a:xfrm>
            <a:prstGeom prst="leftBrace">
              <a:avLst>
                <a:gd name="adj1" fmla="val 48900"/>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 name="Text Box 15"/>
            <p:cNvSpPr txBox="1">
              <a:spLocks noChangeArrowheads="1"/>
            </p:cNvSpPr>
            <p:nvPr/>
          </p:nvSpPr>
          <p:spPr bwMode="auto">
            <a:xfrm>
              <a:off x="3898481" y="2621503"/>
              <a:ext cx="33441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128             11             3                31 </a:t>
              </a:r>
            </a:p>
          </p:txBody>
        </p:sp>
        <p:sp>
          <p:nvSpPr>
            <p:cNvPr id="28" name="Text Box 21"/>
            <p:cNvSpPr txBox="1">
              <a:spLocks noChangeArrowheads="1"/>
            </p:cNvSpPr>
            <p:nvPr/>
          </p:nvSpPr>
          <p:spPr bwMode="auto">
            <a:xfrm>
              <a:off x="1629823" y="2556053"/>
              <a:ext cx="189874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400" b="1" dirty="0">
                  <a:latin typeface="微软雅黑" pitchFamily="34" charset="-122"/>
                  <a:ea typeface="微软雅黑" pitchFamily="34" charset="-122"/>
                </a:rPr>
                <a:t>将每 </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位的二进制数</a:t>
              </a:r>
            </a:p>
            <a:p>
              <a:pPr algn="ctr"/>
              <a:r>
                <a:rPr lang="zh-CN" altLang="en-US" sz="1400" b="1" dirty="0">
                  <a:latin typeface="微软雅黑" pitchFamily="34" charset="-122"/>
                  <a:ea typeface="微软雅黑" pitchFamily="34" charset="-122"/>
                </a:rPr>
                <a:t>转换为十进制数</a:t>
              </a:r>
            </a:p>
          </p:txBody>
        </p:sp>
      </p:grpSp>
      <p:sp>
        <p:nvSpPr>
          <p:cNvPr id="29" name="Line 22"/>
          <p:cNvSpPr>
            <a:spLocks noChangeShapeType="1"/>
          </p:cNvSpPr>
          <p:nvPr/>
        </p:nvSpPr>
        <p:spPr bwMode="auto">
          <a:xfrm>
            <a:off x="3577220" y="3225229"/>
            <a:ext cx="1133873" cy="0"/>
          </a:xfrm>
          <a:prstGeom prst="line">
            <a:avLst/>
          </a:prstGeom>
          <a:noFill/>
          <a:ln w="762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 name="矩形 1"/>
          <p:cNvSpPr/>
          <p:nvPr/>
        </p:nvSpPr>
        <p:spPr>
          <a:xfrm>
            <a:off x="916783" y="3697286"/>
            <a:ext cx="7392837" cy="938719"/>
          </a:xfrm>
          <a:prstGeom prst="rect">
            <a:avLst/>
          </a:prstGeom>
        </p:spPr>
        <p:txBody>
          <a:bodyPr wrap="square">
            <a:spAutoFit/>
          </a:bodyPr>
          <a:lstStyle/>
          <a:p>
            <a:pPr>
              <a:lnSpc>
                <a:spcPts val="2200"/>
              </a:lnSpc>
            </a:pPr>
            <a:r>
              <a:rPr lang="zh-CN" altLang="en-US" sz="1600" b="1" dirty="0">
                <a:latin typeface="微软雅黑" panose="020B0503020204020204" pitchFamily="34" charset="-122"/>
                <a:ea typeface="微软雅黑" panose="020B0503020204020204" pitchFamily="34" charset="-122"/>
              </a:rPr>
              <a:t>互联网上的每台主机（或路由器）的</a:t>
            </a:r>
            <a:r>
              <a:rPr lang="zh-CN" altLang="en-US" sz="1600" b="1" dirty="0">
                <a:solidFill>
                  <a:srgbClr val="C00000"/>
                </a:solidFill>
                <a:latin typeface="微软雅黑" panose="020B0503020204020204" pitchFamily="34" charset="-122"/>
                <a:ea typeface="微软雅黑" panose="020B0503020204020204" pitchFamily="34" charset="-122"/>
              </a:rPr>
              <a:t>每个接口</a:t>
            </a:r>
            <a:r>
              <a:rPr lang="zh-CN" altLang="en-US" sz="1600" b="1" dirty="0">
                <a:latin typeface="微软雅黑" panose="020B0503020204020204" pitchFamily="34" charset="-122"/>
                <a:ea typeface="微软雅黑" panose="020B0503020204020204" pitchFamily="34" charset="-122"/>
              </a:rPr>
              <a:t>分配一个在</a:t>
            </a:r>
            <a:r>
              <a:rPr lang="zh-CN" altLang="en-US" sz="1600" b="1" dirty="0">
                <a:solidFill>
                  <a:srgbClr val="C00000"/>
                </a:solidFill>
                <a:latin typeface="微软雅黑" panose="020B0503020204020204" pitchFamily="34" charset="-122"/>
                <a:ea typeface="微软雅黑" panose="020B0503020204020204" pitchFamily="34" charset="-122"/>
              </a:rPr>
              <a:t>全世界唯一的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latin typeface="微软雅黑" panose="020B0503020204020204" pitchFamily="34" charset="-122"/>
                <a:ea typeface="微软雅黑" panose="020B0503020204020204" pitchFamily="34" charset="-122"/>
              </a:rPr>
              <a:t>。</a:t>
            </a:r>
          </a:p>
          <a:p>
            <a:pPr>
              <a:lnSpc>
                <a:spcPts val="2200"/>
              </a:lnSpc>
            </a:pPr>
            <a:r>
              <a:rPr lang="zh-CN" altLang="en-US" sz="1600" b="1" dirty="0">
                <a:latin typeface="微软雅黑" panose="020B0503020204020204" pitchFamily="34" charset="-122"/>
                <a:ea typeface="微软雅黑" panose="020B0503020204020204" pitchFamily="34" charset="-122"/>
              </a:rPr>
              <a:t>由</a:t>
            </a:r>
            <a:r>
              <a:rPr lang="zh-CN" altLang="en-US" sz="1600" b="1" dirty="0">
                <a:solidFill>
                  <a:srgbClr val="0000FF"/>
                </a:solidFill>
                <a:latin typeface="微软雅黑" panose="020B0503020204020204" pitchFamily="34" charset="-122"/>
                <a:ea typeface="微软雅黑" panose="020B0503020204020204" pitchFamily="34" charset="-122"/>
              </a:rPr>
              <a:t>互联网名字和数字分配机构 </a:t>
            </a:r>
            <a:r>
              <a:rPr lang="en-US" altLang="zh-CN" sz="1600" b="1" dirty="0">
                <a:latin typeface="微软雅黑" panose="020B0503020204020204" pitchFamily="34" charset="-122"/>
                <a:ea typeface="微软雅黑" panose="020B0503020204020204" pitchFamily="34" charset="-122"/>
              </a:rPr>
              <a:t>ICANN (Internet Corporation for Assigned Names and Numbers) </a:t>
            </a:r>
            <a:r>
              <a:rPr lang="zh-CN" altLang="en-US" sz="1600" b="1" dirty="0">
                <a:latin typeface="微软雅黑" panose="020B0503020204020204" pitchFamily="34" charset="-122"/>
                <a:ea typeface="微软雅黑" panose="020B0503020204020204" pitchFamily="34" charset="-122"/>
              </a:rPr>
              <a:t>进行分配。 </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wipe(up)">
                                      <p:cBhvr>
                                        <p:cTn id="18" dur="750"/>
                                        <p:tgtEl>
                                          <p:spTgt spid="17"/>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750"/>
                                        <p:tgtEl>
                                          <p:spTgt spid="29"/>
                                        </p:tgtEl>
                                      </p:cBhvr>
                                    </p:animEffect>
                                  </p:childTnLst>
                                </p:cTn>
                              </p:par>
                            </p:childTnLst>
                          </p:cTn>
                        </p:par>
                        <p:par>
                          <p:cTn id="22" fill="hold">
                            <p:stCondLst>
                              <p:cond delay="750"/>
                            </p:stCondLst>
                            <p:childTnLst>
                              <p:par>
                                <p:cTn id="23" presetID="1" presetClass="entr" presetSubtype="0" fill="hold" grpId="0" nodeType="after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animBg="1"/>
      <p:bldP spid="29" grpId="0" animBg="1"/>
      <p:bldP spid="2"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0" name="圆角矩形 19"/>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85" name="矩形 84"/>
          <p:cNvSpPr/>
          <p:nvPr/>
        </p:nvSpPr>
        <p:spPr>
          <a:xfrm>
            <a:off x="616085" y="574698"/>
            <a:ext cx="2492990" cy="400110"/>
          </a:xfrm>
          <a:prstGeom prst="rect">
            <a:avLst/>
          </a:prstGeom>
        </p:spPr>
        <p:txBody>
          <a:bodyPr wrap="none">
            <a:spAutoFit/>
          </a:bodyPr>
          <a:lstStyle/>
          <a:p>
            <a:r>
              <a:rPr lang="zh-CN" altLang="en-US" sz="2000" b="1" dirty="0">
                <a:latin typeface="微软雅黑" pitchFamily="34" charset="-122"/>
                <a:ea typeface="微软雅黑" pitchFamily="34" charset="-122"/>
              </a:rPr>
              <a:t>点分十进制记法举例</a:t>
            </a:r>
          </a:p>
        </p:txBody>
      </p:sp>
      <p:grpSp>
        <p:nvGrpSpPr>
          <p:cNvPr id="100" name="组合 99"/>
          <p:cNvGrpSpPr/>
          <p:nvPr/>
        </p:nvGrpSpPr>
        <p:grpSpPr>
          <a:xfrm>
            <a:off x="1125767" y="1244616"/>
            <a:ext cx="6262082" cy="2842408"/>
            <a:chOff x="-56968" y="1101725"/>
            <a:chExt cx="10243382" cy="4649550"/>
          </a:xfrm>
        </p:grpSpPr>
        <p:sp>
          <p:nvSpPr>
            <p:cNvPr id="87" name="Text Box 3"/>
            <p:cNvSpPr txBox="1">
              <a:spLocks noChangeArrowheads="1"/>
            </p:cNvSpPr>
            <p:nvPr/>
          </p:nvSpPr>
          <p:spPr bwMode="auto">
            <a:xfrm>
              <a:off x="2638248" y="1531940"/>
              <a:ext cx="2494197"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FF"/>
                  </a:solidFill>
                  <a:latin typeface="微软雅黑" pitchFamily="34" charset="-122"/>
                  <a:ea typeface="微软雅黑" pitchFamily="34" charset="-122"/>
                </a:rPr>
                <a:t>32 </a:t>
              </a:r>
              <a:r>
                <a:rPr kumimoji="0" lang="zh-CN" altLang="en-US" sz="1600" b="1" dirty="0">
                  <a:solidFill>
                    <a:srgbClr val="0000FF"/>
                  </a:solidFill>
                  <a:latin typeface="微软雅黑" pitchFamily="34" charset="-122"/>
                  <a:ea typeface="微软雅黑" pitchFamily="34" charset="-122"/>
                </a:rPr>
                <a:t>位二进制数</a:t>
              </a:r>
            </a:p>
          </p:txBody>
        </p:sp>
        <p:sp>
          <p:nvSpPr>
            <p:cNvPr id="88" name="Text Box 4"/>
            <p:cNvSpPr txBox="1">
              <a:spLocks noChangeArrowheads="1"/>
            </p:cNvSpPr>
            <p:nvPr/>
          </p:nvSpPr>
          <p:spPr bwMode="auto">
            <a:xfrm>
              <a:off x="7490207" y="1101725"/>
              <a:ext cx="2315890" cy="956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0" lang="zh-CN" altLang="en-US" sz="1600" b="1" dirty="0">
                  <a:solidFill>
                    <a:srgbClr val="0000FF"/>
                  </a:solidFill>
                  <a:latin typeface="微软雅黑" pitchFamily="34" charset="-122"/>
                  <a:ea typeface="微软雅黑" pitchFamily="34" charset="-122"/>
                </a:rPr>
                <a:t>等价的</a:t>
              </a:r>
            </a:p>
            <a:p>
              <a:pPr algn="ctr" eaLnBrk="0" hangingPunct="0"/>
              <a:r>
                <a:rPr kumimoji="0" lang="zh-CN" altLang="en-US" sz="1600" b="1" dirty="0">
                  <a:solidFill>
                    <a:srgbClr val="0000FF"/>
                  </a:solidFill>
                  <a:latin typeface="微软雅黑" pitchFamily="34" charset="-122"/>
                  <a:ea typeface="微软雅黑" pitchFamily="34" charset="-122"/>
                </a:rPr>
                <a:t>点分十进制数</a:t>
              </a:r>
            </a:p>
          </p:txBody>
        </p:sp>
        <p:sp>
          <p:nvSpPr>
            <p:cNvPr id="89" name="Line 5"/>
            <p:cNvSpPr>
              <a:spLocks noChangeShapeType="1"/>
            </p:cNvSpPr>
            <p:nvPr/>
          </p:nvSpPr>
          <p:spPr bwMode="auto">
            <a:xfrm>
              <a:off x="87710" y="2159001"/>
              <a:ext cx="9994673"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90" name="Text Box 6"/>
            <p:cNvSpPr txBox="1">
              <a:spLocks noChangeArrowheads="1"/>
            </p:cNvSpPr>
            <p:nvPr/>
          </p:nvSpPr>
          <p:spPr bwMode="auto">
            <a:xfrm>
              <a:off x="-56968" y="2246314"/>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10000001  00110100  00000110  00000000</a:t>
              </a:r>
            </a:p>
          </p:txBody>
        </p:sp>
        <p:sp>
          <p:nvSpPr>
            <p:cNvPr id="91" name="Text Box 7"/>
            <p:cNvSpPr txBox="1">
              <a:spLocks noChangeArrowheads="1"/>
            </p:cNvSpPr>
            <p:nvPr/>
          </p:nvSpPr>
          <p:spPr bwMode="auto">
            <a:xfrm>
              <a:off x="7521776" y="222885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129.52.6.0</a:t>
              </a:r>
            </a:p>
          </p:txBody>
        </p:sp>
        <p:sp>
          <p:nvSpPr>
            <p:cNvPr id="92" name="Text Box 8"/>
            <p:cNvSpPr txBox="1">
              <a:spLocks noChangeArrowheads="1"/>
            </p:cNvSpPr>
            <p:nvPr/>
          </p:nvSpPr>
          <p:spPr bwMode="auto">
            <a:xfrm>
              <a:off x="-56968" y="29686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11000000  00000101  00110000  00000011</a:t>
              </a:r>
            </a:p>
          </p:txBody>
        </p:sp>
        <p:sp>
          <p:nvSpPr>
            <p:cNvPr id="93" name="Text Box 9"/>
            <p:cNvSpPr txBox="1">
              <a:spLocks noChangeArrowheads="1"/>
            </p:cNvSpPr>
            <p:nvPr/>
          </p:nvSpPr>
          <p:spPr bwMode="auto">
            <a:xfrm>
              <a:off x="7521776" y="295116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192.5.48.3</a:t>
              </a:r>
            </a:p>
          </p:txBody>
        </p:sp>
        <p:sp>
          <p:nvSpPr>
            <p:cNvPr id="94" name="Text Box 10"/>
            <p:cNvSpPr txBox="1">
              <a:spLocks noChangeArrowheads="1"/>
            </p:cNvSpPr>
            <p:nvPr/>
          </p:nvSpPr>
          <p:spPr bwMode="auto">
            <a:xfrm>
              <a:off x="-56968" y="37433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00001010  00000010  00000000  00100101</a:t>
              </a:r>
            </a:p>
          </p:txBody>
        </p:sp>
        <p:sp>
          <p:nvSpPr>
            <p:cNvPr id="95" name="Text Box 11"/>
            <p:cNvSpPr txBox="1">
              <a:spLocks noChangeArrowheads="1"/>
            </p:cNvSpPr>
            <p:nvPr/>
          </p:nvSpPr>
          <p:spPr bwMode="auto">
            <a:xfrm>
              <a:off x="7521776" y="3725862"/>
              <a:ext cx="183603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10.2.0.37</a:t>
              </a:r>
            </a:p>
          </p:txBody>
        </p:sp>
        <p:sp>
          <p:nvSpPr>
            <p:cNvPr id="96" name="Text Box 12"/>
            <p:cNvSpPr txBox="1">
              <a:spLocks noChangeArrowheads="1"/>
            </p:cNvSpPr>
            <p:nvPr/>
          </p:nvSpPr>
          <p:spPr bwMode="auto">
            <a:xfrm>
              <a:off x="-56968" y="4476752"/>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10000000  00001010  00000010  00000011</a:t>
              </a:r>
            </a:p>
          </p:txBody>
        </p:sp>
        <p:sp>
          <p:nvSpPr>
            <p:cNvPr id="97" name="Text Box 13"/>
            <p:cNvSpPr txBox="1">
              <a:spLocks noChangeArrowheads="1"/>
            </p:cNvSpPr>
            <p:nvPr/>
          </p:nvSpPr>
          <p:spPr bwMode="auto">
            <a:xfrm>
              <a:off x="7521776" y="4459288"/>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128.10.2.3</a:t>
              </a:r>
            </a:p>
          </p:txBody>
        </p:sp>
        <p:sp>
          <p:nvSpPr>
            <p:cNvPr id="98" name="Text Box 14"/>
            <p:cNvSpPr txBox="1">
              <a:spLocks noChangeArrowheads="1"/>
            </p:cNvSpPr>
            <p:nvPr/>
          </p:nvSpPr>
          <p:spPr bwMode="auto">
            <a:xfrm>
              <a:off x="-56968" y="519747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10000000  10000000  11111111  00000000</a:t>
              </a:r>
            </a:p>
          </p:txBody>
        </p:sp>
        <p:sp>
          <p:nvSpPr>
            <p:cNvPr id="99" name="Text Box 15"/>
            <p:cNvSpPr txBox="1">
              <a:spLocks noChangeArrowheads="1"/>
            </p:cNvSpPr>
            <p:nvPr/>
          </p:nvSpPr>
          <p:spPr bwMode="auto">
            <a:xfrm>
              <a:off x="7521776" y="5180012"/>
              <a:ext cx="2664638"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128.128.255.0</a:t>
              </a:r>
            </a:p>
          </p:txBody>
        </p:sp>
      </p:gr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269136" y="581433"/>
            <a:ext cx="26244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地址采用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级结构</a:t>
            </a:r>
          </a:p>
        </p:txBody>
      </p:sp>
      <p:grpSp>
        <p:nvGrpSpPr>
          <p:cNvPr id="27" name="组合 26"/>
          <p:cNvGrpSpPr/>
          <p:nvPr/>
        </p:nvGrpSpPr>
        <p:grpSpPr>
          <a:xfrm>
            <a:off x="456332" y="1194536"/>
            <a:ext cx="7281562" cy="759182"/>
            <a:chOff x="456332" y="1194536"/>
            <a:chExt cx="728156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456332" y="1194536"/>
              <a:ext cx="324159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网络号</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601975" y="2961288"/>
            <a:ext cx="7135919" cy="1291692"/>
            <a:chOff x="601975" y="2854700"/>
            <a:chExt cx="7135919" cy="1014478"/>
          </a:xfrm>
        </p:grpSpPr>
        <p:sp>
          <p:nvSpPr>
            <p:cNvPr id="3" name="矩形 2"/>
            <p:cNvSpPr/>
            <p:nvPr/>
          </p:nvSpPr>
          <p:spPr>
            <a:xfrm>
              <a:off x="601975" y="3230391"/>
              <a:ext cx="3168738" cy="314241"/>
            </a:xfrm>
            <a:prstGeom prst="rect">
              <a:avLst/>
            </a:prstGeom>
          </p:spPr>
          <p:txBody>
            <a:bodyPr wrap="square">
              <a:spAutoFit/>
            </a:bodyPr>
            <a:lstStyle/>
            <a:p>
              <a:pPr algn="r"/>
              <a:r>
                <a:rPr lang="zh-CN" altLang="en-US" sz="2000" b="1" dirty="0">
                  <a:solidFill>
                    <a:srgbClr val="C00000"/>
                  </a:solidFill>
                  <a:latin typeface="微软雅黑" panose="020B0503020204020204" pitchFamily="34" charset="-122"/>
                  <a:ea typeface="微软雅黑" panose="020B0503020204020204" pitchFamily="34" charset="-122"/>
                </a:rPr>
                <a:t>网络号的位数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网络号</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noProof="0" dirty="0">
                      <a:solidFill>
                        <a:sysClr val="windowText" lastClr="000000"/>
                      </a:solidFill>
                      <a:latin typeface="微软雅黑" pitchFamily="34" charset="-122"/>
                      <a:ea typeface="微软雅黑" pitchFamily="34" charset="-122"/>
                    </a:rPr>
                    <a:t>( net-id)</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26" name="矩形 25"/>
          <p:cNvSpPr/>
          <p:nvPr/>
        </p:nvSpPr>
        <p:spPr>
          <a:xfrm>
            <a:off x="3184164" y="1990377"/>
            <a:ext cx="5227607" cy="759182"/>
          </a:xfrm>
          <a:prstGeom prst="rect">
            <a:avLst/>
          </a:prstGeom>
          <a:solidFill>
            <a:srgbClr val="FFC000"/>
          </a:solidFill>
          <a:ln>
            <a:noFill/>
          </a:ln>
        </p:spPr>
        <p:style>
          <a:lnRef idx="2">
            <a:schemeClr val="accent2"/>
          </a:lnRef>
          <a:fillRef idx="1">
            <a:schemeClr val="lt1"/>
          </a:fillRef>
          <a:effectRef idx="0">
            <a:schemeClr val="accent2"/>
          </a:effectRef>
          <a:fontRef idx="minor">
            <a:schemeClr val="dk1"/>
          </a:fontRef>
        </p:style>
        <p:txBody>
          <a:bodyPr wrap="square">
            <a:spAutoFit/>
          </a:bodyPr>
          <a:lstStyle/>
          <a:p>
            <a:pPr algn="ctr">
              <a:lnSpc>
                <a:spcPts val="2600"/>
              </a:lnSpc>
            </a:pPr>
            <a:r>
              <a:rPr lang="en-US" altLang="zh-CN" b="1" dirty="0">
                <a:latin typeface="微软雅黑" panose="020B0503020204020204" pitchFamily="34" charset="-122"/>
                <a:ea typeface="微软雅黑" panose="020B0503020204020204" pitchFamily="34" charset="-122"/>
              </a:rPr>
              <a:t>IP</a:t>
            </a:r>
            <a:r>
              <a:rPr lang="zh-CN" altLang="en-US" b="1" dirty="0">
                <a:latin typeface="微软雅黑" panose="020B0503020204020204" pitchFamily="34" charset="-122"/>
                <a:ea typeface="微软雅黑" panose="020B0503020204020204" pitchFamily="34" charset="-122"/>
              </a:rPr>
              <a:t>地址在整个互联网范围内是</a:t>
            </a:r>
            <a:r>
              <a:rPr lang="zh-CN" altLang="en-US" b="1" dirty="0">
                <a:solidFill>
                  <a:srgbClr val="C00000"/>
                </a:solidFill>
                <a:latin typeface="微软雅黑" panose="020B0503020204020204" pitchFamily="34" charset="-122"/>
                <a:ea typeface="微软雅黑" panose="020B0503020204020204" pitchFamily="34" charset="-122"/>
              </a:rPr>
              <a:t>唯一</a:t>
            </a:r>
            <a:r>
              <a:rPr lang="zh-CN" altLang="en-US" b="1" dirty="0">
                <a:latin typeface="微软雅黑" panose="020B0503020204020204" pitchFamily="34" charset="-122"/>
                <a:ea typeface="微软雅黑" panose="020B0503020204020204" pitchFamily="34" charset="-122"/>
              </a:rPr>
              <a:t>的。</a:t>
            </a:r>
            <a:endParaRPr lang="en-US" altLang="zh-CN" b="1" dirty="0">
              <a:latin typeface="微软雅黑" panose="020B0503020204020204" pitchFamily="34" charset="-122"/>
              <a:ea typeface="微软雅黑" panose="020B0503020204020204" pitchFamily="34" charset="-122"/>
            </a:endParaRPr>
          </a:p>
          <a:p>
            <a:pPr algn="ctr">
              <a:lnSpc>
                <a:spcPts val="2600"/>
              </a:lnSpc>
            </a:pPr>
            <a:r>
              <a:rPr lang="en-US" altLang="zh-CN" b="1" dirty="0">
                <a:latin typeface="微软雅黑" panose="020B0503020204020204" pitchFamily="34" charset="-122"/>
                <a:ea typeface="微软雅黑" panose="020B0503020204020204" pitchFamily="34" charset="-122"/>
              </a:rPr>
              <a:t>IP </a:t>
            </a:r>
            <a:r>
              <a:rPr lang="zh-CN" altLang="en-US" b="1" dirty="0">
                <a:latin typeface="微软雅黑" panose="020B0503020204020204" pitchFamily="34" charset="-122"/>
                <a:ea typeface="微软雅黑" panose="020B0503020204020204" pitchFamily="34" charset="-122"/>
              </a:rPr>
              <a:t>地址指明了连接到某个网络上的一个主机</a:t>
            </a:r>
          </a:p>
        </p:txBody>
      </p:sp>
    </p:spTree>
    <p:extLst>
      <p:ext uri="{BB962C8B-B14F-4D97-AF65-F5344CB8AC3E}">
        <p14:creationId xmlns:p14="http://schemas.microsoft.com/office/powerpoint/2010/main" val="179899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488747" y="581433"/>
            <a:ext cx="21852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sp>
        <p:nvSpPr>
          <p:cNvPr id="29" name="圆角矩形 28"/>
          <p:cNvSpPr/>
          <p:nvPr/>
        </p:nvSpPr>
        <p:spPr>
          <a:xfrm>
            <a:off x="545144" y="1033670"/>
            <a:ext cx="8053711" cy="3309912"/>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0" name="组合 29"/>
          <p:cNvGrpSpPr/>
          <p:nvPr/>
        </p:nvGrpSpPr>
        <p:grpSpPr>
          <a:xfrm>
            <a:off x="839262" y="1187780"/>
            <a:ext cx="5329079" cy="3009005"/>
            <a:chOff x="355160" y="927100"/>
            <a:chExt cx="9026611" cy="5096778"/>
          </a:xfrm>
        </p:grpSpPr>
        <p:sp>
          <p:nvSpPr>
            <p:cNvPr id="3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3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3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3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4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4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4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5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5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5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61"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6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66" name="Group 38"/>
            <p:cNvGrpSpPr>
              <a:grpSpLocks/>
            </p:cNvGrpSpPr>
            <p:nvPr/>
          </p:nvGrpSpPr>
          <p:grpSpPr bwMode="auto">
            <a:xfrm>
              <a:off x="7928099" y="3820573"/>
              <a:ext cx="1131196" cy="644929"/>
              <a:chOff x="2827" y="3024"/>
              <a:chExt cx="453" cy="382"/>
            </a:xfrm>
          </p:grpSpPr>
          <p:sp>
            <p:nvSpPr>
              <p:cNvPr id="8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6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7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7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7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7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7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8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8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8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grpSp>
        <p:nvGrpSpPr>
          <p:cNvPr id="5" name="组合 4"/>
          <p:cNvGrpSpPr/>
          <p:nvPr/>
        </p:nvGrpSpPr>
        <p:grpSpPr>
          <a:xfrm>
            <a:off x="6830014" y="1572039"/>
            <a:ext cx="1545420" cy="1837700"/>
            <a:chOff x="6462705" y="453421"/>
            <a:chExt cx="2465395" cy="2939067"/>
          </a:xfrm>
        </p:grpSpPr>
        <p:sp>
          <p:nvSpPr>
            <p:cNvPr id="85" name="椭圆 66"/>
            <p:cNvSpPr>
              <a:spLocks noChangeArrowheads="1"/>
            </p:cNvSpPr>
            <p:nvPr/>
          </p:nvSpPr>
          <p:spPr bwMode="auto">
            <a:xfrm>
              <a:off x="6588125" y="1052513"/>
              <a:ext cx="2339975" cy="2339975"/>
            </a:xfrm>
            <a:prstGeom prst="ellipse">
              <a:avLst/>
            </a:prstGeom>
            <a:solidFill>
              <a:schemeClr val="bg1"/>
            </a:solidFill>
            <a:ln w="9525"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cxnSp>
          <p:nvCxnSpPr>
            <p:cNvPr id="86" name="直接连接符 68"/>
            <p:cNvCxnSpPr>
              <a:cxnSpLocks noChangeShapeType="1"/>
              <a:stCxn id="85" idx="0"/>
              <a:endCxn id="85" idx="4"/>
            </p:cNvCxnSpPr>
            <p:nvPr/>
          </p:nvCxnSpPr>
          <p:spPr bwMode="auto">
            <a:xfrm>
              <a:off x="7758113" y="1052513"/>
              <a:ext cx="0" cy="2339975"/>
            </a:xfrm>
            <a:prstGeom prst="line">
              <a:avLst/>
            </a:prstGeom>
            <a:noFill/>
            <a:ln w="12700" algn="ctr">
              <a:solidFill>
                <a:schemeClr val="tx1"/>
              </a:solidFill>
              <a:round/>
              <a:headEnd/>
              <a:tailEnd/>
            </a:ln>
          </p:spPr>
        </p:cxnSp>
        <p:cxnSp>
          <p:nvCxnSpPr>
            <p:cNvPr id="87" name="直接连接符 70"/>
            <p:cNvCxnSpPr>
              <a:cxnSpLocks noChangeShapeType="1"/>
              <a:stCxn id="85" idx="2"/>
            </p:cNvCxnSpPr>
            <p:nvPr/>
          </p:nvCxnSpPr>
          <p:spPr bwMode="auto">
            <a:xfrm flipV="1">
              <a:off x="6588125" y="2219325"/>
              <a:ext cx="1163638" cy="3175"/>
            </a:xfrm>
            <a:prstGeom prst="line">
              <a:avLst/>
            </a:prstGeom>
            <a:noFill/>
            <a:ln w="12700" algn="ctr">
              <a:solidFill>
                <a:schemeClr val="tx1"/>
              </a:solidFill>
              <a:round/>
              <a:headEnd/>
              <a:tailEnd/>
            </a:ln>
          </p:spPr>
        </p:cxnSp>
        <p:cxnSp>
          <p:nvCxnSpPr>
            <p:cNvPr id="88" name="直接连接符 72"/>
            <p:cNvCxnSpPr>
              <a:cxnSpLocks noChangeShapeType="1"/>
              <a:stCxn id="85" idx="1"/>
            </p:cNvCxnSpPr>
            <p:nvPr/>
          </p:nvCxnSpPr>
          <p:spPr bwMode="auto">
            <a:xfrm>
              <a:off x="6931025" y="1395413"/>
              <a:ext cx="809625" cy="809625"/>
            </a:xfrm>
            <a:prstGeom prst="line">
              <a:avLst/>
            </a:prstGeom>
            <a:noFill/>
            <a:ln w="12700" algn="ctr">
              <a:solidFill>
                <a:schemeClr val="tx1"/>
              </a:solidFill>
              <a:round/>
              <a:headEnd/>
              <a:tailEnd/>
            </a:ln>
          </p:spPr>
        </p:cxnSp>
        <p:cxnSp>
          <p:nvCxnSpPr>
            <p:cNvPr id="89" name="直接连接符 74"/>
            <p:cNvCxnSpPr>
              <a:cxnSpLocks noChangeShapeType="1"/>
            </p:cNvCxnSpPr>
            <p:nvPr/>
          </p:nvCxnSpPr>
          <p:spPr bwMode="auto">
            <a:xfrm>
              <a:off x="7315200" y="1143000"/>
              <a:ext cx="436563" cy="1082675"/>
            </a:xfrm>
            <a:prstGeom prst="line">
              <a:avLst/>
            </a:prstGeom>
            <a:noFill/>
            <a:ln w="12700" algn="ctr">
              <a:solidFill>
                <a:schemeClr val="tx1"/>
              </a:solidFill>
              <a:round/>
              <a:headEnd/>
              <a:tailEnd/>
            </a:ln>
          </p:spPr>
        </p:cxnSp>
        <p:sp>
          <p:nvSpPr>
            <p:cNvPr id="90" name="Rectangle 3"/>
            <p:cNvSpPr>
              <a:spLocks noChangeArrowheads="1"/>
            </p:cNvSpPr>
            <p:nvPr/>
          </p:nvSpPr>
          <p:spPr bwMode="auto">
            <a:xfrm>
              <a:off x="7893562" y="1880134"/>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50%</a:t>
              </a:r>
              <a:endParaRPr lang="zh-CN" altLang="en-US" sz="1200" b="1" dirty="0">
                <a:latin typeface="微软雅黑" panose="020B0503020204020204" pitchFamily="34" charset="-122"/>
                <a:ea typeface="微软雅黑" panose="020B0503020204020204" pitchFamily="34" charset="-122"/>
              </a:endParaRPr>
            </a:p>
          </p:txBody>
        </p:sp>
        <p:sp>
          <p:nvSpPr>
            <p:cNvPr id="91" name="Rectangle 3"/>
            <p:cNvSpPr>
              <a:spLocks noChangeArrowheads="1"/>
            </p:cNvSpPr>
            <p:nvPr/>
          </p:nvSpPr>
          <p:spPr bwMode="auto">
            <a:xfrm>
              <a:off x="6603976" y="1592305"/>
              <a:ext cx="1040806"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C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12.5%</a:t>
              </a:r>
              <a:endParaRPr lang="zh-CN" altLang="en-US" sz="1200" b="1" dirty="0">
                <a:latin typeface="微软雅黑" panose="020B0503020204020204" pitchFamily="34" charset="-122"/>
                <a:ea typeface="微软雅黑" panose="020B0503020204020204" pitchFamily="34" charset="-122"/>
              </a:endParaRPr>
            </a:p>
          </p:txBody>
        </p:sp>
        <p:sp>
          <p:nvSpPr>
            <p:cNvPr id="92" name="Rectangle 3"/>
            <p:cNvSpPr>
              <a:spLocks noChangeArrowheads="1"/>
            </p:cNvSpPr>
            <p:nvPr/>
          </p:nvSpPr>
          <p:spPr bwMode="auto">
            <a:xfrm>
              <a:off x="6942130" y="2389947"/>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B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25%</a:t>
              </a:r>
              <a:endParaRPr lang="zh-CN" altLang="en-US" sz="1200" b="1" dirty="0">
                <a:latin typeface="微软雅黑" panose="020B0503020204020204" pitchFamily="34" charset="-122"/>
                <a:ea typeface="微软雅黑" panose="020B0503020204020204" pitchFamily="34" charset="-122"/>
              </a:endParaRPr>
            </a:p>
          </p:txBody>
        </p:sp>
        <p:sp>
          <p:nvSpPr>
            <p:cNvPr id="93" name="Rectangle 3"/>
            <p:cNvSpPr>
              <a:spLocks noChangeArrowheads="1"/>
            </p:cNvSpPr>
            <p:nvPr/>
          </p:nvSpPr>
          <p:spPr bwMode="auto">
            <a:xfrm>
              <a:off x="6462705" y="560275"/>
              <a:ext cx="805538"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D </a:t>
              </a:r>
              <a:r>
                <a:rPr lang="zh-CN" altLang="en-US" sz="1200" b="1" dirty="0">
                  <a:latin typeface="微软雅黑" panose="020B0503020204020204" pitchFamily="34" charset="-122"/>
                  <a:ea typeface="微软雅黑" panose="020B0503020204020204" pitchFamily="34" charset="-122"/>
                </a:rPr>
                <a:t>类</a:t>
              </a:r>
            </a:p>
          </p:txBody>
        </p:sp>
        <p:sp>
          <p:nvSpPr>
            <p:cNvPr id="94" name="Rectangle 3"/>
            <p:cNvSpPr>
              <a:spLocks noChangeArrowheads="1"/>
            </p:cNvSpPr>
            <p:nvPr/>
          </p:nvSpPr>
          <p:spPr bwMode="auto">
            <a:xfrm>
              <a:off x="7144804" y="453421"/>
              <a:ext cx="751835"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E </a:t>
              </a:r>
              <a:r>
                <a:rPr lang="zh-CN" altLang="en-US" sz="1200" b="1" dirty="0">
                  <a:latin typeface="微软雅黑" panose="020B0503020204020204" pitchFamily="34" charset="-122"/>
                  <a:ea typeface="微软雅黑" panose="020B0503020204020204" pitchFamily="34" charset="-122"/>
                </a:rPr>
                <a:t>类</a:t>
              </a:r>
            </a:p>
          </p:txBody>
        </p:sp>
        <p:sp>
          <p:nvSpPr>
            <p:cNvPr id="95" name="Line 135"/>
            <p:cNvSpPr>
              <a:spLocks noChangeShapeType="1"/>
            </p:cNvSpPr>
            <p:nvPr/>
          </p:nvSpPr>
          <p:spPr bwMode="auto">
            <a:xfrm flipH="1" flipV="1">
              <a:off x="6845300" y="914400"/>
              <a:ext cx="409575" cy="5651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96" name="Line 135"/>
            <p:cNvSpPr>
              <a:spLocks noChangeShapeType="1"/>
            </p:cNvSpPr>
            <p:nvPr/>
          </p:nvSpPr>
          <p:spPr bwMode="auto">
            <a:xfrm flipH="1" flipV="1">
              <a:off x="7462838" y="793750"/>
              <a:ext cx="184150" cy="6794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1" name="组合 10"/>
          <p:cNvGrpSpPr/>
          <p:nvPr/>
        </p:nvGrpSpPr>
        <p:grpSpPr>
          <a:xfrm>
            <a:off x="6219141" y="1187780"/>
            <a:ext cx="517704" cy="1690420"/>
            <a:chOff x="6219141" y="1187780"/>
            <a:chExt cx="517704" cy="1690420"/>
          </a:xfrm>
        </p:grpSpPr>
        <p:sp>
          <p:nvSpPr>
            <p:cNvPr id="8" name="矩形 7"/>
            <p:cNvSpPr/>
            <p:nvPr/>
          </p:nvSpPr>
          <p:spPr>
            <a:xfrm>
              <a:off x="6312145" y="1546077"/>
              <a:ext cx="424700" cy="954107"/>
            </a:xfrm>
            <a:prstGeom prst="rect">
              <a:avLst/>
            </a:prstGeom>
          </p:spPr>
          <p:txBody>
            <a:bodyPr wrap="square">
              <a:spAutoFit/>
            </a:bodyPr>
            <a:lstStyle/>
            <a:p>
              <a:pPr algn="ctr"/>
              <a:r>
                <a:rPr lang="zh-CN" altLang="en-US" sz="1400" b="1" dirty="0">
                  <a:solidFill>
                    <a:srgbClr val="CC00CC"/>
                  </a:solidFill>
                  <a:latin typeface="微软雅黑" panose="020B0503020204020204" pitchFamily="34" charset="-122"/>
                  <a:ea typeface="微软雅黑" panose="020B0503020204020204" pitchFamily="34" charset="-122"/>
                </a:rPr>
                <a:t>单播地址</a:t>
              </a:r>
            </a:p>
          </p:txBody>
        </p:sp>
        <p:sp>
          <p:nvSpPr>
            <p:cNvPr id="10" name="右大括号 9"/>
            <p:cNvSpPr/>
            <p:nvPr/>
          </p:nvSpPr>
          <p:spPr>
            <a:xfrm>
              <a:off x="6219141" y="1187780"/>
              <a:ext cx="172628" cy="1690420"/>
            </a:xfrm>
            <a:prstGeom prst="rightBrace">
              <a:avLst>
                <a:gd name="adj1" fmla="val 30569"/>
                <a:gd name="adj2" fmla="val 50000"/>
              </a:avLst>
            </a:prstGeom>
            <a:ln w="12700">
              <a:solidFill>
                <a:srgbClr val="0000FF"/>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15907002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nodeType="afterEffect">
                                  <p:stCondLst>
                                    <p:cond delay="0"/>
                                  </p:stCondLst>
                                  <p:childTnLst>
                                    <p:anim calcmode="discrete" valueType="str">
                                      <p:cBhvr>
                                        <p:cTn id="9"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858377" y="3611194"/>
            <a:ext cx="4144668" cy="314674"/>
          </a:xfrm>
          <a:prstGeom prst="wedgeRoundRectCallout">
            <a:avLst>
              <a:gd name="adj1" fmla="val -36088"/>
              <a:gd name="adj2" fmla="val -777129"/>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 name="圆角矩形 65"/>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7" name="矩形 66"/>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5" name="组合 64"/>
          <p:cNvGrpSpPr/>
          <p:nvPr/>
        </p:nvGrpSpPr>
        <p:grpSpPr>
          <a:xfrm>
            <a:off x="1880840" y="1160772"/>
            <a:ext cx="5329079" cy="3009005"/>
            <a:chOff x="355160" y="927100"/>
            <a:chExt cx="9026611" cy="5096778"/>
          </a:xfrm>
        </p:grpSpPr>
        <p:sp>
          <p:nvSpPr>
            <p:cNvPr id="68"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0"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3"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5"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7"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3"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4"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5"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8"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1"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2"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3"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5"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6"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7"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8"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9"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1" name="Group 38"/>
            <p:cNvGrpSpPr>
              <a:grpSpLocks/>
            </p:cNvGrpSpPr>
            <p:nvPr/>
          </p:nvGrpSpPr>
          <p:grpSpPr bwMode="auto">
            <a:xfrm>
              <a:off x="7928099" y="3820573"/>
              <a:ext cx="1131196" cy="644929"/>
              <a:chOff x="2827" y="3024"/>
              <a:chExt cx="453" cy="382"/>
            </a:xfrm>
          </p:grpSpPr>
          <p:sp>
            <p:nvSpPr>
              <p:cNvPr id="118"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2"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3"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7"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09"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0"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1"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2"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3"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5"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6"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7"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3" name="AutoShape 61"/>
          <p:cNvSpPr>
            <a:spLocks noChangeArrowheads="1"/>
          </p:cNvSpPr>
          <p:nvPr/>
        </p:nvSpPr>
        <p:spPr bwMode="auto">
          <a:xfrm>
            <a:off x="2858377" y="3611194"/>
            <a:ext cx="4144668" cy="314674"/>
          </a:xfrm>
          <a:prstGeom prst="wedgeRoundRectCallout">
            <a:avLst>
              <a:gd name="adj1" fmla="val -12934"/>
              <a:gd name="adj2" fmla="val -54696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858377" y="3611194"/>
            <a:ext cx="4144668" cy="314674"/>
          </a:xfrm>
          <a:prstGeom prst="wedgeRoundRectCallout">
            <a:avLst>
              <a:gd name="adj1" fmla="val -37399"/>
              <a:gd name="adj2" fmla="val -33405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692436" y="3611194"/>
            <a:ext cx="4486702" cy="314674"/>
          </a:xfrm>
          <a:prstGeom prst="wedgeRoundRectCallout">
            <a:avLst>
              <a:gd name="adj1" fmla="val -8129"/>
              <a:gd name="adj2" fmla="val -785761"/>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1" name="圆角矩形 100"/>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2" name="矩形 101"/>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100" name="组合 99"/>
          <p:cNvGrpSpPr/>
          <p:nvPr/>
        </p:nvGrpSpPr>
        <p:grpSpPr>
          <a:xfrm>
            <a:off x="1880840" y="1160772"/>
            <a:ext cx="5329079" cy="3009005"/>
            <a:chOff x="355160" y="927100"/>
            <a:chExt cx="9026611" cy="5096778"/>
          </a:xfrm>
        </p:grpSpPr>
        <p:sp>
          <p:nvSpPr>
            <p:cNvPr id="103"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105"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108"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9"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110"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12"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7"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18"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19"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20"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2"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3"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4"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5"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26"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7"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9"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30"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32"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3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36" name="Group 38"/>
            <p:cNvGrpSpPr>
              <a:grpSpLocks/>
            </p:cNvGrpSpPr>
            <p:nvPr/>
          </p:nvGrpSpPr>
          <p:grpSpPr bwMode="auto">
            <a:xfrm>
              <a:off x="7928099" y="3820573"/>
              <a:ext cx="1131196" cy="644929"/>
              <a:chOff x="2827" y="3024"/>
              <a:chExt cx="453" cy="382"/>
            </a:xfrm>
          </p:grpSpPr>
          <p:sp>
            <p:nvSpPr>
              <p:cNvPr id="15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3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3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4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4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4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4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4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4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5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5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5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98" name="AutoShape 61"/>
          <p:cNvSpPr>
            <a:spLocks noChangeArrowheads="1"/>
          </p:cNvSpPr>
          <p:nvPr/>
        </p:nvSpPr>
        <p:spPr bwMode="auto">
          <a:xfrm>
            <a:off x="2691442" y="3611194"/>
            <a:ext cx="4495820" cy="314674"/>
          </a:xfrm>
          <a:prstGeom prst="wedgeRoundRectCallout">
            <a:avLst>
              <a:gd name="adj1" fmla="val 13715"/>
              <a:gd name="adj2" fmla="val -56710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693452" y="3611194"/>
            <a:ext cx="4485687" cy="314674"/>
          </a:xfrm>
          <a:prstGeom prst="wedgeRoundRectCallout">
            <a:avLst>
              <a:gd name="adj1" fmla="val 30056"/>
              <a:gd name="adj2" fmla="val -32569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圆角矩形 88"/>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0" name="矩形 89"/>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88" name="组合 87"/>
          <p:cNvGrpSpPr/>
          <p:nvPr/>
        </p:nvGrpSpPr>
        <p:grpSpPr>
          <a:xfrm>
            <a:off x="1880840" y="1160772"/>
            <a:ext cx="5329079" cy="3009005"/>
            <a:chOff x="355160" y="927100"/>
            <a:chExt cx="9026611" cy="5096778"/>
          </a:xfrm>
        </p:grpSpPr>
        <p:sp>
          <p:nvSpPr>
            <p:cNvPr id="9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9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9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9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0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0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0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1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1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20"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21"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2"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3"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24" name="Group 38"/>
            <p:cNvGrpSpPr>
              <a:grpSpLocks/>
            </p:cNvGrpSpPr>
            <p:nvPr/>
          </p:nvGrpSpPr>
          <p:grpSpPr bwMode="auto">
            <a:xfrm>
              <a:off x="7928099" y="3820573"/>
              <a:ext cx="1131196" cy="644929"/>
              <a:chOff x="2827" y="3024"/>
              <a:chExt cx="453" cy="382"/>
            </a:xfrm>
          </p:grpSpPr>
          <p:sp>
            <p:nvSpPr>
              <p:cNvPr id="141"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2"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25"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6"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7"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9"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30"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32"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33"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35"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36"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7"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38"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39"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40"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86" name="AutoShape 61"/>
          <p:cNvSpPr>
            <a:spLocks noChangeArrowheads="1"/>
          </p:cNvSpPr>
          <p:nvPr/>
        </p:nvSpPr>
        <p:spPr bwMode="auto">
          <a:xfrm>
            <a:off x="3786953" y="2239967"/>
            <a:ext cx="2668417" cy="314674"/>
          </a:xfrm>
          <a:prstGeom prst="wedgeRoundRectCallout">
            <a:avLst>
              <a:gd name="adj1" fmla="val 28569"/>
              <a:gd name="adj2" fmla="val 36507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D </a:t>
            </a:r>
            <a:r>
              <a:rPr lang="zh-CN" altLang="en-US" sz="1600" b="1" dirty="0">
                <a:solidFill>
                  <a:srgbClr val="000066"/>
                </a:solidFill>
                <a:latin typeface="微软雅黑" pitchFamily="34" charset="-122"/>
                <a:ea typeface="微软雅黑" pitchFamily="34" charset="-122"/>
              </a:rPr>
              <a:t>类地址是多播地址</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 name="圆角矩形 72"/>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4" name="矩形 73"/>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72" name="组合 71"/>
          <p:cNvGrpSpPr/>
          <p:nvPr/>
        </p:nvGrpSpPr>
        <p:grpSpPr>
          <a:xfrm>
            <a:off x="1880840" y="1160772"/>
            <a:ext cx="5329079" cy="3009005"/>
            <a:chOff x="355160" y="927100"/>
            <a:chExt cx="9026611" cy="5096778"/>
          </a:xfrm>
        </p:grpSpPr>
        <p:sp>
          <p:nvSpPr>
            <p:cNvPr id="75"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7"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80"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82"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84"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5"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9"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90"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91"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2"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3"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8"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9"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0"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1"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02"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04"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5"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8" name="Group 38"/>
            <p:cNvGrpSpPr>
              <a:grpSpLocks/>
            </p:cNvGrpSpPr>
            <p:nvPr/>
          </p:nvGrpSpPr>
          <p:grpSpPr bwMode="auto">
            <a:xfrm>
              <a:off x="7928099" y="3820573"/>
              <a:ext cx="1131196" cy="644929"/>
              <a:chOff x="2827" y="3024"/>
              <a:chExt cx="453" cy="382"/>
            </a:xfrm>
          </p:grpSpPr>
          <p:sp>
            <p:nvSpPr>
              <p:cNvPr id="125"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6"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9"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14"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6"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7"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8"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9"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20"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22"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23"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24"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70" name="AutoShape 61"/>
          <p:cNvSpPr>
            <a:spLocks noChangeArrowheads="1"/>
          </p:cNvSpPr>
          <p:nvPr/>
        </p:nvSpPr>
        <p:spPr bwMode="auto">
          <a:xfrm>
            <a:off x="3786953" y="2239967"/>
            <a:ext cx="2668417" cy="314674"/>
          </a:xfrm>
          <a:prstGeom prst="wedgeRoundRectCallout">
            <a:avLst>
              <a:gd name="adj1" fmla="val 32640"/>
              <a:gd name="adj2" fmla="val 531948"/>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E </a:t>
            </a:r>
            <a:r>
              <a:rPr lang="zh-CN" altLang="en-US" sz="1600" b="1" dirty="0">
                <a:solidFill>
                  <a:srgbClr val="000066"/>
                </a:solidFill>
                <a:latin typeface="微软雅黑" pitchFamily="34" charset="-122"/>
                <a:ea typeface="微软雅黑" pitchFamily="34" charset="-122"/>
              </a:rPr>
              <a:t>类地址保留为今后使用</a:t>
            </a:r>
          </a:p>
        </p:txBody>
      </p:sp>
    </p:spTree>
    <p:extLst>
      <p:ext uri="{BB962C8B-B14F-4D97-AF65-F5344CB8AC3E}">
        <p14:creationId xmlns:p14="http://schemas.microsoft.com/office/powerpoint/2010/main" val="3171787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11" name="表格 10"/>
          <p:cNvGraphicFramePr>
            <a:graphicFrameLocks noGrp="1"/>
          </p:cNvGraphicFramePr>
          <p:nvPr>
            <p:extLst>
              <p:ext uri="{D42A27DB-BD31-4B8C-83A1-F6EECF244321}">
                <p14:modId xmlns:p14="http://schemas.microsoft.com/office/powerpoint/2010/main" val="961813223"/>
              </p:ext>
            </p:extLst>
          </p:nvPr>
        </p:nvGraphicFramePr>
        <p:xfrm>
          <a:off x="556963" y="1024784"/>
          <a:ext cx="8048776" cy="1612909"/>
        </p:xfrm>
        <a:graphic>
          <a:graphicData uri="http://schemas.openxmlformats.org/drawingml/2006/table">
            <a:tbl>
              <a:tblPr>
                <a:tableStyleId>{5C22544A-7EE6-4342-B048-85BDC9FD1C3A}</a:tableStyleId>
              </a:tblPr>
              <a:tblGrid>
                <a:gridCol w="688696">
                  <a:extLst>
                    <a:ext uri="{9D8B030D-6E8A-4147-A177-3AD203B41FA5}">
                      <a16:colId xmlns:a16="http://schemas.microsoft.com/office/drawing/2014/main" val="20000"/>
                    </a:ext>
                  </a:extLst>
                </a:gridCol>
                <a:gridCol w="2093534">
                  <a:extLst>
                    <a:ext uri="{9D8B030D-6E8A-4147-A177-3AD203B41FA5}">
                      <a16:colId xmlns:a16="http://schemas.microsoft.com/office/drawing/2014/main" val="20001"/>
                    </a:ext>
                  </a:extLst>
                </a:gridCol>
                <a:gridCol w="1477736">
                  <a:extLst>
                    <a:ext uri="{9D8B030D-6E8A-4147-A177-3AD203B41FA5}">
                      <a16:colId xmlns:a16="http://schemas.microsoft.com/office/drawing/2014/main" val="20002"/>
                    </a:ext>
                  </a:extLst>
                </a:gridCol>
                <a:gridCol w="1698171">
                  <a:extLst>
                    <a:ext uri="{9D8B030D-6E8A-4147-A177-3AD203B41FA5}">
                      <a16:colId xmlns:a16="http://schemas.microsoft.com/office/drawing/2014/main" val="20003"/>
                    </a:ext>
                  </a:extLst>
                </a:gridCol>
                <a:gridCol w="2090639">
                  <a:extLst>
                    <a:ext uri="{9D8B030D-6E8A-4147-A177-3AD203B41FA5}">
                      <a16:colId xmlns:a16="http://schemas.microsoft.com/office/drawing/2014/main" val="20004"/>
                    </a:ext>
                  </a:extLst>
                </a:gridCol>
              </a:tblGrid>
              <a:tr h="556681">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网络</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类别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最大可指派</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的网络数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第一个可指派的网络号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最后一个可指派的网络号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每个网络中</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最大主机数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A</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 (2</a:t>
                      </a:r>
                      <a:r>
                        <a:rPr lang="en-US" sz="1600" b="1" baseline="30000" dirty="0">
                          <a:solidFill>
                            <a:schemeClr val="tx1"/>
                          </a:solidFill>
                          <a:effectLst/>
                          <a:latin typeface="微软雅黑" pitchFamily="34" charset="-122"/>
                          <a:ea typeface="微软雅黑" pitchFamily="34" charset="-122"/>
                        </a:rPr>
                        <a:t>7</a:t>
                      </a:r>
                      <a:r>
                        <a:rPr lang="en-US" sz="1600" b="1" dirty="0">
                          <a:solidFill>
                            <a:schemeClr val="tx1"/>
                          </a:solidFill>
                          <a:effectLst/>
                          <a:latin typeface="微软雅黑" pitchFamily="34" charset="-122"/>
                          <a:ea typeface="微软雅黑" pitchFamily="34" charset="-122"/>
                        </a:rPr>
                        <a:t> – 2)</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16777214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24</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B</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16383 (2</a:t>
                      </a:r>
                      <a:r>
                        <a:rPr lang="en-US" sz="1600" b="1" baseline="30000" dirty="0">
                          <a:solidFill>
                            <a:schemeClr val="tx1"/>
                          </a:solidFill>
                          <a:effectLst/>
                          <a:latin typeface="微软雅黑" pitchFamily="34" charset="-122"/>
                          <a:ea typeface="微软雅黑" pitchFamily="34" charset="-122"/>
                        </a:rPr>
                        <a:t>14</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128.1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191.255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65534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16</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52076">
                <a:tc>
                  <a:txBody>
                    <a:bodyPr/>
                    <a:lstStyle/>
                    <a:p>
                      <a:pPr algn="ctr">
                        <a:lnSpc>
                          <a:spcPct val="100000"/>
                        </a:lnSpc>
                        <a:spcAft>
                          <a:spcPts val="0"/>
                        </a:spcAft>
                      </a:pPr>
                      <a:r>
                        <a:rPr lang="en-US" sz="1600" b="1">
                          <a:solidFill>
                            <a:schemeClr val="tx1"/>
                          </a:solidFill>
                          <a:effectLst/>
                          <a:latin typeface="微软雅黑" pitchFamily="34" charset="-122"/>
                          <a:ea typeface="微软雅黑" pitchFamily="34" charset="-122"/>
                        </a:rPr>
                        <a:t>C</a:t>
                      </a:r>
                      <a:endParaRPr lang="zh-CN" sz="16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2097151 (2</a:t>
                      </a:r>
                      <a:r>
                        <a:rPr lang="en-US" sz="1600" b="1" baseline="30000" dirty="0">
                          <a:solidFill>
                            <a:schemeClr val="tx1"/>
                          </a:solidFill>
                          <a:effectLst/>
                          <a:latin typeface="微软雅黑" pitchFamily="34" charset="-122"/>
                          <a:ea typeface="微软雅黑" pitchFamily="34" charset="-122"/>
                        </a:rPr>
                        <a:t>21</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192.0.1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223.255.255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254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8</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p:sp>
        <p:nvSpPr>
          <p:cNvPr id="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矩形 7"/>
          <p:cNvSpPr/>
          <p:nvPr/>
        </p:nvSpPr>
        <p:spPr>
          <a:xfrm>
            <a:off x="616085" y="565906"/>
            <a:ext cx="2901756"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地址的指派范围</a:t>
            </a:r>
          </a:p>
        </p:txBody>
      </p:sp>
      <p:sp>
        <p:nvSpPr>
          <p:cNvPr id="2" name="矩形 1"/>
          <p:cNvSpPr/>
          <p:nvPr/>
        </p:nvSpPr>
        <p:spPr>
          <a:xfrm>
            <a:off x="267008" y="2705418"/>
            <a:ext cx="8609983" cy="1631216"/>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注意：</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类网络地址中， 网络号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 </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是保留地址，不指派。</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表示“本网络”，</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保留作为本地环回测试地址。</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128.0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C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192.0.0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指派主机号时，要</a:t>
            </a:r>
            <a:r>
              <a:rPr lang="zh-CN" altLang="en-US" sz="1400" b="1" dirty="0">
                <a:solidFill>
                  <a:srgbClr val="C00000"/>
                </a:solidFill>
                <a:latin typeface="微软雅黑" panose="020B0503020204020204" pitchFamily="34" charset="-122"/>
                <a:ea typeface="微软雅黑" panose="020B0503020204020204" pitchFamily="34" charset="-122"/>
              </a:rPr>
              <a:t>扣除</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有特殊含义和用途。</a:t>
            </a:r>
          </a:p>
        </p:txBody>
      </p:sp>
    </p:spTree>
    <p:extLst>
      <p:ext uri="{BB962C8B-B14F-4D97-AF65-F5344CB8AC3E}">
        <p14:creationId xmlns:p14="http://schemas.microsoft.com/office/powerpoint/2010/main" val="2666192992"/>
      </p:ext>
    </p:extLst>
  </p:cSld>
  <p:clrMapOvr>
    <a:masterClrMapping/>
  </p:clrMapOvr>
  <p:transition spd="slow" advTm="2000"/>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45144" y="61920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矩形 8"/>
          <p:cNvSpPr/>
          <p:nvPr/>
        </p:nvSpPr>
        <p:spPr>
          <a:xfrm>
            <a:off x="616085" y="578018"/>
            <a:ext cx="3414717" cy="400110"/>
          </a:xfrm>
          <a:prstGeom prst="rect">
            <a:avLst/>
          </a:prstGeom>
        </p:spPr>
        <p:txBody>
          <a:bodyPr wrap="none">
            <a:spAutoFit/>
          </a:bodyPr>
          <a:lstStyle/>
          <a:p>
            <a:r>
              <a:rPr lang="zh-CN" altLang="en-US" sz="2000" b="1" dirty="0">
                <a:latin typeface="微软雅黑" pitchFamily="34" charset="-122"/>
                <a:ea typeface="微软雅黑" pitchFamily="34" charset="-122"/>
              </a:rPr>
              <a:t>一般不使用的特殊的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p:txBody>
      </p:sp>
      <p:graphicFrame>
        <p:nvGraphicFramePr>
          <p:cNvPr id="11" name="内容占位符 2"/>
          <p:cNvGraphicFramePr>
            <a:graphicFrameLocks/>
          </p:cNvGraphicFramePr>
          <p:nvPr>
            <p:extLst>
              <p:ext uri="{D42A27DB-BD31-4B8C-83A1-F6EECF244321}">
                <p14:modId xmlns:p14="http://schemas.microsoft.com/office/powerpoint/2010/main" val="89799564"/>
              </p:ext>
            </p:extLst>
          </p:nvPr>
        </p:nvGraphicFramePr>
        <p:xfrm>
          <a:off x="545144" y="1029785"/>
          <a:ext cx="8053712" cy="3191234"/>
        </p:xfrm>
        <a:graphic>
          <a:graphicData uri="http://schemas.openxmlformats.org/drawingml/2006/table">
            <a:tbl>
              <a:tblPr>
                <a:tableStyleId>{5C22544A-7EE6-4342-B048-85BDC9FD1C3A}</a:tableStyleId>
              </a:tblPr>
              <a:tblGrid>
                <a:gridCol w="809203">
                  <a:extLst>
                    <a:ext uri="{9D8B030D-6E8A-4147-A177-3AD203B41FA5}">
                      <a16:colId xmlns:a16="http://schemas.microsoft.com/office/drawing/2014/main" val="20000"/>
                    </a:ext>
                  </a:extLst>
                </a:gridCol>
                <a:gridCol w="1362974">
                  <a:extLst>
                    <a:ext uri="{9D8B030D-6E8A-4147-A177-3AD203B41FA5}">
                      <a16:colId xmlns:a16="http://schemas.microsoft.com/office/drawing/2014/main" val="20001"/>
                    </a:ext>
                  </a:extLst>
                </a:gridCol>
                <a:gridCol w="847915">
                  <a:extLst>
                    <a:ext uri="{9D8B030D-6E8A-4147-A177-3AD203B41FA5}">
                      <a16:colId xmlns:a16="http://schemas.microsoft.com/office/drawing/2014/main" val="20002"/>
                    </a:ext>
                  </a:extLst>
                </a:gridCol>
                <a:gridCol w="951346">
                  <a:extLst>
                    <a:ext uri="{9D8B030D-6E8A-4147-A177-3AD203B41FA5}">
                      <a16:colId xmlns:a16="http://schemas.microsoft.com/office/drawing/2014/main" val="20003"/>
                    </a:ext>
                  </a:extLst>
                </a:gridCol>
                <a:gridCol w="4082274">
                  <a:extLst>
                    <a:ext uri="{9D8B030D-6E8A-4147-A177-3AD203B41FA5}">
                      <a16:colId xmlns:a16="http://schemas.microsoft.com/office/drawing/2014/main" val="20004"/>
                    </a:ext>
                  </a:extLst>
                </a:gridCol>
              </a:tblGrid>
              <a:tr h="689878">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主机号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源地址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目的地址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tabLst>
                          <a:tab pos="2637155" algn="ctr"/>
                          <a:tab pos="5274310" algn="r"/>
                          <a:tab pos="266700" algn="l"/>
                        </a:tabLst>
                      </a:pPr>
                      <a:r>
                        <a:rPr lang="zh-CN" sz="1600" b="1" kern="1200" dirty="0">
                          <a:solidFill>
                            <a:schemeClr val="bg1"/>
                          </a:solidFill>
                          <a:effectLst/>
                          <a:latin typeface="微软雅黑" pitchFamily="34" charset="-122"/>
                          <a:ea typeface="微软雅黑" pitchFamily="34" charset="-122"/>
                          <a:cs typeface="+mn-cs"/>
                        </a:rPr>
                        <a:t>代表的意思</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523399">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在本网络上的本主机</a:t>
                      </a:r>
                      <a:r>
                        <a:rPr lang="zh-CN" sz="1400" b="1" kern="1200" dirty="0">
                          <a:solidFill>
                            <a:schemeClr val="tx1"/>
                          </a:solidFill>
                          <a:effectLst/>
                          <a:latin typeface="微软雅黑" pitchFamily="34" charset="-122"/>
                          <a:ea typeface="微软雅黑" pitchFamily="34" charset="-122"/>
                          <a:cs typeface="+mn-cs"/>
                        </a:rPr>
                        <a:t>（见</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6.6 </a:t>
                      </a:r>
                      <a:r>
                        <a:rPr lang="zh-CN" sz="1400" b="1" kern="1200" dirty="0">
                          <a:solidFill>
                            <a:schemeClr val="tx1"/>
                          </a:solidFill>
                          <a:effectLst/>
                          <a:latin typeface="微软雅黑" pitchFamily="34" charset="-122"/>
                          <a:ea typeface="微软雅黑" pitchFamily="34" charset="-122"/>
                          <a:cs typeface="+mn-cs"/>
                        </a:rPr>
                        <a:t>节</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DHCP </a:t>
                      </a:r>
                      <a:r>
                        <a:rPr lang="zh-CN" sz="1400" b="1" kern="1200" dirty="0">
                          <a:solidFill>
                            <a:schemeClr val="tx1"/>
                          </a:solidFill>
                          <a:effectLst/>
                          <a:latin typeface="微软雅黑" pitchFamily="34" charset="-122"/>
                          <a:ea typeface="微软雅黑" pitchFamily="34" charset="-122"/>
                          <a:cs typeface="+mn-cs"/>
                        </a:rPr>
                        <a:t>协议）</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407760">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0</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X</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altLang="en-US" sz="1600" b="1" kern="1200" dirty="0">
                          <a:solidFill>
                            <a:schemeClr val="tx1"/>
                          </a:solidFill>
                          <a:effectLst/>
                          <a:latin typeface="微软雅黑" pitchFamily="34" charset="-122"/>
                          <a:ea typeface="微软雅黑" pitchFamily="34" charset="-122"/>
                          <a:cs typeface="+mn-cs"/>
                        </a:rPr>
                        <a:t>在本网络上主机号为 </a:t>
                      </a:r>
                      <a:r>
                        <a:rPr lang="en-US" altLang="zh-CN" sz="1600" b="1" kern="1200" dirty="0">
                          <a:solidFill>
                            <a:schemeClr val="tx1"/>
                          </a:solidFill>
                          <a:effectLst/>
                          <a:latin typeface="微软雅黑" pitchFamily="34" charset="-122"/>
                          <a:ea typeface="微软雅黑" pitchFamily="34" charset="-122"/>
                          <a:cs typeface="+mn-cs"/>
                        </a:rPr>
                        <a:t>X </a:t>
                      </a:r>
                      <a:r>
                        <a:rPr lang="zh-CN" altLang="en-US" sz="1600" b="1" kern="1200" dirty="0">
                          <a:solidFill>
                            <a:schemeClr val="tx1"/>
                          </a:solidFill>
                          <a:effectLst/>
                          <a:latin typeface="微软雅黑" pitchFamily="34" charset="-122"/>
                          <a:ea typeface="微软雅黑" pitchFamily="34" charset="-122"/>
                          <a:cs typeface="+mn-cs"/>
                        </a:rPr>
                        <a:t>的主机</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523399">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只在本网络上进行广播</a:t>
                      </a:r>
                      <a:r>
                        <a:rPr lang="zh-CN" sz="1400" b="1" kern="1200" dirty="0">
                          <a:solidFill>
                            <a:schemeClr val="tx1"/>
                          </a:solidFill>
                          <a:effectLst/>
                          <a:latin typeface="微软雅黑" pitchFamily="34" charset="-122"/>
                          <a:ea typeface="微软雅黑" pitchFamily="34" charset="-122"/>
                          <a:cs typeface="+mn-cs"/>
                        </a:rPr>
                        <a:t>（各路由器均不转发）</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523399">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Y</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对</a:t>
                      </a:r>
                      <a:r>
                        <a:rPr lang="zh-CN" altLang="en-US" sz="1600" b="1" kern="1200" dirty="0">
                          <a:solidFill>
                            <a:schemeClr val="tx1"/>
                          </a:solidFill>
                          <a:effectLst/>
                          <a:latin typeface="微软雅黑" pitchFamily="34" charset="-122"/>
                          <a:ea typeface="微软雅黑" pitchFamily="34" charset="-122"/>
                          <a:cs typeface="+mn-cs"/>
                        </a:rPr>
                        <a:t>网络号为 </a:t>
                      </a:r>
                      <a:r>
                        <a:rPr lang="en-US" altLang="zh-CN" sz="1600" b="1" kern="1200" dirty="0">
                          <a:solidFill>
                            <a:schemeClr val="tx1"/>
                          </a:solidFill>
                          <a:effectLst/>
                          <a:latin typeface="微软雅黑" pitchFamily="34" charset="-122"/>
                          <a:ea typeface="微软雅黑" pitchFamily="34" charset="-122"/>
                          <a:cs typeface="+mn-cs"/>
                        </a:rPr>
                        <a:t>Y </a:t>
                      </a:r>
                      <a:r>
                        <a:rPr lang="zh-CN" altLang="en-US" sz="1600" b="1" kern="1200" dirty="0">
                          <a:solidFill>
                            <a:schemeClr val="tx1"/>
                          </a:solidFill>
                          <a:effectLst/>
                          <a:latin typeface="微软雅黑" pitchFamily="34" charset="-122"/>
                          <a:ea typeface="微软雅黑" pitchFamily="34" charset="-122"/>
                          <a:cs typeface="+mn-cs"/>
                        </a:rPr>
                        <a:t>的网络上</a:t>
                      </a:r>
                      <a:r>
                        <a:rPr lang="zh-CN" sz="1600" b="1" kern="1200" dirty="0">
                          <a:solidFill>
                            <a:schemeClr val="tx1"/>
                          </a:solidFill>
                          <a:effectLst/>
                          <a:latin typeface="微软雅黑" pitchFamily="34" charset="-122"/>
                          <a:ea typeface="微软雅黑" pitchFamily="34" charset="-122"/>
                          <a:cs typeface="+mn-cs"/>
                        </a:rPr>
                        <a:t>的所有主机进行广播</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523399">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127</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非全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0 </a:t>
                      </a:r>
                      <a:r>
                        <a:rPr lang="zh-CN" sz="1600" b="1" kern="1200" dirty="0">
                          <a:solidFill>
                            <a:schemeClr val="tx1"/>
                          </a:solidFill>
                          <a:effectLst/>
                          <a:latin typeface="微软雅黑" pitchFamily="34" charset="-122"/>
                          <a:ea typeface="微软雅黑" pitchFamily="34" charset="-122"/>
                          <a:cs typeface="+mn-cs"/>
                        </a:rPr>
                        <a:t>或全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 </a:t>
                      </a:r>
                      <a:r>
                        <a:rPr lang="zh-CN" sz="1600" b="1" kern="1200" dirty="0">
                          <a:solidFill>
                            <a:schemeClr val="tx1"/>
                          </a:solidFill>
                          <a:effectLst/>
                          <a:latin typeface="微软雅黑" pitchFamily="34" charset="-122"/>
                          <a:ea typeface="微软雅黑" pitchFamily="34" charset="-122"/>
                          <a:cs typeface="+mn-cs"/>
                        </a:rPr>
                        <a:t>的任何数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altLang="zh-CN" sz="1600" b="1" kern="1200" dirty="0">
                          <a:solidFill>
                            <a:schemeClr val="tx1"/>
                          </a:solidFill>
                          <a:effectLst/>
                          <a:latin typeface="微软雅黑" pitchFamily="34" charset="-122"/>
                          <a:ea typeface="微软雅黑" pitchFamily="34" charset="-122"/>
                          <a:cs typeface="+mn-cs"/>
                        </a:rPr>
                        <a:t>用于本地软件环回测试</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873998" y="581433"/>
            <a:ext cx="34147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地址的优点和缺点</a:t>
            </a:r>
          </a:p>
        </p:txBody>
      </p:sp>
      <p:graphicFrame>
        <p:nvGraphicFramePr>
          <p:cNvPr id="4" name="图示 3"/>
          <p:cNvGraphicFramePr/>
          <p:nvPr>
            <p:extLst>
              <p:ext uri="{D42A27DB-BD31-4B8C-83A1-F6EECF244321}">
                <p14:modId xmlns:p14="http://schemas.microsoft.com/office/powerpoint/2010/main" val="2237446689"/>
              </p:ext>
            </p:extLst>
          </p:nvPr>
        </p:nvGraphicFramePr>
        <p:xfrm>
          <a:off x="1187570" y="1134972"/>
          <a:ext cx="6817744" cy="27986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13556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33255" y="581433"/>
            <a:ext cx="24961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无分类编址 </a:t>
            </a:r>
            <a:r>
              <a:rPr lang="en-US" altLang="zh-CN" sz="2000" b="1" dirty="0">
                <a:solidFill>
                  <a:schemeClr val="bg1"/>
                </a:solidFill>
                <a:latin typeface="微软雅黑" pitchFamily="34" charset="-122"/>
                <a:ea typeface="微软雅黑" pitchFamily="34" charset="-122"/>
              </a:rPr>
              <a:t>CIDR</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63778"/>
            <a:ext cx="8184960"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CIDR</a:t>
            </a:r>
            <a:r>
              <a:rPr lang="en-US" altLang="zh-CN" sz="2000" b="1" dirty="0">
                <a:latin typeface="微软雅黑" pitchFamily="34" charset="-122"/>
                <a:ea typeface="微软雅黑" pitchFamily="34" charset="-122"/>
              </a:rPr>
              <a:t> (Classless Inter-Domain Routing) </a:t>
            </a:r>
            <a:r>
              <a:rPr lang="zh-CN" altLang="en-US" sz="2000" b="1" dirty="0">
                <a:latin typeface="微软雅黑" pitchFamily="34" charset="-122"/>
                <a:ea typeface="微软雅黑" pitchFamily="34" charset="-122"/>
              </a:rPr>
              <a:t>：</a:t>
            </a:r>
            <a:r>
              <a:rPr lang="zh-CN" altLang="en-US" sz="2000" b="1" dirty="0">
                <a:solidFill>
                  <a:srgbClr val="C00000"/>
                </a:solidFill>
                <a:latin typeface="微软雅黑" pitchFamily="34" charset="-122"/>
                <a:ea typeface="微软雅黑" pitchFamily="34" charset="-122"/>
              </a:rPr>
              <a:t>无分类域间路由选择。</a:t>
            </a:r>
            <a:endParaRPr lang="en-US" altLang="zh-CN" sz="2000" b="1" dirty="0">
              <a:solidFill>
                <a:srgbClr val="C00000"/>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消除</a:t>
            </a:r>
            <a:r>
              <a:rPr lang="zh-CN" altLang="en-US" sz="2000" b="1" dirty="0">
                <a:latin typeface="微软雅黑" pitchFamily="34" charset="-122"/>
                <a:ea typeface="微软雅黑" pitchFamily="34" charset="-122"/>
              </a:rPr>
              <a:t>了传统的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类、</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类和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类地址以及划分子网的概念，可以更加有效地分配 </a:t>
            </a:r>
            <a:r>
              <a:rPr lang="en-US" altLang="zh-CN" sz="2000" b="1" dirty="0">
                <a:latin typeface="微软雅黑" pitchFamily="34" charset="-122"/>
                <a:ea typeface="微软雅黑" pitchFamily="34" charset="-122"/>
              </a:rPr>
              <a:t>IPv4 </a:t>
            </a:r>
            <a:r>
              <a:rPr lang="zh-CN" altLang="en-US" sz="2000" b="1" dirty="0">
                <a:latin typeface="微软雅黑" pitchFamily="34" charset="-122"/>
                <a:ea typeface="微软雅黑" pitchFamily="34" charset="-122"/>
              </a:rPr>
              <a:t>的地址空间，</a:t>
            </a:r>
            <a:r>
              <a:rPr lang="zh-CN" altLang="en-US" sz="2000" b="1" dirty="0">
                <a:solidFill>
                  <a:srgbClr val="C00000"/>
                </a:solidFill>
                <a:latin typeface="微软雅黑" pitchFamily="34" charset="-122"/>
                <a:ea typeface="微软雅黑" pitchFamily="34" charset="-122"/>
              </a:rPr>
              <a:t>但无法解决 </a:t>
            </a: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地址枯竭的问题。</a:t>
            </a: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要点：</a:t>
            </a:r>
            <a:endParaRPr lang="en-US" altLang="zh-CN" sz="2000" b="1" dirty="0">
              <a:solidFill>
                <a:srgbClr val="0000FF"/>
              </a:solidFill>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网络前缀</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地址块</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(3) </a:t>
            </a:r>
            <a:r>
              <a:rPr lang="zh-CN" altLang="en-US" sz="2000" b="1" dirty="0">
                <a:latin typeface="微软雅黑" pitchFamily="34" charset="-122"/>
                <a:ea typeface="微软雅黑" pitchFamily="34" charset="-122"/>
              </a:rPr>
              <a:t>地址掩码</a:t>
            </a:r>
          </a:p>
        </p:txBody>
      </p:sp>
    </p:spTree>
    <p:extLst>
      <p:ext uri="{BB962C8B-B14F-4D97-AF65-F5344CB8AC3E}">
        <p14:creationId xmlns:p14="http://schemas.microsoft.com/office/powerpoint/2010/main" val="24749921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758853" y="581433"/>
            <a:ext cx="16450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网络前缀</a:t>
            </a:r>
          </a:p>
        </p:txBody>
      </p:sp>
      <p:grpSp>
        <p:nvGrpSpPr>
          <p:cNvPr id="27" name="组合 26"/>
          <p:cNvGrpSpPr/>
          <p:nvPr/>
        </p:nvGrpSpPr>
        <p:grpSpPr>
          <a:xfrm>
            <a:off x="467270" y="1108276"/>
            <a:ext cx="7538042" cy="759182"/>
            <a:chOff x="199852" y="1194536"/>
            <a:chExt cx="753804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a:t>
              </a:r>
              <a:r>
                <a:rPr lang="zh-CN" altLang="en-US" sz="1600" b="1" kern="0" noProof="0" dirty="0">
                  <a:latin typeface="微软雅黑" pitchFamily="34" charset="-122"/>
                  <a:ea typeface="微软雅黑" pitchFamily="34" charset="-122"/>
                </a:rPr>
                <a:t>前缀</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199852" y="1194536"/>
              <a:ext cx="349807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网络前缀</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757255" y="1865746"/>
            <a:ext cx="7248057" cy="1291692"/>
            <a:chOff x="489837" y="2854700"/>
            <a:chExt cx="7248057" cy="1014478"/>
          </a:xfrm>
        </p:grpSpPr>
        <p:sp>
          <p:nvSpPr>
            <p:cNvPr id="3" name="矩形 2"/>
            <p:cNvSpPr/>
            <p:nvPr/>
          </p:nvSpPr>
          <p:spPr>
            <a:xfrm>
              <a:off x="489837" y="3230391"/>
              <a:ext cx="3168738" cy="314241"/>
            </a:xfrm>
            <a:prstGeom prst="rect">
              <a:avLst/>
            </a:prstGeom>
          </p:spPr>
          <p:txBody>
            <a:bodyPr wrap="square">
              <a:spAutoFit/>
            </a:bodyPr>
            <a:lstStyle/>
            <a:p>
              <a:r>
                <a:rPr lang="zh-CN" altLang="en-US" sz="2000" b="1" dirty="0">
                  <a:solidFill>
                    <a:srgbClr val="C00000"/>
                  </a:solidFill>
                  <a:latin typeface="微软雅黑" panose="020B0503020204020204" pitchFamily="34" charset="-122"/>
                  <a:ea typeface="微软雅黑" panose="020B0503020204020204" pitchFamily="34" charset="-122"/>
                </a:rPr>
                <a:t>网络前缀的位数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endParaRPr lang="en-US" altLang="zh-CN" sz="2000" b="1" dirty="0">
                <a:solidFill>
                  <a:srgbClr val="C00000"/>
                </a:solidFill>
                <a:latin typeface="微软雅黑" panose="020B0503020204020204" pitchFamily="34" charset="-122"/>
                <a:ea typeface="微软雅黑" panose="020B0503020204020204" pitchFamily="34" charset="-122"/>
              </a:endParaRP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网络前缀</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lvl="0" algn="ctr" eaLnBrk="0" hangingPunct="0">
                    <a:defRPr/>
                  </a:pPr>
                  <a:r>
                    <a:rPr lang="en-US" altLang="zh-CN" sz="1400" b="1" kern="0" dirty="0">
                      <a:solidFill>
                        <a:sysClr val="windowText" lastClr="000000"/>
                      </a:solidFill>
                      <a:latin typeface="微软雅黑" pitchFamily="34" charset="-122"/>
                      <a:ea typeface="微软雅黑" pitchFamily="34" charset="-122"/>
                    </a:rPr>
                    <a:t>(network-prefix</a:t>
                  </a:r>
                  <a:r>
                    <a:rPr lang="en-US" altLang="zh-CN" sz="1400" b="1" kern="0" noProof="0" dirty="0">
                      <a:solidFill>
                        <a:sysClr val="windowText" lastClr="000000"/>
                      </a:solidFill>
                      <a:latin typeface="微软雅黑" pitchFamily="34" charset="-122"/>
                      <a:ea typeface="微软雅黑" pitchFamily="34" charset="-122"/>
                    </a:rPr>
                    <a:t>)</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5" name="矩形 4"/>
          <p:cNvSpPr/>
          <p:nvPr/>
        </p:nvSpPr>
        <p:spPr>
          <a:xfrm>
            <a:off x="854016" y="2824768"/>
            <a:ext cx="3055240" cy="1015663"/>
          </a:xfrm>
          <a:prstGeom prst="rect">
            <a:avLst/>
          </a:prstGeom>
          <a:solidFill>
            <a:srgbClr val="FFC000"/>
          </a:solidFill>
          <a:ln>
            <a:noFill/>
          </a:ln>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最大的区别：</a:t>
            </a:r>
            <a:endParaRPr lang="en-US" altLang="zh-CN" b="1" dirty="0">
              <a:solidFill>
                <a:srgbClr val="000099"/>
              </a:solidFill>
              <a:latin typeface="微软雅黑" panose="020B0503020204020204" pitchFamily="34" charset="-122"/>
              <a:ea typeface="微软雅黑" panose="020B0503020204020204" pitchFamily="34" charset="-122"/>
            </a:endParaRPr>
          </a:p>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前缀的位数 </a:t>
            </a:r>
            <a:r>
              <a:rPr lang="en-US" altLang="zh-CN"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不固定，</a:t>
            </a:r>
            <a:r>
              <a:rPr lang="zh-CN" altLang="en-US" b="1" dirty="0">
                <a:solidFill>
                  <a:srgbClr val="000099"/>
                </a:solidFill>
                <a:latin typeface="微软雅黑" panose="020B0503020204020204" pitchFamily="34" charset="-122"/>
                <a:ea typeface="微软雅黑" panose="020B0503020204020204" pitchFamily="34" charset="-122"/>
              </a:rPr>
              <a:t>可以在 </a:t>
            </a:r>
            <a:r>
              <a:rPr lang="en-US" altLang="zh-CN" b="1" dirty="0">
                <a:solidFill>
                  <a:srgbClr val="000099"/>
                </a:solidFill>
                <a:latin typeface="微软雅黑" panose="020B0503020204020204" pitchFamily="34" charset="-122"/>
                <a:ea typeface="微软雅黑" panose="020B0503020204020204" pitchFamily="34" charset="-122"/>
              </a:rPr>
              <a:t>0 ~</a:t>
            </a:r>
            <a:r>
              <a:rPr lang="zh-CN" altLang="en-US" b="1" dirty="0">
                <a:solidFill>
                  <a:srgbClr val="000099"/>
                </a:solidFill>
                <a:latin typeface="微软雅黑" panose="020B0503020204020204" pitchFamily="34" charset="-122"/>
                <a:ea typeface="微软雅黑" panose="020B0503020204020204" pitchFamily="34" charset="-122"/>
              </a:rPr>
              <a:t> </a:t>
            </a:r>
            <a:r>
              <a:rPr lang="en-US" altLang="zh-CN" b="1" dirty="0">
                <a:solidFill>
                  <a:srgbClr val="000099"/>
                </a:solidFill>
                <a:latin typeface="微软雅黑" panose="020B0503020204020204" pitchFamily="34" charset="-122"/>
                <a:ea typeface="微软雅黑" panose="020B0503020204020204" pitchFamily="34" charset="-122"/>
              </a:rPr>
              <a:t>32 </a:t>
            </a:r>
            <a:r>
              <a:rPr lang="zh-CN" altLang="en-US" b="1" dirty="0">
                <a:solidFill>
                  <a:srgbClr val="000099"/>
                </a:solidFill>
                <a:latin typeface="微软雅黑" panose="020B0503020204020204" pitchFamily="34" charset="-122"/>
                <a:ea typeface="微软雅黑" panose="020B0503020204020204" pitchFamily="34" charset="-122"/>
              </a:rPr>
              <a:t>之间选取任意值。</a:t>
            </a:r>
          </a:p>
        </p:txBody>
      </p:sp>
      <p:sp>
        <p:nvSpPr>
          <p:cNvPr id="8" name="矩形 7"/>
          <p:cNvSpPr/>
          <p:nvPr/>
        </p:nvSpPr>
        <p:spPr>
          <a:xfrm>
            <a:off x="4091021" y="3253572"/>
            <a:ext cx="4776927" cy="1015663"/>
          </a:xfrm>
          <a:prstGeom prst="rect">
            <a:avLst/>
          </a:prstGeom>
          <a:solidFill>
            <a:schemeClr val="accent5">
              <a:lumMod val="40000"/>
              <a:lumOff val="60000"/>
            </a:schemeClr>
          </a:solidFill>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CIDR </a:t>
            </a:r>
            <a:r>
              <a:rPr lang="zh-CN" altLang="en-US" sz="1600" b="1" dirty="0">
                <a:solidFill>
                  <a:srgbClr val="0000FF"/>
                </a:solidFill>
                <a:latin typeface="微软雅黑" panose="020B0503020204020204" pitchFamily="34" charset="-122"/>
                <a:ea typeface="微软雅黑" panose="020B0503020204020204" pitchFamily="34" charset="-122"/>
              </a:rPr>
              <a:t>记法：</a:t>
            </a:r>
            <a:r>
              <a:rPr lang="zh-CN" altLang="en-US" sz="1600" b="1" dirty="0">
                <a:solidFill>
                  <a:srgbClr val="C00000"/>
                </a:solidFill>
                <a:latin typeface="微软雅黑" panose="020B0503020204020204" pitchFamily="34" charset="-122"/>
                <a:ea typeface="微软雅黑" panose="020B0503020204020204" pitchFamily="34" charset="-122"/>
              </a:rPr>
              <a:t>斜线记法</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(slash notation)</a:t>
            </a:r>
          </a:p>
          <a:p>
            <a:pPr>
              <a:lnSpc>
                <a:spcPts val="2400"/>
              </a:lnSpc>
            </a:pPr>
            <a:r>
              <a:rPr lang="en-US" altLang="zh-CN" sz="1600" b="1" dirty="0" err="1">
                <a:latin typeface="微软雅黑" panose="020B0503020204020204" pitchFamily="34" charset="-122"/>
                <a:ea typeface="微软雅黑" panose="020B0503020204020204" pitchFamily="34" charset="-122"/>
              </a:rPr>
              <a:t>a.b.c.d</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00000"/>
                </a:solidFill>
                <a:latin typeface="微软雅黑" panose="020B0503020204020204" pitchFamily="34" charset="-122"/>
                <a:ea typeface="微软雅黑" panose="020B0503020204020204" pitchFamily="34" charset="-122"/>
              </a:rPr>
              <a:t>/ n</a:t>
            </a:r>
            <a:r>
              <a:rPr lang="zh-CN" altLang="en-US" sz="1600" b="1" dirty="0">
                <a:latin typeface="微软雅黑" panose="020B0503020204020204" pitchFamily="34" charset="-122"/>
                <a:ea typeface="微软雅黑" panose="020B0503020204020204" pitchFamily="34" charset="-122"/>
              </a:rPr>
              <a:t>：二进制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a:t>
            </a:r>
            <a:r>
              <a:rPr lang="zh-CN" altLang="en-US" sz="1600" b="1" dirty="0">
                <a:solidFill>
                  <a:srgbClr val="C00000"/>
                </a:solidFill>
                <a:latin typeface="微软雅黑" panose="020B0503020204020204" pitchFamily="34" charset="-122"/>
                <a:ea typeface="微软雅黑" panose="020B0503020204020204" pitchFamily="34" charset="-122"/>
              </a:rPr>
              <a:t>前 </a:t>
            </a:r>
            <a:r>
              <a:rPr lang="en-US" altLang="zh-CN" sz="1600" b="1" dirty="0">
                <a:solidFill>
                  <a:srgbClr val="C00000"/>
                </a:solidFill>
                <a:latin typeface="微软雅黑" panose="020B0503020204020204" pitchFamily="34" charset="-122"/>
                <a:ea typeface="微软雅黑" panose="020B0503020204020204" pitchFamily="34" charset="-122"/>
              </a:rPr>
              <a:t>n </a:t>
            </a:r>
            <a:r>
              <a:rPr lang="zh-CN" altLang="en-US" sz="1600" b="1" dirty="0">
                <a:solidFill>
                  <a:srgbClr val="C00000"/>
                </a:solidFill>
                <a:latin typeface="微软雅黑" panose="020B0503020204020204" pitchFamily="34" charset="-122"/>
                <a:ea typeface="微软雅黑" panose="020B0503020204020204" pitchFamily="34" charset="-122"/>
              </a:rPr>
              <a:t>位是网络前缀。</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例如：</a:t>
            </a: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r>
              <a:rPr lang="zh-CN" altLang="en-US" sz="1600" b="1" dirty="0">
                <a:latin typeface="微软雅黑" panose="020B0503020204020204" pitchFamily="34" charset="-122"/>
                <a:ea typeface="微软雅黑" panose="020B0503020204020204" pitchFamily="34" charset="-122"/>
              </a:rPr>
              <a:t>：前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位是网络前缀。</a:t>
            </a:r>
            <a:endParaRPr lang="en-US" altLang="zh-CN" sz="16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10996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400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5" name="Rectangle 68"/>
          <p:cNvSpPr>
            <a:spLocks noChangeArrowheads="1"/>
          </p:cNvSpPr>
          <p:nvPr/>
        </p:nvSpPr>
        <p:spPr bwMode="auto">
          <a:xfrm>
            <a:off x="556962" y="978646"/>
            <a:ext cx="8293739" cy="7756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6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把</a:t>
            </a:r>
            <a:r>
              <a:rPr lang="zh-CN" altLang="en-US" b="1" dirty="0">
                <a:solidFill>
                  <a:srgbClr val="C00000"/>
                </a:solidFill>
                <a:latin typeface="微软雅黑" pitchFamily="34" charset="-122"/>
                <a:ea typeface="微软雅黑" pitchFamily="34" charset="-122"/>
              </a:rPr>
              <a:t>网络前缀都相同的所有连续的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地址组成一个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a:t>
            </a:r>
            <a:endParaRPr lang="en-US" altLang="zh-CN" b="1" dirty="0">
              <a:latin typeface="微软雅黑" pitchFamily="34" charset="-122"/>
              <a:ea typeface="微软雅黑" pitchFamily="34" charset="-122"/>
            </a:endParaRPr>
          </a:p>
          <a:p>
            <a:pPr marL="268288" indent="-268288">
              <a:lnSpc>
                <a:spcPts val="2600"/>
              </a:lnSpc>
              <a:buClr>
                <a:srgbClr val="0070C0"/>
              </a:buClr>
              <a:buFont typeface="Wingdings" pitchFamily="2" charset="2"/>
              <a:buChar char="l"/>
            </a:pPr>
            <a:r>
              <a:rPr lang="zh-CN" altLang="en-US" b="1" dirty="0">
                <a:latin typeface="微软雅黑" pitchFamily="34" charset="-122"/>
                <a:ea typeface="微软雅黑" pitchFamily="34" charset="-122"/>
              </a:rPr>
              <a:t>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地址块包含的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地址数目，取决于网络前缀的位数。</a:t>
            </a:r>
          </a:p>
        </p:txBody>
      </p:sp>
      <p:sp>
        <p:nvSpPr>
          <p:cNvPr id="7" name="圆角矩形 6"/>
          <p:cNvSpPr/>
          <p:nvPr/>
        </p:nvSpPr>
        <p:spPr>
          <a:xfrm>
            <a:off x="1062404" y="1699402"/>
            <a:ext cx="6968787" cy="304512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sp>
        <p:nvSpPr>
          <p:cNvPr id="8" name="Text Box 155"/>
          <p:cNvSpPr txBox="1">
            <a:spLocks noChangeArrowheads="1"/>
          </p:cNvSpPr>
          <p:nvPr/>
        </p:nvSpPr>
        <p:spPr bwMode="auto">
          <a:xfrm>
            <a:off x="2257992" y="1656145"/>
            <a:ext cx="5019442" cy="344325"/>
          </a:xfrm>
          <a:prstGeom prst="rect">
            <a:avLst/>
          </a:prstGeom>
          <a:noFill/>
          <a:ln w="12700">
            <a:noFill/>
            <a:miter lim="800000"/>
            <a:headEnd/>
            <a:tailEnd/>
          </a:ln>
          <a:effectLst/>
        </p:spPr>
        <p:txBody>
          <a:bodyPr wrap="square">
            <a:spAutoFit/>
          </a:bodyPr>
          <a:lstStyle/>
          <a:p>
            <a:pPr algn="ctr">
              <a:lnSpc>
                <a:spcPct val="110000"/>
              </a:lnSpc>
            </a:pPr>
            <a:r>
              <a:rPr lang="en-US" altLang="zh-CN" sz="1600" b="1" dirty="0">
                <a:solidFill>
                  <a:srgbClr val="000099"/>
                </a:solidFill>
                <a:latin typeface="微软雅黑" pitchFamily="34" charset="-122"/>
                <a:ea typeface="微软雅黑" pitchFamily="34" charset="-122"/>
              </a:rPr>
              <a:t>128.14.32.0/20 </a:t>
            </a:r>
            <a:r>
              <a:rPr lang="zh-CN" altLang="en-US" sz="1600" b="1" dirty="0">
                <a:solidFill>
                  <a:srgbClr val="000099"/>
                </a:solidFill>
                <a:latin typeface="微软雅黑" pitchFamily="34" charset="-122"/>
                <a:ea typeface="微软雅黑" pitchFamily="34" charset="-122"/>
              </a:rPr>
              <a:t>组成的地址块（共 </a:t>
            </a:r>
            <a:r>
              <a:rPr lang="en-US" altLang="zh-CN" sz="1600" b="1" dirty="0">
                <a:solidFill>
                  <a:srgbClr val="000099"/>
                </a:solidFill>
                <a:latin typeface="微软雅黑" pitchFamily="34" charset="-122"/>
                <a:ea typeface="微软雅黑" pitchFamily="34" charset="-122"/>
              </a:rPr>
              <a:t>2</a:t>
            </a:r>
            <a:r>
              <a:rPr lang="en-US" altLang="zh-CN" sz="1600" b="1" baseline="30000" dirty="0">
                <a:solidFill>
                  <a:srgbClr val="000099"/>
                </a:solidFill>
                <a:latin typeface="微软雅黑" pitchFamily="34" charset="-122"/>
                <a:ea typeface="微软雅黑" pitchFamily="34" charset="-122"/>
              </a:rPr>
              <a:t>12 </a:t>
            </a:r>
            <a:r>
              <a:rPr lang="zh-CN" altLang="en-US" sz="1600" b="1" dirty="0">
                <a:solidFill>
                  <a:srgbClr val="000099"/>
                </a:solidFill>
                <a:latin typeface="微软雅黑" pitchFamily="34" charset="-122"/>
                <a:ea typeface="微软雅黑" pitchFamily="34" charset="-122"/>
              </a:rPr>
              <a:t>个地址）</a:t>
            </a:r>
          </a:p>
        </p:txBody>
      </p:sp>
      <p:sp>
        <p:nvSpPr>
          <p:cNvPr id="9" name="Text Box 3"/>
          <p:cNvSpPr txBox="1">
            <a:spLocks noChangeArrowheads="1"/>
          </p:cNvSpPr>
          <p:nvPr/>
        </p:nvSpPr>
        <p:spPr bwMode="auto">
          <a:xfrm>
            <a:off x="2972430" y="1990879"/>
            <a:ext cx="3418529" cy="2492990"/>
          </a:xfrm>
          <a:prstGeom prst="rect">
            <a:avLst/>
          </a:prstGeom>
          <a:solidFill>
            <a:schemeClr val="bg1"/>
          </a:solidFill>
          <a:ln w="9525">
            <a:solidFill>
              <a:schemeClr val="tx2"/>
            </a:solidFill>
            <a:miter lim="800000"/>
            <a:headEnd/>
            <a:tailEnd/>
          </a:ln>
          <a:effectLst/>
        </p:spPr>
        <p:txBody>
          <a:bodyPr wrap="square">
            <a:spAutoFit/>
          </a:bodyPr>
          <a:lstStyle/>
          <a:p>
            <a:r>
              <a:rPr kumimoji="0"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00 00000101</a:t>
            </a:r>
          </a:p>
          <a:p>
            <a:endParaRPr kumimoji="0" lang="en-US" altLang="zh-CN" sz="1200" b="1" dirty="0">
              <a:solidFill>
                <a:srgbClr val="0000CC"/>
              </a:solidFill>
              <a:latin typeface="微软雅黑" pitchFamily="34" charset="-122"/>
              <a:ea typeface="微软雅黑" pitchFamily="34" charset="-122"/>
            </a:endParaRPr>
          </a:p>
          <a:p>
            <a:endParaRPr kumimoji="0" lang="en-US" altLang="zh-CN" sz="1200" b="1" dirty="0">
              <a:solidFill>
                <a:srgbClr val="0000CC"/>
              </a:solidFill>
              <a:latin typeface="微软雅黑" pitchFamily="34" charset="-122"/>
              <a:ea typeface="微软雅黑" pitchFamily="34" charset="-122"/>
            </a:endParaRP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11 11111111</a:t>
            </a:r>
          </a:p>
        </p:txBody>
      </p:sp>
      <p:sp>
        <p:nvSpPr>
          <p:cNvPr id="10" name="Text Box 4"/>
          <p:cNvSpPr txBox="1">
            <a:spLocks noChangeArrowheads="1"/>
          </p:cNvSpPr>
          <p:nvPr/>
        </p:nvSpPr>
        <p:spPr bwMode="auto">
          <a:xfrm>
            <a:off x="5684430"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a:solidFill>
                  <a:srgbClr val="0000CC"/>
                </a:solidFill>
                <a:latin typeface="微软雅黑" pitchFamily="34" charset="-122"/>
                <a:ea typeface="微软雅黑" pitchFamily="34" charset="-122"/>
                <a:sym typeface="Symbol" pitchFamily="18" charset="2"/>
              </a:rPr>
              <a:t></a:t>
            </a:r>
          </a:p>
        </p:txBody>
      </p:sp>
      <p:sp>
        <p:nvSpPr>
          <p:cNvPr id="11" name="Text Box 5"/>
          <p:cNvSpPr txBox="1">
            <a:spLocks noChangeArrowheads="1"/>
          </p:cNvSpPr>
          <p:nvPr/>
        </p:nvSpPr>
        <p:spPr bwMode="auto">
          <a:xfrm>
            <a:off x="3918098"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dirty="0">
                <a:solidFill>
                  <a:srgbClr val="0000CC"/>
                </a:solidFill>
                <a:latin typeface="微软雅黑" pitchFamily="34" charset="-122"/>
                <a:ea typeface="微软雅黑" pitchFamily="34" charset="-122"/>
                <a:sym typeface="Symbol" pitchFamily="18" charset="2"/>
              </a:rPr>
              <a:t></a:t>
            </a:r>
          </a:p>
        </p:txBody>
      </p:sp>
      <p:sp>
        <p:nvSpPr>
          <p:cNvPr id="12" name="Rectangle 6"/>
          <p:cNvSpPr>
            <a:spLocks noChangeArrowheads="1"/>
          </p:cNvSpPr>
          <p:nvPr/>
        </p:nvSpPr>
        <p:spPr bwMode="auto">
          <a:xfrm>
            <a:off x="2985534" y="1984548"/>
            <a:ext cx="2078163" cy="2499322"/>
          </a:xfrm>
          <a:prstGeom prst="rect">
            <a:avLst/>
          </a:prstGeom>
          <a:noFill/>
          <a:ln w="38100">
            <a:solidFill>
              <a:srgbClr val="CC00CC">
                <a:alpha val="50000"/>
              </a:srgb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3" name="Text Box 7"/>
          <p:cNvSpPr txBox="1">
            <a:spLocks noChangeArrowheads="1"/>
          </p:cNvSpPr>
          <p:nvPr/>
        </p:nvSpPr>
        <p:spPr bwMode="auto">
          <a:xfrm>
            <a:off x="1887787" y="2764970"/>
            <a:ext cx="952159" cy="67633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115000"/>
              </a:lnSpc>
            </a:pPr>
            <a:r>
              <a:rPr kumimoji="0" lang="zh-CN" altLang="en-US" sz="1100" b="1" dirty="0">
                <a:solidFill>
                  <a:srgbClr val="0000CC"/>
                </a:solidFill>
                <a:latin typeface="微软雅黑" pitchFamily="34" charset="-122"/>
                <a:ea typeface="微软雅黑" pitchFamily="34" charset="-122"/>
              </a:rPr>
              <a:t>所有地址的 </a:t>
            </a:r>
            <a:r>
              <a:rPr kumimoji="0" lang="en-US" altLang="zh-CN" sz="1100" b="1" dirty="0">
                <a:solidFill>
                  <a:srgbClr val="0000CC"/>
                </a:solidFill>
                <a:latin typeface="微软雅黑" pitchFamily="34" charset="-122"/>
                <a:ea typeface="微软雅黑" pitchFamily="34" charset="-122"/>
              </a:rPr>
              <a:t>20 </a:t>
            </a:r>
            <a:r>
              <a:rPr kumimoji="0" lang="zh-CN" altLang="en-US" sz="1100" b="1" dirty="0">
                <a:solidFill>
                  <a:srgbClr val="0000CC"/>
                </a:solidFill>
                <a:latin typeface="微软雅黑" pitchFamily="34" charset="-122"/>
                <a:ea typeface="微软雅黑" pitchFamily="34" charset="-122"/>
              </a:rPr>
              <a:t>位前缀</a:t>
            </a:r>
            <a:endParaRPr kumimoji="0" lang="en-US" altLang="zh-CN" sz="1100" b="1" dirty="0">
              <a:solidFill>
                <a:srgbClr val="0000CC"/>
              </a:solidFill>
              <a:latin typeface="微软雅黑" pitchFamily="34" charset="-122"/>
              <a:ea typeface="微软雅黑" pitchFamily="34" charset="-122"/>
            </a:endParaRPr>
          </a:p>
          <a:p>
            <a:pPr algn="ctr">
              <a:lnSpc>
                <a:spcPct val="115000"/>
              </a:lnSpc>
            </a:pPr>
            <a:r>
              <a:rPr kumimoji="0" lang="zh-CN" altLang="en-US" sz="1100" b="1" dirty="0">
                <a:solidFill>
                  <a:srgbClr val="0000CC"/>
                </a:solidFill>
                <a:latin typeface="微软雅黑" pitchFamily="34" charset="-122"/>
                <a:ea typeface="微软雅黑" pitchFamily="34" charset="-122"/>
              </a:rPr>
              <a:t>都是一样的</a:t>
            </a:r>
          </a:p>
        </p:txBody>
      </p:sp>
      <p:grpSp>
        <p:nvGrpSpPr>
          <p:cNvPr id="14" name="组合 13"/>
          <p:cNvGrpSpPr/>
          <p:nvPr/>
        </p:nvGrpSpPr>
        <p:grpSpPr>
          <a:xfrm>
            <a:off x="1651815" y="1956697"/>
            <a:ext cx="1402974" cy="430887"/>
            <a:chOff x="1651824" y="1239870"/>
            <a:chExt cx="1402974" cy="430887"/>
          </a:xfrm>
        </p:grpSpPr>
        <p:sp>
          <p:nvSpPr>
            <p:cNvPr id="15" name="Text Box 9"/>
            <p:cNvSpPr txBox="1">
              <a:spLocks noChangeArrowheads="1"/>
            </p:cNvSpPr>
            <p:nvPr/>
          </p:nvSpPr>
          <p:spPr bwMode="auto">
            <a:xfrm>
              <a:off x="1651824" y="1239870"/>
              <a:ext cx="121235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最小地址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128.14.32.0</a:t>
              </a:r>
            </a:p>
          </p:txBody>
        </p:sp>
        <p:sp>
          <p:nvSpPr>
            <p:cNvPr id="16" name="AutoShape 10"/>
            <p:cNvSpPr>
              <a:spLocks noChangeArrowheads="1"/>
            </p:cNvSpPr>
            <p:nvPr/>
          </p:nvSpPr>
          <p:spPr bwMode="auto">
            <a:xfrm>
              <a:off x="2772185" y="1308664"/>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grpSp>
      <p:grpSp>
        <p:nvGrpSpPr>
          <p:cNvPr id="17" name="组合 16"/>
          <p:cNvGrpSpPr/>
          <p:nvPr/>
        </p:nvGrpSpPr>
        <p:grpSpPr>
          <a:xfrm>
            <a:off x="1451795" y="4138493"/>
            <a:ext cx="1591772" cy="430887"/>
            <a:chOff x="1451804" y="3766716"/>
            <a:chExt cx="1591772" cy="430887"/>
          </a:xfrm>
        </p:grpSpPr>
        <p:sp>
          <p:nvSpPr>
            <p:cNvPr id="18" name="AutoShape 10"/>
            <p:cNvSpPr>
              <a:spLocks noChangeArrowheads="1"/>
            </p:cNvSpPr>
            <p:nvPr/>
          </p:nvSpPr>
          <p:spPr bwMode="auto">
            <a:xfrm>
              <a:off x="2760963" y="3859443"/>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9" name="Text Box 12"/>
            <p:cNvSpPr txBox="1">
              <a:spLocks noChangeArrowheads="1"/>
            </p:cNvSpPr>
            <p:nvPr/>
          </p:nvSpPr>
          <p:spPr bwMode="auto">
            <a:xfrm>
              <a:off x="1451804" y="3766716"/>
              <a:ext cx="1437748"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最大地址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128.14.47.255</a:t>
              </a:r>
              <a:endParaRPr kumimoji="0" lang="zh-CN" altLang="en-US" sz="1100" b="1" dirty="0">
                <a:latin typeface="微软雅黑" pitchFamily="34" charset="-122"/>
                <a:ea typeface="微软雅黑" pitchFamily="34" charset="-122"/>
              </a:endParaRPr>
            </a:p>
          </p:txBody>
        </p:sp>
      </p:grpSp>
      <p:sp>
        <p:nvSpPr>
          <p:cNvPr id="21" name="矩形 20"/>
          <p:cNvSpPr/>
          <p:nvPr/>
        </p:nvSpPr>
        <p:spPr>
          <a:xfrm>
            <a:off x="6680550" y="2672252"/>
            <a:ext cx="1061049" cy="861774"/>
          </a:xfrm>
          <a:prstGeom prst="rect">
            <a:avLst/>
          </a:prstGeom>
          <a:solidFill>
            <a:srgbClr val="FFC000"/>
          </a:solidFill>
          <a:ln w="9525">
            <a:solidFill>
              <a:schemeClr val="tx1"/>
            </a:solidFill>
            <a:miter lim="800000"/>
            <a:headEnd/>
            <a:tailEnd/>
          </a:ln>
          <a:effectLst/>
        </p:spPr>
        <p:txBody>
          <a:bodyPr wrap="square">
            <a:spAutoFit/>
          </a:bodyPr>
          <a:lstStyle/>
          <a:p>
            <a:pPr algn="ctr">
              <a:lnSpc>
                <a:spcPts val="2000"/>
              </a:lnSpc>
            </a:pPr>
            <a:r>
              <a:rPr lang="zh-CN" altLang="en-US" sz="1400" b="1" dirty="0">
                <a:solidFill>
                  <a:srgbClr val="000099"/>
                </a:solidFill>
                <a:latin typeface="微软雅黑" pitchFamily="34" charset="-122"/>
                <a:ea typeface="微软雅黑" pitchFamily="34" charset="-122"/>
              </a:rPr>
              <a:t>可指派的地址数是</a:t>
            </a:r>
            <a:r>
              <a:rPr lang="en-US" altLang="zh-CN" sz="1400" b="1" dirty="0">
                <a:solidFill>
                  <a:srgbClr val="000099"/>
                </a:solidFill>
                <a:latin typeface="微软雅黑" pitchFamily="34" charset="-122"/>
                <a:ea typeface="微软雅黑" pitchFamily="34" charset="-122"/>
              </a:rPr>
              <a:t>2</a:t>
            </a:r>
            <a:r>
              <a:rPr lang="en-US" altLang="zh-CN" sz="1400" b="1" baseline="30000" dirty="0">
                <a:solidFill>
                  <a:srgbClr val="000099"/>
                </a:solidFill>
                <a:latin typeface="微软雅黑" pitchFamily="34" charset="-122"/>
                <a:ea typeface="微软雅黑" pitchFamily="34" charset="-122"/>
              </a:rPr>
              <a:t>12</a:t>
            </a:r>
            <a:r>
              <a:rPr lang="en-US" altLang="zh-CN" sz="1400" b="1" dirty="0">
                <a:solidFill>
                  <a:srgbClr val="000099"/>
                </a:solidFill>
                <a:latin typeface="微软雅黑" pitchFamily="34" charset="-122"/>
                <a:ea typeface="微软雅黑" pitchFamily="34" charset="-122"/>
              </a:rPr>
              <a:t> – 2 </a:t>
            </a:r>
            <a:r>
              <a:rPr lang="zh-CN" altLang="en-US" sz="1400" b="1" dirty="0">
                <a:solidFill>
                  <a:srgbClr val="000099"/>
                </a:solidFill>
                <a:latin typeface="微软雅黑" pitchFamily="34" charset="-122"/>
                <a:ea typeface="微软雅黑" pitchFamily="34" charset="-122"/>
              </a:rPr>
              <a:t>个</a:t>
            </a:r>
          </a:p>
        </p:txBody>
      </p:sp>
      <p:sp>
        <p:nvSpPr>
          <p:cNvPr id="25" name="矩形 24"/>
          <p:cNvSpPr/>
          <p:nvPr/>
        </p:nvSpPr>
        <p:spPr>
          <a:xfrm>
            <a:off x="2637965" y="4483869"/>
            <a:ext cx="4297673" cy="329321"/>
          </a:xfrm>
          <a:prstGeom prst="rect">
            <a:avLst/>
          </a:prstGeom>
          <a:noFill/>
          <a:ln w="12700">
            <a:noFill/>
            <a:miter lim="800000"/>
            <a:headEnd/>
            <a:tailEnd/>
          </a:ln>
          <a:effectLst/>
        </p:spPr>
        <p:txBody>
          <a:bodyPr wrap="square">
            <a:spAutoFit/>
          </a:bodyPr>
          <a:lstStyle/>
          <a:p>
            <a:pPr algn="ctr">
              <a:lnSpc>
                <a:spcPct val="110000"/>
              </a:lnSpc>
            </a:pPr>
            <a:r>
              <a:rPr lang="zh-CN" altLang="en-US" sz="1400" b="1" dirty="0">
                <a:solidFill>
                  <a:srgbClr val="000099"/>
                </a:solidFill>
                <a:latin typeface="微软雅黑" pitchFamily="34" charset="-122"/>
                <a:ea typeface="微软雅黑" pitchFamily="34" charset="-122"/>
              </a:rPr>
              <a:t>二进制代码表示：</a:t>
            </a:r>
            <a:r>
              <a:rPr lang="en-US" altLang="zh-CN" sz="1400" b="1" dirty="0">
                <a:solidFill>
                  <a:srgbClr val="000099"/>
                </a:solidFill>
                <a:latin typeface="微软雅黑" pitchFamily="34" charset="-122"/>
                <a:ea typeface="微软雅黑" pitchFamily="34" charset="-122"/>
              </a:rPr>
              <a:t>10000000 00001110 0010*</a:t>
            </a:r>
          </a:p>
        </p:txBody>
      </p:sp>
    </p:spTree>
    <p:extLst>
      <p:ext uri="{BB962C8B-B14F-4D97-AF65-F5344CB8AC3E}">
        <p14:creationId xmlns:p14="http://schemas.microsoft.com/office/powerpoint/2010/main" val="28517370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par>
                          <p:cTn id="9" fill="hold">
                            <p:stCondLst>
                              <p:cond delay="0"/>
                            </p:stCondLst>
                            <p:childTnLst>
                              <p:par>
                                <p:cTn id="10" presetID="35" presetClass="emph" presetSubtype="0" repeatCount="3000" fill="hold" grpId="1" nodeType="afterEffect">
                                  <p:stCondLst>
                                    <p:cond delay="0"/>
                                  </p:stCondLst>
                                  <p:childTnLst>
                                    <p:anim calcmode="discrete" valueType="str">
                                      <p:cBhvr>
                                        <p:cTn id="11" dur="1000" fill="hold"/>
                                        <p:tgtEl>
                                          <p:spTgt spid="13"/>
                                        </p:tgtEl>
                                        <p:attrNameLst>
                                          <p:attrName>style.visibility</p:attrName>
                                        </p:attrNameLst>
                                      </p:cBhvr>
                                      <p:tavLst>
                                        <p:tav tm="0">
                                          <p:val>
                                            <p:strVal val="hidden"/>
                                          </p:val>
                                        </p:tav>
                                        <p:tav tm="50000">
                                          <p:val>
                                            <p:strVal val="visible"/>
                                          </p:val>
                                        </p:tav>
                                      </p:tavLst>
                                    </p:anim>
                                  </p:childTnLst>
                                </p:cTn>
                              </p:par>
                              <p:par>
                                <p:cTn id="12" presetID="35" presetClass="emph" presetSubtype="0" repeatCount="3000" fill="hold" grpId="1" nodeType="withEffect">
                                  <p:stCondLst>
                                    <p:cond delay="0"/>
                                  </p:stCondLst>
                                  <p:childTnLst>
                                    <p:anim calcmode="discrete" valueType="str">
                                      <p:cBhvr>
                                        <p:cTn id="13"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childTnLst>
                                </p:cTn>
                              </p:par>
                            </p:childTnLst>
                          </p:cTn>
                        </p:par>
                        <p:par>
                          <p:cTn id="18" fill="hold">
                            <p:stCondLst>
                              <p:cond delay="0"/>
                            </p:stCondLst>
                            <p:childTnLst>
                              <p:par>
                                <p:cTn id="19" presetID="22" presetClass="entr" presetSubtype="8" fill="hold" nodeType="after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left)">
                                      <p:cBhvr>
                                        <p:cTn id="21" dur="250"/>
                                        <p:tgtEl>
                                          <p:spTgt spid="14"/>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par>
                          <p:cTn id="26" fill="hold">
                            <p:stCondLst>
                              <p:cond delay="0"/>
                            </p:stCondLst>
                            <p:childTnLst>
                              <p:par>
                                <p:cTn id="27" presetID="22" presetClass="entr" presetSubtype="8" fill="hold" nodeType="after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left)">
                                      <p:cBhvr>
                                        <p:cTn id="29" dur="250"/>
                                        <p:tgtEl>
                                          <p:spTgt spid="1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repeatCount="3000" fill="hold" grpId="0"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P spid="13" grpId="0" animBg="1"/>
      <p:bldP spid="13" grpId="1" animBg="1"/>
      <p:bldP spid="21" grpId="0" animBg="1"/>
      <p:bldP spid="25"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4" name="矩形 3"/>
          <p:cNvSpPr/>
          <p:nvPr/>
        </p:nvSpPr>
        <p:spPr>
          <a:xfrm>
            <a:off x="735680" y="1104288"/>
            <a:ext cx="877163" cy="369332"/>
          </a:xfrm>
          <a:prstGeom prst="rect">
            <a:avLst/>
          </a:prstGeom>
          <a:solidFill>
            <a:srgbClr val="FFC000"/>
          </a:solidFill>
        </p:spPr>
        <p:txBody>
          <a:bodyPr wrap="none">
            <a:spAutoFit/>
          </a:bodyPr>
          <a:lstStyle/>
          <a:p>
            <a:r>
              <a:rPr lang="zh-CN" altLang="en-US" b="1" dirty="0">
                <a:latin typeface="微软雅黑" panose="020B0503020204020204" pitchFamily="34" charset="-122"/>
                <a:ea typeface="微软雅黑" panose="020B0503020204020204" pitchFamily="34" charset="-122"/>
              </a:rPr>
              <a:t>注意：</a:t>
            </a:r>
          </a:p>
        </p:txBody>
      </p:sp>
      <p:graphicFrame>
        <p:nvGraphicFramePr>
          <p:cNvPr id="7" name="表格 6"/>
          <p:cNvGraphicFramePr>
            <a:graphicFrameLocks noGrp="1"/>
          </p:cNvGraphicFramePr>
          <p:nvPr>
            <p:extLst>
              <p:ext uri="{D42A27DB-BD31-4B8C-83A1-F6EECF244321}">
                <p14:modId xmlns:p14="http://schemas.microsoft.com/office/powerpoint/2010/main" val="2259888652"/>
              </p:ext>
            </p:extLst>
          </p:nvPr>
        </p:nvGraphicFramePr>
        <p:xfrm>
          <a:off x="735680" y="1530239"/>
          <a:ext cx="7537052" cy="2377526"/>
        </p:xfrm>
        <a:graphic>
          <a:graphicData uri="http://schemas.openxmlformats.org/drawingml/2006/table">
            <a:tbl>
              <a:tblPr bandRow="1">
                <a:tableStyleId>{0505E3EF-67EA-436B-97B2-0124C06EBD24}</a:tableStyleId>
              </a:tblPr>
              <a:tblGrid>
                <a:gridCol w="2171422">
                  <a:extLst>
                    <a:ext uri="{9D8B030D-6E8A-4147-A177-3AD203B41FA5}">
                      <a16:colId xmlns:a16="http://schemas.microsoft.com/office/drawing/2014/main" val="3280350879"/>
                    </a:ext>
                  </a:extLst>
                </a:gridCol>
                <a:gridCol w="5365630">
                  <a:extLst>
                    <a:ext uri="{9D8B030D-6E8A-4147-A177-3AD203B41FA5}">
                      <a16:colId xmlns:a16="http://schemas.microsoft.com/office/drawing/2014/main" val="1919485736"/>
                    </a:ext>
                  </a:extLst>
                </a:gridCol>
              </a:tblGrid>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地址，同时指明了网络前缀为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a:t>
                      </a:r>
                      <a:endParaRPr lang="en-US" altLang="zh-CN" sz="1600" b="1" dirty="0">
                        <a:latin typeface="微软雅黑" panose="020B0503020204020204" pitchFamily="34" charset="-122"/>
                        <a:ea typeface="微软雅黑" panose="020B0503020204020204" pitchFamily="34" charset="-122"/>
                      </a:endParaRPr>
                    </a:p>
                    <a:p>
                      <a:pPr>
                        <a:lnSpc>
                          <a:spcPts val="2200"/>
                        </a:lnSpc>
                      </a:pPr>
                      <a:r>
                        <a:rPr lang="zh-CN" altLang="en-US" sz="1600" b="1" dirty="0">
                          <a:latin typeface="微软雅黑" panose="020B0503020204020204" pitchFamily="34" charset="-122"/>
                          <a:ea typeface="微软雅黑" panose="020B0503020204020204" pitchFamily="34" charset="-122"/>
                        </a:rPr>
                        <a:t>该地址是 </a:t>
                      </a:r>
                      <a:r>
                        <a:rPr lang="en-US" altLang="zh-CN" sz="1600" b="1" dirty="0">
                          <a:latin typeface="微软雅黑" panose="020B0503020204020204" pitchFamily="34" charset="-122"/>
                          <a:ea typeface="微软雅黑" panose="020B0503020204020204" pitchFamily="34" charset="-122"/>
                        </a:rPr>
                        <a:t>128.14.32.0/20 </a:t>
                      </a:r>
                      <a:r>
                        <a:rPr lang="zh-CN" altLang="en-US" sz="1600" b="1" dirty="0">
                          <a:latin typeface="微软雅黑" panose="020B0503020204020204" pitchFamily="34" charset="-122"/>
                          <a:ea typeface="微软雅黑" panose="020B0503020204020204" pitchFamily="34" charset="-122"/>
                        </a:rPr>
                        <a:t>地址块中的一个地址。</a:t>
                      </a:r>
                    </a:p>
                  </a:txBody>
                  <a:tcPr anchor="ctr"/>
                </a:tc>
                <a:extLst>
                  <a:ext uri="{0D108BD9-81ED-4DB2-BD59-A6C34878D82A}">
                    <a16:rowId xmlns:a16="http://schemas.microsoft.com/office/drawing/2014/main" val="1024444491"/>
                  </a:ext>
                </a:extLst>
              </a:tr>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是包含有多个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地址的地址块，同时也是这个地址块中主机号为全 </a:t>
                      </a:r>
                      <a:r>
                        <a:rPr lang="en-US" altLang="zh-CN" sz="1600" b="1" dirty="0">
                          <a:latin typeface="微软雅黑" panose="020B0503020204020204" pitchFamily="34" charset="-122"/>
                          <a:ea typeface="微软雅黑" panose="020B0503020204020204" pitchFamily="34" charset="-122"/>
                        </a:rPr>
                        <a:t>0 </a:t>
                      </a:r>
                      <a:r>
                        <a:rPr lang="zh-CN" altLang="en-US" sz="1600" b="1" dirty="0">
                          <a:latin typeface="微软雅黑" panose="020B0503020204020204" pitchFamily="34" charset="-122"/>
                          <a:ea typeface="微软雅黑" panose="020B0503020204020204" pitchFamily="34" charset="-122"/>
                        </a:rPr>
                        <a:t>的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extLst>
                  <a:ext uri="{0D108BD9-81ED-4DB2-BD59-A6C34878D82A}">
                    <a16:rowId xmlns:a16="http://schemas.microsoft.com/office/drawing/2014/main" val="178982981"/>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地址，但未指明网络前缀长度，不知道其网络地址。</a:t>
                      </a:r>
                    </a:p>
                  </a:txBody>
                  <a:tcPr anchor="ctr"/>
                </a:tc>
                <a:extLst>
                  <a:ext uri="{0D108BD9-81ED-4DB2-BD59-A6C34878D82A}">
                    <a16:rowId xmlns:a16="http://schemas.microsoft.com/office/drawing/2014/main" val="406556459"/>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不能指明一个网络地址，因为无法知道网络前缀是多少。</a:t>
                      </a:r>
                    </a:p>
                  </a:txBody>
                  <a:tcPr anchor="ctr"/>
                </a:tc>
                <a:extLst>
                  <a:ext uri="{0D108BD9-81ED-4DB2-BD59-A6C34878D82A}">
                    <a16:rowId xmlns:a16="http://schemas.microsoft.com/office/drawing/2014/main" val="1768652690"/>
                  </a:ext>
                </a:extLst>
              </a:tr>
            </a:tbl>
          </a:graphicData>
        </a:graphic>
      </p:graphicFrame>
    </p:spTree>
    <p:extLst>
      <p:ext uri="{BB962C8B-B14F-4D97-AF65-F5344CB8AC3E}">
        <p14:creationId xmlns:p14="http://schemas.microsoft.com/office/powerpoint/2010/main" val="224653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744794" y="581433"/>
            <a:ext cx="36731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地址掩码 </a:t>
            </a:r>
            <a:r>
              <a:rPr lang="en-US" altLang="zh-CN" sz="2000" b="1" dirty="0">
                <a:solidFill>
                  <a:schemeClr val="bg1"/>
                </a:solidFill>
                <a:latin typeface="微软雅黑" pitchFamily="34" charset="-122"/>
                <a:ea typeface="微软雅黑" pitchFamily="34" charset="-122"/>
              </a:rPr>
              <a:t>(address mask)</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2" y="978646"/>
            <a:ext cx="8423135"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又称为</a:t>
            </a:r>
            <a:r>
              <a:rPr lang="zh-CN" altLang="en-US" sz="2000" b="1" dirty="0">
                <a:solidFill>
                  <a:srgbClr val="0000FF"/>
                </a:solidFill>
                <a:latin typeface="微软雅黑" pitchFamily="34" charset="-122"/>
                <a:ea typeface="微软雅黑" pitchFamily="34" charset="-122"/>
              </a:rPr>
              <a:t>子网掩码 </a:t>
            </a:r>
            <a:r>
              <a:rPr lang="en-US" altLang="zh-CN" sz="2000" b="1" dirty="0">
                <a:latin typeface="微软雅黑" pitchFamily="34" charset="-122"/>
                <a:ea typeface="微软雅黑" pitchFamily="34" charset="-122"/>
              </a:rPr>
              <a:t>(subnet mask)</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位数：</a:t>
            </a:r>
            <a:r>
              <a:rPr lang="en-US" altLang="zh-CN" sz="2000" b="1" dirty="0">
                <a:solidFill>
                  <a:srgbClr val="C00000"/>
                </a:solidFill>
                <a:latin typeface="微软雅黑" pitchFamily="34" charset="-122"/>
                <a:ea typeface="微软雅黑" pitchFamily="34" charset="-122"/>
              </a:rPr>
              <a:t>32 </a:t>
            </a:r>
            <a:r>
              <a:rPr lang="zh-CN" altLang="en-US" sz="2000" b="1" dirty="0">
                <a:solidFill>
                  <a:srgbClr val="C00000"/>
                </a:solidFill>
                <a:latin typeface="微软雅黑" pitchFamily="34" charset="-122"/>
                <a:ea typeface="微软雅黑" pitchFamily="34" charset="-122"/>
              </a:rPr>
              <a:t>位。</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目的：让机器从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地址迅速算出网络地址。</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由一连串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和接着的一连串 </a:t>
            </a:r>
            <a:r>
              <a:rPr lang="en-US" altLang="zh-CN" sz="2000" b="1" dirty="0">
                <a:latin typeface="微软雅黑" pitchFamily="34" charset="-122"/>
                <a:ea typeface="微软雅黑" pitchFamily="34" charset="-122"/>
              </a:rPr>
              <a:t>0 </a:t>
            </a:r>
            <a:r>
              <a:rPr lang="zh-CN" altLang="en-US" sz="2000" b="1" dirty="0">
                <a:latin typeface="微软雅黑" pitchFamily="34" charset="-122"/>
                <a:ea typeface="微软雅黑" pitchFamily="34" charset="-122"/>
              </a:rPr>
              <a:t>组成，</a:t>
            </a:r>
            <a:r>
              <a:rPr lang="zh-CN" altLang="en-US" sz="2000" b="1" dirty="0">
                <a:solidFill>
                  <a:srgbClr val="C00000"/>
                </a:solidFill>
                <a:latin typeface="微软雅黑" pitchFamily="34" charset="-122"/>
                <a:ea typeface="微软雅黑" pitchFamily="34" charset="-122"/>
              </a:rPr>
              <a:t>而 </a:t>
            </a:r>
            <a:r>
              <a:rPr lang="en-US" altLang="zh-CN" sz="2000" b="1" dirty="0">
                <a:solidFill>
                  <a:srgbClr val="C00000"/>
                </a:solidFill>
                <a:latin typeface="微软雅黑" pitchFamily="34" charset="-122"/>
                <a:ea typeface="微软雅黑" pitchFamily="34" charset="-122"/>
              </a:rPr>
              <a:t>1 </a:t>
            </a:r>
            <a:r>
              <a:rPr lang="zh-CN" altLang="en-US" sz="2000" b="1" dirty="0">
                <a:solidFill>
                  <a:srgbClr val="C00000"/>
                </a:solidFill>
                <a:latin typeface="微软雅黑" pitchFamily="34" charset="-122"/>
                <a:ea typeface="微软雅黑" pitchFamily="34" charset="-122"/>
              </a:rPr>
              <a:t>的个数就是网络前缀的长度。</a:t>
            </a:r>
          </a:p>
        </p:txBody>
      </p:sp>
      <p:sp>
        <p:nvSpPr>
          <p:cNvPr id="5" name="矩形 4"/>
          <p:cNvSpPr/>
          <p:nvPr/>
        </p:nvSpPr>
        <p:spPr>
          <a:xfrm>
            <a:off x="698743" y="2773842"/>
            <a:ext cx="7686135" cy="1169551"/>
          </a:xfrm>
          <a:prstGeom prst="rect">
            <a:avLst/>
          </a:prstGeom>
          <a:solidFill>
            <a:srgbClr val="33CCFF"/>
          </a:solidFill>
        </p:spPr>
        <p:txBody>
          <a:bodyPr wrap="square">
            <a:spAutoFit/>
          </a:bodyPr>
          <a:lstStyle/>
          <a:p>
            <a:pPr>
              <a:lnSpc>
                <a:spcPts val="2800"/>
              </a:lnSpc>
            </a:pPr>
            <a:r>
              <a:rPr lang="en-US" altLang="zh-CN" b="1" dirty="0">
                <a:solidFill>
                  <a:srgbClr val="C00000"/>
                </a:solidFill>
                <a:latin typeface="微软雅黑" panose="020B0503020204020204" pitchFamily="34" charset="-122"/>
                <a:ea typeface="微软雅黑" panose="020B0503020204020204" pitchFamily="34" charset="-122"/>
              </a:rPr>
              <a:t>/20 </a:t>
            </a:r>
            <a:r>
              <a:rPr lang="zh-CN" altLang="en-US" b="1" dirty="0">
                <a:latin typeface="微软雅黑" panose="020B0503020204020204" pitchFamily="34" charset="-122"/>
                <a:ea typeface="微软雅黑" panose="020B0503020204020204" pitchFamily="34" charset="-122"/>
              </a:rPr>
              <a:t>地址块的地址掩码：</a:t>
            </a:r>
            <a:r>
              <a:rPr lang="en-US" altLang="zh-CN" b="1" dirty="0">
                <a:latin typeface="微软雅黑" panose="020B0503020204020204" pitchFamily="34" charset="-122"/>
                <a:ea typeface="微软雅黑" panose="020B0503020204020204" pitchFamily="34" charset="-122"/>
              </a:rPr>
              <a:t>11111111 11111111 11110000 00000000</a:t>
            </a:r>
          </a:p>
          <a:p>
            <a:pPr>
              <a:lnSpc>
                <a:spcPts val="2800"/>
              </a:lnSpc>
            </a:pPr>
            <a:r>
              <a:rPr lang="zh-CN" altLang="en-US" b="1" dirty="0">
                <a:latin typeface="微软雅黑" panose="020B0503020204020204" pitchFamily="34" charset="-122"/>
                <a:ea typeface="微软雅黑" panose="020B0503020204020204" pitchFamily="34" charset="-122"/>
              </a:rPr>
              <a:t>点分十进制记法：</a:t>
            </a:r>
            <a:r>
              <a:rPr lang="en-US" altLang="zh-CN" b="1" dirty="0">
                <a:latin typeface="微软雅黑" panose="020B0503020204020204" pitchFamily="34" charset="-122"/>
                <a:ea typeface="微软雅黑" panose="020B0503020204020204" pitchFamily="34" charset="-122"/>
              </a:rPr>
              <a:t>255.255.240.0</a:t>
            </a:r>
          </a:p>
          <a:p>
            <a:pPr>
              <a:lnSpc>
                <a:spcPts val="2800"/>
              </a:lnSpc>
            </a:pPr>
            <a:r>
              <a:rPr lang="en-US" altLang="zh-CN" b="1" dirty="0">
                <a:latin typeface="微软雅黑" panose="020B0503020204020204" pitchFamily="34" charset="-122"/>
                <a:ea typeface="微软雅黑" panose="020B0503020204020204" pitchFamily="34" charset="-122"/>
              </a:rPr>
              <a:t>       CIDR </a:t>
            </a:r>
            <a:r>
              <a:rPr lang="zh-CN" altLang="en-US" b="1" dirty="0">
                <a:latin typeface="微软雅黑" panose="020B0503020204020204" pitchFamily="34" charset="-122"/>
                <a:ea typeface="微软雅黑" panose="020B0503020204020204" pitchFamily="34" charset="-122"/>
              </a:rPr>
              <a:t>记法：</a:t>
            </a:r>
            <a:r>
              <a:rPr lang="en-US" altLang="zh-CN" b="1" dirty="0">
                <a:latin typeface="微软雅黑" panose="020B0503020204020204" pitchFamily="34" charset="-122"/>
                <a:ea typeface="微软雅黑" panose="020B0503020204020204" pitchFamily="34" charset="-122"/>
              </a:rPr>
              <a:t>255.255.240.0/20</a:t>
            </a:r>
            <a:r>
              <a:rPr lang="zh-CN" altLang="en-US" b="1" dirty="0">
                <a:latin typeface="微软雅黑" panose="020B0503020204020204" pitchFamily="34" charset="-122"/>
                <a:ea typeface="微软雅黑" panose="020B0503020204020204" pitchFamily="34" charset="-122"/>
              </a:rPr>
              <a:t>。</a:t>
            </a:r>
          </a:p>
        </p:txBody>
      </p:sp>
    </p:spTree>
    <p:extLst>
      <p:ext uri="{BB962C8B-B14F-4D97-AF65-F5344CB8AC3E}">
        <p14:creationId xmlns:p14="http://schemas.microsoft.com/office/powerpoint/2010/main" val="22628804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1723549" cy="400110"/>
          </a:xfrm>
          <a:prstGeom prst="rect">
            <a:avLst/>
          </a:prstGeom>
        </p:spPr>
        <p:txBody>
          <a:bodyPr wrap="none">
            <a:spAutoFit/>
          </a:bodyPr>
          <a:lstStyle/>
          <a:p>
            <a:r>
              <a:rPr lang="zh-CN" altLang="en-US" sz="2000" b="1" dirty="0">
                <a:latin typeface="微软雅黑" pitchFamily="34" charset="-122"/>
                <a:ea typeface="微软雅黑" pitchFamily="34" charset="-122"/>
              </a:rPr>
              <a:t>默认地址掩码</a:t>
            </a:r>
          </a:p>
        </p:txBody>
      </p:sp>
      <p:sp>
        <p:nvSpPr>
          <p:cNvPr id="73" name="Rectangle 2"/>
          <p:cNvSpPr>
            <a:spLocks noChangeArrowheads="1"/>
          </p:cNvSpPr>
          <p:nvPr/>
        </p:nvSpPr>
        <p:spPr bwMode="auto">
          <a:xfrm>
            <a:off x="1578634" y="1135078"/>
            <a:ext cx="5798097" cy="3137965"/>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Rectangle 54"/>
          <p:cNvSpPr>
            <a:spLocks noChangeArrowheads="1"/>
          </p:cNvSpPr>
          <p:nvPr/>
        </p:nvSpPr>
        <p:spPr bwMode="auto">
          <a:xfrm>
            <a:off x="6230843" y="3824348"/>
            <a:ext cx="1046391" cy="302025"/>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Rectangle 35"/>
          <p:cNvSpPr>
            <a:spLocks noChangeArrowheads="1"/>
          </p:cNvSpPr>
          <p:nvPr/>
        </p:nvSpPr>
        <p:spPr bwMode="auto">
          <a:xfrm>
            <a:off x="3150211" y="3832068"/>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Rectangle 39"/>
          <p:cNvSpPr>
            <a:spLocks noChangeArrowheads="1"/>
          </p:cNvSpPr>
          <p:nvPr/>
        </p:nvSpPr>
        <p:spPr bwMode="auto">
          <a:xfrm>
            <a:off x="3094084" y="3858121"/>
            <a:ext cx="3218831"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1 1 1 1 1 1 1 1 1 1 1 1 1 1 1 1 1 1 1 1 1 1 1 1</a:t>
            </a:r>
          </a:p>
        </p:txBody>
      </p:sp>
      <p:sp>
        <p:nvSpPr>
          <p:cNvPr id="64" name="Rectangle 44"/>
          <p:cNvSpPr>
            <a:spLocks noChangeArrowheads="1"/>
          </p:cNvSpPr>
          <p:nvPr/>
        </p:nvSpPr>
        <p:spPr bwMode="auto">
          <a:xfrm>
            <a:off x="6171142" y="3858121"/>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a:t>
            </a:r>
          </a:p>
        </p:txBody>
      </p:sp>
      <p:sp>
        <p:nvSpPr>
          <p:cNvPr id="65" name="Rectangle 53"/>
          <p:cNvSpPr>
            <a:spLocks noChangeArrowheads="1"/>
          </p:cNvSpPr>
          <p:nvPr/>
        </p:nvSpPr>
        <p:spPr bwMode="auto">
          <a:xfrm>
            <a:off x="5175044" y="2760027"/>
            <a:ext cx="2100099"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Rectangle 42"/>
          <p:cNvSpPr>
            <a:spLocks noChangeArrowheads="1"/>
          </p:cNvSpPr>
          <p:nvPr/>
        </p:nvSpPr>
        <p:spPr bwMode="auto">
          <a:xfrm>
            <a:off x="5151930" y="2784150"/>
            <a:ext cx="2192909"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0 0 0 0 0 0 0 0 0 0 0 0 0 0 0 0</a:t>
            </a:r>
          </a:p>
        </p:txBody>
      </p:sp>
      <p:sp>
        <p:nvSpPr>
          <p:cNvPr id="67" name="Rectangle 29"/>
          <p:cNvSpPr>
            <a:spLocks noChangeArrowheads="1"/>
          </p:cNvSpPr>
          <p:nvPr/>
        </p:nvSpPr>
        <p:spPr bwMode="auto">
          <a:xfrm>
            <a:off x="3154393" y="2763886"/>
            <a:ext cx="2024833"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Rectangle 41"/>
          <p:cNvSpPr>
            <a:spLocks noChangeArrowheads="1"/>
          </p:cNvSpPr>
          <p:nvPr/>
        </p:nvSpPr>
        <p:spPr bwMode="auto">
          <a:xfrm>
            <a:off x="3087967" y="2784150"/>
            <a:ext cx="2192909"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a:t>
            </a:r>
          </a:p>
        </p:txBody>
      </p:sp>
      <p:sp>
        <p:nvSpPr>
          <p:cNvPr id="69" name="Rectangle 19"/>
          <p:cNvSpPr>
            <a:spLocks noChangeArrowheads="1"/>
          </p:cNvSpPr>
          <p:nvPr/>
        </p:nvSpPr>
        <p:spPr bwMode="auto">
          <a:xfrm>
            <a:off x="3154393" y="1695705"/>
            <a:ext cx="1055799"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Rectangle 52"/>
          <p:cNvSpPr>
            <a:spLocks noChangeArrowheads="1"/>
          </p:cNvSpPr>
          <p:nvPr/>
        </p:nvSpPr>
        <p:spPr bwMode="auto">
          <a:xfrm>
            <a:off x="4196602" y="1696670"/>
            <a:ext cx="3075405"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Rectangle 43"/>
          <p:cNvSpPr>
            <a:spLocks noChangeArrowheads="1"/>
          </p:cNvSpPr>
          <p:nvPr/>
        </p:nvSpPr>
        <p:spPr bwMode="auto">
          <a:xfrm>
            <a:off x="3096330" y="1725618"/>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a:t>
            </a:r>
          </a:p>
        </p:txBody>
      </p:sp>
      <p:sp>
        <p:nvSpPr>
          <p:cNvPr id="72" name="Rectangle 40"/>
          <p:cNvSpPr>
            <a:spLocks noChangeArrowheads="1"/>
          </p:cNvSpPr>
          <p:nvPr/>
        </p:nvSpPr>
        <p:spPr bwMode="auto">
          <a:xfrm>
            <a:off x="4151535" y="1725618"/>
            <a:ext cx="3218831" cy="259045"/>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0 0 0 0 0 0 0 0 0 0 0 0 0 0 0 0 0 0 0 0 0 0 0 0</a:t>
            </a:r>
          </a:p>
        </p:txBody>
      </p:sp>
      <p:sp>
        <p:nvSpPr>
          <p:cNvPr id="74" name="Rectangle 3"/>
          <p:cNvSpPr>
            <a:spLocks noChangeArrowheads="1"/>
          </p:cNvSpPr>
          <p:nvPr/>
        </p:nvSpPr>
        <p:spPr bwMode="auto">
          <a:xfrm>
            <a:off x="3152302" y="3347671"/>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5" name="Rectangle 4"/>
          <p:cNvSpPr>
            <a:spLocks noChangeArrowheads="1"/>
          </p:cNvSpPr>
          <p:nvPr/>
        </p:nvSpPr>
        <p:spPr bwMode="auto">
          <a:xfrm>
            <a:off x="4385888" y="336021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76" name="Line 5"/>
          <p:cNvSpPr>
            <a:spLocks noChangeShapeType="1"/>
          </p:cNvSpPr>
          <p:nvPr/>
        </p:nvSpPr>
        <p:spPr bwMode="auto">
          <a:xfrm>
            <a:off x="6237115" y="3338022"/>
            <a:ext cx="0" cy="30781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7" name="Rectangle 6"/>
          <p:cNvSpPr>
            <a:spLocks noChangeArrowheads="1"/>
          </p:cNvSpPr>
          <p:nvPr/>
        </p:nvSpPr>
        <p:spPr bwMode="auto">
          <a:xfrm>
            <a:off x="3149166" y="3339952"/>
            <a:ext cx="4133295"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8" name="Rectangle 7"/>
          <p:cNvSpPr>
            <a:spLocks noChangeArrowheads="1"/>
          </p:cNvSpPr>
          <p:nvPr/>
        </p:nvSpPr>
        <p:spPr bwMode="auto">
          <a:xfrm>
            <a:off x="3155437" y="1251835"/>
            <a:ext cx="1033847"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9" name="Rectangle 8"/>
          <p:cNvSpPr>
            <a:spLocks noChangeArrowheads="1"/>
          </p:cNvSpPr>
          <p:nvPr/>
        </p:nvSpPr>
        <p:spPr bwMode="auto">
          <a:xfrm>
            <a:off x="4211236" y="1248940"/>
            <a:ext cx="3060771" cy="307814"/>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Rectangle 9"/>
          <p:cNvSpPr>
            <a:spLocks noChangeArrowheads="1"/>
          </p:cNvSpPr>
          <p:nvPr/>
        </p:nvSpPr>
        <p:spPr bwMode="auto">
          <a:xfrm>
            <a:off x="3371834" y="1261733"/>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1" name="Rectangle 10"/>
          <p:cNvSpPr>
            <a:spLocks noChangeArrowheads="1"/>
          </p:cNvSpPr>
          <p:nvPr/>
        </p:nvSpPr>
        <p:spPr bwMode="auto">
          <a:xfrm>
            <a:off x="5348351" y="1261733"/>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82" name="Line 11"/>
          <p:cNvSpPr>
            <a:spLocks noChangeShapeType="1"/>
          </p:cNvSpPr>
          <p:nvPr/>
        </p:nvSpPr>
        <p:spPr bwMode="auto">
          <a:xfrm>
            <a:off x="4198692" y="1248940"/>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12"/>
          <p:cNvSpPr>
            <a:spLocks noChangeArrowheads="1"/>
          </p:cNvSpPr>
          <p:nvPr/>
        </p:nvSpPr>
        <p:spPr bwMode="auto">
          <a:xfrm>
            <a:off x="3150211" y="1243151"/>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4" name="Rectangle 13"/>
          <p:cNvSpPr>
            <a:spLocks noChangeArrowheads="1"/>
          </p:cNvSpPr>
          <p:nvPr/>
        </p:nvSpPr>
        <p:spPr bwMode="auto">
          <a:xfrm>
            <a:off x="3152302" y="2291069"/>
            <a:ext cx="2026924"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Rectangle 14"/>
          <p:cNvSpPr>
            <a:spLocks noChangeArrowheads="1"/>
          </p:cNvSpPr>
          <p:nvPr/>
        </p:nvSpPr>
        <p:spPr bwMode="auto">
          <a:xfrm>
            <a:off x="3868376" y="230482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6" name="Line 15"/>
          <p:cNvSpPr>
            <a:spLocks noChangeShapeType="1"/>
          </p:cNvSpPr>
          <p:nvPr/>
        </p:nvSpPr>
        <p:spPr bwMode="auto">
          <a:xfrm>
            <a:off x="5191770" y="2288174"/>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Rectangle 16"/>
          <p:cNvSpPr>
            <a:spLocks noChangeArrowheads="1"/>
          </p:cNvSpPr>
          <p:nvPr/>
        </p:nvSpPr>
        <p:spPr bwMode="auto">
          <a:xfrm>
            <a:off x="3148120" y="2282384"/>
            <a:ext cx="4134340"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Rectangle 18"/>
          <p:cNvSpPr>
            <a:spLocks noChangeArrowheads="1"/>
          </p:cNvSpPr>
          <p:nvPr/>
        </p:nvSpPr>
        <p:spPr bwMode="auto">
          <a:xfrm>
            <a:off x="6243387" y="3347670"/>
            <a:ext cx="1033848" cy="303383"/>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Rectangle 21"/>
          <p:cNvSpPr>
            <a:spLocks noChangeArrowheads="1"/>
          </p:cNvSpPr>
          <p:nvPr/>
        </p:nvSpPr>
        <p:spPr bwMode="auto">
          <a:xfrm>
            <a:off x="3149166" y="1687020"/>
            <a:ext cx="4135386" cy="315533"/>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Text Box 23"/>
          <p:cNvSpPr txBox="1">
            <a:spLocks noChangeArrowheads="1"/>
          </p:cNvSpPr>
          <p:nvPr/>
        </p:nvSpPr>
        <p:spPr bwMode="auto">
          <a:xfrm>
            <a:off x="1612692" y="1276427"/>
            <a:ext cx="346570"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A</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2" name="Rectangle 24"/>
          <p:cNvSpPr>
            <a:spLocks noChangeArrowheads="1"/>
          </p:cNvSpPr>
          <p:nvPr/>
        </p:nvSpPr>
        <p:spPr bwMode="auto">
          <a:xfrm>
            <a:off x="2049347" y="1635148"/>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255.0.0.0</a:t>
            </a:r>
          </a:p>
        </p:txBody>
      </p:sp>
      <p:sp>
        <p:nvSpPr>
          <p:cNvPr id="94" name="Text Box 26"/>
          <p:cNvSpPr txBox="1">
            <a:spLocks noChangeArrowheads="1"/>
          </p:cNvSpPr>
          <p:nvPr/>
        </p:nvSpPr>
        <p:spPr bwMode="auto">
          <a:xfrm>
            <a:off x="1618267" y="2288486"/>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B</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5" name="Rectangle 27"/>
          <p:cNvSpPr>
            <a:spLocks noChangeArrowheads="1"/>
          </p:cNvSpPr>
          <p:nvPr/>
        </p:nvSpPr>
        <p:spPr bwMode="auto">
          <a:xfrm>
            <a:off x="2049347" y="2705932"/>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255.255.0.0</a:t>
            </a:r>
          </a:p>
        </p:txBody>
      </p:sp>
      <p:sp>
        <p:nvSpPr>
          <p:cNvPr id="96" name="Rectangle 31"/>
          <p:cNvSpPr>
            <a:spLocks noChangeArrowheads="1"/>
          </p:cNvSpPr>
          <p:nvPr/>
        </p:nvSpPr>
        <p:spPr bwMode="auto">
          <a:xfrm>
            <a:off x="3149166" y="2755202"/>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Text Box 33"/>
          <p:cNvSpPr txBox="1">
            <a:spLocks noChangeArrowheads="1"/>
          </p:cNvSpPr>
          <p:nvPr/>
        </p:nvSpPr>
        <p:spPr bwMode="auto">
          <a:xfrm>
            <a:off x="1618267" y="3366878"/>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C</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9" name="Rectangle 34"/>
          <p:cNvSpPr>
            <a:spLocks noChangeArrowheads="1"/>
          </p:cNvSpPr>
          <p:nvPr/>
        </p:nvSpPr>
        <p:spPr bwMode="auto">
          <a:xfrm>
            <a:off x="1979616" y="3770488"/>
            <a:ext cx="1168590"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255.255.255.0</a:t>
            </a:r>
          </a:p>
        </p:txBody>
      </p:sp>
      <p:sp>
        <p:nvSpPr>
          <p:cNvPr id="100" name="Rectangle 37"/>
          <p:cNvSpPr>
            <a:spLocks noChangeArrowheads="1"/>
          </p:cNvSpPr>
          <p:nvPr/>
        </p:nvSpPr>
        <p:spPr bwMode="auto">
          <a:xfrm>
            <a:off x="3146030" y="3823384"/>
            <a:ext cx="4134340"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Rectangle 45"/>
          <p:cNvSpPr>
            <a:spLocks noChangeArrowheads="1"/>
          </p:cNvSpPr>
          <p:nvPr/>
        </p:nvSpPr>
        <p:spPr bwMode="auto">
          <a:xfrm>
            <a:off x="5198042" y="2290104"/>
            <a:ext cx="2073965" cy="29334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Rectangle 46"/>
          <p:cNvSpPr>
            <a:spLocks noChangeArrowheads="1"/>
          </p:cNvSpPr>
          <p:nvPr/>
        </p:nvSpPr>
        <p:spPr bwMode="auto">
          <a:xfrm>
            <a:off x="6386638" y="3363110"/>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103" name="Rectangle 47"/>
          <p:cNvSpPr>
            <a:spLocks noChangeArrowheads="1"/>
          </p:cNvSpPr>
          <p:nvPr/>
        </p:nvSpPr>
        <p:spPr bwMode="auto">
          <a:xfrm>
            <a:off x="5872617" y="2304826"/>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grpSp>
        <p:nvGrpSpPr>
          <p:cNvPr id="104" name="组合 103"/>
          <p:cNvGrpSpPr/>
          <p:nvPr/>
        </p:nvGrpSpPr>
        <p:grpSpPr>
          <a:xfrm>
            <a:off x="1578634" y="2136679"/>
            <a:ext cx="5798097" cy="1068182"/>
            <a:chOff x="24077" y="2916585"/>
            <a:chExt cx="9785615" cy="1757362"/>
          </a:xfrm>
        </p:grpSpPr>
        <p:sp>
          <p:nvSpPr>
            <p:cNvPr id="106" name="Line 48"/>
            <p:cNvSpPr>
              <a:spLocks noChangeShapeType="1"/>
            </p:cNvSpPr>
            <p:nvPr/>
          </p:nvSpPr>
          <p:spPr bwMode="auto">
            <a:xfrm>
              <a:off x="24077" y="2916585"/>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7" name="Line 49"/>
            <p:cNvSpPr>
              <a:spLocks noChangeShapeType="1"/>
            </p:cNvSpPr>
            <p:nvPr/>
          </p:nvSpPr>
          <p:spPr bwMode="auto">
            <a:xfrm>
              <a:off x="24077" y="4673947"/>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05" name="Line 50"/>
          <p:cNvSpPr>
            <a:spLocks noChangeShapeType="1"/>
          </p:cNvSpPr>
          <p:nvPr/>
        </p:nvSpPr>
        <p:spPr bwMode="auto">
          <a:xfrm>
            <a:off x="1941035" y="1135078"/>
            <a:ext cx="0" cy="3137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Tree>
    <p:extLst>
      <p:ext uri="{BB962C8B-B14F-4D97-AF65-F5344CB8AC3E}">
        <p14:creationId xmlns:p14="http://schemas.microsoft.com/office/powerpoint/2010/main" val="3739123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144" name="圆角矩形 143"/>
          <p:cNvSpPr/>
          <p:nvPr/>
        </p:nvSpPr>
        <p:spPr>
          <a:xfrm>
            <a:off x="545144" y="1024784"/>
            <a:ext cx="8053712" cy="28484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47" name="Rectangle 3"/>
          <p:cNvSpPr>
            <a:spLocks noChangeArrowheads="1"/>
          </p:cNvSpPr>
          <p:nvPr/>
        </p:nvSpPr>
        <p:spPr bwMode="auto">
          <a:xfrm>
            <a:off x="2348381" y="1380890"/>
            <a:ext cx="5470145" cy="329184"/>
          </a:xfrm>
          <a:prstGeom prst="rect">
            <a:avLst/>
          </a:prstGeom>
          <a:solidFill>
            <a:srgbClr val="00FFFF"/>
          </a:solidFill>
          <a:ln w="12700">
            <a:solidFill>
              <a:srgbClr val="333399"/>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1" name="Rectangle 8"/>
          <p:cNvSpPr>
            <a:spLocks noChangeArrowheads="1"/>
          </p:cNvSpPr>
          <p:nvPr/>
        </p:nvSpPr>
        <p:spPr bwMode="auto">
          <a:xfrm>
            <a:off x="2359372" y="1389909"/>
            <a:ext cx="2685610" cy="314529"/>
          </a:xfrm>
          <a:prstGeom prst="rect">
            <a:avLst/>
          </a:prstGeom>
          <a:solidFill>
            <a:srgbClr val="00FF99"/>
          </a:solidFill>
          <a:ln>
            <a:noFill/>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2" name="Rectangle 9"/>
          <p:cNvSpPr>
            <a:spLocks noChangeArrowheads="1"/>
          </p:cNvSpPr>
          <p:nvPr/>
        </p:nvSpPr>
        <p:spPr bwMode="auto">
          <a:xfrm>
            <a:off x="3314419" y="1402993"/>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53" name="Rectangle 10"/>
          <p:cNvSpPr>
            <a:spLocks noChangeArrowheads="1"/>
          </p:cNvSpPr>
          <p:nvPr/>
        </p:nvSpPr>
        <p:spPr bwMode="auto">
          <a:xfrm>
            <a:off x="6084298" y="1402993"/>
            <a:ext cx="682880" cy="28982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a:latin typeface="微软雅黑" pitchFamily="34" charset="-122"/>
                <a:ea typeface="微软雅黑" pitchFamily="34" charset="-122"/>
              </a:rPr>
              <a:t>主机号</a:t>
            </a:r>
          </a:p>
        </p:txBody>
      </p:sp>
      <p:sp>
        <p:nvSpPr>
          <p:cNvPr id="154" name="Rectangle 11"/>
          <p:cNvSpPr>
            <a:spLocks noChangeArrowheads="1"/>
          </p:cNvSpPr>
          <p:nvPr/>
        </p:nvSpPr>
        <p:spPr bwMode="auto">
          <a:xfrm>
            <a:off x="1571140" y="1389909"/>
            <a:ext cx="77425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sp>
        <p:nvSpPr>
          <p:cNvPr id="156" name="Line 13"/>
          <p:cNvSpPr>
            <a:spLocks noChangeShapeType="1"/>
          </p:cNvSpPr>
          <p:nvPr/>
        </p:nvSpPr>
        <p:spPr bwMode="auto">
          <a:xfrm>
            <a:off x="5051089" y="1386528"/>
            <a:ext cx="0" cy="32242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0" name="Rectangle 29"/>
          <p:cNvSpPr>
            <a:spLocks noChangeArrowheads="1"/>
          </p:cNvSpPr>
          <p:nvPr/>
        </p:nvSpPr>
        <p:spPr bwMode="auto">
          <a:xfrm>
            <a:off x="1444502" y="231837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地址掩码</a:t>
            </a:r>
          </a:p>
        </p:txBody>
      </p:sp>
      <p:sp>
        <p:nvSpPr>
          <p:cNvPr id="173" name="Rectangle 47"/>
          <p:cNvSpPr>
            <a:spLocks noChangeArrowheads="1"/>
          </p:cNvSpPr>
          <p:nvPr/>
        </p:nvSpPr>
        <p:spPr bwMode="auto">
          <a:xfrm>
            <a:off x="5051404" y="2292592"/>
            <a:ext cx="2764128"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4" name="Rectangle 48"/>
          <p:cNvSpPr>
            <a:spLocks noChangeArrowheads="1"/>
          </p:cNvSpPr>
          <p:nvPr/>
        </p:nvSpPr>
        <p:spPr bwMode="auto">
          <a:xfrm>
            <a:off x="2351813" y="2292592"/>
            <a:ext cx="2699591" cy="357368"/>
          </a:xfrm>
          <a:prstGeom prst="rect">
            <a:avLst/>
          </a:prstGeom>
          <a:solidFill>
            <a:srgbClr val="FFCC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grpSp>
        <p:nvGrpSpPr>
          <p:cNvPr id="175" name="Group 49"/>
          <p:cNvGrpSpPr>
            <a:grpSpLocks/>
          </p:cNvGrpSpPr>
          <p:nvPr/>
        </p:nvGrpSpPr>
        <p:grpSpPr bwMode="auto">
          <a:xfrm>
            <a:off x="2452588" y="2338813"/>
            <a:ext cx="5298407" cy="289727"/>
            <a:chOff x="1174" y="3062"/>
            <a:chExt cx="4391" cy="257"/>
          </a:xfrm>
        </p:grpSpPr>
        <p:sp>
          <p:nvSpPr>
            <p:cNvPr id="176" name="Rectangle 50"/>
            <p:cNvSpPr>
              <a:spLocks noChangeArrowheads="1"/>
            </p:cNvSpPr>
            <p:nvPr/>
          </p:nvSpPr>
          <p:spPr bwMode="auto">
            <a:xfrm>
              <a:off x="1174" y="3062"/>
              <a:ext cx="2147" cy="2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1 1 1 1 1 1 1 1 1 1 1 1 1 1 1 1</a:t>
              </a:r>
            </a:p>
          </p:txBody>
        </p:sp>
        <p:sp>
          <p:nvSpPr>
            <p:cNvPr id="177" name="Rectangle 51"/>
            <p:cNvSpPr>
              <a:spLocks noChangeArrowheads="1"/>
            </p:cNvSpPr>
            <p:nvPr/>
          </p:nvSpPr>
          <p:spPr bwMode="auto">
            <a:xfrm>
              <a:off x="3391" y="3062"/>
              <a:ext cx="2174" cy="25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
        <p:nvSpPr>
          <p:cNvPr id="185" name="AutoShape 61"/>
          <p:cNvSpPr>
            <a:spLocks noChangeArrowheads="1"/>
          </p:cNvSpPr>
          <p:nvPr/>
        </p:nvSpPr>
        <p:spPr bwMode="auto">
          <a:xfrm>
            <a:off x="4848045" y="2710444"/>
            <a:ext cx="431321" cy="357367"/>
          </a:xfrm>
          <a:prstGeom prst="downArrow">
            <a:avLst>
              <a:gd name="adj1" fmla="val 47126"/>
              <a:gd name="adj2" fmla="val 34655"/>
            </a:avLst>
          </a:prstGeom>
          <a:solidFill>
            <a:srgbClr val="FFC000"/>
          </a:solidFill>
          <a:ln w="9525">
            <a:solidFill>
              <a:schemeClr val="tx1"/>
            </a:solidFill>
            <a:miter lim="800000"/>
            <a:headEnd/>
            <a:tailEnd/>
          </a:ln>
          <a:effectLst/>
        </p:spPr>
        <p:txBody>
          <a:bodyPr vert="eaVert" wrap="none" anchor="ctr"/>
          <a:lstStyle/>
          <a:p>
            <a:endParaRPr lang="zh-CN" altLang="en-US" sz="1300" b="1">
              <a:solidFill>
                <a:srgbClr val="0000CC"/>
              </a:solidFill>
              <a:latin typeface="微软雅黑" pitchFamily="34" charset="-122"/>
              <a:ea typeface="微软雅黑" pitchFamily="34" charset="-122"/>
            </a:endParaRPr>
          </a:p>
        </p:txBody>
      </p:sp>
      <p:sp>
        <p:nvSpPr>
          <p:cNvPr id="186" name="Rectangle 60"/>
          <p:cNvSpPr>
            <a:spLocks noChangeArrowheads="1"/>
          </p:cNvSpPr>
          <p:nvPr/>
        </p:nvSpPr>
        <p:spPr bwMode="auto">
          <a:xfrm>
            <a:off x="2345327" y="1787260"/>
            <a:ext cx="5470205" cy="426135"/>
          </a:xfrm>
          <a:prstGeom prst="rect">
            <a:avLst/>
          </a:prstGeom>
          <a:solidFill>
            <a:srgbClr val="0000CC"/>
          </a:solidFill>
          <a:ln>
            <a:noFill/>
          </a:ln>
          <a:effectLst/>
        </p:spPr>
        <p:txBody>
          <a:bodyPr wrap="none" anchor="ctr"/>
          <a:lstStyle/>
          <a:p>
            <a:pPr algn="ctr"/>
            <a:r>
              <a:rPr lang="zh-CN" altLang="en-US" b="1" dirty="0">
                <a:solidFill>
                  <a:schemeClr val="bg1"/>
                </a:solidFill>
                <a:latin typeface="微软雅黑" pitchFamily="34" charset="-122"/>
                <a:ea typeface="微软雅黑" pitchFamily="34" charset="-122"/>
              </a:rPr>
              <a:t>逐位进行 </a:t>
            </a:r>
            <a:r>
              <a:rPr lang="en-US" altLang="zh-CN" b="1" dirty="0">
                <a:solidFill>
                  <a:schemeClr val="bg1"/>
                </a:solidFill>
                <a:latin typeface="微软雅黑" pitchFamily="34" charset="-122"/>
                <a:ea typeface="微软雅黑" pitchFamily="34" charset="-122"/>
              </a:rPr>
              <a:t>AND </a:t>
            </a:r>
            <a:r>
              <a:rPr lang="zh-CN" altLang="en-US" b="1" dirty="0">
                <a:solidFill>
                  <a:schemeClr val="bg1"/>
                </a:solidFill>
                <a:latin typeface="微软雅黑" pitchFamily="34" charset="-122"/>
                <a:ea typeface="微软雅黑" pitchFamily="34" charset="-122"/>
              </a:rPr>
              <a:t>运算</a:t>
            </a:r>
          </a:p>
        </p:txBody>
      </p:sp>
      <p:grpSp>
        <p:nvGrpSpPr>
          <p:cNvPr id="5" name="组合 4"/>
          <p:cNvGrpSpPr/>
          <p:nvPr/>
        </p:nvGrpSpPr>
        <p:grpSpPr>
          <a:xfrm>
            <a:off x="1444502" y="3130150"/>
            <a:ext cx="6358146" cy="357368"/>
            <a:chOff x="1444502" y="3130150"/>
            <a:chExt cx="6358146" cy="357368"/>
          </a:xfrm>
        </p:grpSpPr>
        <p:sp>
          <p:nvSpPr>
            <p:cNvPr id="172" name="Rectangle 46"/>
            <p:cNvSpPr>
              <a:spLocks noChangeArrowheads="1"/>
            </p:cNvSpPr>
            <p:nvPr/>
          </p:nvSpPr>
          <p:spPr bwMode="auto">
            <a:xfrm>
              <a:off x="1444502" y="315739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网络地址</a:t>
              </a:r>
            </a:p>
          </p:txBody>
        </p:sp>
        <p:sp>
          <p:nvSpPr>
            <p:cNvPr id="179" name="Rectangle 53"/>
            <p:cNvSpPr>
              <a:spLocks noChangeArrowheads="1"/>
            </p:cNvSpPr>
            <p:nvPr/>
          </p:nvSpPr>
          <p:spPr bwMode="auto">
            <a:xfrm>
              <a:off x="5057826" y="3130150"/>
              <a:ext cx="2744822"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0" name="Rectangle 54"/>
            <p:cNvSpPr>
              <a:spLocks noChangeArrowheads="1"/>
            </p:cNvSpPr>
            <p:nvPr/>
          </p:nvSpPr>
          <p:spPr bwMode="auto">
            <a:xfrm>
              <a:off x="2351813" y="3130150"/>
              <a:ext cx="2699591" cy="357368"/>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2" name="Rectangle 57"/>
            <p:cNvSpPr>
              <a:spLocks noChangeArrowheads="1"/>
            </p:cNvSpPr>
            <p:nvPr/>
          </p:nvSpPr>
          <p:spPr bwMode="auto">
            <a:xfrm>
              <a:off x="3349605" y="3172938"/>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87" name="Rectangle 51"/>
            <p:cNvSpPr>
              <a:spLocks noChangeArrowheads="1"/>
            </p:cNvSpPr>
            <p:nvPr/>
          </p:nvSpPr>
          <p:spPr bwMode="auto">
            <a:xfrm>
              <a:off x="5114108" y="3170646"/>
              <a:ext cx="2623260" cy="2897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Tree>
    <p:extLst>
      <p:ext uri="{BB962C8B-B14F-4D97-AF65-F5344CB8AC3E}">
        <p14:creationId xmlns:p14="http://schemas.microsoft.com/office/powerpoint/2010/main" val="36639903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6"/>
                                        </p:tgtEl>
                                        <p:attrNameLst>
                                          <p:attrName>style.visibility</p:attrName>
                                        </p:attrNameLst>
                                      </p:cBhvr>
                                      <p:to>
                                        <p:strVal val="visible"/>
                                      </p:to>
                                    </p:set>
                                  </p:childTnLst>
                                </p:cTn>
                              </p:par>
                              <p:par>
                                <p:cTn id="7" presetID="35" presetClass="emph" presetSubtype="0" repeatCount="3000" fill="hold" nodeType="withEffect">
                                  <p:stCondLst>
                                    <p:cond delay="1000"/>
                                  </p:stCondLst>
                                  <p:childTnLst>
                                    <p:anim calcmode="discrete" valueType="str">
                                      <p:cBhvr>
                                        <p:cTn id="8" dur="1000" fill="hold"/>
                                        <p:tgtEl>
                                          <p:spTgt spid="175"/>
                                        </p:tgtEl>
                                        <p:attrNameLst>
                                          <p:attrName>style.visibility</p:attrName>
                                        </p:attrNameLst>
                                      </p:cBhvr>
                                      <p:tavLst>
                                        <p:tav tm="0">
                                          <p:val>
                                            <p:strVal val="hidden"/>
                                          </p:val>
                                        </p:tav>
                                        <p:tav tm="50000">
                                          <p:val>
                                            <p:strVal val="visible"/>
                                          </p:val>
                                        </p:tav>
                                      </p:tavLst>
                                    </p:anim>
                                  </p:childTnLst>
                                </p:cTn>
                              </p:par>
                            </p:childTnLst>
                          </p:cTn>
                        </p:par>
                        <p:par>
                          <p:cTn id="9" fill="hold">
                            <p:stCondLst>
                              <p:cond delay="4000"/>
                            </p:stCondLst>
                            <p:childTnLst>
                              <p:par>
                                <p:cTn id="10" presetID="22" presetClass="entr" presetSubtype="1" fill="hold" grpId="0" nodeType="afterEffect">
                                  <p:stCondLst>
                                    <p:cond delay="0"/>
                                  </p:stCondLst>
                                  <p:childTnLst>
                                    <p:set>
                                      <p:cBhvr>
                                        <p:cTn id="11" dur="1" fill="hold">
                                          <p:stCondLst>
                                            <p:cond delay="0"/>
                                          </p:stCondLst>
                                        </p:cTn>
                                        <p:tgtEl>
                                          <p:spTgt spid="185"/>
                                        </p:tgtEl>
                                        <p:attrNameLst>
                                          <p:attrName>style.visibility</p:attrName>
                                        </p:attrNameLst>
                                      </p:cBhvr>
                                      <p:to>
                                        <p:strVal val="visible"/>
                                      </p:to>
                                    </p:set>
                                    <p:animEffect transition="in" filter="wipe(up)">
                                      <p:cBhvr>
                                        <p:cTn id="12" dur="1500"/>
                                        <p:tgtEl>
                                          <p:spTgt spid="185"/>
                                        </p:tgtEl>
                                      </p:cBhvr>
                                    </p:animEffect>
                                  </p:childTnLst>
                                </p:cTn>
                              </p:par>
                            </p:childTnLst>
                          </p:cTn>
                        </p:par>
                        <p:par>
                          <p:cTn id="13" fill="hold">
                            <p:stCondLst>
                              <p:cond delay="5500"/>
                            </p:stCondLst>
                            <p:childTnLst>
                              <p:par>
                                <p:cTn id="14" presetID="22" presetClass="entr" presetSubtype="1"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up)">
                                      <p:cBhvr>
                                        <p:cTn id="16"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5" grpId="0" animBg="1"/>
      <p:bldP spid="18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33" name="圆角矩形 32"/>
          <p:cNvSpPr/>
          <p:nvPr/>
        </p:nvSpPr>
        <p:spPr>
          <a:xfrm>
            <a:off x="545144" y="1024783"/>
            <a:ext cx="8053712" cy="332292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7" name="组合 6"/>
          <p:cNvGrpSpPr/>
          <p:nvPr/>
        </p:nvGrpSpPr>
        <p:grpSpPr>
          <a:xfrm>
            <a:off x="828136" y="1586667"/>
            <a:ext cx="7267413" cy="322464"/>
            <a:chOff x="828136" y="1698805"/>
            <a:chExt cx="7267413" cy="322464"/>
          </a:xfrm>
        </p:grpSpPr>
        <p:sp>
          <p:nvSpPr>
            <p:cNvPr id="43" name="Rectangle 33"/>
            <p:cNvSpPr>
              <a:spLocks noChangeArrowheads="1"/>
            </p:cNvSpPr>
            <p:nvPr/>
          </p:nvSpPr>
          <p:spPr bwMode="auto">
            <a:xfrm>
              <a:off x="3642866" y="1708850"/>
              <a:ext cx="4452683"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34"/>
            <p:cNvSpPr>
              <a:spLocks noChangeArrowheads="1"/>
            </p:cNvSpPr>
            <p:nvPr/>
          </p:nvSpPr>
          <p:spPr bwMode="auto">
            <a:xfrm>
              <a:off x="828136" y="1716057"/>
              <a:ext cx="202299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点分十进制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50" name="Text Box 45"/>
            <p:cNvSpPr txBox="1">
              <a:spLocks noChangeArrowheads="1"/>
            </p:cNvSpPr>
            <p:nvPr/>
          </p:nvSpPr>
          <p:spPr bwMode="auto">
            <a:xfrm>
              <a:off x="3948549" y="1698805"/>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51" name="Text Box 46"/>
            <p:cNvSpPr txBox="1">
              <a:spLocks noChangeArrowheads="1"/>
            </p:cNvSpPr>
            <p:nvPr/>
          </p:nvSpPr>
          <p:spPr bwMode="auto">
            <a:xfrm>
              <a:off x="5852996" y="1698805"/>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35            .        7</a:t>
              </a:r>
            </a:p>
          </p:txBody>
        </p:sp>
      </p:grpSp>
      <p:grpSp>
        <p:nvGrpSpPr>
          <p:cNvPr id="9" name="组合 8"/>
          <p:cNvGrpSpPr/>
          <p:nvPr/>
        </p:nvGrpSpPr>
        <p:grpSpPr>
          <a:xfrm>
            <a:off x="828136" y="2567240"/>
            <a:ext cx="7330130" cy="305212"/>
            <a:chOff x="828136" y="2679378"/>
            <a:chExt cx="7330130" cy="305212"/>
          </a:xfrm>
        </p:grpSpPr>
        <p:sp>
          <p:nvSpPr>
            <p:cNvPr id="36" name="Rectangle 40"/>
            <p:cNvSpPr>
              <a:spLocks noChangeArrowheads="1"/>
            </p:cNvSpPr>
            <p:nvPr/>
          </p:nvSpPr>
          <p:spPr bwMode="auto">
            <a:xfrm>
              <a:off x="3642865" y="2684182"/>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36"/>
            <p:cNvSpPr>
              <a:spLocks noChangeArrowheads="1"/>
            </p:cNvSpPr>
            <p:nvPr/>
          </p:nvSpPr>
          <p:spPr bwMode="auto">
            <a:xfrm>
              <a:off x="3648131" y="2691388"/>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41"/>
            <p:cNvSpPr>
              <a:spLocks noChangeArrowheads="1"/>
            </p:cNvSpPr>
            <p:nvPr/>
          </p:nvSpPr>
          <p:spPr bwMode="auto">
            <a:xfrm>
              <a:off x="3553481" y="2688007"/>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1 1 1 1 1 1 1 1 1 1 1 1 1 1 1 1 1 1 1 1 0 0 0 0</a:t>
              </a:r>
            </a:p>
          </p:txBody>
        </p:sp>
        <p:sp>
          <p:nvSpPr>
            <p:cNvPr id="46" name="Rectangle 37"/>
            <p:cNvSpPr>
              <a:spLocks noChangeArrowheads="1"/>
            </p:cNvSpPr>
            <p:nvPr/>
          </p:nvSpPr>
          <p:spPr bwMode="auto">
            <a:xfrm>
              <a:off x="828136" y="2679378"/>
              <a:ext cx="275716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(c) </a:t>
              </a:r>
              <a:r>
                <a:rPr kumimoji="1" lang="zh-CN" altLang="en-US" sz="1400" b="1" dirty="0">
                  <a:latin typeface="微软雅黑" pitchFamily="34" charset="-122"/>
                  <a:ea typeface="微软雅黑" pitchFamily="34" charset="-122"/>
                </a:rPr>
                <a:t>地址掩码是 </a:t>
              </a:r>
              <a:r>
                <a:rPr kumimoji="1" lang="en-US" altLang="zh-CN" sz="1400" b="1" dirty="0">
                  <a:latin typeface="微软雅黑" pitchFamily="34" charset="-122"/>
                  <a:ea typeface="微软雅黑" pitchFamily="34" charset="-122"/>
                </a:rPr>
                <a:t>255.255.224.0</a:t>
              </a:r>
            </a:p>
          </p:txBody>
        </p:sp>
        <p:sp>
          <p:nvSpPr>
            <p:cNvPr id="47" name="Line 38"/>
            <p:cNvSpPr>
              <a:spLocks noChangeShapeType="1"/>
            </p:cNvSpPr>
            <p:nvPr/>
          </p:nvSpPr>
          <p:spPr bwMode="auto">
            <a:xfrm>
              <a:off x="5846958" y="2688986"/>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39"/>
            <p:cNvSpPr>
              <a:spLocks noChangeShapeType="1"/>
            </p:cNvSpPr>
            <p:nvPr/>
          </p:nvSpPr>
          <p:spPr bwMode="auto">
            <a:xfrm>
              <a:off x="6952197" y="2681779"/>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42"/>
            <p:cNvSpPr>
              <a:spLocks noChangeArrowheads="1"/>
            </p:cNvSpPr>
            <p:nvPr/>
          </p:nvSpPr>
          <p:spPr bwMode="auto">
            <a:xfrm>
              <a:off x="6893495" y="2688007"/>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55" name="Line 51"/>
            <p:cNvSpPr>
              <a:spLocks noChangeShapeType="1"/>
            </p:cNvSpPr>
            <p:nvPr/>
          </p:nvSpPr>
          <p:spPr bwMode="auto">
            <a:xfrm>
              <a:off x="4733758" y="2681779"/>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0" name="组合 9"/>
          <p:cNvGrpSpPr/>
          <p:nvPr/>
        </p:nvGrpSpPr>
        <p:grpSpPr>
          <a:xfrm>
            <a:off x="828136" y="3102732"/>
            <a:ext cx="7330130" cy="305212"/>
            <a:chOff x="828136" y="3214870"/>
            <a:chExt cx="7330130" cy="305212"/>
          </a:xfrm>
        </p:grpSpPr>
        <p:sp>
          <p:nvSpPr>
            <p:cNvPr id="61" name="Rectangle 59"/>
            <p:cNvSpPr>
              <a:spLocks noChangeArrowheads="1"/>
            </p:cNvSpPr>
            <p:nvPr/>
          </p:nvSpPr>
          <p:spPr bwMode="auto">
            <a:xfrm>
              <a:off x="828136" y="3214870"/>
              <a:ext cx="28260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(d) IP </a:t>
              </a:r>
              <a:r>
                <a:rPr kumimoji="1" lang="zh-CN" altLang="en-US" sz="1400" b="1" dirty="0">
                  <a:latin typeface="微软雅黑" pitchFamily="34" charset="-122"/>
                  <a:ea typeface="微软雅黑" pitchFamily="34" charset="-122"/>
                </a:rPr>
                <a:t>地址与地址掩码按位 </a:t>
              </a:r>
              <a:r>
                <a:rPr kumimoji="1" lang="en-US" altLang="zh-CN" sz="1400" b="1" dirty="0">
                  <a:latin typeface="微软雅黑" pitchFamily="34" charset="-122"/>
                  <a:ea typeface="微软雅黑" pitchFamily="34" charset="-122"/>
                </a:rPr>
                <a:t>AND</a:t>
              </a:r>
              <a:endParaRPr kumimoji="1" lang="zh-CN" altLang="en-US" sz="1400" b="1" dirty="0">
                <a:latin typeface="微软雅黑" pitchFamily="34" charset="-122"/>
                <a:ea typeface="微软雅黑" pitchFamily="34" charset="-122"/>
              </a:endParaRPr>
            </a:p>
          </p:txBody>
        </p:sp>
        <p:sp>
          <p:nvSpPr>
            <p:cNvPr id="65" name="Rectangle 40"/>
            <p:cNvSpPr>
              <a:spLocks noChangeArrowheads="1"/>
            </p:cNvSpPr>
            <p:nvPr/>
          </p:nvSpPr>
          <p:spPr bwMode="auto">
            <a:xfrm>
              <a:off x="3642865" y="3219671"/>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Rectangle 36"/>
            <p:cNvSpPr>
              <a:spLocks noChangeArrowheads="1"/>
            </p:cNvSpPr>
            <p:nvPr/>
          </p:nvSpPr>
          <p:spPr bwMode="auto">
            <a:xfrm>
              <a:off x="3648131" y="3226877"/>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Rectangle 41"/>
            <p:cNvSpPr>
              <a:spLocks noChangeArrowheads="1"/>
            </p:cNvSpPr>
            <p:nvPr/>
          </p:nvSpPr>
          <p:spPr bwMode="auto">
            <a:xfrm>
              <a:off x="3553481" y="3223496"/>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1 0 0 0 0 0 0 0 0 0 0 0 1 1 1 0 0 0 1 0 0 0 0 0</a:t>
              </a:r>
            </a:p>
          </p:txBody>
        </p:sp>
        <p:sp>
          <p:nvSpPr>
            <p:cNvPr id="68" name="Line 38"/>
            <p:cNvSpPr>
              <a:spLocks noChangeShapeType="1"/>
            </p:cNvSpPr>
            <p:nvPr/>
          </p:nvSpPr>
          <p:spPr bwMode="auto">
            <a:xfrm>
              <a:off x="5846958" y="3224475"/>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Line 39"/>
            <p:cNvSpPr>
              <a:spLocks noChangeShapeType="1"/>
            </p:cNvSpPr>
            <p:nvPr/>
          </p:nvSpPr>
          <p:spPr bwMode="auto">
            <a:xfrm>
              <a:off x="6952197" y="3217268"/>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42"/>
            <p:cNvSpPr>
              <a:spLocks noChangeArrowheads="1"/>
            </p:cNvSpPr>
            <p:nvPr/>
          </p:nvSpPr>
          <p:spPr bwMode="auto">
            <a:xfrm>
              <a:off x="6893495" y="3223496"/>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71" name="Line 51"/>
            <p:cNvSpPr>
              <a:spLocks noChangeShapeType="1"/>
            </p:cNvSpPr>
            <p:nvPr/>
          </p:nvSpPr>
          <p:spPr bwMode="auto">
            <a:xfrm>
              <a:off x="4733758" y="3217268"/>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1" name="组合 10"/>
          <p:cNvGrpSpPr/>
          <p:nvPr/>
        </p:nvGrpSpPr>
        <p:grpSpPr>
          <a:xfrm>
            <a:off x="828136" y="3640191"/>
            <a:ext cx="7267411" cy="317460"/>
            <a:chOff x="828136" y="3752329"/>
            <a:chExt cx="7267411" cy="317460"/>
          </a:xfrm>
        </p:grpSpPr>
        <p:sp>
          <p:nvSpPr>
            <p:cNvPr id="45" name="Rectangle 35"/>
            <p:cNvSpPr>
              <a:spLocks noChangeArrowheads="1"/>
            </p:cNvSpPr>
            <p:nvPr/>
          </p:nvSpPr>
          <p:spPr bwMode="auto">
            <a:xfrm>
              <a:off x="3642866" y="3768817"/>
              <a:ext cx="4452681" cy="272661"/>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828136" y="3752329"/>
              <a:ext cx="245580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(e) </a:t>
              </a:r>
              <a:r>
                <a:rPr kumimoji="1" lang="zh-CN" altLang="en-US" sz="1400" b="1" dirty="0">
                  <a:latin typeface="微软雅黑" pitchFamily="34" charset="-122"/>
                  <a:ea typeface="微软雅黑" pitchFamily="34" charset="-122"/>
                </a:rPr>
                <a:t>网络地址（点分十进制）</a:t>
              </a:r>
            </a:p>
          </p:txBody>
        </p:sp>
        <p:sp>
          <p:nvSpPr>
            <p:cNvPr id="72" name="Text Box 45"/>
            <p:cNvSpPr txBox="1">
              <a:spLocks noChangeArrowheads="1"/>
            </p:cNvSpPr>
            <p:nvPr/>
          </p:nvSpPr>
          <p:spPr bwMode="auto">
            <a:xfrm>
              <a:off x="3948549" y="3762012"/>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73" name="Text Box 46"/>
            <p:cNvSpPr txBox="1">
              <a:spLocks noChangeArrowheads="1"/>
            </p:cNvSpPr>
            <p:nvPr/>
          </p:nvSpPr>
          <p:spPr bwMode="auto">
            <a:xfrm>
              <a:off x="5852996" y="3762012"/>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32            .        0</a:t>
              </a:r>
            </a:p>
          </p:txBody>
        </p:sp>
      </p:grpSp>
      <p:grpSp>
        <p:nvGrpSpPr>
          <p:cNvPr id="8" name="组合 7"/>
          <p:cNvGrpSpPr/>
          <p:nvPr/>
        </p:nvGrpSpPr>
        <p:grpSpPr>
          <a:xfrm>
            <a:off x="828136" y="2058717"/>
            <a:ext cx="7479103" cy="305212"/>
            <a:chOff x="828136" y="2170855"/>
            <a:chExt cx="7479103" cy="305212"/>
          </a:xfrm>
        </p:grpSpPr>
        <p:sp>
          <p:nvSpPr>
            <p:cNvPr id="35" name="Rectangle 53"/>
            <p:cNvSpPr>
              <a:spLocks noChangeArrowheads="1"/>
            </p:cNvSpPr>
            <p:nvPr/>
          </p:nvSpPr>
          <p:spPr bwMode="auto">
            <a:xfrm>
              <a:off x="3640234" y="2188108"/>
              <a:ext cx="4455314" cy="272661"/>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Rectangle 58"/>
            <p:cNvSpPr>
              <a:spLocks noChangeArrowheads="1"/>
            </p:cNvSpPr>
            <p:nvPr/>
          </p:nvSpPr>
          <p:spPr bwMode="auto">
            <a:xfrm>
              <a:off x="828136" y="2170855"/>
              <a:ext cx="1679948"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二进制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6" name="矩形 5"/>
            <p:cNvSpPr/>
            <p:nvPr/>
          </p:nvSpPr>
          <p:spPr>
            <a:xfrm>
              <a:off x="3559425" y="2191186"/>
              <a:ext cx="4747814"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1 0 0 0 0 0 0 0 0 0 0 0 1 1 1 0 0 0 1 0 0 0 1 1 0 0 0 0 0 1 1 1</a:t>
              </a:r>
            </a:p>
          </p:txBody>
        </p:sp>
        <p:sp>
          <p:nvSpPr>
            <p:cNvPr id="78" name="Line 38"/>
            <p:cNvSpPr>
              <a:spLocks noChangeShapeType="1"/>
            </p:cNvSpPr>
            <p:nvPr/>
          </p:nvSpPr>
          <p:spPr bwMode="auto">
            <a:xfrm>
              <a:off x="5846958" y="2201321"/>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39"/>
            <p:cNvSpPr>
              <a:spLocks noChangeShapeType="1"/>
            </p:cNvSpPr>
            <p:nvPr/>
          </p:nvSpPr>
          <p:spPr bwMode="auto">
            <a:xfrm>
              <a:off x="6952197" y="2194114"/>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0" name="Line 51"/>
            <p:cNvSpPr>
              <a:spLocks noChangeShapeType="1"/>
            </p:cNvSpPr>
            <p:nvPr/>
          </p:nvSpPr>
          <p:spPr bwMode="auto">
            <a:xfrm>
              <a:off x="4733758" y="2194114"/>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81" name="Text Box 155"/>
          <p:cNvSpPr txBox="1">
            <a:spLocks noChangeArrowheads="1"/>
          </p:cNvSpPr>
          <p:nvPr/>
        </p:nvSpPr>
        <p:spPr bwMode="auto">
          <a:xfrm>
            <a:off x="1436910" y="1121245"/>
            <a:ext cx="659369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例</a:t>
            </a: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已知 </a:t>
            </a:r>
            <a:r>
              <a:rPr lang="en-US" altLang="zh-CN" sz="1600" b="1" dirty="0">
                <a:solidFill>
                  <a:srgbClr val="0000FF"/>
                </a:solidFill>
                <a:latin typeface="微软雅黑" pitchFamily="34" charset="-122"/>
                <a:ea typeface="微软雅黑" pitchFamily="34" charset="-122"/>
              </a:rPr>
              <a:t>IP </a:t>
            </a:r>
            <a:r>
              <a:rPr lang="zh-CN" altLang="en-US" sz="1600" b="1" dirty="0">
                <a:solidFill>
                  <a:srgbClr val="0000FF"/>
                </a:solidFill>
                <a:latin typeface="微软雅黑" pitchFamily="34" charset="-122"/>
                <a:ea typeface="微软雅黑" pitchFamily="34" charset="-122"/>
              </a:rPr>
              <a:t>地址是 </a:t>
            </a:r>
            <a:r>
              <a:rPr lang="en-US" altLang="zh-CN" sz="1600" b="1" dirty="0">
                <a:solidFill>
                  <a:srgbClr val="0000FF"/>
                </a:solidFill>
                <a:latin typeface="微软雅黑" pitchFamily="34" charset="-122"/>
                <a:ea typeface="微软雅黑" pitchFamily="34" charset="-122"/>
              </a:rPr>
              <a:t>128.14.35.7/20</a:t>
            </a:r>
            <a:r>
              <a:rPr lang="zh-CN" altLang="en-US" sz="1600" b="1" dirty="0">
                <a:solidFill>
                  <a:srgbClr val="0000FF"/>
                </a:solidFill>
                <a:latin typeface="微软雅黑" pitchFamily="34" charset="-122"/>
                <a:ea typeface="微软雅黑" pitchFamily="34" charset="-122"/>
              </a:rPr>
              <a:t>。求网络地址。 </a:t>
            </a:r>
          </a:p>
        </p:txBody>
      </p:sp>
    </p:spTree>
    <p:extLst>
      <p:ext uri="{BB962C8B-B14F-4D97-AF65-F5344CB8AC3E}">
        <p14:creationId xmlns:p14="http://schemas.microsoft.com/office/powerpoint/2010/main" val="5761370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20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up)">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up)">
                                      <p:cBhvr>
                                        <p:cTn id="17" dur="20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20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wipe(up)">
                                      <p:cBhvr>
                                        <p:cTn id="27" dur="2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2520242" cy="400110"/>
          </a:xfrm>
          <a:prstGeom prst="rect">
            <a:avLst/>
          </a:prstGeom>
        </p:spPr>
        <p:txBody>
          <a:bodyPr wrap="none">
            <a:spAutoFit/>
          </a:bodyPr>
          <a:lstStyle/>
          <a:p>
            <a:r>
              <a:rPr lang="zh-CN" altLang="en-US" sz="2000" b="1" dirty="0">
                <a:latin typeface="微软雅黑" pitchFamily="34" charset="-122"/>
                <a:ea typeface="微软雅黑" pitchFamily="34" charset="-122"/>
              </a:rPr>
              <a:t>常用的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1586277252"/>
              </p:ext>
            </p:extLst>
          </p:nvPr>
        </p:nvGraphicFramePr>
        <p:xfrm>
          <a:off x="715992" y="1024780"/>
          <a:ext cx="7427344" cy="3598977"/>
        </p:xfrm>
        <a:graphic>
          <a:graphicData uri="http://schemas.openxmlformats.org/drawingml/2006/table">
            <a:tbl>
              <a:tblPr firstRow="1" bandRow="1">
                <a:tableStyleId>{91EBBBCC-DAD2-459C-BE2E-F6DE35CF9A28}</a:tableStyleId>
              </a:tblPr>
              <a:tblGrid>
                <a:gridCol w="1407497">
                  <a:extLst>
                    <a:ext uri="{9D8B030D-6E8A-4147-A177-3AD203B41FA5}">
                      <a16:colId xmlns:a16="http://schemas.microsoft.com/office/drawing/2014/main" val="2353518644"/>
                    </a:ext>
                  </a:extLst>
                </a:gridCol>
                <a:gridCol w="1805955">
                  <a:extLst>
                    <a:ext uri="{9D8B030D-6E8A-4147-A177-3AD203B41FA5}">
                      <a16:colId xmlns:a16="http://schemas.microsoft.com/office/drawing/2014/main" val="2193359301"/>
                    </a:ext>
                  </a:extLst>
                </a:gridCol>
                <a:gridCol w="1705623">
                  <a:extLst>
                    <a:ext uri="{9D8B030D-6E8A-4147-A177-3AD203B41FA5}">
                      <a16:colId xmlns:a16="http://schemas.microsoft.com/office/drawing/2014/main" val="1972424735"/>
                    </a:ext>
                  </a:extLst>
                </a:gridCol>
                <a:gridCol w="2508269">
                  <a:extLst>
                    <a:ext uri="{9D8B030D-6E8A-4147-A177-3AD203B41FA5}">
                      <a16:colId xmlns:a16="http://schemas.microsoft.com/office/drawing/2014/main" val="3197085333"/>
                    </a:ext>
                  </a:extLst>
                </a:gridCol>
              </a:tblGrid>
              <a:tr h="272562">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包含的地址数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相当于包含分类的网络数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76440817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255.248.0.0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2048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11934011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255.252.0.0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1024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90401141"/>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512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03573349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64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256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793504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255.255.128.0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128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8428660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/18</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255.255.192.0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9528013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/19</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255.255.224.0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32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589026572"/>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/20</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39061340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/21</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567787277"/>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/22</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255.255.252.0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0058807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11228115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03971587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1/2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个</a:t>
                      </a: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92046195"/>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255.255.255.192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effectLst/>
                          <a:latin typeface="微软雅黑" panose="020B0503020204020204" pitchFamily="34" charset="-122"/>
                          <a:ea typeface="微软雅黑" panose="020B0503020204020204" pitchFamily="34" charset="-122"/>
                        </a:rPr>
                        <a:t>1/4 </a:t>
                      </a:r>
                      <a:r>
                        <a:rPr lang="zh-CN" alt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81410058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255.255.255.224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cs typeface="Times New Roman" panose="02020603050405020304" pitchFamily="18" charset="0"/>
                        </a:rPr>
                        <a:t>1/8</a:t>
                      </a:r>
                      <a:r>
                        <a:rPr lang="en-US" sz="1400" b="1" kern="500" dirty="0">
                          <a:effectLst/>
                          <a:latin typeface="微软雅黑" panose="020B0503020204020204" pitchFamily="34" charset="-122"/>
                          <a:ea typeface="微软雅黑" panose="020B0503020204020204" pitchFamily="34" charset="-122"/>
                        </a:rPr>
                        <a:t>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381601028"/>
                  </a:ext>
                </a:extLst>
              </a:tr>
            </a:tbl>
          </a:graphicData>
        </a:graphic>
      </p:graphicFrame>
    </p:spTree>
    <p:extLst>
      <p:ext uri="{BB962C8B-B14F-4D97-AF65-F5344CB8AC3E}">
        <p14:creationId xmlns:p14="http://schemas.microsoft.com/office/powerpoint/2010/main" val="2951592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1210588" cy="400110"/>
          </a:xfrm>
          <a:prstGeom prst="rect">
            <a:avLst/>
          </a:prstGeom>
        </p:spPr>
        <p:txBody>
          <a:bodyPr wrap="none">
            <a:spAutoFit/>
          </a:bodyPr>
          <a:lstStyle/>
          <a:p>
            <a:r>
              <a:rPr lang="zh-CN" altLang="en-US" sz="2000" b="1" dirty="0">
                <a:latin typeface="微软雅黑" pitchFamily="34" charset="-122"/>
                <a:ea typeface="微软雅黑" pitchFamily="34" charset="-122"/>
              </a:rPr>
              <a:t>构造超网</a:t>
            </a:r>
          </a:p>
        </p:txBody>
      </p:sp>
      <p:sp>
        <p:nvSpPr>
          <p:cNvPr id="5" name="Rectangle 68"/>
          <p:cNvSpPr>
            <a:spLocks noChangeArrowheads="1"/>
          </p:cNvSpPr>
          <p:nvPr/>
        </p:nvSpPr>
        <p:spPr bwMode="auto">
          <a:xfrm>
            <a:off x="556962" y="978646"/>
            <a:ext cx="8041893"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每一个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地址块中的地址数</a:t>
            </a:r>
            <a:r>
              <a:rPr lang="zh-CN" altLang="en-US" sz="2000" b="1" dirty="0">
                <a:solidFill>
                  <a:srgbClr val="C00000"/>
                </a:solidFill>
                <a:latin typeface="微软雅黑" pitchFamily="34" charset="-122"/>
                <a:ea typeface="微软雅黑" pitchFamily="34" charset="-122"/>
              </a:rPr>
              <a:t>一定是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的整数次幂。</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除最后几行外，</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地址块都包含了多个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类地址（是一个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类地址的 </a:t>
            </a:r>
            <a:r>
              <a:rPr lang="en-US" altLang="zh-CN" sz="2000" b="1" dirty="0">
                <a:latin typeface="微软雅黑" pitchFamily="34" charset="-122"/>
                <a:ea typeface="微软雅黑" pitchFamily="34" charset="-122"/>
              </a:rPr>
              <a:t>2</a:t>
            </a:r>
            <a:r>
              <a:rPr lang="en-US" altLang="zh-CN" sz="2000" b="1" baseline="30000"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倍，</a:t>
            </a:r>
            <a:r>
              <a:rPr lang="en-US" altLang="zh-CN" sz="2000" b="1" dirty="0">
                <a:latin typeface="微软雅黑" pitchFamily="34" charset="-122"/>
                <a:ea typeface="微软雅黑" pitchFamily="34" charset="-122"/>
              </a:rPr>
              <a:t>n </a:t>
            </a:r>
            <a:r>
              <a:rPr lang="zh-CN" altLang="en-US" sz="2000" b="1" dirty="0">
                <a:latin typeface="微软雅黑" pitchFamily="34" charset="-122"/>
                <a:ea typeface="微软雅黑" pitchFamily="34" charset="-122"/>
              </a:rPr>
              <a:t>是整数）。</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因此在文献中有时称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编址为</a:t>
            </a:r>
            <a:r>
              <a:rPr lang="zh-CN" altLang="en-US" sz="2000" b="1" dirty="0">
                <a:solidFill>
                  <a:srgbClr val="C00000"/>
                </a:solidFill>
                <a:latin typeface="微软雅黑" pitchFamily="34" charset="-122"/>
                <a:ea typeface="微软雅黑" pitchFamily="34" charset="-122"/>
              </a:rPr>
              <a:t>“构造超网”。</a:t>
            </a:r>
          </a:p>
        </p:txBody>
      </p:sp>
      <p:sp>
        <p:nvSpPr>
          <p:cNvPr id="7" name="Cloud"/>
          <p:cNvSpPr>
            <a:spLocks noChangeAspect="1" noEditPoints="1" noChangeArrowheads="1"/>
          </p:cNvSpPr>
          <p:nvPr/>
        </p:nvSpPr>
        <p:spPr bwMode="auto">
          <a:xfrm>
            <a:off x="1221378" y="2544792"/>
            <a:ext cx="6611407" cy="2105940"/>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DDDDDD"/>
          </a:solidFill>
          <a:ln w="19050">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grpSp>
        <p:nvGrpSpPr>
          <p:cNvPr id="18" name="组合 17"/>
          <p:cNvGrpSpPr/>
          <p:nvPr/>
        </p:nvGrpSpPr>
        <p:grpSpPr>
          <a:xfrm>
            <a:off x="1501738" y="3137639"/>
            <a:ext cx="1854679" cy="846448"/>
            <a:chOff x="1468310" y="3244699"/>
            <a:chExt cx="1854679" cy="846448"/>
          </a:xfrm>
        </p:grpSpPr>
        <p:sp>
          <p:nvSpPr>
            <p:cNvPr id="8"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9"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Subnet=128.14.0.0</a:t>
              </a:r>
            </a:p>
            <a:p>
              <a:r>
                <a:rPr lang="en-US" altLang="zh-CN" sz="1200" b="1" dirty="0">
                  <a:ea typeface="宋体" pitchFamily="2" charset="-122"/>
                </a:rPr>
                <a:t>Mask=255.255.255.0</a:t>
              </a:r>
            </a:p>
          </p:txBody>
        </p:sp>
      </p:grpSp>
      <p:grpSp>
        <p:nvGrpSpPr>
          <p:cNvPr id="17" name="组合 16"/>
          <p:cNvGrpSpPr/>
          <p:nvPr/>
        </p:nvGrpSpPr>
        <p:grpSpPr>
          <a:xfrm>
            <a:off x="5806316" y="3137639"/>
            <a:ext cx="1854679" cy="846448"/>
            <a:chOff x="5659670" y="3249777"/>
            <a:chExt cx="1854679" cy="846448"/>
          </a:xfrm>
          <a:effectLst>
            <a:outerShdw blurRad="50800" dist="38100" dir="2700000" algn="tl" rotWithShape="0">
              <a:prstClr val="black">
                <a:alpha val="40000"/>
              </a:prstClr>
            </a:outerShdw>
          </a:effectLst>
        </p:grpSpPr>
        <p:sp>
          <p:nvSpPr>
            <p:cNvPr id="10" name="Cloud"/>
            <p:cNvSpPr>
              <a:spLocks noChangeAspect="1" noEditPoints="1" noChangeArrowheads="1"/>
            </p:cNvSpPr>
            <p:nvPr/>
          </p:nvSpPr>
          <p:spPr bwMode="auto">
            <a:xfrm>
              <a:off x="5659670" y="3249777"/>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11" name="Rectangle 15"/>
            <p:cNvSpPr>
              <a:spLocks noChangeArrowheads="1"/>
            </p:cNvSpPr>
            <p:nvPr/>
          </p:nvSpPr>
          <p:spPr bwMode="auto">
            <a:xfrm>
              <a:off x="5844074" y="3448941"/>
              <a:ext cx="1479754"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Subnet=128.14.15.0</a:t>
              </a:r>
            </a:p>
            <a:p>
              <a:r>
                <a:rPr lang="en-US" altLang="zh-CN" sz="1200" b="1" dirty="0">
                  <a:ea typeface="宋体" pitchFamily="2" charset="-122"/>
                </a:rPr>
                <a:t>Mask=255.255.255.0</a:t>
              </a:r>
            </a:p>
          </p:txBody>
        </p:sp>
      </p:grpSp>
      <p:sp>
        <p:nvSpPr>
          <p:cNvPr id="12" name="Line 17"/>
          <p:cNvSpPr>
            <a:spLocks noChangeShapeType="1"/>
          </p:cNvSpPr>
          <p:nvPr/>
        </p:nvSpPr>
        <p:spPr bwMode="auto">
          <a:xfrm>
            <a:off x="5435382" y="3644384"/>
            <a:ext cx="325309" cy="0"/>
          </a:xfrm>
          <a:prstGeom prst="line">
            <a:avLst/>
          </a:prstGeom>
          <a:noFill/>
          <a:ln w="571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14" name="Text Box 10"/>
          <p:cNvSpPr txBox="1">
            <a:spLocks noChangeArrowheads="1"/>
          </p:cNvSpPr>
          <p:nvPr/>
        </p:nvSpPr>
        <p:spPr bwMode="auto">
          <a:xfrm>
            <a:off x="3439106" y="2748390"/>
            <a:ext cx="2367210" cy="348537"/>
          </a:xfrm>
          <a:prstGeom prst="rect">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nchorCtr="1"/>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zh-CN" sz="2000" b="1" dirty="0">
                <a:latin typeface="Tahoma" pitchFamily="34" charset="0"/>
                <a:ea typeface="宋体" pitchFamily="2" charset="-122"/>
                <a:cs typeface="Arial" charset="0"/>
              </a:rPr>
              <a:t>128.14.0.0/20</a:t>
            </a:r>
          </a:p>
        </p:txBody>
      </p:sp>
      <p:grpSp>
        <p:nvGrpSpPr>
          <p:cNvPr id="19" name="组合 18"/>
          <p:cNvGrpSpPr/>
          <p:nvPr/>
        </p:nvGrpSpPr>
        <p:grpSpPr>
          <a:xfrm>
            <a:off x="3437121" y="3137639"/>
            <a:ext cx="1854679" cy="846448"/>
            <a:chOff x="1468310" y="3244699"/>
            <a:chExt cx="1854679" cy="846448"/>
          </a:xfrm>
        </p:grpSpPr>
        <p:sp>
          <p:nvSpPr>
            <p:cNvPr id="20"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21"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Subnet=128.14.1.0</a:t>
              </a:r>
            </a:p>
            <a:p>
              <a:r>
                <a:rPr lang="en-US" altLang="zh-CN" sz="1200" b="1" dirty="0">
                  <a:ea typeface="宋体" pitchFamily="2" charset="-122"/>
                </a:rPr>
                <a:t>Mask=255.255.255.0</a:t>
              </a:r>
            </a:p>
          </p:txBody>
        </p:sp>
      </p:grpSp>
      <p:sp>
        <p:nvSpPr>
          <p:cNvPr id="22" name="矩形 21"/>
          <p:cNvSpPr/>
          <p:nvPr/>
        </p:nvSpPr>
        <p:spPr>
          <a:xfrm>
            <a:off x="4308171" y="4195140"/>
            <a:ext cx="646331"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超网</a:t>
            </a:r>
            <a:endParaRPr lang="zh-CN" altLang="en-US" dirty="0"/>
          </a:p>
        </p:txBody>
      </p:sp>
    </p:spTree>
    <p:extLst>
      <p:ext uri="{BB962C8B-B14F-4D97-AF65-F5344CB8AC3E}">
        <p14:creationId xmlns:p14="http://schemas.microsoft.com/office/powerpoint/2010/main" val="27592893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033203" cy="400110"/>
          </a:xfrm>
          <a:prstGeom prst="rect">
            <a:avLst/>
          </a:prstGeom>
        </p:spPr>
        <p:txBody>
          <a:bodyPr wrap="none">
            <a:spAutoFit/>
          </a:bodyPr>
          <a:lstStyle/>
          <a:p>
            <a:r>
              <a:rPr lang="zh-CN" altLang="en-US" sz="2000" b="1" dirty="0">
                <a:latin typeface="微软雅黑" pitchFamily="34" charset="-122"/>
                <a:ea typeface="微软雅黑" pitchFamily="34" charset="-122"/>
              </a:rPr>
              <a:t>三个特殊的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2647743044"/>
              </p:ext>
            </p:extLst>
          </p:nvPr>
        </p:nvGraphicFramePr>
        <p:xfrm>
          <a:off x="545144" y="1024787"/>
          <a:ext cx="8053711" cy="2115228"/>
        </p:xfrm>
        <a:graphic>
          <a:graphicData uri="http://schemas.openxmlformats.org/drawingml/2006/table">
            <a:tbl>
              <a:tblPr firstRow="1" bandRow="1">
                <a:tableStyleId>{0660B408-B3CF-4A94-85FC-2B1E0A45F4A2}</a:tableStyleId>
              </a:tblPr>
              <a:tblGrid>
                <a:gridCol w="1525196">
                  <a:extLst>
                    <a:ext uri="{9D8B030D-6E8A-4147-A177-3AD203B41FA5}">
                      <a16:colId xmlns:a16="http://schemas.microsoft.com/office/drawing/2014/main" val="2353518644"/>
                    </a:ext>
                  </a:extLst>
                </a:gridCol>
                <a:gridCol w="1889185">
                  <a:extLst>
                    <a:ext uri="{9D8B030D-6E8A-4147-A177-3AD203B41FA5}">
                      <a16:colId xmlns:a16="http://schemas.microsoft.com/office/drawing/2014/main" val="2193359301"/>
                    </a:ext>
                  </a:extLst>
                </a:gridCol>
                <a:gridCol w="4639330">
                  <a:extLst>
                    <a:ext uri="{9D8B030D-6E8A-4147-A177-3AD203B41FA5}">
                      <a16:colId xmlns:a16="http://schemas.microsoft.com/office/drawing/2014/main" val="1977336071"/>
                    </a:ext>
                  </a:extLst>
                </a:gridCol>
              </a:tblGrid>
              <a:tr h="426180">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altLang="en-US" sz="1400" b="1" kern="500" dirty="0">
                          <a:effectLst/>
                          <a:latin typeface="微软雅黑" panose="020B0503020204020204" pitchFamily="34" charset="-122"/>
                          <a:ea typeface="微软雅黑" panose="020B0503020204020204" pitchFamily="34" charset="-122"/>
                        </a:rPr>
                        <a:t>说明</a:t>
                      </a:r>
                      <a:endParaRPr lang="zh-CN" sz="1400" b="1" kern="500" dirty="0">
                        <a:solidFill>
                          <a:schemeClr val="lt1"/>
                        </a:solidFill>
                        <a:effectLst/>
                        <a:latin typeface="微软雅黑" panose="020B0503020204020204" pitchFamily="34" charset="-122"/>
                        <a:ea typeface="微软雅黑" panose="020B0503020204020204" pitchFamily="34" charset="-122"/>
                        <a:cs typeface="+mn-cs"/>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764408178"/>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32</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a:t>
                      </a:r>
                      <a:r>
                        <a:rPr lang="en-US" altLang="zh-CN" sz="1400" b="1" kern="500" dirty="0">
                          <a:effectLst/>
                          <a:latin typeface="微软雅黑" panose="020B0503020204020204" pitchFamily="34" charset="-122"/>
                          <a:ea typeface="微软雅黑" panose="020B0503020204020204" pitchFamily="34" charset="-122"/>
                        </a:rPr>
                        <a:t>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就是一个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地址。这个特殊地址用于主机路由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19340114"/>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31</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255.25</a:t>
                      </a:r>
                      <a:r>
                        <a:rPr lang="en-US" altLang="zh-CN" sz="1400" b="1" kern="500" dirty="0">
                          <a:effectLst/>
                          <a:latin typeface="微软雅黑" panose="020B0503020204020204" pitchFamily="34" charset="-122"/>
                          <a:ea typeface="微软雅黑" panose="020B0503020204020204" pitchFamily="34" charset="-122"/>
                        </a:rPr>
                        <a:t>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只有两个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地址，其主机号分别为 </a:t>
                      </a:r>
                      <a:r>
                        <a:rPr lang="en-US" altLang="zh-CN" sz="1400" b="1" kern="500" dirty="0">
                          <a:effectLst/>
                          <a:latin typeface="微软雅黑" panose="020B0503020204020204" pitchFamily="34" charset="-122"/>
                          <a:ea typeface="微软雅黑" panose="020B0503020204020204" pitchFamily="34" charset="-122"/>
                        </a:rPr>
                        <a:t>0 </a:t>
                      </a:r>
                      <a:r>
                        <a:rPr lang="zh-CN" altLang="en-US" sz="1400" b="1" kern="500" dirty="0">
                          <a:effectLst/>
                          <a:latin typeface="微软雅黑" panose="020B0503020204020204" pitchFamily="34" charset="-122"/>
                          <a:ea typeface="微软雅黑" panose="020B0503020204020204" pitchFamily="34" charset="-122"/>
                        </a:rPr>
                        <a:t>和 </a:t>
                      </a:r>
                      <a:r>
                        <a:rPr lang="en-US" altLang="zh-CN" sz="1400" b="1" kern="500" dirty="0">
                          <a:effectLst/>
                          <a:latin typeface="微软雅黑" panose="020B0503020204020204" pitchFamily="34" charset="-122"/>
                          <a:ea typeface="微软雅黑" panose="020B0503020204020204" pitchFamily="34" charset="-122"/>
                        </a:rPr>
                        <a:t>1</a:t>
                      </a:r>
                      <a:r>
                        <a:rPr lang="zh-CN" altLang="en-US" sz="1400" b="1" kern="500" dirty="0">
                          <a:effectLst/>
                          <a:latin typeface="微软雅黑" panose="020B0503020204020204" pitchFamily="34" charset="-122"/>
                          <a:ea typeface="微软雅黑" panose="020B0503020204020204" pitchFamily="34" charset="-122"/>
                        </a:rPr>
                        <a:t>。</a:t>
                      </a:r>
                      <a:endParaRPr lang="en-US" altLang="zh-CN" sz="1400" b="1" kern="500" dirty="0">
                        <a:effectLst/>
                        <a:latin typeface="微软雅黑" panose="020B0503020204020204" pitchFamily="34" charset="-122"/>
                        <a:ea typeface="微软雅黑" panose="020B0503020204020204" pitchFamily="34" charset="-122"/>
                      </a:endParaRPr>
                    </a:p>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这个地址块用于点对点链路</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0401141"/>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0</a:t>
                      </a:r>
                      <a:endParaRPr lang="zh-CN" sz="18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.0.0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同时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地址也是全 </a:t>
                      </a:r>
                      <a:r>
                        <a:rPr lang="en-US" altLang="zh-CN" sz="1400" b="1" kern="500" dirty="0">
                          <a:effectLst/>
                          <a:latin typeface="微软雅黑" panose="020B0503020204020204" pitchFamily="34" charset="-122"/>
                          <a:ea typeface="微软雅黑" panose="020B0503020204020204" pitchFamily="34" charset="-122"/>
                        </a:rPr>
                        <a:t>0</a:t>
                      </a:r>
                      <a:r>
                        <a:rPr lang="zh-CN" altLang="en-US" sz="1400" b="1" kern="500" dirty="0">
                          <a:effectLst/>
                          <a:latin typeface="微软雅黑" panose="020B0503020204020204" pitchFamily="34" charset="-122"/>
                          <a:ea typeface="微软雅黑" panose="020B0503020204020204" pitchFamily="34" charset="-122"/>
                        </a:rPr>
                        <a:t>，即 </a:t>
                      </a:r>
                      <a:r>
                        <a:rPr lang="en-US" altLang="zh-CN" sz="1400" b="1" kern="500" dirty="0">
                          <a:effectLst/>
                          <a:latin typeface="微软雅黑" panose="020B0503020204020204" pitchFamily="34" charset="-122"/>
                          <a:ea typeface="微软雅黑" panose="020B0503020204020204" pitchFamily="34" charset="-122"/>
                        </a:rPr>
                        <a:t>0.0.0.0/0</a:t>
                      </a:r>
                      <a:r>
                        <a:rPr lang="zh-CN" altLang="en-US" sz="1400" b="1" kern="500" dirty="0">
                          <a:effectLst/>
                          <a:latin typeface="微软雅黑" panose="020B0503020204020204" pitchFamily="34" charset="-122"/>
                          <a:ea typeface="微软雅黑" panose="020B0503020204020204" pitchFamily="34" charset="-122"/>
                        </a:rPr>
                        <a:t>。用于默认路由。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35733493"/>
                  </a:ext>
                </a:extLst>
              </a:tr>
            </a:tbl>
          </a:graphicData>
        </a:graphic>
      </p:graphicFrame>
    </p:spTree>
    <p:extLst>
      <p:ext uri="{BB962C8B-B14F-4D97-AF65-F5344CB8AC3E}">
        <p14:creationId xmlns:p14="http://schemas.microsoft.com/office/powerpoint/2010/main" val="2497165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837397" cy="400110"/>
          </a:xfrm>
          <a:prstGeom prst="rect">
            <a:avLst/>
          </a:prstGeom>
        </p:spPr>
        <p:txBody>
          <a:bodyPr wrap="none">
            <a:spAutoFit/>
          </a:bodyPr>
          <a:lstStyle/>
          <a:p>
            <a:r>
              <a:rPr lang="zh-CN" altLang="en-US" sz="2000" b="1" dirty="0">
                <a:latin typeface="微软雅黑" pitchFamily="34" charset="-122"/>
                <a:ea typeface="微软雅黑" pitchFamily="34" charset="-122"/>
              </a:rPr>
              <a:t>路由聚合 </a:t>
            </a:r>
            <a:r>
              <a:rPr lang="en-US" altLang="zh-CN" sz="2000" b="1" dirty="0">
                <a:latin typeface="微软雅黑" pitchFamily="34" charset="-122"/>
                <a:ea typeface="微软雅黑" pitchFamily="34" charset="-122"/>
              </a:rPr>
              <a:t>(route aggregation)</a:t>
            </a:r>
            <a:endParaRPr lang="zh-CN" altLang="en-US" sz="2000" b="1" dirty="0">
              <a:latin typeface="微软雅黑" pitchFamily="34" charset="-122"/>
              <a:ea typeface="微软雅黑" pitchFamily="34" charset="-122"/>
            </a:endParaRPr>
          </a:p>
        </p:txBody>
      </p:sp>
      <p:sp>
        <p:nvSpPr>
          <p:cNvPr id="5" name="Rectangle 4"/>
          <p:cNvSpPr>
            <a:spLocks noChangeArrowheads="1"/>
          </p:cNvSpPr>
          <p:nvPr/>
        </p:nvSpPr>
        <p:spPr bwMode="auto">
          <a:xfrm>
            <a:off x="3346931" y="1134164"/>
            <a:ext cx="1438340" cy="3273934"/>
          </a:xfrm>
          <a:prstGeom prst="rect">
            <a:avLst/>
          </a:prstGeom>
          <a:solidFill>
            <a:srgbClr val="FFFF99"/>
          </a:solidFill>
          <a:ln w="19050" algn="ctr">
            <a:solidFill>
              <a:schemeClr val="tx1"/>
            </a:solidFill>
            <a:miter lim="800000"/>
            <a:headEnd/>
            <a:tailEnd/>
          </a:ln>
          <a:effectLst/>
        </p:spPr>
        <p:txBody>
          <a:bodyPr wrap="none"/>
          <a:lstStyle/>
          <a:p>
            <a:r>
              <a:rPr lang="en-US" altLang="zh-CN" sz="1300" b="1" dirty="0">
                <a:latin typeface="Tahoma" pitchFamily="34" charset="0"/>
                <a:ea typeface="宋体" pitchFamily="2" charset="-122"/>
              </a:rPr>
              <a:t>192.24.0</a:t>
            </a:r>
          </a:p>
          <a:p>
            <a:r>
              <a:rPr lang="en-US" altLang="zh-CN" sz="1300" b="1" dirty="0">
                <a:latin typeface="Tahoma" pitchFamily="34" charset="0"/>
                <a:ea typeface="宋体" pitchFamily="2" charset="-122"/>
              </a:rPr>
              <a:t>192.24.1</a:t>
            </a:r>
          </a:p>
          <a:p>
            <a:r>
              <a:rPr lang="en-US" altLang="zh-CN" sz="1300" b="1" dirty="0">
                <a:latin typeface="Tahoma" pitchFamily="34" charset="0"/>
                <a:ea typeface="宋体" pitchFamily="2" charset="-122"/>
              </a:rPr>
              <a:t>192.24.2</a:t>
            </a:r>
          </a:p>
          <a:p>
            <a:r>
              <a:rPr lang="en-US" altLang="zh-CN" sz="1300" b="1" dirty="0">
                <a:latin typeface="Tahoma" pitchFamily="34" charset="0"/>
                <a:ea typeface="宋体" pitchFamily="2" charset="-122"/>
              </a:rPr>
              <a:t>192.24.3</a:t>
            </a:r>
          </a:p>
          <a:p>
            <a:r>
              <a:rPr lang="en-US" altLang="zh-CN" sz="1300" b="1" dirty="0">
                <a:latin typeface="Tahoma" pitchFamily="34" charset="0"/>
                <a:ea typeface="宋体" pitchFamily="2" charset="-122"/>
              </a:rPr>
              <a:t>192.24.4</a:t>
            </a:r>
          </a:p>
          <a:p>
            <a:r>
              <a:rPr lang="en-US" altLang="zh-CN" sz="1300" b="1" dirty="0">
                <a:latin typeface="Tahoma" pitchFamily="34" charset="0"/>
                <a:ea typeface="宋体" pitchFamily="2" charset="-122"/>
              </a:rPr>
              <a:t>192.24.5</a:t>
            </a:r>
          </a:p>
          <a:p>
            <a:r>
              <a:rPr lang="en-US" altLang="zh-CN" sz="1300" b="1" dirty="0">
                <a:latin typeface="Tahoma" pitchFamily="34" charset="0"/>
                <a:ea typeface="宋体" pitchFamily="2" charset="-122"/>
              </a:rPr>
              <a:t>192.24.6</a:t>
            </a:r>
          </a:p>
          <a:p>
            <a:r>
              <a:rPr lang="en-US" altLang="zh-CN" sz="1300" b="1" dirty="0">
                <a:latin typeface="Tahoma" pitchFamily="34" charset="0"/>
                <a:ea typeface="宋体" pitchFamily="2" charset="-122"/>
              </a:rPr>
              <a:t>192.24.7</a:t>
            </a:r>
          </a:p>
          <a:p>
            <a:r>
              <a:rPr lang="en-US" altLang="zh-CN" sz="1300" b="1" dirty="0">
                <a:latin typeface="Tahoma" pitchFamily="34" charset="0"/>
                <a:ea typeface="宋体" pitchFamily="2" charset="-122"/>
              </a:rPr>
              <a:t>192.24.8</a:t>
            </a:r>
          </a:p>
          <a:p>
            <a:r>
              <a:rPr lang="en-US" altLang="zh-CN" sz="1300" b="1" dirty="0">
                <a:latin typeface="Tahoma" pitchFamily="34" charset="0"/>
                <a:ea typeface="宋体" pitchFamily="2" charset="-122"/>
              </a:rPr>
              <a:t>192.24.9</a:t>
            </a:r>
          </a:p>
          <a:p>
            <a:r>
              <a:rPr lang="en-US" altLang="zh-CN" sz="1300" b="1" dirty="0">
                <a:latin typeface="Tahoma" pitchFamily="34" charset="0"/>
                <a:ea typeface="宋体" pitchFamily="2" charset="-122"/>
              </a:rPr>
              <a:t>192.24.10</a:t>
            </a:r>
          </a:p>
          <a:p>
            <a:r>
              <a:rPr lang="en-US" altLang="zh-CN" sz="1300" b="1" dirty="0">
                <a:latin typeface="Tahoma" pitchFamily="34" charset="0"/>
                <a:ea typeface="宋体" pitchFamily="2" charset="-122"/>
              </a:rPr>
              <a:t>192.24.11</a:t>
            </a:r>
          </a:p>
          <a:p>
            <a:r>
              <a:rPr lang="en-US" altLang="zh-CN" sz="1300" b="1" dirty="0">
                <a:latin typeface="Tahoma" pitchFamily="34" charset="0"/>
                <a:ea typeface="宋体" pitchFamily="2" charset="-122"/>
              </a:rPr>
              <a:t>192.24.12</a:t>
            </a:r>
          </a:p>
          <a:p>
            <a:r>
              <a:rPr lang="en-US" altLang="zh-CN" sz="1300" b="1" dirty="0">
                <a:latin typeface="Tahoma" pitchFamily="34" charset="0"/>
                <a:ea typeface="宋体" pitchFamily="2" charset="-122"/>
              </a:rPr>
              <a:t>192.24.13</a:t>
            </a:r>
          </a:p>
          <a:p>
            <a:r>
              <a:rPr lang="en-US" altLang="zh-CN" sz="1300" b="1" dirty="0">
                <a:latin typeface="Tahoma" pitchFamily="34" charset="0"/>
                <a:ea typeface="宋体" pitchFamily="2" charset="-122"/>
              </a:rPr>
              <a:t>192.24.14</a:t>
            </a:r>
          </a:p>
          <a:p>
            <a:r>
              <a:rPr lang="en-US" altLang="zh-CN" sz="1300" b="1" dirty="0">
                <a:latin typeface="Tahoma" pitchFamily="34" charset="0"/>
                <a:ea typeface="宋体" pitchFamily="2" charset="-122"/>
              </a:rPr>
              <a:t>192.24.15</a:t>
            </a:r>
          </a:p>
        </p:txBody>
      </p:sp>
      <p:sp>
        <p:nvSpPr>
          <p:cNvPr id="6" name="Rectangle 6"/>
          <p:cNvSpPr>
            <a:spLocks noChangeArrowheads="1"/>
          </p:cNvSpPr>
          <p:nvPr/>
        </p:nvSpPr>
        <p:spPr bwMode="auto">
          <a:xfrm>
            <a:off x="5491643" y="1561043"/>
            <a:ext cx="2901859" cy="456229"/>
          </a:xfrm>
          <a:prstGeom prst="rect">
            <a:avLst/>
          </a:prstGeom>
          <a:solidFill>
            <a:srgbClr val="FFC000"/>
          </a:solidFill>
          <a:ln w="19050" algn="ctr">
            <a:solidFill>
              <a:schemeClr val="tx1"/>
            </a:solidFill>
            <a:miter lim="800000"/>
            <a:headEnd/>
            <a:tailEnd/>
          </a:ln>
          <a:effectLst/>
        </p:spPr>
        <p:txBody>
          <a:bodyPr wrap="none" anchor="ctr"/>
          <a:lstStyle/>
          <a:p>
            <a:pPr algn="ctr"/>
            <a:r>
              <a:rPr lang="en-US" altLang="zh-CN" sz="2000" b="1" dirty="0">
                <a:latin typeface="微软雅黑" panose="020B0503020204020204" pitchFamily="34" charset="-122"/>
                <a:ea typeface="微软雅黑" panose="020B0503020204020204" pitchFamily="34" charset="-122"/>
              </a:rPr>
              <a:t>192.24.0.0 / 20</a:t>
            </a:r>
          </a:p>
        </p:txBody>
      </p:sp>
      <p:grpSp>
        <p:nvGrpSpPr>
          <p:cNvPr id="16" name="组合 15"/>
          <p:cNvGrpSpPr/>
          <p:nvPr/>
        </p:nvGrpSpPr>
        <p:grpSpPr>
          <a:xfrm>
            <a:off x="4794484" y="1134420"/>
            <a:ext cx="687946" cy="3224243"/>
            <a:chOff x="4794484" y="1134420"/>
            <a:chExt cx="687946" cy="3224243"/>
          </a:xfrm>
        </p:grpSpPr>
        <p:sp>
          <p:nvSpPr>
            <p:cNvPr id="8" name="Line 8"/>
            <p:cNvSpPr>
              <a:spLocks noChangeShapeType="1"/>
            </p:cNvSpPr>
            <p:nvPr/>
          </p:nvSpPr>
          <p:spPr bwMode="auto">
            <a:xfrm>
              <a:off x="4794484" y="1134420"/>
              <a:ext cx="687946" cy="43326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sp>
          <p:nvSpPr>
            <p:cNvPr id="9" name="Line 9"/>
            <p:cNvSpPr>
              <a:spLocks noChangeShapeType="1"/>
            </p:cNvSpPr>
            <p:nvPr/>
          </p:nvSpPr>
          <p:spPr bwMode="auto">
            <a:xfrm flipV="1">
              <a:off x="4794484" y="2017271"/>
              <a:ext cx="687946" cy="234139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grpSp>
      <p:grpSp>
        <p:nvGrpSpPr>
          <p:cNvPr id="18" name="组合 17"/>
          <p:cNvGrpSpPr/>
          <p:nvPr/>
        </p:nvGrpSpPr>
        <p:grpSpPr>
          <a:xfrm>
            <a:off x="264272" y="1376377"/>
            <a:ext cx="2940166" cy="1386128"/>
            <a:chOff x="264272" y="1376377"/>
            <a:chExt cx="2940166" cy="1386128"/>
          </a:xfrm>
        </p:grpSpPr>
        <p:sp>
          <p:nvSpPr>
            <p:cNvPr id="12" name="Text Box 7"/>
            <p:cNvSpPr txBox="1">
              <a:spLocks noChangeArrowheads="1"/>
            </p:cNvSpPr>
            <p:nvPr/>
          </p:nvSpPr>
          <p:spPr bwMode="auto">
            <a:xfrm>
              <a:off x="264272" y="1746842"/>
              <a:ext cx="2940166" cy="1015663"/>
            </a:xfrm>
            <a:prstGeom prst="rect">
              <a:avLst/>
            </a:prstGeom>
            <a:noFill/>
            <a:ln w="19050">
              <a:solidFill>
                <a:srgbClr val="00B0F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 </a:t>
              </a:r>
              <a:r>
                <a:rPr lang="en-US" altLang="zh-CN" sz="1600" b="1" dirty="0">
                  <a:latin typeface="微软雅黑" panose="020B0503020204020204" pitchFamily="34" charset="-122"/>
                  <a:ea typeface="微软雅黑" panose="020B0503020204020204" pitchFamily="34" charset="-122"/>
                </a:rPr>
                <a:t>C </a:t>
              </a:r>
              <a:r>
                <a:rPr lang="zh-CN" altLang="en-US" sz="1600" b="1" dirty="0">
                  <a:latin typeface="微软雅黑" panose="020B0503020204020204" pitchFamily="34" charset="-122"/>
                  <a:ea typeface="微软雅黑" panose="020B0503020204020204" pitchFamily="34" charset="-122"/>
                </a:rPr>
                <a:t>类地址，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=255.255.255.0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路由表中需要 </a:t>
              </a: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sp>
          <p:nvSpPr>
            <p:cNvPr id="13" name="矩形 12"/>
            <p:cNvSpPr/>
            <p:nvPr/>
          </p:nvSpPr>
          <p:spPr>
            <a:xfrm>
              <a:off x="1067808" y="1376377"/>
              <a:ext cx="946093" cy="369332"/>
            </a:xfrm>
            <a:prstGeom prst="rect">
              <a:avLst/>
            </a:prstGeom>
            <a:solidFill>
              <a:srgbClr val="00B0F0"/>
            </a:solidFill>
          </p:spPr>
          <p:txBody>
            <a:bodyPr wrap="none">
              <a:spAutoFit/>
            </a:bodyPr>
            <a:lstStyle/>
            <a:p>
              <a:r>
                <a:rPr lang="zh-CN" altLang="en-US" b="1" dirty="0">
                  <a:latin typeface="微软雅黑" pitchFamily="34" charset="-122"/>
                  <a:ea typeface="微软雅黑" pitchFamily="34" charset="-122"/>
                </a:rPr>
                <a:t>聚合前 </a:t>
              </a:r>
              <a:endParaRPr lang="zh-CN" altLang="en-US" dirty="0"/>
            </a:p>
          </p:txBody>
        </p:sp>
      </p:grpSp>
      <p:grpSp>
        <p:nvGrpSpPr>
          <p:cNvPr id="17" name="组合 16"/>
          <p:cNvGrpSpPr/>
          <p:nvPr/>
        </p:nvGrpSpPr>
        <p:grpSpPr>
          <a:xfrm>
            <a:off x="5509047" y="2302919"/>
            <a:ext cx="2884455" cy="1376841"/>
            <a:chOff x="5509047" y="2302919"/>
            <a:chExt cx="2884455" cy="1376841"/>
          </a:xfrm>
        </p:grpSpPr>
        <p:sp>
          <p:nvSpPr>
            <p:cNvPr id="14" name="矩形 13"/>
            <p:cNvSpPr/>
            <p:nvPr/>
          </p:nvSpPr>
          <p:spPr>
            <a:xfrm>
              <a:off x="6355992" y="2302919"/>
              <a:ext cx="1072509" cy="369332"/>
            </a:xfrm>
            <a:prstGeom prst="rect">
              <a:avLst/>
            </a:prstGeom>
            <a:solidFill>
              <a:srgbClr val="00B050"/>
            </a:solidFill>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聚合后 </a:t>
              </a:r>
              <a:endParaRPr lang="zh-CN" altLang="en-US" dirty="0">
                <a:latin typeface="微软雅黑" panose="020B0503020204020204" pitchFamily="34" charset="-122"/>
                <a:ea typeface="微软雅黑" panose="020B0503020204020204" pitchFamily="34" charset="-122"/>
              </a:endParaRPr>
            </a:p>
          </p:txBody>
        </p:sp>
        <p:sp>
          <p:nvSpPr>
            <p:cNvPr id="15" name="Text Box 7"/>
            <p:cNvSpPr txBox="1">
              <a:spLocks noChangeArrowheads="1"/>
            </p:cNvSpPr>
            <p:nvPr/>
          </p:nvSpPr>
          <p:spPr bwMode="auto">
            <a:xfrm>
              <a:off x="5509047" y="2664097"/>
              <a:ext cx="2884455" cy="1015663"/>
            </a:xfrm>
            <a:prstGeom prst="rect">
              <a:avLst/>
            </a:prstGeom>
            <a:noFill/>
            <a:ln w="19050">
              <a:solidFill>
                <a:srgbClr val="00B05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zh-CN" altLang="en-US" sz="1600" b="1" dirty="0">
                  <a:latin typeface="微软雅黑" panose="020B0503020204020204" pitchFamily="34" charset="-122"/>
                  <a:ea typeface="微软雅黑" panose="020B0503020204020204" pitchFamily="34" charset="-122"/>
                </a:rPr>
                <a:t>聚合为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 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=255.255.240.0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路由表中只需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29585692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1000"/>
                                        <p:tgtEl>
                                          <p:spTgt spid="6"/>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1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spTree>
    <p:extLst>
      <p:ext uri="{BB962C8B-B14F-4D97-AF65-F5344CB8AC3E}">
        <p14:creationId xmlns:p14="http://schemas.microsoft.com/office/powerpoint/2010/main" val="509260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grpSp>
        <p:nvGrpSpPr>
          <p:cNvPr id="71" name="组合 70"/>
          <p:cNvGrpSpPr/>
          <p:nvPr/>
        </p:nvGrpSpPr>
        <p:grpSpPr>
          <a:xfrm>
            <a:off x="2346909" y="2883642"/>
            <a:ext cx="4640742" cy="1423467"/>
            <a:chOff x="2517509" y="2883642"/>
            <a:chExt cx="4640742" cy="1423467"/>
          </a:xfrm>
        </p:grpSpPr>
        <p:sp>
          <p:nvSpPr>
            <p:cNvPr id="72" name="Rectangle 3"/>
            <p:cNvSpPr>
              <a:spLocks noChangeArrowheads="1"/>
            </p:cNvSpPr>
            <p:nvPr/>
          </p:nvSpPr>
          <p:spPr bwMode="auto">
            <a:xfrm>
              <a:off x="2528884" y="2924384"/>
              <a:ext cx="4629367"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7" name="Text Box 57"/>
            <p:cNvSpPr txBox="1">
              <a:spLocks noChangeArrowheads="1"/>
            </p:cNvSpPr>
            <p:nvPr/>
          </p:nvSpPr>
          <p:spPr bwMode="auto">
            <a:xfrm>
              <a:off x="2517509" y="2883642"/>
              <a:ext cx="4640742"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                           地址数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16384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1024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512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256</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128</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128</a:t>
              </a:r>
            </a:p>
          </p:txBody>
        </p:sp>
        <p:sp>
          <p:nvSpPr>
            <p:cNvPr id="78" name="Line 58"/>
            <p:cNvSpPr>
              <a:spLocks noChangeShapeType="1"/>
            </p:cNvSpPr>
            <p:nvPr/>
          </p:nvSpPr>
          <p:spPr bwMode="auto">
            <a:xfrm>
              <a:off x="2523083" y="3147512"/>
              <a:ext cx="4635168"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9" name="Line 59"/>
            <p:cNvSpPr>
              <a:spLocks noChangeShapeType="1"/>
            </p:cNvSpPr>
            <p:nvPr/>
          </p:nvSpPr>
          <p:spPr bwMode="auto">
            <a:xfrm flipH="1">
              <a:off x="29572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0" name="Line 60"/>
            <p:cNvSpPr>
              <a:spLocks noChangeShapeType="1"/>
            </p:cNvSpPr>
            <p:nvPr/>
          </p:nvSpPr>
          <p:spPr bwMode="auto">
            <a:xfrm flipH="1">
              <a:off x="41566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1" name="Line 61"/>
            <p:cNvSpPr>
              <a:spLocks noChangeShapeType="1"/>
            </p:cNvSpPr>
            <p:nvPr/>
          </p:nvSpPr>
          <p:spPr bwMode="auto">
            <a:xfrm flipH="1">
              <a:off x="65115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82" name="矩形 81"/>
          <p:cNvSpPr/>
          <p:nvPr/>
        </p:nvSpPr>
        <p:spPr>
          <a:xfrm>
            <a:off x="1236910" y="2882740"/>
            <a:ext cx="6611815" cy="142633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Text Box 155"/>
          <p:cNvSpPr txBox="1">
            <a:spLocks noChangeArrowheads="1"/>
          </p:cNvSpPr>
          <p:nvPr/>
        </p:nvSpPr>
        <p:spPr bwMode="auto">
          <a:xfrm>
            <a:off x="1252868" y="2924032"/>
            <a:ext cx="6593695" cy="1374735"/>
          </a:xfrm>
          <a:prstGeom prst="rect">
            <a:avLst/>
          </a:prstGeom>
          <a:noFill/>
          <a:ln w="9525">
            <a:noFill/>
            <a:miter lim="800000"/>
            <a:headEnd/>
            <a:tailEnd/>
          </a:ln>
          <a:effectLst/>
        </p:spPr>
        <p:txBody>
          <a:bodyPr wrap="square">
            <a:spAutoFit/>
          </a:bodyPr>
          <a:lstStyle/>
          <a:p>
            <a:pPr>
              <a:lnSpc>
                <a:spcPts val="2000"/>
              </a:lnSpc>
            </a:pPr>
            <a:r>
              <a:rPr lang="zh-CN" altLang="en-US" sz="1400" b="1" dirty="0">
                <a:solidFill>
                  <a:schemeClr val="bg1"/>
                </a:solidFill>
                <a:latin typeface="微软雅黑" pitchFamily="34" charset="-122"/>
                <a:ea typeface="微软雅黑" pitchFamily="34" charset="-122"/>
              </a:rPr>
              <a:t>这个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共有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个 </a:t>
            </a:r>
            <a:r>
              <a:rPr lang="en-US" altLang="zh-CN" sz="1400" b="1" dirty="0">
                <a:solidFill>
                  <a:schemeClr val="bg1"/>
                </a:solidFill>
                <a:latin typeface="微软雅黑" pitchFamily="34" charset="-122"/>
                <a:ea typeface="微软雅黑" pitchFamily="34" charset="-122"/>
              </a:rPr>
              <a:t>C </a:t>
            </a:r>
            <a:r>
              <a:rPr lang="zh-CN" altLang="en-US" sz="1400" b="1" dirty="0">
                <a:solidFill>
                  <a:schemeClr val="bg1"/>
                </a:solidFill>
                <a:latin typeface="微软雅黑" pitchFamily="34" charset="-122"/>
                <a:ea typeface="微软雅黑" pitchFamily="34" charset="-122"/>
              </a:rPr>
              <a:t>类网络。如果不采用 </a:t>
            </a:r>
            <a:r>
              <a:rPr lang="en-US" altLang="zh-CN" sz="1400" b="1" dirty="0">
                <a:solidFill>
                  <a:schemeClr val="bg1"/>
                </a:solidFill>
                <a:latin typeface="微软雅黑" pitchFamily="34" charset="-122"/>
                <a:ea typeface="微软雅黑" pitchFamily="34" charset="-122"/>
              </a:rPr>
              <a:t>CIDR </a:t>
            </a:r>
            <a:r>
              <a:rPr lang="zh-CN" altLang="en-US" sz="1400" b="1" dirty="0">
                <a:solidFill>
                  <a:schemeClr val="bg1"/>
                </a:solidFill>
                <a:latin typeface="微软雅黑" pitchFamily="34" charset="-122"/>
                <a:ea typeface="微软雅黑" pitchFamily="34" charset="-122"/>
              </a:rPr>
              <a:t>技术，则在与该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的路由器交换路由信息的每一个路由器的转发表中，需要有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行。采用地址聚合后，转发表中只需要用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行来指出到 </a:t>
            </a:r>
            <a:r>
              <a:rPr lang="en-US" altLang="zh-CN" sz="1400" b="1" dirty="0">
                <a:solidFill>
                  <a:srgbClr val="FFFF00"/>
                </a:solidFill>
                <a:latin typeface="微软雅黑" pitchFamily="34" charset="-122"/>
                <a:ea typeface="微软雅黑" pitchFamily="34" charset="-122"/>
              </a:rPr>
              <a:t>206.0.64.0/18</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地址块的下一跳。</a:t>
            </a:r>
            <a:endParaRPr lang="en-US" altLang="zh-CN" sz="1400" b="1" dirty="0">
              <a:solidFill>
                <a:schemeClr val="bg1"/>
              </a:solidFill>
              <a:latin typeface="微软雅黑" pitchFamily="34" charset="-122"/>
              <a:ea typeface="微软雅黑" pitchFamily="34" charset="-122"/>
            </a:endParaRPr>
          </a:p>
          <a:p>
            <a:pPr>
              <a:lnSpc>
                <a:spcPts val="2000"/>
              </a:lnSpc>
            </a:pPr>
            <a:r>
              <a:rPr lang="zh-CN" altLang="en-US" sz="1400" b="1" dirty="0">
                <a:solidFill>
                  <a:schemeClr val="bg1"/>
                </a:solidFill>
                <a:latin typeface="微软雅黑" pitchFamily="34" charset="-122"/>
                <a:ea typeface="微软雅黑" pitchFamily="34" charset="-122"/>
              </a:rPr>
              <a:t>在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内的路由器的转发表中，也仅需用 </a:t>
            </a:r>
            <a:r>
              <a:rPr lang="en-US" altLang="zh-CN" sz="1400" b="1" dirty="0">
                <a:solidFill>
                  <a:srgbClr val="FFFF00"/>
                </a:solidFill>
                <a:latin typeface="微软雅黑" pitchFamily="34" charset="-122"/>
                <a:ea typeface="微软雅黑" pitchFamily="34" charset="-122"/>
              </a:rPr>
              <a:t>206.0.68.0/22</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这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个项目，就能把外部发送到这个大学各系的所有分组，都转发到大学的路由器。</a:t>
            </a:r>
          </a:p>
        </p:txBody>
      </p:sp>
    </p:spTree>
    <p:extLst>
      <p:ext uri="{BB962C8B-B14F-4D97-AF65-F5344CB8AC3E}">
        <p14:creationId xmlns:p14="http://schemas.microsoft.com/office/powerpoint/2010/main" val="1766613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83"/>
                                        </p:tgtEl>
                                        <p:attrNameLst>
                                          <p:attrName>style.visibility</p:attrName>
                                        </p:attrNameLst>
                                      </p:cBhvr>
                                      <p:to>
                                        <p:strVal val="visible"/>
                                      </p:to>
                                    </p:set>
                                    <p:animEffect transition="in" filter="wipe(up)">
                                      <p:cBhvr>
                                        <p:cTn id="7" dur="5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1361877"/>
          </a:xfrm>
          <a:prstGeom prst="borderCallout1">
            <a:avLst>
              <a:gd name="adj1" fmla="val 18153"/>
              <a:gd name="adj2" fmla="val 168"/>
              <a:gd name="adj3" fmla="val 22841"/>
              <a:gd name="adj4" fmla="val -12830"/>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nSpc>
                <a:spcPts val="2400"/>
              </a:lnSpc>
            </a:pP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地址是一种</a:t>
            </a:r>
            <a:r>
              <a:rPr lang="zh-CN" altLang="en-US" sz="1600" b="1" dirty="0">
                <a:solidFill>
                  <a:srgbClr val="C00000"/>
                </a:solidFill>
                <a:latin typeface="微软雅黑" panose="020B0503020204020204" pitchFamily="34" charset="-122"/>
                <a:ea typeface="微软雅黑" panose="020B0503020204020204" pitchFamily="34" charset="-122"/>
              </a:rPr>
              <a:t>分等级</a:t>
            </a:r>
            <a:r>
              <a:rPr lang="zh-CN" altLang="en-US" sz="1600" b="1" dirty="0">
                <a:solidFill>
                  <a:schemeClr val="tx1"/>
                </a:solidFill>
                <a:latin typeface="微软雅黑" panose="020B0503020204020204" pitchFamily="34" charset="-122"/>
                <a:ea typeface="微软雅黑" panose="020B0503020204020204" pitchFamily="34" charset="-122"/>
              </a:rPr>
              <a:t>的地址结构。</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方便了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地址的分配和管理。</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实现路由聚合，减小了转发表所占的存储空间，以及查找转发表的时间。</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5902612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58780"/>
          </a:xfrm>
          <a:prstGeom prst="borderCallout1">
            <a:avLst>
              <a:gd name="adj1" fmla="val 18153"/>
              <a:gd name="adj2" fmla="val 168"/>
              <a:gd name="adj3" fmla="val 45156"/>
              <a:gd name="adj4" fmla="val -13501"/>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当一台</a:t>
            </a:r>
            <a:r>
              <a:rPr lang="zh-CN" altLang="en-US" sz="1600" b="1" dirty="0">
                <a:solidFill>
                  <a:srgbClr val="C00000"/>
                </a:solidFill>
                <a:latin typeface="微软雅黑" panose="020B0503020204020204" pitchFamily="34" charset="-122"/>
                <a:ea typeface="微软雅黑" panose="020B0503020204020204" pitchFamily="34" charset="-122"/>
              </a:rPr>
              <a:t>主机</a:t>
            </a:r>
            <a:r>
              <a:rPr lang="zh-CN" altLang="en-US" sz="1600" b="1" dirty="0">
                <a:solidFill>
                  <a:schemeClr val="tx1"/>
                </a:solidFill>
                <a:latin typeface="微软雅黑" panose="020B0503020204020204" pitchFamily="34" charset="-122"/>
                <a:ea typeface="微软雅黑" panose="020B0503020204020204" pitchFamily="34" charset="-122"/>
              </a:rPr>
              <a:t>同时连接到</a:t>
            </a:r>
            <a:r>
              <a:rPr lang="zh-CN" altLang="en-US" sz="1600" b="1" dirty="0">
                <a:solidFill>
                  <a:srgbClr val="C00000"/>
                </a:solidFill>
                <a:latin typeface="微软雅黑" panose="020B0503020204020204" pitchFamily="34" charset="-122"/>
                <a:ea typeface="微软雅黑" panose="020B0503020204020204" pitchFamily="34" charset="-122"/>
              </a:rPr>
              <a:t>两个网络</a:t>
            </a:r>
            <a:r>
              <a:rPr lang="zh-CN" altLang="en-US" sz="1600" b="1" dirty="0">
                <a:solidFill>
                  <a:schemeClr val="tx1"/>
                </a:solidFill>
                <a:latin typeface="微软雅黑" panose="020B0503020204020204" pitchFamily="34" charset="-122"/>
                <a:ea typeface="微软雅黑" panose="020B0503020204020204" pitchFamily="34" charset="-122"/>
              </a:rPr>
              <a:t>上时，该主机就必须同时具有</a:t>
            </a:r>
            <a:r>
              <a:rPr lang="zh-CN" altLang="en-US" sz="1600" b="1" dirty="0">
                <a:solidFill>
                  <a:srgbClr val="C00000"/>
                </a:solidFill>
                <a:latin typeface="微软雅黑" panose="020B0503020204020204" pitchFamily="34" charset="-122"/>
                <a:ea typeface="微软雅黑" panose="020B0503020204020204" pitchFamily="34" charset="-122"/>
              </a:rPr>
              <a:t>两个</a:t>
            </a:r>
            <a:r>
              <a:rPr lang="zh-CN" altLang="en-US" sz="1600" b="1" dirty="0">
                <a:solidFill>
                  <a:schemeClr val="tx1"/>
                </a:solidFill>
                <a:latin typeface="微软雅黑" panose="020B0503020204020204" pitchFamily="34" charset="-122"/>
                <a:ea typeface="微软雅黑" panose="020B0503020204020204" pitchFamily="34" charset="-122"/>
              </a:rPr>
              <a:t>相应的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solidFill>
                  <a:schemeClr val="tx1"/>
                </a:solidFill>
                <a:latin typeface="微软雅黑" panose="020B0503020204020204" pitchFamily="34" charset="-122"/>
                <a:ea typeface="微软雅黑" panose="020B0503020204020204" pitchFamily="34" charset="-122"/>
              </a:rPr>
              <a:t>其</a:t>
            </a:r>
            <a:r>
              <a:rPr lang="zh-CN" altLang="en-US" sz="1600" b="1" dirty="0">
                <a:solidFill>
                  <a:srgbClr val="C00000"/>
                </a:solidFill>
                <a:latin typeface="微软雅黑" panose="020B0503020204020204" pitchFamily="34" charset="-122"/>
                <a:ea typeface="微软雅黑" panose="020B0503020204020204" pitchFamily="34" charset="-122"/>
              </a:rPr>
              <a:t>网络号必须是不同</a:t>
            </a:r>
            <a:r>
              <a:rPr lang="zh-CN" altLang="en-US" sz="1600" b="1" dirty="0">
                <a:solidFill>
                  <a:schemeClr val="tx1"/>
                </a:solidFill>
                <a:latin typeface="微软雅黑" panose="020B0503020204020204" pitchFamily="34" charset="-122"/>
                <a:ea typeface="微软雅黑" panose="020B0503020204020204" pitchFamily="34" charset="-122"/>
              </a:rPr>
              <a:t>的。这种主机称为</a:t>
            </a:r>
            <a:r>
              <a:rPr lang="zh-CN" altLang="en-US" sz="1600" b="1" dirty="0">
                <a:solidFill>
                  <a:srgbClr val="C00000"/>
                </a:solidFill>
                <a:latin typeface="微软雅黑" panose="020B0503020204020204" pitchFamily="34" charset="-122"/>
                <a:ea typeface="微软雅黑" panose="020B0503020204020204" pitchFamily="34" charset="-122"/>
              </a:rPr>
              <a:t>多归属主机 </a:t>
            </a:r>
            <a:r>
              <a:rPr lang="en-US" altLang="zh-CN" sz="1600" b="1" dirty="0">
                <a:solidFill>
                  <a:schemeClr val="tx1"/>
                </a:solidFill>
                <a:latin typeface="微软雅黑" panose="020B0503020204020204" pitchFamily="34" charset="-122"/>
                <a:ea typeface="微软雅黑" panose="020B0503020204020204" pitchFamily="34" charset="-122"/>
              </a:rPr>
              <a:t>(</a:t>
            </a:r>
            <a:r>
              <a:rPr lang="en-US" altLang="zh-CN" sz="1600" b="1" dirty="0" err="1">
                <a:solidFill>
                  <a:schemeClr val="tx1"/>
                </a:solidFill>
                <a:latin typeface="微软雅黑" panose="020B0503020204020204" pitchFamily="34" charset="-122"/>
                <a:ea typeface="微软雅黑" panose="020B0503020204020204" pitchFamily="34" charset="-122"/>
              </a:rPr>
              <a:t>multihomed</a:t>
            </a:r>
            <a:r>
              <a:rPr lang="en-US" altLang="zh-CN" sz="1600" b="1" dirty="0">
                <a:solidFill>
                  <a:schemeClr val="tx1"/>
                </a:solidFill>
                <a:latin typeface="微软雅黑" panose="020B0503020204020204" pitchFamily="34" charset="-122"/>
                <a:ea typeface="微软雅黑" panose="020B0503020204020204" pitchFamily="34" charset="-122"/>
              </a:rPr>
              <a:t> host)</a:t>
            </a:r>
            <a:r>
              <a:rPr lang="zh-CN" altLang="en-US" sz="1600" b="1" dirty="0">
                <a:solidFill>
                  <a:schemeClr val="tx1"/>
                </a:solidFill>
                <a:latin typeface="微软雅黑" panose="020B0503020204020204" pitchFamily="34" charset="-122"/>
                <a:ea typeface="微软雅黑" panose="020B0503020204020204" pitchFamily="34" charset="-122"/>
              </a:rPr>
              <a:t>。</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一个</a:t>
            </a:r>
            <a:r>
              <a:rPr lang="zh-CN" altLang="en-US" sz="1600" b="1" dirty="0">
                <a:solidFill>
                  <a:srgbClr val="0000FF"/>
                </a:solidFill>
                <a:latin typeface="微软雅黑" panose="020B0503020204020204" pitchFamily="34" charset="-122"/>
                <a:ea typeface="微软雅黑" panose="020B0503020204020204" pitchFamily="34" charset="-122"/>
              </a:rPr>
              <a:t>路由器</a:t>
            </a:r>
            <a:r>
              <a:rPr lang="zh-CN" altLang="en-US" sz="1600" b="1" dirty="0">
                <a:solidFill>
                  <a:schemeClr val="tx1"/>
                </a:solidFill>
                <a:latin typeface="微软雅黑" panose="020B0503020204020204" pitchFamily="34" charset="-122"/>
                <a:ea typeface="微软雅黑" panose="020B0503020204020204" pitchFamily="34" charset="-122"/>
              </a:rPr>
              <a:t>至少应当连接到两个网络，因此一个路由器至少应当有</a:t>
            </a:r>
            <a:r>
              <a:rPr lang="zh-CN" altLang="en-US" sz="1600" b="1" dirty="0">
                <a:solidFill>
                  <a:srgbClr val="0000FF"/>
                </a:solidFill>
                <a:latin typeface="微软雅黑" panose="020B0503020204020204" pitchFamily="34" charset="-122"/>
                <a:ea typeface="微软雅黑" panose="020B0503020204020204" pitchFamily="34" charset="-122"/>
              </a:rPr>
              <a:t>两个不同</a:t>
            </a:r>
            <a:r>
              <a:rPr lang="zh-CN" altLang="en-US" sz="1600" b="1" dirty="0">
                <a:solidFill>
                  <a:schemeClr val="tx1"/>
                </a:solidFill>
                <a:latin typeface="微软雅黑" panose="020B0503020204020204" pitchFamily="34" charset="-122"/>
                <a:ea typeface="微软雅黑" panose="020B0503020204020204" pitchFamily="34" charset="-122"/>
              </a:rPr>
              <a:t>的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0919081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32901"/>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按照互联网的观点，</a:t>
            </a:r>
            <a:r>
              <a:rPr lang="zh-CN" altLang="en-US" sz="1600" b="1" dirty="0">
                <a:solidFill>
                  <a:srgbClr val="0000FF"/>
                </a:solidFill>
                <a:latin typeface="微软雅黑" panose="020B0503020204020204" pitchFamily="34" charset="-122"/>
                <a:ea typeface="微软雅黑" panose="020B0503020204020204" pitchFamily="34" charset="-122"/>
              </a:rPr>
              <a:t>一个网络（或子网）是指具有</a:t>
            </a:r>
            <a:r>
              <a:rPr lang="zh-CN" altLang="en-US" sz="1600" b="1" dirty="0">
                <a:solidFill>
                  <a:srgbClr val="C00000"/>
                </a:solidFill>
                <a:latin typeface="微软雅黑" panose="020B0503020204020204" pitchFamily="34" charset="-122"/>
                <a:ea typeface="微软雅黑" panose="020B0503020204020204" pitchFamily="34" charset="-122"/>
              </a:rPr>
              <a:t>相同网络前缀</a:t>
            </a:r>
            <a:r>
              <a:rPr lang="zh-CN" altLang="en-US" sz="1600" b="1" dirty="0">
                <a:solidFill>
                  <a:srgbClr val="0000FF"/>
                </a:solidFill>
                <a:latin typeface="微软雅黑" panose="020B0503020204020204" pitchFamily="34" charset="-122"/>
                <a:ea typeface="微软雅黑" panose="020B0503020204020204" pitchFamily="34" charset="-122"/>
              </a:rPr>
              <a:t>的主机的集合。</a:t>
            </a:r>
            <a:endParaRPr lang="en-US" altLang="zh-CN" sz="1600" b="1" dirty="0">
              <a:solidFill>
                <a:srgbClr val="0000FF"/>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转发器或交换机连接起来的若干个局域网都具有同样的网络号，它们仍为一个网络。</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具有</a:t>
            </a:r>
            <a:r>
              <a:rPr lang="zh-CN" altLang="en-US" sz="1600" b="1" dirty="0">
                <a:solidFill>
                  <a:srgbClr val="0000FF"/>
                </a:solidFill>
                <a:latin typeface="微软雅黑" panose="020B0503020204020204" pitchFamily="34" charset="-122"/>
                <a:ea typeface="微软雅黑" panose="020B0503020204020204" pitchFamily="34" charset="-122"/>
              </a:rPr>
              <a:t>不同网络号</a:t>
            </a:r>
            <a:r>
              <a:rPr lang="zh-CN" altLang="en-US" sz="1600" b="1" dirty="0">
                <a:solidFill>
                  <a:srgbClr val="C00000"/>
                </a:solidFill>
                <a:latin typeface="微软雅黑" panose="020B0503020204020204" pitchFamily="34" charset="-122"/>
                <a:ea typeface="微软雅黑" panose="020B0503020204020204" pitchFamily="34" charset="-122"/>
              </a:rPr>
              <a:t>的局域网必须使用路由器进行互连。</a:t>
            </a:r>
          </a:p>
        </p:txBody>
      </p:sp>
    </p:spTree>
    <p:extLst>
      <p:ext uri="{BB962C8B-B14F-4D97-AF65-F5344CB8AC3E}">
        <p14:creationId xmlns:p14="http://schemas.microsoft.com/office/powerpoint/2010/main" val="2005827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3071003"/>
            <a:ext cx="3856008" cy="1069679"/>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互联网</a:t>
            </a:r>
            <a:r>
              <a:rPr lang="zh-CN" altLang="en-US" sz="1600" b="1" dirty="0">
                <a:solidFill>
                  <a:srgbClr val="C00000"/>
                </a:solidFill>
                <a:latin typeface="微软雅黑" panose="020B0503020204020204" pitchFamily="34" charset="-122"/>
                <a:ea typeface="微软雅黑" panose="020B0503020204020204" pitchFamily="34" charset="-122"/>
              </a:rPr>
              <a:t>同等对待</a:t>
            </a:r>
            <a:r>
              <a:rPr lang="zh-CN" altLang="en-US" sz="1600" b="1" dirty="0">
                <a:solidFill>
                  <a:schemeClr val="tx1"/>
                </a:solidFill>
                <a:latin typeface="微软雅黑" panose="020B0503020204020204" pitchFamily="34" charset="-122"/>
                <a:ea typeface="微软雅黑" panose="020B0503020204020204" pitchFamily="34" charset="-122"/>
              </a:rPr>
              <a:t>每一个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地址，不管是范围很小的局域网，还是可能覆盖很大地理范围的广域网</a:t>
            </a:r>
            <a:endParaRPr lang="zh-CN" altLang="en-US" sz="1600" b="1" dirty="0">
              <a:solidFill>
                <a:srgbClr val="C0000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83687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0" name="Text Box 438"/>
          <p:cNvSpPr txBox="1">
            <a:spLocks noChangeArrowheads="1"/>
          </p:cNvSpPr>
          <p:nvPr/>
        </p:nvSpPr>
        <p:spPr bwMode="auto">
          <a:xfrm>
            <a:off x="616085" y="1895813"/>
            <a:ext cx="2072794" cy="1175706"/>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kumimoji="0" lang="zh-CN" altLang="en-US" sz="1600" b="1" dirty="0">
                <a:latin typeface="微软雅黑" pitchFamily="34" charset="-122"/>
                <a:ea typeface="微软雅黑" pitchFamily="34" charset="-122"/>
              </a:rPr>
              <a:t>同一个局域网上的</a:t>
            </a:r>
            <a:endParaRPr kumimoji="0" lang="en-US" altLang="zh-CN" sz="1600" b="1" dirty="0">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主机或路由器的</a:t>
            </a:r>
          </a:p>
          <a:p>
            <a:pPr algn="ctr">
              <a:lnSpc>
                <a:spcPct val="110000"/>
              </a:lnSpc>
            </a:pPr>
            <a:r>
              <a:rPr kumimoji="0" lang="en-US" altLang="zh-CN" sz="1600" b="1" dirty="0">
                <a:latin typeface="微软雅黑" pitchFamily="34" charset="-122"/>
                <a:ea typeface="微软雅黑" pitchFamily="34" charset="-122"/>
              </a:rPr>
              <a:t>IP </a:t>
            </a:r>
            <a:r>
              <a:rPr kumimoji="0" lang="zh-CN" altLang="en-US" sz="1600" b="1" dirty="0">
                <a:latin typeface="微软雅黑" pitchFamily="34" charset="-122"/>
                <a:ea typeface="微软雅黑" pitchFamily="34" charset="-122"/>
              </a:rPr>
              <a:t>地址中的</a:t>
            </a:r>
            <a:r>
              <a:rPr kumimoji="0" lang="zh-CN" altLang="en-US" sz="1600" b="1" dirty="0">
                <a:solidFill>
                  <a:srgbClr val="C00000"/>
                </a:solidFill>
                <a:latin typeface="微软雅黑" pitchFamily="34" charset="-122"/>
                <a:ea typeface="微软雅黑" pitchFamily="34" charset="-122"/>
              </a:rPr>
              <a:t>网络号</a:t>
            </a:r>
            <a:endParaRPr kumimoji="0" lang="en-US" altLang="zh-CN" sz="1600" b="1" dirty="0">
              <a:solidFill>
                <a:srgbClr val="C00000"/>
              </a:solidFill>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必须一样。</a:t>
            </a:r>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3"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0"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1.1.1.27</a:t>
            </a:r>
            <a:endParaRPr lang="en-US" altLang="zh-CN" sz="1050" b="1" dirty="0">
              <a:latin typeface="微软雅黑" panose="020B0503020204020204" pitchFamily="34" charset="-122"/>
              <a:ea typeface="微软雅黑" panose="020B0503020204020204" pitchFamily="34" charset="-122"/>
            </a:endParaRP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1.1.1.28</a:t>
            </a:r>
            <a:endParaRPr lang="en-US" altLang="zh-CN" sz="1050" b="1" dirty="0">
              <a:latin typeface="微软雅黑" panose="020B0503020204020204" pitchFamily="34" charset="-122"/>
              <a:ea typeface="微软雅黑" panose="020B0503020204020204" pitchFamily="34" charset="-122"/>
            </a:endParaRP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1.1.1.19</a:t>
            </a:r>
            <a:endParaRPr lang="en-US" altLang="zh-CN" sz="1050" b="1" dirty="0">
              <a:latin typeface="微软雅黑" panose="020B0503020204020204" pitchFamily="34" charset="-122"/>
              <a:ea typeface="微软雅黑" panose="020B0503020204020204" pitchFamily="34" charset="-122"/>
            </a:endParaRP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1"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2" name="Group 349"/>
            <p:cNvGrpSpPr>
              <a:grpSpLocks/>
            </p:cNvGrpSpPr>
            <p:nvPr/>
          </p:nvGrpSpPr>
          <p:grpSpPr bwMode="auto">
            <a:xfrm>
              <a:off x="1371" y="2587"/>
              <a:ext cx="304" cy="117"/>
              <a:chOff x="1371" y="2587"/>
              <a:chExt cx="304" cy="117"/>
            </a:xfrm>
          </p:grpSpPr>
          <p:grpSp>
            <p:nvGrpSpPr>
              <p:cNvPr id="213"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4"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6" name="Group 344"/>
          <p:cNvGrpSpPr>
            <a:grpSpLocks/>
          </p:cNvGrpSpPr>
          <p:nvPr/>
        </p:nvGrpSpPr>
        <p:grpSpPr bwMode="auto">
          <a:xfrm>
            <a:off x="3595071" y="3710360"/>
            <a:ext cx="242049" cy="128766"/>
            <a:chOff x="1304" y="2569"/>
            <a:chExt cx="439" cy="262"/>
          </a:xfrm>
        </p:grpSpPr>
        <p:sp>
          <p:nvSpPr>
            <p:cNvPr id="653"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4"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5"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6"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7" name="Group 349"/>
            <p:cNvGrpSpPr>
              <a:grpSpLocks/>
            </p:cNvGrpSpPr>
            <p:nvPr/>
          </p:nvGrpSpPr>
          <p:grpSpPr bwMode="auto">
            <a:xfrm>
              <a:off x="1371" y="2587"/>
              <a:ext cx="304" cy="117"/>
              <a:chOff x="1371" y="2587"/>
              <a:chExt cx="304" cy="117"/>
            </a:xfrm>
          </p:grpSpPr>
          <p:grpSp>
            <p:nvGrpSpPr>
              <p:cNvPr id="218" name="Group 350"/>
              <p:cNvGrpSpPr>
                <a:grpSpLocks/>
              </p:cNvGrpSpPr>
              <p:nvPr/>
            </p:nvGrpSpPr>
            <p:grpSpPr bwMode="auto">
              <a:xfrm>
                <a:off x="1371" y="2587"/>
                <a:ext cx="301" cy="115"/>
                <a:chOff x="1371" y="2587"/>
                <a:chExt cx="301" cy="115"/>
              </a:xfrm>
            </p:grpSpPr>
            <p:sp>
              <p:nvSpPr>
                <p:cNvPr id="670"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1"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2"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3"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4"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5"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6"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7"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9" name="Group 359"/>
              <p:cNvGrpSpPr>
                <a:grpSpLocks/>
              </p:cNvGrpSpPr>
              <p:nvPr/>
            </p:nvGrpSpPr>
            <p:grpSpPr bwMode="auto">
              <a:xfrm>
                <a:off x="1373" y="2590"/>
                <a:ext cx="302" cy="114"/>
                <a:chOff x="1373" y="2590"/>
                <a:chExt cx="302" cy="114"/>
              </a:xfrm>
            </p:grpSpPr>
            <p:sp>
              <p:nvSpPr>
                <p:cNvPr id="662"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3"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4"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5"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6"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7"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8"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9"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58"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9"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79"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grpSp>
        <p:nvGrpSpPr>
          <p:cNvPr id="221" name="Group 30"/>
          <p:cNvGrpSpPr>
            <a:grpSpLocks/>
          </p:cNvGrpSpPr>
          <p:nvPr/>
        </p:nvGrpSpPr>
        <p:grpSpPr bwMode="auto">
          <a:xfrm>
            <a:off x="2944549" y="2679365"/>
            <a:ext cx="244820" cy="265439"/>
            <a:chOff x="101" y="2294"/>
            <a:chExt cx="343" cy="353"/>
          </a:xfrm>
        </p:grpSpPr>
        <p:grpSp>
          <p:nvGrpSpPr>
            <p:cNvPr id="242"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3"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44"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53"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pic>
        <p:nvPicPr>
          <p:cNvPr id="68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1"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38081015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0" name="Text Box 438"/>
          <p:cNvSpPr txBox="1">
            <a:spLocks noChangeArrowheads="1"/>
          </p:cNvSpPr>
          <p:nvPr/>
        </p:nvSpPr>
        <p:spPr bwMode="auto">
          <a:xfrm>
            <a:off x="696234" y="1828010"/>
            <a:ext cx="1866218" cy="904863"/>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路由器的每一个接口都有一个</a:t>
            </a:r>
            <a:r>
              <a:rPr lang="zh-CN" altLang="en-US" sz="1600" b="1" dirty="0">
                <a:solidFill>
                  <a:srgbClr val="C00000"/>
                </a:solidFill>
                <a:latin typeface="微软雅黑" pitchFamily="34" charset="-122"/>
                <a:ea typeface="微软雅黑" pitchFamily="34" charset="-122"/>
              </a:rPr>
              <a:t>不同网络号</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a:t>
            </a:r>
          </a:p>
        </p:txBody>
      </p:sp>
      <p:sp>
        <p:nvSpPr>
          <p:cNvPr id="681"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2"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4"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5"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1"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2"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3"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4"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89"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0"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0"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2595481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C00000"/>
                </a:solidFill>
                <a:latin typeface="微软雅黑" panose="020B0503020204020204" pitchFamily="34" charset="-122"/>
                <a:ea typeface="微软雅黑" panose="020B0503020204020204" pitchFamily="34" charset="-122"/>
              </a:rPr>
              <a:t>N</a:t>
            </a:r>
            <a:r>
              <a:rPr lang="en-US" altLang="zh-CN" sz="1050" b="1" baseline="-25000">
                <a:solidFill>
                  <a:srgbClr val="C00000"/>
                </a:solidFill>
                <a:latin typeface="微软雅黑" panose="020B0503020204020204" pitchFamily="34" charset="-122"/>
                <a:ea typeface="微软雅黑" panose="020B0503020204020204" pitchFamily="34" charset="-122"/>
              </a:rPr>
              <a:t>1</a:t>
            </a: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2</a:t>
            </a: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1.1.1.28/31</a:t>
            </a: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1.1.1.26/31</a:t>
            </a: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1.1.1.24/31</a:t>
            </a: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3</a:t>
            </a: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1" name="Text Box 438"/>
          <p:cNvSpPr txBox="1">
            <a:spLocks noChangeArrowheads="1"/>
          </p:cNvSpPr>
          <p:nvPr/>
        </p:nvSpPr>
        <p:spPr bwMode="auto">
          <a:xfrm>
            <a:off x="749294" y="1365908"/>
            <a:ext cx="1896400" cy="2462213"/>
          </a:xfrm>
          <a:prstGeom prst="rect">
            <a:avLst/>
          </a:prstGeom>
          <a:solidFill>
            <a:srgbClr val="00FFFF"/>
          </a:solidFill>
          <a:ln w="9525">
            <a:solidFill>
              <a:schemeClr val="tx2"/>
            </a:solidFill>
            <a:miter lim="800000"/>
            <a:headEnd/>
            <a:tailEnd/>
          </a:ln>
          <a:effectLst/>
        </p:spPr>
        <p:txBody>
          <a:bodyPr wrap="square">
            <a:spAutoFit/>
          </a:bodyPr>
          <a:lstStyle/>
          <a:p>
            <a:pPr>
              <a:lnSpc>
                <a:spcPct val="110000"/>
              </a:lnSpc>
            </a:pPr>
            <a:r>
              <a:rPr lang="zh-CN" altLang="en-US" sz="1400" b="1" dirty="0">
                <a:latin typeface="微软雅黑" pitchFamily="34" charset="-122"/>
                <a:ea typeface="微软雅黑" pitchFamily="34" charset="-122"/>
              </a:rPr>
              <a:t>两个路由器直接相连的接口处，可指明也可不指明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如指明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地址，则这一段连线就构成了一种只包含一段线路的特殊“网络” 。这种网络</a:t>
            </a:r>
            <a:r>
              <a:rPr lang="zh-CN" altLang="en-US" sz="1400" b="1" dirty="0">
                <a:solidFill>
                  <a:srgbClr val="C00000"/>
                </a:solidFill>
                <a:latin typeface="微软雅黑" pitchFamily="34" charset="-122"/>
                <a:ea typeface="微软雅黑" pitchFamily="34" charset="-122"/>
              </a:rPr>
              <a:t>仅需</a:t>
            </a:r>
            <a:r>
              <a:rPr lang="zh-CN" altLang="en-US" sz="1400" b="1" dirty="0">
                <a:latin typeface="微软雅黑" pitchFamily="34" charset="-122"/>
                <a:ea typeface="微软雅黑" pitchFamily="34" charset="-122"/>
              </a:rPr>
              <a:t>两个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地址，可以使用 </a:t>
            </a:r>
            <a:r>
              <a:rPr lang="en-US" altLang="zh-CN" sz="1400" b="1" dirty="0">
                <a:solidFill>
                  <a:srgbClr val="C00000"/>
                </a:solidFill>
                <a:latin typeface="微软雅黑" pitchFamily="34" charset="-122"/>
                <a:ea typeface="微软雅黑" pitchFamily="34" charset="-122"/>
              </a:rPr>
              <a:t>/31 </a:t>
            </a:r>
            <a:r>
              <a:rPr lang="zh-CN" altLang="en-US" sz="1400" b="1" dirty="0">
                <a:latin typeface="微软雅黑" pitchFamily="34" charset="-122"/>
                <a:ea typeface="微软雅黑" pitchFamily="34" charset="-122"/>
              </a:rPr>
              <a:t>地址块。主机号可以是 </a:t>
            </a:r>
            <a:r>
              <a:rPr lang="en-US" altLang="zh-CN" sz="1400" b="1" dirty="0">
                <a:latin typeface="微软雅黑" pitchFamily="34" charset="-122"/>
                <a:ea typeface="微软雅黑" pitchFamily="34" charset="-122"/>
              </a:rPr>
              <a:t>0 </a:t>
            </a:r>
            <a:r>
              <a:rPr lang="zh-CN" altLang="en-US" sz="1400" b="1" dirty="0">
                <a:latin typeface="微软雅黑" pitchFamily="34" charset="-122"/>
                <a:ea typeface="微软雅黑" pitchFamily="34" charset="-122"/>
              </a:rPr>
              <a:t>或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p:txBody>
      </p:sp>
      <p:sp>
        <p:nvSpPr>
          <p:cNvPr id="682"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3"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5"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8"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2"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9"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4"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1"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90"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1"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1"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7"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41771929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 name="AutoShape 5"/>
          <p:cNvSpPr>
            <a:spLocks noChangeArrowheads="1"/>
          </p:cNvSpPr>
          <p:nvPr/>
        </p:nvSpPr>
        <p:spPr bwMode="auto">
          <a:xfrm>
            <a:off x="545144" y="620734"/>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238" name="Rectangle 6"/>
          <p:cNvSpPr>
            <a:spLocks noChangeArrowheads="1"/>
          </p:cNvSpPr>
          <p:nvPr/>
        </p:nvSpPr>
        <p:spPr bwMode="auto">
          <a:xfrm>
            <a:off x="2583382" y="588663"/>
            <a:ext cx="3977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4.2.3  IP </a:t>
            </a:r>
            <a:r>
              <a:rPr lang="zh-CN" altLang="en-US" sz="2400" b="1" dirty="0">
                <a:solidFill>
                  <a:schemeClr val="bg1"/>
                </a:solidFill>
                <a:latin typeface="微软雅黑" pitchFamily="34" charset="-122"/>
                <a:ea typeface="微软雅黑" pitchFamily="34" charset="-122"/>
              </a:rPr>
              <a:t>地址与 </a:t>
            </a:r>
            <a:r>
              <a:rPr lang="en-US" altLang="zh-CN" sz="2400" b="1" dirty="0">
                <a:solidFill>
                  <a:schemeClr val="bg1"/>
                </a:solidFill>
                <a:latin typeface="微软雅黑" pitchFamily="34" charset="-122"/>
                <a:ea typeface="微软雅黑" pitchFamily="34" charset="-122"/>
              </a:rPr>
              <a:t>MAC </a:t>
            </a:r>
            <a:r>
              <a:rPr lang="zh-CN" altLang="en-US" sz="2400" b="1" dirty="0">
                <a:solidFill>
                  <a:schemeClr val="bg1"/>
                </a:solidFill>
                <a:latin typeface="微软雅黑" pitchFamily="34" charset="-122"/>
                <a:ea typeface="微软雅黑" pitchFamily="34" charset="-122"/>
              </a:rPr>
              <a:t>地址</a:t>
            </a:r>
          </a:p>
        </p:txBody>
      </p:sp>
      <p:graphicFrame>
        <p:nvGraphicFramePr>
          <p:cNvPr id="2" name="图示 1"/>
          <p:cNvGraphicFramePr/>
          <p:nvPr>
            <p:extLst>
              <p:ext uri="{D42A27DB-BD31-4B8C-83A1-F6EECF244321}">
                <p14:modId xmlns:p14="http://schemas.microsoft.com/office/powerpoint/2010/main" val="1940721802"/>
              </p:ext>
            </p:extLst>
          </p:nvPr>
        </p:nvGraphicFramePr>
        <p:xfrm>
          <a:off x="1204825" y="1224955"/>
          <a:ext cx="6688348" cy="254478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a:extLst>
              <a:ext uri="{FF2B5EF4-FFF2-40B4-BE49-F238E27FC236}">
                <a16:creationId xmlns:a16="http://schemas.microsoft.com/office/drawing/2014/main" id="{2F54F77B-E3A3-04ED-12CA-6263F670D6B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000734" y="852721"/>
            <a:ext cx="381000" cy="304800"/>
          </a:xfrm>
          <a:prstGeom prst="rect">
            <a:avLst/>
          </a:prstGeom>
        </p:spPr>
      </p:pic>
      <p:sp>
        <p:nvSpPr>
          <p:cNvPr id="9" name="文本框 8">
            <a:extLst>
              <a:ext uri="{FF2B5EF4-FFF2-40B4-BE49-F238E27FC236}">
                <a16:creationId xmlns:a16="http://schemas.microsoft.com/office/drawing/2014/main" id="{C7C4CFE1-CC4B-9348-A521-1FD857CB4436}"/>
              </a:ext>
            </a:extLst>
          </p:cNvPr>
          <p:cNvSpPr txBox="1"/>
          <p:nvPr/>
        </p:nvSpPr>
        <p:spPr>
          <a:xfrm>
            <a:off x="6406026" y="2848659"/>
            <a:ext cx="1446230" cy="461665"/>
          </a:xfrm>
          <a:prstGeom prst="rect">
            <a:avLst/>
          </a:prstGeom>
          <a:noFill/>
        </p:spPr>
        <p:txBody>
          <a:bodyPr wrap="none" rtlCol="0">
            <a:spAutoFit/>
          </a:bodyPr>
          <a:lstStyle/>
          <a:p>
            <a:pPr algn="ctr"/>
            <a:r>
              <a:rPr lang="pt-BR" altLang="zh-CN" sz="1200" dirty="0">
                <a:latin typeface="Montserrat" panose="00000500000000000000" pitchFamily="2" charset="0"/>
              </a:rPr>
              <a:t>192.168.0.4</a:t>
            </a:r>
          </a:p>
          <a:p>
            <a:pPr algn="ctr"/>
            <a:r>
              <a:rPr lang="pt-BR" altLang="zh-CN" sz="1200" dirty="0">
                <a:latin typeface="Montserrat" panose="00000500000000000000" pitchFamily="2" charset="0"/>
              </a:rPr>
              <a:t>0007.ECEC.A552</a:t>
            </a:r>
            <a:endParaRPr lang="zh-CN" altLang="en-US" sz="1200" dirty="0">
              <a:latin typeface="Montserrat" panose="00000500000000000000" pitchFamily="2" charset="0"/>
            </a:endParaRPr>
          </a:p>
        </p:txBody>
      </p:sp>
      <p:grpSp>
        <p:nvGrpSpPr>
          <p:cNvPr id="11" name="组合 10">
            <a:extLst>
              <a:ext uri="{FF2B5EF4-FFF2-40B4-BE49-F238E27FC236}">
                <a16:creationId xmlns:a16="http://schemas.microsoft.com/office/drawing/2014/main" id="{03295F5D-65E6-85B5-E942-74F1C20F0777}"/>
              </a:ext>
            </a:extLst>
          </p:cNvPr>
          <p:cNvGrpSpPr/>
          <p:nvPr/>
        </p:nvGrpSpPr>
        <p:grpSpPr>
          <a:xfrm>
            <a:off x="1791880" y="2298922"/>
            <a:ext cx="461986" cy="563727"/>
            <a:chOff x="1889709" y="2146522"/>
            <a:chExt cx="461986" cy="563727"/>
          </a:xfrm>
        </p:grpSpPr>
        <p:pic>
          <p:nvPicPr>
            <p:cNvPr id="4" name="图形 3" descr="监视器">
              <a:extLst>
                <a:ext uri="{FF2B5EF4-FFF2-40B4-BE49-F238E27FC236}">
                  <a16:creationId xmlns:a16="http://schemas.microsoft.com/office/drawing/2014/main" id="{EBC52861-6923-201B-4B15-7CE3C9E8E53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0" name="文本框 9">
              <a:extLst>
                <a:ext uri="{FF2B5EF4-FFF2-40B4-BE49-F238E27FC236}">
                  <a16:creationId xmlns:a16="http://schemas.microsoft.com/office/drawing/2014/main" id="{B179967A-5E6A-38C6-1F31-798BABC33DB0}"/>
                </a:ext>
              </a:extLst>
            </p:cNvPr>
            <p:cNvSpPr txBox="1"/>
            <p:nvPr/>
          </p:nvSpPr>
          <p:spPr>
            <a:xfrm>
              <a:off x="1889709" y="2433250"/>
              <a:ext cx="461986" cy="276999"/>
            </a:xfrm>
            <a:prstGeom prst="rect">
              <a:avLst/>
            </a:prstGeom>
            <a:noFill/>
          </p:spPr>
          <p:txBody>
            <a:bodyPr wrap="none" rtlCol="0">
              <a:spAutoFit/>
            </a:bodyPr>
            <a:lstStyle/>
            <a:p>
              <a:pPr algn="ctr"/>
              <a:r>
                <a:rPr lang="en-US" altLang="zh-CN" sz="1200" dirty="0">
                  <a:latin typeface="Montserrat" panose="00000500000000000000" pitchFamily="2" charset="0"/>
                </a:rPr>
                <a:t>PC1</a:t>
              </a:r>
              <a:endParaRPr lang="zh-CN" altLang="en-US" sz="1200" dirty="0">
                <a:latin typeface="Montserrat" panose="00000500000000000000" pitchFamily="2" charset="0"/>
              </a:endParaRPr>
            </a:p>
          </p:txBody>
        </p:sp>
      </p:grpSp>
      <p:grpSp>
        <p:nvGrpSpPr>
          <p:cNvPr id="12" name="组合 11">
            <a:extLst>
              <a:ext uri="{FF2B5EF4-FFF2-40B4-BE49-F238E27FC236}">
                <a16:creationId xmlns:a16="http://schemas.microsoft.com/office/drawing/2014/main" id="{C2680765-7168-4EE5-BC0E-A1DF37CD0738}"/>
              </a:ext>
            </a:extLst>
          </p:cNvPr>
          <p:cNvGrpSpPr/>
          <p:nvPr/>
        </p:nvGrpSpPr>
        <p:grpSpPr>
          <a:xfrm>
            <a:off x="3477939" y="2298922"/>
            <a:ext cx="494046" cy="563727"/>
            <a:chOff x="1873679" y="2146522"/>
            <a:chExt cx="494046" cy="563727"/>
          </a:xfrm>
        </p:grpSpPr>
        <p:pic>
          <p:nvPicPr>
            <p:cNvPr id="13" name="图形 12" descr="监视器">
              <a:extLst>
                <a:ext uri="{FF2B5EF4-FFF2-40B4-BE49-F238E27FC236}">
                  <a16:creationId xmlns:a16="http://schemas.microsoft.com/office/drawing/2014/main" id="{38F7E422-46DE-CF4B-6F49-9A328ADFB0D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4" name="文本框 13">
              <a:extLst>
                <a:ext uri="{FF2B5EF4-FFF2-40B4-BE49-F238E27FC236}">
                  <a16:creationId xmlns:a16="http://schemas.microsoft.com/office/drawing/2014/main" id="{FF030B0F-0D21-D0EC-A7D1-594803567DEF}"/>
                </a:ext>
              </a:extLst>
            </p:cNvPr>
            <p:cNvSpPr txBox="1"/>
            <p:nvPr/>
          </p:nvSpPr>
          <p:spPr>
            <a:xfrm>
              <a:off x="1873679" y="2433250"/>
              <a:ext cx="494046" cy="276999"/>
            </a:xfrm>
            <a:prstGeom prst="rect">
              <a:avLst/>
            </a:prstGeom>
            <a:noFill/>
          </p:spPr>
          <p:txBody>
            <a:bodyPr wrap="none" rtlCol="0">
              <a:spAutoFit/>
            </a:bodyPr>
            <a:lstStyle/>
            <a:p>
              <a:pPr algn="ctr"/>
              <a:r>
                <a:rPr lang="en-US" altLang="zh-CN" sz="1200" dirty="0">
                  <a:latin typeface="Montserrat" panose="00000500000000000000" pitchFamily="2" charset="0"/>
                </a:rPr>
                <a:t>PC2</a:t>
              </a:r>
              <a:endParaRPr lang="zh-CN" altLang="en-US" sz="1200" dirty="0">
                <a:latin typeface="Montserrat" panose="00000500000000000000" pitchFamily="2" charset="0"/>
              </a:endParaRPr>
            </a:p>
          </p:txBody>
        </p:sp>
      </p:grpSp>
      <p:grpSp>
        <p:nvGrpSpPr>
          <p:cNvPr id="15" name="组合 14">
            <a:extLst>
              <a:ext uri="{FF2B5EF4-FFF2-40B4-BE49-F238E27FC236}">
                <a16:creationId xmlns:a16="http://schemas.microsoft.com/office/drawing/2014/main" id="{2B2445FD-CE8D-5336-F9F8-8DD4E8BA8746}"/>
              </a:ext>
            </a:extLst>
          </p:cNvPr>
          <p:cNvGrpSpPr/>
          <p:nvPr/>
        </p:nvGrpSpPr>
        <p:grpSpPr>
          <a:xfrm>
            <a:off x="5180830" y="2298922"/>
            <a:ext cx="492443" cy="563727"/>
            <a:chOff x="1874481" y="2146522"/>
            <a:chExt cx="492443" cy="563727"/>
          </a:xfrm>
        </p:grpSpPr>
        <p:pic>
          <p:nvPicPr>
            <p:cNvPr id="16" name="图形 15" descr="监视器">
              <a:extLst>
                <a:ext uri="{FF2B5EF4-FFF2-40B4-BE49-F238E27FC236}">
                  <a16:creationId xmlns:a16="http://schemas.microsoft.com/office/drawing/2014/main" id="{9FDFAB45-C390-DD07-9C9D-0E648DA3FD4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7" name="文本框 16">
              <a:extLst>
                <a:ext uri="{FF2B5EF4-FFF2-40B4-BE49-F238E27FC236}">
                  <a16:creationId xmlns:a16="http://schemas.microsoft.com/office/drawing/2014/main" id="{3752A5D8-BC59-1394-C0AC-F06081F3D873}"/>
                </a:ext>
              </a:extLst>
            </p:cNvPr>
            <p:cNvSpPr txBox="1"/>
            <p:nvPr/>
          </p:nvSpPr>
          <p:spPr>
            <a:xfrm>
              <a:off x="1874481" y="2433250"/>
              <a:ext cx="492443" cy="276999"/>
            </a:xfrm>
            <a:prstGeom prst="rect">
              <a:avLst/>
            </a:prstGeom>
            <a:noFill/>
          </p:spPr>
          <p:txBody>
            <a:bodyPr wrap="none" rtlCol="0">
              <a:spAutoFit/>
            </a:bodyPr>
            <a:lstStyle/>
            <a:p>
              <a:pPr algn="ctr"/>
              <a:r>
                <a:rPr lang="en-US" altLang="zh-CN" sz="1200" dirty="0">
                  <a:latin typeface="Montserrat" panose="00000500000000000000" pitchFamily="2" charset="0"/>
                </a:rPr>
                <a:t>PC3</a:t>
              </a:r>
              <a:endParaRPr lang="zh-CN" altLang="en-US" sz="1200" dirty="0">
                <a:latin typeface="Montserrat" panose="00000500000000000000" pitchFamily="2" charset="0"/>
              </a:endParaRPr>
            </a:p>
          </p:txBody>
        </p:sp>
      </p:grpSp>
      <p:grpSp>
        <p:nvGrpSpPr>
          <p:cNvPr id="18" name="组合 17">
            <a:extLst>
              <a:ext uri="{FF2B5EF4-FFF2-40B4-BE49-F238E27FC236}">
                <a16:creationId xmlns:a16="http://schemas.microsoft.com/office/drawing/2014/main" id="{A56AEF11-1D07-217A-1BD3-197772A51094}"/>
              </a:ext>
            </a:extLst>
          </p:cNvPr>
          <p:cNvGrpSpPr/>
          <p:nvPr/>
        </p:nvGrpSpPr>
        <p:grpSpPr>
          <a:xfrm>
            <a:off x="6875706" y="2298922"/>
            <a:ext cx="506870" cy="563727"/>
            <a:chOff x="1867267" y="2146522"/>
            <a:chExt cx="506870" cy="563727"/>
          </a:xfrm>
        </p:grpSpPr>
        <p:pic>
          <p:nvPicPr>
            <p:cNvPr id="19" name="图形 18" descr="监视器">
              <a:extLst>
                <a:ext uri="{FF2B5EF4-FFF2-40B4-BE49-F238E27FC236}">
                  <a16:creationId xmlns:a16="http://schemas.microsoft.com/office/drawing/2014/main" id="{8FC8DC26-FFAE-E4CB-380A-FE97185455F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20" name="文本框 19">
              <a:extLst>
                <a:ext uri="{FF2B5EF4-FFF2-40B4-BE49-F238E27FC236}">
                  <a16:creationId xmlns:a16="http://schemas.microsoft.com/office/drawing/2014/main" id="{84C8D7B2-CDA3-8911-7ECD-0FAD2415862D}"/>
                </a:ext>
              </a:extLst>
            </p:cNvPr>
            <p:cNvSpPr txBox="1"/>
            <p:nvPr/>
          </p:nvSpPr>
          <p:spPr>
            <a:xfrm>
              <a:off x="1867267" y="2433250"/>
              <a:ext cx="506870" cy="276999"/>
            </a:xfrm>
            <a:prstGeom prst="rect">
              <a:avLst/>
            </a:prstGeom>
            <a:noFill/>
          </p:spPr>
          <p:txBody>
            <a:bodyPr wrap="none" rtlCol="0">
              <a:spAutoFit/>
            </a:bodyPr>
            <a:lstStyle/>
            <a:p>
              <a:pPr algn="ctr"/>
              <a:r>
                <a:rPr lang="en-US" altLang="zh-CN" sz="1200" dirty="0">
                  <a:latin typeface="Montserrat" panose="00000500000000000000" pitchFamily="2" charset="0"/>
                </a:rPr>
                <a:t>PC4</a:t>
              </a:r>
              <a:endParaRPr lang="zh-CN" altLang="en-US" sz="1200" dirty="0">
                <a:latin typeface="Montserrat" panose="00000500000000000000" pitchFamily="2" charset="0"/>
              </a:endParaRPr>
            </a:p>
          </p:txBody>
        </p:sp>
      </p:grpSp>
      <p:cxnSp>
        <p:nvCxnSpPr>
          <p:cNvPr id="22" name="直接连接符 21">
            <a:extLst>
              <a:ext uri="{FF2B5EF4-FFF2-40B4-BE49-F238E27FC236}">
                <a16:creationId xmlns:a16="http://schemas.microsoft.com/office/drawing/2014/main" id="{0643ADBE-9F28-7E8D-E691-93C7E94F88AC}"/>
              </a:ext>
            </a:extLst>
          </p:cNvPr>
          <p:cNvCxnSpPr>
            <a:cxnSpLocks/>
          </p:cNvCxnSpPr>
          <p:nvPr/>
        </p:nvCxnSpPr>
        <p:spPr>
          <a:xfrm>
            <a:off x="1365206" y="2142126"/>
            <a:ext cx="6413589"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D8147B7B-EE9E-48BA-59CA-84C92FB36507}"/>
              </a:ext>
            </a:extLst>
          </p:cNvPr>
          <p:cNvSpPr txBox="1"/>
          <p:nvPr/>
        </p:nvSpPr>
        <p:spPr>
          <a:xfrm>
            <a:off x="1342238" y="2848659"/>
            <a:ext cx="1361270" cy="461665"/>
          </a:xfrm>
          <a:prstGeom prst="rect">
            <a:avLst/>
          </a:prstGeom>
          <a:noFill/>
        </p:spPr>
        <p:txBody>
          <a:bodyPr wrap="none" rtlCol="0">
            <a:spAutoFit/>
          </a:bodyPr>
          <a:lstStyle/>
          <a:p>
            <a:pPr algn="ctr"/>
            <a:r>
              <a:rPr lang="pt-BR" altLang="zh-CN" sz="1200" dirty="0">
                <a:latin typeface="Montserrat" panose="00000500000000000000" pitchFamily="2" charset="0"/>
              </a:rPr>
              <a:t>192.168.0.1</a:t>
            </a:r>
          </a:p>
          <a:p>
            <a:pPr algn="ctr"/>
            <a:r>
              <a:rPr lang="pt-BR" altLang="zh-CN" sz="1200" dirty="0">
                <a:solidFill>
                  <a:srgbClr val="00B2FD"/>
                </a:solidFill>
                <a:latin typeface="Montserrat" panose="00000500000000000000" pitchFamily="2" charset="0"/>
              </a:rPr>
              <a:t>00D0.5857.5331</a:t>
            </a:r>
            <a:endParaRPr lang="zh-CN" altLang="en-US" sz="1200" dirty="0">
              <a:solidFill>
                <a:srgbClr val="00B2FD"/>
              </a:solidFill>
              <a:latin typeface="Montserrat" panose="00000500000000000000" pitchFamily="2" charset="0"/>
            </a:endParaRPr>
          </a:p>
        </p:txBody>
      </p:sp>
      <p:sp>
        <p:nvSpPr>
          <p:cNvPr id="25" name="文本框 24">
            <a:extLst>
              <a:ext uri="{FF2B5EF4-FFF2-40B4-BE49-F238E27FC236}">
                <a16:creationId xmlns:a16="http://schemas.microsoft.com/office/drawing/2014/main" id="{CF3A3B9F-57A2-D50A-C29D-8F58FE65B681}"/>
              </a:ext>
            </a:extLst>
          </p:cNvPr>
          <p:cNvSpPr txBox="1"/>
          <p:nvPr/>
        </p:nvSpPr>
        <p:spPr>
          <a:xfrm>
            <a:off x="2964978" y="2848659"/>
            <a:ext cx="1519968" cy="461665"/>
          </a:xfrm>
          <a:prstGeom prst="rect">
            <a:avLst/>
          </a:prstGeom>
          <a:noFill/>
        </p:spPr>
        <p:txBody>
          <a:bodyPr wrap="none" rtlCol="0">
            <a:spAutoFit/>
          </a:bodyPr>
          <a:lstStyle/>
          <a:p>
            <a:pPr algn="ctr"/>
            <a:r>
              <a:rPr lang="pt-BR" altLang="zh-CN" sz="1200" dirty="0">
                <a:latin typeface="Montserrat" panose="00000500000000000000" pitchFamily="2" charset="0"/>
              </a:rPr>
              <a:t>192.168.0.2</a:t>
            </a:r>
          </a:p>
          <a:p>
            <a:pPr algn="ctr"/>
            <a:r>
              <a:rPr lang="pt-BR" altLang="zh-CN" sz="1200" dirty="0">
                <a:latin typeface="Montserrat" panose="00000500000000000000" pitchFamily="2" charset="0"/>
              </a:rPr>
              <a:t>00D0.D3CA.D578</a:t>
            </a:r>
            <a:endParaRPr lang="zh-CN" altLang="en-US" sz="1200" dirty="0">
              <a:latin typeface="Montserrat" panose="00000500000000000000" pitchFamily="2" charset="0"/>
            </a:endParaRPr>
          </a:p>
        </p:txBody>
      </p:sp>
      <p:sp>
        <p:nvSpPr>
          <p:cNvPr id="26" name="文本框 25">
            <a:extLst>
              <a:ext uri="{FF2B5EF4-FFF2-40B4-BE49-F238E27FC236}">
                <a16:creationId xmlns:a16="http://schemas.microsoft.com/office/drawing/2014/main" id="{F87E222D-75FB-AE39-E9A5-3F1A5722D668}"/>
              </a:ext>
            </a:extLst>
          </p:cNvPr>
          <p:cNvSpPr txBox="1"/>
          <p:nvPr/>
        </p:nvSpPr>
        <p:spPr>
          <a:xfrm>
            <a:off x="4719966" y="2848659"/>
            <a:ext cx="1414170" cy="461665"/>
          </a:xfrm>
          <a:prstGeom prst="rect">
            <a:avLst/>
          </a:prstGeom>
          <a:noFill/>
        </p:spPr>
        <p:txBody>
          <a:bodyPr wrap="none" rtlCol="0">
            <a:spAutoFit/>
          </a:bodyPr>
          <a:lstStyle/>
          <a:p>
            <a:pPr algn="ctr"/>
            <a:r>
              <a:rPr lang="pt-BR" altLang="zh-CN" sz="1200" dirty="0">
                <a:latin typeface="Montserrat" panose="00000500000000000000" pitchFamily="2" charset="0"/>
              </a:rPr>
              <a:t>192.168.0.3 </a:t>
            </a:r>
          </a:p>
          <a:p>
            <a:pPr algn="ctr"/>
            <a:r>
              <a:rPr lang="pt-BR" altLang="zh-CN" sz="1200" dirty="0">
                <a:solidFill>
                  <a:srgbClr val="00B2FD"/>
                </a:solidFill>
                <a:latin typeface="Montserrat" panose="00000500000000000000" pitchFamily="2" charset="0"/>
              </a:rPr>
              <a:t>0030.A313.6DA4</a:t>
            </a:r>
            <a:endParaRPr lang="zh-CN" altLang="en-US" sz="1200" dirty="0">
              <a:solidFill>
                <a:srgbClr val="00B2FD"/>
              </a:solidFill>
              <a:latin typeface="Montserrat" panose="00000500000000000000" pitchFamily="2" charset="0"/>
            </a:endParaRPr>
          </a:p>
        </p:txBody>
      </p:sp>
      <p:cxnSp>
        <p:nvCxnSpPr>
          <p:cNvPr id="28" name="直接连接符 27">
            <a:extLst>
              <a:ext uri="{FF2B5EF4-FFF2-40B4-BE49-F238E27FC236}">
                <a16:creationId xmlns:a16="http://schemas.microsoft.com/office/drawing/2014/main" id="{CA432427-C9D7-9C27-0633-DCD3B38056DC}"/>
              </a:ext>
            </a:extLst>
          </p:cNvPr>
          <p:cNvCxnSpPr>
            <a:cxnSpLocks/>
          </p:cNvCxnSpPr>
          <p:nvPr/>
        </p:nvCxnSpPr>
        <p:spPr>
          <a:xfrm flipV="1">
            <a:off x="2022873"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346937D7-F712-9B34-79FB-7CEB0FCDEEA6}"/>
              </a:ext>
            </a:extLst>
          </p:cNvPr>
          <p:cNvCxnSpPr>
            <a:cxnSpLocks/>
          </p:cNvCxnSpPr>
          <p:nvPr/>
        </p:nvCxnSpPr>
        <p:spPr>
          <a:xfrm flipV="1">
            <a:off x="3724962"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D66FA45F-FBB9-7080-23DF-1C02238AB016}"/>
              </a:ext>
            </a:extLst>
          </p:cNvPr>
          <p:cNvCxnSpPr>
            <a:cxnSpLocks/>
          </p:cNvCxnSpPr>
          <p:nvPr/>
        </p:nvCxnSpPr>
        <p:spPr>
          <a:xfrm flipV="1">
            <a:off x="5427051"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BA73C290-76B8-78A9-A23C-C7EA0EF8A20C}"/>
              </a:ext>
            </a:extLst>
          </p:cNvPr>
          <p:cNvCxnSpPr>
            <a:cxnSpLocks/>
          </p:cNvCxnSpPr>
          <p:nvPr/>
        </p:nvCxnSpPr>
        <p:spPr>
          <a:xfrm flipV="1">
            <a:off x="7129141"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231A3263-F877-5501-CC74-32A8992AFDB8}"/>
              </a:ext>
            </a:extLst>
          </p:cNvPr>
          <p:cNvSpPr txBox="1"/>
          <p:nvPr/>
        </p:nvSpPr>
        <p:spPr>
          <a:xfrm>
            <a:off x="6406026" y="1212974"/>
            <a:ext cx="1446230" cy="461665"/>
          </a:xfrm>
          <a:prstGeom prst="rect">
            <a:avLst/>
          </a:prstGeom>
          <a:noFill/>
        </p:spPr>
        <p:txBody>
          <a:bodyPr wrap="none" rtlCol="0">
            <a:spAutoFit/>
          </a:bodyPr>
          <a:lstStyle/>
          <a:p>
            <a:pPr algn="ctr"/>
            <a:r>
              <a:rPr lang="pt-BR" altLang="zh-CN" sz="1200" dirty="0">
                <a:latin typeface="Montserrat" panose="00000500000000000000" pitchFamily="2" charset="0"/>
              </a:rPr>
              <a:t>192.168.0.4</a:t>
            </a:r>
          </a:p>
          <a:p>
            <a:pPr algn="ctr"/>
            <a:r>
              <a:rPr lang="pt-BR" altLang="zh-CN" sz="1200" dirty="0">
                <a:latin typeface="Montserrat" panose="00000500000000000000" pitchFamily="2" charset="0"/>
              </a:rPr>
              <a:t>0007.ECEC.A552</a:t>
            </a:r>
            <a:endParaRPr lang="zh-CN" altLang="en-US" sz="1200" dirty="0">
              <a:latin typeface="Montserrat" panose="00000500000000000000" pitchFamily="2" charset="0"/>
            </a:endParaRPr>
          </a:p>
        </p:txBody>
      </p:sp>
      <p:grpSp>
        <p:nvGrpSpPr>
          <p:cNvPr id="33" name="组合 32">
            <a:extLst>
              <a:ext uri="{FF2B5EF4-FFF2-40B4-BE49-F238E27FC236}">
                <a16:creationId xmlns:a16="http://schemas.microsoft.com/office/drawing/2014/main" id="{61355865-A448-4D55-424D-297F0602CD47}"/>
              </a:ext>
            </a:extLst>
          </p:cNvPr>
          <p:cNvGrpSpPr/>
          <p:nvPr/>
        </p:nvGrpSpPr>
        <p:grpSpPr>
          <a:xfrm>
            <a:off x="1791880" y="663237"/>
            <a:ext cx="461986" cy="563727"/>
            <a:chOff x="1889709" y="2146522"/>
            <a:chExt cx="461986" cy="563727"/>
          </a:xfrm>
        </p:grpSpPr>
        <p:pic>
          <p:nvPicPr>
            <p:cNvPr id="34" name="图形 33" descr="监视器">
              <a:extLst>
                <a:ext uri="{FF2B5EF4-FFF2-40B4-BE49-F238E27FC236}">
                  <a16:creationId xmlns:a16="http://schemas.microsoft.com/office/drawing/2014/main" id="{A61D991C-8D3B-EBB3-E890-03272A8D861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35" name="文本框 34">
              <a:extLst>
                <a:ext uri="{FF2B5EF4-FFF2-40B4-BE49-F238E27FC236}">
                  <a16:creationId xmlns:a16="http://schemas.microsoft.com/office/drawing/2014/main" id="{4D7F4F16-AB1E-E17E-C03E-D507AFA175B6}"/>
                </a:ext>
              </a:extLst>
            </p:cNvPr>
            <p:cNvSpPr txBox="1"/>
            <p:nvPr/>
          </p:nvSpPr>
          <p:spPr>
            <a:xfrm>
              <a:off x="1889709" y="2433250"/>
              <a:ext cx="461986" cy="276999"/>
            </a:xfrm>
            <a:prstGeom prst="rect">
              <a:avLst/>
            </a:prstGeom>
            <a:noFill/>
          </p:spPr>
          <p:txBody>
            <a:bodyPr wrap="none" rtlCol="0">
              <a:spAutoFit/>
            </a:bodyPr>
            <a:lstStyle/>
            <a:p>
              <a:pPr algn="ctr"/>
              <a:r>
                <a:rPr lang="en-US" altLang="zh-CN" sz="1200" dirty="0">
                  <a:latin typeface="Montserrat" panose="00000500000000000000" pitchFamily="2" charset="0"/>
                </a:rPr>
                <a:t>PC1</a:t>
              </a:r>
              <a:endParaRPr lang="zh-CN" altLang="en-US" sz="1200" dirty="0">
                <a:latin typeface="Montserrat" panose="00000500000000000000" pitchFamily="2" charset="0"/>
              </a:endParaRPr>
            </a:p>
          </p:txBody>
        </p:sp>
      </p:grpSp>
      <p:grpSp>
        <p:nvGrpSpPr>
          <p:cNvPr id="36" name="组合 35">
            <a:extLst>
              <a:ext uri="{FF2B5EF4-FFF2-40B4-BE49-F238E27FC236}">
                <a16:creationId xmlns:a16="http://schemas.microsoft.com/office/drawing/2014/main" id="{97541FFC-13D6-9289-7384-4BE8435DE58E}"/>
              </a:ext>
            </a:extLst>
          </p:cNvPr>
          <p:cNvGrpSpPr/>
          <p:nvPr/>
        </p:nvGrpSpPr>
        <p:grpSpPr>
          <a:xfrm>
            <a:off x="3477939" y="663237"/>
            <a:ext cx="494046" cy="563727"/>
            <a:chOff x="1873679" y="2146522"/>
            <a:chExt cx="494046" cy="563727"/>
          </a:xfrm>
        </p:grpSpPr>
        <p:pic>
          <p:nvPicPr>
            <p:cNvPr id="37" name="图形 36" descr="监视器">
              <a:extLst>
                <a:ext uri="{FF2B5EF4-FFF2-40B4-BE49-F238E27FC236}">
                  <a16:creationId xmlns:a16="http://schemas.microsoft.com/office/drawing/2014/main" id="{B0340FD1-983E-D848-D221-356FBC1083C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38" name="文本框 37">
              <a:extLst>
                <a:ext uri="{FF2B5EF4-FFF2-40B4-BE49-F238E27FC236}">
                  <a16:creationId xmlns:a16="http://schemas.microsoft.com/office/drawing/2014/main" id="{3B244DFC-BA8B-5CE3-7D3C-3ABE072CC40F}"/>
                </a:ext>
              </a:extLst>
            </p:cNvPr>
            <p:cNvSpPr txBox="1"/>
            <p:nvPr/>
          </p:nvSpPr>
          <p:spPr>
            <a:xfrm>
              <a:off x="1873679" y="2433250"/>
              <a:ext cx="494046" cy="276999"/>
            </a:xfrm>
            <a:prstGeom prst="rect">
              <a:avLst/>
            </a:prstGeom>
            <a:noFill/>
          </p:spPr>
          <p:txBody>
            <a:bodyPr wrap="none" rtlCol="0">
              <a:spAutoFit/>
            </a:bodyPr>
            <a:lstStyle/>
            <a:p>
              <a:pPr algn="ctr"/>
              <a:r>
                <a:rPr lang="en-US" altLang="zh-CN" sz="1200" dirty="0">
                  <a:latin typeface="Montserrat" panose="00000500000000000000" pitchFamily="2" charset="0"/>
                </a:rPr>
                <a:t>PC2</a:t>
              </a:r>
              <a:endParaRPr lang="zh-CN" altLang="en-US" sz="1200" dirty="0">
                <a:latin typeface="Montserrat" panose="00000500000000000000" pitchFamily="2" charset="0"/>
              </a:endParaRPr>
            </a:p>
          </p:txBody>
        </p:sp>
      </p:grpSp>
      <p:grpSp>
        <p:nvGrpSpPr>
          <p:cNvPr id="39" name="组合 38">
            <a:extLst>
              <a:ext uri="{FF2B5EF4-FFF2-40B4-BE49-F238E27FC236}">
                <a16:creationId xmlns:a16="http://schemas.microsoft.com/office/drawing/2014/main" id="{A704197E-3E4F-4897-4EFB-EA0D8142D055}"/>
              </a:ext>
            </a:extLst>
          </p:cNvPr>
          <p:cNvGrpSpPr/>
          <p:nvPr/>
        </p:nvGrpSpPr>
        <p:grpSpPr>
          <a:xfrm>
            <a:off x="5180830" y="663237"/>
            <a:ext cx="492443" cy="563727"/>
            <a:chOff x="1874481" y="2146522"/>
            <a:chExt cx="492443" cy="563727"/>
          </a:xfrm>
        </p:grpSpPr>
        <p:pic>
          <p:nvPicPr>
            <p:cNvPr id="40" name="图形 39" descr="监视器">
              <a:extLst>
                <a:ext uri="{FF2B5EF4-FFF2-40B4-BE49-F238E27FC236}">
                  <a16:creationId xmlns:a16="http://schemas.microsoft.com/office/drawing/2014/main" id="{E2B601CA-1AD1-9716-DAF9-858190F0915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41" name="文本框 40">
              <a:extLst>
                <a:ext uri="{FF2B5EF4-FFF2-40B4-BE49-F238E27FC236}">
                  <a16:creationId xmlns:a16="http://schemas.microsoft.com/office/drawing/2014/main" id="{D1BACBA0-15A4-3256-95B0-8D74E070050D}"/>
                </a:ext>
              </a:extLst>
            </p:cNvPr>
            <p:cNvSpPr txBox="1"/>
            <p:nvPr/>
          </p:nvSpPr>
          <p:spPr>
            <a:xfrm>
              <a:off x="1874481" y="2433250"/>
              <a:ext cx="492443" cy="276999"/>
            </a:xfrm>
            <a:prstGeom prst="rect">
              <a:avLst/>
            </a:prstGeom>
            <a:noFill/>
          </p:spPr>
          <p:txBody>
            <a:bodyPr wrap="none" rtlCol="0">
              <a:spAutoFit/>
            </a:bodyPr>
            <a:lstStyle/>
            <a:p>
              <a:pPr algn="ctr"/>
              <a:r>
                <a:rPr lang="en-US" altLang="zh-CN" sz="1200" dirty="0">
                  <a:latin typeface="Montserrat" panose="00000500000000000000" pitchFamily="2" charset="0"/>
                </a:rPr>
                <a:t>PC3</a:t>
              </a:r>
              <a:endParaRPr lang="zh-CN" altLang="en-US" sz="1200" dirty="0">
                <a:latin typeface="Montserrat" panose="00000500000000000000" pitchFamily="2" charset="0"/>
              </a:endParaRPr>
            </a:p>
          </p:txBody>
        </p:sp>
      </p:grpSp>
      <p:grpSp>
        <p:nvGrpSpPr>
          <p:cNvPr id="42" name="组合 41">
            <a:extLst>
              <a:ext uri="{FF2B5EF4-FFF2-40B4-BE49-F238E27FC236}">
                <a16:creationId xmlns:a16="http://schemas.microsoft.com/office/drawing/2014/main" id="{E193C0FA-784E-B76C-DFEF-BD3057428BFE}"/>
              </a:ext>
            </a:extLst>
          </p:cNvPr>
          <p:cNvGrpSpPr/>
          <p:nvPr/>
        </p:nvGrpSpPr>
        <p:grpSpPr>
          <a:xfrm>
            <a:off x="6875706" y="663237"/>
            <a:ext cx="506870" cy="563727"/>
            <a:chOff x="1867267" y="2146522"/>
            <a:chExt cx="506870" cy="563727"/>
          </a:xfrm>
        </p:grpSpPr>
        <p:pic>
          <p:nvPicPr>
            <p:cNvPr id="43" name="图形 42" descr="监视器">
              <a:extLst>
                <a:ext uri="{FF2B5EF4-FFF2-40B4-BE49-F238E27FC236}">
                  <a16:creationId xmlns:a16="http://schemas.microsoft.com/office/drawing/2014/main" id="{0E5EE834-CE57-11B1-F35F-110816EC492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44" name="文本框 43">
              <a:extLst>
                <a:ext uri="{FF2B5EF4-FFF2-40B4-BE49-F238E27FC236}">
                  <a16:creationId xmlns:a16="http://schemas.microsoft.com/office/drawing/2014/main" id="{4E52439C-DC28-F9D0-6FC5-F11C4799EC88}"/>
                </a:ext>
              </a:extLst>
            </p:cNvPr>
            <p:cNvSpPr txBox="1"/>
            <p:nvPr/>
          </p:nvSpPr>
          <p:spPr>
            <a:xfrm>
              <a:off x="1867267" y="2433250"/>
              <a:ext cx="506870" cy="276999"/>
            </a:xfrm>
            <a:prstGeom prst="rect">
              <a:avLst/>
            </a:prstGeom>
            <a:noFill/>
          </p:spPr>
          <p:txBody>
            <a:bodyPr wrap="none" rtlCol="0">
              <a:spAutoFit/>
            </a:bodyPr>
            <a:lstStyle/>
            <a:p>
              <a:pPr algn="ctr"/>
              <a:r>
                <a:rPr lang="en-US" altLang="zh-CN" sz="1200" dirty="0">
                  <a:latin typeface="Montserrat" panose="00000500000000000000" pitchFamily="2" charset="0"/>
                </a:rPr>
                <a:t>PC4</a:t>
              </a:r>
              <a:endParaRPr lang="zh-CN" altLang="en-US" sz="1200" dirty="0">
                <a:latin typeface="Montserrat" panose="00000500000000000000" pitchFamily="2" charset="0"/>
              </a:endParaRPr>
            </a:p>
          </p:txBody>
        </p:sp>
      </p:grpSp>
      <p:cxnSp>
        <p:nvCxnSpPr>
          <p:cNvPr id="45" name="直接连接符 44">
            <a:extLst>
              <a:ext uri="{FF2B5EF4-FFF2-40B4-BE49-F238E27FC236}">
                <a16:creationId xmlns:a16="http://schemas.microsoft.com/office/drawing/2014/main" id="{0027C3B8-0E8D-8716-B40F-91C912BFE718}"/>
              </a:ext>
            </a:extLst>
          </p:cNvPr>
          <p:cNvCxnSpPr>
            <a:cxnSpLocks/>
          </p:cNvCxnSpPr>
          <p:nvPr/>
        </p:nvCxnSpPr>
        <p:spPr>
          <a:xfrm>
            <a:off x="1365206" y="506441"/>
            <a:ext cx="6413589"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D7FBD380-773C-116C-A806-8D91FD942C5D}"/>
              </a:ext>
            </a:extLst>
          </p:cNvPr>
          <p:cNvSpPr txBox="1"/>
          <p:nvPr/>
        </p:nvSpPr>
        <p:spPr>
          <a:xfrm>
            <a:off x="1342238" y="1212974"/>
            <a:ext cx="1361270" cy="461665"/>
          </a:xfrm>
          <a:prstGeom prst="rect">
            <a:avLst/>
          </a:prstGeom>
          <a:noFill/>
        </p:spPr>
        <p:txBody>
          <a:bodyPr wrap="none" rtlCol="0">
            <a:spAutoFit/>
          </a:bodyPr>
          <a:lstStyle/>
          <a:p>
            <a:pPr algn="ctr"/>
            <a:r>
              <a:rPr lang="pt-BR" altLang="zh-CN" sz="1200" dirty="0">
                <a:latin typeface="Montserrat" panose="00000500000000000000" pitchFamily="2" charset="0"/>
              </a:rPr>
              <a:t>192.168.0.1</a:t>
            </a:r>
          </a:p>
          <a:p>
            <a:pPr algn="ctr"/>
            <a:r>
              <a:rPr lang="pt-BR" altLang="zh-CN" sz="1200" dirty="0">
                <a:solidFill>
                  <a:srgbClr val="00B2FD"/>
                </a:solidFill>
                <a:latin typeface="Montserrat" panose="00000500000000000000" pitchFamily="2" charset="0"/>
              </a:rPr>
              <a:t>00D0.5857.5331</a:t>
            </a:r>
            <a:endParaRPr lang="zh-CN" altLang="en-US" sz="1200" dirty="0">
              <a:solidFill>
                <a:srgbClr val="00B2FD"/>
              </a:solidFill>
              <a:latin typeface="Montserrat" panose="00000500000000000000" pitchFamily="2" charset="0"/>
            </a:endParaRPr>
          </a:p>
        </p:txBody>
      </p:sp>
      <p:sp>
        <p:nvSpPr>
          <p:cNvPr id="47" name="文本框 46">
            <a:extLst>
              <a:ext uri="{FF2B5EF4-FFF2-40B4-BE49-F238E27FC236}">
                <a16:creationId xmlns:a16="http://schemas.microsoft.com/office/drawing/2014/main" id="{E6E510A5-D221-4E07-84AC-7DCD2898ED7E}"/>
              </a:ext>
            </a:extLst>
          </p:cNvPr>
          <p:cNvSpPr txBox="1"/>
          <p:nvPr/>
        </p:nvSpPr>
        <p:spPr>
          <a:xfrm>
            <a:off x="2964978" y="1212974"/>
            <a:ext cx="1519968" cy="461665"/>
          </a:xfrm>
          <a:prstGeom prst="rect">
            <a:avLst/>
          </a:prstGeom>
          <a:noFill/>
        </p:spPr>
        <p:txBody>
          <a:bodyPr wrap="none" rtlCol="0">
            <a:spAutoFit/>
          </a:bodyPr>
          <a:lstStyle/>
          <a:p>
            <a:pPr algn="ctr"/>
            <a:r>
              <a:rPr lang="pt-BR" altLang="zh-CN" sz="1200" dirty="0">
                <a:latin typeface="Montserrat" panose="00000500000000000000" pitchFamily="2" charset="0"/>
              </a:rPr>
              <a:t>192.168.0.2</a:t>
            </a:r>
          </a:p>
          <a:p>
            <a:pPr algn="ctr"/>
            <a:r>
              <a:rPr lang="pt-BR" altLang="zh-CN" sz="1200" dirty="0">
                <a:latin typeface="Montserrat" panose="00000500000000000000" pitchFamily="2" charset="0"/>
              </a:rPr>
              <a:t>00D0.D3CA.D578</a:t>
            </a:r>
            <a:endParaRPr lang="zh-CN" altLang="en-US" sz="1200" dirty="0">
              <a:latin typeface="Montserrat" panose="00000500000000000000" pitchFamily="2" charset="0"/>
            </a:endParaRPr>
          </a:p>
        </p:txBody>
      </p:sp>
      <p:sp>
        <p:nvSpPr>
          <p:cNvPr id="48" name="文本框 47">
            <a:extLst>
              <a:ext uri="{FF2B5EF4-FFF2-40B4-BE49-F238E27FC236}">
                <a16:creationId xmlns:a16="http://schemas.microsoft.com/office/drawing/2014/main" id="{B6ED94E0-C7B2-8954-67D5-AB0C9EC294A9}"/>
              </a:ext>
            </a:extLst>
          </p:cNvPr>
          <p:cNvSpPr txBox="1"/>
          <p:nvPr/>
        </p:nvSpPr>
        <p:spPr>
          <a:xfrm>
            <a:off x="4719966" y="1212974"/>
            <a:ext cx="1414170" cy="461665"/>
          </a:xfrm>
          <a:prstGeom prst="rect">
            <a:avLst/>
          </a:prstGeom>
          <a:noFill/>
        </p:spPr>
        <p:txBody>
          <a:bodyPr wrap="none" rtlCol="0">
            <a:spAutoFit/>
          </a:bodyPr>
          <a:lstStyle/>
          <a:p>
            <a:pPr algn="ctr"/>
            <a:r>
              <a:rPr lang="pt-BR" altLang="zh-CN" sz="1200" dirty="0">
                <a:latin typeface="Montserrat" panose="00000500000000000000" pitchFamily="2" charset="0"/>
              </a:rPr>
              <a:t>192.168.0.3 </a:t>
            </a:r>
          </a:p>
          <a:p>
            <a:pPr algn="ctr"/>
            <a:r>
              <a:rPr lang="pt-BR" altLang="zh-CN" sz="1200" dirty="0">
                <a:solidFill>
                  <a:srgbClr val="00B2FD"/>
                </a:solidFill>
                <a:latin typeface="Montserrat" panose="00000500000000000000" pitchFamily="2" charset="0"/>
              </a:rPr>
              <a:t>0030.A313.6DA4</a:t>
            </a:r>
            <a:endParaRPr lang="zh-CN" altLang="en-US" sz="1200" dirty="0">
              <a:solidFill>
                <a:srgbClr val="00B2FD"/>
              </a:solidFill>
              <a:latin typeface="Montserrat" panose="00000500000000000000" pitchFamily="2" charset="0"/>
            </a:endParaRPr>
          </a:p>
        </p:txBody>
      </p:sp>
      <p:cxnSp>
        <p:nvCxnSpPr>
          <p:cNvPr id="49" name="直接连接符 48">
            <a:extLst>
              <a:ext uri="{FF2B5EF4-FFF2-40B4-BE49-F238E27FC236}">
                <a16:creationId xmlns:a16="http://schemas.microsoft.com/office/drawing/2014/main" id="{058ABB1F-986F-E88A-813A-BDFE5796AF80}"/>
              </a:ext>
            </a:extLst>
          </p:cNvPr>
          <p:cNvCxnSpPr>
            <a:cxnSpLocks/>
          </p:cNvCxnSpPr>
          <p:nvPr/>
        </p:nvCxnSpPr>
        <p:spPr>
          <a:xfrm flipV="1">
            <a:off x="2022873"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853A1909-3A57-0C72-79EE-FDF0B5E65235}"/>
              </a:ext>
            </a:extLst>
          </p:cNvPr>
          <p:cNvCxnSpPr>
            <a:cxnSpLocks/>
          </p:cNvCxnSpPr>
          <p:nvPr/>
        </p:nvCxnSpPr>
        <p:spPr>
          <a:xfrm flipV="1">
            <a:off x="3724962"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A99B97BD-CFA2-0549-9425-F526DAFD5E75}"/>
              </a:ext>
            </a:extLst>
          </p:cNvPr>
          <p:cNvCxnSpPr>
            <a:cxnSpLocks/>
          </p:cNvCxnSpPr>
          <p:nvPr/>
        </p:nvCxnSpPr>
        <p:spPr>
          <a:xfrm flipV="1">
            <a:off x="5427051"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E7F4C331-D756-D781-CE44-E35DF47BA5BA}"/>
              </a:ext>
            </a:extLst>
          </p:cNvPr>
          <p:cNvCxnSpPr>
            <a:cxnSpLocks/>
          </p:cNvCxnSpPr>
          <p:nvPr/>
        </p:nvCxnSpPr>
        <p:spPr>
          <a:xfrm flipV="1">
            <a:off x="7129141"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nvGrpSpPr>
          <p:cNvPr id="53" name="Group 46">
            <a:extLst>
              <a:ext uri="{FF2B5EF4-FFF2-40B4-BE49-F238E27FC236}">
                <a16:creationId xmlns:a16="http://schemas.microsoft.com/office/drawing/2014/main" id="{4163FBCA-7EBC-DDB3-835C-D393D0E1C1CA}"/>
              </a:ext>
            </a:extLst>
          </p:cNvPr>
          <p:cNvGrpSpPr>
            <a:grpSpLocks/>
          </p:cNvGrpSpPr>
          <p:nvPr/>
        </p:nvGrpSpPr>
        <p:grpSpPr bwMode="auto">
          <a:xfrm>
            <a:off x="2454852" y="1973917"/>
            <a:ext cx="248872" cy="107976"/>
            <a:chOff x="2064" y="1776"/>
            <a:chExt cx="171" cy="66"/>
          </a:xfrm>
          <a:solidFill>
            <a:srgbClr val="CC00CC"/>
          </a:solidFill>
        </p:grpSpPr>
        <p:sp>
          <p:nvSpPr>
            <p:cNvPr id="54" name="Rectangle 47">
              <a:extLst>
                <a:ext uri="{FF2B5EF4-FFF2-40B4-BE49-F238E27FC236}">
                  <a16:creationId xmlns:a16="http://schemas.microsoft.com/office/drawing/2014/main" id="{568BDA3E-BA56-50BF-D29C-14122BC669DD}"/>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5" name="Line 48">
              <a:extLst>
                <a:ext uri="{FF2B5EF4-FFF2-40B4-BE49-F238E27FC236}">
                  <a16:creationId xmlns:a16="http://schemas.microsoft.com/office/drawing/2014/main" id="{09BAC4DD-4501-5AF0-4907-54E17318C764}"/>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56" name="Group 46">
            <a:extLst>
              <a:ext uri="{FF2B5EF4-FFF2-40B4-BE49-F238E27FC236}">
                <a16:creationId xmlns:a16="http://schemas.microsoft.com/office/drawing/2014/main" id="{4002B000-1DB6-C913-FA0E-21406A8FEAF8}"/>
              </a:ext>
            </a:extLst>
          </p:cNvPr>
          <p:cNvGrpSpPr>
            <a:grpSpLocks/>
          </p:cNvGrpSpPr>
          <p:nvPr/>
        </p:nvGrpSpPr>
        <p:grpSpPr bwMode="auto">
          <a:xfrm rot="5400000">
            <a:off x="3849044" y="2272808"/>
            <a:ext cx="248872" cy="107976"/>
            <a:chOff x="2064" y="1776"/>
            <a:chExt cx="171" cy="66"/>
          </a:xfrm>
          <a:solidFill>
            <a:srgbClr val="CC00CC"/>
          </a:solidFill>
        </p:grpSpPr>
        <p:sp>
          <p:nvSpPr>
            <p:cNvPr id="57" name="Rectangle 47">
              <a:extLst>
                <a:ext uri="{FF2B5EF4-FFF2-40B4-BE49-F238E27FC236}">
                  <a16:creationId xmlns:a16="http://schemas.microsoft.com/office/drawing/2014/main" id="{151E52F2-980C-475A-517D-65D1C4D383C8}"/>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8" name="Line 48">
              <a:extLst>
                <a:ext uri="{FF2B5EF4-FFF2-40B4-BE49-F238E27FC236}">
                  <a16:creationId xmlns:a16="http://schemas.microsoft.com/office/drawing/2014/main" id="{468D9845-95B6-DECB-1F02-9B1934DBD3D6}"/>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59" name="Group 46">
            <a:extLst>
              <a:ext uri="{FF2B5EF4-FFF2-40B4-BE49-F238E27FC236}">
                <a16:creationId xmlns:a16="http://schemas.microsoft.com/office/drawing/2014/main" id="{7CFA795A-3DAF-C3EC-E324-63571A421860}"/>
              </a:ext>
            </a:extLst>
          </p:cNvPr>
          <p:cNvGrpSpPr>
            <a:grpSpLocks/>
          </p:cNvGrpSpPr>
          <p:nvPr/>
        </p:nvGrpSpPr>
        <p:grpSpPr bwMode="auto">
          <a:xfrm rot="5400000">
            <a:off x="5515492" y="2272808"/>
            <a:ext cx="248872" cy="107976"/>
            <a:chOff x="2064" y="1776"/>
            <a:chExt cx="171" cy="66"/>
          </a:xfrm>
          <a:solidFill>
            <a:srgbClr val="CC00CC"/>
          </a:solidFill>
        </p:grpSpPr>
        <p:sp>
          <p:nvSpPr>
            <p:cNvPr id="60" name="Rectangle 47">
              <a:extLst>
                <a:ext uri="{FF2B5EF4-FFF2-40B4-BE49-F238E27FC236}">
                  <a16:creationId xmlns:a16="http://schemas.microsoft.com/office/drawing/2014/main" id="{7CA50101-B3F3-FAAF-0C8C-2EC9D73A6182}"/>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1" name="Line 48">
              <a:extLst>
                <a:ext uri="{FF2B5EF4-FFF2-40B4-BE49-F238E27FC236}">
                  <a16:creationId xmlns:a16="http://schemas.microsoft.com/office/drawing/2014/main" id="{E74F8C17-7792-E19A-92D6-9A6123367D4C}"/>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62" name="Group 46">
            <a:extLst>
              <a:ext uri="{FF2B5EF4-FFF2-40B4-BE49-F238E27FC236}">
                <a16:creationId xmlns:a16="http://schemas.microsoft.com/office/drawing/2014/main" id="{E2FCB33A-78C1-DDEE-769F-F33A83E207AB}"/>
              </a:ext>
            </a:extLst>
          </p:cNvPr>
          <p:cNvGrpSpPr>
            <a:grpSpLocks/>
          </p:cNvGrpSpPr>
          <p:nvPr/>
        </p:nvGrpSpPr>
        <p:grpSpPr bwMode="auto">
          <a:xfrm rot="5400000">
            <a:off x="7181940" y="2272808"/>
            <a:ext cx="248872" cy="107976"/>
            <a:chOff x="2064" y="1776"/>
            <a:chExt cx="171" cy="66"/>
          </a:xfrm>
          <a:solidFill>
            <a:srgbClr val="CC00CC"/>
          </a:solidFill>
        </p:grpSpPr>
        <p:sp>
          <p:nvSpPr>
            <p:cNvPr id="63" name="Rectangle 47">
              <a:extLst>
                <a:ext uri="{FF2B5EF4-FFF2-40B4-BE49-F238E27FC236}">
                  <a16:creationId xmlns:a16="http://schemas.microsoft.com/office/drawing/2014/main" id="{236514E5-DAA0-F2F8-A7FD-FB8E31F94288}"/>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4" name="Line 48">
              <a:extLst>
                <a:ext uri="{FF2B5EF4-FFF2-40B4-BE49-F238E27FC236}">
                  <a16:creationId xmlns:a16="http://schemas.microsoft.com/office/drawing/2014/main" id="{8B851AE3-9ED1-0793-48A0-4C9F3FE569DC}"/>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Tree>
    <p:extLst>
      <p:ext uri="{BB962C8B-B14F-4D97-AF65-F5344CB8AC3E}">
        <p14:creationId xmlns:p14="http://schemas.microsoft.com/office/powerpoint/2010/main" val="26866276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907307" y="581433"/>
            <a:ext cx="33480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地址的区别</a:t>
            </a:r>
          </a:p>
        </p:txBody>
      </p:sp>
      <p:sp>
        <p:nvSpPr>
          <p:cNvPr id="4" name="圆角矩形 3"/>
          <p:cNvSpPr/>
          <p:nvPr/>
        </p:nvSpPr>
        <p:spPr>
          <a:xfrm>
            <a:off x="545144" y="1170432"/>
            <a:ext cx="8053712" cy="3200399"/>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Line 5"/>
          <p:cNvSpPr>
            <a:spLocks noChangeShapeType="1"/>
          </p:cNvSpPr>
          <p:nvPr/>
        </p:nvSpPr>
        <p:spPr bwMode="auto">
          <a:xfrm>
            <a:off x="2391321" y="3280921"/>
            <a:ext cx="3899100"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 name="Line 6"/>
          <p:cNvSpPr>
            <a:spLocks noChangeShapeType="1"/>
          </p:cNvSpPr>
          <p:nvPr/>
        </p:nvSpPr>
        <p:spPr bwMode="auto">
          <a:xfrm>
            <a:off x="2912547" y="2607995"/>
            <a:ext cx="2856649"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Line 7"/>
          <p:cNvSpPr>
            <a:spLocks noChangeShapeType="1"/>
          </p:cNvSpPr>
          <p:nvPr/>
        </p:nvSpPr>
        <p:spPr bwMode="auto">
          <a:xfrm>
            <a:off x="3415963" y="1860543"/>
            <a:ext cx="2367481"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8"/>
          <p:cNvSpPr>
            <a:spLocks noChangeArrowheads="1"/>
          </p:cNvSpPr>
          <p:nvPr/>
        </p:nvSpPr>
        <p:spPr bwMode="auto">
          <a:xfrm>
            <a:off x="4220953" y="1773962"/>
            <a:ext cx="778870" cy="12494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Text Box 9"/>
          <p:cNvSpPr txBox="1">
            <a:spLocks noChangeArrowheads="1"/>
          </p:cNvSpPr>
          <p:nvPr/>
        </p:nvSpPr>
        <p:spPr bwMode="auto">
          <a:xfrm>
            <a:off x="4176757" y="1717157"/>
            <a:ext cx="834266"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TCP </a:t>
            </a:r>
            <a:r>
              <a:rPr kumimoji="1" lang="zh-CN" altLang="en-US" sz="1200" b="1" dirty="0">
                <a:solidFill>
                  <a:srgbClr val="0000CC"/>
                </a:solidFill>
                <a:latin typeface="微软雅黑" pitchFamily="34" charset="-122"/>
                <a:ea typeface="微软雅黑" pitchFamily="34" charset="-122"/>
              </a:rPr>
              <a:t>报文</a:t>
            </a:r>
          </a:p>
        </p:txBody>
      </p:sp>
      <p:sp>
        <p:nvSpPr>
          <p:cNvPr id="10" name="Rectangle 10"/>
          <p:cNvSpPr>
            <a:spLocks noChangeArrowheads="1"/>
          </p:cNvSpPr>
          <p:nvPr/>
        </p:nvSpPr>
        <p:spPr bwMode="auto">
          <a:xfrm>
            <a:off x="3984681" y="2536757"/>
            <a:ext cx="723067" cy="1194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 name="Text Box 11"/>
          <p:cNvSpPr txBox="1">
            <a:spLocks noChangeArrowheads="1"/>
          </p:cNvSpPr>
          <p:nvPr/>
        </p:nvSpPr>
        <p:spPr bwMode="auto">
          <a:xfrm>
            <a:off x="3977892" y="2463899"/>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 name="Rectangle 12"/>
          <p:cNvSpPr>
            <a:spLocks noChangeArrowheads="1"/>
          </p:cNvSpPr>
          <p:nvPr/>
        </p:nvSpPr>
        <p:spPr bwMode="auto">
          <a:xfrm>
            <a:off x="4028611" y="3218451"/>
            <a:ext cx="613836" cy="12603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 name="Text Box 13"/>
          <p:cNvSpPr txBox="1">
            <a:spLocks noChangeArrowheads="1"/>
          </p:cNvSpPr>
          <p:nvPr/>
        </p:nvSpPr>
        <p:spPr bwMode="auto">
          <a:xfrm>
            <a:off x="3997727" y="3133151"/>
            <a:ext cx="760849"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MAC </a:t>
            </a:r>
            <a:r>
              <a:rPr kumimoji="1" lang="zh-CN" altLang="en-US" sz="1200" b="1" dirty="0">
                <a:solidFill>
                  <a:srgbClr val="0000CC"/>
                </a:solidFill>
                <a:latin typeface="微软雅黑" pitchFamily="34" charset="-122"/>
                <a:ea typeface="微软雅黑" pitchFamily="34" charset="-122"/>
              </a:rPr>
              <a:t>帧</a:t>
            </a:r>
          </a:p>
        </p:txBody>
      </p:sp>
      <p:sp>
        <p:nvSpPr>
          <p:cNvPr id="14" name="Line 18"/>
          <p:cNvSpPr>
            <a:spLocks noChangeShapeType="1"/>
          </p:cNvSpPr>
          <p:nvPr/>
        </p:nvSpPr>
        <p:spPr bwMode="auto">
          <a:xfrm>
            <a:off x="2912547"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Line 19"/>
          <p:cNvSpPr>
            <a:spLocks noChangeShapeType="1"/>
          </p:cNvSpPr>
          <p:nvPr/>
        </p:nvSpPr>
        <p:spPr bwMode="auto">
          <a:xfrm>
            <a:off x="5769195"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20"/>
          <p:cNvSpPr>
            <a:spLocks noChangeShapeType="1"/>
          </p:cNvSpPr>
          <p:nvPr/>
        </p:nvSpPr>
        <p:spPr bwMode="auto">
          <a:xfrm>
            <a:off x="3425461" y="1718067"/>
            <a:ext cx="9498"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21"/>
          <p:cNvSpPr>
            <a:spLocks noChangeShapeType="1"/>
          </p:cNvSpPr>
          <p:nvPr/>
        </p:nvSpPr>
        <p:spPr bwMode="auto">
          <a:xfrm>
            <a:off x="5769195" y="1718067"/>
            <a:ext cx="0"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8" name="Line 22"/>
          <p:cNvSpPr>
            <a:spLocks noChangeShapeType="1"/>
          </p:cNvSpPr>
          <p:nvPr/>
        </p:nvSpPr>
        <p:spPr bwMode="auto">
          <a:xfrm flipV="1">
            <a:off x="6043463" y="2620051"/>
            <a:ext cx="1722775"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9" name="Rectangle 23"/>
          <p:cNvSpPr>
            <a:spLocks noChangeArrowheads="1"/>
          </p:cNvSpPr>
          <p:nvPr/>
        </p:nvSpPr>
        <p:spPr bwMode="auto">
          <a:xfrm>
            <a:off x="3425461" y="1376124"/>
            <a:ext cx="2343734" cy="336463"/>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24"/>
          <p:cNvSpPr>
            <a:spLocks noChangeShapeType="1"/>
          </p:cNvSpPr>
          <p:nvPr/>
        </p:nvSpPr>
        <p:spPr bwMode="auto">
          <a:xfrm flipH="1">
            <a:off x="3938376" y="1376124"/>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Text Box 25"/>
          <p:cNvSpPr txBox="1">
            <a:spLocks noChangeArrowheads="1"/>
          </p:cNvSpPr>
          <p:nvPr/>
        </p:nvSpPr>
        <p:spPr bwMode="auto">
          <a:xfrm>
            <a:off x="4315937" y="1386273"/>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应用层数据</a:t>
            </a:r>
          </a:p>
        </p:txBody>
      </p:sp>
      <p:sp>
        <p:nvSpPr>
          <p:cNvPr id="22" name="Text Box 26"/>
          <p:cNvSpPr txBox="1">
            <a:spLocks noChangeArrowheads="1"/>
          </p:cNvSpPr>
          <p:nvPr/>
        </p:nvSpPr>
        <p:spPr bwMode="auto">
          <a:xfrm>
            <a:off x="3406464" y="138737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首部</a:t>
            </a:r>
          </a:p>
        </p:txBody>
      </p:sp>
      <p:sp>
        <p:nvSpPr>
          <p:cNvPr id="23" name="Rectangle 27"/>
          <p:cNvSpPr>
            <a:spLocks noChangeArrowheads="1"/>
          </p:cNvSpPr>
          <p:nvPr/>
        </p:nvSpPr>
        <p:spPr bwMode="auto">
          <a:xfrm>
            <a:off x="2912547" y="2103849"/>
            <a:ext cx="2856649" cy="336463"/>
          </a:xfrm>
          <a:prstGeom prst="rect">
            <a:avLst/>
          </a:prstGeom>
          <a:solidFill>
            <a:srgbClr val="FF99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8"/>
          <p:cNvSpPr>
            <a:spLocks noChangeShapeType="1"/>
          </p:cNvSpPr>
          <p:nvPr/>
        </p:nvSpPr>
        <p:spPr bwMode="auto">
          <a:xfrm>
            <a:off x="3425461" y="210384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Text Box 29"/>
          <p:cNvSpPr txBox="1">
            <a:spLocks noChangeArrowheads="1"/>
          </p:cNvSpPr>
          <p:nvPr/>
        </p:nvSpPr>
        <p:spPr bwMode="auto">
          <a:xfrm>
            <a:off x="2894737" y="2107422"/>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sp>
        <p:nvSpPr>
          <p:cNvPr id="26" name="Rectangle 30"/>
          <p:cNvSpPr>
            <a:spLocks noChangeArrowheads="1"/>
          </p:cNvSpPr>
          <p:nvPr/>
        </p:nvSpPr>
        <p:spPr bwMode="auto">
          <a:xfrm>
            <a:off x="2407944" y="2796502"/>
            <a:ext cx="511727" cy="315640"/>
          </a:xfrm>
          <a:prstGeom prst="rect">
            <a:avLst/>
          </a:prstGeom>
          <a:solidFill>
            <a:srgbClr val="66FF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7" name="Rectangle 31"/>
          <p:cNvSpPr>
            <a:spLocks noChangeArrowheads="1"/>
          </p:cNvSpPr>
          <p:nvPr/>
        </p:nvSpPr>
        <p:spPr bwMode="auto">
          <a:xfrm>
            <a:off x="2400820" y="2775679"/>
            <a:ext cx="3881290" cy="336463"/>
          </a:xfrm>
          <a:prstGeom prst="rect">
            <a:avLst/>
          </a:prstGeom>
          <a:solidFill>
            <a:srgbClr val="66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8" name="Line 32"/>
          <p:cNvSpPr>
            <a:spLocks noChangeShapeType="1"/>
          </p:cNvSpPr>
          <p:nvPr/>
        </p:nvSpPr>
        <p:spPr bwMode="auto">
          <a:xfrm>
            <a:off x="2912547"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Line 33"/>
          <p:cNvSpPr>
            <a:spLocks noChangeShapeType="1"/>
          </p:cNvSpPr>
          <p:nvPr/>
        </p:nvSpPr>
        <p:spPr bwMode="auto">
          <a:xfrm>
            <a:off x="5769195"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Text Box 34"/>
          <p:cNvSpPr txBox="1">
            <a:spLocks noChangeArrowheads="1"/>
          </p:cNvSpPr>
          <p:nvPr/>
        </p:nvSpPr>
        <p:spPr bwMode="auto">
          <a:xfrm>
            <a:off x="5745762" y="277712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尾部</a:t>
            </a:r>
          </a:p>
        </p:txBody>
      </p:sp>
      <p:sp>
        <p:nvSpPr>
          <p:cNvPr id="31" name="Text Box 35"/>
          <p:cNvSpPr txBox="1">
            <a:spLocks noChangeArrowheads="1"/>
          </p:cNvSpPr>
          <p:nvPr/>
        </p:nvSpPr>
        <p:spPr bwMode="auto">
          <a:xfrm>
            <a:off x="2392508" y="27814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grpSp>
        <p:nvGrpSpPr>
          <p:cNvPr id="32" name="Group 49"/>
          <p:cNvGrpSpPr>
            <a:grpSpLocks/>
          </p:cNvGrpSpPr>
          <p:nvPr/>
        </p:nvGrpSpPr>
        <p:grpSpPr bwMode="auto">
          <a:xfrm>
            <a:off x="1299003" y="2314278"/>
            <a:ext cx="6227405" cy="1154058"/>
            <a:chOff x="155" y="2425"/>
            <a:chExt cx="5245" cy="1053"/>
          </a:xfrm>
        </p:grpSpPr>
        <p:grpSp>
          <p:nvGrpSpPr>
            <p:cNvPr id="33" name="Group 45"/>
            <p:cNvGrpSpPr>
              <a:grpSpLocks/>
            </p:cNvGrpSpPr>
            <p:nvPr/>
          </p:nvGrpSpPr>
          <p:grpSpPr bwMode="auto">
            <a:xfrm>
              <a:off x="4467" y="2709"/>
              <a:ext cx="933" cy="769"/>
              <a:chOff x="4467" y="2709"/>
              <a:chExt cx="933" cy="769"/>
            </a:xfrm>
          </p:grpSpPr>
          <p:sp>
            <p:nvSpPr>
              <p:cNvPr id="37" name="AutoShape 15"/>
              <p:cNvSpPr>
                <a:spLocks noChangeArrowheads="1"/>
              </p:cNvSpPr>
              <p:nvPr/>
            </p:nvSpPr>
            <p:spPr bwMode="auto">
              <a:xfrm flipV="1">
                <a:off x="4831" y="2709"/>
                <a:ext cx="186" cy="358"/>
              </a:xfrm>
              <a:prstGeom prst="upArrow">
                <a:avLst>
                  <a:gd name="adj1" fmla="val 50000"/>
                  <a:gd name="adj2" fmla="val 81801"/>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8" name="Text Box 17"/>
              <p:cNvSpPr txBox="1">
                <a:spLocks noChangeArrowheads="1"/>
              </p:cNvSpPr>
              <p:nvPr/>
            </p:nvSpPr>
            <p:spPr bwMode="auto">
              <a:xfrm>
                <a:off x="4467" y="3057"/>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数据链路层</a:t>
                </a:r>
              </a:p>
              <a:p>
                <a:pPr algn="ctr"/>
                <a:r>
                  <a:rPr kumimoji="1" lang="zh-CN" altLang="en-US" sz="1200" b="1" dirty="0">
                    <a:solidFill>
                      <a:srgbClr val="0000CC"/>
                    </a:solidFill>
                    <a:latin typeface="微软雅黑" pitchFamily="34" charset="-122"/>
                    <a:ea typeface="微软雅黑" pitchFamily="34" charset="-122"/>
                  </a:rPr>
                  <a:t>使用硬件地址</a:t>
                </a:r>
              </a:p>
            </p:txBody>
          </p:sp>
        </p:grpSp>
        <p:grpSp>
          <p:nvGrpSpPr>
            <p:cNvPr id="34" name="Group 47"/>
            <p:cNvGrpSpPr>
              <a:grpSpLocks/>
            </p:cNvGrpSpPr>
            <p:nvPr/>
          </p:nvGrpSpPr>
          <p:grpSpPr bwMode="auto">
            <a:xfrm>
              <a:off x="155" y="2425"/>
              <a:ext cx="870" cy="281"/>
              <a:chOff x="155" y="2425"/>
              <a:chExt cx="870" cy="281"/>
            </a:xfrm>
          </p:grpSpPr>
          <p:sp>
            <p:nvSpPr>
              <p:cNvPr id="35" name="AutoShape 37"/>
              <p:cNvSpPr>
                <a:spLocks noChangeArrowheads="1"/>
              </p:cNvSpPr>
              <p:nvPr/>
            </p:nvSpPr>
            <p:spPr bwMode="auto">
              <a:xfrm>
                <a:off x="182" y="2427"/>
                <a:ext cx="802" cy="273"/>
              </a:xfrm>
              <a:prstGeom prst="wedgeRoundRectCallout">
                <a:avLst>
                  <a:gd name="adj1" fmla="val 72116"/>
                  <a:gd name="adj2" fmla="val 129167"/>
                  <a:gd name="adj3" fmla="val 16667"/>
                </a:avLst>
              </a:prstGeom>
              <a:solidFill>
                <a:srgbClr val="66FF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36" name="Text Box 38"/>
              <p:cNvSpPr txBox="1">
                <a:spLocks noChangeArrowheads="1"/>
              </p:cNvSpPr>
              <p:nvPr/>
            </p:nvSpPr>
            <p:spPr bwMode="auto">
              <a:xfrm>
                <a:off x="155" y="2425"/>
                <a:ext cx="870"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MAC </a:t>
                </a:r>
                <a:r>
                  <a:rPr kumimoji="1" lang="zh-CN" altLang="en-US" sz="1400" b="1" dirty="0">
                    <a:solidFill>
                      <a:srgbClr val="0000CC"/>
                    </a:solidFill>
                    <a:latin typeface="微软雅黑" pitchFamily="34" charset="-122"/>
                    <a:ea typeface="微软雅黑" pitchFamily="34" charset="-122"/>
                  </a:rPr>
                  <a:t>地址</a:t>
                </a:r>
              </a:p>
            </p:txBody>
          </p:sp>
        </p:grpSp>
      </p:grpSp>
      <p:grpSp>
        <p:nvGrpSpPr>
          <p:cNvPr id="39" name="Group 48"/>
          <p:cNvGrpSpPr>
            <a:grpSpLocks/>
          </p:cNvGrpSpPr>
          <p:nvPr/>
        </p:nvGrpSpPr>
        <p:grpSpPr bwMode="auto">
          <a:xfrm>
            <a:off x="2208477" y="1657788"/>
            <a:ext cx="5307246" cy="967742"/>
            <a:chOff x="921" y="1826"/>
            <a:chExt cx="4470" cy="883"/>
          </a:xfrm>
        </p:grpSpPr>
        <p:grpSp>
          <p:nvGrpSpPr>
            <p:cNvPr id="40" name="Group 44"/>
            <p:cNvGrpSpPr>
              <a:grpSpLocks/>
            </p:cNvGrpSpPr>
            <p:nvPr/>
          </p:nvGrpSpPr>
          <p:grpSpPr bwMode="auto">
            <a:xfrm>
              <a:off x="4458" y="1990"/>
              <a:ext cx="933" cy="719"/>
              <a:chOff x="4458" y="1990"/>
              <a:chExt cx="933" cy="719"/>
            </a:xfrm>
          </p:grpSpPr>
          <p:sp>
            <p:nvSpPr>
              <p:cNvPr id="44" name="AutoShape 14"/>
              <p:cNvSpPr>
                <a:spLocks noChangeArrowheads="1"/>
              </p:cNvSpPr>
              <p:nvPr/>
            </p:nvSpPr>
            <p:spPr bwMode="auto">
              <a:xfrm>
                <a:off x="4831" y="2352"/>
                <a:ext cx="186" cy="357"/>
              </a:xfrm>
              <a:prstGeom prst="upArrow">
                <a:avLst>
                  <a:gd name="adj1" fmla="val 50000"/>
                  <a:gd name="adj2" fmla="val 69479"/>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6"/>
              <p:cNvSpPr txBox="1">
                <a:spLocks noChangeArrowheads="1"/>
              </p:cNvSpPr>
              <p:nvPr/>
            </p:nvSpPr>
            <p:spPr bwMode="auto">
              <a:xfrm>
                <a:off x="4458" y="1990"/>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网络层及以上</a:t>
                </a:r>
              </a:p>
              <a:p>
                <a:pPr algn="ctr"/>
                <a:r>
                  <a:rPr kumimoji="1" lang="zh-CN" altLang="en-US" sz="1200" b="1" dirty="0">
                    <a:solidFill>
                      <a:srgbClr val="0000CC"/>
                    </a:solidFill>
                    <a:latin typeface="微软雅黑" pitchFamily="34" charset="-122"/>
                    <a:ea typeface="微软雅黑" pitchFamily="34" charset="-122"/>
                  </a:rPr>
                  <a:t> 使用 </a:t>
                </a: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地址</a:t>
                </a:r>
              </a:p>
            </p:txBody>
          </p:sp>
        </p:grpSp>
        <p:grpSp>
          <p:nvGrpSpPr>
            <p:cNvPr id="41" name="Group 46"/>
            <p:cNvGrpSpPr>
              <a:grpSpLocks/>
            </p:cNvGrpSpPr>
            <p:nvPr/>
          </p:nvGrpSpPr>
          <p:grpSpPr bwMode="auto">
            <a:xfrm>
              <a:off x="921" y="1826"/>
              <a:ext cx="763" cy="326"/>
              <a:chOff x="921" y="1826"/>
              <a:chExt cx="763" cy="326"/>
            </a:xfrm>
          </p:grpSpPr>
          <p:sp>
            <p:nvSpPr>
              <p:cNvPr id="42" name="AutoShape 40"/>
              <p:cNvSpPr>
                <a:spLocks noChangeArrowheads="1"/>
              </p:cNvSpPr>
              <p:nvPr/>
            </p:nvSpPr>
            <p:spPr bwMode="auto">
              <a:xfrm>
                <a:off x="921" y="1826"/>
                <a:ext cx="654" cy="254"/>
              </a:xfrm>
              <a:prstGeom prst="wedgeRoundRectCallout">
                <a:avLst>
                  <a:gd name="adj1" fmla="val 72171"/>
                  <a:gd name="adj2" fmla="val 129134"/>
                  <a:gd name="adj3" fmla="val 16667"/>
                </a:avLst>
              </a:prstGeom>
              <a:solidFill>
                <a:srgbClr val="FF99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927" y="1827"/>
                <a:ext cx="757" cy="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grpSp>
      </p:grpSp>
      <p:sp>
        <p:nvSpPr>
          <p:cNvPr id="46" name="Rectangle 43"/>
          <p:cNvSpPr>
            <a:spLocks noChangeArrowheads="1"/>
          </p:cNvSpPr>
          <p:nvPr/>
        </p:nvSpPr>
        <p:spPr bwMode="auto">
          <a:xfrm>
            <a:off x="2927981" y="2796503"/>
            <a:ext cx="2841214" cy="299200"/>
          </a:xfrm>
          <a:prstGeom prst="rect">
            <a:avLst/>
          </a:prstGeom>
          <a:solidFill>
            <a:srgbClr val="FFFF99"/>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矩形 46"/>
          <p:cNvSpPr/>
          <p:nvPr/>
        </p:nvSpPr>
        <p:spPr>
          <a:xfrm>
            <a:off x="2407944" y="3587964"/>
            <a:ext cx="4010710" cy="646331"/>
          </a:xfrm>
          <a:prstGeom prst="rect">
            <a:avLst/>
          </a:prstGeom>
          <a:solidFill>
            <a:srgbClr val="0000CC"/>
          </a:solidFill>
        </p:spPr>
        <p:txBody>
          <a:bodyPr wrap="square">
            <a:spAutoFit/>
          </a:bodyPr>
          <a:lstStyle/>
          <a:p>
            <a:r>
              <a:rPr lang="en-US" altLang="zh-CN" b="1" dirty="0">
                <a:solidFill>
                  <a:schemeClr val="bg1"/>
                </a:solidFill>
                <a:latin typeface="微软雅黑" pitchFamily="34" charset="-122"/>
                <a:ea typeface="微软雅黑" pitchFamily="34" charset="-122"/>
              </a:rPr>
              <a:t>IP </a:t>
            </a:r>
            <a:r>
              <a:rPr lang="zh-CN" altLang="zh-CN" b="1" dirty="0">
                <a:solidFill>
                  <a:schemeClr val="bg1"/>
                </a:solidFill>
                <a:latin typeface="微软雅黑" pitchFamily="34" charset="-122"/>
                <a:ea typeface="微软雅黑" pitchFamily="34" charset="-122"/>
              </a:rPr>
              <a:t>地址放在</a:t>
            </a:r>
            <a:r>
              <a:rPr lang="en-US" altLang="zh-CN" b="1" dirty="0">
                <a:solidFill>
                  <a:schemeClr val="bg1"/>
                </a:solidFill>
                <a:latin typeface="微软雅黑" pitchFamily="34" charset="-122"/>
                <a:ea typeface="微软雅黑" pitchFamily="34" charset="-122"/>
              </a:rPr>
              <a:t> IP </a:t>
            </a:r>
            <a:r>
              <a:rPr lang="zh-CN" altLang="zh-CN" b="1" dirty="0">
                <a:solidFill>
                  <a:schemeClr val="bg1"/>
                </a:solidFill>
                <a:latin typeface="微软雅黑" pitchFamily="34" charset="-122"/>
                <a:ea typeface="微软雅黑" pitchFamily="34" charset="-122"/>
              </a:rPr>
              <a:t>数据报的首部，</a:t>
            </a:r>
            <a:endParaRPr lang="en-US" altLang="zh-CN" b="1" dirty="0">
              <a:solidFill>
                <a:schemeClr val="bg1"/>
              </a:solidFill>
              <a:latin typeface="微软雅黑" pitchFamily="34" charset="-122"/>
              <a:ea typeface="微软雅黑" pitchFamily="34" charset="-122"/>
            </a:endParaRPr>
          </a:p>
          <a:p>
            <a:r>
              <a:rPr lang="en-US" altLang="zh-CN" b="1" dirty="0">
                <a:solidFill>
                  <a:schemeClr val="bg1"/>
                </a:solidFill>
                <a:latin typeface="微软雅黑" pitchFamily="34" charset="-122"/>
                <a:ea typeface="微软雅黑" pitchFamily="34" charset="-122"/>
              </a:rPr>
              <a:t>MAC </a:t>
            </a:r>
            <a:r>
              <a:rPr lang="zh-CN" altLang="zh-CN" b="1" dirty="0">
                <a:solidFill>
                  <a:schemeClr val="bg1"/>
                </a:solidFill>
                <a:latin typeface="微软雅黑" pitchFamily="34" charset="-122"/>
                <a:ea typeface="微软雅黑" pitchFamily="34" charset="-122"/>
              </a:rPr>
              <a:t>地址则放在</a:t>
            </a:r>
            <a:r>
              <a:rPr lang="en-US" altLang="zh-CN" b="1" dirty="0">
                <a:solidFill>
                  <a:schemeClr val="bg1"/>
                </a:solidFill>
                <a:latin typeface="微软雅黑" pitchFamily="34" charset="-122"/>
                <a:ea typeface="微软雅黑" pitchFamily="34" charset="-122"/>
              </a:rPr>
              <a:t> MAC </a:t>
            </a:r>
            <a:r>
              <a:rPr lang="zh-CN" altLang="zh-CN" b="1" dirty="0">
                <a:solidFill>
                  <a:schemeClr val="bg1"/>
                </a:solidFill>
                <a:latin typeface="微软雅黑" pitchFamily="34" charset="-122"/>
                <a:ea typeface="微软雅黑" pitchFamily="34" charset="-122"/>
              </a:rPr>
              <a:t>帧的首部</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8259427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3" name="Text Box 108"/>
          <p:cNvSpPr txBox="1">
            <a:spLocks noChangeArrowheads="1"/>
          </p:cNvSpPr>
          <p:nvPr/>
        </p:nvSpPr>
        <p:spPr bwMode="auto">
          <a:xfrm>
            <a:off x="2491015" y="2110053"/>
            <a:ext cx="4265911" cy="701731"/>
          </a:xfrm>
          <a:prstGeom prst="rect">
            <a:avLst/>
          </a:prstGeom>
          <a:solidFill>
            <a:srgbClr val="0000CC"/>
          </a:solidFill>
          <a:ln w="9525">
            <a:solidFill>
              <a:srgbClr val="333399"/>
            </a:solidFill>
            <a:miter lim="800000"/>
            <a:headEnd/>
            <a:tailEnd/>
          </a:ln>
          <a:effectLst/>
        </p:spPr>
        <p:txBody>
          <a:bodyPr wrap="non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p>
          <a:p>
            <a:pPr algn="ctr">
              <a:lnSpc>
                <a:spcPct val="110000"/>
              </a:lnSpc>
              <a:spcAft>
                <a:spcPct val="30000"/>
              </a:spcAft>
            </a:pP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转发→再经过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2 </a:t>
            </a:r>
            <a:r>
              <a:rPr lang="zh-CN" altLang="en-US" b="1" dirty="0">
                <a:solidFill>
                  <a:schemeClr val="bg1"/>
                </a:solidFill>
                <a:latin typeface="微软雅黑" pitchFamily="34" charset="-122"/>
                <a:ea typeface="微软雅黑" pitchFamily="34" charset="-122"/>
              </a:rPr>
              <a:t>转发→</a:t>
            </a: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2</a:t>
            </a:r>
            <a:endParaRPr lang="en-US" altLang="zh-CN" b="1" dirty="0">
              <a:solidFill>
                <a:schemeClr val="bg1"/>
              </a:solidFill>
              <a:latin typeface="微软雅黑" pitchFamily="34" charset="-122"/>
              <a:ea typeface="微软雅黑" pitchFamily="34" charset="-122"/>
            </a:endParaRPr>
          </a:p>
        </p:txBody>
      </p:sp>
      <p:sp>
        <p:nvSpPr>
          <p:cNvPr id="138" name="Text Box 112"/>
          <p:cNvSpPr txBox="1">
            <a:spLocks noChangeArrowheads="1"/>
          </p:cNvSpPr>
          <p:nvPr/>
        </p:nvSpPr>
        <p:spPr bwMode="auto">
          <a:xfrm>
            <a:off x="28849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sp>
        <p:nvSpPr>
          <p:cNvPr id="139" name="Text Box 113"/>
          <p:cNvSpPr txBox="1">
            <a:spLocks noChangeArrowheads="1"/>
          </p:cNvSpPr>
          <p:nvPr/>
        </p:nvSpPr>
        <p:spPr bwMode="auto">
          <a:xfrm>
            <a:off x="47766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grpSp>
        <p:nvGrpSpPr>
          <p:cNvPr id="2" name="组合 1"/>
          <p:cNvGrpSpPr/>
          <p:nvPr/>
        </p:nvGrpSpPr>
        <p:grpSpPr>
          <a:xfrm>
            <a:off x="1414301" y="708834"/>
            <a:ext cx="6169421" cy="1001954"/>
            <a:chOff x="1414301" y="708834"/>
            <a:chExt cx="6169421" cy="1001954"/>
          </a:xfrm>
        </p:grpSpPr>
        <p:sp>
          <p:nvSpPr>
            <p:cNvPr id="38"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0"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2"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4"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45"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46"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7"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50"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AutoShape 23"/>
            <p:cNvSpPr>
              <a:spLocks noChangeArrowheads="1"/>
            </p:cNvSpPr>
            <p:nvPr/>
          </p:nvSpPr>
          <p:spPr bwMode="auto">
            <a:xfrm flipV="1">
              <a:off x="2026444" y="1105322"/>
              <a:ext cx="824144" cy="183094"/>
            </a:xfrm>
            <a:prstGeom prst="wedgeRoundRectCallout">
              <a:avLst>
                <a:gd name="adj1" fmla="val -45890"/>
                <a:gd name="adj2" fmla="val -153208"/>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地址</a:t>
              </a:r>
            </a:p>
          </p:txBody>
        </p:sp>
        <p:sp>
          <p:nvSpPr>
            <p:cNvPr id="53"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54"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5"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6"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7"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58"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59"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60"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61"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62"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6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4"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6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6"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sp>
          <p:nvSpPr>
            <p:cNvPr id="67" name="AutoShape 23"/>
            <p:cNvSpPr>
              <a:spLocks noChangeArrowheads="1"/>
            </p:cNvSpPr>
            <p:nvPr/>
          </p:nvSpPr>
          <p:spPr bwMode="auto">
            <a:xfrm flipV="1">
              <a:off x="2022885" y="708834"/>
              <a:ext cx="824144" cy="183094"/>
            </a:xfrm>
            <a:prstGeom prst="wedgeRoundRectCallout">
              <a:avLst>
                <a:gd name="adj1" fmla="val -77292"/>
                <a:gd name="adj2" fmla="val -176765"/>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地址</a:t>
              </a:r>
            </a:p>
          </p:txBody>
        </p:sp>
      </p:grpSp>
      <p:sp>
        <p:nvSpPr>
          <p:cNvPr id="134" name="Arc 109"/>
          <p:cNvSpPr>
            <a:spLocks/>
          </p:cNvSpPr>
          <p:nvPr/>
        </p:nvSpPr>
        <p:spPr bwMode="auto">
          <a:xfrm rot="2182693" flipV="1">
            <a:off x="1915570" y="1039536"/>
            <a:ext cx="1261851" cy="1017922"/>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5" name="Arc 110"/>
          <p:cNvSpPr>
            <a:spLocks/>
          </p:cNvSpPr>
          <p:nvPr/>
        </p:nvSpPr>
        <p:spPr bwMode="auto">
          <a:xfrm rot="2655715" flipV="1">
            <a:off x="3778906" y="913805"/>
            <a:ext cx="1209604" cy="1233693"/>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6" name="Arc 111"/>
          <p:cNvSpPr>
            <a:spLocks/>
          </p:cNvSpPr>
          <p:nvPr/>
        </p:nvSpPr>
        <p:spPr bwMode="auto">
          <a:xfrm rot="2655715" flipV="1">
            <a:off x="5727497" y="879465"/>
            <a:ext cx="1254695" cy="1263786"/>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Tree>
    <p:extLst>
      <p:ext uri="{BB962C8B-B14F-4D97-AF65-F5344CB8AC3E}">
        <p14:creationId xmlns:p14="http://schemas.microsoft.com/office/powerpoint/2010/main" val="865098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33"/>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1" presetClass="entr" presetSubtype="0" fill="hold" grpId="0" nodeType="afterEffect">
                                  <p:stCondLst>
                                    <p:cond delay="0"/>
                                  </p:stCondLst>
                                  <p:childTnLst>
                                    <p:set>
                                      <p:cBhvr>
                                        <p:cTn id="9" dur="1" fill="hold">
                                          <p:stCondLst>
                                            <p:cond delay="0"/>
                                          </p:stCondLst>
                                        </p:cTn>
                                        <p:tgtEl>
                                          <p:spTgt spid="134"/>
                                        </p:tgtEl>
                                        <p:attrNameLst>
                                          <p:attrName>style.visibility</p:attrName>
                                        </p:attrNameLst>
                                      </p:cBhvr>
                                      <p:to>
                                        <p:strVal val="visible"/>
                                      </p:to>
                                    </p:set>
                                  </p:childTnLst>
                                </p:cTn>
                              </p:par>
                            </p:childTnLst>
                          </p:cTn>
                        </p:par>
                        <p:par>
                          <p:cTn id="10" fill="hold">
                            <p:stCondLst>
                              <p:cond delay="3000"/>
                            </p:stCondLst>
                            <p:childTnLst>
                              <p:par>
                                <p:cTn id="11" presetID="22" presetClass="entr" presetSubtype="8" fill="hold" grpId="1" nodeType="afterEffect">
                                  <p:stCondLst>
                                    <p:cond delay="0"/>
                                  </p:stCondLst>
                                  <p:childTnLst>
                                    <p:set>
                                      <p:cBhvr>
                                        <p:cTn id="12" dur="1" fill="hold">
                                          <p:stCondLst>
                                            <p:cond delay="0"/>
                                          </p:stCondLst>
                                        </p:cTn>
                                        <p:tgtEl>
                                          <p:spTgt spid="134"/>
                                        </p:tgtEl>
                                        <p:attrNameLst>
                                          <p:attrName>style.visibility</p:attrName>
                                        </p:attrNameLst>
                                      </p:cBhvr>
                                      <p:to>
                                        <p:strVal val="visible"/>
                                      </p:to>
                                    </p:set>
                                    <p:animEffect transition="in" filter="wipe(left)">
                                      <p:cBhvr>
                                        <p:cTn id="13" dur="1000"/>
                                        <p:tgtEl>
                                          <p:spTgt spid="134"/>
                                        </p:tgtEl>
                                      </p:cBhvr>
                                    </p:animEffect>
                                  </p:childTnLst>
                                </p:cTn>
                              </p:par>
                            </p:childTnLst>
                          </p:cTn>
                        </p:par>
                        <p:par>
                          <p:cTn id="14" fill="hold">
                            <p:stCondLst>
                              <p:cond delay="4000"/>
                            </p:stCondLst>
                            <p:childTnLst>
                              <p:par>
                                <p:cTn id="15" presetID="1" presetClass="entr" presetSubtype="0" fill="hold" grpId="0" nodeType="afterEffect">
                                  <p:stCondLst>
                                    <p:cond delay="250"/>
                                  </p:stCondLst>
                                  <p:childTnLst>
                                    <p:set>
                                      <p:cBhvr>
                                        <p:cTn id="16" dur="1" fill="hold">
                                          <p:stCondLst>
                                            <p:cond delay="0"/>
                                          </p:stCondLst>
                                        </p:cTn>
                                        <p:tgtEl>
                                          <p:spTgt spid="138"/>
                                        </p:tgtEl>
                                        <p:attrNameLst>
                                          <p:attrName>style.visibility</p:attrName>
                                        </p:attrNameLst>
                                      </p:cBhvr>
                                      <p:to>
                                        <p:strVal val="visible"/>
                                      </p:to>
                                    </p:set>
                                  </p:childTnLst>
                                </p:cTn>
                              </p:par>
                            </p:childTnLst>
                          </p:cTn>
                        </p:par>
                        <p:par>
                          <p:cTn id="17" fill="hold">
                            <p:stCondLst>
                              <p:cond delay="4250"/>
                            </p:stCondLst>
                            <p:childTnLst>
                              <p:par>
                                <p:cTn id="18" presetID="35" presetClass="emph" presetSubtype="0" repeatCount="3000" fill="hold" grpId="1" nodeType="afterEffect">
                                  <p:stCondLst>
                                    <p:cond delay="0"/>
                                  </p:stCondLst>
                                  <p:childTnLst>
                                    <p:anim calcmode="discrete" valueType="str">
                                      <p:cBhvr>
                                        <p:cTn id="19" dur="500" fill="hold"/>
                                        <p:tgtEl>
                                          <p:spTgt spid="138"/>
                                        </p:tgtEl>
                                        <p:attrNameLst>
                                          <p:attrName>style.visibility</p:attrName>
                                        </p:attrNameLst>
                                      </p:cBhvr>
                                      <p:tavLst>
                                        <p:tav tm="0">
                                          <p:val>
                                            <p:strVal val="hidden"/>
                                          </p:val>
                                        </p:tav>
                                        <p:tav tm="50000">
                                          <p:val>
                                            <p:strVal val="visible"/>
                                          </p:val>
                                        </p:tav>
                                      </p:tavLst>
                                    </p:anim>
                                  </p:childTnLst>
                                </p:cTn>
                              </p:par>
                            </p:childTnLst>
                          </p:cTn>
                        </p:par>
                        <p:par>
                          <p:cTn id="20" fill="hold">
                            <p:stCondLst>
                              <p:cond delay="5750"/>
                            </p:stCondLst>
                            <p:childTnLst>
                              <p:par>
                                <p:cTn id="21" presetID="1" presetClass="entr" presetSubtype="0" fill="hold" grpId="0" nodeType="afterEffect">
                                  <p:stCondLst>
                                    <p:cond delay="0"/>
                                  </p:stCondLst>
                                  <p:childTnLst>
                                    <p:set>
                                      <p:cBhvr>
                                        <p:cTn id="22" dur="1" fill="hold">
                                          <p:stCondLst>
                                            <p:cond delay="0"/>
                                          </p:stCondLst>
                                        </p:cTn>
                                        <p:tgtEl>
                                          <p:spTgt spid="135"/>
                                        </p:tgtEl>
                                        <p:attrNameLst>
                                          <p:attrName>style.visibility</p:attrName>
                                        </p:attrNameLst>
                                      </p:cBhvr>
                                      <p:to>
                                        <p:strVal val="visible"/>
                                      </p:to>
                                    </p:set>
                                  </p:childTnLst>
                                </p:cTn>
                              </p:par>
                            </p:childTnLst>
                          </p:cTn>
                        </p:par>
                        <p:par>
                          <p:cTn id="23" fill="hold">
                            <p:stCondLst>
                              <p:cond delay="5750"/>
                            </p:stCondLst>
                            <p:childTnLst>
                              <p:par>
                                <p:cTn id="24" presetID="22" presetClass="entr" presetSubtype="8" fill="hold" grpId="1" nodeType="afterEffect">
                                  <p:stCondLst>
                                    <p:cond delay="0"/>
                                  </p:stCondLst>
                                  <p:childTnLst>
                                    <p:set>
                                      <p:cBhvr>
                                        <p:cTn id="25" dur="1" fill="hold">
                                          <p:stCondLst>
                                            <p:cond delay="0"/>
                                          </p:stCondLst>
                                        </p:cTn>
                                        <p:tgtEl>
                                          <p:spTgt spid="135"/>
                                        </p:tgtEl>
                                        <p:attrNameLst>
                                          <p:attrName>style.visibility</p:attrName>
                                        </p:attrNameLst>
                                      </p:cBhvr>
                                      <p:to>
                                        <p:strVal val="visible"/>
                                      </p:to>
                                    </p:set>
                                    <p:animEffect transition="in" filter="wipe(left)">
                                      <p:cBhvr>
                                        <p:cTn id="26" dur="1000"/>
                                        <p:tgtEl>
                                          <p:spTgt spid="135"/>
                                        </p:tgtEl>
                                      </p:cBhvr>
                                    </p:animEffect>
                                  </p:childTnLst>
                                </p:cTn>
                              </p:par>
                            </p:childTnLst>
                          </p:cTn>
                        </p:par>
                        <p:par>
                          <p:cTn id="27" fill="hold">
                            <p:stCondLst>
                              <p:cond delay="6750"/>
                            </p:stCondLst>
                            <p:childTnLst>
                              <p:par>
                                <p:cTn id="28" presetID="1" presetClass="entr" presetSubtype="0" fill="hold" grpId="0" nodeType="afterEffect">
                                  <p:stCondLst>
                                    <p:cond delay="250"/>
                                  </p:stCondLst>
                                  <p:childTnLst>
                                    <p:set>
                                      <p:cBhvr>
                                        <p:cTn id="29" dur="1" fill="hold">
                                          <p:stCondLst>
                                            <p:cond delay="0"/>
                                          </p:stCondLst>
                                        </p:cTn>
                                        <p:tgtEl>
                                          <p:spTgt spid="139"/>
                                        </p:tgtEl>
                                        <p:attrNameLst>
                                          <p:attrName>style.visibility</p:attrName>
                                        </p:attrNameLst>
                                      </p:cBhvr>
                                      <p:to>
                                        <p:strVal val="visible"/>
                                      </p:to>
                                    </p:set>
                                  </p:childTnLst>
                                </p:cTn>
                              </p:par>
                            </p:childTnLst>
                          </p:cTn>
                        </p:par>
                        <p:par>
                          <p:cTn id="30" fill="hold">
                            <p:stCondLst>
                              <p:cond delay="7000"/>
                            </p:stCondLst>
                            <p:childTnLst>
                              <p:par>
                                <p:cTn id="31" presetID="35" presetClass="emph" presetSubtype="0" repeatCount="3000" fill="hold" grpId="1" nodeType="afterEffect">
                                  <p:stCondLst>
                                    <p:cond delay="0"/>
                                  </p:stCondLst>
                                  <p:childTnLst>
                                    <p:anim calcmode="discrete" valueType="str">
                                      <p:cBhvr>
                                        <p:cTn id="32" dur="500" fill="hold"/>
                                        <p:tgtEl>
                                          <p:spTgt spid="139"/>
                                        </p:tgtEl>
                                        <p:attrNameLst>
                                          <p:attrName>style.visibility</p:attrName>
                                        </p:attrNameLst>
                                      </p:cBhvr>
                                      <p:tavLst>
                                        <p:tav tm="0">
                                          <p:val>
                                            <p:strVal val="hidden"/>
                                          </p:val>
                                        </p:tav>
                                        <p:tav tm="50000">
                                          <p:val>
                                            <p:strVal val="visible"/>
                                          </p:val>
                                        </p:tav>
                                      </p:tavLst>
                                    </p:anim>
                                  </p:childTnLst>
                                </p:cTn>
                              </p:par>
                            </p:childTnLst>
                          </p:cTn>
                        </p:par>
                        <p:par>
                          <p:cTn id="33" fill="hold">
                            <p:stCondLst>
                              <p:cond delay="8500"/>
                            </p:stCondLst>
                            <p:childTnLst>
                              <p:par>
                                <p:cTn id="34" presetID="22" presetClass="entr" presetSubtype="8" fill="hold" grpId="0" nodeType="afterEffect">
                                  <p:stCondLst>
                                    <p:cond delay="250"/>
                                  </p:stCondLst>
                                  <p:childTnLst>
                                    <p:set>
                                      <p:cBhvr>
                                        <p:cTn id="35" dur="1" fill="hold">
                                          <p:stCondLst>
                                            <p:cond delay="0"/>
                                          </p:stCondLst>
                                        </p:cTn>
                                        <p:tgtEl>
                                          <p:spTgt spid="136"/>
                                        </p:tgtEl>
                                        <p:attrNameLst>
                                          <p:attrName>style.visibility</p:attrName>
                                        </p:attrNameLst>
                                      </p:cBhvr>
                                      <p:to>
                                        <p:strVal val="visible"/>
                                      </p:to>
                                    </p:set>
                                    <p:animEffect transition="in" filter="wipe(left)">
                                      <p:cBhvr>
                                        <p:cTn id="36" dur="1000"/>
                                        <p:tgtEl>
                                          <p:spTgt spid="1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3" grpId="0" animBg="1"/>
      <p:bldP spid="138" grpId="0" animBg="1"/>
      <p:bldP spid="138" grpId="1" animBg="1"/>
      <p:bldP spid="139" grpId="0" animBg="1"/>
      <p:bldP spid="139" grpId="1" animBg="1"/>
      <p:bldP spid="134" grpId="0" animBg="1"/>
      <p:bldP spid="134" grpId="1" animBg="1"/>
      <p:bldP spid="135" grpId="0" animBg="1"/>
      <p:bldP spid="135" grpId="1" animBg="1"/>
      <p:bldP spid="136"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564396" y="728414"/>
            <a:ext cx="4004494"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从协议栈的层次上看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地址和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地址</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59"/>
          <p:cNvSpPr>
            <a:spLocks noChangeShapeType="1"/>
          </p:cNvSpPr>
          <p:nvPr/>
        </p:nvSpPr>
        <p:spPr bwMode="auto">
          <a:xfrm>
            <a:off x="1670048" y="2214466"/>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1"/>
          <p:cNvSpPr>
            <a:spLocks noChangeShapeType="1"/>
          </p:cNvSpPr>
          <p:nvPr/>
        </p:nvSpPr>
        <p:spPr bwMode="auto">
          <a:xfrm>
            <a:off x="1670048"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63"/>
          <p:cNvSpPr>
            <a:spLocks noChangeShapeType="1"/>
          </p:cNvSpPr>
          <p:nvPr/>
        </p:nvSpPr>
        <p:spPr bwMode="auto">
          <a:xfrm flipV="1">
            <a:off x="3296825"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Line 164"/>
          <p:cNvSpPr>
            <a:spLocks noChangeShapeType="1"/>
          </p:cNvSpPr>
          <p:nvPr/>
        </p:nvSpPr>
        <p:spPr bwMode="auto">
          <a:xfrm>
            <a:off x="3444714"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1" name="Line 165"/>
          <p:cNvSpPr>
            <a:spLocks noChangeShapeType="1"/>
          </p:cNvSpPr>
          <p:nvPr/>
        </p:nvSpPr>
        <p:spPr bwMode="auto">
          <a:xfrm>
            <a:off x="3692646"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2" name="Line 168"/>
          <p:cNvSpPr>
            <a:spLocks noChangeShapeType="1"/>
          </p:cNvSpPr>
          <p:nvPr/>
        </p:nvSpPr>
        <p:spPr bwMode="auto">
          <a:xfrm flipV="1">
            <a:off x="5122599"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3" name="Line 169"/>
          <p:cNvSpPr>
            <a:spLocks noChangeShapeType="1"/>
          </p:cNvSpPr>
          <p:nvPr/>
        </p:nvSpPr>
        <p:spPr bwMode="auto">
          <a:xfrm>
            <a:off x="5270488"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4" name="Line 170"/>
          <p:cNvSpPr>
            <a:spLocks noChangeShapeType="1"/>
          </p:cNvSpPr>
          <p:nvPr/>
        </p:nvSpPr>
        <p:spPr bwMode="auto">
          <a:xfrm>
            <a:off x="5714155" y="3704112"/>
            <a:ext cx="128206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5" name="Line 171"/>
          <p:cNvSpPr>
            <a:spLocks noChangeShapeType="1"/>
          </p:cNvSpPr>
          <p:nvPr/>
        </p:nvSpPr>
        <p:spPr bwMode="auto">
          <a:xfrm flipV="1">
            <a:off x="7095175" y="2253349"/>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103384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1"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up)">
                                      <p:cBhvr>
                                        <p:cTn id="10" dur="1000"/>
                                        <p:tgtEl>
                                          <p:spTgt spid="137"/>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5000"/>
                            </p:stCondLst>
                            <p:childTnLst>
                              <p:par>
                                <p:cTn id="16" presetID="22" presetClass="entr" presetSubtype="4"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down)">
                                      <p:cBhvr>
                                        <p:cTn id="18" dur="1000"/>
                                        <p:tgtEl>
                                          <p:spTgt spid="139"/>
                                        </p:tgtEl>
                                      </p:cBhvr>
                                    </p:animEffect>
                                  </p:childTnLst>
                                </p:cTn>
                              </p:par>
                            </p:childTnLst>
                          </p:cTn>
                        </p:par>
                        <p:par>
                          <p:cTn id="19" fill="hold">
                            <p:stCondLst>
                              <p:cond delay="6000"/>
                            </p:stCondLst>
                            <p:childTnLst>
                              <p:par>
                                <p:cTn id="20" presetID="22" presetClass="entr" presetSubtype="1"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wipe(up)">
                                      <p:cBhvr>
                                        <p:cTn id="22" dur="1000"/>
                                        <p:tgtEl>
                                          <p:spTgt spid="140"/>
                                        </p:tgtEl>
                                      </p:cBhvr>
                                    </p:animEffect>
                                  </p:childTnLst>
                                </p:cTn>
                              </p:par>
                            </p:childTnLst>
                          </p:cTn>
                        </p:par>
                        <p:par>
                          <p:cTn id="23" fill="hold">
                            <p:stCondLst>
                              <p:cond delay="7000"/>
                            </p:stCondLst>
                            <p:childTnLst>
                              <p:par>
                                <p:cTn id="24" presetID="22" presetClass="entr" presetSubtype="8" fill="hold" grpId="0" nodeType="afterEffect">
                                  <p:stCondLst>
                                    <p:cond delay="0"/>
                                  </p:stCondLst>
                                  <p:childTnLst>
                                    <p:set>
                                      <p:cBhvr>
                                        <p:cTn id="25" dur="1" fill="hold">
                                          <p:stCondLst>
                                            <p:cond delay="0"/>
                                          </p:stCondLst>
                                        </p:cTn>
                                        <p:tgtEl>
                                          <p:spTgt spid="141"/>
                                        </p:tgtEl>
                                        <p:attrNameLst>
                                          <p:attrName>style.visibility</p:attrName>
                                        </p:attrNameLst>
                                      </p:cBhvr>
                                      <p:to>
                                        <p:strVal val="visible"/>
                                      </p:to>
                                    </p:set>
                                    <p:animEffect transition="in" filter="wipe(left)">
                                      <p:cBhvr>
                                        <p:cTn id="26" dur="1000"/>
                                        <p:tgtEl>
                                          <p:spTgt spid="141"/>
                                        </p:tgtEl>
                                      </p:cBhvr>
                                    </p:animEffect>
                                  </p:childTnLst>
                                </p:cTn>
                              </p:par>
                            </p:childTnLst>
                          </p:cTn>
                        </p:par>
                        <p:par>
                          <p:cTn id="27" fill="hold">
                            <p:stCondLst>
                              <p:cond delay="8000"/>
                            </p:stCondLst>
                            <p:childTnLst>
                              <p:par>
                                <p:cTn id="28" presetID="22" presetClass="entr" presetSubtype="4" fill="hold" grpId="0" nodeType="afterEffect">
                                  <p:stCondLst>
                                    <p:cond delay="0"/>
                                  </p:stCondLst>
                                  <p:childTnLst>
                                    <p:set>
                                      <p:cBhvr>
                                        <p:cTn id="29" dur="1" fill="hold">
                                          <p:stCondLst>
                                            <p:cond delay="0"/>
                                          </p:stCondLst>
                                        </p:cTn>
                                        <p:tgtEl>
                                          <p:spTgt spid="142"/>
                                        </p:tgtEl>
                                        <p:attrNameLst>
                                          <p:attrName>style.visibility</p:attrName>
                                        </p:attrNameLst>
                                      </p:cBhvr>
                                      <p:to>
                                        <p:strVal val="visible"/>
                                      </p:to>
                                    </p:set>
                                    <p:animEffect transition="in" filter="wipe(down)">
                                      <p:cBhvr>
                                        <p:cTn id="30" dur="1000"/>
                                        <p:tgtEl>
                                          <p:spTgt spid="142"/>
                                        </p:tgtEl>
                                      </p:cBhvr>
                                    </p:animEffect>
                                  </p:childTnLst>
                                </p:cTn>
                              </p:par>
                            </p:childTnLst>
                          </p:cTn>
                        </p:par>
                        <p:par>
                          <p:cTn id="31" fill="hold">
                            <p:stCondLst>
                              <p:cond delay="9000"/>
                            </p:stCondLst>
                            <p:childTnLst>
                              <p:par>
                                <p:cTn id="32" presetID="22" presetClass="entr" presetSubtype="1" fill="hold" grpId="0" nodeType="afterEffect">
                                  <p:stCondLst>
                                    <p:cond delay="0"/>
                                  </p:stCondLst>
                                  <p:childTnLst>
                                    <p:set>
                                      <p:cBhvr>
                                        <p:cTn id="33" dur="1" fill="hold">
                                          <p:stCondLst>
                                            <p:cond delay="0"/>
                                          </p:stCondLst>
                                        </p:cTn>
                                        <p:tgtEl>
                                          <p:spTgt spid="143"/>
                                        </p:tgtEl>
                                        <p:attrNameLst>
                                          <p:attrName>style.visibility</p:attrName>
                                        </p:attrNameLst>
                                      </p:cBhvr>
                                      <p:to>
                                        <p:strVal val="visible"/>
                                      </p:to>
                                    </p:set>
                                    <p:animEffect transition="in" filter="wipe(up)">
                                      <p:cBhvr>
                                        <p:cTn id="34" dur="1000"/>
                                        <p:tgtEl>
                                          <p:spTgt spid="143"/>
                                        </p:tgtEl>
                                      </p:cBhvr>
                                    </p:animEffect>
                                  </p:childTnLst>
                                </p:cTn>
                              </p:par>
                            </p:childTnLst>
                          </p:cTn>
                        </p:par>
                        <p:par>
                          <p:cTn id="35" fill="hold">
                            <p:stCondLst>
                              <p:cond delay="10000"/>
                            </p:stCondLst>
                            <p:childTnLst>
                              <p:par>
                                <p:cTn id="36" presetID="22" presetClass="entr" presetSubtype="8" fill="hold" grpId="0" nodeType="afterEffect">
                                  <p:stCondLst>
                                    <p:cond delay="0"/>
                                  </p:stCondLst>
                                  <p:childTnLst>
                                    <p:set>
                                      <p:cBhvr>
                                        <p:cTn id="37" dur="1" fill="hold">
                                          <p:stCondLst>
                                            <p:cond delay="0"/>
                                          </p:stCondLst>
                                        </p:cTn>
                                        <p:tgtEl>
                                          <p:spTgt spid="144"/>
                                        </p:tgtEl>
                                        <p:attrNameLst>
                                          <p:attrName>style.visibility</p:attrName>
                                        </p:attrNameLst>
                                      </p:cBhvr>
                                      <p:to>
                                        <p:strVal val="visible"/>
                                      </p:to>
                                    </p:set>
                                    <p:animEffect transition="in" filter="wipe(left)">
                                      <p:cBhvr>
                                        <p:cTn id="38" dur="1000"/>
                                        <p:tgtEl>
                                          <p:spTgt spid="144"/>
                                        </p:tgtEl>
                                      </p:cBhvr>
                                    </p:animEffect>
                                  </p:childTnLst>
                                </p:cTn>
                              </p:par>
                            </p:childTnLst>
                          </p:cTn>
                        </p:par>
                        <p:par>
                          <p:cTn id="39" fill="hold">
                            <p:stCondLst>
                              <p:cond delay="11000"/>
                            </p:stCondLst>
                            <p:childTnLst>
                              <p:par>
                                <p:cTn id="40" presetID="22" presetClass="entr" presetSubtype="4" fill="hold" grpId="0" nodeType="afterEffect">
                                  <p:stCondLst>
                                    <p:cond delay="0"/>
                                  </p:stCondLst>
                                  <p:childTnLst>
                                    <p:set>
                                      <p:cBhvr>
                                        <p:cTn id="41" dur="1" fill="hold">
                                          <p:stCondLst>
                                            <p:cond delay="0"/>
                                          </p:stCondLst>
                                        </p:cTn>
                                        <p:tgtEl>
                                          <p:spTgt spid="145"/>
                                        </p:tgtEl>
                                        <p:attrNameLst>
                                          <p:attrName>style.visibility</p:attrName>
                                        </p:attrNameLst>
                                      </p:cBhvr>
                                      <p:to>
                                        <p:strVal val="visible"/>
                                      </p:to>
                                    </p:set>
                                    <p:animEffect transition="in" filter="wipe(down)">
                                      <p:cBhvr>
                                        <p:cTn id="42" dur="1000"/>
                                        <p:tgtEl>
                                          <p:spTgt spid="1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P spid="141" grpId="0" animBg="1"/>
      <p:bldP spid="142" grpId="0" animBg="1"/>
      <p:bldP spid="143" grpId="0" animBg="1"/>
      <p:bldP spid="144" grpId="0" animBg="1"/>
      <p:bldP spid="145"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404834" y="728414"/>
            <a:ext cx="4323620"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层抽象的互联网上只能看到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60" name="Line 161"/>
          <p:cNvSpPr>
            <a:spLocks noChangeShapeType="1"/>
          </p:cNvSpPr>
          <p:nvPr/>
        </p:nvSpPr>
        <p:spPr bwMode="auto">
          <a:xfrm>
            <a:off x="1861661" y="2665434"/>
            <a:ext cx="1585771"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76" name="Line 165"/>
          <p:cNvSpPr>
            <a:spLocks noChangeShapeType="1"/>
          </p:cNvSpPr>
          <p:nvPr/>
        </p:nvSpPr>
        <p:spPr bwMode="auto">
          <a:xfrm>
            <a:off x="3565904" y="2665434"/>
            <a:ext cx="167087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6" name="Line 170"/>
          <p:cNvSpPr>
            <a:spLocks noChangeShapeType="1"/>
          </p:cNvSpPr>
          <p:nvPr/>
        </p:nvSpPr>
        <p:spPr bwMode="auto">
          <a:xfrm>
            <a:off x="5324876" y="2665434"/>
            <a:ext cx="182375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 name="矩形 4"/>
          <p:cNvSpPr/>
          <p:nvPr/>
        </p:nvSpPr>
        <p:spPr>
          <a:xfrm>
            <a:off x="4424727" y="1816579"/>
            <a:ext cx="1642294" cy="461665"/>
          </a:xfrm>
          <a:prstGeom prst="rect">
            <a:avLst/>
          </a:prstGeom>
          <a:solidFill>
            <a:srgbClr val="FF99FF"/>
          </a:solidFill>
        </p:spPr>
        <p:txBody>
          <a:bodyPr wrap="square">
            <a:spAutoFit/>
          </a:bodyPr>
          <a:lstStyle/>
          <a:p>
            <a:r>
              <a:rPr lang="zh-CN" altLang="en-US" sz="1200" b="1" dirty="0">
                <a:latin typeface="微软雅黑" panose="020B0503020204020204" pitchFamily="34" charset="-122"/>
                <a:ea typeface="微软雅黑" panose="020B0503020204020204" pitchFamily="34" charset="-122"/>
              </a:rPr>
              <a:t>路由器只根据</a:t>
            </a:r>
            <a:r>
              <a:rPr lang="zh-CN" altLang="en-US" sz="1200" b="1" dirty="0">
                <a:solidFill>
                  <a:srgbClr val="C00000"/>
                </a:solidFill>
                <a:latin typeface="微软雅黑" panose="020B0503020204020204" pitchFamily="34" charset="-122"/>
                <a:ea typeface="微软雅黑" panose="020B0503020204020204" pitchFamily="34" charset="-122"/>
              </a:rPr>
              <a:t>目的站的 </a:t>
            </a:r>
            <a:r>
              <a:rPr lang="en-US" altLang="zh-CN" sz="1200" b="1" dirty="0">
                <a:solidFill>
                  <a:srgbClr val="C00000"/>
                </a:solidFill>
                <a:latin typeface="微软雅黑" panose="020B0503020204020204" pitchFamily="34" charset="-122"/>
                <a:ea typeface="微软雅黑" panose="020B0503020204020204" pitchFamily="34" charset="-122"/>
              </a:rPr>
              <a:t>IP </a:t>
            </a:r>
            <a:r>
              <a:rPr lang="zh-CN" altLang="en-US" sz="1200" b="1" dirty="0">
                <a:solidFill>
                  <a:srgbClr val="C00000"/>
                </a:solidFill>
                <a:latin typeface="微软雅黑" panose="020B0503020204020204" pitchFamily="34" charset="-122"/>
                <a:ea typeface="微软雅黑" panose="020B0503020204020204" pitchFamily="34" charset="-122"/>
              </a:rPr>
              <a:t>地址</a:t>
            </a:r>
            <a:r>
              <a:rPr lang="zh-CN" altLang="en-US" sz="1200" b="1" dirty="0">
                <a:latin typeface="微软雅黑" panose="020B0503020204020204" pitchFamily="34" charset="-122"/>
                <a:ea typeface="微软雅黑" panose="020B0503020204020204" pitchFamily="34" charset="-122"/>
              </a:rPr>
              <a:t>进行转发。</a:t>
            </a:r>
          </a:p>
        </p:txBody>
      </p:sp>
      <p:sp>
        <p:nvSpPr>
          <p:cNvPr id="217" name="矩形 216"/>
          <p:cNvSpPr/>
          <p:nvPr/>
        </p:nvSpPr>
        <p:spPr>
          <a:xfrm>
            <a:off x="2662683" y="4250411"/>
            <a:ext cx="3639530"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注意：数据报中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地址是否有变化？</a:t>
            </a:r>
          </a:p>
        </p:txBody>
      </p:sp>
    </p:spTree>
    <p:extLst>
      <p:ext uri="{BB962C8B-B14F-4D97-AF65-F5344CB8AC3E}">
        <p14:creationId xmlns:p14="http://schemas.microsoft.com/office/powerpoint/2010/main" val="180311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8" fill="hold" grpId="0" nodeType="afterEffect">
                                  <p:stCondLst>
                                    <p:cond delay="0"/>
                                  </p:stCondLst>
                                  <p:childTnLst>
                                    <p:set>
                                      <p:cBhvr>
                                        <p:cTn id="9" dur="1" fill="hold">
                                          <p:stCondLst>
                                            <p:cond delay="0"/>
                                          </p:stCondLst>
                                        </p:cTn>
                                        <p:tgtEl>
                                          <p:spTgt spid="160"/>
                                        </p:tgtEl>
                                        <p:attrNameLst>
                                          <p:attrName>style.visibility</p:attrName>
                                        </p:attrNameLst>
                                      </p:cBhvr>
                                      <p:to>
                                        <p:strVal val="visible"/>
                                      </p:to>
                                    </p:set>
                                    <p:animEffect transition="in" filter="wipe(left)">
                                      <p:cBhvr>
                                        <p:cTn id="10" dur="1000"/>
                                        <p:tgtEl>
                                          <p:spTgt spid="160"/>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76"/>
                                        </p:tgtEl>
                                        <p:attrNameLst>
                                          <p:attrName>style.visibility</p:attrName>
                                        </p:attrNameLst>
                                      </p:cBhvr>
                                      <p:to>
                                        <p:strVal val="visible"/>
                                      </p:to>
                                    </p:set>
                                    <p:animEffect transition="in" filter="wipe(left)">
                                      <p:cBhvr>
                                        <p:cTn id="14" dur="1000"/>
                                        <p:tgtEl>
                                          <p:spTgt spid="176"/>
                                        </p:tgtEl>
                                      </p:cBhvr>
                                    </p:animEffect>
                                  </p:childTnLst>
                                </p:cTn>
                              </p:par>
                            </p:childTnLst>
                          </p:cTn>
                        </p:par>
                        <p:par>
                          <p:cTn id="15" fill="hold">
                            <p:stCondLst>
                              <p:cond delay="5000"/>
                            </p:stCondLst>
                            <p:childTnLst>
                              <p:par>
                                <p:cTn id="16" presetID="22" presetClass="entr" presetSubtype="8" fill="hold" grpId="0" nodeType="afterEffect">
                                  <p:stCondLst>
                                    <p:cond delay="0"/>
                                  </p:stCondLst>
                                  <p:childTnLst>
                                    <p:set>
                                      <p:cBhvr>
                                        <p:cTn id="17" dur="1" fill="hold">
                                          <p:stCondLst>
                                            <p:cond delay="0"/>
                                          </p:stCondLst>
                                        </p:cTn>
                                        <p:tgtEl>
                                          <p:spTgt spid="216"/>
                                        </p:tgtEl>
                                        <p:attrNameLst>
                                          <p:attrName>style.visibility</p:attrName>
                                        </p:attrNameLst>
                                      </p:cBhvr>
                                      <p:to>
                                        <p:strVal val="visible"/>
                                      </p:to>
                                    </p:set>
                                    <p:animEffect transition="in" filter="wipe(left)">
                                      <p:cBhvr>
                                        <p:cTn id="18" dur="1000"/>
                                        <p:tgtEl>
                                          <p:spTgt spid="216"/>
                                        </p:tgtEl>
                                      </p:cBhvr>
                                    </p:animEffect>
                                  </p:childTnLst>
                                </p:cTn>
                              </p:par>
                            </p:childTnLst>
                          </p:cTn>
                        </p:par>
                        <p:par>
                          <p:cTn id="19" fill="hold">
                            <p:stCondLst>
                              <p:cond delay="6000"/>
                            </p:stCondLst>
                            <p:childTnLst>
                              <p:par>
                                <p:cTn id="20" presetID="10" presetClass="entr" presetSubtype="0" repeatCount="3000" fill="hold" grpId="0" nodeType="after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1000"/>
                                        <p:tgtEl>
                                          <p:spTgt spid="5"/>
                                        </p:tgtEl>
                                      </p:cBhvr>
                                    </p:animEffect>
                                  </p:childTnLst>
                                </p:cTn>
                              </p:par>
                            </p:childTnLst>
                          </p:cTn>
                        </p:par>
                        <p:par>
                          <p:cTn id="23" fill="hold">
                            <p:stCondLst>
                              <p:cond delay="9000"/>
                            </p:stCondLst>
                            <p:childTnLst>
                              <p:par>
                                <p:cTn id="24" presetID="10" presetClass="entr" presetSubtype="0" fill="hold" grpId="0" nodeType="afterEffect">
                                  <p:stCondLst>
                                    <p:cond delay="0"/>
                                  </p:stCondLst>
                                  <p:childTnLst>
                                    <p:set>
                                      <p:cBhvr>
                                        <p:cTn id="25" dur="1" fill="hold">
                                          <p:stCondLst>
                                            <p:cond delay="0"/>
                                          </p:stCondLst>
                                        </p:cTn>
                                        <p:tgtEl>
                                          <p:spTgt spid="217"/>
                                        </p:tgtEl>
                                        <p:attrNameLst>
                                          <p:attrName>style.visibility</p:attrName>
                                        </p:attrNameLst>
                                      </p:cBhvr>
                                      <p:to>
                                        <p:strVal val="visible"/>
                                      </p:to>
                                    </p:set>
                                    <p:animEffect transition="in" filter="fade">
                                      <p:cBhvr>
                                        <p:cTn id="26" dur="1000"/>
                                        <p:tgtEl>
                                          <p:spTgt spid="2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60" grpId="0" animBg="1"/>
      <p:bldP spid="176" grpId="0" animBg="1"/>
      <p:bldP spid="216" grpId="0" animBg="1"/>
      <p:bldP spid="5" grpId="0" animBg="1"/>
      <p:bldP spid="217"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624511" y="728414"/>
            <a:ext cx="3884268"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在局域网的链路层，只能看见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帧。</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61"/>
          <p:cNvSpPr>
            <a:spLocks noChangeShapeType="1"/>
          </p:cNvSpPr>
          <p:nvPr/>
        </p:nvSpPr>
        <p:spPr bwMode="auto">
          <a:xfrm>
            <a:off x="1664610" y="3701670"/>
            <a:ext cx="130272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5"/>
          <p:cNvSpPr>
            <a:spLocks noChangeShapeType="1"/>
          </p:cNvSpPr>
          <p:nvPr/>
        </p:nvSpPr>
        <p:spPr bwMode="auto">
          <a:xfrm>
            <a:off x="3854670" y="3701670"/>
            <a:ext cx="88733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70"/>
          <p:cNvSpPr>
            <a:spLocks noChangeShapeType="1"/>
          </p:cNvSpPr>
          <p:nvPr/>
        </p:nvSpPr>
        <p:spPr bwMode="auto">
          <a:xfrm>
            <a:off x="5639122" y="3701670"/>
            <a:ext cx="142373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矩形 139"/>
          <p:cNvSpPr/>
          <p:nvPr/>
        </p:nvSpPr>
        <p:spPr>
          <a:xfrm>
            <a:off x="2104802" y="4266739"/>
            <a:ext cx="5150223"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注意：帧中 </a:t>
            </a: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地址是否有变化？对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层有何影响？</a:t>
            </a:r>
          </a:p>
        </p:txBody>
      </p:sp>
    </p:spTree>
    <p:extLst>
      <p:ext uri="{BB962C8B-B14F-4D97-AF65-F5344CB8AC3E}">
        <p14:creationId xmlns:p14="http://schemas.microsoft.com/office/powerpoint/2010/main" val="800076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22" presetClass="entr" presetSubtype="8"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left)">
                                      <p:cBhvr>
                                        <p:cTn id="10" dur="1000"/>
                                        <p:tgtEl>
                                          <p:spTgt spid="137"/>
                                        </p:tgtEl>
                                      </p:cBhvr>
                                    </p:animEffect>
                                  </p:childTnLst>
                                </p:cTn>
                              </p:par>
                            </p:childTnLst>
                          </p:cTn>
                        </p:par>
                        <p:par>
                          <p:cTn id="11" fill="hold">
                            <p:stCondLst>
                              <p:cond delay="5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6000"/>
                            </p:stCondLst>
                            <p:childTnLst>
                              <p:par>
                                <p:cTn id="16" presetID="22" presetClass="entr" presetSubtype="8"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left)">
                                      <p:cBhvr>
                                        <p:cTn id="18" dur="1000"/>
                                        <p:tgtEl>
                                          <p:spTgt spid="139"/>
                                        </p:tgtEl>
                                      </p:cBhvr>
                                    </p:animEffect>
                                  </p:childTnLst>
                                </p:cTn>
                              </p:par>
                            </p:childTnLst>
                          </p:cTn>
                        </p:par>
                        <p:par>
                          <p:cTn id="19" fill="hold">
                            <p:stCondLst>
                              <p:cond delay="7000"/>
                            </p:stCondLst>
                            <p:childTnLst>
                              <p:par>
                                <p:cTn id="20" presetID="10" presetClass="entr" presetSubtype="0"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fade">
                                      <p:cBhvr>
                                        <p:cTn id="22" dur="10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graphicFrame>
        <p:nvGraphicFramePr>
          <p:cNvPr id="25" name="内容占位符 3"/>
          <p:cNvGraphicFramePr>
            <a:graphicFrameLocks/>
          </p:cNvGraphicFramePr>
          <p:nvPr>
            <p:extLst>
              <p:ext uri="{D42A27DB-BD31-4B8C-83A1-F6EECF244321}">
                <p14:modId xmlns:p14="http://schemas.microsoft.com/office/powerpoint/2010/main" val="576427055"/>
              </p:ext>
            </p:extLst>
          </p:nvPr>
        </p:nvGraphicFramePr>
        <p:xfrm>
          <a:off x="840060" y="1195745"/>
          <a:ext cx="7530788" cy="2199993"/>
        </p:xfrm>
        <a:graphic>
          <a:graphicData uri="http://schemas.openxmlformats.org/drawingml/2006/table">
            <a:tbl>
              <a:tblPr>
                <a:tableStyleId>{5C22544A-7EE6-4342-B048-85BDC9FD1C3A}</a:tableStyleId>
              </a:tblPr>
              <a:tblGrid>
                <a:gridCol w="1613208">
                  <a:extLst>
                    <a:ext uri="{9D8B030D-6E8A-4147-A177-3AD203B41FA5}">
                      <a16:colId xmlns:a16="http://schemas.microsoft.com/office/drawing/2014/main" val="20000"/>
                    </a:ext>
                  </a:extLst>
                </a:gridCol>
                <a:gridCol w="1501698">
                  <a:extLst>
                    <a:ext uri="{9D8B030D-6E8A-4147-A177-3AD203B41FA5}">
                      <a16:colId xmlns:a16="http://schemas.microsoft.com/office/drawing/2014/main" val="20001"/>
                    </a:ext>
                  </a:extLst>
                </a:gridCol>
                <a:gridCol w="1505860">
                  <a:extLst>
                    <a:ext uri="{9D8B030D-6E8A-4147-A177-3AD203B41FA5}">
                      <a16:colId xmlns:a16="http://schemas.microsoft.com/office/drawing/2014/main" val="20002"/>
                    </a:ext>
                  </a:extLst>
                </a:gridCol>
                <a:gridCol w="1455011">
                  <a:extLst>
                    <a:ext uri="{9D8B030D-6E8A-4147-A177-3AD203B41FA5}">
                      <a16:colId xmlns:a16="http://schemas.microsoft.com/office/drawing/2014/main" val="20003"/>
                    </a:ext>
                  </a:extLst>
                </a:gridCol>
                <a:gridCol w="1455011">
                  <a:extLst>
                    <a:ext uri="{9D8B030D-6E8A-4147-A177-3AD203B41FA5}">
                      <a16:colId xmlns:a16="http://schemas.microsoft.com/office/drawing/2014/main" val="20004"/>
                    </a:ext>
                  </a:extLst>
                </a:gridCol>
              </a:tblGrid>
              <a:tr h="610109">
                <a:tc rowSpan="2">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 </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在网络层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IP </a:t>
                      </a:r>
                      <a:r>
                        <a:rPr lang="zh-CN" sz="1600" b="1" dirty="0">
                          <a:solidFill>
                            <a:schemeClr val="bg1"/>
                          </a:solidFill>
                          <a:effectLst/>
                          <a:latin typeface="微软雅黑" pitchFamily="34" charset="-122"/>
                          <a:ea typeface="微软雅黑" pitchFamily="34" charset="-122"/>
                        </a:rPr>
                        <a:t>数据报首部的地址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99"/>
                    </a:solidFill>
                  </a:tcPr>
                </a:tc>
                <a:tc hMerge="1">
                  <a:txBody>
                    <a:bodyPr/>
                    <a:lstStyle/>
                    <a:p>
                      <a:endParaRPr lang="zh-CN" altLang="en-US"/>
                    </a:p>
                  </a:txBody>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在数据链路层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MAC </a:t>
                      </a:r>
                      <a:r>
                        <a:rPr lang="zh-CN" sz="1600" b="1" dirty="0">
                          <a:solidFill>
                            <a:schemeClr val="bg1"/>
                          </a:solidFill>
                          <a:effectLst/>
                          <a:latin typeface="微软雅黑" pitchFamily="34" charset="-122"/>
                          <a:ea typeface="微软雅黑" pitchFamily="34" charset="-122"/>
                        </a:rPr>
                        <a:t>帧首部的地址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3300"/>
                    </a:solidFill>
                  </a:tcPr>
                </a:tc>
                <a:tc hMerge="1">
                  <a:txBody>
                    <a:bodyPr/>
                    <a:lstStyle/>
                    <a:p>
                      <a:endParaRPr lang="zh-CN" altLang="en-US"/>
                    </a:p>
                  </a:txBody>
                  <a:tcPr/>
                </a:tc>
                <a:extLst>
                  <a:ext uri="{0D108BD9-81ED-4DB2-BD59-A6C34878D82A}">
                    <a16:rowId xmlns:a16="http://schemas.microsoft.com/office/drawing/2014/main" val="10000"/>
                  </a:ext>
                </a:extLst>
              </a:tr>
              <a:tr h="397471">
                <a:tc vMerge="1">
                  <a:txBody>
                    <a:bodyPr/>
                    <a:lstStyle/>
                    <a:p>
                      <a:endParaRPr lang="zh-CN" altLang="en-US"/>
                    </a:p>
                  </a:txBody>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1"/>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2"/>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4</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3"/>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6</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sp>
        <p:nvSpPr>
          <p:cNvPr id="2" name="矩形 1"/>
          <p:cNvSpPr/>
          <p:nvPr/>
        </p:nvSpPr>
        <p:spPr>
          <a:xfrm>
            <a:off x="545145" y="972534"/>
            <a:ext cx="8053712"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尽管互连在一起的网络的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地址体系各不相同，但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层抽象的互联网却</a:t>
            </a:r>
            <a:r>
              <a:rPr lang="zh-CN" altLang="en-US" sz="2000" b="1" dirty="0">
                <a:solidFill>
                  <a:srgbClr val="C00000"/>
                </a:solidFill>
                <a:latin typeface="微软雅黑" pitchFamily="34" charset="-122"/>
                <a:ea typeface="微软雅黑" pitchFamily="34" charset="-122"/>
              </a:rPr>
              <a:t>屏蔽</a:t>
            </a:r>
            <a:r>
              <a:rPr lang="zh-CN" altLang="en-US" sz="2000" b="1" dirty="0">
                <a:latin typeface="微软雅黑" pitchFamily="34" charset="-122"/>
                <a:ea typeface="微软雅黑" pitchFamily="34" charset="-122"/>
              </a:rPr>
              <a:t>了下层这些很复杂的细节。</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只要我们在网络层上讨论问题，就能够使用统一的、抽象的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地址研究主机和主机或路由器之间的通信。</a:t>
            </a:r>
          </a:p>
        </p:txBody>
      </p:sp>
      <p:sp>
        <p:nvSpPr>
          <p:cNvPr id="3" name="矩形 2"/>
          <p:cNvSpPr/>
          <p:nvPr/>
        </p:nvSpPr>
        <p:spPr>
          <a:xfrm>
            <a:off x="1730829" y="2892398"/>
            <a:ext cx="5796642" cy="1169551"/>
          </a:xfrm>
          <a:prstGeom prst="rect">
            <a:avLst/>
          </a:prstGeom>
          <a:ln/>
        </p:spPr>
        <p:style>
          <a:lnRef idx="1">
            <a:schemeClr val="accent2"/>
          </a:lnRef>
          <a:fillRef idx="2">
            <a:schemeClr val="accent2"/>
          </a:fillRef>
          <a:effectRef idx="1">
            <a:schemeClr val="accent2"/>
          </a:effectRef>
          <a:fontRef idx="minor">
            <a:schemeClr val="dk1"/>
          </a:fontRef>
        </p:style>
        <p:txBody>
          <a:bodyPr wrap="square">
            <a:spAutoFit/>
          </a:bodyPr>
          <a:lstStyle/>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问题：</a:t>
            </a:r>
            <a:endParaRPr lang="en-US" altLang="zh-CN" sz="2000" b="1" dirty="0">
              <a:solidFill>
                <a:srgbClr val="000099"/>
              </a:solidFill>
              <a:latin typeface="微软雅黑" panose="020B0503020204020204" pitchFamily="34" charset="-122"/>
              <a:ea typeface="微软雅黑" panose="020B0503020204020204" pitchFamily="34" charset="-122"/>
            </a:endParaRPr>
          </a:p>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主机或路由器怎样知道应当在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帧的首部填入什么样的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地址？</a:t>
            </a:r>
          </a:p>
        </p:txBody>
      </p:sp>
    </p:spTree>
    <p:extLst>
      <p:ext uri="{BB962C8B-B14F-4D97-AF65-F5344CB8AC3E}">
        <p14:creationId xmlns:p14="http://schemas.microsoft.com/office/powerpoint/2010/main" val="378576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2141432"/>
            <a:ext cx="8053711" cy="20177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45144" y="605027"/>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723580" y="572956"/>
            <a:ext cx="36968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4.2.4  </a:t>
            </a:r>
            <a:r>
              <a:rPr lang="zh-CN" altLang="en-US" sz="2400" b="1" dirty="0">
                <a:solidFill>
                  <a:schemeClr val="bg1"/>
                </a:solidFill>
                <a:latin typeface="微软雅黑" pitchFamily="34" charset="-122"/>
                <a:ea typeface="微软雅黑" pitchFamily="34" charset="-122"/>
              </a:rPr>
              <a:t>地址解析协议 </a:t>
            </a:r>
            <a:r>
              <a:rPr lang="en-US" altLang="zh-CN" sz="2400" b="1" dirty="0">
                <a:solidFill>
                  <a:schemeClr val="bg1"/>
                </a:solidFill>
                <a:latin typeface="微软雅黑" pitchFamily="34" charset="-122"/>
                <a:ea typeface="微软雅黑" pitchFamily="34" charset="-122"/>
              </a:rPr>
              <a:t>ARP</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45144" y="996098"/>
            <a:ext cx="7665002" cy="11695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实现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通信时使用了两个地址：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地址（网络层地址）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地址（数据链路层地址）</a:t>
            </a:r>
          </a:p>
        </p:txBody>
      </p:sp>
      <p:sp>
        <p:nvSpPr>
          <p:cNvPr id="14" name="矩形 13"/>
          <p:cNvSpPr/>
          <p:nvPr/>
        </p:nvSpPr>
        <p:spPr>
          <a:xfrm>
            <a:off x="5370849" y="2304398"/>
            <a:ext cx="1444626" cy="307777"/>
          </a:xfrm>
          <a:prstGeom prst="rect">
            <a:avLst/>
          </a:prstGeom>
        </p:spPr>
        <p:txBody>
          <a:bodyPr wrap="none">
            <a:spAutoFit/>
          </a:bodyPr>
          <a:lstStyle/>
          <a:p>
            <a:r>
              <a:rPr lang="en-US" altLang="zh-CN" sz="1400" b="1" dirty="0">
                <a:solidFill>
                  <a:srgbClr val="CC00CC"/>
                </a:solidFill>
                <a:latin typeface="微软雅黑" pitchFamily="34" charset="-122"/>
                <a:ea typeface="微软雅黑" pitchFamily="34" charset="-122"/>
              </a:rPr>
              <a:t>220.168.10.10</a:t>
            </a:r>
            <a:endParaRPr lang="zh-CN" altLang="en-US" sz="1400" b="1" dirty="0">
              <a:solidFill>
                <a:srgbClr val="CC00CC"/>
              </a:solidFill>
              <a:latin typeface="微软雅黑" pitchFamily="34" charset="-122"/>
              <a:ea typeface="微软雅黑" pitchFamily="34" charset="-122"/>
            </a:endParaRPr>
          </a:p>
        </p:txBody>
      </p:sp>
      <p:sp>
        <p:nvSpPr>
          <p:cNvPr id="15" name="矩形 14"/>
          <p:cNvSpPr/>
          <p:nvPr/>
        </p:nvSpPr>
        <p:spPr>
          <a:xfrm>
            <a:off x="5370849" y="2550255"/>
            <a:ext cx="1937453" cy="307777"/>
          </a:xfrm>
          <a:prstGeom prst="rect">
            <a:avLst/>
          </a:prstGeom>
        </p:spPr>
        <p:txBody>
          <a:bodyPr wrap="none">
            <a:spAutoFit/>
          </a:bodyPr>
          <a:lstStyle/>
          <a:p>
            <a:r>
              <a:rPr lang="en-US" altLang="zh-CN" sz="1400" b="1" dirty="0">
                <a:solidFill>
                  <a:srgbClr val="0000FF"/>
                </a:solidFill>
                <a:latin typeface="微软雅黑" pitchFamily="34" charset="-122"/>
                <a:ea typeface="微软雅黑" pitchFamily="34" charset="-122"/>
              </a:rPr>
              <a:t>00-15-C5-C6-CC-07</a:t>
            </a:r>
            <a:endParaRPr lang="zh-CN" altLang="en-US" sz="1400" b="1" dirty="0">
              <a:solidFill>
                <a:srgbClr val="0000FF"/>
              </a:solidFill>
              <a:latin typeface="微软雅黑" pitchFamily="34" charset="-122"/>
              <a:ea typeface="微软雅黑" pitchFamily="34" charset="-122"/>
            </a:endParaRPr>
          </a:p>
        </p:txBody>
      </p:sp>
      <p:sp>
        <p:nvSpPr>
          <p:cNvPr id="16" name="矩形 15"/>
          <p:cNvSpPr/>
          <p:nvPr/>
        </p:nvSpPr>
        <p:spPr>
          <a:xfrm>
            <a:off x="559201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220.168.10.20</a:t>
            </a:r>
            <a:endParaRPr lang="zh-CN" altLang="en-US" sz="1400" b="1" dirty="0">
              <a:solidFill>
                <a:srgbClr val="CC00CC"/>
              </a:solidFill>
              <a:latin typeface="微软雅黑" pitchFamily="34" charset="-122"/>
              <a:ea typeface="微软雅黑" pitchFamily="34" charset="-122"/>
            </a:endParaRPr>
          </a:p>
        </p:txBody>
      </p:sp>
      <p:sp>
        <p:nvSpPr>
          <p:cNvPr id="17" name="矩形 16"/>
          <p:cNvSpPr/>
          <p:nvPr/>
        </p:nvSpPr>
        <p:spPr>
          <a:xfrm>
            <a:off x="5356431"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00-15-C5-C8-C4-95</a:t>
            </a:r>
            <a:endParaRPr lang="zh-CN" altLang="en-US" sz="1400" b="1" dirty="0">
              <a:solidFill>
                <a:srgbClr val="0000FF"/>
              </a:solidFill>
              <a:latin typeface="微软雅黑" pitchFamily="34" charset="-122"/>
              <a:ea typeface="微软雅黑" pitchFamily="34" charset="-122"/>
            </a:endParaRPr>
          </a:p>
        </p:txBody>
      </p:sp>
      <p:sp>
        <p:nvSpPr>
          <p:cNvPr id="18" name="矩形 17"/>
          <p:cNvSpPr/>
          <p:nvPr/>
        </p:nvSpPr>
        <p:spPr>
          <a:xfrm>
            <a:off x="244363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220.168.10.16</a:t>
            </a:r>
            <a:endParaRPr lang="zh-CN" altLang="en-US" sz="1400" b="1" dirty="0">
              <a:solidFill>
                <a:srgbClr val="CC00CC"/>
              </a:solidFill>
              <a:latin typeface="微软雅黑" pitchFamily="34" charset="-122"/>
              <a:ea typeface="微软雅黑" pitchFamily="34" charset="-122"/>
            </a:endParaRPr>
          </a:p>
        </p:txBody>
      </p:sp>
      <p:sp>
        <p:nvSpPr>
          <p:cNvPr id="19" name="矩形 18"/>
          <p:cNvSpPr/>
          <p:nvPr/>
        </p:nvSpPr>
        <p:spPr>
          <a:xfrm>
            <a:off x="2113960"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00-15-C5-C6-C8-11</a:t>
            </a:r>
            <a:endParaRPr lang="zh-CN" altLang="en-US" sz="1400" b="1" dirty="0">
              <a:solidFill>
                <a:srgbClr val="0000FF"/>
              </a:solidFill>
              <a:latin typeface="微软雅黑" pitchFamily="34" charset="-122"/>
              <a:ea typeface="微软雅黑" pitchFamily="34" charset="-122"/>
            </a:endParaRPr>
          </a:p>
        </p:txBody>
      </p:sp>
      <p:sp>
        <p:nvSpPr>
          <p:cNvPr id="20" name="矩形标注 19"/>
          <p:cNvSpPr/>
          <p:nvPr/>
        </p:nvSpPr>
        <p:spPr bwMode="auto">
          <a:xfrm>
            <a:off x="7272518" y="2347356"/>
            <a:ext cx="719810" cy="252220"/>
          </a:xfrm>
          <a:prstGeom prst="wedgeRectCallout">
            <a:avLst>
              <a:gd name="adj1" fmla="val -115132"/>
              <a:gd name="adj2" fmla="val 7547"/>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IP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sp>
        <p:nvSpPr>
          <p:cNvPr id="21" name="矩形标注 20"/>
          <p:cNvSpPr/>
          <p:nvPr/>
        </p:nvSpPr>
        <p:spPr bwMode="auto">
          <a:xfrm>
            <a:off x="7148331" y="2987786"/>
            <a:ext cx="968183" cy="252220"/>
          </a:xfrm>
          <a:prstGeom prst="wedgeRectCallout">
            <a:avLst>
              <a:gd name="adj1" fmla="val -79440"/>
              <a:gd name="adj2" fmla="val -134079"/>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tLang="zh-CN" sz="1200" b="1" dirty="0">
                <a:latin typeface="微软雅黑" pitchFamily="34" charset="-122"/>
                <a:ea typeface="微软雅黑" pitchFamily="34" charset="-122"/>
              </a:rPr>
              <a:t>MAC</a:t>
            </a: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cxnSp>
        <p:nvCxnSpPr>
          <p:cNvPr id="22" name="直接箭头连接符 21"/>
          <p:cNvCxnSpPr/>
          <p:nvPr/>
        </p:nvCxnSpPr>
        <p:spPr bwMode="auto">
          <a:xfrm flipH="1">
            <a:off x="5146813" y="2433126"/>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直接箭头连接符 22"/>
          <p:cNvCxnSpPr/>
          <p:nvPr/>
        </p:nvCxnSpPr>
        <p:spPr bwMode="auto">
          <a:xfrm flipH="1">
            <a:off x="5146813" y="2693672"/>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4" name="椭圆 23"/>
          <p:cNvSpPr/>
          <p:nvPr/>
        </p:nvSpPr>
        <p:spPr bwMode="auto">
          <a:xfrm>
            <a:off x="4200086" y="3152056"/>
            <a:ext cx="1198354" cy="719012"/>
          </a:xfrm>
          <a:prstGeom prst="ellipse">
            <a:avLst/>
          </a:prstGeom>
          <a:solidFill>
            <a:srgbClr val="99FFCC"/>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b="1" i="0" u="none" strike="noStrike" cap="none" normalizeH="0" baseline="0" dirty="0">
                <a:ln>
                  <a:noFill/>
                </a:ln>
                <a:solidFill>
                  <a:schemeClr val="tx1"/>
                </a:solidFill>
                <a:effectLst/>
                <a:latin typeface="微软雅黑" pitchFamily="34" charset="-122"/>
                <a:ea typeface="微软雅黑" pitchFamily="34" charset="-122"/>
              </a:rPr>
              <a:t>LAN</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endParaRPr>
          </a:p>
        </p:txBody>
      </p:sp>
      <p:cxnSp>
        <p:nvCxnSpPr>
          <p:cNvPr id="25" name="直接连接符 24"/>
          <p:cNvCxnSpPr>
            <a:stCxn id="29" idx="3"/>
            <a:endCxn id="24" idx="2"/>
          </p:cNvCxnSpPr>
          <p:nvPr/>
        </p:nvCxnSpPr>
        <p:spPr bwMode="auto">
          <a:xfrm flipV="1">
            <a:off x="3458827" y="3511562"/>
            <a:ext cx="741259"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直接连接符 25"/>
          <p:cNvCxnSpPr>
            <a:stCxn id="33" idx="1"/>
            <a:endCxn id="24" idx="6"/>
          </p:cNvCxnSpPr>
          <p:nvPr/>
        </p:nvCxnSpPr>
        <p:spPr bwMode="auto">
          <a:xfrm flipH="1" flipV="1">
            <a:off x="5398440" y="3511562"/>
            <a:ext cx="593008"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直接连接符 26"/>
          <p:cNvCxnSpPr>
            <a:stCxn id="36" idx="2"/>
            <a:endCxn id="24" idx="0"/>
          </p:cNvCxnSpPr>
          <p:nvPr/>
        </p:nvCxnSpPr>
        <p:spPr bwMode="auto">
          <a:xfrm>
            <a:off x="4795730" y="2839354"/>
            <a:ext cx="3533" cy="312702"/>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pic>
        <p:nvPicPr>
          <p:cNvPr id="2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56830"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91448"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44731" y="2337357"/>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11268"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70513"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3276354"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4806309" y="2548171"/>
            <a:ext cx="324555" cy="2887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圆角矩形 229"/>
          <p:cNvSpPr/>
          <p:nvPr/>
        </p:nvSpPr>
        <p:spPr>
          <a:xfrm>
            <a:off x="556963" y="1790549"/>
            <a:ext cx="8048776" cy="2427316"/>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8" name="AutoShape 5"/>
          <p:cNvSpPr>
            <a:spLocks noChangeArrowheads="1"/>
          </p:cNvSpPr>
          <p:nvPr/>
        </p:nvSpPr>
        <p:spPr bwMode="auto">
          <a:xfrm>
            <a:off x="556963" y="60475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9" name="Rectangle 6"/>
          <p:cNvSpPr>
            <a:spLocks noChangeArrowheads="1"/>
          </p:cNvSpPr>
          <p:nvPr/>
        </p:nvSpPr>
        <p:spPr bwMode="auto">
          <a:xfrm>
            <a:off x="2987805" y="571548"/>
            <a:ext cx="318709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的作用</a:t>
            </a:r>
          </a:p>
        </p:txBody>
      </p:sp>
      <p:sp>
        <p:nvSpPr>
          <p:cNvPr id="210" name="Rectangle 68"/>
          <p:cNvSpPr>
            <a:spLocks noChangeArrowheads="1"/>
          </p:cNvSpPr>
          <p:nvPr/>
        </p:nvSpPr>
        <p:spPr bwMode="auto">
          <a:xfrm>
            <a:off x="448327" y="987056"/>
            <a:ext cx="830638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7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已经知道了一个机器（主机或路由器）的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地址，如何找出其相应的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a:t>
            </a:r>
          </a:p>
        </p:txBody>
      </p:sp>
      <p:grpSp>
        <p:nvGrpSpPr>
          <p:cNvPr id="5" name="组合 4"/>
          <p:cNvGrpSpPr/>
          <p:nvPr/>
        </p:nvGrpSpPr>
        <p:grpSpPr>
          <a:xfrm>
            <a:off x="1954375" y="2005187"/>
            <a:ext cx="4434604" cy="1495690"/>
            <a:chOff x="2054734" y="2247807"/>
            <a:chExt cx="4434604" cy="1495690"/>
          </a:xfrm>
        </p:grpSpPr>
        <p:sp>
          <p:nvSpPr>
            <p:cNvPr id="218" name="Line 16"/>
            <p:cNvSpPr>
              <a:spLocks noChangeShapeType="1"/>
            </p:cNvSpPr>
            <p:nvPr/>
          </p:nvSpPr>
          <p:spPr bwMode="auto">
            <a:xfrm>
              <a:off x="6127397" y="2247807"/>
              <a:ext cx="0" cy="1495690"/>
            </a:xfrm>
            <a:prstGeom prst="line">
              <a:avLst/>
            </a:prstGeom>
            <a:noFill/>
            <a:ln w="19050">
              <a:solidFill>
                <a:srgbClr val="0000CC"/>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19" name="Text Box 17"/>
            <p:cNvSpPr txBox="1">
              <a:spLocks noChangeArrowheads="1"/>
            </p:cNvSpPr>
            <p:nvPr/>
          </p:nvSpPr>
          <p:spPr bwMode="auto">
            <a:xfrm>
              <a:off x="5766063" y="2823150"/>
              <a:ext cx="723275"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网络层</a:t>
              </a:r>
            </a:p>
          </p:txBody>
        </p:sp>
        <p:sp>
          <p:nvSpPr>
            <p:cNvPr id="220" name="Rectangle 18"/>
            <p:cNvSpPr>
              <a:spLocks noChangeArrowheads="1"/>
            </p:cNvSpPr>
            <p:nvPr/>
          </p:nvSpPr>
          <p:spPr bwMode="auto">
            <a:xfrm>
              <a:off x="2054734" y="2247808"/>
              <a:ext cx="3750687" cy="1418325"/>
            </a:xfrm>
            <a:prstGeom prst="rect">
              <a:avLst/>
            </a:prstGeom>
            <a:solidFill>
              <a:srgbClr val="00FFFF"/>
            </a:solidFill>
            <a:ln w="12700">
              <a:solidFill>
                <a:schemeClr val="tx1"/>
              </a:solidFill>
              <a:miter lim="800000"/>
              <a:headEnd/>
              <a:tailEnd/>
            </a:ln>
            <a:effectLst/>
          </p:spPr>
          <p:txBody>
            <a:bodyPr wrap="none" anchor="ctr"/>
            <a:lstStyle/>
            <a:p>
              <a:pPr algn="ctr"/>
              <a:r>
                <a:rPr lang="en-US" altLang="zh-CN" sz="1600" b="1">
                  <a:solidFill>
                    <a:srgbClr val="000099"/>
                  </a:solidFill>
                  <a:latin typeface="微软雅黑" pitchFamily="34" charset="-122"/>
                  <a:ea typeface="微软雅黑" pitchFamily="34" charset="-122"/>
                </a:rPr>
                <a:t>ARP</a:t>
              </a:r>
            </a:p>
            <a:p>
              <a:pPr algn="ctr"/>
              <a:endParaRPr lang="en-US" altLang="zh-CN" sz="1600" b="1">
                <a:solidFill>
                  <a:srgbClr val="000099"/>
                </a:solidFill>
                <a:latin typeface="微软雅黑" pitchFamily="34" charset="-122"/>
                <a:ea typeface="微软雅黑" pitchFamily="34" charset="-122"/>
              </a:endParaRPr>
            </a:p>
          </p:txBody>
        </p:sp>
        <p:sp>
          <p:nvSpPr>
            <p:cNvPr id="223" name="Rectangle 22"/>
            <p:cNvSpPr>
              <a:spLocks noChangeArrowheads="1"/>
            </p:cNvSpPr>
            <p:nvPr/>
          </p:nvSpPr>
          <p:spPr bwMode="auto">
            <a:xfrm>
              <a:off x="2892584" y="2664967"/>
              <a:ext cx="1899428" cy="562775"/>
            </a:xfrm>
            <a:prstGeom prst="rect">
              <a:avLst/>
            </a:prstGeom>
            <a:solidFill>
              <a:srgbClr val="0000CC"/>
            </a:solidFill>
            <a:ln w="9525">
              <a:solidFill>
                <a:schemeClr val="tx1"/>
              </a:solidFill>
              <a:miter lim="800000"/>
              <a:headEnd/>
              <a:tailEnd/>
            </a:ln>
            <a:effectLst/>
          </p:spPr>
          <p:txBody>
            <a:bodyPr wrap="none" anchor="ctr"/>
            <a:lstStyle/>
            <a:p>
              <a:pPr algn="ctr"/>
              <a:r>
                <a:rPr lang="en-US" altLang="zh-CN" sz="2000" b="1" dirty="0">
                  <a:solidFill>
                    <a:schemeClr val="bg1"/>
                  </a:solidFill>
                  <a:latin typeface="微软雅黑" pitchFamily="34" charset="-122"/>
                  <a:ea typeface="微软雅黑" pitchFamily="34" charset="-122"/>
                </a:rPr>
                <a:t>IP</a:t>
              </a:r>
            </a:p>
          </p:txBody>
        </p:sp>
        <p:sp>
          <p:nvSpPr>
            <p:cNvPr id="224" name="Rectangle 24"/>
            <p:cNvSpPr>
              <a:spLocks noChangeArrowheads="1"/>
            </p:cNvSpPr>
            <p:nvPr/>
          </p:nvSpPr>
          <p:spPr bwMode="auto">
            <a:xfrm>
              <a:off x="3009888"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IGMP</a:t>
              </a:r>
            </a:p>
          </p:txBody>
        </p:sp>
        <p:sp>
          <p:nvSpPr>
            <p:cNvPr id="227" name="Rectangle 29"/>
            <p:cNvSpPr>
              <a:spLocks noChangeArrowheads="1"/>
            </p:cNvSpPr>
            <p:nvPr/>
          </p:nvSpPr>
          <p:spPr bwMode="auto">
            <a:xfrm>
              <a:off x="2226045"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ICMP</a:t>
              </a:r>
            </a:p>
          </p:txBody>
        </p:sp>
        <p:sp>
          <p:nvSpPr>
            <p:cNvPr id="228" name="Rectangle 30"/>
            <p:cNvSpPr>
              <a:spLocks noChangeArrowheads="1"/>
            </p:cNvSpPr>
            <p:nvPr/>
          </p:nvSpPr>
          <p:spPr bwMode="auto">
            <a:xfrm>
              <a:off x="4957970" y="3227741"/>
              <a:ext cx="641150" cy="309453"/>
            </a:xfrm>
            <a:prstGeom prst="rect">
              <a:avLst/>
            </a:prstGeom>
            <a:solidFill>
              <a:srgbClr val="FFC0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ARP</a:t>
              </a:r>
            </a:p>
          </p:txBody>
        </p:sp>
      </p:grpSp>
      <p:sp>
        <p:nvSpPr>
          <p:cNvPr id="229" name="矩形 228"/>
          <p:cNvSpPr/>
          <p:nvPr/>
        </p:nvSpPr>
        <p:spPr>
          <a:xfrm>
            <a:off x="6358891" y="2046518"/>
            <a:ext cx="2037916" cy="1446550"/>
          </a:xfrm>
          <a:prstGeom prst="rect">
            <a:avLst/>
          </a:prstGeom>
          <a:solidFill>
            <a:schemeClr val="bg1"/>
          </a:solidFill>
        </p:spPr>
        <p:txBody>
          <a:bodyPr wrap="square">
            <a:spAutoFit/>
          </a:bodyPr>
          <a:lstStyle/>
          <a:p>
            <a:pPr>
              <a:lnSpc>
                <a:spcPct val="110000"/>
              </a:lnSpc>
            </a:pPr>
            <a:r>
              <a:rPr lang="en-US" altLang="zh-CN" sz="1600" b="1" dirty="0">
                <a:solidFill>
                  <a:srgbClr val="0000FF"/>
                </a:solidFill>
                <a:latin typeface="微软雅黑" pitchFamily="34" charset="-122"/>
                <a:ea typeface="微软雅黑" pitchFamily="34" charset="-122"/>
              </a:rPr>
              <a:t>ARP </a:t>
            </a:r>
            <a:r>
              <a:rPr lang="en-US" altLang="zh-CN" sz="1600" b="1" dirty="0">
                <a:latin typeface="微软雅黑" pitchFamily="34" charset="-122"/>
                <a:ea typeface="微软雅黑" pitchFamily="34" charset="-122"/>
              </a:rPr>
              <a:t>(Address Resolution Protocol ) </a:t>
            </a:r>
            <a:r>
              <a:rPr lang="zh-CN" altLang="en-US" sz="1600" b="1" dirty="0">
                <a:solidFill>
                  <a:srgbClr val="C00000"/>
                </a:solidFill>
                <a:latin typeface="微软雅黑" pitchFamily="34" charset="-122"/>
                <a:ea typeface="微软雅黑" pitchFamily="34" charset="-122"/>
              </a:rPr>
              <a:t>作用：</a:t>
            </a:r>
            <a:endParaRPr lang="en-US" altLang="zh-CN" sz="1600" b="1" dirty="0">
              <a:solidFill>
                <a:srgbClr val="C00000"/>
              </a:solidFill>
              <a:latin typeface="微软雅黑" pitchFamily="34" charset="-122"/>
              <a:ea typeface="微软雅黑" pitchFamily="34" charset="-122"/>
            </a:endParaRPr>
          </a:p>
          <a:p>
            <a:pPr>
              <a:lnSpc>
                <a:spcPct val="110000"/>
              </a:lnSpc>
            </a:pPr>
            <a:r>
              <a:rPr lang="zh-CN" altLang="zh-CN" sz="1600" b="1" dirty="0">
                <a:latin typeface="微软雅黑" pitchFamily="34" charset="-122"/>
                <a:ea typeface="微软雅黑" pitchFamily="34" charset="-122"/>
              </a:rPr>
              <a:t>从</a:t>
            </a:r>
            <a:r>
              <a:rPr lang="en-US" altLang="zh-CN" sz="1600" b="1" dirty="0">
                <a:latin typeface="微软雅黑" pitchFamily="34" charset="-122"/>
                <a:ea typeface="微软雅黑" pitchFamily="34" charset="-122"/>
              </a:rPr>
              <a:t> IP </a:t>
            </a:r>
            <a:r>
              <a:rPr lang="zh-CN" altLang="zh-CN" sz="1600" b="1" dirty="0">
                <a:latin typeface="微软雅黑" pitchFamily="34" charset="-122"/>
                <a:ea typeface="微软雅黑" pitchFamily="34" charset="-122"/>
              </a:rPr>
              <a:t>地址解析出</a:t>
            </a:r>
            <a:r>
              <a:rPr lang="en-US" altLang="zh-CN" sz="1600" b="1" dirty="0">
                <a:latin typeface="微软雅黑" pitchFamily="34" charset="-122"/>
                <a:ea typeface="微软雅黑" pitchFamily="34" charset="-122"/>
              </a:rPr>
              <a:t> MAC </a:t>
            </a:r>
            <a:r>
              <a:rPr lang="zh-CN" altLang="zh-CN" sz="1600" b="1" dirty="0">
                <a:latin typeface="微软雅黑" pitchFamily="34" charset="-122"/>
                <a:ea typeface="微软雅黑" pitchFamily="34" charset="-122"/>
              </a:rPr>
              <a:t>地址</a:t>
            </a:r>
            <a:r>
              <a:rPr lang="zh-CN" altLang="en-US" sz="1600" b="1" dirty="0">
                <a:latin typeface="微软雅黑" pitchFamily="34" charset="-122"/>
                <a:ea typeface="微软雅黑" pitchFamily="34" charset="-122"/>
              </a:rPr>
              <a:t>。</a:t>
            </a:r>
          </a:p>
        </p:txBody>
      </p:sp>
      <p:grpSp>
        <p:nvGrpSpPr>
          <p:cNvPr id="3" name="组合 2"/>
          <p:cNvGrpSpPr/>
          <p:nvPr/>
        </p:nvGrpSpPr>
        <p:grpSpPr>
          <a:xfrm>
            <a:off x="779168" y="3079482"/>
            <a:ext cx="2425120" cy="1043117"/>
            <a:chOff x="879527" y="3322102"/>
            <a:chExt cx="2425120" cy="1043117"/>
          </a:xfrm>
        </p:grpSpPr>
        <p:sp>
          <p:nvSpPr>
            <p:cNvPr id="21" name="任意多边形 20"/>
            <p:cNvSpPr/>
            <p:nvPr/>
          </p:nvSpPr>
          <p:spPr>
            <a:xfrm>
              <a:off x="1316167" y="3534154"/>
              <a:ext cx="1737929" cy="312193"/>
            </a:xfrm>
            <a:custGeom>
              <a:avLst/>
              <a:gdLst>
                <a:gd name="connsiteX0" fmla="*/ 0 w 2159541"/>
                <a:gd name="connsiteY0" fmla="*/ 0 h 505838"/>
                <a:gd name="connsiteX1" fmla="*/ 1186775 w 2159541"/>
                <a:gd name="connsiteY1" fmla="*/ 505838 h 505838"/>
                <a:gd name="connsiteX2" fmla="*/ 1726660 w 2159541"/>
                <a:gd name="connsiteY2" fmla="*/ 500974 h 505838"/>
                <a:gd name="connsiteX3" fmla="*/ 2159541 w 2159541"/>
                <a:gd name="connsiteY3" fmla="*/ 9727 h 505838"/>
                <a:gd name="connsiteX4" fmla="*/ 0 w 2159541"/>
                <a:gd name="connsiteY4" fmla="*/ 0 h 5058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59541" h="505838">
                  <a:moveTo>
                    <a:pt x="0" y="0"/>
                  </a:moveTo>
                  <a:lnTo>
                    <a:pt x="1186775" y="505838"/>
                  </a:lnTo>
                  <a:lnTo>
                    <a:pt x="1726660" y="500974"/>
                  </a:lnTo>
                  <a:lnTo>
                    <a:pt x="2159541" y="9727"/>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3" name="矩形 22"/>
            <p:cNvSpPr/>
            <p:nvPr/>
          </p:nvSpPr>
          <p:spPr>
            <a:xfrm>
              <a:off x="1317443" y="3322102"/>
              <a:ext cx="1737930" cy="212053"/>
            </a:xfrm>
            <a:prstGeom prst="rect">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ARP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请求或回答分组</a:t>
              </a:r>
            </a:p>
          </p:txBody>
        </p:sp>
        <p:sp>
          <p:nvSpPr>
            <p:cNvPr id="25" name="右箭头 24"/>
            <p:cNvSpPr/>
            <p:nvPr/>
          </p:nvSpPr>
          <p:spPr>
            <a:xfrm flipH="1">
              <a:off x="1200718" y="3884150"/>
              <a:ext cx="178235" cy="128293"/>
            </a:xfrm>
            <a:prstGeom prst="righ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32" name="Text Box 7"/>
            <p:cNvSpPr txBox="1">
              <a:spLocks noChangeArrowheads="1"/>
            </p:cNvSpPr>
            <p:nvPr/>
          </p:nvSpPr>
          <p:spPr bwMode="auto">
            <a:xfrm>
              <a:off x="879527" y="3661063"/>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solidFill>
                    <a:srgbClr val="0000FF"/>
                  </a:solidFill>
                  <a:latin typeface="微软雅黑" panose="020B0503020204020204" pitchFamily="34" charset="-122"/>
                  <a:ea typeface="微软雅黑" panose="020B0503020204020204" pitchFamily="34" charset="-122"/>
                </a:rPr>
                <a:t>发送</a:t>
              </a:r>
            </a:p>
          </p:txBody>
        </p:sp>
        <p:sp>
          <p:nvSpPr>
            <p:cNvPr id="22" name="矩形 21"/>
            <p:cNvSpPr/>
            <p:nvPr/>
          </p:nvSpPr>
          <p:spPr>
            <a:xfrm>
              <a:off x="1360860" y="3838192"/>
              <a:ext cx="1809439" cy="21088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4" name="Text Box 7"/>
            <p:cNvSpPr txBox="1">
              <a:spLocks noChangeArrowheads="1"/>
            </p:cNvSpPr>
            <p:nvPr/>
          </p:nvSpPr>
          <p:spPr bwMode="auto">
            <a:xfrm>
              <a:off x="1210804" y="4088220"/>
              <a:ext cx="20938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ARP </a:t>
              </a:r>
              <a:r>
                <a:rPr lang="zh-CN" altLang="en-US" sz="1200" b="1" dirty="0">
                  <a:latin typeface="微软雅黑" panose="020B0503020204020204" pitchFamily="34" charset="-122"/>
                  <a:ea typeface="微软雅黑" panose="020B0503020204020204" pitchFamily="34" charset="-122"/>
                </a:rPr>
                <a:t>分组封装在以太网帧中</a:t>
              </a:r>
            </a:p>
          </p:txBody>
        </p:sp>
        <p:cxnSp>
          <p:nvCxnSpPr>
            <p:cNvPr id="27" name="直接连接符 26"/>
            <p:cNvCxnSpPr/>
            <p:nvPr/>
          </p:nvCxnSpPr>
          <p:spPr>
            <a:xfrm>
              <a:off x="2692720"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矩形 27"/>
            <p:cNvSpPr/>
            <p:nvPr/>
          </p:nvSpPr>
          <p:spPr>
            <a:xfrm>
              <a:off x="2231740" y="3842853"/>
              <a:ext cx="458426" cy="200401"/>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9" name="Text Box 7"/>
            <p:cNvSpPr txBox="1">
              <a:spLocks noChangeArrowheads="1"/>
            </p:cNvSpPr>
            <p:nvPr/>
          </p:nvSpPr>
          <p:spPr bwMode="auto">
            <a:xfrm>
              <a:off x="2212586" y="3814225"/>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latin typeface="微软雅黑" panose="020B0503020204020204" pitchFamily="34" charset="-122"/>
                  <a:ea typeface="微软雅黑" panose="020B0503020204020204" pitchFamily="34" charset="-122"/>
                </a:rPr>
                <a:t>数据</a:t>
              </a:r>
            </a:p>
          </p:txBody>
        </p:sp>
        <p:sp>
          <p:nvSpPr>
            <p:cNvPr id="31" name="Text Box 7"/>
            <p:cNvSpPr txBox="1">
              <a:spLocks noChangeArrowheads="1"/>
            </p:cNvSpPr>
            <p:nvPr/>
          </p:nvSpPr>
          <p:spPr bwMode="auto">
            <a:xfrm>
              <a:off x="2701659" y="3821881"/>
              <a:ext cx="46839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FCS</a:t>
              </a:r>
              <a:endParaRPr lang="zh-CN" altLang="en-US" sz="1200" b="1" dirty="0">
                <a:latin typeface="微软雅黑" panose="020B0503020204020204" pitchFamily="34" charset="-122"/>
                <a:ea typeface="微软雅黑" panose="020B0503020204020204" pitchFamily="34" charset="-122"/>
              </a:endParaRPr>
            </a:p>
          </p:txBody>
        </p:sp>
        <p:cxnSp>
          <p:nvCxnSpPr>
            <p:cNvPr id="26" name="直接连接符 25"/>
            <p:cNvCxnSpPr/>
            <p:nvPr/>
          </p:nvCxnSpPr>
          <p:spPr>
            <a:xfrm>
              <a:off x="2233017"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Text Box 7"/>
            <p:cNvSpPr txBox="1">
              <a:spLocks noChangeArrowheads="1"/>
            </p:cNvSpPr>
            <p:nvPr/>
          </p:nvSpPr>
          <p:spPr bwMode="auto">
            <a:xfrm>
              <a:off x="1360268" y="3828871"/>
              <a:ext cx="91382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100" b="1" dirty="0">
                  <a:latin typeface="微软雅黑" panose="020B0503020204020204" pitchFamily="34" charset="-122"/>
                  <a:ea typeface="微软雅黑" panose="020B0503020204020204" pitchFamily="34" charset="-122"/>
                </a:rPr>
                <a:t>以太网首部</a:t>
              </a:r>
            </a:p>
          </p:txBody>
        </p:sp>
      </p:grpSp>
      <p:grpSp>
        <p:nvGrpSpPr>
          <p:cNvPr id="6" name="组合 5"/>
          <p:cNvGrpSpPr/>
          <p:nvPr/>
        </p:nvGrpSpPr>
        <p:grpSpPr>
          <a:xfrm>
            <a:off x="4459616" y="2417791"/>
            <a:ext cx="1269385" cy="1494330"/>
            <a:chOff x="4559975" y="2660411"/>
            <a:chExt cx="1269385" cy="1494330"/>
          </a:xfrm>
        </p:grpSpPr>
        <p:sp>
          <p:nvSpPr>
            <p:cNvPr id="221" name="Text Box 19"/>
            <p:cNvSpPr txBox="1">
              <a:spLocks noChangeArrowheads="1"/>
            </p:cNvSpPr>
            <p:nvPr/>
          </p:nvSpPr>
          <p:spPr bwMode="auto">
            <a:xfrm>
              <a:off x="4883197" y="2660411"/>
              <a:ext cx="776175" cy="307777"/>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2000" b="1">
                  <a:solidFill>
                    <a:srgbClr val="0000CC"/>
                  </a:solidFill>
                  <a:latin typeface="+mn-lt"/>
                  <a:ea typeface="黑体" pitchFamily="2" charset="-122"/>
                </a:defRPr>
              </a:lvl1pPr>
            </a:lstStyle>
            <a:p>
              <a:r>
                <a:rPr lang="en-US" altLang="zh-CN" sz="1400" dirty="0">
                  <a:solidFill>
                    <a:schemeClr val="tx1"/>
                  </a:solidFill>
                  <a:latin typeface="微软雅黑" pitchFamily="34" charset="-122"/>
                  <a:ea typeface="微软雅黑" pitchFamily="34" charset="-122"/>
                </a:rPr>
                <a:t>IP </a:t>
              </a:r>
              <a:r>
                <a:rPr lang="zh-CN" altLang="en-US" sz="1400" dirty="0">
                  <a:solidFill>
                    <a:schemeClr val="tx1"/>
                  </a:solidFill>
                  <a:latin typeface="微软雅黑" pitchFamily="34" charset="-122"/>
                  <a:ea typeface="微软雅黑" pitchFamily="34" charset="-122"/>
                </a:rPr>
                <a:t>地址</a:t>
              </a:r>
            </a:p>
          </p:txBody>
        </p:sp>
        <p:sp>
          <p:nvSpPr>
            <p:cNvPr id="222" name="Text Box 20"/>
            <p:cNvSpPr txBox="1">
              <a:spLocks noChangeArrowheads="1"/>
            </p:cNvSpPr>
            <p:nvPr/>
          </p:nvSpPr>
          <p:spPr bwMode="auto">
            <a:xfrm>
              <a:off x="4796385" y="3846964"/>
              <a:ext cx="1032975" cy="307777"/>
            </a:xfrm>
            <a:prstGeom prst="rect">
              <a:avLst/>
            </a:prstGeom>
            <a:noFill/>
            <a:ln>
              <a:noFill/>
            </a:ln>
            <a:effectLst/>
            <a:extLst>
              <a:ext uri="{909E8E84-426E-40DD-AFC4-6F175D3DCCD1}">
                <a14:hiddenFill xmlns:a14="http://schemas.microsoft.com/office/drawing/2010/main">
                  <a:solidFill>
                    <a:srgbClr val="FFFF99"/>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MAC </a:t>
              </a:r>
              <a:r>
                <a:rPr lang="zh-CN" altLang="en-US" sz="1400" b="1" dirty="0">
                  <a:latin typeface="微软雅黑" pitchFamily="34" charset="-122"/>
                  <a:ea typeface="微软雅黑" pitchFamily="34" charset="-122"/>
                </a:rPr>
                <a:t>地址</a:t>
              </a:r>
            </a:p>
          </p:txBody>
        </p:sp>
        <p:sp>
          <p:nvSpPr>
            <p:cNvPr id="225" name="Freeform 25"/>
            <p:cNvSpPr>
              <a:spLocks/>
            </p:cNvSpPr>
            <p:nvPr/>
          </p:nvSpPr>
          <p:spPr bwMode="auto">
            <a:xfrm>
              <a:off x="4559975" y="2969864"/>
              <a:ext cx="725528" cy="257878"/>
            </a:xfrm>
            <a:custGeom>
              <a:avLst/>
              <a:gdLst>
                <a:gd name="T0" fmla="*/ 0 w 500"/>
                <a:gd name="T1" fmla="*/ 0 h 203"/>
                <a:gd name="T2" fmla="*/ 497 w 500"/>
                <a:gd name="T3" fmla="*/ 0 h 203"/>
                <a:gd name="T4" fmla="*/ 500 w 500"/>
                <a:gd name="T5" fmla="*/ 203 h 203"/>
              </a:gdLst>
              <a:ahLst/>
              <a:cxnLst>
                <a:cxn ang="0">
                  <a:pos x="T0" y="T1"/>
                </a:cxn>
                <a:cxn ang="0">
                  <a:pos x="T2" y="T3"/>
                </a:cxn>
                <a:cxn ang="0">
                  <a:pos x="T4" y="T5"/>
                </a:cxn>
              </a:cxnLst>
              <a:rect l="0" t="0" r="r" b="b"/>
              <a:pathLst>
                <a:path w="500" h="203">
                  <a:moveTo>
                    <a:pt x="0" y="0"/>
                  </a:moveTo>
                  <a:lnTo>
                    <a:pt x="497" y="0"/>
                  </a:lnTo>
                  <a:lnTo>
                    <a:pt x="500" y="203"/>
                  </a:lnTo>
                </a:path>
              </a:pathLst>
            </a:custGeom>
            <a:noFill/>
            <a:ln w="28575" cmpd="sng">
              <a:solidFill>
                <a:srgbClr val="0000FF"/>
              </a:solidFill>
              <a:round/>
              <a:headEnd type="none" w="med" len="med"/>
              <a:tailEnd type="triangle" w="med" len="med"/>
            </a:ln>
            <a:effectLst/>
          </p:spPr>
          <p:txBody>
            <a:bodyPr/>
            <a:lstStyle/>
            <a:p>
              <a:endParaRPr lang="zh-CN" altLang="en-US" sz="1600" b="1">
                <a:solidFill>
                  <a:srgbClr val="000099"/>
                </a:solidFill>
                <a:latin typeface="微软雅黑" pitchFamily="34" charset="-122"/>
                <a:ea typeface="微软雅黑" pitchFamily="34" charset="-122"/>
              </a:endParaRPr>
            </a:p>
          </p:txBody>
        </p:sp>
        <p:sp>
          <p:nvSpPr>
            <p:cNvPr id="226" name="Line 26"/>
            <p:cNvSpPr>
              <a:spLocks noChangeShapeType="1"/>
            </p:cNvSpPr>
            <p:nvPr/>
          </p:nvSpPr>
          <p:spPr bwMode="auto">
            <a:xfrm>
              <a:off x="5289667" y="3532638"/>
              <a:ext cx="0" cy="31432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535776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29"/>
                                        </p:tgtEl>
                                        <p:attrNameLst>
                                          <p:attrName>style.visibility</p:attrName>
                                        </p:attrNameLst>
                                      </p:cBhvr>
                                      <p:to>
                                        <p:strVal val="visible"/>
                                      </p:to>
                                    </p:set>
                                    <p:animEffect transition="in" filter="wipe(up)">
                                      <p:cBhvr>
                                        <p:cTn id="7" dur="1000"/>
                                        <p:tgtEl>
                                          <p:spTgt spid="229"/>
                                        </p:tgtEl>
                                      </p:cBhvr>
                                    </p:animEffect>
                                  </p:childTnLst>
                                </p:cTn>
                              </p:par>
                              <p:par>
                                <p:cTn id="8" presetID="22" presetClass="entr" presetSubtype="1"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up)">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wipe(up)">
                                      <p:cBhvr>
                                        <p:cTn id="15"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9"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2354620" y="569913"/>
            <a:ext cx="445346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1</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 </a:t>
            </a:r>
            <a:r>
              <a:rPr lang="en-US" altLang="zh-CN" sz="2000" b="1" dirty="0">
                <a:solidFill>
                  <a:schemeClr val="bg1"/>
                </a:solidFill>
                <a:latin typeface="微软雅黑" pitchFamily="34" charset="-122"/>
                <a:ea typeface="微软雅黑" pitchFamily="34" charset="-122"/>
              </a:rPr>
              <a:t>(ARP cache)</a:t>
            </a:r>
            <a:endParaRPr lang="zh-CN" altLang="en-US" sz="2000" b="1" dirty="0">
              <a:solidFill>
                <a:schemeClr val="bg1"/>
              </a:solidFill>
              <a:latin typeface="微软雅黑" pitchFamily="34" charset="-122"/>
              <a:ea typeface="微软雅黑" pitchFamily="34" charset="-122"/>
            </a:endParaRPr>
          </a:p>
        </p:txBody>
      </p:sp>
      <p:sp>
        <p:nvSpPr>
          <p:cNvPr id="67" name="Rectangle 68"/>
          <p:cNvSpPr>
            <a:spLocks noChangeArrowheads="1"/>
          </p:cNvSpPr>
          <p:nvPr/>
        </p:nvSpPr>
        <p:spPr bwMode="auto">
          <a:xfrm>
            <a:off x="448327" y="958787"/>
            <a:ext cx="8306380" cy="122084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8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ARP </a:t>
            </a:r>
            <a:r>
              <a:rPr lang="zh-CN" altLang="en-US" sz="2000" b="1" dirty="0">
                <a:solidFill>
                  <a:srgbClr val="C00000"/>
                </a:solidFill>
                <a:latin typeface="微软雅黑" pitchFamily="34" charset="-122"/>
                <a:ea typeface="微软雅黑" pitchFamily="34" charset="-122"/>
              </a:rPr>
              <a:t>高速缓存 </a:t>
            </a:r>
            <a:r>
              <a:rPr lang="en-US" altLang="zh-CN" sz="2000" b="1" dirty="0">
                <a:latin typeface="微软雅黑" pitchFamily="34" charset="-122"/>
                <a:ea typeface="微软雅黑" pitchFamily="34" charset="-122"/>
              </a:rPr>
              <a:t>(ARP cache)</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存放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地址的映射表。</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映射表动态更新（新增或超时删除）。</a:t>
            </a:r>
          </a:p>
        </p:txBody>
      </p:sp>
      <p:sp>
        <p:nvSpPr>
          <p:cNvPr id="84" name="Rectangle 4"/>
          <p:cNvSpPr>
            <a:spLocks noChangeArrowheads="1"/>
          </p:cNvSpPr>
          <p:nvPr/>
        </p:nvSpPr>
        <p:spPr bwMode="auto">
          <a:xfrm>
            <a:off x="1802552" y="2183603"/>
            <a:ext cx="6627740" cy="369332"/>
          </a:xfrm>
          <a:prstGeom prst="rect">
            <a:avLst/>
          </a:prstGeom>
          <a:solidFill>
            <a:srgbClr val="00FFFF"/>
          </a:solidFill>
          <a:ln w="12700">
            <a:solidFill>
              <a:schemeClr val="tx1"/>
            </a:solidFill>
          </a:ln>
          <a:effectLst/>
        </p:spPr>
        <p:txBody>
          <a:bodyPr wrap="square">
            <a:spAutoFit/>
          </a:bodyPr>
          <a:lstStyle/>
          <a:p>
            <a:pPr algn="ctr"/>
            <a:r>
              <a:rPr kumimoji="0" lang="en-US" altLang="zh-CN" b="1" dirty="0">
                <a:solidFill>
                  <a:srgbClr val="0000CC"/>
                </a:solidFill>
                <a:latin typeface="微软雅黑" pitchFamily="34" charset="-122"/>
                <a:ea typeface="微软雅黑" pitchFamily="34" charset="-122"/>
              </a:rPr>
              <a:t>&lt; IP </a:t>
            </a:r>
            <a:r>
              <a:rPr lang="zh-CN" altLang="en-US" b="1" dirty="0">
                <a:solidFill>
                  <a:srgbClr val="0000CC"/>
                </a:solidFill>
                <a:latin typeface="微软雅黑" pitchFamily="34" charset="-122"/>
                <a:ea typeface="微软雅黑" pitchFamily="34" charset="-122"/>
              </a:rPr>
              <a:t>地址</a:t>
            </a:r>
            <a:r>
              <a:rPr kumimoji="0" lang="zh-CN" altLang="en-US" b="1" dirty="0">
                <a:solidFill>
                  <a:srgbClr val="0000CC"/>
                </a:solidFill>
                <a:latin typeface="微软雅黑" pitchFamily="34" charset="-122"/>
                <a:ea typeface="微软雅黑" pitchFamily="34" charset="-122"/>
              </a:rPr>
              <a:t>；</a:t>
            </a:r>
            <a:r>
              <a:rPr kumimoji="0" lang="en-US" altLang="zh-CN" b="1" dirty="0">
                <a:solidFill>
                  <a:srgbClr val="0000CC"/>
                </a:solidFill>
                <a:latin typeface="微软雅黑" pitchFamily="34" charset="-122"/>
                <a:ea typeface="微软雅黑" pitchFamily="34" charset="-122"/>
              </a:rPr>
              <a:t>MAC </a:t>
            </a:r>
            <a:r>
              <a:rPr kumimoji="0" lang="zh-CN" altLang="en-US" b="1" dirty="0">
                <a:solidFill>
                  <a:srgbClr val="0000CC"/>
                </a:solidFill>
                <a:latin typeface="微软雅黑" pitchFamily="34" charset="-122"/>
                <a:ea typeface="微软雅黑" pitchFamily="34" charset="-122"/>
              </a:rPr>
              <a:t>地址</a:t>
            </a:r>
            <a:r>
              <a:rPr lang="zh-CN" altLang="en-US" b="1" dirty="0">
                <a:solidFill>
                  <a:srgbClr val="0000CC"/>
                </a:solidFill>
                <a:latin typeface="微软雅黑" pitchFamily="34" charset="-122"/>
                <a:ea typeface="微软雅黑" pitchFamily="34" charset="-122"/>
              </a:rPr>
              <a:t>；生存时间 </a:t>
            </a:r>
            <a:r>
              <a:rPr lang="en-US" altLang="zh-CN" b="1" dirty="0">
                <a:solidFill>
                  <a:srgbClr val="0000CC"/>
                </a:solidFill>
                <a:latin typeface="微软雅黑" pitchFamily="34" charset="-122"/>
                <a:ea typeface="微软雅黑" pitchFamily="34" charset="-122"/>
              </a:rPr>
              <a:t>(Age)</a:t>
            </a:r>
            <a:r>
              <a:rPr lang="zh-CN" altLang="en-US" b="1" dirty="0">
                <a:solidFill>
                  <a:srgbClr val="0000CC"/>
                </a:solidFill>
                <a:latin typeface="微软雅黑" pitchFamily="34" charset="-122"/>
                <a:ea typeface="微软雅黑" pitchFamily="34" charset="-122"/>
              </a:rPr>
              <a:t>；</a:t>
            </a:r>
            <a:r>
              <a:rPr kumimoji="0" lang="zh-CN" altLang="en-US" b="1" dirty="0">
                <a:solidFill>
                  <a:srgbClr val="0000CC"/>
                </a:solidFill>
                <a:latin typeface="微软雅黑" pitchFamily="34" charset="-122"/>
                <a:ea typeface="微软雅黑" pitchFamily="34" charset="-122"/>
              </a:rPr>
              <a:t>类型等</a:t>
            </a:r>
            <a:r>
              <a:rPr kumimoji="0" lang="en-US" altLang="zh-CN" b="1" dirty="0">
                <a:solidFill>
                  <a:srgbClr val="0000CC"/>
                </a:solidFill>
                <a:latin typeface="微软雅黑" pitchFamily="34" charset="-122"/>
                <a:ea typeface="微软雅黑" pitchFamily="34" charset="-122"/>
              </a:rPr>
              <a:t> &gt;</a:t>
            </a:r>
          </a:p>
        </p:txBody>
      </p:sp>
      <p:graphicFrame>
        <p:nvGraphicFramePr>
          <p:cNvPr id="3" name="表格 2"/>
          <p:cNvGraphicFramePr>
            <a:graphicFrameLocks noGrp="1"/>
          </p:cNvGraphicFramePr>
          <p:nvPr>
            <p:extLst>
              <p:ext uri="{D42A27DB-BD31-4B8C-83A1-F6EECF244321}">
                <p14:modId xmlns:p14="http://schemas.microsoft.com/office/powerpoint/2010/main" val="219214929"/>
              </p:ext>
            </p:extLst>
          </p:nvPr>
        </p:nvGraphicFramePr>
        <p:xfrm>
          <a:off x="1026530" y="2592094"/>
          <a:ext cx="6924198" cy="1483360"/>
        </p:xfrm>
        <a:graphic>
          <a:graphicData uri="http://schemas.openxmlformats.org/drawingml/2006/table">
            <a:tbl>
              <a:tblPr firstRow="1" bandRow="1">
                <a:tableStyleId>{5C22544A-7EE6-4342-B048-85BDC9FD1C3A}</a:tableStyleId>
              </a:tblPr>
              <a:tblGrid>
                <a:gridCol w="1286217">
                  <a:extLst>
                    <a:ext uri="{9D8B030D-6E8A-4147-A177-3AD203B41FA5}">
                      <a16:colId xmlns:a16="http://schemas.microsoft.com/office/drawing/2014/main" val="2806046851"/>
                    </a:ext>
                  </a:extLst>
                </a:gridCol>
                <a:gridCol w="2073784">
                  <a:extLst>
                    <a:ext uri="{9D8B030D-6E8A-4147-A177-3AD203B41FA5}">
                      <a16:colId xmlns:a16="http://schemas.microsoft.com/office/drawing/2014/main" val="2108766633"/>
                    </a:ext>
                  </a:extLst>
                </a:gridCol>
                <a:gridCol w="1565357">
                  <a:extLst>
                    <a:ext uri="{9D8B030D-6E8A-4147-A177-3AD203B41FA5}">
                      <a16:colId xmlns:a16="http://schemas.microsoft.com/office/drawing/2014/main" val="2463580703"/>
                    </a:ext>
                  </a:extLst>
                </a:gridCol>
                <a:gridCol w="1228203">
                  <a:extLst>
                    <a:ext uri="{9D8B030D-6E8A-4147-A177-3AD203B41FA5}">
                      <a16:colId xmlns:a16="http://schemas.microsoft.com/office/drawing/2014/main" val="2395055679"/>
                    </a:ext>
                  </a:extLst>
                </a:gridCol>
                <a:gridCol w="770637">
                  <a:extLst>
                    <a:ext uri="{9D8B030D-6E8A-4147-A177-3AD203B41FA5}">
                      <a16:colId xmlns:a16="http://schemas.microsoft.com/office/drawing/2014/main" val="949142939"/>
                    </a:ext>
                  </a:extLst>
                </a:gridCol>
              </a:tblGrid>
              <a:tr h="370840">
                <a:tc>
                  <a:txBody>
                    <a:bodyPr/>
                    <a:lstStyle/>
                    <a:p>
                      <a:pPr algn="ct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生存时间 </a:t>
                      </a:r>
                      <a:r>
                        <a:rPr lang="en-US" altLang="zh-CN" sz="1600" b="1" dirty="0">
                          <a:latin typeface="微软雅黑" panose="020B0503020204020204" pitchFamily="34" charset="-122"/>
                          <a:ea typeface="微软雅黑" panose="020B0503020204020204" pitchFamily="34" charset="-122"/>
                        </a:rPr>
                        <a:t>(Age)</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类型</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其他</a:t>
                      </a:r>
                    </a:p>
                  </a:txBody>
                  <a:tcPr anchor="ctr"/>
                </a:tc>
                <a:extLst>
                  <a:ext uri="{0D108BD9-81ED-4DB2-BD59-A6C34878D82A}">
                    <a16:rowId xmlns:a16="http://schemas.microsoft.com/office/drawing/2014/main" val="3622401503"/>
                  </a:ext>
                </a:extLst>
              </a:tr>
              <a:tr h="370840">
                <a:tc>
                  <a:txBody>
                    <a:bodyPr/>
                    <a:lstStyle/>
                    <a:p>
                      <a:r>
                        <a:rPr lang="en-US" altLang="zh-CN" sz="1600" b="1" dirty="0">
                          <a:latin typeface="微软雅黑" panose="020B0503020204020204" pitchFamily="34" charset="-122"/>
                          <a:ea typeface="微软雅黑" panose="020B0503020204020204" pitchFamily="34" charset="-122"/>
                        </a:rPr>
                        <a:t>10.4.9.2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0030.7131.abfc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00:08:55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4025832959"/>
                  </a:ext>
                </a:extLst>
              </a:tr>
              <a:tr h="370840">
                <a:tc>
                  <a:txBody>
                    <a:bodyPr/>
                    <a:lstStyle/>
                    <a:p>
                      <a:r>
                        <a:rPr lang="en-US" altLang="zh-CN" sz="1600" b="1" dirty="0">
                          <a:latin typeface="微软雅黑" panose="020B0503020204020204" pitchFamily="34" charset="-122"/>
                          <a:ea typeface="微软雅黑" panose="020B0503020204020204" pitchFamily="34" charset="-122"/>
                        </a:rPr>
                        <a:t>10.4.9.1</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0000.0c07.ac24</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00:02:55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899956322"/>
                  </a:ext>
                </a:extLst>
              </a:tr>
              <a:tr h="370840">
                <a:tc>
                  <a:txBody>
                    <a:bodyPr/>
                    <a:lstStyle/>
                    <a:p>
                      <a:r>
                        <a:rPr lang="en-US" altLang="zh-CN" sz="1600" b="1" dirty="0">
                          <a:latin typeface="微软雅黑" panose="020B0503020204020204" pitchFamily="34" charset="-122"/>
                          <a:ea typeface="微软雅黑" panose="020B0503020204020204" pitchFamily="34" charset="-122"/>
                        </a:rPr>
                        <a:t>10.4.9.99</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0007.ebea.44d0 </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00:06:12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2031722197"/>
                  </a:ext>
                </a:extLst>
              </a:tr>
            </a:tbl>
          </a:graphicData>
        </a:graphic>
      </p:graphicFrame>
      <p:sp>
        <p:nvSpPr>
          <p:cNvPr id="4" name="矩形 3"/>
          <p:cNvSpPr/>
          <p:nvPr/>
        </p:nvSpPr>
        <p:spPr>
          <a:xfrm>
            <a:off x="933809" y="4127607"/>
            <a:ext cx="7109639" cy="369332"/>
          </a:xfrm>
          <a:prstGeom prst="rect">
            <a:avLst/>
          </a:prstGeom>
        </p:spPr>
        <p:style>
          <a:lnRef idx="1">
            <a:schemeClr val="accent2"/>
          </a:lnRef>
          <a:fillRef idx="3">
            <a:schemeClr val="accent2"/>
          </a:fillRef>
          <a:effectRef idx="2">
            <a:schemeClr val="accent2"/>
          </a:effectRef>
          <a:fontRef idx="minor">
            <a:schemeClr val="lt1"/>
          </a:fontRef>
        </p:style>
        <p:txBody>
          <a:bodyPr wrap="none">
            <a:spAutoFit/>
          </a:bodyPr>
          <a:lstStyle/>
          <a:p>
            <a:r>
              <a:rPr lang="zh-CN" altLang="en-US" b="1" dirty="0">
                <a:solidFill>
                  <a:srgbClr val="FFFF00"/>
                </a:solidFill>
                <a:latin typeface="微软雅黑" panose="020B0503020204020204" pitchFamily="34" charset="-122"/>
                <a:ea typeface="微软雅黑" panose="020B0503020204020204" pitchFamily="34" charset="-122"/>
              </a:rPr>
              <a:t>超过生存时间</a:t>
            </a:r>
            <a:r>
              <a:rPr lang="zh-CN" altLang="en-US" b="1" dirty="0">
                <a:latin typeface="微软雅黑" panose="020B0503020204020204" pitchFamily="34" charset="-122"/>
                <a:ea typeface="微软雅黑" panose="020B0503020204020204" pitchFamily="34" charset="-122"/>
              </a:rPr>
              <a:t>的项目都从高速缓存中删除，以适应网络适配器变化。</a:t>
            </a:r>
          </a:p>
        </p:txBody>
      </p:sp>
      <p:sp>
        <p:nvSpPr>
          <p:cNvPr id="5" name="矩形 4"/>
          <p:cNvSpPr/>
          <p:nvPr/>
        </p:nvSpPr>
        <p:spPr>
          <a:xfrm>
            <a:off x="843764" y="2170609"/>
            <a:ext cx="877163"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映射表</a:t>
            </a:r>
          </a:p>
        </p:txBody>
      </p:sp>
    </p:spTree>
    <p:extLst>
      <p:ext uri="{BB962C8B-B14F-4D97-AF65-F5344CB8AC3E}">
        <p14:creationId xmlns:p14="http://schemas.microsoft.com/office/powerpoint/2010/main" val="9809236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3421418" y="569913"/>
            <a:ext cx="2319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2</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工作</a:t>
            </a:r>
          </a:p>
        </p:txBody>
      </p:sp>
      <p:sp>
        <p:nvSpPr>
          <p:cNvPr id="9" name="Rectangle 68"/>
          <p:cNvSpPr>
            <a:spLocks noChangeArrowheads="1"/>
          </p:cNvSpPr>
          <p:nvPr/>
        </p:nvSpPr>
        <p:spPr bwMode="auto">
          <a:xfrm>
            <a:off x="448327" y="945279"/>
            <a:ext cx="8306380" cy="51552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欲向</a:t>
            </a:r>
            <a:r>
              <a:rPr lang="zh-CN" altLang="en-US" sz="2000" b="1" dirty="0">
                <a:solidFill>
                  <a:srgbClr val="C00000"/>
                </a:solidFill>
                <a:latin typeface="微软雅黑" pitchFamily="34" charset="-122"/>
                <a:ea typeface="微软雅黑" pitchFamily="34" charset="-122"/>
              </a:rPr>
              <a:t>本局域网上</a:t>
            </a:r>
            <a:r>
              <a:rPr lang="zh-CN" altLang="en-US" sz="2000" b="1" dirty="0">
                <a:latin typeface="微软雅黑" pitchFamily="34" charset="-122"/>
                <a:ea typeface="微软雅黑" pitchFamily="34" charset="-122"/>
              </a:rPr>
              <a:t>的某个主机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发送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数据报时：</a:t>
            </a:r>
          </a:p>
        </p:txBody>
      </p:sp>
      <p:sp>
        <p:nvSpPr>
          <p:cNvPr id="2" name="矩形 1"/>
          <p:cNvSpPr/>
          <p:nvPr/>
        </p:nvSpPr>
        <p:spPr>
          <a:xfrm>
            <a:off x="2242713" y="1399251"/>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在其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查找主机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地址</a:t>
            </a:r>
          </a:p>
        </p:txBody>
      </p:sp>
      <p:sp>
        <p:nvSpPr>
          <p:cNvPr id="3" name="菱形 2"/>
          <p:cNvSpPr/>
          <p:nvPr/>
        </p:nvSpPr>
        <p:spPr>
          <a:xfrm>
            <a:off x="2449393" y="2112758"/>
            <a:ext cx="2054268" cy="469625"/>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找到？</a:t>
            </a:r>
          </a:p>
        </p:txBody>
      </p:sp>
      <p:sp>
        <p:nvSpPr>
          <p:cNvPr id="7" name="矩形 6"/>
          <p:cNvSpPr/>
          <p:nvPr/>
        </p:nvSpPr>
        <p:spPr>
          <a:xfrm>
            <a:off x="2242713" y="2776294"/>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取出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p>
        </p:txBody>
      </p:sp>
      <p:sp>
        <p:nvSpPr>
          <p:cNvPr id="8" name="矩形 7"/>
          <p:cNvSpPr/>
          <p:nvPr/>
        </p:nvSpPr>
        <p:spPr>
          <a:xfrm>
            <a:off x="2242713" y="349265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将该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地址写入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帧的目的地址</a:t>
            </a:r>
          </a:p>
        </p:txBody>
      </p:sp>
      <p:sp>
        <p:nvSpPr>
          <p:cNvPr id="10" name="矩形 9"/>
          <p:cNvSpPr/>
          <p:nvPr/>
        </p:nvSpPr>
        <p:spPr>
          <a:xfrm>
            <a:off x="2242713" y="420901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发送该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a:t>
            </a:r>
          </a:p>
        </p:txBody>
      </p:sp>
      <p:cxnSp>
        <p:nvCxnSpPr>
          <p:cNvPr id="5" name="直接箭头连接符 4"/>
          <p:cNvCxnSpPr>
            <a:stCxn id="2" idx="2"/>
            <a:endCxn id="3" idx="0"/>
          </p:cNvCxnSpPr>
          <p:nvPr/>
        </p:nvCxnSpPr>
        <p:spPr>
          <a:xfrm>
            <a:off x="3476527" y="1899503"/>
            <a:ext cx="0" cy="213255"/>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a:stCxn id="3" idx="2"/>
            <a:endCxn id="7" idx="0"/>
          </p:cNvCxnSpPr>
          <p:nvPr/>
        </p:nvCxnSpPr>
        <p:spPr>
          <a:xfrm>
            <a:off x="3476527" y="2582383"/>
            <a:ext cx="0" cy="193911"/>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7" idx="2"/>
            <a:endCxn id="8" idx="0"/>
          </p:cNvCxnSpPr>
          <p:nvPr/>
        </p:nvCxnSpPr>
        <p:spPr>
          <a:xfrm>
            <a:off x="3476527" y="3276546"/>
            <a:ext cx="0" cy="216109"/>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8" idx="2"/>
            <a:endCxn id="10" idx="0"/>
          </p:cNvCxnSpPr>
          <p:nvPr/>
        </p:nvCxnSpPr>
        <p:spPr>
          <a:xfrm>
            <a:off x="3476527" y="3992907"/>
            <a:ext cx="0" cy="216108"/>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0" name="文本框 19"/>
          <p:cNvSpPr txBox="1"/>
          <p:nvPr/>
        </p:nvSpPr>
        <p:spPr>
          <a:xfrm>
            <a:off x="3038116" y="2518640"/>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是</a:t>
            </a:r>
          </a:p>
        </p:txBody>
      </p:sp>
      <p:sp>
        <p:nvSpPr>
          <p:cNvPr id="25" name="矩形 24"/>
          <p:cNvSpPr/>
          <p:nvPr/>
        </p:nvSpPr>
        <p:spPr>
          <a:xfrm>
            <a:off x="5299064" y="1899503"/>
            <a:ext cx="2467628" cy="896135"/>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自动运行 </a:t>
            </a:r>
            <a:r>
              <a:rPr lang="en-US" altLang="zh-CN" sz="1400" b="1" dirty="0">
                <a:latin typeface="微软雅黑" panose="020B0503020204020204" pitchFamily="34" charset="-122"/>
                <a:ea typeface="微软雅黑" panose="020B0503020204020204" pitchFamily="34" charset="-122"/>
              </a:rPr>
              <a:t>ARP</a:t>
            </a:r>
            <a:r>
              <a:rPr lang="zh-CN" altLang="en-US" sz="1400" b="1" dirty="0">
                <a:latin typeface="微软雅黑" panose="020B0503020204020204" pitchFamily="34" charset="-122"/>
                <a:ea typeface="微软雅黑" panose="020B0503020204020204" pitchFamily="34" charset="-122"/>
              </a:rPr>
              <a:t>，找出主机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cxnSp>
        <p:nvCxnSpPr>
          <p:cNvPr id="26" name="直接箭头连接符 25"/>
          <p:cNvCxnSpPr>
            <a:stCxn id="3" idx="3"/>
            <a:endCxn id="25" idx="1"/>
          </p:cNvCxnSpPr>
          <p:nvPr/>
        </p:nvCxnSpPr>
        <p:spPr>
          <a:xfrm>
            <a:off x="4503661" y="2347571"/>
            <a:ext cx="795403" cy="0"/>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肘形连接符 28"/>
          <p:cNvCxnSpPr>
            <a:stCxn id="25" idx="2"/>
          </p:cNvCxnSpPr>
          <p:nvPr/>
        </p:nvCxnSpPr>
        <p:spPr>
          <a:xfrm rot="5400000">
            <a:off x="4724819" y="1559873"/>
            <a:ext cx="572294" cy="3043824"/>
          </a:xfrm>
          <a:prstGeom prst="bentConnector2">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p:cNvSpPr txBox="1"/>
          <p:nvPr/>
        </p:nvSpPr>
        <p:spPr>
          <a:xfrm>
            <a:off x="4400321" y="2110088"/>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否</a:t>
            </a:r>
          </a:p>
        </p:txBody>
      </p:sp>
    </p:spTree>
    <p:extLst>
      <p:ext uri="{BB962C8B-B14F-4D97-AF65-F5344CB8AC3E}">
        <p14:creationId xmlns:p14="http://schemas.microsoft.com/office/powerpoint/2010/main" val="3461840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1967954" y="569913"/>
            <a:ext cx="522681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3</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地址对应的 </a:t>
            </a:r>
            <a:r>
              <a:rPr lang="en-US" altLang="zh-CN" sz="2000" b="1" dirty="0">
                <a:solidFill>
                  <a:schemeClr val="bg1"/>
                </a:solidFill>
                <a:latin typeface="微软雅黑" pitchFamily="34" charset="-122"/>
                <a:ea typeface="微软雅黑" pitchFamily="34" charset="-122"/>
              </a:rPr>
              <a:t>MAC</a:t>
            </a:r>
            <a:r>
              <a:rPr lang="zh-CN" altLang="en-US" sz="2000" b="1" dirty="0">
                <a:solidFill>
                  <a:schemeClr val="bg1"/>
                </a:solidFill>
                <a:latin typeface="微软雅黑" pitchFamily="34" charset="-122"/>
                <a:ea typeface="微软雅黑" pitchFamily="34" charset="-122"/>
              </a:rPr>
              <a:t>地址</a:t>
            </a:r>
          </a:p>
        </p:txBody>
      </p:sp>
      <p:sp>
        <p:nvSpPr>
          <p:cNvPr id="22" name="Rectangle 68"/>
          <p:cNvSpPr>
            <a:spLocks noChangeArrowheads="1"/>
          </p:cNvSpPr>
          <p:nvPr/>
        </p:nvSpPr>
        <p:spPr bwMode="auto">
          <a:xfrm>
            <a:off x="448327" y="960417"/>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本局域网上广播发送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a:t>
            </a:r>
            <a:r>
              <a:rPr lang="zh-CN" altLang="en-US" sz="2000" b="1" dirty="0">
                <a:latin typeface="微软雅黑" pitchFamily="34" charset="-122"/>
                <a:ea typeface="微软雅黑" pitchFamily="34" charset="-122"/>
              </a:rPr>
              <a:t>（路由器不转发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未知时填 </a:t>
            </a:r>
            <a:r>
              <a:rPr lang="en-US" altLang="zh-CN" sz="2000" b="1" dirty="0">
                <a:latin typeface="微软雅黑" pitchFamily="34" charset="-122"/>
                <a:ea typeface="微软雅黑" pitchFamily="34" charset="-122"/>
              </a:rPr>
              <a:t>0) /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zh-CN" altLang="zh-CN" sz="2000" b="1" dirty="0">
                <a:solidFill>
                  <a:srgbClr val="C00000"/>
                </a:solidFill>
                <a:latin typeface="微软雅黑" pitchFamily="34" charset="-122"/>
                <a:ea typeface="微软雅黑" pitchFamily="34" charset="-122"/>
              </a:rPr>
              <a:t>单播</a:t>
            </a:r>
            <a:r>
              <a:rPr lang="en-US" altLang="zh-CN" sz="2000" b="1" dirty="0">
                <a:solidFill>
                  <a:srgbClr val="C00000"/>
                </a:solidFill>
                <a:latin typeface="微软雅黑" pitchFamily="34" charset="-122"/>
                <a:ea typeface="微软雅黑" pitchFamily="34" charset="-122"/>
              </a:rPr>
              <a:t>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响应分组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分组封装在以太网帧中传输。</a:t>
            </a:r>
          </a:p>
        </p:txBody>
      </p:sp>
    </p:spTree>
    <p:extLst>
      <p:ext uri="{BB962C8B-B14F-4D97-AF65-F5344CB8AC3E}">
        <p14:creationId xmlns:p14="http://schemas.microsoft.com/office/powerpoint/2010/main" val="23763278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606582"/>
            <a:ext cx="8048776" cy="3797829"/>
          </a:xfrm>
          <a:prstGeom prst="roundRect">
            <a:avLst/>
          </a:prstGeom>
          <a:solidFill>
            <a:srgbClr val="C5E5FB"/>
          </a:solidFill>
          <a:ln w="38100">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Line 74"/>
          <p:cNvSpPr>
            <a:spLocks noChangeShapeType="1"/>
          </p:cNvSpPr>
          <p:nvPr/>
        </p:nvSpPr>
        <p:spPr bwMode="auto">
          <a:xfrm rot="5400000">
            <a:off x="3363448"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6" name="Line 75"/>
          <p:cNvSpPr>
            <a:spLocks noChangeShapeType="1"/>
          </p:cNvSpPr>
          <p:nvPr/>
        </p:nvSpPr>
        <p:spPr bwMode="auto">
          <a:xfrm rot="5400000">
            <a:off x="4687066" y="3619861"/>
            <a:ext cx="357050"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7" name="Line 76"/>
          <p:cNvSpPr>
            <a:spLocks noChangeShapeType="1"/>
          </p:cNvSpPr>
          <p:nvPr/>
        </p:nvSpPr>
        <p:spPr bwMode="auto">
          <a:xfrm rot="5400000">
            <a:off x="5825021"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8" name="Line 77"/>
          <p:cNvSpPr>
            <a:spLocks noChangeShapeType="1"/>
          </p:cNvSpPr>
          <p:nvPr/>
        </p:nvSpPr>
        <p:spPr bwMode="auto">
          <a:xfrm rot="5400000">
            <a:off x="7166844"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9" name="Line 78"/>
          <p:cNvSpPr>
            <a:spLocks noChangeShapeType="1"/>
          </p:cNvSpPr>
          <p:nvPr/>
        </p:nvSpPr>
        <p:spPr bwMode="auto">
          <a:xfrm rot="5400000">
            <a:off x="2504347" y="3625155"/>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rot="5400000">
            <a:off x="4671827" y="1830533"/>
            <a:ext cx="357049"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rot="5400000">
            <a:off x="5809783"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Line 10"/>
          <p:cNvSpPr>
            <a:spLocks noChangeShapeType="1"/>
          </p:cNvSpPr>
          <p:nvPr/>
        </p:nvSpPr>
        <p:spPr bwMode="auto">
          <a:xfrm rot="5400000">
            <a:off x="7151605"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Line 11"/>
          <p:cNvSpPr>
            <a:spLocks noChangeShapeType="1"/>
          </p:cNvSpPr>
          <p:nvPr/>
        </p:nvSpPr>
        <p:spPr bwMode="auto">
          <a:xfrm rot="5400000">
            <a:off x="24891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166706" y="1657784"/>
            <a:ext cx="5637326"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Text Box 56"/>
          <p:cNvSpPr txBox="1">
            <a:spLocks noChangeArrowheads="1"/>
          </p:cNvSpPr>
          <p:nvPr/>
        </p:nvSpPr>
        <p:spPr bwMode="auto">
          <a:xfrm>
            <a:off x="5961762" y="17290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80" name="组合 79"/>
          <p:cNvGrpSpPr/>
          <p:nvPr/>
        </p:nvGrpSpPr>
        <p:grpSpPr>
          <a:xfrm>
            <a:off x="2456122" y="3717885"/>
            <a:ext cx="5040745" cy="404587"/>
            <a:chOff x="2456122" y="1949511"/>
            <a:chExt cx="5040745" cy="404587"/>
          </a:xfrm>
        </p:grpSpPr>
        <p:pic>
          <p:nvPicPr>
            <p:cNvPr id="8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94"/>
          <p:cNvGrpSpPr>
            <a:grpSpLocks/>
          </p:cNvGrpSpPr>
          <p:nvPr/>
        </p:nvGrpSpPr>
        <p:grpSpPr bwMode="auto">
          <a:xfrm>
            <a:off x="4600771" y="3089097"/>
            <a:ext cx="1044683" cy="277171"/>
            <a:chOff x="249" y="627"/>
            <a:chExt cx="1002" cy="288"/>
          </a:xfrm>
          <a:solidFill>
            <a:srgbClr val="00FFFF"/>
          </a:solidFill>
        </p:grpSpPr>
        <p:sp>
          <p:nvSpPr>
            <p:cNvPr id="8"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10" name="Line 7"/>
          <p:cNvSpPr>
            <a:spLocks noChangeShapeType="1"/>
          </p:cNvSpPr>
          <p:nvPr/>
        </p:nvSpPr>
        <p:spPr bwMode="auto">
          <a:xfrm rot="5400000">
            <a:off x="33482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 name="Text Box 17"/>
          <p:cNvSpPr txBox="1">
            <a:spLocks noChangeArrowheads="1"/>
          </p:cNvSpPr>
          <p:nvPr/>
        </p:nvSpPr>
        <p:spPr bwMode="auto">
          <a:xfrm>
            <a:off x="3656578" y="19676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21" name="Text Box 18"/>
          <p:cNvSpPr txBox="1">
            <a:spLocks noChangeArrowheads="1"/>
          </p:cNvSpPr>
          <p:nvPr/>
        </p:nvSpPr>
        <p:spPr bwMode="auto">
          <a:xfrm>
            <a:off x="496295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22" name="Text Box 19"/>
          <p:cNvSpPr txBox="1">
            <a:spLocks noChangeArrowheads="1"/>
          </p:cNvSpPr>
          <p:nvPr/>
        </p:nvSpPr>
        <p:spPr bwMode="auto">
          <a:xfrm>
            <a:off x="2784965" y="1892609"/>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23" name="Text Box 20"/>
          <p:cNvSpPr txBox="1">
            <a:spLocks noChangeArrowheads="1"/>
          </p:cNvSpPr>
          <p:nvPr/>
        </p:nvSpPr>
        <p:spPr bwMode="auto">
          <a:xfrm>
            <a:off x="6105639" y="19676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24" name="Text Box 21"/>
          <p:cNvSpPr txBox="1">
            <a:spLocks noChangeArrowheads="1"/>
          </p:cNvSpPr>
          <p:nvPr/>
        </p:nvSpPr>
        <p:spPr bwMode="auto">
          <a:xfrm>
            <a:off x="745163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25" name="Text Box 45"/>
          <p:cNvSpPr txBox="1">
            <a:spLocks noChangeArrowheads="1"/>
          </p:cNvSpPr>
          <p:nvPr/>
        </p:nvSpPr>
        <p:spPr bwMode="auto">
          <a:xfrm>
            <a:off x="831848" y="2597710"/>
            <a:ext cx="2159566"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B </a:t>
            </a:r>
            <a:r>
              <a:rPr kumimoji="1" lang="zh-CN" altLang="en-US" sz="1600" b="1" dirty="0">
                <a:solidFill>
                  <a:srgbClr val="0000FF"/>
                </a:solidFill>
                <a:latin typeface="微软雅黑" pitchFamily="34" charset="-122"/>
                <a:ea typeface="微软雅黑" pitchFamily="34" charset="-122"/>
              </a:rPr>
              <a:t>向 </a:t>
            </a:r>
            <a:r>
              <a:rPr kumimoji="1" lang="en-US" altLang="zh-CN" sz="1600" b="1" dirty="0">
                <a:solidFill>
                  <a:srgbClr val="0000FF"/>
                </a:solidFill>
                <a:latin typeface="微软雅黑" pitchFamily="34" charset="-122"/>
                <a:ea typeface="微软雅黑" pitchFamily="34" charset="-122"/>
              </a:rPr>
              <a:t>A </a:t>
            </a:r>
            <a:r>
              <a:rPr kumimoji="1" lang="zh-CN" altLang="en-US" sz="1600" b="1" dirty="0">
                <a:solidFill>
                  <a:srgbClr val="C00000"/>
                </a:solidFill>
                <a:latin typeface="微软雅黑" pitchFamily="34" charset="-122"/>
                <a:ea typeface="微软雅黑" pitchFamily="34" charset="-122"/>
              </a:rPr>
              <a:t>单播</a:t>
            </a:r>
            <a:r>
              <a:rPr kumimoji="1" lang="zh-CN" altLang="en-US" sz="1600" b="1" dirty="0">
                <a:solidFill>
                  <a:srgbClr val="0000FF"/>
                </a:solidFill>
                <a:latin typeface="微软雅黑" pitchFamily="34" charset="-122"/>
                <a:ea typeface="微软雅黑" pitchFamily="34" charset="-122"/>
              </a:rPr>
              <a:t>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响应分组 </a:t>
            </a:r>
          </a:p>
        </p:txBody>
      </p:sp>
      <p:sp>
        <p:nvSpPr>
          <p:cNvPr id="26" name="Text Box 46"/>
          <p:cNvSpPr txBox="1">
            <a:spLocks noChangeArrowheads="1"/>
          </p:cNvSpPr>
          <p:nvPr/>
        </p:nvSpPr>
        <p:spPr bwMode="auto">
          <a:xfrm>
            <a:off x="835148" y="707252"/>
            <a:ext cx="2717411"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A</a:t>
            </a:r>
            <a:r>
              <a:rPr kumimoji="1" lang="en-US" altLang="zh-CN" sz="1600" b="1" dirty="0">
                <a:solidFill>
                  <a:srgbClr val="CC00CC"/>
                </a:solidFill>
                <a:latin typeface="微软雅黑" pitchFamily="34" charset="-122"/>
                <a:ea typeface="微软雅黑" pitchFamily="34" charset="-122"/>
              </a:rPr>
              <a:t> </a:t>
            </a:r>
            <a:r>
              <a:rPr kumimoji="1" lang="zh-CN" altLang="en-US" sz="1600" b="1" dirty="0">
                <a:solidFill>
                  <a:srgbClr val="C00000"/>
                </a:solidFill>
                <a:latin typeface="微软雅黑" pitchFamily="34" charset="-122"/>
                <a:ea typeface="微软雅黑" pitchFamily="34" charset="-122"/>
              </a:rPr>
              <a:t>本局域网上广播发送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请求分组 </a:t>
            </a:r>
          </a:p>
        </p:txBody>
      </p:sp>
      <p:sp>
        <p:nvSpPr>
          <p:cNvPr id="27" name="Text Box 48"/>
          <p:cNvSpPr txBox="1">
            <a:spLocks noChangeArrowheads="1"/>
          </p:cNvSpPr>
          <p:nvPr/>
        </p:nvSpPr>
        <p:spPr bwMode="auto">
          <a:xfrm>
            <a:off x="370992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8" name="AutoShape 49"/>
          <p:cNvSpPr>
            <a:spLocks noChangeArrowheads="1"/>
          </p:cNvSpPr>
          <p:nvPr/>
        </p:nvSpPr>
        <p:spPr bwMode="auto">
          <a:xfrm>
            <a:off x="4568005" y="1386387"/>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Text Box 50"/>
          <p:cNvSpPr txBox="1">
            <a:spLocks noChangeArrowheads="1"/>
          </p:cNvSpPr>
          <p:nvPr/>
        </p:nvSpPr>
        <p:spPr bwMode="auto">
          <a:xfrm>
            <a:off x="497355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a:latin typeface="微软雅黑" pitchFamily="34" charset="-122"/>
                <a:ea typeface="微软雅黑" pitchFamily="34" charset="-122"/>
              </a:rPr>
              <a:t>ARP </a:t>
            </a:r>
            <a:r>
              <a:rPr kumimoji="1" lang="zh-CN" altLang="en-US" sz="1200" b="1">
                <a:latin typeface="微软雅黑" pitchFamily="34" charset="-122"/>
                <a:ea typeface="微软雅黑" pitchFamily="34" charset="-122"/>
              </a:rPr>
              <a:t>请求</a:t>
            </a:r>
          </a:p>
        </p:txBody>
      </p:sp>
      <p:sp>
        <p:nvSpPr>
          <p:cNvPr id="30" name="AutoShape 51"/>
          <p:cNvSpPr>
            <a:spLocks noChangeArrowheads="1"/>
          </p:cNvSpPr>
          <p:nvPr/>
        </p:nvSpPr>
        <p:spPr bwMode="auto">
          <a:xfrm>
            <a:off x="5824523" y="1401785"/>
            <a:ext cx="142836" cy="133773"/>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52"/>
          <p:cNvSpPr txBox="1">
            <a:spLocks noChangeArrowheads="1"/>
          </p:cNvSpPr>
          <p:nvPr/>
        </p:nvSpPr>
        <p:spPr bwMode="auto">
          <a:xfrm>
            <a:off x="6212164"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32" name="AutoShape 53"/>
          <p:cNvSpPr>
            <a:spLocks noChangeArrowheads="1"/>
          </p:cNvSpPr>
          <p:nvPr/>
        </p:nvSpPr>
        <p:spPr bwMode="auto">
          <a:xfrm>
            <a:off x="7076684" y="1379650"/>
            <a:ext cx="142836" cy="133774"/>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33" name="Group 93"/>
          <p:cNvGrpSpPr>
            <a:grpSpLocks/>
          </p:cNvGrpSpPr>
          <p:nvPr/>
        </p:nvGrpSpPr>
        <p:grpSpPr bwMode="auto">
          <a:xfrm>
            <a:off x="2426312" y="1335381"/>
            <a:ext cx="1044683" cy="277171"/>
            <a:chOff x="249" y="663"/>
            <a:chExt cx="1002" cy="288"/>
          </a:xfrm>
          <a:solidFill>
            <a:srgbClr val="99FFCC"/>
          </a:solidFill>
        </p:grpSpPr>
        <p:sp>
          <p:nvSpPr>
            <p:cNvPr id="34" name="AutoShape 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Text Box 54"/>
            <p:cNvSpPr txBox="1">
              <a:spLocks noChangeArrowheads="1"/>
            </p:cNvSpPr>
            <p:nvPr/>
          </p:nvSpPr>
          <p:spPr bwMode="auto">
            <a:xfrm flipH="1">
              <a:off x="386" y="663"/>
              <a:ext cx="865" cy="288"/>
            </a:xfrm>
            <a:prstGeom prst="rect">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grpSp>
      <p:sp>
        <p:nvSpPr>
          <p:cNvPr id="38" name="Text Box 57"/>
          <p:cNvSpPr txBox="1">
            <a:spLocks noChangeArrowheads="1"/>
          </p:cNvSpPr>
          <p:nvPr/>
        </p:nvSpPr>
        <p:spPr bwMode="auto">
          <a:xfrm>
            <a:off x="2705191" y="2256606"/>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39" name="Text Box 58"/>
          <p:cNvSpPr txBox="1">
            <a:spLocks noChangeArrowheads="1"/>
          </p:cNvSpPr>
          <p:nvPr/>
        </p:nvSpPr>
        <p:spPr bwMode="auto">
          <a:xfrm>
            <a:off x="5247842" y="4107201"/>
            <a:ext cx="16754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08-00-2B-00-EE-0A</a:t>
            </a:r>
          </a:p>
        </p:txBody>
      </p:sp>
      <p:sp>
        <p:nvSpPr>
          <p:cNvPr id="40" name="AutoShape 59"/>
          <p:cNvSpPr>
            <a:spLocks noChangeArrowheads="1"/>
          </p:cNvSpPr>
          <p:nvPr/>
        </p:nvSpPr>
        <p:spPr bwMode="auto">
          <a:xfrm>
            <a:off x="4169536" y="700916"/>
            <a:ext cx="3700997" cy="43058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1" name="Text Box 60"/>
          <p:cNvSpPr txBox="1">
            <a:spLocks noChangeArrowheads="1"/>
          </p:cNvSpPr>
          <p:nvPr/>
        </p:nvSpPr>
        <p:spPr bwMode="auto">
          <a:xfrm>
            <a:off x="4225505" y="682810"/>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我想知道主机 </a:t>
            </a:r>
            <a:r>
              <a:rPr kumimoji="1" lang="en-US" altLang="zh-CN" sz="1200" b="1" dirty="0">
                <a:latin typeface="微软雅黑" pitchFamily="34" charset="-122"/>
                <a:ea typeface="微软雅黑" pitchFamily="34" charset="-122"/>
              </a:rPr>
              <a:t>209.0.0.6 </a:t>
            </a:r>
            <a:r>
              <a:rPr kumimoji="1" lang="zh-CN" altLang="en-US" sz="1200" b="1" dirty="0">
                <a:latin typeface="微软雅黑" pitchFamily="34" charset="-122"/>
                <a:ea typeface="微软雅黑" pitchFamily="34" charset="-122"/>
              </a:rPr>
              <a:t>的硬件地址。</a:t>
            </a:r>
          </a:p>
        </p:txBody>
      </p:sp>
      <p:sp>
        <p:nvSpPr>
          <p:cNvPr id="42" name="AutoShape 61"/>
          <p:cNvSpPr>
            <a:spLocks noChangeArrowheads="1"/>
          </p:cNvSpPr>
          <p:nvPr/>
        </p:nvSpPr>
        <p:spPr bwMode="auto">
          <a:xfrm>
            <a:off x="5359782" y="2602126"/>
            <a:ext cx="2637492" cy="440778"/>
          </a:xfrm>
          <a:prstGeom prst="wedgeRoundRectCallout">
            <a:avLst>
              <a:gd name="adj1" fmla="val -41387"/>
              <a:gd name="adj2" fmla="val 83711"/>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3" name="Text Box 62"/>
          <p:cNvSpPr txBox="1">
            <a:spLocks noChangeArrowheads="1"/>
          </p:cNvSpPr>
          <p:nvPr/>
        </p:nvSpPr>
        <p:spPr bwMode="auto">
          <a:xfrm>
            <a:off x="5437698" y="2602125"/>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54" name="Line 83"/>
          <p:cNvSpPr>
            <a:spLocks noChangeShapeType="1"/>
          </p:cNvSpPr>
          <p:nvPr/>
        </p:nvSpPr>
        <p:spPr bwMode="auto">
          <a:xfrm>
            <a:off x="2181944" y="3447110"/>
            <a:ext cx="5637325"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5" name="Text Box 84"/>
          <p:cNvSpPr txBox="1">
            <a:spLocks noChangeArrowheads="1"/>
          </p:cNvSpPr>
          <p:nvPr/>
        </p:nvSpPr>
        <p:spPr bwMode="auto">
          <a:xfrm>
            <a:off x="3671817" y="3757003"/>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56" name="Text Box 85"/>
          <p:cNvSpPr txBox="1">
            <a:spLocks noChangeArrowheads="1"/>
          </p:cNvSpPr>
          <p:nvPr/>
        </p:nvSpPr>
        <p:spPr bwMode="auto">
          <a:xfrm>
            <a:off x="4978192"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57" name="Text Box 86"/>
          <p:cNvSpPr txBox="1">
            <a:spLocks noChangeArrowheads="1"/>
          </p:cNvSpPr>
          <p:nvPr/>
        </p:nvSpPr>
        <p:spPr bwMode="auto">
          <a:xfrm>
            <a:off x="2800204" y="3681935"/>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58" name="Text Box 87"/>
          <p:cNvSpPr txBox="1">
            <a:spLocks noChangeArrowheads="1"/>
          </p:cNvSpPr>
          <p:nvPr/>
        </p:nvSpPr>
        <p:spPr bwMode="auto">
          <a:xfrm>
            <a:off x="6120878" y="3757003"/>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59" name="Text Box 88"/>
          <p:cNvSpPr txBox="1">
            <a:spLocks noChangeArrowheads="1"/>
          </p:cNvSpPr>
          <p:nvPr/>
        </p:nvSpPr>
        <p:spPr bwMode="auto">
          <a:xfrm>
            <a:off x="7466873"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60" name="Text Box 89"/>
          <p:cNvSpPr txBox="1">
            <a:spLocks noChangeArrowheads="1"/>
          </p:cNvSpPr>
          <p:nvPr/>
        </p:nvSpPr>
        <p:spPr bwMode="auto">
          <a:xfrm>
            <a:off x="3565472" y="3582809"/>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209.0.0.5</a:t>
            </a:r>
          </a:p>
        </p:txBody>
      </p:sp>
      <p:sp>
        <p:nvSpPr>
          <p:cNvPr id="62" name="Text Box 91"/>
          <p:cNvSpPr txBox="1">
            <a:spLocks noChangeArrowheads="1"/>
          </p:cNvSpPr>
          <p:nvPr/>
        </p:nvSpPr>
        <p:spPr bwMode="auto">
          <a:xfrm>
            <a:off x="2637324" y="4127412"/>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68" name="Freeform 103"/>
          <p:cNvSpPr>
            <a:spLocks/>
          </p:cNvSpPr>
          <p:nvPr/>
        </p:nvSpPr>
        <p:spPr bwMode="auto">
          <a:xfrm flipH="1">
            <a:off x="3515426" y="349523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cxnSp>
        <p:nvCxnSpPr>
          <p:cNvPr id="71" name="直接连接符 70"/>
          <p:cNvCxnSpPr/>
          <p:nvPr/>
        </p:nvCxnSpPr>
        <p:spPr>
          <a:xfrm>
            <a:off x="556963" y="2497224"/>
            <a:ext cx="8048776" cy="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sp>
        <p:nvSpPr>
          <p:cNvPr id="72" name="Text Box 90"/>
          <p:cNvSpPr txBox="1">
            <a:spLocks noChangeArrowheads="1"/>
          </p:cNvSpPr>
          <p:nvPr/>
        </p:nvSpPr>
        <p:spPr bwMode="auto">
          <a:xfrm>
            <a:off x="5976999" y="3528838"/>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79" name="组合 78"/>
          <p:cNvGrpSpPr/>
          <p:nvPr/>
        </p:nvGrpSpPr>
        <p:grpSpPr>
          <a:xfrm>
            <a:off x="2456122" y="1913299"/>
            <a:ext cx="5040745" cy="404587"/>
            <a:chOff x="2456122" y="1949511"/>
            <a:chExt cx="5040745" cy="404587"/>
          </a:xfrm>
        </p:grpSpPr>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sp>
        <p:nvSpPr>
          <p:cNvPr id="64" name="Freeform 97"/>
          <p:cNvSpPr>
            <a:spLocks/>
          </p:cNvSpPr>
          <p:nvPr/>
        </p:nvSpPr>
        <p:spPr bwMode="auto">
          <a:xfrm>
            <a:off x="3514784" y="1704940"/>
            <a:ext cx="1276140"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5" name="Freeform 98"/>
          <p:cNvSpPr>
            <a:spLocks/>
          </p:cNvSpPr>
          <p:nvPr/>
        </p:nvSpPr>
        <p:spPr bwMode="auto">
          <a:xfrm>
            <a:off x="3513741" y="170494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Freeform 101"/>
          <p:cNvSpPr>
            <a:spLocks/>
          </p:cNvSpPr>
          <p:nvPr/>
        </p:nvSpPr>
        <p:spPr bwMode="auto">
          <a:xfrm>
            <a:off x="3513741" y="1704940"/>
            <a:ext cx="3831547"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7" name="Freeform 102"/>
          <p:cNvSpPr>
            <a:spLocks/>
          </p:cNvSpPr>
          <p:nvPr/>
        </p:nvSpPr>
        <p:spPr bwMode="auto">
          <a:xfrm flipH="1">
            <a:off x="2616065" y="1704940"/>
            <a:ext cx="897676"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6" name="Text Box 55"/>
          <p:cNvSpPr txBox="1">
            <a:spLocks noChangeArrowheads="1"/>
          </p:cNvSpPr>
          <p:nvPr/>
        </p:nvSpPr>
        <p:spPr bwMode="auto">
          <a:xfrm>
            <a:off x="3573444" y="1772461"/>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69" name="矩形 68"/>
          <p:cNvSpPr/>
          <p:nvPr/>
        </p:nvSpPr>
        <p:spPr>
          <a:xfrm>
            <a:off x="5207382" y="2331604"/>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
        <p:nvSpPr>
          <p:cNvPr id="70" name="矩形 69"/>
          <p:cNvSpPr/>
          <p:nvPr/>
        </p:nvSpPr>
        <p:spPr>
          <a:xfrm>
            <a:off x="2655951" y="4350900"/>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2" fill="hold" grpId="0" nodeType="afterEffect">
                                  <p:stCondLst>
                                    <p:cond delay="250"/>
                                  </p:stCondLst>
                                  <p:childTnLst>
                                    <p:set>
                                      <p:cBhvr>
                                        <p:cTn id="9" dur="1" fill="hold">
                                          <p:stCondLst>
                                            <p:cond delay="0"/>
                                          </p:stCondLst>
                                        </p:cTn>
                                        <p:tgtEl>
                                          <p:spTgt spid="67"/>
                                        </p:tgtEl>
                                        <p:attrNameLst>
                                          <p:attrName>style.visibility</p:attrName>
                                        </p:attrNameLst>
                                      </p:cBhvr>
                                      <p:to>
                                        <p:strVal val="visible"/>
                                      </p:to>
                                    </p:set>
                                    <p:animEffect transition="in" filter="wipe(right)">
                                      <p:cBhvr>
                                        <p:cTn id="10" dur="1000"/>
                                        <p:tgtEl>
                                          <p:spTgt spid="67"/>
                                        </p:tgtEl>
                                      </p:cBhvr>
                                    </p:animEffect>
                                  </p:childTnLst>
                                </p:cTn>
                              </p:par>
                              <p:par>
                                <p:cTn id="11" presetID="22" presetClass="entr" presetSubtype="8" fill="hold" grpId="0" nodeType="withEffect">
                                  <p:stCondLst>
                                    <p:cond delay="250"/>
                                  </p:stCondLst>
                                  <p:childTnLst>
                                    <p:set>
                                      <p:cBhvr>
                                        <p:cTn id="12" dur="1" fill="hold">
                                          <p:stCondLst>
                                            <p:cond delay="0"/>
                                          </p:stCondLst>
                                        </p:cTn>
                                        <p:tgtEl>
                                          <p:spTgt spid="64"/>
                                        </p:tgtEl>
                                        <p:attrNameLst>
                                          <p:attrName>style.visibility</p:attrName>
                                        </p:attrNameLst>
                                      </p:cBhvr>
                                      <p:to>
                                        <p:strVal val="visible"/>
                                      </p:to>
                                    </p:set>
                                    <p:animEffect transition="in" filter="wipe(left)">
                                      <p:cBhvr>
                                        <p:cTn id="13" dur="1000"/>
                                        <p:tgtEl>
                                          <p:spTgt spid="64"/>
                                        </p:tgtEl>
                                      </p:cBhvr>
                                    </p:animEffect>
                                  </p:childTnLst>
                                </p:cTn>
                              </p:par>
                              <p:par>
                                <p:cTn id="14" presetID="22" presetClass="entr" presetSubtype="8" fill="hold" grpId="0" nodeType="withEffect">
                                  <p:stCondLst>
                                    <p:cond delay="250"/>
                                  </p:stCondLst>
                                  <p:childTnLst>
                                    <p:set>
                                      <p:cBhvr>
                                        <p:cTn id="15" dur="1" fill="hold">
                                          <p:stCondLst>
                                            <p:cond delay="0"/>
                                          </p:stCondLst>
                                        </p:cTn>
                                        <p:tgtEl>
                                          <p:spTgt spid="65"/>
                                        </p:tgtEl>
                                        <p:attrNameLst>
                                          <p:attrName>style.visibility</p:attrName>
                                        </p:attrNameLst>
                                      </p:cBhvr>
                                      <p:to>
                                        <p:strVal val="visible"/>
                                      </p:to>
                                    </p:set>
                                    <p:animEffect transition="in" filter="wipe(left)">
                                      <p:cBhvr>
                                        <p:cTn id="16" dur="1250"/>
                                        <p:tgtEl>
                                          <p:spTgt spid="65"/>
                                        </p:tgtEl>
                                      </p:cBhvr>
                                    </p:animEffect>
                                  </p:childTnLst>
                                </p:cTn>
                              </p:par>
                              <p:par>
                                <p:cTn id="17" presetID="22" presetClass="entr" presetSubtype="8" fill="hold" grpId="0" nodeType="withEffect">
                                  <p:stCondLst>
                                    <p:cond delay="250"/>
                                  </p:stCondLst>
                                  <p:childTnLst>
                                    <p:set>
                                      <p:cBhvr>
                                        <p:cTn id="18" dur="1" fill="hold">
                                          <p:stCondLst>
                                            <p:cond delay="0"/>
                                          </p:stCondLst>
                                        </p:cTn>
                                        <p:tgtEl>
                                          <p:spTgt spid="66"/>
                                        </p:tgtEl>
                                        <p:attrNameLst>
                                          <p:attrName>style.visibility</p:attrName>
                                        </p:attrNameLst>
                                      </p:cBhvr>
                                      <p:to>
                                        <p:strVal val="visible"/>
                                      </p:to>
                                    </p:set>
                                    <p:animEffect transition="in" filter="wipe(left)">
                                      <p:cBhvr>
                                        <p:cTn id="19" dur="1500"/>
                                        <p:tgtEl>
                                          <p:spTgt spid="66"/>
                                        </p:tgtEl>
                                      </p:cBhvr>
                                    </p:animEffect>
                                  </p:childTnLst>
                                </p:cTn>
                              </p:par>
                            </p:childTnLst>
                          </p:cTn>
                        </p:par>
                        <p:par>
                          <p:cTn id="20" fill="hold">
                            <p:stCondLst>
                              <p:cond delay="4750"/>
                            </p:stCondLst>
                            <p:childTnLst>
                              <p:par>
                                <p:cTn id="21" presetID="10" presetClass="entr" presetSubtype="0" repeatCount="3000" fill="hold" grpId="0" nodeType="afterEffect">
                                  <p:stCondLst>
                                    <p:cond delay="0"/>
                                  </p:stCondLst>
                                  <p:childTnLst>
                                    <p:set>
                                      <p:cBhvr>
                                        <p:cTn id="22" dur="1" fill="hold">
                                          <p:stCondLst>
                                            <p:cond delay="0"/>
                                          </p:stCondLst>
                                        </p:cTn>
                                        <p:tgtEl>
                                          <p:spTgt spid="69"/>
                                        </p:tgtEl>
                                        <p:attrNameLst>
                                          <p:attrName>style.visibility</p:attrName>
                                        </p:attrNameLst>
                                      </p:cBhvr>
                                      <p:to>
                                        <p:strVal val="visible"/>
                                      </p:to>
                                    </p:set>
                                    <p:animEffect transition="in" filter="fade">
                                      <p:cBhvr>
                                        <p:cTn id="23" dur="500"/>
                                        <p:tgtEl>
                                          <p:spTgt spid="69"/>
                                        </p:tgtEl>
                                      </p:cBhvr>
                                    </p:animEffect>
                                  </p:childTnLst>
                                </p:cTn>
                              </p:par>
                            </p:childTnLst>
                          </p:cTn>
                        </p:par>
                      </p:childTnLst>
                    </p:cTn>
                  </p:par>
                  <p:par>
                    <p:cTn id="24" fill="hold">
                      <p:stCondLst>
                        <p:cond delay="indefinite"/>
                      </p:stCondLst>
                      <p:childTnLst>
                        <p:par>
                          <p:cTn id="25" fill="hold">
                            <p:stCondLst>
                              <p:cond delay="0"/>
                            </p:stCondLst>
                            <p:childTnLst>
                              <p:par>
                                <p:cTn id="26" presetID="35" presetClass="emph" presetSubtype="0" repeatCount="3000" fill="hold" grpId="0" nodeType="clickEffect">
                                  <p:stCondLst>
                                    <p:cond delay="0"/>
                                  </p:stCondLst>
                                  <p:childTnLst>
                                    <p:anim calcmode="discrete" valueType="str">
                                      <p:cBhvr>
                                        <p:cTn id="27" dur="1000" fill="hold"/>
                                        <p:tgtEl>
                                          <p:spTgt spid="25"/>
                                        </p:tgtEl>
                                        <p:attrNameLst>
                                          <p:attrName>style.visibility</p:attrName>
                                        </p:attrNameLst>
                                      </p:cBhvr>
                                      <p:tavLst>
                                        <p:tav tm="0">
                                          <p:val>
                                            <p:strVal val="hidden"/>
                                          </p:val>
                                        </p:tav>
                                        <p:tav tm="50000">
                                          <p:val>
                                            <p:strVal val="visible"/>
                                          </p:val>
                                        </p:tav>
                                      </p:tavLst>
                                    </p:anim>
                                  </p:childTnLst>
                                </p:cTn>
                              </p:par>
                            </p:childTnLst>
                          </p:cTn>
                        </p:par>
                        <p:par>
                          <p:cTn id="28" fill="hold">
                            <p:stCondLst>
                              <p:cond delay="3000"/>
                            </p:stCondLst>
                            <p:childTnLst>
                              <p:par>
                                <p:cTn id="29" presetID="22" presetClass="entr" presetSubtype="2" fill="hold" grpId="0" nodeType="afterEffect">
                                  <p:stCondLst>
                                    <p:cond delay="250"/>
                                  </p:stCondLst>
                                  <p:childTnLst>
                                    <p:set>
                                      <p:cBhvr>
                                        <p:cTn id="30" dur="1" fill="hold">
                                          <p:stCondLst>
                                            <p:cond delay="0"/>
                                          </p:stCondLst>
                                        </p:cTn>
                                        <p:tgtEl>
                                          <p:spTgt spid="68"/>
                                        </p:tgtEl>
                                        <p:attrNameLst>
                                          <p:attrName>style.visibility</p:attrName>
                                        </p:attrNameLst>
                                      </p:cBhvr>
                                      <p:to>
                                        <p:strVal val="visible"/>
                                      </p:to>
                                    </p:set>
                                    <p:animEffect transition="in" filter="wipe(right)">
                                      <p:cBhvr>
                                        <p:cTn id="31" dur="1250"/>
                                        <p:tgtEl>
                                          <p:spTgt spid="68"/>
                                        </p:tgtEl>
                                      </p:cBhvr>
                                    </p:animEffect>
                                  </p:childTnLst>
                                </p:cTn>
                              </p:par>
                            </p:childTnLst>
                          </p:cTn>
                        </p:par>
                        <p:par>
                          <p:cTn id="32" fill="hold">
                            <p:stCondLst>
                              <p:cond delay="4500"/>
                            </p:stCondLst>
                            <p:childTnLst>
                              <p:par>
                                <p:cTn id="33" presetID="10" presetClass="entr" presetSubtype="0" repeatCount="3000" fill="hold" grpId="0" nodeType="afterEffect">
                                  <p:stCondLst>
                                    <p:cond delay="0"/>
                                  </p:stCondLst>
                                  <p:childTnLst>
                                    <p:set>
                                      <p:cBhvr>
                                        <p:cTn id="34" dur="1" fill="hold">
                                          <p:stCondLst>
                                            <p:cond delay="0"/>
                                          </p:stCondLst>
                                        </p:cTn>
                                        <p:tgtEl>
                                          <p:spTgt spid="70"/>
                                        </p:tgtEl>
                                        <p:attrNameLst>
                                          <p:attrName>style.visibility</p:attrName>
                                        </p:attrNameLst>
                                      </p:cBhvr>
                                      <p:to>
                                        <p:strVal val="visible"/>
                                      </p:to>
                                    </p:set>
                                    <p:animEffect transition="in" filter="fade">
                                      <p:cBhvr>
                                        <p:cTn id="35"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68" grpId="0" animBg="1"/>
      <p:bldP spid="64" grpId="0" animBg="1"/>
      <p:bldP spid="65" grpId="0" animBg="1"/>
      <p:bldP spid="66" grpId="0" animBg="1"/>
      <p:bldP spid="67" grpId="0" animBg="1"/>
      <p:bldP spid="69" grpId="0" animBg="1"/>
      <p:bldP spid="70"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59163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282757" y="558426"/>
            <a:ext cx="259718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高速缓存的作用</a:t>
            </a:r>
          </a:p>
        </p:txBody>
      </p:sp>
      <p:sp>
        <p:nvSpPr>
          <p:cNvPr id="7" name="Rectangle 68"/>
          <p:cNvSpPr>
            <a:spLocks noChangeArrowheads="1"/>
          </p:cNvSpPr>
          <p:nvPr/>
        </p:nvSpPr>
        <p:spPr bwMode="auto">
          <a:xfrm>
            <a:off x="556963" y="935834"/>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存放最近获得的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地址的绑定。</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广播的通信量。</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为进一步减少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通信量，主机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在发送其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请求分组时，就将自己的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a:t>
            </a:r>
            <a:r>
              <a:rPr lang="en-US" altLang="zh-CN" sz="2000" b="1" dirty="0">
                <a:latin typeface="微软雅黑" pitchFamily="34" charset="-122"/>
                <a:ea typeface="微软雅黑" pitchFamily="34" charset="-122"/>
              </a:rPr>
              <a:t> MAC </a:t>
            </a:r>
            <a:r>
              <a:rPr lang="zh-CN" altLang="en-US" sz="2000" b="1" dirty="0">
                <a:latin typeface="微软雅黑" pitchFamily="34" charset="-122"/>
                <a:ea typeface="微软雅黑" pitchFamily="34" charset="-122"/>
              </a:rPr>
              <a:t>地址的映射写入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收到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地址及其对应的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地址映射写入主机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自己的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高速缓存中。不必在发送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p:txBody>
      </p:sp>
    </p:spTree>
    <p:extLst>
      <p:ext uri="{BB962C8B-B14F-4D97-AF65-F5344CB8AC3E}">
        <p14:creationId xmlns:p14="http://schemas.microsoft.com/office/powerpoint/2010/main" val="2436903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2" name="组合 1"/>
          <p:cNvGrpSpPr/>
          <p:nvPr/>
        </p:nvGrpSpPr>
        <p:grpSpPr>
          <a:xfrm>
            <a:off x="1495251" y="1800409"/>
            <a:ext cx="6014215" cy="1152477"/>
            <a:chOff x="1422400" y="1686109"/>
            <a:chExt cx="6014215" cy="1152477"/>
          </a:xfrm>
        </p:grpSpPr>
        <p:sp>
          <p:nvSpPr>
            <p:cNvPr id="9"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14"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5"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18"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2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31"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32"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3"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34"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0"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
        <p:nvSpPr>
          <p:cNvPr id="29" name="Rectangle 68"/>
          <p:cNvSpPr>
            <a:spLocks noChangeArrowheads="1"/>
          </p:cNvSpPr>
          <p:nvPr/>
        </p:nvSpPr>
        <p:spPr bwMode="auto">
          <a:xfrm>
            <a:off x="556963" y="935834"/>
            <a:ext cx="8048776"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用于解决</a:t>
            </a:r>
            <a:r>
              <a:rPr lang="zh-CN" altLang="en-US" sz="2000" b="1" dirty="0">
                <a:solidFill>
                  <a:srgbClr val="C00000"/>
                </a:solidFill>
                <a:latin typeface="微软雅黑" pitchFamily="34" charset="-122"/>
                <a:ea typeface="微软雅黑" pitchFamily="34" charset="-122"/>
              </a:rPr>
              <a:t>同一个局域网上</a:t>
            </a:r>
            <a:r>
              <a:rPr lang="zh-CN" altLang="en-US" sz="2000" b="1" dirty="0">
                <a:latin typeface="微软雅黑" pitchFamily="34" charset="-122"/>
                <a:ea typeface="微软雅黑" pitchFamily="34" charset="-122"/>
              </a:rPr>
              <a:t>的主机或路由器的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地址和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地址的映射问题。</a:t>
            </a:r>
          </a:p>
        </p:txBody>
      </p:sp>
    </p:spTree>
    <p:extLst>
      <p:ext uri="{BB962C8B-B14F-4D97-AF65-F5344CB8AC3E}">
        <p14:creationId xmlns:p14="http://schemas.microsoft.com/office/powerpoint/2010/main" val="10294653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2890855"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3350462" y="1092622"/>
            <a:ext cx="3700997" cy="51386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3406431"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209.0.0.1 </a:t>
            </a:r>
            <a:r>
              <a:rPr kumimoji="1" lang="zh-CN" altLang="en-US" sz="1200" b="1" dirty="0">
                <a:latin typeface="微软雅黑" pitchFamily="34" charset="-122"/>
                <a:ea typeface="微软雅黑" pitchFamily="34" charset="-122"/>
              </a:rPr>
              <a:t>的硬件地址。</a:t>
            </a:r>
          </a:p>
        </p:txBody>
      </p:sp>
      <p:sp>
        <p:nvSpPr>
          <p:cNvPr id="27" name="任意多边形 26"/>
          <p:cNvSpPr/>
          <p:nvPr/>
        </p:nvSpPr>
        <p:spPr>
          <a:xfrm>
            <a:off x="1412319" y="2161672"/>
            <a:ext cx="93656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任意多边形 27"/>
          <p:cNvSpPr/>
          <p:nvPr/>
        </p:nvSpPr>
        <p:spPr>
          <a:xfrm flipH="1">
            <a:off x="2348651" y="2161672"/>
            <a:ext cx="190291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9"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5183420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2" fill="hold" grpId="0" nodeType="withEffect">
                                  <p:stCondLst>
                                    <p:cond delay="250"/>
                                  </p:stCondLst>
                                  <p:childTnLst>
                                    <p:set>
                                      <p:cBhvr>
                                        <p:cTn id="9" dur="1" fill="hold">
                                          <p:stCondLst>
                                            <p:cond delay="0"/>
                                          </p:stCondLst>
                                        </p:cTn>
                                        <p:tgtEl>
                                          <p:spTgt spid="27"/>
                                        </p:tgtEl>
                                        <p:attrNameLst>
                                          <p:attrName>style.visibility</p:attrName>
                                        </p:attrNameLst>
                                      </p:cBhvr>
                                      <p:to>
                                        <p:strVal val="visible"/>
                                      </p:to>
                                    </p:set>
                                    <p:animEffect transition="in" filter="wipe(right)">
                                      <p:cBhvr>
                                        <p:cTn id="10" dur="1000"/>
                                        <p:tgtEl>
                                          <p:spTgt spid="27"/>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flipH="1">
            <a:off x="2410859" y="2161671"/>
            <a:ext cx="182571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2764977"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523988" y="1175499"/>
            <a:ext cx="2637492" cy="440778"/>
          </a:xfrm>
          <a:prstGeom prst="wedgeRoundRectCallout">
            <a:avLst>
              <a:gd name="adj1" fmla="val -42524"/>
              <a:gd name="adj2" fmla="val 104116"/>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541944"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209.0.0.1</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0C-05-20-01-2F-0D</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5"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667498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5"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5334251"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2250553" y="1092622"/>
            <a:ext cx="3700997" cy="513863"/>
          </a:xfrm>
          <a:prstGeom prst="wedgeRoundRectCallout">
            <a:avLst>
              <a:gd name="adj1" fmla="val 42609"/>
              <a:gd name="adj2" fmla="val 95930"/>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2306522"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219.1.0.1</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219.1.0.6 </a:t>
            </a:r>
            <a:r>
              <a:rPr kumimoji="1" lang="zh-CN" altLang="en-US" sz="1200" b="1" dirty="0">
                <a:latin typeface="微软雅黑" pitchFamily="34" charset="-122"/>
                <a:ea typeface="微软雅黑" pitchFamily="34" charset="-122"/>
              </a:rPr>
              <a:t>的硬件地址。</a:t>
            </a:r>
          </a:p>
        </p:txBody>
      </p:sp>
      <p:sp>
        <p:nvSpPr>
          <p:cNvPr id="28" name="任意多边形 27"/>
          <p:cNvSpPr/>
          <p:nvPr/>
        </p:nvSpPr>
        <p:spPr>
          <a:xfrm>
            <a:off x="4865546" y="2161671"/>
            <a:ext cx="1535289"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cxnSp>
        <p:nvCxnSpPr>
          <p:cNvPr id="4" name="直接箭头连接符 3"/>
          <p:cNvCxnSpPr/>
          <p:nvPr/>
        </p:nvCxnSpPr>
        <p:spPr>
          <a:xfrm>
            <a:off x="4901785" y="2176661"/>
            <a:ext cx="2173573" cy="0"/>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7"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3475093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1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7"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a:off x="4891866" y="2161671"/>
            <a:ext cx="157789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5245984"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719445" y="1175499"/>
            <a:ext cx="2637492" cy="440778"/>
          </a:xfrm>
          <a:prstGeom prst="wedgeRoundRectCallout">
            <a:avLst>
              <a:gd name="adj1" fmla="val 33066"/>
              <a:gd name="adj2" fmla="val 100715"/>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737401"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6"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399484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6"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810478"/>
          </a:xfrm>
          <a:prstGeom prst="rect">
            <a:avLst/>
          </a:prstGeom>
        </p:spPr>
        <p:txBody>
          <a:bodyPr wrap="square">
            <a:spAutoFit/>
          </a:bodyPr>
          <a:lstStyle/>
          <a:p>
            <a:pPr marL="342900" indent="-342900">
              <a:lnSpc>
                <a:spcPts val="2800"/>
              </a:lnSpc>
              <a:buClr>
                <a:srgbClr val="990099"/>
              </a:buClr>
              <a:buFont typeface="+mj-lt"/>
              <a:buAutoNum type="arabicPeriod"/>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本网络上的另一个主机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2"/>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找到本网络上的一个路由器的硬件地址。剩下的工作由这个路由器来完成。 </a:t>
            </a:r>
          </a:p>
        </p:txBody>
      </p:sp>
    </p:spTree>
    <p:extLst>
      <p:ext uri="{BB962C8B-B14F-4D97-AF65-F5344CB8AC3E}">
        <p14:creationId xmlns:p14="http://schemas.microsoft.com/office/powerpoint/2010/main" val="28250895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781752"/>
          </a:xfrm>
          <a:prstGeom prst="rect">
            <a:avLst/>
          </a:prstGeom>
        </p:spPr>
        <p:txBody>
          <a:bodyPr wrap="square">
            <a:spAutoFit/>
          </a:bodyPr>
          <a:lstStyle/>
          <a:p>
            <a:pPr marL="342900" indent="-342900">
              <a:lnSpc>
                <a:spcPts val="2800"/>
              </a:lnSpc>
              <a:buClr>
                <a:srgbClr val="990099"/>
              </a:buClr>
              <a:buFont typeface="+mj-lt"/>
              <a:buAutoNum type="arabicPeriod" startAt="3"/>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本网络上的一个主机。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1106274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4"/>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找到本网络上另一个路由器的硬件地址。剩下的工作由这个路由器来完成。 </a:t>
            </a:r>
          </a:p>
        </p:txBody>
      </p:sp>
    </p:spTree>
    <p:extLst>
      <p:ext uri="{BB962C8B-B14F-4D97-AF65-F5344CB8AC3E}">
        <p14:creationId xmlns:p14="http://schemas.microsoft.com/office/powerpoint/2010/main" val="2204041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 name="AutoShape 5"/>
          <p:cNvSpPr>
            <a:spLocks noChangeArrowheads="1"/>
          </p:cNvSpPr>
          <p:nvPr/>
        </p:nvSpPr>
        <p:spPr bwMode="auto">
          <a:xfrm>
            <a:off x="556963" y="60232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8" name="Rectangle 6"/>
          <p:cNvSpPr>
            <a:spLocks noChangeArrowheads="1"/>
          </p:cNvSpPr>
          <p:nvPr/>
        </p:nvSpPr>
        <p:spPr bwMode="auto">
          <a:xfrm>
            <a:off x="1753141" y="569114"/>
            <a:ext cx="56564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FF00"/>
                </a:solidFill>
                <a:latin typeface="微软雅黑" pitchFamily="34" charset="-122"/>
                <a:ea typeface="微软雅黑" pitchFamily="34" charset="-122"/>
              </a:rPr>
              <a:t>为什么要使用两种地址：</a:t>
            </a:r>
            <a:r>
              <a:rPr lang="en-US" altLang="zh-CN" sz="2000" b="1" dirty="0">
                <a:solidFill>
                  <a:srgbClr val="FFFF00"/>
                </a:solidFill>
                <a:latin typeface="微软雅黑" pitchFamily="34" charset="-122"/>
                <a:ea typeface="微软雅黑" pitchFamily="34" charset="-122"/>
              </a:rPr>
              <a:t>IP </a:t>
            </a:r>
            <a:r>
              <a:rPr lang="zh-CN" altLang="en-US" sz="2000" b="1" dirty="0">
                <a:solidFill>
                  <a:srgbClr val="FFFF00"/>
                </a:solidFill>
                <a:latin typeface="微软雅黑" pitchFamily="34" charset="-122"/>
                <a:ea typeface="微软雅黑" pitchFamily="34" charset="-122"/>
              </a:rPr>
              <a:t>地址和 </a:t>
            </a:r>
            <a:r>
              <a:rPr lang="en-US" altLang="zh-CN" sz="2000" b="1" dirty="0">
                <a:solidFill>
                  <a:srgbClr val="FFFF00"/>
                </a:solidFill>
                <a:latin typeface="微软雅黑" pitchFamily="34" charset="-122"/>
                <a:ea typeface="微软雅黑" pitchFamily="34" charset="-122"/>
              </a:rPr>
              <a:t>MAC </a:t>
            </a:r>
            <a:r>
              <a:rPr lang="zh-CN" altLang="en-US" sz="2000" b="1" dirty="0">
                <a:solidFill>
                  <a:srgbClr val="FFFF00"/>
                </a:solidFill>
                <a:latin typeface="微软雅黑" pitchFamily="34" charset="-122"/>
                <a:ea typeface="微软雅黑" pitchFamily="34" charset="-122"/>
              </a:rPr>
              <a:t>地址？</a:t>
            </a:r>
          </a:p>
        </p:txBody>
      </p:sp>
      <p:sp>
        <p:nvSpPr>
          <p:cNvPr id="5" name="Rectangle 68"/>
          <p:cNvSpPr>
            <a:spLocks noChangeArrowheads="1"/>
          </p:cNvSpPr>
          <p:nvPr/>
        </p:nvSpPr>
        <p:spPr bwMode="auto">
          <a:xfrm>
            <a:off x="556963" y="962998"/>
            <a:ext cx="8048776" cy="31700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不同使用不同的 </a:t>
            </a:r>
            <a:r>
              <a:rPr lang="en-US" altLang="zh-CN" sz="2000" b="1" dirty="0">
                <a:latin typeface="微软雅黑" pitchFamily="34" charset="-122"/>
                <a:ea typeface="微软雅黑" pitchFamily="34" charset="-122"/>
              </a:rPr>
              <a:t>MAC</a:t>
            </a:r>
            <a:r>
              <a:rPr lang="zh-CN" altLang="en-US" sz="2000" b="1" dirty="0">
                <a:latin typeface="微软雅黑" pitchFamily="34" charset="-122"/>
                <a:ea typeface="微软雅黑" pitchFamily="34" charset="-122"/>
              </a:rPr>
              <a:t> 地址。</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地址之间的转换非常复杂。</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对以太网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地址进行寻址也是极其困难的。</a:t>
            </a:r>
          </a:p>
          <a:p>
            <a:pPr marL="268288" indent="-268288">
              <a:lnSpc>
                <a:spcPts val="30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编址把这个复杂问题解决了。</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连接到互联网的主机只需各自拥有一个唯一的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地址，它们之间的通信就像连接在同一个网络上那样简单方便，即使必须多次调用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来找到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地址，但这个过程都是由计算机软件自动进行的，对用户来说是看不见的。</a:t>
            </a:r>
          </a:p>
          <a:p>
            <a:pPr marL="268288" indent="-268288">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因此，在虚拟的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网络上用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地址进行通信非常方便。</a:t>
            </a:r>
          </a:p>
        </p:txBody>
      </p:sp>
    </p:spTree>
    <p:extLst>
      <p:ext uri="{BB962C8B-B14F-4D97-AF65-F5344CB8AC3E}">
        <p14:creationId xmlns:p14="http://schemas.microsoft.com/office/powerpoint/2010/main" val="3294599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8" name="圆角矩形 7"/>
          <p:cNvSpPr/>
          <p:nvPr/>
        </p:nvSpPr>
        <p:spPr>
          <a:xfrm>
            <a:off x="974360" y="1045561"/>
            <a:ext cx="725524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209902" y="3159734"/>
            <a:ext cx="83917" cy="41064"/>
            <a:chOff x="833" y="3024"/>
            <a:chExt cx="78" cy="51"/>
          </a:xfrm>
        </p:grpSpPr>
        <p:sp>
          <p:nvSpPr>
            <p:cNvPr id="49"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0"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1"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2" name="Group 50"/>
          <p:cNvGrpSpPr>
            <a:grpSpLocks/>
          </p:cNvGrpSpPr>
          <p:nvPr/>
        </p:nvGrpSpPr>
        <p:grpSpPr bwMode="auto">
          <a:xfrm>
            <a:off x="7220650" y="3165334"/>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6"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7"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59"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a:t>
            </a:r>
          </a:p>
        </p:txBody>
      </p:sp>
      <p:sp>
        <p:nvSpPr>
          <p:cNvPr id="60"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61"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2" name="Group 100"/>
          <p:cNvGrpSpPr>
            <a:grpSpLocks/>
          </p:cNvGrpSpPr>
          <p:nvPr/>
        </p:nvGrpSpPr>
        <p:grpSpPr bwMode="auto">
          <a:xfrm>
            <a:off x="1912655" y="4199400"/>
            <a:ext cx="1059578" cy="454504"/>
            <a:chOff x="380" y="3475"/>
            <a:chExt cx="1048" cy="487"/>
          </a:xfrm>
        </p:grpSpPr>
        <p:sp>
          <p:nvSpPr>
            <p:cNvPr id="63"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4"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65" name="矩形 64"/>
          <p:cNvSpPr/>
          <p:nvPr/>
        </p:nvSpPr>
        <p:spPr>
          <a:xfrm>
            <a:off x="2920480" y="1127693"/>
            <a:ext cx="3321743" cy="338554"/>
          </a:xfrm>
          <a:prstGeom prst="rect">
            <a:avLst/>
          </a:prstGeom>
          <a:solidFill>
            <a:srgbClr val="0000CC"/>
          </a:solidFill>
          <a:ln w="9525">
            <a:noFill/>
            <a:miter lim="800000"/>
            <a:headEnd/>
            <a:tailEnd/>
          </a:ln>
          <a:effectLst/>
        </p:spPr>
        <p:txBody>
          <a:bodyPr wrap="none">
            <a:spAutoFit/>
          </a:bodyPr>
          <a:lstStyle/>
          <a:p>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数据报由</a:t>
            </a:r>
            <a:r>
              <a:rPr lang="zh-CN" altLang="en-US" sz="1600" b="1" dirty="0">
                <a:solidFill>
                  <a:srgbClr val="FFFF00"/>
                </a:solidFill>
                <a:latin typeface="微软雅黑" pitchFamily="34" charset="-122"/>
                <a:ea typeface="微软雅黑" pitchFamily="34" charset="-122"/>
              </a:rPr>
              <a:t>首部</a:t>
            </a:r>
            <a:r>
              <a:rPr lang="zh-CN" altLang="en-US" sz="1600" b="1" dirty="0">
                <a:solidFill>
                  <a:schemeClr val="bg1"/>
                </a:solidFill>
                <a:latin typeface="微软雅黑" pitchFamily="34" charset="-122"/>
                <a:ea typeface="微软雅黑" pitchFamily="34" charset="-122"/>
              </a:rPr>
              <a:t>和</a:t>
            </a:r>
            <a:r>
              <a:rPr lang="zh-CN" altLang="en-US" sz="1600" b="1" dirty="0">
                <a:solidFill>
                  <a:srgbClr val="FFFF00"/>
                </a:solidFill>
                <a:latin typeface="微软雅黑" pitchFamily="34" charset="-122"/>
                <a:ea typeface="微软雅黑" pitchFamily="34" charset="-122"/>
              </a:rPr>
              <a:t>数据</a:t>
            </a:r>
            <a:r>
              <a:rPr lang="zh-CN" altLang="en-US" sz="1600" b="1" dirty="0">
                <a:solidFill>
                  <a:schemeClr val="bg1"/>
                </a:solidFill>
                <a:latin typeface="微软雅黑" pitchFamily="34" charset="-122"/>
                <a:ea typeface="微软雅黑" pitchFamily="34" charset="-122"/>
              </a:rPr>
              <a:t>两部分组成</a:t>
            </a:r>
          </a:p>
        </p:txBody>
      </p:sp>
      <p:grpSp>
        <p:nvGrpSpPr>
          <p:cNvPr id="66" name="组合 65"/>
          <p:cNvGrpSpPr/>
          <p:nvPr/>
        </p:nvGrpSpPr>
        <p:grpSpPr>
          <a:xfrm>
            <a:off x="1444206" y="1744891"/>
            <a:ext cx="5822950" cy="2411581"/>
            <a:chOff x="1444206" y="1385131"/>
            <a:chExt cx="5822950" cy="2411581"/>
          </a:xfrm>
        </p:grpSpPr>
        <p:grpSp>
          <p:nvGrpSpPr>
            <p:cNvPr id="67" name="Group 94"/>
            <p:cNvGrpSpPr>
              <a:grpSpLocks/>
            </p:cNvGrpSpPr>
            <p:nvPr/>
          </p:nvGrpSpPr>
          <p:grpSpPr bwMode="auto">
            <a:xfrm>
              <a:off x="1444206" y="1385131"/>
              <a:ext cx="336679" cy="1566034"/>
              <a:chOff x="-127" y="845"/>
              <a:chExt cx="333" cy="1678"/>
            </a:xfrm>
          </p:grpSpPr>
          <p:sp>
            <p:nvSpPr>
              <p:cNvPr id="7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68"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Rectangle 92"/>
            <p:cNvSpPr>
              <a:spLocks noChangeArrowheads="1"/>
            </p:cNvSpPr>
            <p:nvPr/>
          </p:nvSpPr>
          <p:spPr bwMode="auto">
            <a:xfrm>
              <a:off x="2248865" y="1397262"/>
              <a:ext cx="5018291" cy="1553323"/>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21519059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72" name="圆角矩形 71"/>
          <p:cNvSpPr/>
          <p:nvPr/>
        </p:nvSpPr>
        <p:spPr>
          <a:xfrm>
            <a:off x="959371"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4"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5"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7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77"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8"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0"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1"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2"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3"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4"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6"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7"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8"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9"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0"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1"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92"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93"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94"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95"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96"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97"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98"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99"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00"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01"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02"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03"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04"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05"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06"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07"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08"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09"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10"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11"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12" name="Group 46"/>
          <p:cNvGrpSpPr>
            <a:grpSpLocks/>
          </p:cNvGrpSpPr>
          <p:nvPr/>
        </p:nvGrpSpPr>
        <p:grpSpPr bwMode="auto">
          <a:xfrm>
            <a:off x="2209902" y="3159734"/>
            <a:ext cx="83917" cy="41064"/>
            <a:chOff x="833" y="3024"/>
            <a:chExt cx="78" cy="51"/>
          </a:xfrm>
        </p:grpSpPr>
        <p:sp>
          <p:nvSpPr>
            <p:cNvPr id="113"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4"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5"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16" name="Group 50"/>
          <p:cNvGrpSpPr>
            <a:grpSpLocks/>
          </p:cNvGrpSpPr>
          <p:nvPr/>
        </p:nvGrpSpPr>
        <p:grpSpPr bwMode="auto">
          <a:xfrm>
            <a:off x="7220650" y="3165334"/>
            <a:ext cx="83917" cy="39198"/>
            <a:chOff x="5432" y="3030"/>
            <a:chExt cx="78" cy="51"/>
          </a:xfrm>
        </p:grpSpPr>
        <p:sp>
          <p:nvSpPr>
            <p:cNvPr id="11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20"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21"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2"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123"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124"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5"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126" name="Group 100"/>
          <p:cNvGrpSpPr>
            <a:grpSpLocks/>
          </p:cNvGrpSpPr>
          <p:nvPr/>
        </p:nvGrpSpPr>
        <p:grpSpPr bwMode="auto">
          <a:xfrm>
            <a:off x="1912655" y="4199400"/>
            <a:ext cx="1059578" cy="454504"/>
            <a:chOff x="380" y="3475"/>
            <a:chExt cx="1048" cy="487"/>
          </a:xfrm>
        </p:grpSpPr>
        <p:sp>
          <p:nvSpPr>
            <p:cNvPr id="127"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8"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129" name="矩形 128"/>
          <p:cNvSpPr/>
          <p:nvPr/>
        </p:nvSpPr>
        <p:spPr>
          <a:xfrm>
            <a:off x="1163588" y="1127693"/>
            <a:ext cx="6835526" cy="338554"/>
          </a:xfrm>
          <a:prstGeom prst="rect">
            <a:avLst/>
          </a:prstGeom>
          <a:solidFill>
            <a:srgbClr val="0000CC"/>
          </a:solidFill>
          <a:ln w="9525">
            <a:noFill/>
            <a:miter lim="800000"/>
            <a:headEnd/>
            <a:tailEnd/>
          </a:ln>
          <a:effectLst/>
        </p:spPr>
        <p:txBody>
          <a:bodyPr wrap="none">
            <a:spAutoFit/>
          </a:bodyPr>
          <a:lstStyle/>
          <a:p>
            <a:r>
              <a:rPr lang="zh-CN" altLang="en-US" sz="1600" b="1" dirty="0">
                <a:solidFill>
                  <a:schemeClr val="bg1"/>
                </a:solidFill>
                <a:latin typeface="微软雅黑" pitchFamily="34" charset="-122"/>
                <a:ea typeface="微软雅黑" pitchFamily="34" charset="-122"/>
              </a:rPr>
              <a:t>首部的前一部分是</a:t>
            </a:r>
            <a:r>
              <a:rPr lang="zh-CN" altLang="en-US" sz="1600" b="1" dirty="0">
                <a:solidFill>
                  <a:srgbClr val="FFFF00"/>
                </a:solidFill>
                <a:latin typeface="微软雅黑" pitchFamily="34" charset="-122"/>
                <a:ea typeface="微软雅黑" pitchFamily="34" charset="-122"/>
              </a:rPr>
              <a:t>固定长度</a:t>
            </a:r>
            <a:r>
              <a:rPr lang="zh-CN" altLang="en-US" sz="1600" b="1" dirty="0">
                <a:solidFill>
                  <a:schemeClr val="bg1"/>
                </a:solidFill>
                <a:latin typeface="微软雅黑" pitchFamily="34" charset="-122"/>
                <a:ea typeface="微软雅黑" pitchFamily="34" charset="-122"/>
              </a:rPr>
              <a:t>，</a:t>
            </a:r>
            <a:r>
              <a:rPr lang="zh-CN" altLang="en-US" sz="1600" b="1" dirty="0">
                <a:solidFill>
                  <a:srgbClr val="FFFF00"/>
                </a:solidFill>
                <a:latin typeface="微软雅黑" pitchFamily="34" charset="-122"/>
                <a:ea typeface="微软雅黑" pitchFamily="34" charset="-122"/>
              </a:rPr>
              <a:t>共 </a:t>
            </a:r>
            <a:r>
              <a:rPr lang="en-US" altLang="zh-CN" sz="1600" b="1" dirty="0">
                <a:solidFill>
                  <a:srgbClr val="FFFF00"/>
                </a:solidFill>
                <a:latin typeface="微软雅黑" pitchFamily="34" charset="-122"/>
                <a:ea typeface="微软雅黑" pitchFamily="34" charset="-122"/>
              </a:rPr>
              <a:t>20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，是所有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数据报必须具有的。</a:t>
            </a:r>
          </a:p>
        </p:txBody>
      </p:sp>
      <p:grpSp>
        <p:nvGrpSpPr>
          <p:cNvPr id="130" name="组合 129"/>
          <p:cNvGrpSpPr/>
          <p:nvPr/>
        </p:nvGrpSpPr>
        <p:grpSpPr>
          <a:xfrm>
            <a:off x="1444206" y="1744891"/>
            <a:ext cx="5822950" cy="2411581"/>
            <a:chOff x="1444206" y="1385131"/>
            <a:chExt cx="5822950" cy="2411581"/>
          </a:xfrm>
        </p:grpSpPr>
        <p:grpSp>
          <p:nvGrpSpPr>
            <p:cNvPr id="131" name="Group 94"/>
            <p:cNvGrpSpPr>
              <a:grpSpLocks/>
            </p:cNvGrpSpPr>
            <p:nvPr/>
          </p:nvGrpSpPr>
          <p:grpSpPr bwMode="auto">
            <a:xfrm>
              <a:off x="1444206" y="1385131"/>
              <a:ext cx="336679" cy="1566034"/>
              <a:chOff x="-127" y="845"/>
              <a:chExt cx="333" cy="1678"/>
            </a:xfrm>
          </p:grpSpPr>
          <p:sp>
            <p:nvSpPr>
              <p:cNvPr id="13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32"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3" name="Rectangle 92"/>
            <p:cNvSpPr>
              <a:spLocks noChangeArrowheads="1"/>
            </p:cNvSpPr>
            <p:nvPr/>
          </p:nvSpPr>
          <p:spPr bwMode="auto">
            <a:xfrm>
              <a:off x="2248865" y="1397262"/>
              <a:ext cx="5018291" cy="13056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8113606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13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68" name="圆角矩形 67"/>
          <p:cNvSpPr/>
          <p:nvPr/>
        </p:nvSpPr>
        <p:spPr>
          <a:xfrm>
            <a:off x="946703"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3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7"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8"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9"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0"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1"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2"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3"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4"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5"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6"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150"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151"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152"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153"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154"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155"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156"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157"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58"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59"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60"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61"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62"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63"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64"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65"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66"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67"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68"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69"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70" name="Group 46"/>
          <p:cNvGrpSpPr>
            <a:grpSpLocks/>
          </p:cNvGrpSpPr>
          <p:nvPr/>
        </p:nvGrpSpPr>
        <p:grpSpPr bwMode="auto">
          <a:xfrm>
            <a:off x="2209902" y="3159734"/>
            <a:ext cx="83917" cy="41064"/>
            <a:chOff x="833" y="3024"/>
            <a:chExt cx="78" cy="51"/>
          </a:xfrm>
        </p:grpSpPr>
        <p:sp>
          <p:nvSpPr>
            <p:cNvPr id="171"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2"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3"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74" name="Group 50"/>
          <p:cNvGrpSpPr>
            <a:grpSpLocks/>
          </p:cNvGrpSpPr>
          <p:nvPr/>
        </p:nvGrpSpPr>
        <p:grpSpPr bwMode="auto">
          <a:xfrm>
            <a:off x="7220650" y="3165334"/>
            <a:ext cx="83917" cy="39198"/>
            <a:chOff x="5432" y="3030"/>
            <a:chExt cx="78" cy="51"/>
          </a:xfrm>
        </p:grpSpPr>
        <p:sp>
          <p:nvSpPr>
            <p:cNvPr id="17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78"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79"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0" name="矩形 179"/>
          <p:cNvSpPr/>
          <p:nvPr/>
        </p:nvSpPr>
        <p:spPr>
          <a:xfrm>
            <a:off x="3257912" y="1127693"/>
            <a:ext cx="2646878" cy="338554"/>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可选字段，其长度是</a:t>
            </a:r>
            <a:r>
              <a:rPr lang="zh-CN" altLang="en-US" sz="1600" b="1" dirty="0">
                <a:solidFill>
                  <a:srgbClr val="FFFF00"/>
                </a:solidFill>
                <a:latin typeface="微软雅黑" pitchFamily="34" charset="-122"/>
                <a:ea typeface="微软雅黑" pitchFamily="34" charset="-122"/>
              </a:rPr>
              <a:t>可变</a:t>
            </a:r>
            <a:r>
              <a:rPr lang="zh-CN" altLang="en-US" sz="1600" b="1" dirty="0">
                <a:solidFill>
                  <a:schemeClr val="bg1"/>
                </a:solidFill>
                <a:latin typeface="微软雅黑" pitchFamily="34" charset="-122"/>
                <a:ea typeface="微软雅黑" pitchFamily="34" charset="-122"/>
              </a:rPr>
              <a:t>的</a:t>
            </a:r>
          </a:p>
        </p:txBody>
      </p:sp>
      <p:grpSp>
        <p:nvGrpSpPr>
          <p:cNvPr id="181" name="组合 180"/>
          <p:cNvGrpSpPr/>
          <p:nvPr/>
        </p:nvGrpSpPr>
        <p:grpSpPr>
          <a:xfrm>
            <a:off x="1444206" y="1744891"/>
            <a:ext cx="5822950" cy="1566034"/>
            <a:chOff x="1444206" y="1385131"/>
            <a:chExt cx="5822950" cy="1566034"/>
          </a:xfrm>
        </p:grpSpPr>
        <p:grpSp>
          <p:nvGrpSpPr>
            <p:cNvPr id="182" name="Group 94"/>
            <p:cNvGrpSpPr>
              <a:grpSpLocks/>
            </p:cNvGrpSpPr>
            <p:nvPr/>
          </p:nvGrpSpPr>
          <p:grpSpPr bwMode="auto">
            <a:xfrm>
              <a:off x="1444206" y="1385131"/>
              <a:ext cx="336679" cy="1566034"/>
              <a:chOff x="-127" y="845"/>
              <a:chExt cx="333" cy="1678"/>
            </a:xfrm>
          </p:grpSpPr>
          <p:sp>
            <p:nvSpPr>
              <p:cNvPr id="18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8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83" name="Rectangle 92"/>
            <p:cNvSpPr>
              <a:spLocks noChangeArrowheads="1"/>
            </p:cNvSpPr>
            <p:nvPr/>
          </p:nvSpPr>
          <p:spPr bwMode="auto">
            <a:xfrm flipV="1">
              <a:off x="2248865" y="2702913"/>
              <a:ext cx="5018291" cy="2482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04"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5"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6"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7"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208"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209"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grpSp>
        <p:nvGrpSpPr>
          <p:cNvPr id="210" name="Group 100"/>
          <p:cNvGrpSpPr>
            <a:grpSpLocks/>
          </p:cNvGrpSpPr>
          <p:nvPr/>
        </p:nvGrpSpPr>
        <p:grpSpPr bwMode="auto">
          <a:xfrm>
            <a:off x="1912655" y="4199400"/>
            <a:ext cx="1059578" cy="454504"/>
            <a:chOff x="380" y="3475"/>
            <a:chExt cx="1048" cy="487"/>
          </a:xfrm>
        </p:grpSpPr>
        <p:sp>
          <p:nvSpPr>
            <p:cNvPr id="211"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2"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213" name="Rectangle 92"/>
          <p:cNvSpPr>
            <a:spLocks noChangeArrowheads="1"/>
          </p:cNvSpPr>
          <p:nvPr/>
        </p:nvSpPr>
        <p:spPr bwMode="auto">
          <a:xfrm>
            <a:off x="2970210" y="389142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348089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8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3"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8" name="圆角矩形 7"/>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1" name="组合 60"/>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47"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0" name="Group 50"/>
            <p:cNvGrpSpPr>
              <a:grpSpLocks/>
            </p:cNvGrpSpPr>
            <p:nvPr/>
          </p:nvGrpSpPr>
          <p:grpSpPr bwMode="auto">
            <a:xfrm>
              <a:off x="7169086" y="3305588"/>
              <a:ext cx="83917" cy="39198"/>
              <a:chOff x="5432" y="3030"/>
              <a:chExt cx="78" cy="51"/>
            </a:xfrm>
          </p:grpSpPr>
          <p:sp>
            <p:nvSpPr>
              <p:cNvPr id="51"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2"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3"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4"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5"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7" name="Group 94"/>
            <p:cNvGrpSpPr>
              <a:grpSpLocks/>
            </p:cNvGrpSpPr>
            <p:nvPr/>
          </p:nvGrpSpPr>
          <p:grpSpPr bwMode="auto">
            <a:xfrm>
              <a:off x="1392642" y="1885145"/>
              <a:ext cx="336679" cy="1566034"/>
              <a:chOff x="-127" y="845"/>
              <a:chExt cx="333" cy="1678"/>
            </a:xfrm>
          </p:grpSpPr>
          <p:sp>
            <p:nvSpPr>
              <p:cNvPr id="59"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0"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2" name="矩形 61"/>
          <p:cNvSpPr/>
          <p:nvPr/>
        </p:nvSpPr>
        <p:spPr>
          <a:xfrm>
            <a:off x="3006163" y="3505490"/>
            <a:ext cx="368562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协议的版本。</a:t>
            </a:r>
          </a:p>
          <a:p>
            <a:pPr algn="ctr"/>
            <a:r>
              <a:rPr lang="zh-CN" altLang="en-US" sz="1600" b="1" dirty="0">
                <a:solidFill>
                  <a:schemeClr val="bg1"/>
                </a:solidFill>
                <a:latin typeface="微软雅黑" pitchFamily="34" charset="-122"/>
                <a:ea typeface="微软雅黑" pitchFamily="34" charset="-122"/>
              </a:rPr>
              <a:t>目前的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协议版本号为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即 </a:t>
            </a:r>
            <a:r>
              <a:rPr lang="en-US" altLang="zh-CN" sz="1600" b="1" dirty="0">
                <a:solidFill>
                  <a:schemeClr val="bg1"/>
                </a:solidFill>
                <a:latin typeface="微软雅黑" pitchFamily="34" charset="-122"/>
                <a:ea typeface="微软雅黑" pitchFamily="34" charset="-122"/>
              </a:rPr>
              <a:t>IPv4)</a:t>
            </a:r>
            <a:r>
              <a:rPr lang="zh-CN" altLang="en-US" sz="1600" b="1" dirty="0">
                <a:solidFill>
                  <a:schemeClr val="bg1"/>
                </a:solidFill>
                <a:latin typeface="微软雅黑" pitchFamily="34" charset="-122"/>
                <a:ea typeface="微软雅黑" pitchFamily="34" charset="-122"/>
              </a:rPr>
              <a:t>。</a:t>
            </a:r>
          </a:p>
        </p:txBody>
      </p:sp>
      <p:sp>
        <p:nvSpPr>
          <p:cNvPr id="114" name="Rectangle 92"/>
          <p:cNvSpPr>
            <a:spLocks noChangeArrowheads="1"/>
          </p:cNvSpPr>
          <p:nvPr/>
        </p:nvSpPr>
        <p:spPr bwMode="auto">
          <a:xfrm flipV="1">
            <a:off x="2442280" y="1322244"/>
            <a:ext cx="6167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1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114"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930874" y="3369695"/>
            <a:ext cx="3962944"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位，可表示的最大数值</a:t>
            </a:r>
          </a:p>
          <a:p>
            <a:pPr algn="ctr"/>
            <a:r>
              <a:rPr lang="zh-CN" altLang="en-US" sz="1600" b="1" dirty="0">
                <a:solidFill>
                  <a:schemeClr val="bg1"/>
                </a:solidFill>
                <a:latin typeface="微软雅黑" pitchFamily="34" charset="-122"/>
                <a:ea typeface="微软雅黑" pitchFamily="34" charset="-122"/>
              </a:rPr>
              <a:t>是 </a:t>
            </a:r>
            <a:r>
              <a:rPr lang="en-US" altLang="zh-CN" sz="1600" b="1" dirty="0">
                <a:solidFill>
                  <a:schemeClr val="bg1"/>
                </a:solidFill>
                <a:latin typeface="微软雅黑" pitchFamily="34" charset="-122"/>
                <a:ea typeface="微软雅黑" pitchFamily="34" charset="-122"/>
              </a:rPr>
              <a:t>15 </a:t>
            </a:r>
            <a:r>
              <a:rPr lang="zh-CN" altLang="en-US" sz="1600" b="1" dirty="0">
                <a:solidFill>
                  <a:schemeClr val="bg1"/>
                </a:solidFill>
                <a:latin typeface="微软雅黑" pitchFamily="34" charset="-122"/>
                <a:ea typeface="微软雅黑" pitchFamily="34" charset="-122"/>
              </a:rPr>
              <a:t>个单位</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一个单位为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因此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的首部长度的</a:t>
            </a:r>
            <a:r>
              <a:rPr lang="zh-CN" altLang="en-US" sz="1600" b="1" dirty="0">
                <a:solidFill>
                  <a:srgbClr val="FFFF00"/>
                </a:solidFill>
                <a:latin typeface="微软雅黑" pitchFamily="34" charset="-122"/>
                <a:ea typeface="微软雅黑" pitchFamily="34" charset="-122"/>
              </a:rPr>
              <a:t>最大值是 </a:t>
            </a:r>
            <a:r>
              <a:rPr lang="en-US" altLang="zh-CN" sz="1600" b="1" dirty="0">
                <a:solidFill>
                  <a:srgbClr val="FFFF00"/>
                </a:solidFill>
                <a:latin typeface="微软雅黑" pitchFamily="34" charset="-122"/>
                <a:ea typeface="微软雅黑" pitchFamily="34" charset="-122"/>
              </a:rPr>
              <a:t>60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a:t>
            </a:r>
          </a:p>
        </p:txBody>
      </p:sp>
      <p:sp>
        <p:nvSpPr>
          <p:cNvPr id="62" name="Rectangle 92"/>
          <p:cNvSpPr>
            <a:spLocks noChangeArrowheads="1"/>
          </p:cNvSpPr>
          <p:nvPr/>
        </p:nvSpPr>
        <p:spPr bwMode="auto">
          <a:xfrm flipV="1">
            <a:off x="3059018" y="1322242"/>
            <a:ext cx="670739"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148428" y="3371926"/>
            <a:ext cx="5545942"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区分服务</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位，用来获得更好的服务。</a:t>
            </a:r>
          </a:p>
          <a:p>
            <a:pPr algn="ctr"/>
            <a:r>
              <a:rPr lang="zh-CN" altLang="en-US" sz="1600" b="1" dirty="0">
                <a:solidFill>
                  <a:schemeClr val="bg1"/>
                </a:solidFill>
                <a:latin typeface="微软雅黑" pitchFamily="34" charset="-122"/>
                <a:ea typeface="微软雅黑" pitchFamily="34" charset="-122"/>
              </a:rPr>
              <a:t>只有在使用区分服务（</a:t>
            </a:r>
            <a:r>
              <a:rPr lang="en-US" altLang="zh-CN" sz="1600" b="1" dirty="0" err="1">
                <a:solidFill>
                  <a:schemeClr val="bg1"/>
                </a:solidFill>
                <a:latin typeface="微软雅黑" pitchFamily="34" charset="-122"/>
                <a:ea typeface="微软雅黑" pitchFamily="34" charset="-122"/>
              </a:rPr>
              <a:t>DiffServ</a:t>
            </a:r>
            <a:r>
              <a:rPr lang="zh-CN" altLang="en-US" sz="1600" b="1" dirty="0">
                <a:solidFill>
                  <a:schemeClr val="bg1"/>
                </a:solidFill>
                <a:latin typeface="微软雅黑" pitchFamily="34" charset="-122"/>
                <a:ea typeface="微软雅黑" pitchFamily="34" charset="-122"/>
              </a:rPr>
              <a:t>）时，这个字段才起作用。</a:t>
            </a:r>
          </a:p>
          <a:p>
            <a:pPr algn="ctr"/>
            <a:r>
              <a:rPr lang="zh-CN" altLang="en-US" sz="1600" b="1" dirty="0">
                <a:solidFill>
                  <a:schemeClr val="bg1"/>
                </a:solidFill>
                <a:latin typeface="微软雅黑" pitchFamily="34" charset="-122"/>
                <a:ea typeface="微软雅黑" pitchFamily="34" charset="-122"/>
              </a:rPr>
              <a:t>在一般的情况下都不使用这个字段 </a:t>
            </a:r>
          </a:p>
        </p:txBody>
      </p:sp>
      <p:sp>
        <p:nvSpPr>
          <p:cNvPr id="60" name="Rectangle 92"/>
          <p:cNvSpPr>
            <a:spLocks noChangeArrowheads="1"/>
          </p:cNvSpPr>
          <p:nvPr/>
        </p:nvSpPr>
        <p:spPr bwMode="auto">
          <a:xfrm flipV="1">
            <a:off x="3729758" y="1322240"/>
            <a:ext cx="12128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390662" y="3369695"/>
            <a:ext cx="5043368"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总长度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位，指首部和数据之和的长度，</a:t>
            </a:r>
          </a:p>
          <a:p>
            <a:pPr algn="ctr"/>
            <a:r>
              <a:rPr lang="zh-CN" altLang="en-US" sz="1600" b="1" dirty="0">
                <a:solidFill>
                  <a:schemeClr val="bg1"/>
                </a:solidFill>
                <a:latin typeface="微软雅黑" pitchFamily="34" charset="-122"/>
                <a:ea typeface="微软雅黑" pitchFamily="34" charset="-122"/>
              </a:rPr>
              <a:t>单位为字节，因此数据报的最大长度为 </a:t>
            </a:r>
            <a:r>
              <a:rPr lang="en-US" altLang="zh-CN" sz="1600" b="1" dirty="0">
                <a:solidFill>
                  <a:schemeClr val="bg1"/>
                </a:solidFill>
                <a:latin typeface="微软雅黑" pitchFamily="34" charset="-122"/>
                <a:ea typeface="微软雅黑" pitchFamily="34" charset="-122"/>
              </a:rPr>
              <a:t>65535 </a:t>
            </a:r>
            <a:r>
              <a:rPr lang="zh-CN" altLang="en-US" sz="1600" b="1" dirty="0">
                <a:solidFill>
                  <a:schemeClr val="bg1"/>
                </a:solidFill>
                <a:latin typeface="微软雅黑" pitchFamily="34" charset="-122"/>
                <a:ea typeface="微软雅黑" pitchFamily="34" charset="-122"/>
              </a:rPr>
              <a:t>字节。</a:t>
            </a:r>
          </a:p>
          <a:p>
            <a:pPr algn="ctr"/>
            <a:r>
              <a:rPr lang="zh-CN" altLang="en-US" sz="1600" b="1" dirty="0">
                <a:solidFill>
                  <a:srgbClr val="FFFF00"/>
                </a:solidFill>
                <a:latin typeface="微软雅黑" pitchFamily="34" charset="-122"/>
                <a:ea typeface="微软雅黑" pitchFamily="34" charset="-122"/>
              </a:rPr>
              <a:t>总长度必须不超过最大传送单元 </a:t>
            </a:r>
            <a:r>
              <a:rPr lang="en-US" altLang="zh-CN" sz="1600" b="1" dirty="0">
                <a:solidFill>
                  <a:srgbClr val="FFFF00"/>
                </a:solidFill>
                <a:latin typeface="微软雅黑" pitchFamily="34" charset="-122"/>
                <a:ea typeface="微软雅黑" pitchFamily="34" charset="-122"/>
              </a:rPr>
              <a:t>MTU</a:t>
            </a:r>
            <a:r>
              <a:rPr lang="zh-CN" altLang="en-US" sz="1600" b="1" dirty="0">
                <a:solidFill>
                  <a:srgbClr val="FFFF00"/>
                </a:solidFill>
                <a:latin typeface="微软雅黑" pitchFamily="34" charset="-122"/>
                <a:ea typeface="微软雅黑" pitchFamily="34" charset="-122"/>
              </a:rPr>
              <a:t>。 </a:t>
            </a:r>
          </a:p>
        </p:txBody>
      </p:sp>
      <p:sp>
        <p:nvSpPr>
          <p:cNvPr id="62" name="Rectangle 92"/>
          <p:cNvSpPr>
            <a:spLocks noChangeArrowheads="1"/>
          </p:cNvSpPr>
          <p:nvPr/>
        </p:nvSpPr>
        <p:spPr bwMode="auto">
          <a:xfrm flipV="1">
            <a:off x="4942598" y="1322240"/>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677599" y="3387638"/>
            <a:ext cx="4469493"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标识 </a:t>
            </a:r>
            <a:r>
              <a:rPr lang="en-US" altLang="zh-CN" sz="1600" b="1" dirty="0">
                <a:solidFill>
                  <a:schemeClr val="bg1"/>
                </a:solidFill>
                <a:latin typeface="微软雅黑" pitchFamily="34" charset="-122"/>
                <a:ea typeface="微软雅黑" pitchFamily="34" charset="-122"/>
              </a:rPr>
              <a:t>(identification) ——</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a:t>
            </a:r>
          </a:p>
          <a:p>
            <a:pPr algn="ctr"/>
            <a:r>
              <a:rPr lang="zh-CN" altLang="en-US" sz="1600" b="1" dirty="0">
                <a:solidFill>
                  <a:schemeClr val="bg1"/>
                </a:solidFill>
                <a:latin typeface="微软雅黑" pitchFamily="34" charset="-122"/>
                <a:ea typeface="微软雅黑" pitchFamily="34" charset="-122"/>
              </a:rPr>
              <a:t>它是一个计数器，用来产生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数据报的标识。 </a:t>
            </a:r>
          </a:p>
        </p:txBody>
      </p:sp>
      <p:sp>
        <p:nvSpPr>
          <p:cNvPr id="62" name="Rectangle 92"/>
          <p:cNvSpPr>
            <a:spLocks noChangeArrowheads="1"/>
          </p:cNvSpPr>
          <p:nvPr/>
        </p:nvSpPr>
        <p:spPr bwMode="auto">
          <a:xfrm flipV="1">
            <a:off x="2443756" y="1591638"/>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408917" y="3336009"/>
            <a:ext cx="5084293" cy="1246495"/>
          </a:xfrm>
          <a:prstGeom prst="rect">
            <a:avLst/>
          </a:prstGeom>
          <a:solidFill>
            <a:srgbClr val="0000CC"/>
          </a:solidFill>
          <a:ln w="9525">
            <a:noFill/>
            <a:miter lim="800000"/>
            <a:headEnd/>
            <a:tailEnd/>
          </a:ln>
          <a:effectLst/>
        </p:spPr>
        <p:txBody>
          <a:bodyPr wrap="square">
            <a:spAutoFit/>
          </a:bodyPr>
          <a:lstStyle/>
          <a:p>
            <a:pPr algn="ctr">
              <a:lnSpc>
                <a:spcPts val="1800"/>
              </a:lnSpc>
            </a:pPr>
            <a:r>
              <a:rPr lang="zh-CN" altLang="en-US" sz="1400" b="1" dirty="0">
                <a:solidFill>
                  <a:schemeClr val="bg1"/>
                </a:solidFill>
                <a:latin typeface="微软雅黑" pitchFamily="34" charset="-122"/>
                <a:ea typeface="微软雅黑" pitchFamily="34" charset="-122"/>
              </a:rPr>
              <a:t>标志</a:t>
            </a:r>
            <a:r>
              <a:rPr lang="en-US" altLang="zh-CN" sz="1400" b="1" dirty="0">
                <a:solidFill>
                  <a:schemeClr val="bg1"/>
                </a:solidFill>
                <a:latin typeface="微软雅黑" pitchFamily="34" charset="-122"/>
                <a:ea typeface="微软雅黑" pitchFamily="34" charset="-122"/>
              </a:rPr>
              <a:t>(flag) ——</a:t>
            </a:r>
            <a:r>
              <a:rPr lang="zh-CN" altLang="en-US" sz="1400" b="1" dirty="0">
                <a:solidFill>
                  <a:schemeClr val="bg1"/>
                </a:solidFill>
                <a:latin typeface="微软雅黑" pitchFamily="34" charset="-122"/>
                <a:ea typeface="微软雅黑" pitchFamily="34" charset="-122"/>
              </a:rPr>
              <a:t>占 </a:t>
            </a:r>
            <a:r>
              <a:rPr lang="en-US" altLang="zh-CN" sz="1400" b="1" dirty="0">
                <a:solidFill>
                  <a:schemeClr val="bg1"/>
                </a:solidFill>
                <a:latin typeface="微软雅黑" pitchFamily="34" charset="-122"/>
                <a:ea typeface="微软雅黑" pitchFamily="34" charset="-122"/>
              </a:rPr>
              <a:t>3 </a:t>
            </a:r>
            <a:r>
              <a:rPr lang="zh-CN" altLang="en-US" sz="1400" b="1" dirty="0">
                <a:solidFill>
                  <a:schemeClr val="bg1"/>
                </a:solidFill>
                <a:latin typeface="微软雅黑" pitchFamily="34" charset="-122"/>
                <a:ea typeface="微软雅黑" pitchFamily="34" charset="-122"/>
              </a:rPr>
              <a:t>位，目前只有前两位有意义。</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标志字段的最低位是 </a:t>
            </a:r>
            <a:r>
              <a:rPr lang="en-US" altLang="zh-CN" sz="1400" b="1" dirty="0">
                <a:solidFill>
                  <a:srgbClr val="FFFF00"/>
                </a:solidFill>
                <a:latin typeface="微软雅黑" pitchFamily="34" charset="-122"/>
                <a:ea typeface="微软雅黑" pitchFamily="34" charset="-122"/>
              </a:rPr>
              <a:t>MF</a:t>
            </a:r>
            <a:r>
              <a:rPr lang="en-US" altLang="zh-CN" sz="1400" b="1" dirty="0">
                <a:solidFill>
                  <a:schemeClr val="bg1"/>
                </a:solidFill>
                <a:latin typeface="微软雅黑" pitchFamily="34" charset="-122"/>
                <a:ea typeface="微软雅黑" pitchFamily="34" charset="-122"/>
              </a:rPr>
              <a:t> (More Fragment)</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en-US" altLang="zh-CN" sz="1400" b="1" dirty="0">
                <a:solidFill>
                  <a:schemeClr val="bg1"/>
                </a:solidFill>
                <a:latin typeface="微软雅黑" pitchFamily="34" charset="-122"/>
                <a:ea typeface="微软雅黑" pitchFamily="34" charset="-122"/>
              </a:rPr>
              <a:t>MF=1 </a:t>
            </a:r>
            <a:r>
              <a:rPr lang="zh-CN" altLang="en-US" sz="1400" b="1" dirty="0">
                <a:solidFill>
                  <a:schemeClr val="bg1"/>
                </a:solidFill>
                <a:latin typeface="微软雅黑" pitchFamily="34" charset="-122"/>
                <a:ea typeface="微软雅黑" pitchFamily="34" charset="-122"/>
              </a:rPr>
              <a:t>表示后面还有分片，</a:t>
            </a:r>
            <a:r>
              <a:rPr lang="en-US" altLang="zh-CN" sz="1400" b="1" dirty="0">
                <a:solidFill>
                  <a:schemeClr val="bg1"/>
                </a:solidFill>
                <a:latin typeface="微软雅黑" pitchFamily="34" charset="-122"/>
                <a:ea typeface="微软雅黑" pitchFamily="34" charset="-122"/>
              </a:rPr>
              <a:t>MF=0 </a:t>
            </a:r>
            <a:r>
              <a:rPr lang="zh-CN" altLang="en-US" sz="1400" b="1" dirty="0">
                <a:solidFill>
                  <a:schemeClr val="bg1"/>
                </a:solidFill>
                <a:latin typeface="微软雅黑" pitchFamily="34" charset="-122"/>
                <a:ea typeface="微软雅黑" pitchFamily="34" charset="-122"/>
              </a:rPr>
              <a:t>表示最后一个分片。</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标志字段中间的一位是 </a:t>
            </a:r>
            <a:r>
              <a:rPr lang="en-US" altLang="zh-CN" sz="1400" b="1" dirty="0">
                <a:solidFill>
                  <a:srgbClr val="FFFF00"/>
                </a:solidFill>
                <a:latin typeface="微软雅黑" pitchFamily="34" charset="-122"/>
                <a:ea typeface="微软雅黑" pitchFamily="34" charset="-122"/>
              </a:rPr>
              <a:t>DF</a:t>
            </a:r>
            <a:r>
              <a:rPr lang="en-US" altLang="zh-CN" sz="1400" b="1" dirty="0">
                <a:solidFill>
                  <a:schemeClr val="bg1"/>
                </a:solidFill>
                <a:latin typeface="微软雅黑" pitchFamily="34" charset="-122"/>
                <a:ea typeface="微软雅黑" pitchFamily="34" charset="-122"/>
              </a:rPr>
              <a:t> (Don't Fragment) </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zh-CN" altLang="en-US" sz="1400" b="1" dirty="0">
                <a:solidFill>
                  <a:schemeClr val="bg1"/>
                </a:solidFill>
                <a:latin typeface="微软雅黑" pitchFamily="34" charset="-122"/>
                <a:ea typeface="微软雅黑" pitchFamily="34" charset="-122"/>
              </a:rPr>
              <a:t>只有当 </a:t>
            </a:r>
            <a:r>
              <a:rPr lang="en-US" altLang="zh-CN" sz="1400" b="1" dirty="0">
                <a:solidFill>
                  <a:schemeClr val="bg1"/>
                </a:solidFill>
                <a:latin typeface="微软雅黑" pitchFamily="34" charset="-122"/>
                <a:ea typeface="微软雅黑" pitchFamily="34" charset="-122"/>
              </a:rPr>
              <a:t>DF=0 </a:t>
            </a:r>
            <a:r>
              <a:rPr lang="zh-CN" altLang="en-US" sz="1400" b="1" dirty="0">
                <a:solidFill>
                  <a:schemeClr val="bg1"/>
                </a:solidFill>
                <a:latin typeface="微软雅黑" pitchFamily="34" charset="-122"/>
                <a:ea typeface="微软雅黑" pitchFamily="34" charset="-122"/>
              </a:rPr>
              <a:t>时才允许分片。 </a:t>
            </a:r>
          </a:p>
        </p:txBody>
      </p:sp>
      <p:sp>
        <p:nvSpPr>
          <p:cNvPr id="60" name="Rectangle 92"/>
          <p:cNvSpPr>
            <a:spLocks noChangeArrowheads="1"/>
          </p:cNvSpPr>
          <p:nvPr/>
        </p:nvSpPr>
        <p:spPr bwMode="auto">
          <a:xfrm flipH="1" flipV="1">
            <a:off x="4961261" y="1591637"/>
            <a:ext cx="496205"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573640" y="3369695"/>
            <a:ext cx="4695517"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片偏移</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13 </a:t>
            </a:r>
            <a:r>
              <a:rPr lang="zh-CN" altLang="en-US" sz="1600" b="1" dirty="0">
                <a:solidFill>
                  <a:schemeClr val="bg1"/>
                </a:solidFill>
                <a:latin typeface="微软雅黑" pitchFamily="34" charset="-122"/>
                <a:ea typeface="微软雅黑" pitchFamily="34" charset="-122"/>
              </a:rPr>
              <a:t>位，指出：较长的分组在分片后</a:t>
            </a:r>
          </a:p>
          <a:p>
            <a:pPr algn="ctr"/>
            <a:r>
              <a:rPr lang="zh-CN" altLang="en-US" sz="1600" b="1" dirty="0">
                <a:solidFill>
                  <a:schemeClr val="bg1"/>
                </a:solidFill>
                <a:latin typeface="微软雅黑" pitchFamily="34" charset="-122"/>
                <a:ea typeface="微软雅黑" pitchFamily="34" charset="-122"/>
              </a:rPr>
              <a:t>某片在原分组中的相对位置。</a:t>
            </a:r>
          </a:p>
          <a:p>
            <a:pPr algn="ctr"/>
            <a:r>
              <a:rPr lang="zh-CN" altLang="en-US" sz="1600" b="1" dirty="0">
                <a:solidFill>
                  <a:schemeClr val="bg1"/>
                </a:solidFill>
                <a:latin typeface="微软雅黑" pitchFamily="34" charset="-122"/>
                <a:ea typeface="微软雅黑" pitchFamily="34" charset="-122"/>
              </a:rPr>
              <a:t>片偏移以 </a:t>
            </a:r>
            <a:r>
              <a:rPr lang="en-US" altLang="zh-CN" sz="1600" b="1" dirty="0">
                <a:solidFill>
                  <a:srgbClr val="FFFF00"/>
                </a:solidFill>
                <a:latin typeface="微软雅黑" pitchFamily="34" charset="-122"/>
                <a:ea typeface="微软雅黑" pitchFamily="34" charset="-122"/>
              </a:rPr>
              <a:t>8 </a:t>
            </a:r>
            <a:r>
              <a:rPr lang="zh-CN" altLang="en-US" sz="1600" b="1" dirty="0">
                <a:solidFill>
                  <a:srgbClr val="FFFF00"/>
                </a:solidFill>
                <a:latin typeface="微软雅黑" pitchFamily="34" charset="-122"/>
                <a:ea typeface="微软雅黑" pitchFamily="34" charset="-122"/>
              </a:rPr>
              <a:t>个字节</a:t>
            </a:r>
            <a:r>
              <a:rPr lang="zh-CN" altLang="en-US" sz="1600" b="1" dirty="0">
                <a:solidFill>
                  <a:schemeClr val="bg1"/>
                </a:solidFill>
                <a:latin typeface="微软雅黑" pitchFamily="34" charset="-122"/>
                <a:ea typeface="微软雅黑" pitchFamily="34" charset="-122"/>
              </a:rPr>
              <a:t>为偏移单位。</a:t>
            </a:r>
          </a:p>
        </p:txBody>
      </p:sp>
      <p:sp>
        <p:nvSpPr>
          <p:cNvPr id="60" name="Rectangle 92"/>
          <p:cNvSpPr>
            <a:spLocks noChangeArrowheads="1"/>
          </p:cNvSpPr>
          <p:nvPr/>
        </p:nvSpPr>
        <p:spPr bwMode="auto">
          <a:xfrm flipV="1">
            <a:off x="5457465" y="1591636"/>
            <a:ext cx="2002638"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3484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76076"/>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8" name="圆角矩形 7"/>
          <p:cNvSpPr/>
          <p:nvPr/>
        </p:nvSpPr>
        <p:spPr>
          <a:xfrm>
            <a:off x="556963" y="1023043"/>
            <a:ext cx="8041892" cy="332959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252831" y="1797916"/>
            <a:ext cx="3324816" cy="2450865"/>
            <a:chOff x="344488" y="2380134"/>
            <a:chExt cx="4755225" cy="3505282"/>
          </a:xfrm>
        </p:grpSpPr>
        <p:sp>
          <p:nvSpPr>
            <p:cNvPr id="10" name="Text Box 5"/>
            <p:cNvSpPr txBox="1">
              <a:spLocks noChangeArrowheads="1"/>
            </p:cNvSpPr>
            <p:nvPr/>
          </p:nvSpPr>
          <p:spPr bwMode="auto">
            <a:xfrm>
              <a:off x="704528" y="5445226"/>
              <a:ext cx="2066136"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0/8 = 0</a:t>
              </a:r>
            </a:p>
          </p:txBody>
        </p:sp>
        <p:sp>
          <p:nvSpPr>
            <p:cNvPr id="11" name="Rectangle 11"/>
            <p:cNvSpPr>
              <a:spLocks noChangeArrowheads="1"/>
            </p:cNvSpPr>
            <p:nvPr/>
          </p:nvSpPr>
          <p:spPr bwMode="auto">
            <a:xfrm>
              <a:off x="1295534"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 name="Line 12"/>
            <p:cNvSpPr>
              <a:spLocks noChangeShapeType="1"/>
            </p:cNvSpPr>
            <p:nvPr/>
          </p:nvSpPr>
          <p:spPr bwMode="auto">
            <a:xfrm>
              <a:off x="148471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3"/>
            <p:cNvSpPr>
              <a:spLocks noChangeShapeType="1"/>
            </p:cNvSpPr>
            <p:nvPr/>
          </p:nvSpPr>
          <p:spPr bwMode="auto">
            <a:xfrm>
              <a:off x="16756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Line 14"/>
            <p:cNvSpPr>
              <a:spLocks noChangeShapeType="1"/>
            </p:cNvSpPr>
            <p:nvPr/>
          </p:nvSpPr>
          <p:spPr bwMode="auto">
            <a:xfrm>
              <a:off x="18665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 name="Line 15"/>
            <p:cNvSpPr>
              <a:spLocks noChangeShapeType="1"/>
            </p:cNvSpPr>
            <p:nvPr/>
          </p:nvSpPr>
          <p:spPr bwMode="auto">
            <a:xfrm>
              <a:off x="30050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Line 21"/>
            <p:cNvSpPr>
              <a:spLocks noChangeShapeType="1"/>
            </p:cNvSpPr>
            <p:nvPr/>
          </p:nvSpPr>
          <p:spPr bwMode="auto">
            <a:xfrm flipV="1">
              <a:off x="3101314"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Text Box 30"/>
            <p:cNvSpPr txBox="1">
              <a:spLocks noChangeArrowheads="1"/>
            </p:cNvSpPr>
            <p:nvPr/>
          </p:nvSpPr>
          <p:spPr bwMode="auto">
            <a:xfrm>
              <a:off x="2629894" y="4625603"/>
              <a:ext cx="896885"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1399</a:t>
              </a:r>
            </a:p>
          </p:txBody>
        </p:sp>
        <p:sp>
          <p:nvSpPr>
            <p:cNvPr id="18" name="Text Box 33"/>
            <p:cNvSpPr txBox="1">
              <a:spLocks noChangeArrowheads="1"/>
            </p:cNvSpPr>
            <p:nvPr/>
          </p:nvSpPr>
          <p:spPr bwMode="auto">
            <a:xfrm>
              <a:off x="990013" y="5072535"/>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1</a:t>
              </a:r>
            </a:p>
          </p:txBody>
        </p:sp>
        <p:sp>
          <p:nvSpPr>
            <p:cNvPr id="19" name="Rectangle 36"/>
            <p:cNvSpPr>
              <a:spLocks noChangeArrowheads="1"/>
            </p:cNvSpPr>
            <p:nvPr/>
          </p:nvSpPr>
          <p:spPr bwMode="auto">
            <a:xfrm>
              <a:off x="344488"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39"/>
            <p:cNvSpPr>
              <a:spLocks noChangeShapeType="1"/>
            </p:cNvSpPr>
            <p:nvPr/>
          </p:nvSpPr>
          <p:spPr bwMode="auto">
            <a:xfrm flipV="1">
              <a:off x="1295534" y="2380134"/>
              <a:ext cx="1900369"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Line 40"/>
            <p:cNvSpPr>
              <a:spLocks noChangeShapeType="1"/>
            </p:cNvSpPr>
            <p:nvPr/>
          </p:nvSpPr>
          <p:spPr bwMode="auto">
            <a:xfrm flipV="1">
              <a:off x="3195903" y="2380134"/>
              <a:ext cx="1903810"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59"/>
            <p:cNvSpPr txBox="1">
              <a:spLocks noChangeArrowheads="1"/>
            </p:cNvSpPr>
            <p:nvPr/>
          </p:nvSpPr>
          <p:spPr bwMode="auto">
            <a:xfrm>
              <a:off x="344488" y="3869209"/>
              <a:ext cx="1040474"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1</a:t>
              </a:r>
            </a:p>
          </p:txBody>
        </p:sp>
        <p:sp>
          <p:nvSpPr>
            <p:cNvPr id="23" name="Line 62"/>
            <p:cNvSpPr>
              <a:spLocks noChangeShapeType="1"/>
            </p:cNvSpPr>
            <p:nvPr/>
          </p:nvSpPr>
          <p:spPr bwMode="auto">
            <a:xfrm flipV="1">
              <a:off x="1384962"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Text Box 63"/>
            <p:cNvSpPr txBox="1">
              <a:spLocks noChangeArrowheads="1"/>
            </p:cNvSpPr>
            <p:nvPr/>
          </p:nvSpPr>
          <p:spPr bwMode="auto">
            <a:xfrm>
              <a:off x="564621" y="4626445"/>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字节 </a:t>
              </a:r>
              <a:r>
                <a:rPr kumimoji="1" lang="en-US" altLang="zh-CN" sz="1400" b="1" dirty="0">
                  <a:latin typeface="微软雅黑" pitchFamily="34" charset="-122"/>
                  <a:ea typeface="微软雅黑" pitchFamily="34" charset="-122"/>
                </a:rPr>
                <a:t>0</a:t>
              </a:r>
            </a:p>
          </p:txBody>
        </p:sp>
      </p:grpSp>
      <p:grpSp>
        <p:nvGrpSpPr>
          <p:cNvPr id="25" name="组合 24"/>
          <p:cNvGrpSpPr/>
          <p:nvPr/>
        </p:nvGrpSpPr>
        <p:grpSpPr>
          <a:xfrm>
            <a:off x="3557956" y="1797916"/>
            <a:ext cx="2349616" cy="2450863"/>
            <a:chOff x="3641329" y="2380134"/>
            <a:chExt cx="3360473" cy="3505278"/>
          </a:xfrm>
        </p:grpSpPr>
        <p:sp>
          <p:nvSpPr>
            <p:cNvPr id="26" name="Text Box 17"/>
            <p:cNvSpPr txBox="1">
              <a:spLocks noChangeArrowheads="1"/>
            </p:cNvSpPr>
            <p:nvPr/>
          </p:nvSpPr>
          <p:spPr bwMode="auto">
            <a:xfrm>
              <a:off x="3653972"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1400/8 = 175</a:t>
              </a:r>
            </a:p>
          </p:txBody>
        </p:sp>
        <p:sp>
          <p:nvSpPr>
            <p:cNvPr id="27" name="Line 22"/>
            <p:cNvSpPr>
              <a:spLocks noChangeShapeType="1"/>
            </p:cNvSpPr>
            <p:nvPr/>
          </p:nvSpPr>
          <p:spPr bwMode="auto">
            <a:xfrm flipV="1">
              <a:off x="4717918"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flipV="1">
              <a:off x="6430831"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26"/>
            <p:cNvSpPr txBox="1">
              <a:spLocks noChangeArrowheads="1"/>
            </p:cNvSpPr>
            <p:nvPr/>
          </p:nvSpPr>
          <p:spPr bwMode="auto">
            <a:xfrm>
              <a:off x="4246497" y="4660776"/>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1400</a:t>
              </a:r>
            </a:p>
          </p:txBody>
        </p:sp>
        <p:sp>
          <p:nvSpPr>
            <p:cNvPr id="30" name="Text Box 29"/>
            <p:cNvSpPr txBox="1">
              <a:spLocks noChangeArrowheads="1"/>
            </p:cNvSpPr>
            <p:nvPr/>
          </p:nvSpPr>
          <p:spPr bwMode="auto">
            <a:xfrm>
              <a:off x="5968920" y="4638550"/>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2799</a:t>
              </a:r>
            </a:p>
          </p:txBody>
        </p:sp>
        <p:sp>
          <p:nvSpPr>
            <p:cNvPr id="31" name="Rectangle 41"/>
            <p:cNvSpPr>
              <a:spLocks noChangeArrowheads="1"/>
            </p:cNvSpPr>
            <p:nvPr/>
          </p:nvSpPr>
          <p:spPr bwMode="auto">
            <a:xfrm>
              <a:off x="4625050"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42"/>
            <p:cNvSpPr>
              <a:spLocks noChangeShapeType="1"/>
            </p:cNvSpPr>
            <p:nvPr/>
          </p:nvSpPr>
          <p:spPr bwMode="auto">
            <a:xfrm>
              <a:off x="4814227"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43"/>
            <p:cNvSpPr>
              <a:spLocks noChangeShapeType="1"/>
            </p:cNvSpPr>
            <p:nvPr/>
          </p:nvSpPr>
          <p:spPr bwMode="auto">
            <a:xfrm>
              <a:off x="50034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44"/>
            <p:cNvSpPr>
              <a:spLocks noChangeShapeType="1"/>
            </p:cNvSpPr>
            <p:nvPr/>
          </p:nvSpPr>
          <p:spPr bwMode="auto">
            <a:xfrm>
              <a:off x="519430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45"/>
            <p:cNvSpPr>
              <a:spLocks noChangeShapeType="1"/>
            </p:cNvSpPr>
            <p:nvPr/>
          </p:nvSpPr>
          <p:spPr bwMode="auto">
            <a:xfrm>
              <a:off x="6334522"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46"/>
            <p:cNvSpPr>
              <a:spLocks noChangeArrowheads="1"/>
            </p:cNvSpPr>
            <p:nvPr/>
          </p:nvSpPr>
          <p:spPr bwMode="auto">
            <a:xfrm>
              <a:off x="3674004"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Line 47"/>
            <p:cNvSpPr>
              <a:spLocks noChangeShapeType="1"/>
            </p:cNvSpPr>
            <p:nvPr/>
          </p:nvSpPr>
          <p:spPr bwMode="auto">
            <a:xfrm flipV="1">
              <a:off x="4625049" y="2380134"/>
              <a:ext cx="47466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48"/>
            <p:cNvSpPr>
              <a:spLocks noChangeShapeType="1"/>
            </p:cNvSpPr>
            <p:nvPr/>
          </p:nvSpPr>
          <p:spPr bwMode="auto">
            <a:xfrm flipV="1">
              <a:off x="6525419" y="2380134"/>
              <a:ext cx="47638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60"/>
            <p:cNvSpPr txBox="1">
              <a:spLocks noChangeArrowheads="1"/>
            </p:cNvSpPr>
            <p:nvPr/>
          </p:nvSpPr>
          <p:spPr bwMode="auto">
            <a:xfrm>
              <a:off x="3641329"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2</a:t>
              </a:r>
            </a:p>
          </p:txBody>
        </p:sp>
        <p:sp>
          <p:nvSpPr>
            <p:cNvPr id="40" name="Text Box 64"/>
            <p:cNvSpPr txBox="1">
              <a:spLocks noChangeArrowheads="1"/>
            </p:cNvSpPr>
            <p:nvPr/>
          </p:nvSpPr>
          <p:spPr bwMode="auto">
            <a:xfrm>
              <a:off x="4254178" y="5067770"/>
              <a:ext cx="1525072"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2</a:t>
              </a:r>
            </a:p>
          </p:txBody>
        </p:sp>
      </p:grpSp>
      <p:grpSp>
        <p:nvGrpSpPr>
          <p:cNvPr id="41" name="组合 40"/>
          <p:cNvGrpSpPr/>
          <p:nvPr/>
        </p:nvGrpSpPr>
        <p:grpSpPr>
          <a:xfrm>
            <a:off x="5834448" y="1797916"/>
            <a:ext cx="2024564" cy="2450863"/>
            <a:chOff x="6897216" y="2380134"/>
            <a:chExt cx="2895574" cy="3505278"/>
          </a:xfrm>
        </p:grpSpPr>
        <p:sp>
          <p:nvSpPr>
            <p:cNvPr id="42" name="Text Box 18"/>
            <p:cNvSpPr txBox="1">
              <a:spLocks noChangeArrowheads="1"/>
            </p:cNvSpPr>
            <p:nvPr/>
          </p:nvSpPr>
          <p:spPr bwMode="auto">
            <a:xfrm>
              <a:off x="6897216"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2800/8 = 350</a:t>
              </a:r>
            </a:p>
          </p:txBody>
        </p:sp>
        <p:sp>
          <p:nvSpPr>
            <p:cNvPr id="43" name="Line 24"/>
            <p:cNvSpPr>
              <a:spLocks noChangeShapeType="1"/>
            </p:cNvSpPr>
            <p:nvPr/>
          </p:nvSpPr>
          <p:spPr bwMode="auto">
            <a:xfrm flipV="1">
              <a:off x="8126545"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25"/>
            <p:cNvSpPr>
              <a:spLocks noChangeShapeType="1"/>
            </p:cNvSpPr>
            <p:nvPr/>
          </p:nvSpPr>
          <p:spPr bwMode="auto">
            <a:xfrm flipV="1">
              <a:off x="9380273"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Text Box 27"/>
            <p:cNvSpPr txBox="1">
              <a:spLocks noChangeArrowheads="1"/>
            </p:cNvSpPr>
            <p:nvPr/>
          </p:nvSpPr>
          <p:spPr bwMode="auto">
            <a:xfrm>
              <a:off x="7657655" y="4647828"/>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2800</a:t>
              </a:r>
            </a:p>
          </p:txBody>
        </p:sp>
        <p:sp>
          <p:nvSpPr>
            <p:cNvPr id="46" name="Text Box 28"/>
            <p:cNvSpPr txBox="1">
              <a:spLocks noChangeArrowheads="1"/>
            </p:cNvSpPr>
            <p:nvPr/>
          </p:nvSpPr>
          <p:spPr bwMode="auto">
            <a:xfrm>
              <a:off x="8895905" y="4625602"/>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3799</a:t>
              </a:r>
            </a:p>
          </p:txBody>
        </p:sp>
        <p:sp>
          <p:nvSpPr>
            <p:cNvPr id="47" name="Rectangle 49"/>
            <p:cNvSpPr>
              <a:spLocks noChangeArrowheads="1"/>
            </p:cNvSpPr>
            <p:nvPr/>
          </p:nvSpPr>
          <p:spPr bwMode="auto">
            <a:xfrm>
              <a:off x="8047436" y="3869208"/>
              <a:ext cx="1427427"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50"/>
            <p:cNvSpPr>
              <a:spLocks noChangeShapeType="1"/>
            </p:cNvSpPr>
            <p:nvPr/>
          </p:nvSpPr>
          <p:spPr bwMode="auto">
            <a:xfrm>
              <a:off x="8238331"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51"/>
            <p:cNvSpPr>
              <a:spLocks noChangeShapeType="1"/>
            </p:cNvSpPr>
            <p:nvPr/>
          </p:nvSpPr>
          <p:spPr bwMode="auto">
            <a:xfrm>
              <a:off x="8429229"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Line 52"/>
            <p:cNvSpPr>
              <a:spLocks noChangeShapeType="1"/>
            </p:cNvSpPr>
            <p:nvPr/>
          </p:nvSpPr>
          <p:spPr bwMode="auto">
            <a:xfrm>
              <a:off x="862012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Line 53"/>
            <p:cNvSpPr>
              <a:spLocks noChangeShapeType="1"/>
            </p:cNvSpPr>
            <p:nvPr/>
          </p:nvSpPr>
          <p:spPr bwMode="auto">
            <a:xfrm>
              <a:off x="928568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Rectangle 54"/>
            <p:cNvSpPr>
              <a:spLocks noChangeArrowheads="1"/>
            </p:cNvSpPr>
            <p:nvPr/>
          </p:nvSpPr>
          <p:spPr bwMode="auto">
            <a:xfrm>
              <a:off x="7098110" y="3869208"/>
              <a:ext cx="94932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3" name="Line 55"/>
            <p:cNvSpPr>
              <a:spLocks noChangeShapeType="1"/>
            </p:cNvSpPr>
            <p:nvPr/>
          </p:nvSpPr>
          <p:spPr bwMode="auto">
            <a:xfrm flipH="1" flipV="1">
              <a:off x="8429229"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56"/>
            <p:cNvSpPr>
              <a:spLocks noChangeShapeType="1"/>
            </p:cNvSpPr>
            <p:nvPr/>
          </p:nvSpPr>
          <p:spPr bwMode="auto">
            <a:xfrm flipH="1" flipV="1">
              <a:off x="7001802"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61"/>
            <p:cNvSpPr txBox="1">
              <a:spLocks noChangeArrowheads="1"/>
            </p:cNvSpPr>
            <p:nvPr/>
          </p:nvSpPr>
          <p:spPr bwMode="auto">
            <a:xfrm>
              <a:off x="7065433"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3</a:t>
              </a:r>
            </a:p>
          </p:txBody>
        </p:sp>
        <p:sp>
          <p:nvSpPr>
            <p:cNvPr id="56" name="Text Box 65"/>
            <p:cNvSpPr txBox="1">
              <a:spLocks noChangeArrowheads="1"/>
            </p:cNvSpPr>
            <p:nvPr/>
          </p:nvSpPr>
          <p:spPr bwMode="auto">
            <a:xfrm>
              <a:off x="7450799" y="5067770"/>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3</a:t>
              </a:r>
            </a:p>
          </p:txBody>
        </p:sp>
      </p:grpSp>
      <p:grpSp>
        <p:nvGrpSpPr>
          <p:cNvPr id="57" name="组合 56"/>
          <p:cNvGrpSpPr/>
          <p:nvPr/>
        </p:nvGrpSpPr>
        <p:grpSpPr>
          <a:xfrm>
            <a:off x="1682184" y="1126924"/>
            <a:ext cx="6333437" cy="1184111"/>
            <a:chOff x="958554" y="1420467"/>
            <a:chExt cx="9058225" cy="1693542"/>
          </a:xfrm>
        </p:grpSpPr>
        <p:sp>
          <p:nvSpPr>
            <p:cNvPr id="58" name="Rectangle 4"/>
            <p:cNvSpPr>
              <a:spLocks noChangeArrowheads="1"/>
            </p:cNvSpPr>
            <p:nvPr/>
          </p:nvSpPr>
          <p:spPr bwMode="auto">
            <a:xfrm>
              <a:off x="3195902" y="1916583"/>
              <a:ext cx="5233327" cy="463550"/>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9" name="Rectangle 6"/>
            <p:cNvSpPr>
              <a:spLocks noChangeArrowheads="1"/>
            </p:cNvSpPr>
            <p:nvPr/>
          </p:nvSpPr>
          <p:spPr bwMode="auto">
            <a:xfrm>
              <a:off x="2244858" y="1916583"/>
              <a:ext cx="6184371" cy="463550"/>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28398" dir="1593903"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Line 7"/>
            <p:cNvSpPr>
              <a:spLocks noChangeShapeType="1"/>
            </p:cNvSpPr>
            <p:nvPr/>
          </p:nvSpPr>
          <p:spPr bwMode="auto">
            <a:xfrm>
              <a:off x="3386800"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8"/>
            <p:cNvSpPr>
              <a:spLocks noChangeShapeType="1"/>
            </p:cNvSpPr>
            <p:nvPr/>
          </p:nvSpPr>
          <p:spPr bwMode="auto">
            <a:xfrm>
              <a:off x="3577696"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9"/>
            <p:cNvSpPr>
              <a:spLocks noChangeShapeType="1"/>
            </p:cNvSpPr>
            <p:nvPr/>
          </p:nvSpPr>
          <p:spPr bwMode="auto">
            <a:xfrm>
              <a:off x="3768593"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Line 10"/>
            <p:cNvSpPr>
              <a:spLocks noChangeShapeType="1"/>
            </p:cNvSpPr>
            <p:nvPr/>
          </p:nvSpPr>
          <p:spPr bwMode="auto">
            <a:xfrm>
              <a:off x="8238331"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4" name="Text Box 16"/>
            <p:cNvSpPr txBox="1">
              <a:spLocks noChangeArrowheads="1"/>
            </p:cNvSpPr>
            <p:nvPr/>
          </p:nvSpPr>
          <p:spPr bwMode="auto">
            <a:xfrm>
              <a:off x="8455025" y="1810221"/>
              <a:ext cx="1561754" cy="717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0/8</a:t>
              </a:r>
            </a:p>
            <a:p>
              <a:pPr>
                <a:lnSpc>
                  <a:spcPct val="90000"/>
                </a:lnSpc>
              </a:pPr>
              <a:r>
                <a:rPr kumimoji="1" lang="en-US" altLang="zh-CN" sz="1400" b="1">
                  <a:solidFill>
                    <a:srgbClr val="0000CC"/>
                  </a:solidFill>
                  <a:latin typeface="微软雅黑" pitchFamily="34" charset="-122"/>
                  <a:ea typeface="微软雅黑" pitchFamily="34" charset="-122"/>
                </a:rPr>
                <a:t>= 0</a:t>
              </a:r>
            </a:p>
          </p:txBody>
        </p:sp>
        <p:sp>
          <p:nvSpPr>
            <p:cNvPr id="65" name="Line 19"/>
            <p:cNvSpPr>
              <a:spLocks noChangeShapeType="1"/>
            </p:cNvSpPr>
            <p:nvPr/>
          </p:nvSpPr>
          <p:spPr bwMode="auto">
            <a:xfrm flipV="1">
              <a:off x="831744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20"/>
            <p:cNvSpPr>
              <a:spLocks noChangeShapeType="1"/>
            </p:cNvSpPr>
            <p:nvPr/>
          </p:nvSpPr>
          <p:spPr bwMode="auto">
            <a:xfrm flipV="1">
              <a:off x="328705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Text Box 31"/>
            <p:cNvSpPr txBox="1">
              <a:spLocks noChangeArrowheads="1"/>
            </p:cNvSpPr>
            <p:nvPr/>
          </p:nvSpPr>
          <p:spPr bwMode="auto">
            <a:xfrm>
              <a:off x="7874448" y="263413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3799</a:t>
              </a:r>
            </a:p>
          </p:txBody>
        </p:sp>
        <p:sp>
          <p:nvSpPr>
            <p:cNvPr id="68" name="Text Box 32"/>
            <p:cNvSpPr txBox="1">
              <a:spLocks noChangeArrowheads="1"/>
            </p:cNvSpPr>
            <p:nvPr/>
          </p:nvSpPr>
          <p:spPr bwMode="auto">
            <a:xfrm>
              <a:off x="958554" y="1788988"/>
              <a:ext cx="1291221" cy="748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C00CC"/>
                  </a:solidFill>
                  <a:latin typeface="微软雅黑" pitchFamily="34" charset="-122"/>
                  <a:ea typeface="微软雅黑" pitchFamily="34" charset="-122"/>
                </a:rPr>
                <a:t>需分片的</a:t>
              </a:r>
            </a:p>
            <a:p>
              <a:pPr algn="ctr"/>
              <a:r>
                <a:rPr kumimoji="1" lang="zh-CN" altLang="en-US" sz="1400" b="1" dirty="0">
                  <a:solidFill>
                    <a:srgbClr val="CC00CC"/>
                  </a:solidFill>
                  <a:latin typeface="微软雅黑" pitchFamily="34" charset="-122"/>
                  <a:ea typeface="微软雅黑" pitchFamily="34" charset="-122"/>
                </a:rPr>
                <a:t>数据报</a:t>
              </a:r>
            </a:p>
          </p:txBody>
        </p:sp>
        <p:sp>
          <p:nvSpPr>
            <p:cNvPr id="69" name="Rectangle 76"/>
            <p:cNvSpPr>
              <a:spLocks noChangeArrowheads="1"/>
            </p:cNvSpPr>
            <p:nvPr/>
          </p:nvSpPr>
          <p:spPr bwMode="auto">
            <a:xfrm>
              <a:off x="2259192" y="1934045"/>
              <a:ext cx="925248" cy="446086"/>
            </a:xfrm>
            <a:prstGeom prst="rect">
              <a:avLst/>
            </a:prstGeom>
            <a:solidFill>
              <a:srgbClr val="0000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Text Box 34"/>
            <p:cNvSpPr txBox="1">
              <a:spLocks noChangeArrowheads="1"/>
            </p:cNvSpPr>
            <p:nvPr/>
          </p:nvSpPr>
          <p:spPr bwMode="auto">
            <a:xfrm>
              <a:off x="2344606" y="1948770"/>
              <a:ext cx="777668"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a:t>
              </a:r>
            </a:p>
          </p:txBody>
        </p:sp>
        <p:sp>
          <p:nvSpPr>
            <p:cNvPr id="71" name="Line 35"/>
            <p:cNvSpPr>
              <a:spLocks noChangeShapeType="1"/>
            </p:cNvSpPr>
            <p:nvPr/>
          </p:nvSpPr>
          <p:spPr bwMode="auto">
            <a:xfrm>
              <a:off x="31959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37"/>
            <p:cNvSpPr>
              <a:spLocks noChangeShapeType="1"/>
            </p:cNvSpPr>
            <p:nvPr/>
          </p:nvSpPr>
          <p:spPr bwMode="auto">
            <a:xfrm>
              <a:off x="509971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38"/>
            <p:cNvSpPr>
              <a:spLocks noChangeShapeType="1"/>
            </p:cNvSpPr>
            <p:nvPr/>
          </p:nvSpPr>
          <p:spPr bwMode="auto">
            <a:xfrm>
              <a:off x="70018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57"/>
            <p:cNvSpPr>
              <a:spLocks noChangeShapeType="1"/>
            </p:cNvSpPr>
            <p:nvPr/>
          </p:nvSpPr>
          <p:spPr bwMode="auto">
            <a:xfrm>
              <a:off x="3178704" y="1648280"/>
              <a:ext cx="523160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Text Box 58"/>
            <p:cNvSpPr txBox="1">
              <a:spLocks noChangeArrowheads="1"/>
            </p:cNvSpPr>
            <p:nvPr/>
          </p:nvSpPr>
          <p:spPr bwMode="auto">
            <a:xfrm>
              <a:off x="4150388" y="1420467"/>
              <a:ext cx="2845637" cy="44019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数据部分共 </a:t>
              </a:r>
              <a:r>
                <a:rPr kumimoji="1" lang="en-US" altLang="zh-CN" sz="1400" b="1" dirty="0">
                  <a:solidFill>
                    <a:srgbClr val="0000CC"/>
                  </a:solidFill>
                  <a:latin typeface="微软雅黑" pitchFamily="34" charset="-122"/>
                  <a:ea typeface="微软雅黑" pitchFamily="34" charset="-122"/>
                </a:rPr>
                <a:t>3800 </a:t>
              </a:r>
              <a:r>
                <a:rPr kumimoji="1" lang="zh-CN" altLang="en-US" sz="1400" b="1" dirty="0">
                  <a:solidFill>
                    <a:srgbClr val="0000CC"/>
                  </a:solidFill>
                  <a:latin typeface="微软雅黑" pitchFamily="34" charset="-122"/>
                  <a:ea typeface="微软雅黑" pitchFamily="34" charset="-122"/>
                </a:rPr>
                <a:t>字节</a:t>
              </a:r>
            </a:p>
          </p:txBody>
        </p:sp>
        <p:sp>
          <p:nvSpPr>
            <p:cNvPr id="76" name="Line 66"/>
            <p:cNvSpPr>
              <a:spLocks noChangeShapeType="1"/>
            </p:cNvSpPr>
            <p:nvPr/>
          </p:nvSpPr>
          <p:spPr bwMode="auto">
            <a:xfrm flipV="1">
              <a:off x="517710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7" name="Text Box 67"/>
            <p:cNvSpPr txBox="1">
              <a:spLocks noChangeArrowheads="1"/>
            </p:cNvSpPr>
            <p:nvPr/>
          </p:nvSpPr>
          <p:spPr bwMode="auto">
            <a:xfrm>
              <a:off x="473157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1400</a:t>
              </a:r>
            </a:p>
          </p:txBody>
        </p:sp>
        <p:sp>
          <p:nvSpPr>
            <p:cNvPr id="78" name="Line 68"/>
            <p:cNvSpPr>
              <a:spLocks noChangeShapeType="1"/>
            </p:cNvSpPr>
            <p:nvPr/>
          </p:nvSpPr>
          <p:spPr bwMode="auto">
            <a:xfrm flipV="1">
              <a:off x="708091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9" name="Text Box 69"/>
            <p:cNvSpPr txBox="1">
              <a:spLocks noChangeArrowheads="1"/>
            </p:cNvSpPr>
            <p:nvPr/>
          </p:nvSpPr>
          <p:spPr bwMode="auto">
            <a:xfrm>
              <a:off x="663791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2800</a:t>
              </a:r>
            </a:p>
          </p:txBody>
        </p:sp>
        <p:sp>
          <p:nvSpPr>
            <p:cNvPr id="80" name="Line 70"/>
            <p:cNvSpPr>
              <a:spLocks noChangeShapeType="1"/>
            </p:cNvSpPr>
            <p:nvPr/>
          </p:nvSpPr>
          <p:spPr bwMode="auto">
            <a:xfrm>
              <a:off x="7190979"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1"/>
            <p:cNvSpPr>
              <a:spLocks noChangeShapeType="1"/>
            </p:cNvSpPr>
            <p:nvPr/>
          </p:nvSpPr>
          <p:spPr bwMode="auto">
            <a:xfrm>
              <a:off x="5290608"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Text Box 72"/>
            <p:cNvSpPr txBox="1">
              <a:spLocks noChangeArrowheads="1"/>
            </p:cNvSpPr>
            <p:nvPr/>
          </p:nvSpPr>
          <p:spPr bwMode="auto">
            <a:xfrm>
              <a:off x="2779177" y="2673819"/>
              <a:ext cx="1011517"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字节 </a:t>
              </a:r>
              <a:r>
                <a:rPr kumimoji="1" lang="en-US" altLang="zh-CN" sz="1400" b="1">
                  <a:solidFill>
                    <a:srgbClr val="0000CC"/>
                  </a:solidFill>
                  <a:latin typeface="微软雅黑" pitchFamily="34" charset="-122"/>
                  <a:ea typeface="微软雅黑" pitchFamily="34" charset="-122"/>
                </a:rPr>
                <a:t>0</a:t>
              </a:r>
            </a:p>
          </p:txBody>
        </p:sp>
      </p:grpSp>
    </p:spTree>
    <p:extLst>
      <p:ext uri="{BB962C8B-B14F-4D97-AF65-F5344CB8AC3E}">
        <p14:creationId xmlns:p14="http://schemas.microsoft.com/office/powerpoint/2010/main" val="2203628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par>
                          <p:cTn id="7" fill="hold">
                            <p:stCondLst>
                              <p:cond delay="0"/>
                            </p:stCondLst>
                            <p:childTnLst>
                              <p:par>
                                <p:cTn id="8" presetID="22" presetClass="entr" presetSubtype="1" fill="hold"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up)">
                                      <p:cBhvr>
                                        <p:cTn id="10" dur="30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wipe(up)">
                                      <p:cBhvr>
                                        <p:cTn id="18" dur="30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childTnLst>
                          </p:cTn>
                        </p:par>
                        <p:par>
                          <p:cTn id="23" fill="hold">
                            <p:stCondLst>
                              <p:cond delay="0"/>
                            </p:stCondLst>
                            <p:childTnLst>
                              <p:par>
                                <p:cTn id="24" presetID="22" presetClass="entr" presetSubtype="1" fill="hold" nodeType="afterEffect">
                                  <p:stCondLst>
                                    <p:cond delay="0"/>
                                  </p:stCondLst>
                                  <p:childTnLst>
                                    <p:set>
                                      <p:cBhvr>
                                        <p:cTn id="25" dur="1" fill="hold">
                                          <p:stCondLst>
                                            <p:cond delay="0"/>
                                          </p:stCondLst>
                                        </p:cTn>
                                        <p:tgtEl>
                                          <p:spTgt spid="41"/>
                                        </p:tgtEl>
                                        <p:attrNameLst>
                                          <p:attrName>style.visibility</p:attrName>
                                        </p:attrNameLst>
                                      </p:cBhvr>
                                      <p:to>
                                        <p:strVal val="visible"/>
                                      </p:to>
                                    </p:set>
                                    <p:animEffect transition="in" filter="wipe(up)">
                                      <p:cBhvr>
                                        <p:cTn id="26" dur="30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24856"/>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83672"/>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7" name="矩形 6"/>
          <p:cNvSpPr/>
          <p:nvPr/>
        </p:nvSpPr>
        <p:spPr>
          <a:xfrm>
            <a:off x="2747622" y="1136776"/>
            <a:ext cx="3648756"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数据报首部中与分片有关的字段中的数值</a:t>
            </a:r>
          </a:p>
        </p:txBody>
      </p:sp>
      <p:graphicFrame>
        <p:nvGraphicFramePr>
          <p:cNvPr id="8" name="表格 7"/>
          <p:cNvGraphicFramePr>
            <a:graphicFrameLocks noGrp="1"/>
          </p:cNvGraphicFramePr>
          <p:nvPr>
            <p:extLst>
              <p:ext uri="{D42A27DB-BD31-4B8C-83A1-F6EECF244321}">
                <p14:modId xmlns:p14="http://schemas.microsoft.com/office/powerpoint/2010/main" val="3214580070"/>
              </p:ext>
            </p:extLst>
          </p:nvPr>
        </p:nvGraphicFramePr>
        <p:xfrm>
          <a:off x="545140" y="1510998"/>
          <a:ext cx="8053715" cy="1807405"/>
        </p:xfrm>
        <a:graphic>
          <a:graphicData uri="http://schemas.openxmlformats.org/drawingml/2006/table">
            <a:tbl>
              <a:tblPr>
                <a:tableStyleId>{5C22544A-7EE6-4342-B048-85BDC9FD1C3A}</a:tableStyleId>
              </a:tblPr>
              <a:tblGrid>
                <a:gridCol w="1698705">
                  <a:extLst>
                    <a:ext uri="{9D8B030D-6E8A-4147-A177-3AD203B41FA5}">
                      <a16:colId xmlns:a16="http://schemas.microsoft.com/office/drawing/2014/main" val="20000"/>
                    </a:ext>
                  </a:extLst>
                </a:gridCol>
                <a:gridCol w="1271002">
                  <a:extLst>
                    <a:ext uri="{9D8B030D-6E8A-4147-A177-3AD203B41FA5}">
                      <a16:colId xmlns:a16="http://schemas.microsoft.com/office/drawing/2014/main" val="20001"/>
                    </a:ext>
                  </a:extLst>
                </a:gridCol>
                <a:gridCol w="1271002">
                  <a:extLst>
                    <a:ext uri="{9D8B030D-6E8A-4147-A177-3AD203B41FA5}">
                      <a16:colId xmlns:a16="http://schemas.microsoft.com/office/drawing/2014/main" val="20002"/>
                    </a:ext>
                  </a:extLst>
                </a:gridCol>
                <a:gridCol w="1271002">
                  <a:extLst>
                    <a:ext uri="{9D8B030D-6E8A-4147-A177-3AD203B41FA5}">
                      <a16:colId xmlns:a16="http://schemas.microsoft.com/office/drawing/2014/main" val="20003"/>
                    </a:ext>
                  </a:extLst>
                </a:gridCol>
                <a:gridCol w="1271002">
                  <a:extLst>
                    <a:ext uri="{9D8B030D-6E8A-4147-A177-3AD203B41FA5}">
                      <a16:colId xmlns:a16="http://schemas.microsoft.com/office/drawing/2014/main" val="20004"/>
                    </a:ext>
                  </a:extLst>
                </a:gridCol>
                <a:gridCol w="1271002">
                  <a:extLst>
                    <a:ext uri="{9D8B030D-6E8A-4147-A177-3AD203B41FA5}">
                      <a16:colId xmlns:a16="http://schemas.microsoft.com/office/drawing/2014/main" val="20005"/>
                    </a:ext>
                  </a:extLst>
                </a:gridCol>
              </a:tblGrid>
              <a:tr h="361481">
                <a:tc>
                  <a:txBody>
                    <a:bodyPr/>
                    <a:lstStyle/>
                    <a:p>
                      <a:pPr algn="just">
                        <a:lnSpc>
                          <a:spcPct val="100000"/>
                        </a:lnSpc>
                        <a:spcAft>
                          <a:spcPts val="0"/>
                        </a:spcAft>
                      </a:pPr>
                      <a:r>
                        <a:rPr lang="en-US" sz="1400" b="1" dirty="0">
                          <a:solidFill>
                            <a:schemeClr val="bg1"/>
                          </a:solidFill>
                          <a:effectLst/>
                          <a:latin typeface="微软雅黑" pitchFamily="34" charset="-122"/>
                          <a:ea typeface="微软雅黑" pitchFamily="34" charset="-122"/>
                        </a:rPr>
                        <a:t> </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总长度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标识</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MF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DF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片偏移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原始数据报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tabLst>
                          <a:tab pos="2637155" algn="ctr"/>
                          <a:tab pos="5274310" algn="r"/>
                          <a:tab pos="266700" algn="l"/>
                        </a:tabLst>
                      </a:pPr>
                      <a:r>
                        <a:rPr lang="en-US" sz="1400" b="1" dirty="0">
                          <a:solidFill>
                            <a:schemeClr val="tx1"/>
                          </a:solidFill>
                          <a:effectLst/>
                          <a:latin typeface="微软雅黑" pitchFamily="34" charset="-122"/>
                          <a:ea typeface="微软雅黑" pitchFamily="34" charset="-122"/>
                        </a:rPr>
                        <a:t>3820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175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kern="1200" dirty="0">
                          <a:solidFill>
                            <a:schemeClr val="tx1"/>
                          </a:solidFill>
                          <a:effectLst/>
                          <a:latin typeface="微软雅黑" pitchFamily="34" charset="-122"/>
                          <a:ea typeface="微软雅黑" pitchFamily="34" charset="-122"/>
                          <a:cs typeface="+mn-cs"/>
                        </a:rPr>
                        <a:t>1020</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350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214370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487334" y="3469278"/>
            <a:ext cx="4868129"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生存时间</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位，记为 </a:t>
            </a:r>
            <a:r>
              <a:rPr lang="en-US" altLang="zh-CN" sz="1600" b="1" dirty="0">
                <a:solidFill>
                  <a:schemeClr val="bg1"/>
                </a:solidFill>
                <a:latin typeface="微软雅黑" pitchFamily="34" charset="-122"/>
                <a:ea typeface="微软雅黑" pitchFamily="34" charset="-122"/>
              </a:rPr>
              <a:t>TTL (Time To Live)</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指示数据报在网络中可通过的路由器数的最大值。</a:t>
            </a:r>
          </a:p>
        </p:txBody>
      </p:sp>
      <p:sp>
        <p:nvSpPr>
          <p:cNvPr id="62" name="Rectangle 92"/>
          <p:cNvSpPr>
            <a:spLocks noChangeArrowheads="1"/>
          </p:cNvSpPr>
          <p:nvPr/>
        </p:nvSpPr>
        <p:spPr bwMode="auto">
          <a:xfrm flipV="1">
            <a:off x="2453697" y="1855635"/>
            <a:ext cx="1276061"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66A4BED-617A-96CD-BA97-15DA649C3CA7}"/>
              </a:ext>
            </a:extLst>
          </p:cNvPr>
          <p:cNvSpPr>
            <a:spLocks noGrp="1"/>
          </p:cNvSpPr>
          <p:nvPr>
            <p:ph type="title"/>
          </p:nvPr>
        </p:nvSpPr>
        <p:spPr>
          <a:xfrm>
            <a:off x="486000" y="550723"/>
            <a:ext cx="8172000" cy="338554"/>
          </a:xfrm>
        </p:spPr>
        <p:txBody>
          <a:bodyPr/>
          <a:lstStyle/>
          <a:p>
            <a:r>
              <a:rPr lang="zh-CN" altLang="en-US" dirty="0"/>
              <a:t>协议 </a:t>
            </a:r>
            <a:r>
              <a:rPr lang="en-US" altLang="zh-CN" dirty="0"/>
              <a:t>Protocol</a:t>
            </a:r>
            <a:endParaRPr lang="zh-CN" altLang="en-US" dirty="0"/>
          </a:p>
        </p:txBody>
      </p:sp>
      <p:sp>
        <p:nvSpPr>
          <p:cNvPr id="5" name="内容占位符 4">
            <a:extLst>
              <a:ext uri="{FF2B5EF4-FFF2-40B4-BE49-F238E27FC236}">
                <a16:creationId xmlns:a16="http://schemas.microsoft.com/office/drawing/2014/main" id="{56882466-9C1E-9C07-C2EB-0BAF3E59B769}"/>
              </a:ext>
            </a:extLst>
          </p:cNvPr>
          <p:cNvSpPr>
            <a:spLocks noGrp="1"/>
          </p:cNvSpPr>
          <p:nvPr>
            <p:ph sz="quarter" idx="11"/>
          </p:nvPr>
        </p:nvSpPr>
        <p:spPr>
          <a:xfrm>
            <a:off x="486000" y="900000"/>
            <a:ext cx="8172000" cy="3703500"/>
          </a:xfrm>
        </p:spPr>
        <p:txBody>
          <a:bodyPr/>
          <a:lstStyle/>
          <a:p>
            <a:r>
              <a:rPr lang="zh-CN" altLang="en-US" dirty="0"/>
              <a:t>协议</a:t>
            </a:r>
            <a:r>
              <a:rPr lang="en-US" altLang="zh-CN" dirty="0"/>
              <a:t>——</a:t>
            </a:r>
            <a:r>
              <a:rPr lang="zh-CN" altLang="en-US" dirty="0"/>
              <a:t>占 </a:t>
            </a:r>
            <a:r>
              <a:rPr lang="en-US" altLang="zh-CN" dirty="0"/>
              <a:t>8 </a:t>
            </a:r>
            <a:r>
              <a:rPr lang="zh-CN" altLang="en-US" dirty="0"/>
              <a:t>位，指出此数据报携带的数据使用何种协议，</a:t>
            </a:r>
          </a:p>
          <a:p>
            <a:r>
              <a:rPr lang="zh-CN" altLang="en-US" dirty="0"/>
              <a:t>以便目的主机的 </a:t>
            </a:r>
            <a:r>
              <a:rPr lang="en-US" altLang="zh-CN" dirty="0"/>
              <a:t>IP </a:t>
            </a:r>
            <a:r>
              <a:rPr lang="zh-CN" altLang="en-US" dirty="0"/>
              <a:t>层将数据部分上交给那个处理过程</a:t>
            </a:r>
          </a:p>
          <a:p>
            <a:endParaRPr lang="zh-CN" altLang="en-US" dirty="0"/>
          </a:p>
        </p:txBody>
      </p:sp>
      <p:sp>
        <p:nvSpPr>
          <p:cNvPr id="38" name="Rectangle 10"/>
          <p:cNvSpPr>
            <a:spLocks noChangeArrowheads="1"/>
          </p:cNvSpPr>
          <p:nvPr/>
        </p:nvSpPr>
        <p:spPr bwMode="auto">
          <a:xfrm>
            <a:off x="2279059" y="2026122"/>
            <a:ext cx="5008725" cy="1553902"/>
          </a:xfrm>
          <a:prstGeom prst="rect">
            <a:avLst/>
          </a:prstGeom>
          <a:solidFill>
            <a:schemeClr val="bg1"/>
          </a:solidFill>
          <a:ln w="25400">
            <a:solidFill>
              <a:schemeClr val="tx1"/>
            </a:solid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39" name="Rectangle 44"/>
          <p:cNvSpPr>
            <a:spLocks noChangeArrowheads="1"/>
          </p:cNvSpPr>
          <p:nvPr/>
        </p:nvSpPr>
        <p:spPr bwMode="auto">
          <a:xfrm>
            <a:off x="2831091" y="20320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首部长度</a:t>
            </a:r>
          </a:p>
        </p:txBody>
      </p:sp>
      <p:sp>
        <p:nvSpPr>
          <p:cNvPr id="40" name="Rectangle 45"/>
          <p:cNvSpPr>
            <a:spLocks noChangeArrowheads="1"/>
          </p:cNvSpPr>
          <p:nvPr/>
        </p:nvSpPr>
        <p:spPr bwMode="auto">
          <a:xfrm>
            <a:off x="1831906" y="22678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固</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定</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部</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分</a:t>
            </a:r>
          </a:p>
        </p:txBody>
      </p:sp>
      <p:sp>
        <p:nvSpPr>
          <p:cNvPr id="41" name="Rectangle 54"/>
          <p:cNvSpPr>
            <a:spLocks noChangeArrowheads="1"/>
          </p:cNvSpPr>
          <p:nvPr/>
        </p:nvSpPr>
        <p:spPr bwMode="auto">
          <a:xfrm>
            <a:off x="1758314" y="32412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可变</a:t>
            </a:r>
          </a:p>
          <a:p>
            <a:pPr defTabSz="762000" eaLnBrk="0" hangingPunct="0"/>
            <a:r>
              <a:rPr kumimoji="1" lang="zh-CN" altLang="en-US" sz="1200">
                <a:latin typeface="Montserrat" panose="00000500000000000000" pitchFamily="2" charset="0"/>
                <a:ea typeface="微软雅黑 Light" panose="020B0502040204020203" pitchFamily="34" charset="-122"/>
              </a:rPr>
              <a:t>部分</a:t>
            </a:r>
          </a:p>
        </p:txBody>
      </p:sp>
      <p:sp>
        <p:nvSpPr>
          <p:cNvPr id="42" name="Rectangle 11"/>
          <p:cNvSpPr>
            <a:spLocks noChangeArrowheads="1"/>
          </p:cNvSpPr>
          <p:nvPr/>
        </p:nvSpPr>
        <p:spPr bwMode="auto">
          <a:xfrm>
            <a:off x="2288159" y="3586557"/>
            <a:ext cx="4988504" cy="400375"/>
          </a:xfrm>
          <a:prstGeom prst="rect">
            <a:avLst/>
          </a:prstGeom>
          <a:solidFill>
            <a:schemeClr val="bg1"/>
          </a:solidFill>
          <a:ln w="28575">
            <a:solidFill>
              <a:schemeClr val="tx1"/>
            </a:solid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3" name="Line 12"/>
          <p:cNvSpPr>
            <a:spLocks noChangeShapeType="1"/>
          </p:cNvSpPr>
          <p:nvPr/>
        </p:nvSpPr>
        <p:spPr bwMode="auto">
          <a:xfrm>
            <a:off x="2276026" y="22911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4" name="Line 13"/>
          <p:cNvSpPr>
            <a:spLocks noChangeShapeType="1"/>
          </p:cNvSpPr>
          <p:nvPr/>
        </p:nvSpPr>
        <p:spPr bwMode="auto">
          <a:xfrm>
            <a:off x="2276026" y="25515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5" name="Line 14"/>
          <p:cNvSpPr>
            <a:spLocks noChangeShapeType="1"/>
          </p:cNvSpPr>
          <p:nvPr/>
        </p:nvSpPr>
        <p:spPr bwMode="auto">
          <a:xfrm>
            <a:off x="2276026" y="28128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6" name="Line 15"/>
          <p:cNvSpPr>
            <a:spLocks noChangeShapeType="1"/>
          </p:cNvSpPr>
          <p:nvPr/>
        </p:nvSpPr>
        <p:spPr bwMode="auto">
          <a:xfrm>
            <a:off x="2276026" y="3070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7" name="Line 16"/>
          <p:cNvSpPr>
            <a:spLocks noChangeShapeType="1"/>
          </p:cNvSpPr>
          <p:nvPr/>
        </p:nvSpPr>
        <p:spPr bwMode="auto">
          <a:xfrm>
            <a:off x="2276026" y="3331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8" name="Line 17"/>
          <p:cNvSpPr>
            <a:spLocks noChangeShapeType="1"/>
          </p:cNvSpPr>
          <p:nvPr/>
        </p:nvSpPr>
        <p:spPr bwMode="auto">
          <a:xfrm>
            <a:off x="2892765" y="20307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9" name="Line 18"/>
          <p:cNvSpPr>
            <a:spLocks noChangeShapeType="1"/>
          </p:cNvSpPr>
          <p:nvPr/>
        </p:nvSpPr>
        <p:spPr bwMode="auto">
          <a:xfrm>
            <a:off x="3563504" y="20307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0" name="Line 19"/>
          <p:cNvSpPr>
            <a:spLocks noChangeShapeType="1"/>
          </p:cNvSpPr>
          <p:nvPr/>
        </p:nvSpPr>
        <p:spPr bwMode="auto">
          <a:xfrm>
            <a:off x="3563504" y="25571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1" name="Line 20"/>
          <p:cNvSpPr>
            <a:spLocks noChangeShapeType="1"/>
          </p:cNvSpPr>
          <p:nvPr/>
        </p:nvSpPr>
        <p:spPr bwMode="auto">
          <a:xfrm>
            <a:off x="4776344" y="20307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2" name="Line 21"/>
          <p:cNvSpPr>
            <a:spLocks noChangeShapeType="1"/>
          </p:cNvSpPr>
          <p:nvPr/>
        </p:nvSpPr>
        <p:spPr bwMode="auto">
          <a:xfrm flipV="1">
            <a:off x="6032064" y="33289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3" name="Line 22"/>
          <p:cNvSpPr>
            <a:spLocks noChangeShapeType="1"/>
          </p:cNvSpPr>
          <p:nvPr/>
        </p:nvSpPr>
        <p:spPr bwMode="auto">
          <a:xfrm>
            <a:off x="5286923" y="22967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4" name="Rectangle 23"/>
          <p:cNvSpPr>
            <a:spLocks noChangeArrowheads="1"/>
          </p:cNvSpPr>
          <p:nvPr/>
        </p:nvSpPr>
        <p:spPr bwMode="auto">
          <a:xfrm>
            <a:off x="2242663" y="1803070"/>
            <a:ext cx="28533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0</a:t>
            </a:r>
          </a:p>
        </p:txBody>
      </p:sp>
      <p:sp>
        <p:nvSpPr>
          <p:cNvPr id="55" name="Rectangle 24"/>
          <p:cNvSpPr>
            <a:spLocks noChangeArrowheads="1"/>
          </p:cNvSpPr>
          <p:nvPr/>
        </p:nvSpPr>
        <p:spPr bwMode="auto">
          <a:xfrm>
            <a:off x="2838169" y="1803070"/>
            <a:ext cx="28373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4</a:t>
            </a:r>
          </a:p>
        </p:txBody>
      </p:sp>
      <p:sp>
        <p:nvSpPr>
          <p:cNvPr id="56" name="Rectangle 25"/>
          <p:cNvSpPr>
            <a:spLocks noChangeArrowheads="1"/>
          </p:cNvSpPr>
          <p:nvPr/>
        </p:nvSpPr>
        <p:spPr bwMode="auto">
          <a:xfrm>
            <a:off x="3472095" y="1803070"/>
            <a:ext cx="28052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8</a:t>
            </a:r>
          </a:p>
        </p:txBody>
      </p:sp>
      <p:sp>
        <p:nvSpPr>
          <p:cNvPr id="57" name="Rectangle 26"/>
          <p:cNvSpPr>
            <a:spLocks noChangeArrowheads="1"/>
          </p:cNvSpPr>
          <p:nvPr/>
        </p:nvSpPr>
        <p:spPr bwMode="auto">
          <a:xfrm>
            <a:off x="4714671" y="1803070"/>
            <a:ext cx="33182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16</a:t>
            </a:r>
          </a:p>
        </p:txBody>
      </p:sp>
      <p:sp>
        <p:nvSpPr>
          <p:cNvPr id="58" name="Rectangle 27"/>
          <p:cNvSpPr>
            <a:spLocks noChangeArrowheads="1"/>
          </p:cNvSpPr>
          <p:nvPr/>
        </p:nvSpPr>
        <p:spPr bwMode="auto">
          <a:xfrm>
            <a:off x="5222215" y="1803070"/>
            <a:ext cx="33182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19</a:t>
            </a:r>
          </a:p>
        </p:txBody>
      </p:sp>
      <p:sp>
        <p:nvSpPr>
          <p:cNvPr id="59" name="Rectangle 28"/>
          <p:cNvSpPr>
            <a:spLocks noChangeArrowheads="1"/>
          </p:cNvSpPr>
          <p:nvPr/>
        </p:nvSpPr>
        <p:spPr bwMode="auto">
          <a:xfrm>
            <a:off x="5970391" y="18030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24</a:t>
            </a:r>
          </a:p>
        </p:txBody>
      </p:sp>
      <p:sp>
        <p:nvSpPr>
          <p:cNvPr id="60" name="Rectangle 29"/>
          <p:cNvSpPr>
            <a:spLocks noChangeArrowheads="1"/>
          </p:cNvSpPr>
          <p:nvPr/>
        </p:nvSpPr>
        <p:spPr bwMode="auto">
          <a:xfrm>
            <a:off x="7061310" y="1803070"/>
            <a:ext cx="32701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31</a:t>
            </a:r>
          </a:p>
        </p:txBody>
      </p:sp>
      <p:sp>
        <p:nvSpPr>
          <p:cNvPr id="61" name="Rectangle 30"/>
          <p:cNvSpPr>
            <a:spLocks noChangeArrowheads="1"/>
          </p:cNvSpPr>
          <p:nvPr/>
        </p:nvSpPr>
        <p:spPr bwMode="auto">
          <a:xfrm>
            <a:off x="2337700" y="20320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版 本</a:t>
            </a:r>
          </a:p>
        </p:txBody>
      </p:sp>
      <p:sp>
        <p:nvSpPr>
          <p:cNvPr id="62" name="Rectangle 31"/>
          <p:cNvSpPr>
            <a:spLocks noChangeArrowheads="1"/>
          </p:cNvSpPr>
          <p:nvPr/>
        </p:nvSpPr>
        <p:spPr bwMode="auto">
          <a:xfrm>
            <a:off x="4813752" y="22973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标志</a:t>
            </a:r>
          </a:p>
        </p:txBody>
      </p:sp>
      <p:sp>
        <p:nvSpPr>
          <p:cNvPr id="63" name="Rectangle 32"/>
          <p:cNvSpPr>
            <a:spLocks noChangeArrowheads="1"/>
          </p:cNvSpPr>
          <p:nvPr/>
        </p:nvSpPr>
        <p:spPr bwMode="auto">
          <a:xfrm>
            <a:off x="2463071" y="25499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生 存 时 间</a:t>
            </a:r>
          </a:p>
        </p:txBody>
      </p:sp>
      <p:sp>
        <p:nvSpPr>
          <p:cNvPr id="64" name="Rectangle 33"/>
          <p:cNvSpPr>
            <a:spLocks noChangeArrowheads="1"/>
          </p:cNvSpPr>
          <p:nvPr/>
        </p:nvSpPr>
        <p:spPr bwMode="auto">
          <a:xfrm>
            <a:off x="3819894" y="25499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协    议</a:t>
            </a:r>
          </a:p>
        </p:txBody>
      </p:sp>
      <p:sp>
        <p:nvSpPr>
          <p:cNvPr id="65" name="Rectangle 34"/>
          <p:cNvSpPr>
            <a:spLocks noChangeArrowheads="1"/>
          </p:cNvSpPr>
          <p:nvPr/>
        </p:nvSpPr>
        <p:spPr bwMode="auto">
          <a:xfrm>
            <a:off x="3192035" y="22973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标    识</a:t>
            </a:r>
          </a:p>
        </p:txBody>
      </p:sp>
      <p:sp>
        <p:nvSpPr>
          <p:cNvPr id="66" name="Rectangle 35"/>
          <p:cNvSpPr>
            <a:spLocks noChangeArrowheads="1"/>
          </p:cNvSpPr>
          <p:nvPr/>
        </p:nvSpPr>
        <p:spPr bwMode="auto">
          <a:xfrm>
            <a:off x="3708679" y="20320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区 分 服 务</a:t>
            </a:r>
          </a:p>
        </p:txBody>
      </p:sp>
      <p:sp>
        <p:nvSpPr>
          <p:cNvPr id="67" name="Rectangle 36"/>
          <p:cNvSpPr>
            <a:spLocks noChangeArrowheads="1"/>
          </p:cNvSpPr>
          <p:nvPr/>
        </p:nvSpPr>
        <p:spPr bwMode="auto">
          <a:xfrm>
            <a:off x="5553131" y="2032024"/>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总   长   度</a:t>
            </a:r>
          </a:p>
        </p:txBody>
      </p:sp>
      <p:sp>
        <p:nvSpPr>
          <p:cNvPr id="68" name="Rectangle 37"/>
          <p:cNvSpPr>
            <a:spLocks noChangeArrowheads="1"/>
          </p:cNvSpPr>
          <p:nvPr/>
        </p:nvSpPr>
        <p:spPr bwMode="auto">
          <a:xfrm>
            <a:off x="5872320" y="2297377"/>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片   偏   移</a:t>
            </a:r>
          </a:p>
        </p:txBody>
      </p:sp>
      <p:sp>
        <p:nvSpPr>
          <p:cNvPr id="69" name="Rectangle 38"/>
          <p:cNvSpPr>
            <a:spLocks noChangeArrowheads="1"/>
          </p:cNvSpPr>
          <p:nvPr/>
        </p:nvSpPr>
        <p:spPr bwMode="auto">
          <a:xfrm>
            <a:off x="6333355" y="33165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填    充</a:t>
            </a:r>
          </a:p>
        </p:txBody>
      </p:sp>
      <p:sp>
        <p:nvSpPr>
          <p:cNvPr id="70" name="Rectangle 39"/>
          <p:cNvSpPr>
            <a:spLocks noChangeArrowheads="1"/>
          </p:cNvSpPr>
          <p:nvPr/>
        </p:nvSpPr>
        <p:spPr bwMode="auto">
          <a:xfrm>
            <a:off x="5329388" y="2549991"/>
            <a:ext cx="143308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首   部   检   验   和</a:t>
            </a:r>
          </a:p>
        </p:txBody>
      </p:sp>
      <p:sp>
        <p:nvSpPr>
          <p:cNvPr id="71" name="Rectangle 40"/>
          <p:cNvSpPr>
            <a:spLocks noChangeArrowheads="1"/>
          </p:cNvSpPr>
          <p:nvPr/>
        </p:nvSpPr>
        <p:spPr bwMode="auto">
          <a:xfrm>
            <a:off x="4367882" y="2812392"/>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源   地   址</a:t>
            </a:r>
          </a:p>
        </p:txBody>
      </p:sp>
      <p:sp>
        <p:nvSpPr>
          <p:cNvPr id="72" name="Rectangle 41"/>
          <p:cNvSpPr>
            <a:spLocks noChangeArrowheads="1"/>
          </p:cNvSpPr>
          <p:nvPr/>
        </p:nvSpPr>
        <p:spPr bwMode="auto">
          <a:xfrm>
            <a:off x="4205103" y="3071842"/>
            <a:ext cx="11589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目   的   地   址</a:t>
            </a:r>
          </a:p>
        </p:txBody>
      </p:sp>
      <p:sp>
        <p:nvSpPr>
          <p:cNvPr id="73" name="Rectangle 42"/>
          <p:cNvSpPr>
            <a:spLocks noChangeArrowheads="1"/>
          </p:cNvSpPr>
          <p:nvPr/>
        </p:nvSpPr>
        <p:spPr bwMode="auto">
          <a:xfrm>
            <a:off x="2974660" y="3316511"/>
            <a:ext cx="252312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可   选   字   段  （长   度   可   变）</a:t>
            </a:r>
          </a:p>
        </p:txBody>
      </p:sp>
      <p:grpSp>
        <p:nvGrpSpPr>
          <p:cNvPr id="75" name="Group 46"/>
          <p:cNvGrpSpPr>
            <a:grpSpLocks/>
          </p:cNvGrpSpPr>
          <p:nvPr/>
        </p:nvGrpSpPr>
        <p:grpSpPr bwMode="auto">
          <a:xfrm>
            <a:off x="2236595" y="3428834"/>
            <a:ext cx="83917" cy="41064"/>
            <a:chOff x="833" y="3024"/>
            <a:chExt cx="78" cy="51"/>
          </a:xfrm>
        </p:grpSpPr>
        <p:sp>
          <p:nvSpPr>
            <p:cNvPr id="85"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6"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7"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grpSp>
        <p:nvGrpSpPr>
          <p:cNvPr id="76" name="Group 50"/>
          <p:cNvGrpSpPr>
            <a:grpSpLocks/>
          </p:cNvGrpSpPr>
          <p:nvPr/>
        </p:nvGrpSpPr>
        <p:grpSpPr bwMode="auto">
          <a:xfrm>
            <a:off x="7247343" y="3434434"/>
            <a:ext cx="83917" cy="39198"/>
            <a:chOff x="5432" y="3030"/>
            <a:chExt cx="78" cy="51"/>
          </a:xfrm>
        </p:grpSpPr>
        <p:sp>
          <p:nvSpPr>
            <p:cNvPr id="82"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3"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4"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sp>
        <p:nvSpPr>
          <p:cNvPr id="77" name="Rectangle 75"/>
          <p:cNvSpPr>
            <a:spLocks noChangeArrowheads="1"/>
          </p:cNvSpPr>
          <p:nvPr/>
        </p:nvSpPr>
        <p:spPr bwMode="auto">
          <a:xfrm>
            <a:off x="3982674" y="36576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dirty="0">
                <a:latin typeface="Montserrat" panose="00000500000000000000" pitchFamily="2" charset="0"/>
                <a:ea typeface="微软雅黑 Light" panose="020B0502040204020203" pitchFamily="34" charset="-122"/>
              </a:rPr>
              <a:t>数   据   部   分</a:t>
            </a:r>
          </a:p>
        </p:txBody>
      </p:sp>
      <p:sp>
        <p:nvSpPr>
          <p:cNvPr id="78" name="AutoShape 97"/>
          <p:cNvSpPr>
            <a:spLocks/>
          </p:cNvSpPr>
          <p:nvPr/>
        </p:nvSpPr>
        <p:spPr bwMode="auto">
          <a:xfrm>
            <a:off x="2124247" y="20559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nvGrpSpPr>
          <p:cNvPr id="79" name="Group 94"/>
          <p:cNvGrpSpPr>
            <a:grpSpLocks/>
          </p:cNvGrpSpPr>
          <p:nvPr/>
        </p:nvGrpSpPr>
        <p:grpSpPr bwMode="auto">
          <a:xfrm>
            <a:off x="1470899" y="2013991"/>
            <a:ext cx="336679" cy="1566034"/>
            <a:chOff x="-127" y="845"/>
            <a:chExt cx="333" cy="1678"/>
          </a:xfrm>
        </p:grpSpPr>
        <p:sp>
          <p:nvSpPr>
            <p:cNvPr id="8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首</a:t>
              </a:r>
            </a:p>
            <a:p>
              <a:pPr defTabSz="762000" eaLnBrk="0" hangingPunct="0"/>
              <a:r>
                <a:rPr kumimoji="1" lang="zh-CN" altLang="en-US" sz="1200" dirty="0">
                  <a:latin typeface="Montserrat" panose="00000500000000000000" pitchFamily="2" charset="0"/>
                  <a:ea typeface="微软雅黑 Light" panose="020B0502040204020203" pitchFamily="34" charset="-122"/>
                </a:rPr>
                <a:t>部</a:t>
              </a:r>
            </a:p>
          </p:txBody>
        </p:sp>
      </p:grpSp>
    </p:spTree>
    <p:extLst>
      <p:ext uri="{BB962C8B-B14F-4D97-AF65-F5344CB8AC3E}">
        <p14:creationId xmlns:p14="http://schemas.microsoft.com/office/powerpoint/2010/main" val="19615528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2167869" y="63372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11" name="标题 10">
            <a:extLst>
              <a:ext uri="{FF2B5EF4-FFF2-40B4-BE49-F238E27FC236}">
                <a16:creationId xmlns:a16="http://schemas.microsoft.com/office/drawing/2014/main" id="{ACC866A3-F04E-C53F-06F2-C0FBF814CD03}"/>
              </a:ext>
            </a:extLst>
          </p:cNvPr>
          <p:cNvSpPr>
            <a:spLocks noGrp="1"/>
          </p:cNvSpPr>
          <p:nvPr>
            <p:ph type="title"/>
          </p:nvPr>
        </p:nvSpPr>
        <p:spPr>
          <a:xfrm>
            <a:off x="486000" y="550723"/>
            <a:ext cx="8172000" cy="338554"/>
          </a:xfrm>
        </p:spPr>
        <p:txBody>
          <a:bodyPr/>
          <a:lstStyle/>
          <a:p>
            <a:r>
              <a:rPr lang="zh-CN" altLang="en-US" dirty="0"/>
              <a:t>协议 </a:t>
            </a:r>
            <a:r>
              <a:rPr lang="en-US" altLang="zh-CN" dirty="0"/>
              <a:t>Protocol</a:t>
            </a:r>
            <a:endParaRPr lang="zh-CN" altLang="en-US" dirty="0"/>
          </a:p>
        </p:txBody>
      </p:sp>
      <p:sp>
        <p:nvSpPr>
          <p:cNvPr id="5" name="内容占位符 4">
            <a:extLst>
              <a:ext uri="{FF2B5EF4-FFF2-40B4-BE49-F238E27FC236}">
                <a16:creationId xmlns:a16="http://schemas.microsoft.com/office/drawing/2014/main" id="{E4240A4D-B816-04E2-C425-05BFDA2AC24E}"/>
              </a:ext>
            </a:extLst>
          </p:cNvPr>
          <p:cNvSpPr>
            <a:spLocks noGrp="1"/>
          </p:cNvSpPr>
          <p:nvPr>
            <p:ph sz="quarter" idx="11"/>
          </p:nvPr>
        </p:nvSpPr>
        <p:spPr>
          <a:xfrm>
            <a:off x="486000" y="900000"/>
            <a:ext cx="8172000" cy="3703500"/>
          </a:xfrm>
        </p:spPr>
        <p:txBody>
          <a:bodyPr/>
          <a:lstStyle/>
          <a:p>
            <a:r>
              <a:rPr lang="en-US" altLang="zh-CN" dirty="0"/>
              <a:t>IP </a:t>
            </a:r>
            <a:r>
              <a:rPr lang="zh-CN" altLang="en-US" dirty="0"/>
              <a:t>协议支持多种协议，</a:t>
            </a:r>
            <a:r>
              <a:rPr lang="en-US" altLang="zh-CN" dirty="0"/>
              <a:t>IP </a:t>
            </a:r>
            <a:r>
              <a:rPr lang="zh-CN" altLang="en-US" dirty="0"/>
              <a:t>数据报可以封装多种协议 </a:t>
            </a:r>
            <a:r>
              <a:rPr lang="en-US" altLang="zh-CN" dirty="0"/>
              <a:t>PDU</a:t>
            </a:r>
          </a:p>
          <a:p>
            <a:r>
              <a:rPr lang="zh-CN" altLang="en-US" dirty="0"/>
              <a:t>协议字段指出应将数据</a:t>
            </a:r>
          </a:p>
          <a:p>
            <a:r>
              <a:rPr lang="zh-CN" altLang="en-US" dirty="0"/>
              <a:t>部分交给哪一个进程</a:t>
            </a:r>
          </a:p>
          <a:p>
            <a:endParaRPr lang="zh-CN" altLang="en-US" dirty="0"/>
          </a:p>
        </p:txBody>
      </p:sp>
      <p:sp>
        <p:nvSpPr>
          <p:cNvPr id="61" name="Rectangle 4"/>
          <p:cNvSpPr>
            <a:spLocks noChangeArrowheads="1"/>
          </p:cNvSpPr>
          <p:nvPr/>
        </p:nvSpPr>
        <p:spPr bwMode="auto">
          <a:xfrm>
            <a:off x="1773858" y="2736804"/>
            <a:ext cx="5806747" cy="452216"/>
          </a:xfrm>
          <a:prstGeom prst="rect">
            <a:avLst/>
          </a:prstGeom>
          <a:solidFill>
            <a:schemeClr val="bg1"/>
          </a:solidFill>
          <a:ln w="6350">
            <a:solidFill>
              <a:schemeClr val="tx1"/>
            </a:solidFill>
            <a:prstDash val="lgDash"/>
            <a:miter lim="800000"/>
            <a:headEnd/>
            <a:tailEnd/>
          </a:ln>
          <a:effectLst/>
        </p:spPr>
        <p:txBody>
          <a:bodyPr wrap="none" anchor="ctr"/>
          <a:lstStyle/>
          <a:p>
            <a:r>
              <a:rPr kumimoji="1" lang="en-US" altLang="zh-CN" sz="1200" dirty="0">
                <a:latin typeface="Montserrat" panose="00000500000000000000" pitchFamily="2" charset="0"/>
                <a:ea typeface="微软雅黑 Light" panose="020B0502040204020203" pitchFamily="34" charset="-122"/>
              </a:rPr>
              <a:t>Transport layer</a:t>
            </a:r>
            <a:endParaRPr kumimoji="1" lang="zh-CN" altLang="en-US" sz="1200" dirty="0">
              <a:latin typeface="Montserrat" panose="00000500000000000000" pitchFamily="2" charset="0"/>
              <a:ea typeface="微软雅黑 Light" panose="020B0502040204020203" pitchFamily="34" charset="-122"/>
            </a:endParaRPr>
          </a:p>
        </p:txBody>
      </p:sp>
      <p:sp>
        <p:nvSpPr>
          <p:cNvPr id="62" name="Rectangle 5"/>
          <p:cNvSpPr>
            <a:spLocks noChangeArrowheads="1"/>
          </p:cNvSpPr>
          <p:nvPr/>
        </p:nvSpPr>
        <p:spPr bwMode="auto">
          <a:xfrm>
            <a:off x="1773858" y="3189021"/>
            <a:ext cx="5806747" cy="1266528"/>
          </a:xfrm>
          <a:prstGeom prst="rect">
            <a:avLst/>
          </a:prstGeom>
          <a:solidFill>
            <a:schemeClr val="bg1"/>
          </a:solidFill>
          <a:ln w="6350">
            <a:solidFill>
              <a:schemeClr val="tx1"/>
            </a:solidFill>
            <a:prstDash val="lgDash"/>
            <a:miter lim="800000"/>
            <a:headEnd/>
            <a:tailEnd/>
          </a:ln>
          <a:effectLst/>
        </p:spPr>
        <p:txBody>
          <a:bodyPr wrap="none" anchor="ctr"/>
          <a:lstStyle/>
          <a:p>
            <a:r>
              <a:rPr kumimoji="1" lang="en-US" altLang="zh-CN" sz="1200" dirty="0">
                <a:latin typeface="Montserrat" panose="00000500000000000000" pitchFamily="2" charset="0"/>
                <a:ea typeface="微软雅黑 Light" panose="020B0502040204020203" pitchFamily="34" charset="-122"/>
              </a:rPr>
              <a:t>Network layer</a:t>
            </a:r>
            <a:endParaRPr kumimoji="1" lang="zh-CN" altLang="en-US" sz="1200" dirty="0">
              <a:latin typeface="Montserrat" panose="00000500000000000000" pitchFamily="2" charset="0"/>
              <a:ea typeface="微软雅黑 Light" panose="020B0502040204020203" pitchFamily="34" charset="-122"/>
            </a:endParaRPr>
          </a:p>
        </p:txBody>
      </p:sp>
      <p:sp>
        <p:nvSpPr>
          <p:cNvPr id="63" name="Rectangle 11"/>
          <p:cNvSpPr>
            <a:spLocks noChangeArrowheads="1"/>
          </p:cNvSpPr>
          <p:nvPr/>
        </p:nvSpPr>
        <p:spPr bwMode="auto">
          <a:xfrm>
            <a:off x="3161201" y="3783524"/>
            <a:ext cx="3850543" cy="302268"/>
          </a:xfrm>
          <a:prstGeom prst="rect">
            <a:avLst/>
          </a:prstGeom>
          <a:solidFill>
            <a:schemeClr val="bg1"/>
          </a:solidFill>
          <a:ln w="6350">
            <a:solidFill>
              <a:schemeClr val="tx1"/>
            </a:solidFill>
            <a:miter lim="800000"/>
            <a:headEnd/>
            <a:tailEnd/>
          </a:ln>
          <a:effec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4" name="Rectangle 6"/>
          <p:cNvSpPr>
            <a:spLocks noChangeArrowheads="1"/>
          </p:cNvSpPr>
          <p:nvPr/>
        </p:nvSpPr>
        <p:spPr bwMode="auto">
          <a:xfrm>
            <a:off x="3199566" y="3790715"/>
            <a:ext cx="855488" cy="291137"/>
          </a:xfrm>
          <a:prstGeom prst="rect">
            <a:avLst/>
          </a:prstGeom>
          <a:solidFill>
            <a:schemeClr val="bg1"/>
          </a:solidFill>
          <a:ln>
            <a:noFill/>
          </a:ln>
          <a:effec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7" name="Line 9"/>
          <p:cNvSpPr>
            <a:spLocks noChangeShapeType="1"/>
          </p:cNvSpPr>
          <p:nvPr/>
        </p:nvSpPr>
        <p:spPr bwMode="auto">
          <a:xfrm>
            <a:off x="4023039" y="3783524"/>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8" name="Text Box 10"/>
          <p:cNvSpPr txBox="1">
            <a:spLocks noChangeArrowheads="1"/>
          </p:cNvSpPr>
          <p:nvPr/>
        </p:nvSpPr>
        <p:spPr bwMode="auto">
          <a:xfrm>
            <a:off x="3221239" y="3796159"/>
            <a:ext cx="7521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solidFill>
                  <a:sysClr val="windowText" lastClr="000000"/>
                </a:solidFill>
                <a:latin typeface="Montserrat" panose="00000500000000000000" pitchFamily="2" charset="0"/>
                <a:ea typeface="微软雅黑 Light" panose="020B0502040204020203" pitchFamily="34" charset="-122"/>
              </a:rPr>
              <a:t>Header</a:t>
            </a:r>
            <a:endParaRPr kumimoji="1"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69" name="Rectangle 13"/>
          <p:cNvSpPr>
            <a:spLocks noChangeArrowheads="1"/>
          </p:cNvSpPr>
          <p:nvPr/>
        </p:nvSpPr>
        <p:spPr bwMode="auto">
          <a:xfrm>
            <a:off x="4828347" y="2885768"/>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TCP</a:t>
            </a:r>
          </a:p>
        </p:txBody>
      </p:sp>
      <p:sp>
        <p:nvSpPr>
          <p:cNvPr id="71" name="Rectangle 15"/>
          <p:cNvSpPr>
            <a:spLocks noChangeArrowheads="1"/>
          </p:cNvSpPr>
          <p:nvPr/>
        </p:nvSpPr>
        <p:spPr bwMode="auto">
          <a:xfrm>
            <a:off x="5690185" y="2885768"/>
            <a:ext cx="690112" cy="216608"/>
          </a:xfrm>
          <a:prstGeom prst="rect">
            <a:avLst/>
          </a:prstGeom>
          <a:solidFill>
            <a:schemeClr val="tx1"/>
          </a:solidFill>
          <a:ln w="9525">
            <a:noFill/>
            <a:miter lim="800000"/>
            <a:headEnd/>
            <a:tailEnd/>
          </a:ln>
          <a:effectLst/>
        </p:spPr>
        <p:txBody>
          <a:bodyPr wrap="none" anchor="ctr"/>
          <a:lstStyle/>
          <a:p>
            <a:pPr algn="ctr"/>
            <a:r>
              <a:rPr kumimoji="1" lang="en-US" altLang="zh-CN" sz="1200">
                <a:solidFill>
                  <a:schemeClr val="bg1"/>
                </a:solidFill>
                <a:latin typeface="Montserrat" panose="00000500000000000000" pitchFamily="2" charset="0"/>
                <a:ea typeface="微软雅黑 Light" panose="020B0502040204020203" pitchFamily="34" charset="-122"/>
              </a:rPr>
              <a:t>UDP</a:t>
            </a:r>
            <a:endParaRPr kumimoji="1" lang="en-US" altLang="zh-CN" sz="1200" dirty="0">
              <a:solidFill>
                <a:schemeClr val="bg1"/>
              </a:solidFill>
              <a:latin typeface="Montserrat" panose="00000500000000000000" pitchFamily="2" charset="0"/>
              <a:ea typeface="微软雅黑 Light" panose="020B0502040204020203" pitchFamily="34" charset="-122"/>
            </a:endParaRPr>
          </a:p>
        </p:txBody>
      </p:sp>
      <p:sp>
        <p:nvSpPr>
          <p:cNvPr id="73" name="Rectangle 17"/>
          <p:cNvSpPr>
            <a:spLocks noChangeArrowheads="1"/>
          </p:cNvSpPr>
          <p:nvPr/>
        </p:nvSpPr>
        <p:spPr bwMode="auto">
          <a:xfrm>
            <a:off x="3390526" y="3269756"/>
            <a:ext cx="690112"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ICMP</a:t>
            </a:r>
          </a:p>
        </p:txBody>
      </p:sp>
      <p:sp>
        <p:nvSpPr>
          <p:cNvPr id="75" name="Rectangle 19"/>
          <p:cNvSpPr>
            <a:spLocks noChangeArrowheads="1"/>
          </p:cNvSpPr>
          <p:nvPr/>
        </p:nvSpPr>
        <p:spPr bwMode="auto">
          <a:xfrm>
            <a:off x="4195834" y="3269756"/>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IGMP</a:t>
            </a:r>
          </a:p>
        </p:txBody>
      </p:sp>
      <p:sp>
        <p:nvSpPr>
          <p:cNvPr id="77" name="Rectangle 21"/>
          <p:cNvSpPr>
            <a:spLocks noChangeArrowheads="1"/>
          </p:cNvSpPr>
          <p:nvPr/>
        </p:nvSpPr>
        <p:spPr bwMode="auto">
          <a:xfrm>
            <a:off x="6586157" y="3269756"/>
            <a:ext cx="689044" cy="216608"/>
          </a:xfrm>
          <a:prstGeom prst="rect">
            <a:avLst/>
          </a:prstGeom>
          <a:solidFill>
            <a:srgbClr val="00B2FD"/>
          </a:solidFill>
          <a:ln w="9525">
            <a:noFill/>
            <a:miter lim="800000"/>
            <a:headEnd/>
            <a:tailEnd/>
          </a:ln>
          <a:effectLst/>
        </p:spPr>
        <p:txBody>
          <a:bodyPr wrap="none" anchor="ctr"/>
          <a:lstStyle/>
          <a:p>
            <a:pPr algn="ctr"/>
            <a:r>
              <a:rPr kumimoji="1" lang="en-US" altLang="zh-CN" sz="1200">
                <a:solidFill>
                  <a:schemeClr val="bg1"/>
                </a:solidFill>
                <a:latin typeface="Montserrat" panose="00000500000000000000" pitchFamily="2" charset="0"/>
                <a:ea typeface="微软雅黑 Light" panose="020B0502040204020203" pitchFamily="34" charset="-122"/>
              </a:rPr>
              <a:t>OSPF</a:t>
            </a:r>
            <a:endParaRPr kumimoji="1" lang="en-US" altLang="zh-CN" sz="1200" dirty="0">
              <a:solidFill>
                <a:schemeClr val="bg1"/>
              </a:solidFill>
              <a:latin typeface="Montserrat" panose="00000500000000000000" pitchFamily="2" charset="0"/>
              <a:ea typeface="微软雅黑 Light" panose="020B0502040204020203" pitchFamily="34" charset="-122"/>
            </a:endParaRPr>
          </a:p>
        </p:txBody>
      </p:sp>
      <p:sp>
        <p:nvSpPr>
          <p:cNvPr id="84" name="Text Box 31"/>
          <p:cNvSpPr txBox="1">
            <a:spLocks noChangeArrowheads="1"/>
          </p:cNvSpPr>
          <p:nvPr/>
        </p:nvSpPr>
        <p:spPr bwMode="auto">
          <a:xfrm>
            <a:off x="4616632" y="3796159"/>
            <a:ext cx="55656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Data</a:t>
            </a:r>
            <a:endParaRPr kumimoji="1" lang="zh-CN" altLang="en-US" sz="1200" dirty="0">
              <a:latin typeface="Montserrat" panose="00000500000000000000" pitchFamily="2" charset="0"/>
              <a:ea typeface="微软雅黑 Light" panose="020B0502040204020203" pitchFamily="34" charset="-122"/>
            </a:endParaRPr>
          </a:p>
        </p:txBody>
      </p:sp>
      <p:sp>
        <p:nvSpPr>
          <p:cNvPr id="85" name="Line 32"/>
          <p:cNvSpPr>
            <a:spLocks noChangeShapeType="1"/>
          </p:cNvSpPr>
          <p:nvPr/>
        </p:nvSpPr>
        <p:spPr bwMode="auto">
          <a:xfrm>
            <a:off x="3161201" y="4274038"/>
            <a:ext cx="3850543" cy="0"/>
          </a:xfrm>
          <a:prstGeom prst="line">
            <a:avLst/>
          </a:prstGeom>
          <a:noFill/>
          <a:ln w="952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86" name="Text Box 33"/>
          <p:cNvSpPr txBox="1">
            <a:spLocks noChangeArrowheads="1"/>
          </p:cNvSpPr>
          <p:nvPr/>
        </p:nvSpPr>
        <p:spPr bwMode="auto">
          <a:xfrm>
            <a:off x="4654486" y="4135539"/>
            <a:ext cx="912429" cy="276999"/>
          </a:xfrm>
          <a:prstGeom prst="rect">
            <a:avLst/>
          </a:prstGeom>
          <a:solidFill>
            <a:schemeClr val="bg1"/>
          </a:solidFill>
          <a:ln>
            <a:noFill/>
          </a:ln>
          <a:effec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IP packet</a:t>
            </a:r>
            <a:endParaRPr kumimoji="1" lang="zh-CN" altLang="en-US" sz="1200" dirty="0">
              <a:latin typeface="Montserrat" panose="00000500000000000000" pitchFamily="2" charset="0"/>
              <a:ea typeface="微软雅黑 Light" panose="020B0502040204020203" pitchFamily="34" charset="-122"/>
            </a:endParaRPr>
          </a:p>
        </p:txBody>
      </p:sp>
      <p:cxnSp>
        <p:nvCxnSpPr>
          <p:cNvPr id="19" name="直接箭头连接符 18">
            <a:extLst>
              <a:ext uri="{FF2B5EF4-FFF2-40B4-BE49-F238E27FC236}">
                <a16:creationId xmlns:a16="http://schemas.microsoft.com/office/drawing/2014/main" id="{938454AE-3C7B-D92F-D831-BE9ABD8EB474}"/>
              </a:ext>
            </a:extLst>
          </p:cNvPr>
          <p:cNvCxnSpPr>
            <a:stCxn id="84" idx="0"/>
            <a:endCxn id="73" idx="2"/>
          </p:cNvCxnSpPr>
          <p:nvPr/>
        </p:nvCxnSpPr>
        <p:spPr>
          <a:xfrm flipH="1" flipV="1">
            <a:off x="3735582" y="3486364"/>
            <a:ext cx="1159332"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6822949D-0CE3-7E76-27A7-71385F2C0BE2}"/>
              </a:ext>
            </a:extLst>
          </p:cNvPr>
          <p:cNvCxnSpPr>
            <a:stCxn id="84" idx="0"/>
            <a:endCxn id="75" idx="2"/>
          </p:cNvCxnSpPr>
          <p:nvPr/>
        </p:nvCxnSpPr>
        <p:spPr>
          <a:xfrm flipH="1" flipV="1">
            <a:off x="4540356" y="3486364"/>
            <a:ext cx="354558"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EDF97EBE-2771-EA78-A083-64B2B5EEA036}"/>
              </a:ext>
            </a:extLst>
          </p:cNvPr>
          <p:cNvCxnSpPr>
            <a:cxnSpLocks/>
            <a:endCxn id="69" idx="2"/>
          </p:cNvCxnSpPr>
          <p:nvPr/>
        </p:nvCxnSpPr>
        <p:spPr>
          <a:xfrm flipV="1">
            <a:off x="4892249" y="3102376"/>
            <a:ext cx="280620" cy="6811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A363F632-B0C4-4BD5-D647-F3EADB015FD3}"/>
              </a:ext>
            </a:extLst>
          </p:cNvPr>
          <p:cNvCxnSpPr>
            <a:stCxn id="84" idx="0"/>
            <a:endCxn id="71" idx="2"/>
          </p:cNvCxnSpPr>
          <p:nvPr/>
        </p:nvCxnSpPr>
        <p:spPr>
          <a:xfrm flipV="1">
            <a:off x="4894914" y="3102376"/>
            <a:ext cx="1140327" cy="693783"/>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E39D7145-1647-2E9C-1615-3A4B9DEE0E93}"/>
              </a:ext>
            </a:extLst>
          </p:cNvPr>
          <p:cNvCxnSpPr>
            <a:stCxn id="84" idx="0"/>
            <a:endCxn id="77" idx="2"/>
          </p:cNvCxnSpPr>
          <p:nvPr/>
        </p:nvCxnSpPr>
        <p:spPr>
          <a:xfrm flipV="1">
            <a:off x="4894914" y="3486364"/>
            <a:ext cx="2035765" cy="3097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2" name="Rectangle 4">
            <a:extLst>
              <a:ext uri="{FF2B5EF4-FFF2-40B4-BE49-F238E27FC236}">
                <a16:creationId xmlns:a16="http://schemas.microsoft.com/office/drawing/2014/main" id="{320F1867-4216-F9A6-8083-AEC06E3D4A22}"/>
              </a:ext>
            </a:extLst>
          </p:cNvPr>
          <p:cNvSpPr>
            <a:spLocks noChangeArrowheads="1"/>
          </p:cNvSpPr>
          <p:nvPr/>
        </p:nvSpPr>
        <p:spPr bwMode="auto">
          <a:xfrm>
            <a:off x="1773858" y="2280648"/>
            <a:ext cx="5806747" cy="452216"/>
          </a:xfrm>
          <a:prstGeom prst="rect">
            <a:avLst/>
          </a:prstGeom>
          <a:solidFill>
            <a:schemeClr val="bg1"/>
          </a:solidFill>
          <a:ln w="6350">
            <a:solidFill>
              <a:schemeClr val="tx1"/>
            </a:solidFill>
            <a:prstDash val="lgDash"/>
            <a:miter lim="800000"/>
            <a:headEnd/>
            <a:tailEnd/>
          </a:ln>
          <a:effectLst/>
        </p:spPr>
        <p:txBody>
          <a:bodyPr wrap="none" anchor="ctr"/>
          <a:lstStyle/>
          <a:p>
            <a:r>
              <a:rPr kumimoji="1" lang="en-US" altLang="zh-CN" sz="1200" dirty="0">
                <a:latin typeface="Montserrat" panose="00000500000000000000" pitchFamily="2" charset="0"/>
                <a:ea typeface="微软雅黑 Light" panose="020B0502040204020203" pitchFamily="34" charset="-122"/>
              </a:rPr>
              <a:t>Application layer</a:t>
            </a:r>
            <a:endParaRPr kumimoji="1" lang="zh-CN" altLang="en-US" sz="1200" dirty="0">
              <a:latin typeface="Montserrat" panose="00000500000000000000" pitchFamily="2" charset="0"/>
              <a:ea typeface="微软雅黑 Light" panose="020B0502040204020203" pitchFamily="34" charset="-122"/>
            </a:endParaRPr>
          </a:p>
        </p:txBody>
      </p:sp>
      <p:sp>
        <p:nvSpPr>
          <p:cNvPr id="3" name="Rectangle 13">
            <a:extLst>
              <a:ext uri="{FF2B5EF4-FFF2-40B4-BE49-F238E27FC236}">
                <a16:creationId xmlns:a16="http://schemas.microsoft.com/office/drawing/2014/main" id="{06DA3490-E6E7-1A6C-5326-9D5EA557DB09}"/>
              </a:ext>
            </a:extLst>
          </p:cNvPr>
          <p:cNvSpPr>
            <a:spLocks noChangeArrowheads="1"/>
          </p:cNvSpPr>
          <p:nvPr/>
        </p:nvSpPr>
        <p:spPr bwMode="auto">
          <a:xfrm>
            <a:off x="5691253" y="2406531"/>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a:solidFill>
                  <a:schemeClr val="bg1"/>
                </a:solidFill>
                <a:latin typeface="Montserrat" panose="00000500000000000000" pitchFamily="2" charset="0"/>
                <a:ea typeface="微软雅黑 Light" panose="020B0502040204020203" pitchFamily="34" charset="-122"/>
              </a:rPr>
              <a:t>RIP</a:t>
            </a:r>
            <a:endParaRPr kumimoji="1" lang="en-US" altLang="zh-CN" sz="1200" dirty="0">
              <a:solidFill>
                <a:schemeClr val="bg1"/>
              </a:solidFill>
              <a:latin typeface="Montserrat" panose="00000500000000000000" pitchFamily="2" charset="0"/>
              <a:ea typeface="微软雅黑 Light" panose="020B0502040204020203" pitchFamily="34" charset="-122"/>
            </a:endParaRPr>
          </a:p>
        </p:txBody>
      </p:sp>
      <p:cxnSp>
        <p:nvCxnSpPr>
          <p:cNvPr id="8" name="直接箭头连接符 7">
            <a:extLst>
              <a:ext uri="{FF2B5EF4-FFF2-40B4-BE49-F238E27FC236}">
                <a16:creationId xmlns:a16="http://schemas.microsoft.com/office/drawing/2014/main" id="{39CD83D3-D511-82D5-6C18-FACE0C6DBE1F}"/>
              </a:ext>
            </a:extLst>
          </p:cNvPr>
          <p:cNvCxnSpPr>
            <a:cxnSpLocks/>
            <a:stCxn id="71" idx="0"/>
            <a:endCxn id="3" idx="2"/>
          </p:cNvCxnSpPr>
          <p:nvPr/>
        </p:nvCxnSpPr>
        <p:spPr>
          <a:xfrm flipV="1">
            <a:off x="6035241" y="2623139"/>
            <a:ext cx="534" cy="26262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15">
            <a:extLst>
              <a:ext uri="{FF2B5EF4-FFF2-40B4-BE49-F238E27FC236}">
                <a16:creationId xmlns:a16="http://schemas.microsoft.com/office/drawing/2014/main" id="{FB3E2355-89EB-38BA-FC6A-A4B76B25D91A}"/>
              </a:ext>
            </a:extLst>
          </p:cNvPr>
          <p:cNvSpPr>
            <a:spLocks noChangeArrowheads="1"/>
          </p:cNvSpPr>
          <p:nvPr/>
        </p:nvSpPr>
        <p:spPr bwMode="auto">
          <a:xfrm>
            <a:off x="6467615" y="3564128"/>
            <a:ext cx="690112" cy="216608"/>
          </a:xfrm>
          <a:prstGeom prst="rect">
            <a:avLst/>
          </a:prstGeom>
          <a:noFill/>
          <a:ln w="9525">
            <a:noFill/>
            <a:miter lim="800000"/>
            <a:headEnd/>
            <a:tailEnd/>
          </a:ln>
          <a:effectLst/>
        </p:spPr>
        <p:txBody>
          <a:bodyPr wrap="none" anchor="ctr"/>
          <a:lstStyle/>
          <a:p>
            <a:pPr algn="ctr"/>
            <a:r>
              <a:rPr kumimoji="1" lang="en-US" altLang="zh-CN" sz="1200" dirty="0">
                <a:solidFill>
                  <a:sysClr val="windowText" lastClr="000000"/>
                </a:solidFill>
                <a:latin typeface="Montserrat" panose="00000500000000000000" pitchFamily="2" charset="0"/>
                <a:ea typeface="微软雅黑 Light" panose="020B0502040204020203" pitchFamily="34" charset="-122"/>
              </a:rPr>
              <a:t>89</a:t>
            </a:r>
          </a:p>
        </p:txBody>
      </p:sp>
    </p:spTree>
    <p:extLst>
      <p:ext uri="{BB962C8B-B14F-4D97-AF65-F5344CB8AC3E}">
        <p14:creationId xmlns:p14="http://schemas.microsoft.com/office/powerpoint/2010/main" val="28385053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表格 7"/>
          <p:cNvGraphicFramePr>
            <a:graphicFrameLocks noGrp="1"/>
          </p:cNvGraphicFramePr>
          <p:nvPr>
            <p:extLst>
              <p:ext uri="{D42A27DB-BD31-4B8C-83A1-F6EECF244321}">
                <p14:modId xmlns:p14="http://schemas.microsoft.com/office/powerpoint/2010/main" val="2777011087"/>
              </p:ext>
            </p:extLst>
          </p:nvPr>
        </p:nvGraphicFramePr>
        <p:xfrm>
          <a:off x="569628" y="1375850"/>
          <a:ext cx="8036107" cy="1996940"/>
        </p:xfrm>
        <a:graphic>
          <a:graphicData uri="http://schemas.openxmlformats.org/drawingml/2006/table">
            <a:tbl>
              <a:tblPr firstRow="1" firstCol="1">
                <a:tableStyleId>{00A15C55-8517-42AA-B614-E9B94910E393}</a:tableStyleId>
              </a:tblPr>
              <a:tblGrid>
                <a:gridCol w="653583">
                  <a:extLst>
                    <a:ext uri="{9D8B030D-6E8A-4147-A177-3AD203B41FA5}">
                      <a16:colId xmlns:a16="http://schemas.microsoft.com/office/drawing/2014/main" val="492773900"/>
                    </a:ext>
                  </a:extLst>
                </a:gridCol>
                <a:gridCol w="665550">
                  <a:extLst>
                    <a:ext uri="{9D8B030D-6E8A-4147-A177-3AD203B41FA5}">
                      <a16:colId xmlns:a16="http://schemas.microsoft.com/office/drawing/2014/main" val="2915053018"/>
                    </a:ext>
                  </a:extLst>
                </a:gridCol>
                <a:gridCol w="641618">
                  <a:extLst>
                    <a:ext uri="{9D8B030D-6E8A-4147-A177-3AD203B41FA5}">
                      <a16:colId xmlns:a16="http://schemas.microsoft.com/office/drawing/2014/main" val="2611645043"/>
                    </a:ext>
                  </a:extLst>
                </a:gridCol>
                <a:gridCol w="511898">
                  <a:extLst>
                    <a:ext uri="{9D8B030D-6E8A-4147-A177-3AD203B41FA5}">
                      <a16:colId xmlns:a16="http://schemas.microsoft.com/office/drawing/2014/main" val="4082806152"/>
                    </a:ext>
                  </a:extLst>
                </a:gridCol>
                <a:gridCol w="618162">
                  <a:extLst>
                    <a:ext uri="{9D8B030D-6E8A-4147-A177-3AD203B41FA5}">
                      <a16:colId xmlns:a16="http://schemas.microsoft.com/office/drawing/2014/main" val="4075642411"/>
                    </a:ext>
                  </a:extLst>
                </a:gridCol>
                <a:gridCol w="618162">
                  <a:extLst>
                    <a:ext uri="{9D8B030D-6E8A-4147-A177-3AD203B41FA5}">
                      <a16:colId xmlns:a16="http://schemas.microsoft.com/office/drawing/2014/main" val="674548363"/>
                    </a:ext>
                  </a:extLst>
                </a:gridCol>
                <a:gridCol w="618162">
                  <a:extLst>
                    <a:ext uri="{9D8B030D-6E8A-4147-A177-3AD203B41FA5}">
                      <a16:colId xmlns:a16="http://schemas.microsoft.com/office/drawing/2014/main" val="2604799252"/>
                    </a:ext>
                  </a:extLst>
                </a:gridCol>
                <a:gridCol w="618162">
                  <a:extLst>
                    <a:ext uri="{9D8B030D-6E8A-4147-A177-3AD203B41FA5}">
                      <a16:colId xmlns:a16="http://schemas.microsoft.com/office/drawing/2014/main" val="3948079557"/>
                    </a:ext>
                  </a:extLst>
                </a:gridCol>
                <a:gridCol w="618162">
                  <a:extLst>
                    <a:ext uri="{9D8B030D-6E8A-4147-A177-3AD203B41FA5}">
                      <a16:colId xmlns:a16="http://schemas.microsoft.com/office/drawing/2014/main" val="3850063060"/>
                    </a:ext>
                  </a:extLst>
                </a:gridCol>
                <a:gridCol w="618162">
                  <a:extLst>
                    <a:ext uri="{9D8B030D-6E8A-4147-A177-3AD203B41FA5}">
                      <a16:colId xmlns:a16="http://schemas.microsoft.com/office/drawing/2014/main" val="479985350"/>
                    </a:ext>
                  </a:extLst>
                </a:gridCol>
                <a:gridCol w="618162">
                  <a:extLst>
                    <a:ext uri="{9D8B030D-6E8A-4147-A177-3AD203B41FA5}">
                      <a16:colId xmlns:a16="http://schemas.microsoft.com/office/drawing/2014/main" val="374653691"/>
                    </a:ext>
                  </a:extLst>
                </a:gridCol>
                <a:gridCol w="618162">
                  <a:extLst>
                    <a:ext uri="{9D8B030D-6E8A-4147-A177-3AD203B41FA5}">
                      <a16:colId xmlns:a16="http://schemas.microsoft.com/office/drawing/2014/main" val="3917342776"/>
                    </a:ext>
                  </a:extLst>
                </a:gridCol>
                <a:gridCol w="618162">
                  <a:extLst>
                    <a:ext uri="{9D8B030D-6E8A-4147-A177-3AD203B41FA5}">
                      <a16:colId xmlns:a16="http://schemas.microsoft.com/office/drawing/2014/main" val="2157057431"/>
                    </a:ext>
                  </a:extLst>
                </a:gridCol>
              </a:tblGrid>
              <a:tr h="901661">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协议名</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ICMP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TCP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UDP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ESP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AH</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ICMP-IPv6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OSPF</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743841133"/>
                  </a:ext>
                </a:extLst>
              </a:tr>
              <a:tr h="1095279">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协议字段值</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1</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6</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9</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17</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89</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54531033"/>
                  </a:ext>
                </a:extLst>
              </a:tr>
            </a:tbl>
          </a:graphicData>
        </a:graphic>
      </p:graphicFrame>
      <p:sp>
        <p:nvSpPr>
          <p:cNvPr id="12" name="矩形 11"/>
          <p:cNvSpPr/>
          <p:nvPr/>
        </p:nvSpPr>
        <p:spPr>
          <a:xfrm>
            <a:off x="2705621" y="1006518"/>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常用的一些协议和相应的协议字段值</a:t>
            </a:r>
          </a:p>
        </p:txBody>
      </p:sp>
    </p:spTree>
    <p:extLst>
      <p:ext uri="{BB962C8B-B14F-4D97-AF65-F5344CB8AC3E}">
        <p14:creationId xmlns:p14="http://schemas.microsoft.com/office/powerpoint/2010/main" val="20463005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1759732" y="3469278"/>
            <a:ext cx="632333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首部检验和</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位，只检验数据报的首部，</a:t>
            </a:r>
          </a:p>
          <a:p>
            <a:pPr algn="ctr"/>
            <a:r>
              <a:rPr lang="zh-CN" altLang="en-US" sz="1600" b="1" dirty="0">
                <a:solidFill>
                  <a:srgbClr val="FFFF00"/>
                </a:solidFill>
                <a:latin typeface="微软雅黑" pitchFamily="34" charset="-122"/>
                <a:ea typeface="微软雅黑" pitchFamily="34" charset="-122"/>
              </a:rPr>
              <a:t>不检验数据部分。</a:t>
            </a:r>
            <a:r>
              <a:rPr lang="zh-CN" altLang="en-US" sz="1600" b="1" dirty="0">
                <a:solidFill>
                  <a:schemeClr val="bg1"/>
                </a:solidFill>
                <a:latin typeface="微软雅黑" pitchFamily="34" charset="-122"/>
                <a:ea typeface="微软雅黑" pitchFamily="34" charset="-122"/>
              </a:rPr>
              <a:t>这里不采用 </a:t>
            </a:r>
            <a:r>
              <a:rPr lang="en-US" altLang="zh-CN" sz="1600" b="1" dirty="0">
                <a:solidFill>
                  <a:schemeClr val="bg1"/>
                </a:solidFill>
                <a:latin typeface="微软雅黑" pitchFamily="34" charset="-122"/>
                <a:ea typeface="微软雅黑" pitchFamily="34" charset="-122"/>
              </a:rPr>
              <a:t>CRC </a:t>
            </a:r>
            <a:r>
              <a:rPr lang="zh-CN" altLang="en-US" sz="1600" b="1" dirty="0">
                <a:solidFill>
                  <a:schemeClr val="bg1"/>
                </a:solidFill>
                <a:latin typeface="微软雅黑" pitchFamily="34" charset="-122"/>
                <a:ea typeface="微软雅黑" pitchFamily="34" charset="-122"/>
              </a:rPr>
              <a:t>检验码而采用简单的计算方法。 </a:t>
            </a:r>
          </a:p>
        </p:txBody>
      </p:sp>
      <p:sp>
        <p:nvSpPr>
          <p:cNvPr id="60" name="Rectangle 92"/>
          <p:cNvSpPr>
            <a:spLocks noChangeArrowheads="1"/>
          </p:cNvSpPr>
          <p:nvPr/>
        </p:nvSpPr>
        <p:spPr bwMode="auto">
          <a:xfrm flipV="1">
            <a:off x="4951192" y="1855633"/>
            <a:ext cx="2508912"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66"/>
          <p:cNvSpPr>
            <a:spLocks noChangeArrowheads="1"/>
          </p:cNvSpPr>
          <p:nvPr/>
        </p:nvSpPr>
        <p:spPr bwMode="auto">
          <a:xfrm>
            <a:off x="4102040" y="3457735"/>
            <a:ext cx="1136515" cy="520751"/>
          </a:xfrm>
          <a:prstGeom prst="rect">
            <a:avLst/>
          </a:prstGeom>
          <a:solidFill>
            <a:srgbClr val="00FF99"/>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Text Box 4"/>
          <p:cNvSpPr txBox="1">
            <a:spLocks noChangeArrowheads="1"/>
          </p:cNvSpPr>
          <p:nvPr/>
        </p:nvSpPr>
        <p:spPr bwMode="auto">
          <a:xfrm>
            <a:off x="2094129" y="769558"/>
            <a:ext cx="1491032" cy="307777"/>
          </a:xfrm>
          <a:prstGeom prst="rect">
            <a:avLst/>
          </a:prstGeom>
          <a:solidFill>
            <a:srgbClr val="0000FF"/>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发送端</a:t>
            </a:r>
          </a:p>
        </p:txBody>
      </p:sp>
      <p:sp>
        <p:nvSpPr>
          <p:cNvPr id="17" name="Text Box 5"/>
          <p:cNvSpPr txBox="1">
            <a:spLocks noChangeArrowheads="1"/>
          </p:cNvSpPr>
          <p:nvPr/>
        </p:nvSpPr>
        <p:spPr bwMode="auto">
          <a:xfrm>
            <a:off x="5682474" y="769558"/>
            <a:ext cx="1444791" cy="307777"/>
          </a:xfrm>
          <a:prstGeom prst="rect">
            <a:avLst/>
          </a:prstGeom>
          <a:solidFill>
            <a:srgbClr val="00B050"/>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接收端</a:t>
            </a:r>
          </a:p>
        </p:txBody>
      </p:sp>
      <p:sp>
        <p:nvSpPr>
          <p:cNvPr id="18" name="Rectangle 6"/>
          <p:cNvSpPr>
            <a:spLocks noChangeArrowheads="1"/>
          </p:cNvSpPr>
          <p:nvPr/>
        </p:nvSpPr>
        <p:spPr bwMode="auto">
          <a:xfrm>
            <a:off x="2707601" y="1142336"/>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19" name="Text Box 7"/>
          <p:cNvSpPr txBox="1">
            <a:spLocks noChangeArrowheads="1"/>
          </p:cNvSpPr>
          <p:nvPr/>
        </p:nvSpPr>
        <p:spPr bwMode="auto">
          <a:xfrm>
            <a:off x="2261626"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20" name="Rectangle 8"/>
          <p:cNvSpPr>
            <a:spLocks noChangeArrowheads="1"/>
          </p:cNvSpPr>
          <p:nvPr/>
        </p:nvSpPr>
        <p:spPr bwMode="auto">
          <a:xfrm>
            <a:off x="2707601" y="1391804"/>
            <a:ext cx="874479" cy="176429"/>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1" name="Text Box 9"/>
          <p:cNvSpPr txBox="1">
            <a:spLocks noChangeArrowheads="1"/>
          </p:cNvSpPr>
          <p:nvPr/>
        </p:nvSpPr>
        <p:spPr bwMode="auto">
          <a:xfrm>
            <a:off x="2261626"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22" name="Group 67"/>
          <p:cNvGrpSpPr>
            <a:grpSpLocks/>
          </p:cNvGrpSpPr>
          <p:nvPr/>
        </p:nvGrpSpPr>
        <p:grpSpPr bwMode="auto">
          <a:xfrm>
            <a:off x="2094129" y="1710515"/>
            <a:ext cx="1487950" cy="264644"/>
            <a:chOff x="295" y="1111"/>
            <a:chExt cx="1448" cy="279"/>
          </a:xfrm>
        </p:grpSpPr>
        <p:sp>
          <p:nvSpPr>
            <p:cNvPr id="23" name="Rectangle 10"/>
            <p:cNvSpPr>
              <a:spLocks noChangeArrowheads="1"/>
            </p:cNvSpPr>
            <p:nvPr/>
          </p:nvSpPr>
          <p:spPr bwMode="auto">
            <a:xfrm>
              <a:off x="892"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solidFill>
                    <a:schemeClr val="bg1"/>
                  </a:solidFill>
                  <a:latin typeface="微软雅黑" pitchFamily="34" charset="-122"/>
                  <a:ea typeface="微软雅黑" pitchFamily="34" charset="-122"/>
                </a:rPr>
                <a:t>置为全 </a:t>
              </a:r>
              <a:r>
                <a:rPr kumimoji="1" lang="en-US" altLang="zh-CN" sz="1200" b="1">
                  <a:solidFill>
                    <a:schemeClr val="bg1"/>
                  </a:solidFill>
                  <a:latin typeface="微软雅黑" pitchFamily="34" charset="-122"/>
                  <a:ea typeface="微软雅黑" pitchFamily="34" charset="-122"/>
                </a:rPr>
                <a:t>0</a:t>
              </a:r>
            </a:p>
          </p:txBody>
        </p:sp>
        <p:sp>
          <p:nvSpPr>
            <p:cNvPr id="24" name="Text Box 11"/>
            <p:cNvSpPr txBox="1">
              <a:spLocks noChangeArrowheads="1"/>
            </p:cNvSpPr>
            <p:nvPr/>
          </p:nvSpPr>
          <p:spPr bwMode="auto">
            <a:xfrm>
              <a:off x="295" y="1111"/>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25" name="Rectangle 12"/>
          <p:cNvSpPr>
            <a:spLocks noChangeArrowheads="1"/>
          </p:cNvSpPr>
          <p:nvPr/>
        </p:nvSpPr>
        <p:spPr bwMode="auto">
          <a:xfrm>
            <a:off x="2707601" y="2118389"/>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6" name="Text Box 13"/>
          <p:cNvSpPr txBox="1">
            <a:spLocks noChangeArrowheads="1"/>
          </p:cNvSpPr>
          <p:nvPr/>
        </p:nvSpPr>
        <p:spPr bwMode="auto">
          <a:xfrm>
            <a:off x="2261626"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27" name="Group 68"/>
          <p:cNvGrpSpPr>
            <a:grpSpLocks/>
          </p:cNvGrpSpPr>
          <p:nvPr/>
        </p:nvGrpSpPr>
        <p:grpSpPr bwMode="auto">
          <a:xfrm>
            <a:off x="1961570" y="2443740"/>
            <a:ext cx="1620510" cy="441073"/>
            <a:chOff x="166" y="1884"/>
            <a:chExt cx="1577" cy="465"/>
          </a:xfrm>
        </p:grpSpPr>
        <p:sp>
          <p:nvSpPr>
            <p:cNvPr id="28" name="Rectangle 14"/>
            <p:cNvSpPr>
              <a:spLocks noChangeArrowheads="1"/>
            </p:cNvSpPr>
            <p:nvPr/>
          </p:nvSpPr>
          <p:spPr bwMode="auto">
            <a:xfrm>
              <a:off x="892" y="2000"/>
              <a:ext cx="851" cy="188"/>
            </a:xfrm>
            <a:prstGeom prst="rect">
              <a:avLst/>
            </a:prstGeom>
            <a:solidFill>
              <a:srgbClr val="00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9" name="Text Box 15"/>
            <p:cNvSpPr txBox="1">
              <a:spLocks noChangeArrowheads="1"/>
            </p:cNvSpPr>
            <p:nvPr/>
          </p:nvSpPr>
          <p:spPr bwMode="auto">
            <a:xfrm>
              <a:off x="166" y="1884"/>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solidFill>
                    <a:srgbClr val="C00000"/>
                  </a:solidFill>
                  <a:latin typeface="微软雅黑" pitchFamily="34" charset="-122"/>
                  <a:ea typeface="微软雅黑" pitchFamily="34" charset="-122"/>
                </a:rPr>
                <a:t>反码算术</a:t>
              </a:r>
            </a:p>
            <a:p>
              <a:r>
                <a:rPr kumimoji="1" lang="zh-CN" altLang="en-US" sz="1100" b="1" dirty="0">
                  <a:solidFill>
                    <a:srgbClr val="C00000"/>
                  </a:solidFill>
                  <a:latin typeface="微软雅黑" pitchFamily="34" charset="-122"/>
                  <a:ea typeface="微软雅黑" pitchFamily="34" charset="-122"/>
                </a:rPr>
                <a:t>运算求和</a:t>
              </a:r>
            </a:p>
          </p:txBody>
        </p:sp>
      </p:grpSp>
      <p:sp>
        <p:nvSpPr>
          <p:cNvPr id="30" name="Text Box 19"/>
          <p:cNvSpPr txBox="1">
            <a:spLocks noChangeArrowheads="1"/>
          </p:cNvSpPr>
          <p:nvPr/>
        </p:nvSpPr>
        <p:spPr bwMode="auto">
          <a:xfrm>
            <a:off x="2936754"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1" name="Text Box 20"/>
          <p:cNvSpPr txBox="1">
            <a:spLocks noChangeArrowheads="1"/>
          </p:cNvSpPr>
          <p:nvPr/>
        </p:nvSpPr>
        <p:spPr bwMode="auto">
          <a:xfrm>
            <a:off x="2926478"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2" name="Line 21"/>
          <p:cNvSpPr>
            <a:spLocks noChangeShapeType="1"/>
          </p:cNvSpPr>
          <p:nvPr/>
        </p:nvSpPr>
        <p:spPr bwMode="auto">
          <a:xfrm>
            <a:off x="2151674" y="2377341"/>
            <a:ext cx="1749986"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33" name="Group 69"/>
          <p:cNvGrpSpPr>
            <a:grpSpLocks/>
          </p:cNvGrpSpPr>
          <p:nvPr/>
        </p:nvGrpSpPr>
        <p:grpSpPr bwMode="auto">
          <a:xfrm>
            <a:off x="2552437" y="2778579"/>
            <a:ext cx="671017" cy="314917"/>
            <a:chOff x="741" y="2237"/>
            <a:chExt cx="653" cy="332"/>
          </a:xfrm>
        </p:grpSpPr>
        <p:sp>
          <p:nvSpPr>
            <p:cNvPr id="34" name="AutoShape 18"/>
            <p:cNvSpPr>
              <a:spLocks noChangeArrowheads="1"/>
            </p:cNvSpPr>
            <p:nvPr/>
          </p:nvSpPr>
          <p:spPr bwMode="auto">
            <a:xfrm>
              <a:off x="1293" y="225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22"/>
            <p:cNvSpPr txBox="1">
              <a:spLocks noChangeArrowheads="1"/>
            </p:cNvSpPr>
            <p:nvPr/>
          </p:nvSpPr>
          <p:spPr bwMode="auto">
            <a:xfrm>
              <a:off x="741" y="2237"/>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36" name="AutoShape 23"/>
          <p:cNvSpPr>
            <a:spLocks/>
          </p:cNvSpPr>
          <p:nvPr/>
        </p:nvSpPr>
        <p:spPr bwMode="auto">
          <a:xfrm>
            <a:off x="2047888" y="1150874"/>
            <a:ext cx="103787" cy="1154379"/>
          </a:xfrm>
          <a:prstGeom prst="leftBrace">
            <a:avLst>
              <a:gd name="adj1" fmla="val 10041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Text Box 24"/>
          <p:cNvSpPr txBox="1">
            <a:spLocks noChangeArrowheads="1"/>
          </p:cNvSpPr>
          <p:nvPr/>
        </p:nvSpPr>
        <p:spPr bwMode="auto">
          <a:xfrm>
            <a:off x="1756486" y="1222280"/>
            <a:ext cx="323209" cy="96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a:t>
            </a:r>
          </a:p>
          <a:p>
            <a:r>
              <a:rPr kumimoji="1" lang="zh-CN" altLang="en-US" sz="1200" b="1" dirty="0">
                <a:latin typeface="微软雅黑" pitchFamily="34" charset="-122"/>
                <a:ea typeface="微软雅黑" pitchFamily="34" charset="-122"/>
              </a:rPr>
              <a:t>据</a:t>
            </a:r>
          </a:p>
          <a:p>
            <a:r>
              <a:rPr kumimoji="1" lang="zh-CN" altLang="en-US" sz="1200" b="1" dirty="0">
                <a:latin typeface="微软雅黑" pitchFamily="34" charset="-122"/>
                <a:ea typeface="微软雅黑" pitchFamily="34" charset="-122"/>
              </a:rPr>
              <a:t>报</a:t>
            </a:r>
          </a:p>
          <a:p>
            <a:r>
              <a:rPr kumimoji="1" lang="zh-CN" altLang="en-US" sz="1200" b="1" dirty="0">
                <a:latin typeface="微软雅黑" pitchFamily="34" charset="-122"/>
                <a:ea typeface="微软雅黑" pitchFamily="34" charset="-122"/>
              </a:rPr>
              <a:t>首</a:t>
            </a:r>
          </a:p>
          <a:p>
            <a:r>
              <a:rPr kumimoji="1" lang="zh-CN" altLang="en-US" sz="1200" b="1" dirty="0">
                <a:latin typeface="微软雅黑" pitchFamily="34" charset="-122"/>
                <a:ea typeface="微软雅黑" pitchFamily="34" charset="-122"/>
              </a:rPr>
              <a:t>部</a:t>
            </a:r>
          </a:p>
        </p:txBody>
      </p:sp>
      <p:sp>
        <p:nvSpPr>
          <p:cNvPr id="38" name="Rectangle 25"/>
          <p:cNvSpPr>
            <a:spLocks noChangeArrowheads="1"/>
          </p:cNvSpPr>
          <p:nvPr/>
        </p:nvSpPr>
        <p:spPr bwMode="auto">
          <a:xfrm>
            <a:off x="4107178" y="3007175"/>
            <a:ext cx="1131377" cy="443919"/>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39" name="Rectangle 26"/>
          <p:cNvSpPr>
            <a:spLocks noChangeArrowheads="1"/>
          </p:cNvSpPr>
          <p:nvPr/>
        </p:nvSpPr>
        <p:spPr bwMode="auto">
          <a:xfrm>
            <a:off x="4679546" y="3190245"/>
            <a:ext cx="553871" cy="80626"/>
          </a:xfrm>
          <a:prstGeom prst="rect">
            <a:avLst/>
          </a:prstGeom>
          <a:solidFill>
            <a:srgbClr val="CC00CC"/>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0" name="Text Box 27"/>
          <p:cNvSpPr txBox="1">
            <a:spLocks noChangeArrowheads="1"/>
          </p:cNvSpPr>
          <p:nvPr/>
        </p:nvSpPr>
        <p:spPr bwMode="auto">
          <a:xfrm>
            <a:off x="4234657" y="2716298"/>
            <a:ext cx="80679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41" name="Line 28"/>
          <p:cNvSpPr>
            <a:spLocks noChangeShapeType="1"/>
          </p:cNvSpPr>
          <p:nvPr/>
        </p:nvSpPr>
        <p:spPr bwMode="auto">
          <a:xfrm>
            <a:off x="4107178" y="3095390"/>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2" name="Line 29"/>
          <p:cNvSpPr>
            <a:spLocks noChangeShapeType="1"/>
          </p:cNvSpPr>
          <p:nvPr/>
        </p:nvSpPr>
        <p:spPr bwMode="auto">
          <a:xfrm>
            <a:off x="4107178" y="318550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3" name="Line 30"/>
          <p:cNvSpPr>
            <a:spLocks noChangeShapeType="1"/>
          </p:cNvSpPr>
          <p:nvPr/>
        </p:nvSpPr>
        <p:spPr bwMode="auto">
          <a:xfrm>
            <a:off x="4107178" y="3273716"/>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4" name="Line 31"/>
          <p:cNvSpPr>
            <a:spLocks noChangeShapeType="1"/>
          </p:cNvSpPr>
          <p:nvPr/>
        </p:nvSpPr>
        <p:spPr bwMode="auto">
          <a:xfrm>
            <a:off x="4107178" y="336193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5" name="Line 32"/>
          <p:cNvSpPr>
            <a:spLocks noChangeShapeType="1"/>
          </p:cNvSpPr>
          <p:nvPr/>
        </p:nvSpPr>
        <p:spPr bwMode="auto">
          <a:xfrm>
            <a:off x="4107178" y="3451094"/>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6" name="Line 33"/>
          <p:cNvSpPr>
            <a:spLocks noChangeShapeType="1"/>
          </p:cNvSpPr>
          <p:nvPr/>
        </p:nvSpPr>
        <p:spPr bwMode="auto">
          <a:xfrm>
            <a:off x="4673380" y="3007175"/>
            <a:ext cx="0" cy="26654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7" name="Line 34"/>
          <p:cNvSpPr>
            <a:spLocks noChangeShapeType="1"/>
          </p:cNvSpPr>
          <p:nvPr/>
        </p:nvSpPr>
        <p:spPr bwMode="auto">
          <a:xfrm>
            <a:off x="4415455" y="3185501"/>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8" name="Line 35"/>
          <p:cNvSpPr>
            <a:spLocks noChangeShapeType="1"/>
          </p:cNvSpPr>
          <p:nvPr/>
        </p:nvSpPr>
        <p:spPr bwMode="auto">
          <a:xfrm>
            <a:off x="4415455"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9" name="Line 36"/>
          <p:cNvSpPr>
            <a:spLocks noChangeShapeType="1"/>
          </p:cNvSpPr>
          <p:nvPr/>
        </p:nvSpPr>
        <p:spPr bwMode="auto">
          <a:xfrm>
            <a:off x="4262344"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0" name="Line 37"/>
          <p:cNvSpPr>
            <a:spLocks noChangeShapeType="1"/>
          </p:cNvSpPr>
          <p:nvPr/>
        </p:nvSpPr>
        <p:spPr bwMode="auto">
          <a:xfrm>
            <a:off x="4759698" y="3095390"/>
            <a:ext cx="0" cy="9011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38"/>
          <p:cNvSpPr>
            <a:spLocks noChangeShapeType="1"/>
          </p:cNvSpPr>
          <p:nvPr/>
        </p:nvSpPr>
        <p:spPr bwMode="auto">
          <a:xfrm>
            <a:off x="4930278" y="3361931"/>
            <a:ext cx="0" cy="891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52" name="Group 71"/>
          <p:cNvGrpSpPr>
            <a:grpSpLocks/>
          </p:cNvGrpSpPr>
          <p:nvPr/>
        </p:nvGrpSpPr>
        <p:grpSpPr bwMode="auto">
          <a:xfrm>
            <a:off x="2119819" y="3098235"/>
            <a:ext cx="1462261" cy="264644"/>
            <a:chOff x="320" y="2574"/>
            <a:chExt cx="1423" cy="279"/>
          </a:xfrm>
        </p:grpSpPr>
        <p:sp>
          <p:nvSpPr>
            <p:cNvPr id="53" name="Rectangle 16"/>
            <p:cNvSpPr>
              <a:spLocks noChangeArrowheads="1"/>
            </p:cNvSpPr>
            <p:nvPr/>
          </p:nvSpPr>
          <p:spPr bwMode="auto">
            <a:xfrm>
              <a:off x="892"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4" name="Text Box 17"/>
            <p:cNvSpPr txBox="1">
              <a:spLocks noChangeArrowheads="1"/>
            </p:cNvSpPr>
            <p:nvPr/>
          </p:nvSpPr>
          <p:spPr bwMode="auto">
            <a:xfrm>
              <a:off x="320" y="257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55" name="Line 39"/>
          <p:cNvSpPr>
            <a:spLocks noChangeShapeType="1"/>
          </p:cNvSpPr>
          <p:nvPr/>
        </p:nvSpPr>
        <p:spPr bwMode="auto">
          <a:xfrm>
            <a:off x="3593383" y="3236723"/>
            <a:ext cx="1388274" cy="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6" name="Rectangle 40"/>
          <p:cNvSpPr>
            <a:spLocks noChangeArrowheads="1"/>
          </p:cNvSpPr>
          <p:nvPr/>
        </p:nvSpPr>
        <p:spPr bwMode="auto">
          <a:xfrm>
            <a:off x="6243538" y="1142336"/>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7" name="Text Box 41"/>
          <p:cNvSpPr txBox="1">
            <a:spLocks noChangeArrowheads="1"/>
          </p:cNvSpPr>
          <p:nvPr/>
        </p:nvSpPr>
        <p:spPr bwMode="auto">
          <a:xfrm>
            <a:off x="5796537"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58" name="Rectangle 42"/>
          <p:cNvSpPr>
            <a:spLocks noChangeArrowheads="1"/>
          </p:cNvSpPr>
          <p:nvPr/>
        </p:nvSpPr>
        <p:spPr bwMode="auto">
          <a:xfrm>
            <a:off x="6243538" y="1391804"/>
            <a:ext cx="874479" cy="176429"/>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9" name="Text Box 43"/>
          <p:cNvSpPr txBox="1">
            <a:spLocks noChangeArrowheads="1"/>
          </p:cNvSpPr>
          <p:nvPr/>
        </p:nvSpPr>
        <p:spPr bwMode="auto">
          <a:xfrm>
            <a:off x="5796537"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60" name="Group 73"/>
          <p:cNvGrpSpPr>
            <a:grpSpLocks/>
          </p:cNvGrpSpPr>
          <p:nvPr/>
        </p:nvGrpSpPr>
        <p:grpSpPr bwMode="auto">
          <a:xfrm>
            <a:off x="5648563" y="1701978"/>
            <a:ext cx="1469454" cy="264644"/>
            <a:chOff x="3754" y="1102"/>
            <a:chExt cx="1430" cy="279"/>
          </a:xfrm>
        </p:grpSpPr>
        <p:sp>
          <p:nvSpPr>
            <p:cNvPr id="61" name="Rectangle 44"/>
            <p:cNvSpPr>
              <a:spLocks noChangeArrowheads="1"/>
            </p:cNvSpPr>
            <p:nvPr/>
          </p:nvSpPr>
          <p:spPr bwMode="auto">
            <a:xfrm>
              <a:off x="4333"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2" name="Text Box 45"/>
            <p:cNvSpPr txBox="1">
              <a:spLocks noChangeArrowheads="1"/>
            </p:cNvSpPr>
            <p:nvPr/>
          </p:nvSpPr>
          <p:spPr bwMode="auto">
            <a:xfrm>
              <a:off x="3754" y="1102"/>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63" name="Rectangle 46"/>
          <p:cNvSpPr>
            <a:spLocks noChangeArrowheads="1"/>
          </p:cNvSpPr>
          <p:nvPr/>
        </p:nvSpPr>
        <p:spPr bwMode="auto">
          <a:xfrm>
            <a:off x="6243538" y="2118389"/>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4" name="Text Box 47"/>
          <p:cNvSpPr txBox="1">
            <a:spLocks noChangeArrowheads="1"/>
          </p:cNvSpPr>
          <p:nvPr/>
        </p:nvSpPr>
        <p:spPr bwMode="auto">
          <a:xfrm>
            <a:off x="5796537"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65" name="Group 74"/>
          <p:cNvGrpSpPr>
            <a:grpSpLocks/>
          </p:cNvGrpSpPr>
          <p:nvPr/>
        </p:nvGrpSpPr>
        <p:grpSpPr bwMode="auto">
          <a:xfrm>
            <a:off x="5496480" y="2435203"/>
            <a:ext cx="1621537" cy="441073"/>
            <a:chOff x="3606" y="1875"/>
            <a:chExt cx="1578" cy="465"/>
          </a:xfrm>
        </p:grpSpPr>
        <p:sp>
          <p:nvSpPr>
            <p:cNvPr id="66" name="Rectangle 48"/>
            <p:cNvSpPr>
              <a:spLocks noChangeArrowheads="1"/>
            </p:cNvSpPr>
            <p:nvPr/>
          </p:nvSpPr>
          <p:spPr bwMode="auto">
            <a:xfrm>
              <a:off x="4333" y="2000"/>
              <a:ext cx="851" cy="188"/>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7" name="Text Box 49"/>
            <p:cNvSpPr txBox="1">
              <a:spLocks noChangeArrowheads="1"/>
            </p:cNvSpPr>
            <p:nvPr/>
          </p:nvSpPr>
          <p:spPr bwMode="auto">
            <a:xfrm>
              <a:off x="3606" y="1875"/>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反码算术</a:t>
              </a:r>
            </a:p>
            <a:p>
              <a:r>
                <a:rPr kumimoji="1" lang="zh-CN" altLang="en-US" sz="1100" b="1" dirty="0">
                  <a:latin typeface="微软雅黑" pitchFamily="34" charset="-122"/>
                  <a:ea typeface="微软雅黑" pitchFamily="34" charset="-122"/>
                </a:rPr>
                <a:t>运算求和</a:t>
              </a:r>
            </a:p>
          </p:txBody>
        </p:sp>
      </p:grpSp>
      <p:grpSp>
        <p:nvGrpSpPr>
          <p:cNvPr id="68" name="Group 76"/>
          <p:cNvGrpSpPr>
            <a:grpSpLocks/>
          </p:cNvGrpSpPr>
          <p:nvPr/>
        </p:nvGrpSpPr>
        <p:grpSpPr bwMode="auto">
          <a:xfrm>
            <a:off x="5820171" y="3098235"/>
            <a:ext cx="1297846" cy="264644"/>
            <a:chOff x="3921" y="2574"/>
            <a:chExt cx="1263" cy="279"/>
          </a:xfrm>
        </p:grpSpPr>
        <p:sp>
          <p:nvSpPr>
            <p:cNvPr id="69" name="Rectangle 50"/>
            <p:cNvSpPr>
              <a:spLocks noChangeArrowheads="1"/>
            </p:cNvSpPr>
            <p:nvPr/>
          </p:nvSpPr>
          <p:spPr bwMode="auto">
            <a:xfrm>
              <a:off x="4333"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70" name="Text Box 51"/>
            <p:cNvSpPr txBox="1">
              <a:spLocks noChangeArrowheads="1"/>
            </p:cNvSpPr>
            <p:nvPr/>
          </p:nvSpPr>
          <p:spPr bwMode="auto">
            <a:xfrm>
              <a:off x="3921" y="2574"/>
              <a:ext cx="458"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结果</a:t>
              </a:r>
            </a:p>
          </p:txBody>
        </p:sp>
      </p:grpSp>
      <p:sp>
        <p:nvSpPr>
          <p:cNvPr id="71" name="Text Box 53"/>
          <p:cNvSpPr txBox="1">
            <a:spLocks noChangeArrowheads="1"/>
          </p:cNvSpPr>
          <p:nvPr/>
        </p:nvSpPr>
        <p:spPr bwMode="auto">
          <a:xfrm>
            <a:off x="6472690"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2" name="Text Box 54"/>
          <p:cNvSpPr txBox="1">
            <a:spLocks noChangeArrowheads="1"/>
          </p:cNvSpPr>
          <p:nvPr/>
        </p:nvSpPr>
        <p:spPr bwMode="auto">
          <a:xfrm>
            <a:off x="6462414"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3" name="Line 55"/>
          <p:cNvSpPr>
            <a:spLocks noChangeShapeType="1"/>
          </p:cNvSpPr>
          <p:nvPr/>
        </p:nvSpPr>
        <p:spPr bwMode="auto">
          <a:xfrm>
            <a:off x="5763653" y="2377341"/>
            <a:ext cx="167291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74" name="Group 75"/>
          <p:cNvGrpSpPr>
            <a:grpSpLocks/>
          </p:cNvGrpSpPr>
          <p:nvPr/>
        </p:nvGrpSpPr>
        <p:grpSpPr bwMode="auto">
          <a:xfrm>
            <a:off x="6055489" y="2793753"/>
            <a:ext cx="701844" cy="299740"/>
            <a:chOff x="4150" y="2253"/>
            <a:chExt cx="683" cy="316"/>
          </a:xfrm>
        </p:grpSpPr>
        <p:sp>
          <p:nvSpPr>
            <p:cNvPr id="75" name="AutoShape 52"/>
            <p:cNvSpPr>
              <a:spLocks noChangeArrowheads="1"/>
            </p:cNvSpPr>
            <p:nvPr/>
          </p:nvSpPr>
          <p:spPr bwMode="auto">
            <a:xfrm>
              <a:off x="4733" y="2253"/>
              <a:ext cx="100" cy="316"/>
            </a:xfrm>
            <a:prstGeom prst="downArrow">
              <a:avLst>
                <a:gd name="adj1" fmla="val 50000"/>
                <a:gd name="adj2" fmla="val 79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6" name="Text Box 56"/>
            <p:cNvSpPr txBox="1">
              <a:spLocks noChangeArrowheads="1"/>
            </p:cNvSpPr>
            <p:nvPr/>
          </p:nvSpPr>
          <p:spPr bwMode="auto">
            <a:xfrm>
              <a:off x="4150" y="226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77" name="AutoShape 57"/>
          <p:cNvSpPr>
            <a:spLocks/>
          </p:cNvSpPr>
          <p:nvPr/>
        </p:nvSpPr>
        <p:spPr bwMode="auto">
          <a:xfrm>
            <a:off x="5635204" y="1150874"/>
            <a:ext cx="102759" cy="1154379"/>
          </a:xfrm>
          <a:prstGeom prst="leftBrace">
            <a:avLst>
              <a:gd name="adj1" fmla="val 10141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sz="1200" b="1">
              <a:latin typeface="微软雅黑" pitchFamily="34" charset="-122"/>
              <a:ea typeface="微软雅黑" pitchFamily="34" charset="-122"/>
            </a:endParaRPr>
          </a:p>
        </p:txBody>
      </p:sp>
      <p:sp>
        <p:nvSpPr>
          <p:cNvPr id="78" name="Text Box 58"/>
          <p:cNvSpPr txBox="1">
            <a:spLocks noChangeArrowheads="1"/>
          </p:cNvSpPr>
          <p:nvPr/>
        </p:nvSpPr>
        <p:spPr bwMode="auto">
          <a:xfrm>
            <a:off x="4312696" y="3585789"/>
            <a:ext cx="76394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数据部分</a:t>
            </a:r>
          </a:p>
        </p:txBody>
      </p:sp>
      <p:sp>
        <p:nvSpPr>
          <p:cNvPr id="79" name="AutoShape 59"/>
          <p:cNvSpPr>
            <a:spLocks/>
          </p:cNvSpPr>
          <p:nvPr/>
        </p:nvSpPr>
        <p:spPr bwMode="auto">
          <a:xfrm>
            <a:off x="5238555" y="3015712"/>
            <a:ext cx="103786" cy="443919"/>
          </a:xfrm>
          <a:prstGeom prst="rightBrace">
            <a:avLst>
              <a:gd name="adj1" fmla="val 38614"/>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Freeform 60"/>
          <p:cNvSpPr>
            <a:spLocks/>
          </p:cNvSpPr>
          <p:nvPr/>
        </p:nvSpPr>
        <p:spPr bwMode="auto">
          <a:xfrm>
            <a:off x="5342341" y="1727588"/>
            <a:ext cx="293890" cy="1509135"/>
          </a:xfrm>
          <a:custGeom>
            <a:avLst/>
            <a:gdLst>
              <a:gd name="T0" fmla="*/ 0 w 464"/>
              <a:gd name="T1" fmla="*/ 1624 h 1624"/>
              <a:gd name="T2" fmla="*/ 56 w 464"/>
              <a:gd name="T3" fmla="*/ 1624 h 1624"/>
              <a:gd name="T4" fmla="*/ 56 w 464"/>
              <a:gd name="T5" fmla="*/ 0 h 1624"/>
              <a:gd name="T6" fmla="*/ 464 w 464"/>
              <a:gd name="T7" fmla="*/ 0 h 1624"/>
            </a:gdLst>
            <a:ahLst/>
            <a:cxnLst>
              <a:cxn ang="0">
                <a:pos x="T0" y="T1"/>
              </a:cxn>
              <a:cxn ang="0">
                <a:pos x="T2" y="T3"/>
              </a:cxn>
              <a:cxn ang="0">
                <a:pos x="T4" y="T5"/>
              </a:cxn>
              <a:cxn ang="0">
                <a:pos x="T6" y="T7"/>
              </a:cxn>
            </a:cxnLst>
            <a:rect l="0" t="0" r="r" b="b"/>
            <a:pathLst>
              <a:path w="464" h="1624">
                <a:moveTo>
                  <a:pt x="0" y="1624"/>
                </a:moveTo>
                <a:lnTo>
                  <a:pt x="56" y="1624"/>
                </a:lnTo>
                <a:lnTo>
                  <a:pt x="56" y="0"/>
                </a:lnTo>
                <a:lnTo>
                  <a:pt x="464" y="0"/>
                </a:lnTo>
              </a:path>
            </a:pathLst>
          </a:custGeom>
          <a:noFill/>
          <a:ln w="19050" cmpd="sng">
            <a:solidFill>
              <a:schemeClr val="tx1"/>
            </a:solidFill>
            <a:round/>
            <a:headEnd type="none" w="med" len="med"/>
            <a:tailEnd type="triangle" w="sm"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81" name="Group 77"/>
          <p:cNvGrpSpPr>
            <a:grpSpLocks/>
          </p:cNvGrpSpPr>
          <p:nvPr/>
        </p:nvGrpSpPr>
        <p:grpSpPr bwMode="auto">
          <a:xfrm>
            <a:off x="5944509" y="3381851"/>
            <a:ext cx="1603040" cy="829976"/>
            <a:chOff x="4042" y="2873"/>
            <a:chExt cx="1560" cy="875"/>
          </a:xfrm>
        </p:grpSpPr>
        <p:sp>
          <p:nvSpPr>
            <p:cNvPr id="82" name="AutoShape 61"/>
            <p:cNvSpPr>
              <a:spLocks noChangeArrowheads="1"/>
            </p:cNvSpPr>
            <p:nvPr/>
          </p:nvSpPr>
          <p:spPr bwMode="auto">
            <a:xfrm>
              <a:off x="4742" y="287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62"/>
            <p:cNvSpPr>
              <a:spLocks noChangeArrowheads="1"/>
            </p:cNvSpPr>
            <p:nvPr/>
          </p:nvSpPr>
          <p:spPr bwMode="auto">
            <a:xfrm>
              <a:off x="4042" y="3235"/>
              <a:ext cx="1560" cy="513"/>
            </a:xfrm>
            <a:prstGeom prst="rect">
              <a:avLst/>
            </a:prstGeom>
            <a:solidFill>
              <a:srgbClr val="00FFFF"/>
            </a:solidFill>
            <a:ln w="12700">
              <a:solidFill>
                <a:srgbClr val="333399"/>
              </a:solidFill>
              <a:miter lim="800000"/>
              <a:headEnd/>
              <a:tailEnd/>
            </a:ln>
            <a:effectLst/>
          </p:spPr>
          <p:txBody>
            <a:bodyPr wrap="none" anchor="ctr"/>
            <a:lstStyle/>
            <a:p>
              <a:r>
                <a:rPr kumimoji="1" lang="zh-CN" altLang="en-US" sz="1200" b="1" dirty="0">
                  <a:latin typeface="微软雅黑" pitchFamily="34" charset="-122"/>
                  <a:ea typeface="微软雅黑" pitchFamily="34" charset="-122"/>
                </a:rPr>
                <a:t>若结果为 </a:t>
              </a:r>
              <a:r>
                <a:rPr kumimoji="1" lang="en-US" altLang="zh-CN" sz="1200" b="1" dirty="0">
                  <a:latin typeface="微软雅黑" pitchFamily="34" charset="-122"/>
                  <a:ea typeface="微软雅黑" pitchFamily="34" charset="-122"/>
                </a:rPr>
                <a:t>0, </a:t>
              </a:r>
              <a:r>
                <a:rPr kumimoji="1" lang="zh-CN" altLang="en-US" sz="1200" b="1" dirty="0">
                  <a:latin typeface="微软雅黑" pitchFamily="34" charset="-122"/>
                  <a:ea typeface="微软雅黑" pitchFamily="34" charset="-122"/>
                </a:rPr>
                <a:t>则保留；</a:t>
              </a:r>
            </a:p>
            <a:p>
              <a:r>
                <a:rPr kumimoji="1" lang="zh-CN" altLang="en-US" sz="1200" b="1" dirty="0">
                  <a:latin typeface="微软雅黑" pitchFamily="34" charset="-122"/>
                  <a:ea typeface="微软雅黑" pitchFamily="34" charset="-122"/>
                </a:rPr>
                <a:t>否则，丢弃该数据报</a:t>
              </a:r>
            </a:p>
          </p:txBody>
        </p:sp>
      </p:grpSp>
      <p:grpSp>
        <p:nvGrpSpPr>
          <p:cNvPr id="84" name="Group 72"/>
          <p:cNvGrpSpPr>
            <a:grpSpLocks/>
          </p:cNvGrpSpPr>
          <p:nvPr/>
        </p:nvGrpSpPr>
        <p:grpSpPr bwMode="auto">
          <a:xfrm>
            <a:off x="2340751" y="3577253"/>
            <a:ext cx="1907207" cy="461942"/>
            <a:chOff x="535" y="3079"/>
            <a:chExt cx="1856" cy="487"/>
          </a:xfrm>
        </p:grpSpPr>
        <p:sp>
          <p:nvSpPr>
            <p:cNvPr id="85" name="Text Box 63"/>
            <p:cNvSpPr txBox="1">
              <a:spLocks noChangeArrowheads="1"/>
            </p:cNvSpPr>
            <p:nvPr/>
          </p:nvSpPr>
          <p:spPr bwMode="auto">
            <a:xfrm>
              <a:off x="535" y="3079"/>
              <a:ext cx="1528" cy="48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数据部分</a:t>
              </a:r>
            </a:p>
            <a:p>
              <a:pPr algn="ctr"/>
              <a:r>
                <a:rPr kumimoji="1" lang="zh-CN" altLang="en-US" sz="1200" b="1" dirty="0">
                  <a:solidFill>
                    <a:srgbClr val="0000FF"/>
                  </a:solidFill>
                  <a:latin typeface="微软雅黑" pitchFamily="34" charset="-122"/>
                  <a:ea typeface="微软雅黑" pitchFamily="34" charset="-122"/>
                </a:rPr>
                <a:t>不参与检验和的计算</a:t>
              </a:r>
            </a:p>
          </p:txBody>
        </p:sp>
        <p:sp>
          <p:nvSpPr>
            <p:cNvPr id="86" name="Line 64"/>
            <p:cNvSpPr>
              <a:spLocks noChangeShapeType="1"/>
            </p:cNvSpPr>
            <p:nvPr/>
          </p:nvSpPr>
          <p:spPr bwMode="auto">
            <a:xfrm>
              <a:off x="2020" y="3266"/>
              <a:ext cx="37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矩形 1"/>
          <p:cNvSpPr/>
          <p:nvPr/>
        </p:nvSpPr>
        <p:spPr>
          <a:xfrm>
            <a:off x="1064300" y="4362985"/>
            <a:ext cx="6777000"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数据报每经过一个路由器，路由器都要重新计算一下首部检验和</a:t>
            </a:r>
          </a:p>
        </p:txBody>
      </p:sp>
    </p:spTree>
    <p:extLst>
      <p:ext uri="{BB962C8B-B14F-4D97-AF65-F5344CB8AC3E}">
        <p14:creationId xmlns:p14="http://schemas.microsoft.com/office/powerpoint/2010/main" val="3514294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nodeType="click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2000" fill="hold" nodeType="clickEffect">
                                  <p:stCondLst>
                                    <p:cond delay="0"/>
                                  </p:stCondLst>
                                  <p:childTnLst>
                                    <p:anim calcmode="discrete" valueType="str">
                                      <p:cBhvr>
                                        <p:cTn id="10"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2000" fill="hold" nodeType="clickEffect">
                                  <p:stCondLst>
                                    <p:cond delay="0"/>
                                  </p:stCondLst>
                                  <p:childTnLst>
                                    <p:anim calcmode="discrete" valueType="str">
                                      <p:cBhvr>
                                        <p:cTn id="14"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2000" fill="hold" nodeType="clickEffect">
                                  <p:stCondLst>
                                    <p:cond delay="0"/>
                                  </p:stCondLst>
                                  <p:childTnLst>
                                    <p:anim calcmode="discrete" valueType="str">
                                      <p:cBhvr>
                                        <p:cTn id="18" dur="1000" fill="hold"/>
                                        <p:tgtEl>
                                          <p:spTgt spid="33"/>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2000" fill="hold" nodeType="clickEffect">
                                  <p:stCondLst>
                                    <p:cond delay="0"/>
                                  </p:stCondLst>
                                  <p:childTnLst>
                                    <p:anim calcmode="discrete" valueType="str">
                                      <p:cBhvr>
                                        <p:cTn id="22" dur="1000" fill="hold"/>
                                        <p:tgtEl>
                                          <p:spTgt spid="52"/>
                                        </p:tgtEl>
                                        <p:attrNameLst>
                                          <p:attrName>style.visibility</p:attrName>
                                        </p:attrNameLst>
                                      </p:cBhvr>
                                      <p:tavLst>
                                        <p:tav tm="0">
                                          <p:val>
                                            <p:strVal val="hidden"/>
                                          </p:val>
                                        </p:tav>
                                        <p:tav tm="50000">
                                          <p:val>
                                            <p:strVal val="visible"/>
                                          </p:val>
                                        </p:tav>
                                      </p:tavLst>
                                    </p:anim>
                                  </p:childTnLst>
                                </p:cTn>
                              </p:par>
                            </p:childTnLst>
                          </p:cTn>
                        </p:par>
                        <p:par>
                          <p:cTn id="23" fill="hold">
                            <p:stCondLst>
                              <p:cond delay="2000"/>
                            </p:stCondLst>
                            <p:childTnLst>
                              <p:par>
                                <p:cTn id="24" presetID="1" presetClass="entr" presetSubtype="0" fill="hold" grpId="0" nodeType="afterEffect">
                                  <p:stCondLst>
                                    <p:cond delay="0"/>
                                  </p:stCondLst>
                                  <p:childTnLst>
                                    <p:set>
                                      <p:cBhvr>
                                        <p:cTn id="25" dur="1" fill="hold">
                                          <p:stCondLst>
                                            <p:cond delay="0"/>
                                          </p:stCondLst>
                                        </p:cTn>
                                        <p:tgtEl>
                                          <p:spTgt spid="55"/>
                                        </p:tgtEl>
                                        <p:attrNameLst>
                                          <p:attrName>style.visibility</p:attrName>
                                        </p:attrNameLst>
                                      </p:cBhvr>
                                      <p:to>
                                        <p:strVal val="visible"/>
                                      </p:to>
                                    </p:set>
                                  </p:childTnLst>
                                </p:cTn>
                              </p:par>
                            </p:childTnLst>
                          </p:cTn>
                        </p:par>
                        <p:par>
                          <p:cTn id="26" fill="hold">
                            <p:stCondLst>
                              <p:cond delay="2000"/>
                            </p:stCondLst>
                            <p:childTnLst>
                              <p:par>
                                <p:cTn id="27" presetID="22" presetClass="entr" presetSubtype="8" fill="hold" grpId="1" nodeType="after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1000"/>
                                        <p:tgtEl>
                                          <p:spTgt spid="55"/>
                                        </p:tgtEl>
                                      </p:cBhvr>
                                    </p:animEffect>
                                  </p:childTnLst>
                                </p:cTn>
                              </p:par>
                            </p:childTnLst>
                          </p:cTn>
                        </p:par>
                      </p:childTnLst>
                    </p:cTn>
                  </p:par>
                  <p:par>
                    <p:cTn id="30" fill="hold">
                      <p:stCondLst>
                        <p:cond delay="indefinite"/>
                      </p:stCondLst>
                      <p:childTnLst>
                        <p:par>
                          <p:cTn id="31" fill="hold">
                            <p:stCondLst>
                              <p:cond delay="0"/>
                            </p:stCondLst>
                            <p:childTnLst>
                              <p:par>
                                <p:cTn id="32" presetID="35" presetClass="emph" presetSubtype="0" repeatCount="2000" fill="hold" nodeType="clickEffect">
                                  <p:stCondLst>
                                    <p:cond delay="0"/>
                                  </p:stCondLst>
                                  <p:childTnLst>
                                    <p:anim calcmode="discrete" valueType="str">
                                      <p:cBhvr>
                                        <p:cTn id="33"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par>
                    <p:cTn id="34" fill="hold">
                      <p:stCondLst>
                        <p:cond delay="indefinite"/>
                      </p:stCondLst>
                      <p:childTnLst>
                        <p:par>
                          <p:cTn id="35" fill="hold">
                            <p:stCondLst>
                              <p:cond delay="0"/>
                            </p:stCondLst>
                            <p:childTnLst>
                              <p:par>
                                <p:cTn id="36" presetID="35" presetClass="emph" presetSubtype="0" repeatCount="2000" fill="hold" nodeType="clickEffect">
                                  <p:stCondLst>
                                    <p:cond delay="0"/>
                                  </p:stCondLst>
                                  <p:childTnLst>
                                    <p:anim calcmode="discrete" valueType="str">
                                      <p:cBhvr>
                                        <p:cTn id="37" dur="1000" fill="hold"/>
                                        <p:tgtEl>
                                          <p:spTgt spid="65"/>
                                        </p:tgtEl>
                                        <p:attrNameLst>
                                          <p:attrName>style.visibility</p:attrName>
                                        </p:attrNameLst>
                                      </p:cBhvr>
                                      <p:tavLst>
                                        <p:tav tm="0">
                                          <p:val>
                                            <p:strVal val="hidden"/>
                                          </p:val>
                                        </p:tav>
                                        <p:tav tm="50000">
                                          <p:val>
                                            <p:strVal val="visible"/>
                                          </p:val>
                                        </p:tav>
                                      </p:tavLst>
                                    </p:anim>
                                  </p:childTnLst>
                                </p:cTn>
                              </p:par>
                            </p:childTnLst>
                          </p:cTn>
                        </p:par>
                      </p:childTnLst>
                    </p:cTn>
                  </p:par>
                  <p:par>
                    <p:cTn id="38" fill="hold">
                      <p:stCondLst>
                        <p:cond delay="indefinite"/>
                      </p:stCondLst>
                      <p:childTnLst>
                        <p:par>
                          <p:cTn id="39" fill="hold">
                            <p:stCondLst>
                              <p:cond delay="0"/>
                            </p:stCondLst>
                            <p:childTnLst>
                              <p:par>
                                <p:cTn id="40" presetID="35" presetClass="emph" presetSubtype="0" repeatCount="2000" fill="hold" nodeType="clickEffect">
                                  <p:stCondLst>
                                    <p:cond delay="0"/>
                                  </p:stCondLst>
                                  <p:childTnLst>
                                    <p:anim calcmode="discrete" valueType="str">
                                      <p:cBhvr>
                                        <p:cTn id="41" dur="1000" fill="hold"/>
                                        <p:tgtEl>
                                          <p:spTgt spid="74"/>
                                        </p:tgtEl>
                                        <p:attrNameLst>
                                          <p:attrName>style.visibility</p:attrName>
                                        </p:attrNameLst>
                                      </p:cBhvr>
                                      <p:tavLst>
                                        <p:tav tm="0">
                                          <p:val>
                                            <p:strVal val="hidden"/>
                                          </p:val>
                                        </p:tav>
                                        <p:tav tm="50000">
                                          <p:val>
                                            <p:strVal val="visible"/>
                                          </p:val>
                                        </p:tav>
                                      </p:tavLst>
                                    </p:anim>
                                  </p:childTnLst>
                                </p:cTn>
                              </p:par>
                            </p:childTnLst>
                          </p:cTn>
                        </p:par>
                      </p:childTnLst>
                    </p:cTn>
                  </p:par>
                  <p:par>
                    <p:cTn id="42" fill="hold">
                      <p:stCondLst>
                        <p:cond delay="indefinite"/>
                      </p:stCondLst>
                      <p:childTnLst>
                        <p:par>
                          <p:cTn id="43" fill="hold">
                            <p:stCondLst>
                              <p:cond delay="0"/>
                            </p:stCondLst>
                            <p:childTnLst>
                              <p:par>
                                <p:cTn id="44" presetID="35" presetClass="emph" presetSubtype="0" repeatCount="2000" fill="hold" nodeType="clickEffect">
                                  <p:stCondLst>
                                    <p:cond delay="0"/>
                                  </p:stCondLst>
                                  <p:childTnLst>
                                    <p:anim calcmode="discrete" valueType="str">
                                      <p:cBhvr>
                                        <p:cTn id="45" dur="1000" fill="hold"/>
                                        <p:tgtEl>
                                          <p:spTgt spid="68"/>
                                        </p:tgtEl>
                                        <p:attrNameLst>
                                          <p:attrName>style.visibility</p:attrName>
                                        </p:attrNameLst>
                                      </p:cBhvr>
                                      <p:tavLst>
                                        <p:tav tm="0">
                                          <p:val>
                                            <p:strVal val="hidden"/>
                                          </p:val>
                                        </p:tav>
                                        <p:tav tm="50000">
                                          <p:val>
                                            <p:strVal val="visible"/>
                                          </p:val>
                                        </p:tav>
                                      </p:tavLst>
                                    </p:anim>
                                  </p:childTnLst>
                                </p:cTn>
                              </p:par>
                            </p:childTnLst>
                          </p:cTn>
                        </p:par>
                      </p:childTnLst>
                    </p:cTn>
                  </p:par>
                  <p:par>
                    <p:cTn id="46" fill="hold">
                      <p:stCondLst>
                        <p:cond delay="indefinite"/>
                      </p:stCondLst>
                      <p:childTnLst>
                        <p:par>
                          <p:cTn id="47" fill="hold">
                            <p:stCondLst>
                              <p:cond delay="0"/>
                            </p:stCondLst>
                            <p:childTnLst>
                              <p:par>
                                <p:cTn id="48" presetID="35" presetClass="emph" presetSubtype="0" repeatCount="2000" fill="hold" nodeType="clickEffect">
                                  <p:stCondLst>
                                    <p:cond delay="0"/>
                                  </p:stCondLst>
                                  <p:childTnLst>
                                    <p:anim calcmode="discrete" valueType="str">
                                      <p:cBhvr>
                                        <p:cTn id="49" dur="1000" fill="hold"/>
                                        <p:tgtEl>
                                          <p:spTgt spid="8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5" grpId="1"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grpSp>
        <p:nvGrpSpPr>
          <p:cNvPr id="22" name="组合 21"/>
          <p:cNvGrpSpPr/>
          <p:nvPr/>
        </p:nvGrpSpPr>
        <p:grpSpPr>
          <a:xfrm>
            <a:off x="1637153" y="1084892"/>
            <a:ext cx="5962309" cy="2192261"/>
            <a:chOff x="1392642" y="1665825"/>
            <a:chExt cx="5962309" cy="2192261"/>
          </a:xfrm>
        </p:grpSpPr>
        <p:sp>
          <p:nvSpPr>
            <p:cNvPr id="23"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25"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26"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27"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8"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2"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3"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4"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6"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7"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40"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41"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42"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43"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44"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45"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46"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47"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48"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49"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50"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51"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52"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53"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54"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55"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56"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57"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58"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59"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60" name="Group 46"/>
            <p:cNvGrpSpPr>
              <a:grpSpLocks/>
            </p:cNvGrpSpPr>
            <p:nvPr/>
          </p:nvGrpSpPr>
          <p:grpSpPr bwMode="auto">
            <a:xfrm>
              <a:off x="2158338" y="3299988"/>
              <a:ext cx="83917" cy="41064"/>
              <a:chOff x="833" y="3024"/>
              <a:chExt cx="78" cy="51"/>
            </a:xfrm>
          </p:grpSpPr>
          <p:sp>
            <p:nvSpPr>
              <p:cNvPr id="70"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1"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2"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61" name="Group 50"/>
            <p:cNvGrpSpPr>
              <a:grpSpLocks/>
            </p:cNvGrpSpPr>
            <p:nvPr/>
          </p:nvGrpSpPr>
          <p:grpSpPr bwMode="auto">
            <a:xfrm>
              <a:off x="7169086" y="3305588"/>
              <a:ext cx="83917" cy="39198"/>
              <a:chOff x="5432" y="3030"/>
              <a:chExt cx="78" cy="51"/>
            </a:xfrm>
          </p:grpSpPr>
          <p:sp>
            <p:nvSpPr>
              <p:cNvPr id="6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62"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63"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4" name="Group 94"/>
            <p:cNvGrpSpPr>
              <a:grpSpLocks/>
            </p:cNvGrpSpPr>
            <p:nvPr/>
          </p:nvGrpSpPr>
          <p:grpSpPr bwMode="auto">
            <a:xfrm>
              <a:off x="1392642" y="1885145"/>
              <a:ext cx="336679" cy="1566034"/>
              <a:chOff x="-127" y="845"/>
              <a:chExt cx="333" cy="1678"/>
            </a:xfrm>
          </p:grpSpPr>
          <p:sp>
            <p:nvSpPr>
              <p:cNvPr id="65"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73" name="矩形 72"/>
          <p:cNvSpPr/>
          <p:nvPr/>
        </p:nvSpPr>
        <p:spPr>
          <a:xfrm>
            <a:off x="2442280" y="3469278"/>
            <a:ext cx="5017824" cy="338554"/>
          </a:xfrm>
          <a:prstGeom prst="rect">
            <a:avLst/>
          </a:prstGeom>
          <a:solidFill>
            <a:srgbClr val="0000CC"/>
          </a:solidFill>
          <a:ln w="9525">
            <a:noFill/>
            <a:miter lim="800000"/>
            <a:headEnd/>
            <a:tailEnd/>
          </a:ln>
          <a:effectLst/>
        </p:spPr>
        <p:txBody>
          <a:bodyPr wrap="square">
            <a:spAutoFit/>
          </a:bodyPr>
          <a:lstStyle/>
          <a:p>
            <a:pPr algn="ctr"/>
            <a:r>
              <a:rPr lang="zh-CN" altLang="en-US" sz="1600" b="1" dirty="0">
                <a:solidFill>
                  <a:schemeClr val="bg1"/>
                </a:solidFill>
                <a:latin typeface="微软雅黑" pitchFamily="34" charset="-122"/>
                <a:ea typeface="微软雅黑" pitchFamily="34" charset="-122"/>
              </a:rPr>
              <a:t>源地址和目的地址都各占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a:t>
            </a:r>
          </a:p>
        </p:txBody>
      </p:sp>
      <p:sp>
        <p:nvSpPr>
          <p:cNvPr id="74" name="Rectangle 92"/>
          <p:cNvSpPr>
            <a:spLocks noChangeArrowheads="1"/>
          </p:cNvSpPr>
          <p:nvPr/>
        </p:nvSpPr>
        <p:spPr bwMode="auto">
          <a:xfrm flipV="1">
            <a:off x="2454413" y="2114646"/>
            <a:ext cx="5005691" cy="5218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655628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7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7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555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809070" y="572346"/>
            <a:ext cx="354456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IP </a:t>
            </a:r>
            <a:r>
              <a:rPr lang="zh-CN" altLang="en-US" sz="2000" b="1" dirty="0">
                <a:solidFill>
                  <a:schemeClr val="bg1"/>
                </a:solidFill>
                <a:latin typeface="微软雅黑" pitchFamily="34" charset="-122"/>
                <a:ea typeface="微软雅黑" pitchFamily="34" charset="-122"/>
              </a:rPr>
              <a:t>数据报首部的可变部分</a:t>
            </a:r>
          </a:p>
        </p:txBody>
      </p:sp>
      <p:sp>
        <p:nvSpPr>
          <p:cNvPr id="7" name="Rectangle 68"/>
          <p:cNvSpPr>
            <a:spLocks noChangeArrowheads="1"/>
          </p:cNvSpPr>
          <p:nvPr/>
        </p:nvSpPr>
        <p:spPr bwMode="auto">
          <a:xfrm>
            <a:off x="448327" y="943894"/>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首部的可变部分就是一个选项字段，用来支持排错、测量以及安全等措施，内容很丰富。</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长度可变：</a:t>
            </a:r>
            <a:r>
              <a:rPr lang="zh-CN" altLang="en-US" sz="2000" b="1" dirty="0">
                <a:solidFill>
                  <a:srgbClr val="0000FF"/>
                </a:solidFill>
                <a:latin typeface="微软雅黑" pitchFamily="34" charset="-122"/>
                <a:ea typeface="微软雅黑" pitchFamily="34" charset="-122"/>
              </a:rPr>
              <a:t>从 </a:t>
            </a:r>
            <a:r>
              <a:rPr lang="en-US" altLang="zh-CN" sz="2000" b="1" dirty="0">
                <a:solidFill>
                  <a:srgbClr val="0000FF"/>
                </a:solidFill>
                <a:latin typeface="微软雅黑" pitchFamily="34" charset="-122"/>
                <a:ea typeface="微软雅黑" pitchFamily="34" charset="-122"/>
              </a:rPr>
              <a:t>1 </a:t>
            </a:r>
            <a:r>
              <a:rPr lang="zh-CN" altLang="en-US" sz="2000" b="1" dirty="0">
                <a:solidFill>
                  <a:srgbClr val="0000FF"/>
                </a:solidFill>
                <a:latin typeface="微软雅黑" pitchFamily="34" charset="-122"/>
                <a:ea typeface="微软雅黑" pitchFamily="34" charset="-122"/>
              </a:rPr>
              <a:t>个字节到 </a:t>
            </a:r>
            <a:r>
              <a:rPr lang="en-US" altLang="zh-CN" sz="2000" b="1" dirty="0">
                <a:solidFill>
                  <a:srgbClr val="0000FF"/>
                </a:solidFill>
                <a:latin typeface="微软雅黑" pitchFamily="34" charset="-122"/>
                <a:ea typeface="微软雅黑" pitchFamily="34" charset="-122"/>
              </a:rPr>
              <a:t>40 </a:t>
            </a:r>
            <a:r>
              <a:rPr lang="zh-CN" altLang="en-US" sz="2000" b="1" dirty="0">
                <a:solidFill>
                  <a:srgbClr val="0000FF"/>
                </a:solidFill>
                <a:latin typeface="微软雅黑" pitchFamily="34" charset="-122"/>
                <a:ea typeface="微软雅黑" pitchFamily="34" charset="-122"/>
              </a:rPr>
              <a:t>个字节不等</a:t>
            </a:r>
            <a:r>
              <a:rPr lang="zh-CN" altLang="en-US" sz="2000" b="1" dirty="0">
                <a:latin typeface="微软雅黑" pitchFamily="34" charset="-122"/>
                <a:ea typeface="微软雅黑" pitchFamily="34" charset="-122"/>
              </a:rPr>
              <a:t>，取决于所选择的项目。</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增加了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数据报的功能，但这同时也使得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数据报的首部长度成为可变的，增加了每一个路由器处理数据报的开销。</a:t>
            </a: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实际上这些选项很少被使用。</a:t>
            </a:r>
          </a:p>
        </p:txBody>
      </p:sp>
    </p:spTree>
    <p:extLst>
      <p:ext uri="{BB962C8B-B14F-4D97-AF65-F5344CB8AC3E}">
        <p14:creationId xmlns:p14="http://schemas.microsoft.com/office/powerpoint/2010/main" val="23638706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295097"/>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01522"/>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1905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863446"/>
            <a:ext cx="0" cy="289921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1260553"/>
            <a:ext cx="5574294"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4.3.1                                       </a:t>
            </a:r>
            <a:r>
              <a:rPr lang="zh-CN" altLang="en-US" sz="2000" b="1" dirty="0">
                <a:solidFill>
                  <a:schemeClr val="bg1"/>
                </a:solidFill>
                <a:latin typeface="微软雅黑" pitchFamily="34" charset="-122"/>
                <a:ea typeface="微软雅黑" pitchFamily="34" charset="-122"/>
              </a:rPr>
              <a:t>基于终点的转发</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4.3.2                                          </a:t>
            </a:r>
            <a:r>
              <a:rPr lang="zh-CN" altLang="en-US" sz="2000" b="1" dirty="0">
                <a:solidFill>
                  <a:schemeClr val="bg1"/>
                </a:solidFill>
                <a:latin typeface="微软雅黑" pitchFamily="34" charset="-122"/>
                <a:ea typeface="微软雅黑" pitchFamily="34" charset="-122"/>
              </a:rPr>
              <a:t>最长前缀匹配</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4.3.3                             </a:t>
            </a:r>
            <a:r>
              <a:rPr lang="zh-CN" altLang="en-US" sz="2000" b="1" dirty="0">
                <a:solidFill>
                  <a:schemeClr val="bg1"/>
                </a:solidFill>
                <a:latin typeface="微软雅黑" pitchFamily="34" charset="-122"/>
                <a:ea typeface="微软雅黑" pitchFamily="34" charset="-122"/>
              </a:rPr>
              <a:t>使用二叉线索查找转发表</a:t>
            </a:r>
          </a:p>
        </p:txBody>
      </p:sp>
      <p:sp>
        <p:nvSpPr>
          <p:cNvPr id="16" name="Rectangle 27"/>
          <p:cNvSpPr>
            <a:spLocks noChangeArrowheads="1"/>
          </p:cNvSpPr>
          <p:nvPr/>
        </p:nvSpPr>
        <p:spPr bwMode="auto">
          <a:xfrm>
            <a:off x="639730" y="1295097"/>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390029"/>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4.3</a:t>
            </a:r>
          </a:p>
          <a:p>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层转发分组的过程</a:t>
            </a:r>
          </a:p>
        </p:txBody>
      </p:sp>
    </p:spTree>
    <p:extLst>
      <p:ext uri="{BB962C8B-B14F-4D97-AF65-F5344CB8AC3E}">
        <p14:creationId xmlns:p14="http://schemas.microsoft.com/office/powerpoint/2010/main" val="14537615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18" name="Rectangle 6"/>
          <p:cNvSpPr>
            <a:spLocks noChangeArrowheads="1"/>
          </p:cNvSpPr>
          <p:nvPr/>
        </p:nvSpPr>
        <p:spPr bwMode="auto">
          <a:xfrm>
            <a:off x="2939184" y="571120"/>
            <a:ext cx="326563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4.3.1  </a:t>
            </a:r>
            <a:r>
              <a:rPr lang="zh-CN" altLang="en-US" sz="2400" b="1" dirty="0">
                <a:solidFill>
                  <a:schemeClr val="bg1"/>
                </a:solidFill>
                <a:latin typeface="微软雅黑" pitchFamily="34" charset="-122"/>
                <a:ea typeface="微软雅黑" pitchFamily="34" charset="-122"/>
              </a:rPr>
              <a:t>基于终点的转发</a:t>
            </a:r>
          </a:p>
        </p:txBody>
      </p:sp>
      <p:sp>
        <p:nvSpPr>
          <p:cNvPr id="19" name="Rectangle 8"/>
          <p:cNvSpPr>
            <a:spLocks noChangeArrowheads="1"/>
          </p:cNvSpPr>
          <p:nvPr/>
        </p:nvSpPr>
        <p:spPr bwMode="auto">
          <a:xfrm>
            <a:off x="545144" y="1016867"/>
            <a:ext cx="8053712"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分组在互联网中是</a:t>
            </a:r>
            <a:r>
              <a:rPr lang="zh-CN" altLang="en-US" sz="2000" b="1" dirty="0">
                <a:solidFill>
                  <a:srgbClr val="C00000"/>
                </a:solidFill>
                <a:latin typeface="微软雅黑" pitchFamily="34" charset="-122"/>
                <a:ea typeface="微软雅黑" pitchFamily="34" charset="-122"/>
              </a:rPr>
              <a:t>逐跳转发</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基于终点的转发：基于分组首部中的</a:t>
            </a:r>
            <a:r>
              <a:rPr lang="zh-CN" altLang="en-US" sz="2000" b="1" dirty="0">
                <a:solidFill>
                  <a:srgbClr val="C00000"/>
                </a:solidFill>
                <a:latin typeface="微软雅黑" pitchFamily="34" charset="-122"/>
                <a:ea typeface="微软雅黑" pitchFamily="34" charset="-122"/>
              </a:rPr>
              <a:t>目的地址</a:t>
            </a:r>
            <a:r>
              <a:rPr lang="zh-CN" altLang="en-US" sz="2000" b="1" dirty="0">
                <a:latin typeface="微软雅黑" pitchFamily="34" charset="-122"/>
                <a:ea typeface="微软雅黑" pitchFamily="34" charset="-122"/>
              </a:rPr>
              <a:t>传送和转发。</a:t>
            </a:r>
            <a:endParaRPr lang="en-US" altLang="zh-CN" sz="2000" b="1" dirty="0">
              <a:latin typeface="微软雅黑" pitchFamily="34" charset="-122"/>
              <a:ea typeface="微软雅黑" pitchFamily="34" charset="-122"/>
            </a:endParaRPr>
          </a:p>
        </p:txBody>
      </p:sp>
      <p:sp>
        <p:nvSpPr>
          <p:cNvPr id="5" name="圆角矩形 4"/>
          <p:cNvSpPr/>
          <p:nvPr/>
        </p:nvSpPr>
        <p:spPr>
          <a:xfrm>
            <a:off x="556963" y="1973310"/>
            <a:ext cx="8048776" cy="159397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9" name="组合 8"/>
          <p:cNvGrpSpPr/>
          <p:nvPr/>
        </p:nvGrpSpPr>
        <p:grpSpPr>
          <a:xfrm>
            <a:off x="645100" y="2179356"/>
            <a:ext cx="7879255" cy="1021469"/>
            <a:chOff x="645100" y="1324921"/>
            <a:chExt cx="7879255" cy="1021469"/>
          </a:xfrm>
        </p:grpSpPr>
        <p:sp>
          <p:nvSpPr>
            <p:cNvPr id="10"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20"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1" name="组合 20"/>
            <p:cNvGrpSpPr/>
            <p:nvPr/>
          </p:nvGrpSpPr>
          <p:grpSpPr>
            <a:xfrm>
              <a:off x="1195777" y="1324921"/>
              <a:ext cx="856156" cy="940368"/>
              <a:chOff x="1204403" y="1807995"/>
              <a:chExt cx="856156" cy="940368"/>
            </a:xfrm>
          </p:grpSpPr>
          <p:sp>
            <p:nvSpPr>
              <p:cNvPr id="43" name="弧形 4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2" name="组合 21"/>
            <p:cNvGrpSpPr/>
            <p:nvPr/>
          </p:nvGrpSpPr>
          <p:grpSpPr>
            <a:xfrm>
              <a:off x="2346779" y="1324921"/>
              <a:ext cx="856156" cy="940368"/>
              <a:chOff x="1204403" y="1807995"/>
              <a:chExt cx="856156" cy="940368"/>
            </a:xfrm>
          </p:grpSpPr>
          <p:sp>
            <p:nvSpPr>
              <p:cNvPr id="41" name="弧形 40"/>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2"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3" name="组合 22"/>
            <p:cNvGrpSpPr/>
            <p:nvPr/>
          </p:nvGrpSpPr>
          <p:grpSpPr>
            <a:xfrm>
              <a:off x="3546083" y="1324921"/>
              <a:ext cx="856156" cy="940368"/>
              <a:chOff x="1204403" y="1807995"/>
              <a:chExt cx="856156" cy="940368"/>
            </a:xfrm>
          </p:grpSpPr>
          <p:sp>
            <p:nvSpPr>
              <p:cNvPr id="39" name="弧形 3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0"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4" name="组合 23"/>
            <p:cNvGrpSpPr/>
            <p:nvPr/>
          </p:nvGrpSpPr>
          <p:grpSpPr>
            <a:xfrm>
              <a:off x="4697085" y="1324921"/>
              <a:ext cx="856156" cy="940368"/>
              <a:chOff x="1204403" y="1807995"/>
              <a:chExt cx="856156" cy="940368"/>
            </a:xfrm>
          </p:grpSpPr>
          <p:sp>
            <p:nvSpPr>
              <p:cNvPr id="37" name="弧形 3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5" name="组合 24"/>
            <p:cNvGrpSpPr/>
            <p:nvPr/>
          </p:nvGrpSpPr>
          <p:grpSpPr>
            <a:xfrm>
              <a:off x="5888545" y="1324921"/>
              <a:ext cx="856156" cy="940368"/>
              <a:chOff x="1204403" y="1807995"/>
              <a:chExt cx="856156" cy="940368"/>
            </a:xfrm>
          </p:grpSpPr>
          <p:sp>
            <p:nvSpPr>
              <p:cNvPr id="35" name="弧形 34"/>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6"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6" name="组合 25"/>
            <p:cNvGrpSpPr/>
            <p:nvPr/>
          </p:nvGrpSpPr>
          <p:grpSpPr>
            <a:xfrm>
              <a:off x="7039547" y="1324921"/>
              <a:ext cx="856156" cy="940368"/>
              <a:chOff x="1204403" y="1807995"/>
              <a:chExt cx="856156" cy="940368"/>
            </a:xfrm>
          </p:grpSpPr>
          <p:sp>
            <p:nvSpPr>
              <p:cNvPr id="33" name="弧形 3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27"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8"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9"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0"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1"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2"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3" name="组合 2"/>
          <p:cNvGrpSpPr/>
          <p:nvPr/>
        </p:nvGrpSpPr>
        <p:grpSpPr>
          <a:xfrm>
            <a:off x="1559922" y="3205968"/>
            <a:ext cx="5987060" cy="338554"/>
            <a:chOff x="1559922" y="3985455"/>
            <a:chExt cx="5987060" cy="338554"/>
          </a:xfrm>
        </p:grpSpPr>
        <p:sp>
          <p:nvSpPr>
            <p:cNvPr id="2" name="矩形 1"/>
            <p:cNvSpPr/>
            <p:nvPr/>
          </p:nvSpPr>
          <p:spPr>
            <a:xfrm>
              <a:off x="1559922"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2" name="矩形 51"/>
            <p:cNvSpPr/>
            <p:nvPr/>
          </p:nvSpPr>
          <p:spPr>
            <a:xfrm>
              <a:off x="274403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3" name="矩形 52"/>
            <p:cNvSpPr/>
            <p:nvPr/>
          </p:nvSpPr>
          <p:spPr>
            <a:xfrm>
              <a:off x="395621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4" name="矩形 53"/>
            <p:cNvSpPr/>
            <p:nvPr/>
          </p:nvSpPr>
          <p:spPr>
            <a:xfrm>
              <a:off x="5140330"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5" name="矩形 54"/>
            <p:cNvSpPr/>
            <p:nvPr/>
          </p:nvSpPr>
          <p:spPr>
            <a:xfrm>
              <a:off x="6336394"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grpSp>
    </p:spTree>
    <p:extLst>
      <p:ext uri="{BB962C8B-B14F-4D97-AF65-F5344CB8AC3E}">
        <p14:creationId xmlns:p14="http://schemas.microsoft.com/office/powerpoint/2010/main" val="32997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000"/>
                                        <p:tgtEl>
                                          <p:spTgt spid="9"/>
                                        </p:tgtEl>
                                      </p:cBhvr>
                                    </p:animEffect>
                                  </p:childTnLst>
                                </p:cTn>
                              </p:par>
                              <p:par>
                                <p:cTn id="8" presetID="22" presetClass="entr" presetSubtype="8" fill="hold" nodeType="with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wipe(left)">
                                      <p:cBhvr>
                                        <p:cTn id="10" dur="175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1463515" y="2138648"/>
            <a:ext cx="6321113" cy="2404494"/>
            <a:chOff x="1283635" y="1688948"/>
            <a:chExt cx="6321113" cy="2404494"/>
          </a:xfrm>
        </p:grpSpPr>
        <p:sp>
          <p:nvSpPr>
            <p:cNvPr id="44" name="Freeform 4"/>
            <p:cNvSpPr>
              <a:spLocks/>
            </p:cNvSpPr>
            <p:nvPr/>
          </p:nvSpPr>
          <p:spPr bwMode="auto">
            <a:xfrm>
              <a:off x="2769018" y="2252656"/>
              <a:ext cx="3507555" cy="659992"/>
            </a:xfrm>
            <a:custGeom>
              <a:avLst/>
              <a:gdLst>
                <a:gd name="T0" fmla="*/ 0 w 3024"/>
                <a:gd name="T1" fmla="*/ 636 h 636"/>
                <a:gd name="T2" fmla="*/ 1520 w 3024"/>
                <a:gd name="T3" fmla="*/ 0 h 636"/>
                <a:gd name="T4" fmla="*/ 3024 w 3024"/>
                <a:gd name="T5" fmla="*/ 636 h 636"/>
                <a:gd name="T6" fmla="*/ 0 w 3024"/>
                <a:gd name="T7" fmla="*/ 636 h 636"/>
              </a:gdLst>
              <a:ahLst/>
              <a:cxnLst>
                <a:cxn ang="0">
                  <a:pos x="T0" y="T1"/>
                </a:cxn>
                <a:cxn ang="0">
                  <a:pos x="T2" y="T3"/>
                </a:cxn>
                <a:cxn ang="0">
                  <a:pos x="T4" y="T5"/>
                </a:cxn>
                <a:cxn ang="0">
                  <a:pos x="T6" y="T7"/>
                </a:cxn>
              </a:cxnLst>
              <a:rect l="0" t="0" r="r" b="b"/>
              <a:pathLst>
                <a:path w="3024" h="636">
                  <a:moveTo>
                    <a:pt x="0" y="636"/>
                  </a:moveTo>
                  <a:lnTo>
                    <a:pt x="1520" y="0"/>
                  </a:lnTo>
                  <a:lnTo>
                    <a:pt x="3024" y="636"/>
                  </a:lnTo>
                  <a:lnTo>
                    <a:pt x="0" y="636"/>
                  </a:lnTo>
                  <a:close/>
                </a:path>
              </a:pathLst>
            </a:custGeom>
            <a:gradFill rotWithShape="1">
              <a:gsLst>
                <a:gs pos="0">
                  <a:srgbClr val="92D050"/>
                </a:gs>
                <a:gs pos="100000">
                  <a:srgbClr val="99FFCC"/>
                </a:gs>
              </a:gsLst>
              <a:lin ang="5400000" scaled="1"/>
            </a:gradFill>
            <a:ln>
              <a:noFill/>
            </a:ln>
            <a:effectLst/>
          </p:spPr>
          <p:txBody>
            <a:bodyPr/>
            <a:lstStyle/>
            <a:p>
              <a:endParaRPr lang="zh-CN" altLang="en-US" sz="1200" b="1">
                <a:latin typeface="微软雅黑" pitchFamily="34" charset="-122"/>
                <a:ea typeface="微软雅黑" pitchFamily="34" charset="-122"/>
              </a:endParaRPr>
            </a:p>
          </p:txBody>
        </p:sp>
        <p:grpSp>
          <p:nvGrpSpPr>
            <p:cNvPr id="45" name="Group 5"/>
            <p:cNvGrpSpPr>
              <a:grpSpLocks/>
            </p:cNvGrpSpPr>
            <p:nvPr/>
          </p:nvGrpSpPr>
          <p:grpSpPr bwMode="auto">
            <a:xfrm>
              <a:off x="1283635" y="1931727"/>
              <a:ext cx="886282" cy="587568"/>
              <a:chOff x="912" y="768"/>
              <a:chExt cx="2400" cy="1584"/>
            </a:xfrm>
            <a:solidFill>
              <a:schemeClr val="bg1"/>
            </a:solidFill>
          </p:grpSpPr>
          <p:sp>
            <p:nvSpPr>
              <p:cNvPr id="174" name="Oval 6"/>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5" name="Oval 7"/>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6" name="Oval 8"/>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7" name="Oval 9"/>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8" name="Oval 10"/>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9" name="Oval 11"/>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0" name="Oval 12"/>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1" name="Oval 13"/>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2" name="Oval 14"/>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83" name="Group 15"/>
              <p:cNvGrpSpPr>
                <a:grpSpLocks/>
              </p:cNvGrpSpPr>
              <p:nvPr/>
            </p:nvGrpSpPr>
            <p:grpSpPr bwMode="auto">
              <a:xfrm>
                <a:off x="912" y="768"/>
                <a:ext cx="2386" cy="1553"/>
                <a:chOff x="912" y="768"/>
                <a:chExt cx="2386" cy="1553"/>
              </a:xfrm>
              <a:grpFill/>
            </p:grpSpPr>
            <p:sp>
              <p:nvSpPr>
                <p:cNvPr id="184" name="Oval 16"/>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5" name="Oval 17"/>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6" name="Oval 18"/>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7" name="Oval 19"/>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8" name="Oval 20"/>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9" name="Oval 21"/>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0" name="Oval 22"/>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1" name="Oval 23"/>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2" name="Oval 24"/>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46" name="Line 25"/>
            <p:cNvSpPr>
              <a:spLocks noChangeShapeType="1"/>
            </p:cNvSpPr>
            <p:nvPr/>
          </p:nvSpPr>
          <p:spPr bwMode="auto">
            <a:xfrm>
              <a:off x="2169916" y="2208169"/>
              <a:ext cx="470436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47" name="Group 26"/>
            <p:cNvGrpSpPr>
              <a:grpSpLocks/>
            </p:cNvGrpSpPr>
            <p:nvPr/>
          </p:nvGrpSpPr>
          <p:grpSpPr bwMode="auto">
            <a:xfrm>
              <a:off x="6718466" y="1931727"/>
              <a:ext cx="886282" cy="587568"/>
              <a:chOff x="912" y="768"/>
              <a:chExt cx="2400" cy="1584"/>
            </a:xfrm>
            <a:solidFill>
              <a:schemeClr val="bg1"/>
            </a:solidFill>
          </p:grpSpPr>
          <p:sp>
            <p:nvSpPr>
              <p:cNvPr id="155" name="Oval 2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6" name="Oval 2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7" name="Oval 2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8" name="Oval 3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9" name="Oval 3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0" name="Oval 3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1" name="Oval 3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2" name="Oval 3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3" name="Oval 3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64" name="Group 36"/>
              <p:cNvGrpSpPr>
                <a:grpSpLocks/>
              </p:cNvGrpSpPr>
              <p:nvPr/>
            </p:nvGrpSpPr>
            <p:grpSpPr bwMode="auto">
              <a:xfrm>
                <a:off x="912" y="768"/>
                <a:ext cx="2386" cy="1553"/>
                <a:chOff x="912" y="768"/>
                <a:chExt cx="2386" cy="1553"/>
              </a:xfrm>
              <a:grpFill/>
            </p:grpSpPr>
            <p:sp>
              <p:nvSpPr>
                <p:cNvPr id="165" name="Oval 3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6" name="Oval 3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7" name="Oval 3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8" name="Oval 4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9" name="Oval 4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0" name="Oval 4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1" name="Oval 4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2" name="Oval 4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3" name="Oval 4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8" name="Group 46"/>
            <p:cNvGrpSpPr>
              <a:grpSpLocks/>
            </p:cNvGrpSpPr>
            <p:nvPr/>
          </p:nvGrpSpPr>
          <p:grpSpPr bwMode="auto">
            <a:xfrm>
              <a:off x="4968004" y="1954169"/>
              <a:ext cx="886282" cy="588587"/>
              <a:chOff x="912" y="768"/>
              <a:chExt cx="2400" cy="1584"/>
            </a:xfrm>
            <a:solidFill>
              <a:schemeClr val="bg1"/>
            </a:solidFill>
          </p:grpSpPr>
          <p:sp>
            <p:nvSpPr>
              <p:cNvPr id="136" name="Oval 4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7" name="Oval 4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8" name="Oval 4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9" name="Oval 5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0" name="Oval 5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1" name="Oval 5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2" name="Oval 5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3" name="Oval 5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4" name="Oval 5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45" name="Group 56"/>
              <p:cNvGrpSpPr>
                <a:grpSpLocks/>
              </p:cNvGrpSpPr>
              <p:nvPr/>
            </p:nvGrpSpPr>
            <p:grpSpPr bwMode="auto">
              <a:xfrm>
                <a:off x="912" y="768"/>
                <a:ext cx="2386" cy="1553"/>
                <a:chOff x="912" y="768"/>
                <a:chExt cx="2386" cy="1553"/>
              </a:xfrm>
              <a:grpFill/>
            </p:grpSpPr>
            <p:sp>
              <p:nvSpPr>
                <p:cNvPr id="146" name="Oval 5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7" name="Oval 5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8" name="Oval 5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9" name="Oval 6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0" name="Oval 6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1" name="Oval 6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2" name="Oval 6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3" name="Oval 6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4" name="Oval 6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9" name="Group 66"/>
            <p:cNvGrpSpPr>
              <a:grpSpLocks/>
            </p:cNvGrpSpPr>
            <p:nvPr/>
          </p:nvGrpSpPr>
          <p:grpSpPr bwMode="auto">
            <a:xfrm>
              <a:off x="3146816" y="1931727"/>
              <a:ext cx="886282" cy="587568"/>
              <a:chOff x="912" y="768"/>
              <a:chExt cx="2400" cy="1584"/>
            </a:xfrm>
            <a:solidFill>
              <a:schemeClr val="bg1"/>
            </a:solidFill>
          </p:grpSpPr>
          <p:sp>
            <p:nvSpPr>
              <p:cNvPr id="117" name="Oval 6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8" name="Oval 6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9" name="Oval 6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0" name="Oval 7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1" name="Oval 7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2" name="Oval 7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3" name="Oval 7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4" name="Oval 7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5" name="Oval 7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26" name="Group 76"/>
              <p:cNvGrpSpPr>
                <a:grpSpLocks/>
              </p:cNvGrpSpPr>
              <p:nvPr/>
            </p:nvGrpSpPr>
            <p:grpSpPr bwMode="auto">
              <a:xfrm>
                <a:off x="912" y="768"/>
                <a:ext cx="2386" cy="1553"/>
                <a:chOff x="912" y="768"/>
                <a:chExt cx="2386" cy="1553"/>
              </a:xfrm>
              <a:grpFill/>
            </p:grpSpPr>
            <p:sp>
              <p:nvSpPr>
                <p:cNvPr id="127" name="Oval 7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8" name="Oval 7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9" name="Oval 7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0" name="Oval 8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1" name="Oval 8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2" name="Oval 8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3" name="Oval 8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4" name="Oval 8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5" name="Oval 8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50" name="Text Box 86"/>
            <p:cNvSpPr txBox="1">
              <a:spLocks noChangeArrowheads="1"/>
            </p:cNvSpPr>
            <p:nvPr/>
          </p:nvSpPr>
          <p:spPr bwMode="auto">
            <a:xfrm>
              <a:off x="1368727"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1</a:t>
              </a:r>
            </a:p>
            <a:p>
              <a:pPr algn="ctr"/>
              <a:r>
                <a:rPr kumimoji="1" lang="en-US" altLang="zh-CN" sz="1100" b="1" dirty="0">
                  <a:solidFill>
                    <a:srgbClr val="0000CC"/>
                  </a:solidFill>
                  <a:latin typeface="微软雅黑" pitchFamily="34" charset="-122"/>
                  <a:ea typeface="微软雅黑" pitchFamily="34" charset="-122"/>
                </a:rPr>
                <a:t>15.0.0.0</a:t>
              </a:r>
            </a:p>
          </p:txBody>
        </p:sp>
        <p:sp>
          <p:nvSpPr>
            <p:cNvPr id="51" name="Text Box 87"/>
            <p:cNvSpPr txBox="1">
              <a:spLocks noChangeArrowheads="1"/>
            </p:cNvSpPr>
            <p:nvPr/>
          </p:nvSpPr>
          <p:spPr bwMode="auto">
            <a:xfrm>
              <a:off x="683807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4</a:t>
              </a:r>
            </a:p>
            <a:p>
              <a:pPr algn="ctr"/>
              <a:r>
                <a:rPr kumimoji="1" lang="en-US" altLang="zh-CN" sz="1100" b="1" dirty="0">
                  <a:solidFill>
                    <a:srgbClr val="0000CC"/>
                  </a:solidFill>
                  <a:latin typeface="微软雅黑" pitchFamily="34" charset="-122"/>
                  <a:ea typeface="微软雅黑" pitchFamily="34" charset="-122"/>
                </a:rPr>
                <a:t>40.0.0.0</a:t>
              </a:r>
            </a:p>
          </p:txBody>
        </p:sp>
        <p:sp>
          <p:nvSpPr>
            <p:cNvPr id="52" name="Text Box 88"/>
            <p:cNvSpPr txBox="1">
              <a:spLocks noChangeArrowheads="1"/>
            </p:cNvSpPr>
            <p:nvPr/>
          </p:nvSpPr>
          <p:spPr bwMode="auto">
            <a:xfrm>
              <a:off x="506525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3</a:t>
              </a:r>
            </a:p>
            <a:p>
              <a:pPr algn="ctr"/>
              <a:r>
                <a:rPr kumimoji="1" lang="en-US" altLang="zh-CN" sz="1100" b="1" dirty="0">
                  <a:solidFill>
                    <a:srgbClr val="0000CC"/>
                  </a:solidFill>
                  <a:latin typeface="微软雅黑" pitchFamily="34" charset="-122"/>
                  <a:ea typeface="微软雅黑" pitchFamily="34" charset="-122"/>
                </a:rPr>
                <a:t>30.0.0.0</a:t>
              </a:r>
            </a:p>
          </p:txBody>
        </p:sp>
        <p:sp>
          <p:nvSpPr>
            <p:cNvPr id="53" name="Text Box 89"/>
            <p:cNvSpPr txBox="1">
              <a:spLocks noChangeArrowheads="1"/>
            </p:cNvSpPr>
            <p:nvPr/>
          </p:nvSpPr>
          <p:spPr bwMode="auto">
            <a:xfrm>
              <a:off x="3244063"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2</a:t>
              </a:r>
            </a:p>
            <a:p>
              <a:pPr algn="ctr"/>
              <a:r>
                <a:rPr kumimoji="1" lang="en-US" altLang="zh-CN" sz="1100" b="1" dirty="0">
                  <a:solidFill>
                    <a:srgbClr val="0000CC"/>
                  </a:solidFill>
                  <a:latin typeface="微软雅黑" pitchFamily="34" charset="-122"/>
                  <a:ea typeface="微软雅黑" pitchFamily="34" charset="-122"/>
                </a:rPr>
                <a:t>20.0.0.0</a:t>
              </a:r>
            </a:p>
          </p:txBody>
        </p:sp>
        <p:sp>
          <p:nvSpPr>
            <p:cNvPr id="54" name="Text Box 90"/>
            <p:cNvSpPr txBox="1">
              <a:spLocks noChangeArrowheads="1"/>
            </p:cNvSpPr>
            <p:nvPr/>
          </p:nvSpPr>
          <p:spPr bwMode="auto">
            <a:xfrm>
              <a:off x="18096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15.0.0.4</a:t>
              </a:r>
            </a:p>
          </p:txBody>
        </p:sp>
        <p:sp>
          <p:nvSpPr>
            <p:cNvPr id="55" name="Text Box 91"/>
            <p:cNvSpPr txBox="1">
              <a:spLocks noChangeArrowheads="1"/>
            </p:cNvSpPr>
            <p:nvPr/>
          </p:nvSpPr>
          <p:spPr bwMode="auto">
            <a:xfrm>
              <a:off x="63040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40.0.0.4</a:t>
              </a:r>
            </a:p>
          </p:txBody>
        </p:sp>
        <p:sp>
          <p:nvSpPr>
            <p:cNvPr id="56" name="Text Box 92"/>
            <p:cNvSpPr txBox="1">
              <a:spLocks noChangeArrowheads="1"/>
            </p:cNvSpPr>
            <p:nvPr/>
          </p:nvSpPr>
          <p:spPr bwMode="auto">
            <a:xfrm>
              <a:off x="4595590"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30.0.0.2</a:t>
              </a:r>
            </a:p>
          </p:txBody>
        </p:sp>
        <p:sp>
          <p:nvSpPr>
            <p:cNvPr id="57" name="Text Box 93"/>
            <p:cNvSpPr txBox="1">
              <a:spLocks noChangeArrowheads="1"/>
            </p:cNvSpPr>
            <p:nvPr/>
          </p:nvSpPr>
          <p:spPr bwMode="auto">
            <a:xfrm>
              <a:off x="3724779"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20.0.0.9</a:t>
              </a:r>
            </a:p>
          </p:txBody>
        </p:sp>
        <p:sp>
          <p:nvSpPr>
            <p:cNvPr id="58" name="Text Box 94"/>
            <p:cNvSpPr txBox="1">
              <a:spLocks noChangeArrowheads="1"/>
            </p:cNvSpPr>
            <p:nvPr/>
          </p:nvSpPr>
          <p:spPr bwMode="auto">
            <a:xfrm>
              <a:off x="266168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59" name="Line 95"/>
            <p:cNvSpPr>
              <a:spLocks noChangeShapeType="1"/>
            </p:cNvSpPr>
            <p:nvPr/>
          </p:nvSpPr>
          <p:spPr bwMode="auto">
            <a:xfrm>
              <a:off x="2279321"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96"/>
            <p:cNvSpPr>
              <a:spLocks noChangeShapeType="1"/>
            </p:cNvSpPr>
            <p:nvPr/>
          </p:nvSpPr>
          <p:spPr bwMode="auto">
            <a:xfrm>
              <a:off x="3046253"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97"/>
            <p:cNvSpPr>
              <a:spLocks noChangeShapeType="1"/>
            </p:cNvSpPr>
            <p:nvPr/>
          </p:nvSpPr>
          <p:spPr bwMode="auto">
            <a:xfrm>
              <a:off x="5896278"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98"/>
            <p:cNvSpPr>
              <a:spLocks noChangeShapeType="1"/>
            </p:cNvSpPr>
            <p:nvPr/>
          </p:nvSpPr>
          <p:spPr bwMode="auto">
            <a:xfrm>
              <a:off x="4161544"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99"/>
            <p:cNvSpPr>
              <a:spLocks noChangeShapeType="1"/>
            </p:cNvSpPr>
            <p:nvPr/>
          </p:nvSpPr>
          <p:spPr bwMode="auto">
            <a:xfrm>
              <a:off x="6664316" y="1934787"/>
              <a:ext cx="0" cy="25910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100"/>
            <p:cNvSpPr>
              <a:spLocks noChangeShapeType="1"/>
            </p:cNvSpPr>
            <p:nvPr/>
          </p:nvSpPr>
          <p:spPr bwMode="auto">
            <a:xfrm>
              <a:off x="4910539"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Rectangle 101"/>
            <p:cNvSpPr>
              <a:spLocks noChangeArrowheads="1"/>
            </p:cNvSpPr>
            <p:nvPr/>
          </p:nvSpPr>
          <p:spPr bwMode="auto">
            <a:xfrm>
              <a:off x="2769018" y="2912648"/>
              <a:ext cx="3507555" cy="1142492"/>
            </a:xfrm>
            <a:prstGeom prst="rect">
              <a:avLst/>
            </a:prstGeom>
            <a:solidFill>
              <a:srgbClr val="00FFFF"/>
            </a:solidFill>
            <a:ln w="28575">
              <a:solidFill>
                <a:srgbClr val="009900"/>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6" name="Line 102"/>
            <p:cNvSpPr>
              <a:spLocks noChangeShapeType="1"/>
            </p:cNvSpPr>
            <p:nvPr/>
          </p:nvSpPr>
          <p:spPr bwMode="auto">
            <a:xfrm>
              <a:off x="2739038" y="322479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Text Box 103"/>
            <p:cNvSpPr txBox="1">
              <a:spLocks noChangeArrowheads="1"/>
            </p:cNvSpPr>
            <p:nvPr/>
          </p:nvSpPr>
          <p:spPr bwMode="auto">
            <a:xfrm>
              <a:off x="2821722" y="2927950"/>
              <a:ext cx="15696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目的主机所在的网络</a:t>
              </a:r>
            </a:p>
          </p:txBody>
        </p:sp>
        <p:sp>
          <p:nvSpPr>
            <p:cNvPr id="68" name="Text Box 104"/>
            <p:cNvSpPr txBox="1">
              <a:spLocks noChangeArrowheads="1"/>
            </p:cNvSpPr>
            <p:nvPr/>
          </p:nvSpPr>
          <p:spPr bwMode="auto">
            <a:xfrm>
              <a:off x="4857494" y="292488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下一跳地址</a:t>
              </a:r>
            </a:p>
          </p:txBody>
        </p:sp>
        <p:sp>
          <p:nvSpPr>
            <p:cNvPr id="69" name="Line 105"/>
            <p:cNvSpPr>
              <a:spLocks noChangeShapeType="1"/>
            </p:cNvSpPr>
            <p:nvPr/>
          </p:nvSpPr>
          <p:spPr bwMode="auto">
            <a:xfrm>
              <a:off x="4492815" y="2912648"/>
              <a:ext cx="0" cy="1142492"/>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106"/>
            <p:cNvSpPr>
              <a:spLocks noChangeShapeType="1"/>
            </p:cNvSpPr>
            <p:nvPr/>
          </p:nvSpPr>
          <p:spPr bwMode="auto">
            <a:xfrm>
              <a:off x="2739038" y="3431870"/>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107"/>
            <p:cNvSpPr>
              <a:spLocks noChangeShapeType="1"/>
            </p:cNvSpPr>
            <p:nvPr/>
          </p:nvSpPr>
          <p:spPr bwMode="auto">
            <a:xfrm>
              <a:off x="2739038" y="3639967"/>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2" name="Line 108"/>
            <p:cNvSpPr>
              <a:spLocks noChangeShapeType="1"/>
            </p:cNvSpPr>
            <p:nvPr/>
          </p:nvSpPr>
          <p:spPr bwMode="auto">
            <a:xfrm>
              <a:off x="2739038" y="384806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3" name="Text Box 109"/>
            <p:cNvSpPr txBox="1">
              <a:spLocks noChangeArrowheads="1"/>
            </p:cNvSpPr>
            <p:nvPr/>
          </p:nvSpPr>
          <p:spPr bwMode="auto">
            <a:xfrm>
              <a:off x="3213121" y="319215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20.0.0.0</a:t>
              </a:r>
            </a:p>
          </p:txBody>
        </p:sp>
        <p:sp>
          <p:nvSpPr>
            <p:cNvPr id="74" name="Text Box 110"/>
            <p:cNvSpPr txBox="1">
              <a:spLocks noChangeArrowheads="1"/>
            </p:cNvSpPr>
            <p:nvPr/>
          </p:nvSpPr>
          <p:spPr bwMode="auto">
            <a:xfrm>
              <a:off x="3213121" y="339412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30.0.0.0</a:t>
              </a:r>
            </a:p>
          </p:txBody>
        </p:sp>
        <p:sp>
          <p:nvSpPr>
            <p:cNvPr id="75" name="Text Box 111"/>
            <p:cNvSpPr txBox="1">
              <a:spLocks noChangeArrowheads="1"/>
            </p:cNvSpPr>
            <p:nvPr/>
          </p:nvSpPr>
          <p:spPr bwMode="auto">
            <a:xfrm>
              <a:off x="3213121" y="361650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15.0.0.0</a:t>
              </a:r>
            </a:p>
          </p:txBody>
        </p:sp>
        <p:sp>
          <p:nvSpPr>
            <p:cNvPr id="76" name="Text Box 112"/>
            <p:cNvSpPr txBox="1">
              <a:spLocks noChangeArrowheads="1"/>
            </p:cNvSpPr>
            <p:nvPr/>
          </p:nvSpPr>
          <p:spPr bwMode="auto">
            <a:xfrm>
              <a:off x="3213121" y="380828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40.0.0.0</a:t>
              </a:r>
            </a:p>
          </p:txBody>
        </p:sp>
        <p:sp>
          <p:nvSpPr>
            <p:cNvPr id="77" name="Text Box 113"/>
            <p:cNvSpPr txBox="1">
              <a:spLocks noChangeArrowheads="1"/>
            </p:cNvSpPr>
            <p:nvPr/>
          </p:nvSpPr>
          <p:spPr bwMode="auto">
            <a:xfrm>
              <a:off x="4922696" y="3608345"/>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78" name="Text Box 114"/>
            <p:cNvSpPr txBox="1">
              <a:spLocks noChangeArrowheads="1"/>
            </p:cNvSpPr>
            <p:nvPr/>
          </p:nvSpPr>
          <p:spPr bwMode="auto">
            <a:xfrm>
              <a:off x="4922696" y="3816443"/>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sp>
          <p:nvSpPr>
            <p:cNvPr id="79" name="Text Box 115"/>
            <p:cNvSpPr txBox="1">
              <a:spLocks noChangeArrowheads="1"/>
            </p:cNvSpPr>
            <p:nvPr/>
          </p:nvSpPr>
          <p:spPr bwMode="auto">
            <a:xfrm>
              <a:off x="4616584" y="3411468"/>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1</a:t>
              </a:r>
            </a:p>
          </p:txBody>
        </p:sp>
        <p:sp>
          <p:nvSpPr>
            <p:cNvPr id="80" name="Text Box 116"/>
            <p:cNvSpPr txBox="1">
              <a:spLocks noChangeArrowheads="1"/>
            </p:cNvSpPr>
            <p:nvPr/>
          </p:nvSpPr>
          <p:spPr bwMode="auto">
            <a:xfrm>
              <a:off x="4616584" y="3190112"/>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0</a:t>
              </a:r>
            </a:p>
          </p:txBody>
        </p:sp>
        <p:sp>
          <p:nvSpPr>
            <p:cNvPr id="81" name="Text Box 117"/>
            <p:cNvSpPr txBox="1">
              <a:spLocks noChangeArrowheads="1"/>
            </p:cNvSpPr>
            <p:nvPr/>
          </p:nvSpPr>
          <p:spPr bwMode="auto">
            <a:xfrm>
              <a:off x="3630742" y="2579704"/>
              <a:ext cx="174599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2</a:t>
              </a:r>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的转发表</a:t>
              </a:r>
            </a:p>
          </p:txBody>
        </p:sp>
        <p:sp>
          <p:nvSpPr>
            <p:cNvPr id="82" name="Text Box 118"/>
            <p:cNvSpPr txBox="1">
              <a:spLocks noChangeArrowheads="1"/>
            </p:cNvSpPr>
            <p:nvPr/>
          </p:nvSpPr>
          <p:spPr bwMode="auto">
            <a:xfrm>
              <a:off x="548187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pic>
          <p:nvPicPr>
            <p:cNvPr id="101" name="Picture 13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43978" y="2090860"/>
              <a:ext cx="499501" cy="2366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140"/>
            <p:cNvSpPr txBox="1">
              <a:spLocks noChangeArrowheads="1"/>
            </p:cNvSpPr>
            <p:nvPr/>
          </p:nvSpPr>
          <p:spPr bwMode="auto">
            <a:xfrm>
              <a:off x="4371512"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2</a:t>
              </a:r>
              <a:endParaRPr kumimoji="1" lang="en-US" altLang="zh-CN" sz="1200" b="1" dirty="0">
                <a:solidFill>
                  <a:srgbClr val="0000CC"/>
                </a:solidFill>
                <a:latin typeface="微软雅黑" pitchFamily="34" charset="-122"/>
                <a:ea typeface="微软雅黑" pitchFamily="34" charset="-122"/>
              </a:endParaRPr>
            </a:p>
          </p:txBody>
        </p:sp>
        <p:sp>
          <p:nvSpPr>
            <p:cNvPr id="103" name="Text Box 141"/>
            <p:cNvSpPr txBox="1">
              <a:spLocks noChangeArrowheads="1"/>
            </p:cNvSpPr>
            <p:nvPr/>
          </p:nvSpPr>
          <p:spPr bwMode="auto">
            <a:xfrm>
              <a:off x="6115811"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3</a:t>
              </a:r>
              <a:endParaRPr kumimoji="1" lang="en-US" altLang="zh-CN" sz="1200" b="1" dirty="0">
                <a:solidFill>
                  <a:srgbClr val="0000CC"/>
                </a:solidFill>
                <a:latin typeface="微软雅黑" pitchFamily="34" charset="-122"/>
                <a:ea typeface="微软雅黑" pitchFamily="34" charset="-122"/>
              </a:endParaRPr>
            </a:p>
          </p:txBody>
        </p:sp>
        <p:sp>
          <p:nvSpPr>
            <p:cNvPr id="104" name="Text Box 142"/>
            <p:cNvSpPr txBox="1">
              <a:spLocks noChangeArrowheads="1"/>
            </p:cNvSpPr>
            <p:nvPr/>
          </p:nvSpPr>
          <p:spPr bwMode="auto">
            <a:xfrm>
              <a:off x="2516915"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1</a:t>
              </a:r>
              <a:endParaRPr kumimoji="1" lang="en-US" altLang="zh-CN" sz="1200" b="1" dirty="0">
                <a:solidFill>
                  <a:srgbClr val="0000CC"/>
                </a:solidFill>
                <a:latin typeface="微软雅黑" pitchFamily="34" charset="-122"/>
                <a:ea typeface="微软雅黑" pitchFamily="34" charset="-122"/>
              </a:endParaRPr>
            </a:p>
          </p:txBody>
        </p:sp>
        <p:sp>
          <p:nvSpPr>
            <p:cNvPr id="105" name="Text Box 146"/>
            <p:cNvSpPr txBox="1">
              <a:spLocks noChangeArrowheads="1"/>
            </p:cNvSpPr>
            <p:nvPr/>
          </p:nvSpPr>
          <p:spPr bwMode="auto">
            <a:xfrm>
              <a:off x="4025618" y="217348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106" name="Text Box 147"/>
            <p:cNvSpPr txBox="1">
              <a:spLocks noChangeArrowheads="1"/>
            </p:cNvSpPr>
            <p:nvPr/>
          </p:nvSpPr>
          <p:spPr bwMode="auto">
            <a:xfrm>
              <a:off x="4765773" y="217756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a:t>
              </a:r>
            </a:p>
          </p:txBody>
        </p:sp>
        <p:pic>
          <p:nvPicPr>
            <p:cNvPr id="107" name="Picture 1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76217" y="2076579"/>
              <a:ext cx="500606"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1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5466" y="2080659"/>
              <a:ext cx="499501"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93" name="Text Box 155"/>
          <p:cNvSpPr txBox="1">
            <a:spLocks noChangeArrowheads="1"/>
          </p:cNvSpPr>
          <p:nvPr/>
        </p:nvSpPr>
        <p:spPr bwMode="auto">
          <a:xfrm>
            <a:off x="1342352" y="739971"/>
            <a:ext cx="6557464" cy="1311128"/>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为了压缩转发表的大小，</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转发表中最主要的路由是（目的网络地址，下一跳地址） ，</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而不是（目的地址，下一跳地址）。</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rgbClr val="FFFF00"/>
                </a:solidFill>
                <a:latin typeface="微软雅黑" pitchFamily="34" charset="-122"/>
                <a:ea typeface="微软雅黑" pitchFamily="34" charset="-122"/>
              </a:rPr>
              <a:t>查找转发表的过程就是逐行寻找前缀匹配。</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9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3"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椭圆 3"/>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8" name="Group 125"/>
          <p:cNvGraphicFramePr>
            <a:graphicFrameLocks noGrp="1"/>
          </p:cNvGraphicFramePr>
          <p:nvPr>
            <p:extLst>
              <p:ext uri="{D42A27DB-BD31-4B8C-83A1-F6EECF244321}">
                <p14:modId xmlns:p14="http://schemas.microsoft.com/office/powerpoint/2010/main" val="255871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 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grpSp>
        <p:nvGrpSpPr>
          <p:cNvPr id="5" name="组合 62"/>
          <p:cNvGrpSpPr/>
          <p:nvPr/>
        </p:nvGrpSpPr>
        <p:grpSpPr>
          <a:xfrm>
            <a:off x="354487" y="816458"/>
            <a:ext cx="7304424" cy="3440748"/>
            <a:chOff x="354487" y="816458"/>
            <a:chExt cx="7304424" cy="3440748"/>
          </a:xfrm>
        </p:grpSpPr>
        <p:grpSp>
          <p:nvGrpSpPr>
            <p:cNvPr id="24" name="组合 67"/>
            <p:cNvGrpSpPr/>
            <p:nvPr/>
          </p:nvGrpSpPr>
          <p:grpSpPr>
            <a:xfrm>
              <a:off x="354487" y="816458"/>
              <a:ext cx="7304424" cy="3440748"/>
              <a:chOff x="354487" y="816458"/>
              <a:chExt cx="7304424" cy="3440748"/>
            </a:xfrm>
          </p:grpSpPr>
          <p:sp>
            <p:nvSpPr>
              <p:cNvPr id="65" name="直角三角形 64"/>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椭圆 1"/>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3" name="椭圆 2"/>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6"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3"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15"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16" name="Text Box 10"/>
              <p:cNvSpPr txBox="1">
                <a:spLocks noChangeArrowheads="1"/>
              </p:cNvSpPr>
              <p:nvPr/>
            </p:nvSpPr>
            <p:spPr bwMode="auto">
              <a:xfrm>
                <a:off x="590769" y="1099476"/>
                <a:ext cx="1726756"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17"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2" name="Group 18"/>
              <p:cNvGrpSpPr>
                <a:grpSpLocks/>
              </p:cNvGrpSpPr>
              <p:nvPr/>
            </p:nvGrpSpPr>
            <p:grpSpPr bwMode="auto">
              <a:xfrm>
                <a:off x="3943605" y="2125684"/>
                <a:ext cx="531842" cy="303367"/>
                <a:chOff x="864" y="1824"/>
                <a:chExt cx="432" cy="288"/>
              </a:xfrm>
            </p:grpSpPr>
            <p:pic>
              <p:nvPicPr>
                <p:cNvPr id="25"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27"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29"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0"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31"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0" name="Group 28"/>
              <p:cNvGrpSpPr>
                <a:grpSpLocks/>
              </p:cNvGrpSpPr>
              <p:nvPr/>
            </p:nvGrpSpPr>
            <p:grpSpPr bwMode="auto">
              <a:xfrm>
                <a:off x="3032567" y="3427224"/>
                <a:ext cx="531841" cy="303366"/>
                <a:chOff x="864" y="1824"/>
                <a:chExt cx="432" cy="288"/>
              </a:xfrm>
            </p:grpSpPr>
            <p:pic>
              <p:nvPicPr>
                <p:cNvPr id="33"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4"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5"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36"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7"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39"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40"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1"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2"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3"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4"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46"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47"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8"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5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5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7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61" name="组合 68"/>
          <p:cNvGrpSpPr/>
          <p:nvPr/>
        </p:nvGrpSpPr>
        <p:grpSpPr>
          <a:xfrm>
            <a:off x="1172946" y="1165057"/>
            <a:ext cx="6897628" cy="3551016"/>
            <a:chOff x="1172946" y="1165057"/>
            <a:chExt cx="6897628" cy="3551016"/>
          </a:xfrm>
        </p:grpSpPr>
        <p:sp>
          <p:nvSpPr>
            <p:cNvPr id="67" name="矩形 66"/>
            <p:cNvSpPr/>
            <p:nvPr/>
          </p:nvSpPr>
          <p:spPr>
            <a:xfrm>
              <a:off x="1172946" y="4346741"/>
              <a:ext cx="6897628"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主机 </a:t>
              </a:r>
              <a:r>
                <a:rPr lang="en-US" altLang="zh-CN" b="1" dirty="0">
                  <a:solidFill>
                    <a:srgbClr val="C00000"/>
                  </a:solidFill>
                  <a:latin typeface="微软雅黑" panose="020B0503020204020204" pitchFamily="34" charset="-122"/>
                  <a:ea typeface="微软雅黑" panose="020B0503020204020204" pitchFamily="34" charset="-122"/>
                </a:rPr>
                <a:t>H</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发送出的、目的地址是 </a:t>
              </a:r>
              <a:r>
                <a:rPr lang="en-US" altLang="zh-CN" b="1" dirty="0">
                  <a:solidFill>
                    <a:srgbClr val="C00000"/>
                  </a:solidFill>
                  <a:latin typeface="微软雅黑" panose="020B0503020204020204" pitchFamily="34" charset="-122"/>
                  <a:ea typeface="微软雅黑" panose="020B0503020204020204" pitchFamily="34" charset="-122"/>
                </a:rPr>
                <a:t>128.1.2.132 </a:t>
              </a:r>
              <a:r>
                <a:rPr lang="zh-CN" altLang="en-US" b="1" dirty="0">
                  <a:solidFill>
                    <a:srgbClr val="C00000"/>
                  </a:solidFill>
                  <a:latin typeface="微软雅黑" panose="020B0503020204020204" pitchFamily="34" charset="-122"/>
                  <a:ea typeface="微软雅黑" panose="020B0503020204020204" pitchFamily="34" charset="-122"/>
                </a:rPr>
                <a:t>的分组是如何转发的？</a:t>
              </a:r>
            </a:p>
          </p:txBody>
        </p:sp>
        <p:sp>
          <p:nvSpPr>
            <p:cNvPr id="49" name="Line 126"/>
            <p:cNvSpPr>
              <a:spLocks noChangeShapeType="1"/>
            </p:cNvSpPr>
            <p:nvPr/>
          </p:nvSpPr>
          <p:spPr bwMode="auto">
            <a:xfrm>
              <a:off x="3730473" y="1165057"/>
              <a:ext cx="1829419" cy="1971537"/>
            </a:xfrm>
            <a:prstGeom prst="line">
              <a:avLst/>
            </a:prstGeom>
            <a:noFill/>
            <a:ln w="57150" cap="rnd">
              <a:solidFill>
                <a:srgbClr val="C00000">
                  <a:alpha val="96000"/>
                </a:srgbClr>
              </a:solidFill>
              <a:prstDash val="sysDot"/>
              <a:round/>
              <a:headEnd/>
              <a:tailEnd type="triangle" w="med" len="me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3397991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064302" y="1093145"/>
            <a:ext cx="7150307" cy="3059130"/>
          </a:xfrm>
          <a:prstGeom prst="rect">
            <a:avLst/>
          </a:prstGeom>
          <a:solidFill>
            <a:srgbClr val="C3E3F9"/>
          </a:solidFill>
          <a:ln w="2857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64"/>
          <p:cNvSpPr txBox="1">
            <a:spLocks noChangeArrowheads="1"/>
          </p:cNvSpPr>
          <p:nvPr/>
        </p:nvSpPr>
        <p:spPr bwMode="auto">
          <a:xfrm>
            <a:off x="2159286" y="1283392"/>
            <a:ext cx="4753224"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lvl="0">
              <a:lnSpc>
                <a:spcPts val="2600"/>
              </a:lnSpc>
              <a:defRPr/>
            </a:pPr>
            <a:r>
              <a:rPr lang="en-US" altLang="zh-CN" b="1" kern="0" dirty="0">
                <a:latin typeface="微软雅黑" pitchFamily="34" charset="-122"/>
                <a:ea typeface="微软雅黑" pitchFamily="34" charset="-122"/>
              </a:rPr>
              <a:t>N</a:t>
            </a:r>
            <a:r>
              <a:rPr lang="en-US" altLang="zh-CN" b="1" kern="0" baseline="-25000" dirty="0">
                <a:latin typeface="微软雅黑" pitchFamily="34" charset="-122"/>
                <a:ea typeface="微软雅黑" pitchFamily="34" charset="-122"/>
              </a:rPr>
              <a:t>1</a:t>
            </a:r>
            <a:r>
              <a:rPr lang="en-US" altLang="zh-CN" b="1" kern="0" dirty="0">
                <a:latin typeface="微软雅黑" pitchFamily="34" charset="-122"/>
                <a:ea typeface="微软雅黑" pitchFamily="34" charset="-122"/>
              </a:rPr>
              <a:t> </a:t>
            </a:r>
            <a:r>
              <a:rPr lang="zh-CN" altLang="en-US" b="1" kern="0" dirty="0">
                <a:latin typeface="微软雅黑" pitchFamily="34" charset="-122"/>
                <a:ea typeface="微软雅黑" pitchFamily="34" charset="-122"/>
              </a:rPr>
              <a:t>的网络地址为 </a:t>
            </a:r>
            <a:r>
              <a:rPr lang="en-US" altLang="zh-CN" b="1" kern="0" dirty="0">
                <a:solidFill>
                  <a:srgbClr val="C00000"/>
                </a:solidFill>
                <a:latin typeface="微软雅黑" pitchFamily="34" charset="-122"/>
                <a:ea typeface="微软雅黑" pitchFamily="34" charset="-122"/>
              </a:rPr>
              <a:t>128.1.2.192</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lvl="0">
              <a:lnSpc>
                <a:spcPts val="2600"/>
              </a:lnSpc>
              <a:defRPr/>
            </a:pPr>
            <a:r>
              <a:rPr kumimoji="0" lang="en-US" altLang="zh-CN" b="1" i="0" u="none" strike="noStrike" kern="0" cap="none" spc="0" normalizeH="0" baseline="0" noProof="0" dirty="0">
                <a:ln>
                  <a:noFill/>
                </a:ln>
                <a:effectLst/>
                <a:uLnTx/>
                <a:uFillTx/>
                <a:latin typeface="微软雅黑" pitchFamily="34" charset="-122"/>
                <a:ea typeface="微软雅黑" pitchFamily="34" charset="-122"/>
              </a:rPr>
              <a:t>N</a:t>
            </a:r>
            <a:r>
              <a:rPr kumimoji="0" lang="en-US" altLang="zh-CN" b="1" i="0" u="none" strike="noStrike" kern="0" cap="none" spc="0" normalizeH="0" baseline="-25000" noProof="0" dirty="0">
                <a:ln>
                  <a:noFill/>
                </a:ln>
                <a:effectLst/>
                <a:uLnTx/>
                <a:uFillTx/>
                <a:latin typeface="微软雅黑" pitchFamily="34" charset="-122"/>
                <a:ea typeface="微软雅黑" pitchFamily="34" charset="-122"/>
              </a:rPr>
              <a:t>1</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effectLst/>
                <a:uLnTx/>
                <a:uFillTx/>
                <a:latin typeface="微软雅黑" pitchFamily="34" charset="-122"/>
                <a:ea typeface="微软雅黑" pitchFamily="34" charset="-122"/>
              </a:rPr>
              <a:t>的网络掩码为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/26 </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255.255.255.192 </a:t>
            </a:r>
            <a:endParaRPr kumimoji="0" lang="zh-CN" altLang="en-US" b="1" i="0" u="none" strike="noStrike" kern="0" cap="none" spc="0" normalizeH="0" baseline="0" noProof="0" dirty="0">
              <a:ln>
                <a:noFill/>
              </a:ln>
              <a:effectLst/>
              <a:uLnTx/>
              <a:uFillTx/>
              <a:latin typeface="微软雅黑" pitchFamily="34" charset="-122"/>
              <a:ea typeface="微软雅黑" pitchFamily="34" charset="-122"/>
            </a:endParaRPr>
          </a:p>
        </p:txBody>
      </p:sp>
      <p:grpSp>
        <p:nvGrpSpPr>
          <p:cNvPr id="5" name="组合 4"/>
          <p:cNvGrpSpPr/>
          <p:nvPr/>
        </p:nvGrpSpPr>
        <p:grpSpPr>
          <a:xfrm>
            <a:off x="3613546" y="2110175"/>
            <a:ext cx="2228581" cy="1200006"/>
            <a:chOff x="3613546" y="2110175"/>
            <a:chExt cx="2228581" cy="1200006"/>
          </a:xfrm>
        </p:grpSpPr>
        <p:sp>
          <p:nvSpPr>
            <p:cNvPr id="10" name="Text Box 72"/>
            <p:cNvSpPr txBox="1">
              <a:spLocks noChangeArrowheads="1"/>
            </p:cNvSpPr>
            <p:nvPr/>
          </p:nvSpPr>
          <p:spPr bwMode="auto">
            <a:xfrm>
              <a:off x="3628136" y="2110175"/>
              <a:ext cx="2093843"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ts val="2600"/>
                </a:lnSpc>
                <a:defRPr/>
              </a:pPr>
              <a:r>
                <a:rPr lang="en-US" altLang="zh-CN" b="1" kern="0" dirty="0">
                  <a:solidFill>
                    <a:srgbClr val="CC0099"/>
                  </a:solidFill>
                  <a:latin typeface="微软雅黑" pitchFamily="34" charset="-122"/>
                  <a:ea typeface="微软雅黑" pitchFamily="34" charset="-122"/>
                </a:rPr>
                <a:t>128.  1  .  </a:t>
              </a:r>
              <a:r>
                <a:rPr lang="en-US" altLang="zh-CN" sz="500" b="1" kern="0" dirty="0">
                  <a:solidFill>
                    <a:srgbClr val="CC0099"/>
                  </a:solidFill>
                  <a:latin typeface="微软雅黑" pitchFamily="34" charset="-122"/>
                  <a:ea typeface="微软雅黑" pitchFamily="34" charset="-122"/>
                </a:rPr>
                <a:t> </a:t>
              </a:r>
              <a:r>
                <a:rPr lang="en-US" altLang="zh-CN" b="1" kern="0" dirty="0">
                  <a:solidFill>
                    <a:srgbClr val="CC0099"/>
                  </a:solidFill>
                  <a:latin typeface="微软雅黑" pitchFamily="34" charset="-122"/>
                  <a:ea typeface="微软雅黑" pitchFamily="34" charset="-122"/>
                </a:rPr>
                <a:t>2  .132</a:t>
              </a:r>
            </a:p>
            <a:p>
              <a:pPr marL="0" marR="0" lvl="0" indent="0" defTabSz="914400" eaLnBrk="1" fontAlgn="auto" latinLnBrk="0" hangingPunct="1">
                <a:lnSpc>
                  <a:spcPts val="26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255.255.255.192</a:t>
              </a:r>
            </a:p>
          </p:txBody>
        </p:sp>
        <p:sp>
          <p:nvSpPr>
            <p:cNvPr id="11" name="Text Box 73"/>
            <p:cNvSpPr txBox="1">
              <a:spLocks noChangeArrowheads="1"/>
            </p:cNvSpPr>
            <p:nvPr/>
          </p:nvSpPr>
          <p:spPr bwMode="auto">
            <a:xfrm>
              <a:off x="3628136" y="2940878"/>
              <a:ext cx="2101832" cy="3693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128.  1  .  </a:t>
              </a:r>
              <a:r>
                <a:rPr kumimoji="0" lang="en-US" altLang="zh-CN" sz="7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 </a:t>
              </a: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2  .128</a:t>
              </a:r>
            </a:p>
          </p:txBody>
        </p:sp>
        <p:sp>
          <p:nvSpPr>
            <p:cNvPr id="12" name="Line 74"/>
            <p:cNvSpPr>
              <a:spLocks noChangeShapeType="1"/>
            </p:cNvSpPr>
            <p:nvPr/>
          </p:nvSpPr>
          <p:spPr bwMode="auto">
            <a:xfrm>
              <a:off x="3613546" y="2873401"/>
              <a:ext cx="2228581"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13" name="Text Box 75"/>
          <p:cNvSpPr txBox="1">
            <a:spLocks noChangeArrowheads="1"/>
          </p:cNvSpPr>
          <p:nvPr/>
        </p:nvSpPr>
        <p:spPr bwMode="auto">
          <a:xfrm>
            <a:off x="1319312" y="2154856"/>
            <a:ext cx="2294234" cy="7076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目的地址与网络掩码</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逐比特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AND</a:t>
            </a:r>
            <a:endPar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p:txBody>
      </p:sp>
      <p:sp>
        <p:nvSpPr>
          <p:cNvPr id="16" name="Text Box 78"/>
          <p:cNvSpPr txBox="1">
            <a:spLocks noChangeArrowheads="1"/>
          </p:cNvSpPr>
          <p:nvPr/>
        </p:nvSpPr>
        <p:spPr bwMode="auto">
          <a:xfrm>
            <a:off x="5840992" y="2849167"/>
            <a:ext cx="204254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2400"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H</a:t>
            </a:r>
            <a:r>
              <a:rPr kumimoji="0" lang="en-US" altLang="zh-CN" b="1" i="0" u="none" strike="noStrike" kern="0" cap="none" spc="0" normalizeH="0" baseline="-25000" noProof="0" dirty="0">
                <a:ln>
                  <a:noFill/>
                </a:ln>
                <a:solidFill>
                  <a:srgbClr val="CC0099"/>
                </a:solidFill>
                <a:effectLst/>
                <a:uLnTx/>
                <a:uFillTx/>
                <a:latin typeface="微软雅黑" pitchFamily="34" charset="-122"/>
                <a:ea typeface="微软雅黑" pitchFamily="34" charset="-122"/>
                <a:sym typeface="Symbol" pitchFamily="18" charset="2"/>
              </a:rPr>
              <a:t>1</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zh-CN" altLang="en-US"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的网络地址</a:t>
            </a:r>
          </a:p>
        </p:txBody>
      </p:sp>
      <p:sp>
        <p:nvSpPr>
          <p:cNvPr id="19" name="矩形 18"/>
          <p:cNvSpPr/>
          <p:nvPr/>
        </p:nvSpPr>
        <p:spPr>
          <a:xfrm>
            <a:off x="1841928" y="3327462"/>
            <a:ext cx="5575852" cy="826637"/>
          </a:xfrm>
          <a:prstGeom prst="rect">
            <a:avLst/>
          </a:prstGeom>
        </p:spPr>
        <p:txBody>
          <a:bodyPr wrap="square">
            <a:spAutoFit/>
          </a:bodyPr>
          <a:lstStyle/>
          <a:p>
            <a:pPr algn="ctr">
              <a:lnSpc>
                <a:spcPts val="3000"/>
              </a:lnSpc>
            </a:pPr>
            <a:r>
              <a:rPr lang="en-US" altLang="zh-CN" sz="2000" b="1" dirty="0">
                <a:latin typeface="微软雅黑" panose="020B0503020204020204" pitchFamily="34" charset="-122"/>
                <a:ea typeface="微软雅黑" panose="020B0503020204020204" pitchFamily="34" charset="-122"/>
              </a:rPr>
              <a:t>128.1.2.132 </a:t>
            </a:r>
            <a:r>
              <a:rPr lang="zh-CN" altLang="en-US" sz="2000" b="1" dirty="0">
                <a:latin typeface="微软雅黑" panose="020B0503020204020204" pitchFamily="34" charset="-122"/>
                <a:ea typeface="微软雅黑" panose="020B0503020204020204" pitchFamily="34" charset="-122"/>
              </a:rPr>
              <a:t>不在本地网络上。</a:t>
            </a:r>
            <a:endParaRPr lang="en-US" altLang="zh-CN" sz="2000" b="1" dirty="0">
              <a:latin typeface="微软雅黑" panose="020B0503020204020204" pitchFamily="34" charset="-122"/>
              <a:ea typeface="微软雅黑" panose="020B0503020204020204" pitchFamily="34" charset="-122"/>
            </a:endParaRPr>
          </a:p>
          <a:p>
            <a:pPr algn="ctr">
              <a:lnSpc>
                <a:spcPts val="3000"/>
              </a:lnSpc>
            </a:pPr>
            <a:r>
              <a:rPr lang="zh-CN" altLang="en-US" sz="2000" b="1" dirty="0">
                <a:latin typeface="微软雅黑" panose="020B0503020204020204" pitchFamily="34" charset="-122"/>
                <a:ea typeface="微软雅黑" panose="020B0503020204020204" pitchFamily="34" charset="-122"/>
              </a:rPr>
              <a:t>源主机 </a:t>
            </a:r>
            <a:r>
              <a:rPr lang="en-US" altLang="zh-CN" sz="2000" b="1" dirty="0">
                <a:latin typeface="微软雅黑" panose="020B0503020204020204" pitchFamily="34" charset="-122"/>
                <a:ea typeface="微软雅黑" panose="020B0503020204020204" pitchFamily="34" charset="-122"/>
              </a:rPr>
              <a:t>H</a:t>
            </a:r>
            <a:r>
              <a:rPr lang="en-US" altLang="zh-CN" sz="2000" b="1" baseline="-25000" dirty="0">
                <a:latin typeface="微软雅黑" panose="020B0503020204020204" pitchFamily="34" charset="-122"/>
                <a:ea typeface="微软雅黑" panose="020B0503020204020204" pitchFamily="34" charset="-122"/>
              </a:rPr>
              <a:t>1</a:t>
            </a:r>
            <a:r>
              <a:rPr lang="en-US" altLang="zh-CN" sz="2000" b="1" dirty="0">
                <a:latin typeface="微软雅黑" panose="020B0503020204020204" pitchFamily="34" charset="-122"/>
                <a:ea typeface="微软雅黑" panose="020B0503020204020204" pitchFamily="34" charset="-122"/>
              </a:rPr>
              <a:t> </a:t>
            </a:r>
            <a:r>
              <a:rPr lang="zh-CN" altLang="en-US" sz="2000" b="1" dirty="0">
                <a:latin typeface="微软雅黑" panose="020B0503020204020204" pitchFamily="34" charset="-122"/>
                <a:ea typeface="微软雅黑" panose="020B0503020204020204" pitchFamily="34" charset="-122"/>
              </a:rPr>
              <a:t>必须把分组发送给路由器 </a:t>
            </a:r>
            <a:r>
              <a:rPr lang="en-US" altLang="zh-CN" sz="2000" b="1" dirty="0">
                <a:latin typeface="微软雅黑" panose="020B0503020204020204" pitchFamily="34" charset="-122"/>
                <a:ea typeface="微软雅黑" panose="020B0503020204020204" pitchFamily="34" charset="-122"/>
              </a:rPr>
              <a:t>R</a:t>
            </a:r>
            <a:r>
              <a:rPr lang="en-US" altLang="zh-CN" sz="2000" b="1" baseline="-25000" dirty="0">
                <a:latin typeface="微软雅黑" panose="020B0503020204020204" pitchFamily="34" charset="-122"/>
                <a:ea typeface="微软雅黑" panose="020B0503020204020204" pitchFamily="34" charset="-122"/>
              </a:rPr>
              <a:t>1</a:t>
            </a:r>
            <a:r>
              <a:rPr lang="zh-CN" altLang="en-US" sz="2000" b="1" dirty="0">
                <a:latin typeface="微软雅黑" panose="020B0503020204020204" pitchFamily="34" charset="-122"/>
                <a:ea typeface="微软雅黑" panose="020B0503020204020204" pitchFamily="34" charset="-122"/>
              </a:rPr>
              <a:t>。</a:t>
            </a:r>
          </a:p>
        </p:txBody>
      </p:sp>
      <p:sp>
        <p:nvSpPr>
          <p:cNvPr id="2" name="Text Box 155"/>
          <p:cNvSpPr txBox="1">
            <a:spLocks noChangeArrowheads="1"/>
          </p:cNvSpPr>
          <p:nvPr/>
        </p:nvSpPr>
        <p:spPr bwMode="auto">
          <a:xfrm>
            <a:off x="1333007" y="610084"/>
            <a:ext cx="659369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H</a:t>
            </a:r>
            <a:r>
              <a:rPr lang="en-US" altLang="zh-CN" sz="1600" b="1" baseline="-25000" dirty="0">
                <a:solidFill>
                  <a:schemeClr val="bg1"/>
                </a:solidFill>
                <a:latin typeface="微软雅黑" pitchFamily="34" charset="-122"/>
                <a:ea typeface="微软雅黑" pitchFamily="34" charset="-122"/>
              </a:rPr>
              <a:t>1</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首先检查 </a:t>
            </a:r>
            <a:r>
              <a:rPr lang="en-US" altLang="zh-CN" sz="1600" b="1" dirty="0">
                <a:solidFill>
                  <a:srgbClr val="FFFF00"/>
                </a:solidFill>
                <a:latin typeface="微软雅黑" pitchFamily="34" charset="-122"/>
                <a:ea typeface="微软雅黑" pitchFamily="34" charset="-122"/>
              </a:rPr>
              <a:t>128.1.2.132</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是否连接在本网络上。</a:t>
            </a:r>
          </a:p>
          <a:p>
            <a:pPr algn="ctr">
              <a:lnSpc>
                <a:spcPct val="110000"/>
              </a:lnSpc>
            </a:pPr>
            <a:r>
              <a:rPr lang="zh-CN" altLang="en-US" sz="1600" b="1" dirty="0">
                <a:solidFill>
                  <a:schemeClr val="bg1"/>
                </a:solidFill>
                <a:latin typeface="微软雅黑" pitchFamily="34" charset="-122"/>
                <a:ea typeface="微软雅黑" pitchFamily="34" charset="-122"/>
              </a:rPr>
              <a:t>如果是，则直接交付；否则，就送交路由器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13353151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1"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childTnLst>
                                </p:cTn>
                              </p:par>
                            </p:childTnLst>
                          </p:cTn>
                        </p:par>
                        <p:par>
                          <p:cTn id="16" fill="hold">
                            <p:stCondLst>
                              <p:cond delay="0"/>
                            </p:stCondLst>
                            <p:childTnLst>
                              <p:par>
                                <p:cTn id="17" presetID="35" presetClass="emph" presetSubtype="0" repeatCount="3000" fill="hold" grpId="1" nodeType="afterEffect">
                                  <p:stCondLst>
                                    <p:cond delay="0"/>
                                  </p:stCondLst>
                                  <p:childTnLst>
                                    <p:anim calcmode="discrete" valueType="str">
                                      <p:cBhvr>
                                        <p:cTn id="18" dur="1000" fill="hold"/>
                                        <p:tgtEl>
                                          <p:spTgt spid="16"/>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p:bldP spid="16" grpId="1"/>
      <p:bldP spid="19"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87931669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128.1.2.128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4" name="组合 3"/>
          <p:cNvGrpSpPr/>
          <p:nvPr/>
        </p:nvGrpSpPr>
        <p:grpSpPr>
          <a:xfrm>
            <a:off x="354487" y="816458"/>
            <a:ext cx="7304424" cy="3440748"/>
            <a:chOff x="354487" y="816458"/>
            <a:chExt cx="7304424" cy="3440748"/>
          </a:xfrm>
        </p:grpSpPr>
        <p:grpSp>
          <p:nvGrpSpPr>
            <p:cNvPr id="5"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6"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7"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2" name="任意多边形 1"/>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Tree>
    <p:extLst>
      <p:ext uri="{BB962C8B-B14F-4D97-AF65-F5344CB8AC3E}">
        <p14:creationId xmlns:p14="http://schemas.microsoft.com/office/powerpoint/2010/main" val="596017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128" grpId="0" animBg="1"/>
      <p:bldP spid="128" grpId="1"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1705004336"/>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8" y="4333600"/>
            <a:ext cx="6865200"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16458"/>
            <a:ext cx="7304424" cy="3440748"/>
            <a:chOff x="354487" y="816458"/>
            <a:chExt cx="7304424" cy="3440748"/>
          </a:xfrm>
        </p:grpSpPr>
        <p:grpSp>
          <p:nvGrpSpPr>
            <p:cNvPr id="4"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130" name="任意多边形 129"/>
          <p:cNvSpPr/>
          <p:nvPr/>
        </p:nvSpPr>
        <p:spPr>
          <a:xfrm>
            <a:off x="4487288" y="2442641"/>
            <a:ext cx="1057969" cy="655366"/>
          </a:xfrm>
          <a:custGeom>
            <a:avLst/>
            <a:gdLst>
              <a:gd name="connsiteX0" fmla="*/ 2833 w 1057969"/>
              <a:gd name="connsiteY0" fmla="*/ 0 h 655366"/>
              <a:gd name="connsiteX1" fmla="*/ 17823 w 1057969"/>
              <a:gd name="connsiteY1" fmla="*/ 164892 h 655366"/>
              <a:gd name="connsiteX2" fmla="*/ 137744 w 1057969"/>
              <a:gd name="connsiteY2" fmla="*/ 314793 h 655366"/>
              <a:gd name="connsiteX3" fmla="*/ 977194 w 1057969"/>
              <a:gd name="connsiteY3" fmla="*/ 629587 h 655366"/>
              <a:gd name="connsiteX4" fmla="*/ 977194 w 1057969"/>
              <a:gd name="connsiteY4" fmla="*/ 614597 h 6553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7969" h="655366">
                <a:moveTo>
                  <a:pt x="2833" y="0"/>
                </a:moveTo>
                <a:cubicBezTo>
                  <a:pt x="-915" y="56213"/>
                  <a:pt x="-4662" y="112427"/>
                  <a:pt x="17823" y="164892"/>
                </a:cubicBezTo>
                <a:cubicBezTo>
                  <a:pt x="40308" y="217358"/>
                  <a:pt x="-22151" y="237344"/>
                  <a:pt x="137744" y="314793"/>
                </a:cubicBezTo>
                <a:cubicBezTo>
                  <a:pt x="297639" y="392242"/>
                  <a:pt x="977194" y="629587"/>
                  <a:pt x="977194" y="629587"/>
                </a:cubicBezTo>
                <a:cubicBezTo>
                  <a:pt x="1117102" y="679554"/>
                  <a:pt x="1047148" y="647075"/>
                  <a:pt x="977194" y="614597"/>
                </a:cubicBez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9" name="任意多边形 128"/>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AutoShape 63"/>
          <p:cNvSpPr>
            <a:spLocks noChangeArrowheads="1"/>
          </p:cNvSpPr>
          <p:nvPr/>
        </p:nvSpPr>
        <p:spPr bwMode="auto">
          <a:xfrm>
            <a:off x="5047836" y="178310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8"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121" name="Text Box 155"/>
          <p:cNvSpPr txBox="1">
            <a:spLocks noChangeArrowheads="1"/>
          </p:cNvSpPr>
          <p:nvPr/>
        </p:nvSpPr>
        <p:spPr bwMode="auto">
          <a:xfrm>
            <a:off x="1196428" y="4680631"/>
            <a:ext cx="6865200" cy="375809"/>
          </a:xfrm>
          <a:prstGeom prst="rect">
            <a:avLst/>
          </a:prstGeom>
          <a:solidFill>
            <a:srgbClr val="0070C0"/>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进行分组的直接交付（通过路由器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的接口 </a:t>
            </a:r>
            <a:r>
              <a:rPr lang="en-US" altLang="zh-CN" b="1"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9725955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bg/>
                                          </p:spTgt>
                                        </p:tgtEl>
                                        <p:attrNameLst>
                                          <p:attrName>style.visibility</p:attrName>
                                        </p:attrNameLst>
                                      </p:cBhvr>
                                      <p:to>
                                        <p:strVal val="visible"/>
                                      </p:to>
                                    </p:set>
                                    <p:animEffect transition="in" filter="wipe(up)">
                                      <p:cBhvr>
                                        <p:cTn id="13" dur="1000"/>
                                        <p:tgtEl>
                                          <p:spTgt spid="51">
                                            <p:bg/>
                                          </p:spTgt>
                                        </p:tgtEl>
                                      </p:cBhvr>
                                    </p:animEffect>
                                  </p:childTnLst>
                                </p:cTn>
                              </p:par>
                            </p:childTnLst>
                          </p:cTn>
                        </p:par>
                        <p:par>
                          <p:cTn id="14" fill="hold">
                            <p:stCondLst>
                              <p:cond delay="4000"/>
                            </p:stCondLst>
                            <p:childTnLst>
                              <p:par>
                                <p:cTn id="15" presetID="22" presetClass="entr" presetSubtype="1" fill="hold" grpId="0" nodeType="afterEffect">
                                  <p:stCondLst>
                                    <p:cond delay="0"/>
                                  </p:stCondLst>
                                  <p:childTnLst>
                                    <p:set>
                                      <p:cBhvr>
                                        <p:cTn id="16" dur="1" fill="hold">
                                          <p:stCondLst>
                                            <p:cond delay="0"/>
                                          </p:stCondLst>
                                        </p:cTn>
                                        <p:tgtEl>
                                          <p:spTgt spid="51">
                                            <p:txEl>
                                              <p:pRg st="0" end="0"/>
                                            </p:txEl>
                                          </p:spTgt>
                                        </p:tgtEl>
                                        <p:attrNameLst>
                                          <p:attrName>style.visibility</p:attrName>
                                        </p:attrNameLst>
                                      </p:cBhvr>
                                      <p:to>
                                        <p:strVal val="visible"/>
                                      </p:to>
                                    </p:set>
                                    <p:animEffect transition="in" filter="wipe(up)">
                                      <p:cBhvr>
                                        <p:cTn id="17" dur="1000"/>
                                        <p:tgtEl>
                                          <p:spTgt spid="51">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grpId="0" nodeType="clickEffect">
                                  <p:stCondLst>
                                    <p:cond delay="0"/>
                                  </p:stCondLst>
                                  <p:childTnLst>
                                    <p:set>
                                      <p:cBhvr>
                                        <p:cTn id="21" dur="1" fill="hold">
                                          <p:stCondLst>
                                            <p:cond delay="0"/>
                                          </p:stCondLst>
                                        </p:cTn>
                                        <p:tgtEl>
                                          <p:spTgt spid="121">
                                            <p:bg/>
                                          </p:spTgt>
                                        </p:tgtEl>
                                        <p:attrNameLst>
                                          <p:attrName>style.visibility</p:attrName>
                                        </p:attrNameLst>
                                      </p:cBhvr>
                                      <p:to>
                                        <p:strVal val="visible"/>
                                      </p:to>
                                    </p:set>
                                    <p:animEffect transition="in" filter="wipe(up)">
                                      <p:cBhvr>
                                        <p:cTn id="22" dur="1000"/>
                                        <p:tgtEl>
                                          <p:spTgt spid="121">
                                            <p:bg/>
                                          </p:spTgt>
                                        </p:tgtEl>
                                      </p:cBhvr>
                                    </p:animEffect>
                                  </p:childTnLst>
                                </p:cTn>
                              </p:par>
                            </p:childTnLst>
                          </p:cTn>
                        </p:par>
                        <p:par>
                          <p:cTn id="23" fill="hold">
                            <p:stCondLst>
                              <p:cond delay="1000"/>
                            </p:stCondLst>
                            <p:childTnLst>
                              <p:par>
                                <p:cTn id="24" presetID="22" presetClass="entr" presetSubtype="1" fill="hold" grpId="0" nodeType="afterEffect">
                                  <p:stCondLst>
                                    <p:cond delay="0"/>
                                  </p:stCondLst>
                                  <p:childTnLst>
                                    <p:set>
                                      <p:cBhvr>
                                        <p:cTn id="25" dur="1" fill="hold">
                                          <p:stCondLst>
                                            <p:cond delay="0"/>
                                          </p:stCondLst>
                                        </p:cTn>
                                        <p:tgtEl>
                                          <p:spTgt spid="121">
                                            <p:txEl>
                                              <p:pRg st="0" end="0"/>
                                            </p:txEl>
                                          </p:spTgt>
                                        </p:tgtEl>
                                        <p:attrNameLst>
                                          <p:attrName>style.visibility</p:attrName>
                                        </p:attrNameLst>
                                      </p:cBhvr>
                                      <p:to>
                                        <p:strVal val="visible"/>
                                      </p:to>
                                    </p:set>
                                    <p:animEffect transition="in" filter="wipe(up)">
                                      <p:cBhvr>
                                        <p:cTn id="26" dur="1000"/>
                                        <p:tgtEl>
                                          <p:spTgt spid="121">
                                            <p:txEl>
                                              <p:pRg st="0" end="0"/>
                                            </p:txEl>
                                          </p:spTgt>
                                        </p:tgtEl>
                                      </p:cBhvr>
                                    </p:animEffect>
                                  </p:childTnLst>
                                </p:cTn>
                              </p:par>
                            </p:childTnLst>
                          </p:cTn>
                        </p:par>
                        <p:par>
                          <p:cTn id="27" fill="hold">
                            <p:stCondLst>
                              <p:cond delay="2000"/>
                            </p:stCondLst>
                            <p:childTnLst>
                              <p:par>
                                <p:cTn id="28" presetID="22" presetClass="entr" presetSubtype="8" fill="hold" grpId="0" nodeType="afterEffect">
                                  <p:stCondLst>
                                    <p:cond delay="0"/>
                                  </p:stCondLst>
                                  <p:childTnLst>
                                    <p:set>
                                      <p:cBhvr>
                                        <p:cTn id="29" dur="1" fill="hold">
                                          <p:stCondLst>
                                            <p:cond delay="0"/>
                                          </p:stCondLst>
                                        </p:cTn>
                                        <p:tgtEl>
                                          <p:spTgt spid="130"/>
                                        </p:tgtEl>
                                        <p:attrNameLst>
                                          <p:attrName>style.visibility</p:attrName>
                                        </p:attrNameLst>
                                      </p:cBhvr>
                                      <p:to>
                                        <p:strVal val="visible"/>
                                      </p:to>
                                    </p:set>
                                    <p:animEffect transition="in" filter="wipe(left)">
                                      <p:cBhvr>
                                        <p:cTn id="30" dur="20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animBg="1"/>
      <p:bldP spid="130" grpId="0" animBg="1"/>
      <p:bldP spid="66" grpId="0" animBg="1"/>
      <p:bldP spid="66" grpId="1" animBg="1"/>
      <p:bldP spid="121" grpId="0" build="p"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8"/>
          <p:cNvSpPr>
            <a:spLocks noChangeArrowheads="1"/>
          </p:cNvSpPr>
          <p:nvPr/>
        </p:nvSpPr>
        <p:spPr bwMode="auto">
          <a:xfrm>
            <a:off x="545143" y="1039691"/>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使用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时，在查找转发表时可能会得到</a:t>
            </a:r>
            <a:r>
              <a:rPr lang="zh-CN" altLang="en-US" sz="2000" b="1" dirty="0">
                <a:solidFill>
                  <a:srgbClr val="C00000"/>
                </a:solidFill>
                <a:latin typeface="微软雅黑" pitchFamily="34" charset="-122"/>
                <a:ea typeface="微软雅黑" pitchFamily="34" charset="-122"/>
              </a:rPr>
              <a:t>不止一个匹配结果。 </a:t>
            </a:r>
          </a:p>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最长前缀匹配 </a:t>
            </a:r>
            <a:r>
              <a:rPr lang="en-US" altLang="zh-CN" sz="2000" b="1" dirty="0">
                <a:latin typeface="微软雅黑" pitchFamily="34" charset="-122"/>
                <a:ea typeface="微软雅黑" pitchFamily="34" charset="-122"/>
              </a:rPr>
              <a:t>(longest-prefix matching) </a:t>
            </a:r>
            <a:r>
              <a:rPr lang="zh-CN" altLang="en-US" sz="2000" b="1" dirty="0">
                <a:solidFill>
                  <a:srgbClr val="C00000"/>
                </a:solidFill>
                <a:latin typeface="微软雅黑" pitchFamily="34" charset="-122"/>
                <a:ea typeface="微软雅黑" pitchFamily="34" charset="-122"/>
              </a:rPr>
              <a:t>原则：</a:t>
            </a:r>
            <a:r>
              <a:rPr lang="zh-CN" altLang="en-US" sz="2000" b="1" dirty="0">
                <a:latin typeface="微软雅黑" pitchFamily="34" charset="-122"/>
                <a:ea typeface="微软雅黑" pitchFamily="34" charset="-122"/>
              </a:rPr>
              <a:t>选择前缀最长的一个作为匹配的前缀。</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网络前缀越长，其地址块就越小，因而路由就越具体。</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可以把前缀最长的排在转发表的第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行。</a:t>
            </a:r>
            <a:endParaRPr lang="en-US" altLang="zh-CN" sz="2000" b="1" dirty="0">
              <a:latin typeface="微软雅黑" pitchFamily="34" charset="-122"/>
              <a:ea typeface="微软雅黑" pitchFamily="34" charset="-122"/>
            </a:endParaRPr>
          </a:p>
        </p:txBody>
      </p:sp>
      <p:sp>
        <p:nvSpPr>
          <p:cNvPr id="8"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9"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spTree>
    <p:extLst>
      <p:ext uri="{BB962C8B-B14F-4D97-AF65-F5344CB8AC3E}">
        <p14:creationId xmlns:p14="http://schemas.microsoft.com/office/powerpoint/2010/main" val="10223777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椭圆 10"/>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12" name="Group 125"/>
          <p:cNvGraphicFramePr>
            <a:graphicFrameLocks noGrp="1"/>
          </p:cNvGraphicFramePr>
          <p:nvPr>
            <p:extLst>
              <p:ext uri="{D42A27DB-BD31-4B8C-83A1-F6EECF244321}">
                <p14:modId xmlns:p14="http://schemas.microsoft.com/office/powerpoint/2010/main" val="12841387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73" name="矩形 72"/>
          <p:cNvSpPr/>
          <p:nvPr/>
        </p:nvSpPr>
        <p:spPr>
          <a:xfrm>
            <a:off x="1172946" y="4361731"/>
            <a:ext cx="6718453"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路由器 </a:t>
            </a:r>
            <a:r>
              <a:rPr lang="en-US" altLang="zh-CN" b="1" dirty="0">
                <a:solidFill>
                  <a:srgbClr val="C00000"/>
                </a:solidFill>
                <a:latin typeface="微软雅黑" panose="020B0503020204020204" pitchFamily="34" charset="-122"/>
                <a:ea typeface="微软雅黑" panose="020B0503020204020204" pitchFamily="34" charset="-122"/>
              </a:rPr>
              <a:t>R</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如何转发目的地址是 </a:t>
            </a:r>
            <a:r>
              <a:rPr lang="en-US" altLang="zh-CN" b="1" dirty="0">
                <a:solidFill>
                  <a:srgbClr val="0000FF"/>
                </a:solidFill>
                <a:latin typeface="微软雅黑" panose="020B0503020204020204" pitchFamily="34" charset="-122"/>
                <a:ea typeface="微软雅黑" panose="020B0503020204020204" pitchFamily="34" charset="-122"/>
              </a:rPr>
              <a:t>128.1.2.196</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的分组？</a:t>
            </a:r>
          </a:p>
        </p:txBody>
      </p:sp>
      <p:grpSp>
        <p:nvGrpSpPr>
          <p:cNvPr id="2" name="组合 1"/>
          <p:cNvGrpSpPr/>
          <p:nvPr/>
        </p:nvGrpSpPr>
        <p:grpSpPr>
          <a:xfrm>
            <a:off x="354487" y="824458"/>
            <a:ext cx="7304424" cy="3432748"/>
            <a:chOff x="354487" y="824458"/>
            <a:chExt cx="7304424" cy="3432748"/>
          </a:xfrm>
        </p:grpSpPr>
        <p:grpSp>
          <p:nvGrpSpPr>
            <p:cNvPr id="3" name="组合 12"/>
            <p:cNvGrpSpPr/>
            <p:nvPr/>
          </p:nvGrpSpPr>
          <p:grpSpPr>
            <a:xfrm>
              <a:off x="354487" y="824458"/>
              <a:ext cx="7304424" cy="3432748"/>
              <a:chOff x="354487" y="824458"/>
              <a:chExt cx="7304424" cy="3432748"/>
            </a:xfrm>
          </p:grpSpPr>
          <p:sp>
            <p:nvSpPr>
              <p:cNvPr id="14" name="直角三角形 13"/>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6" name="椭圆 15"/>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7"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18"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9"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25"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26"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 name="Group 18"/>
              <p:cNvGrpSpPr>
                <a:grpSpLocks/>
              </p:cNvGrpSpPr>
              <p:nvPr/>
            </p:nvGrpSpPr>
            <p:grpSpPr bwMode="auto">
              <a:xfrm>
                <a:off x="3943605" y="2125684"/>
                <a:ext cx="531842" cy="303367"/>
                <a:chOff x="864" y="1824"/>
                <a:chExt cx="432" cy="288"/>
              </a:xfrm>
            </p:grpSpPr>
            <p:pic>
              <p:nvPicPr>
                <p:cNvPr id="70"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34"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36"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7"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38"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5" name="Group 28"/>
              <p:cNvGrpSpPr>
                <a:grpSpLocks/>
              </p:cNvGrpSpPr>
              <p:nvPr/>
            </p:nvGrpSpPr>
            <p:grpSpPr bwMode="auto">
              <a:xfrm>
                <a:off x="3032567" y="3427224"/>
                <a:ext cx="531841" cy="303366"/>
                <a:chOff x="864" y="1824"/>
                <a:chExt cx="432" cy="288"/>
              </a:xfrm>
            </p:grpSpPr>
            <p:pic>
              <p:nvPicPr>
                <p:cNvPr id="68"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9"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0"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41"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42"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4"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45"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6"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7"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8"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9"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51"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52"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53"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4"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8"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9"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0"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1"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62"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63"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67"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sp>
            <p:nvSpPr>
              <p:cNvPr id="66"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grpSp>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4"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5"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Tree>
    <p:extLst>
      <p:ext uri="{BB962C8B-B14F-4D97-AF65-F5344CB8AC3E}">
        <p14:creationId xmlns:p14="http://schemas.microsoft.com/office/powerpoint/2010/main" val="138749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2862905405"/>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24458"/>
            <a:ext cx="7304424" cy="3432748"/>
            <a:chOff x="354487" y="824458"/>
            <a:chExt cx="7304424" cy="3432748"/>
          </a:xfrm>
        </p:grpSpPr>
        <p:grpSp>
          <p:nvGrpSpPr>
            <p:cNvPr id="4" name="组合 68"/>
            <p:cNvGrpSpPr/>
            <p:nvPr/>
          </p:nvGrpSpPr>
          <p:grpSpPr>
            <a:xfrm>
              <a:off x="354487" y="824458"/>
              <a:ext cx="7304424" cy="3432748"/>
              <a:chOff x="354487" y="824458"/>
              <a:chExt cx="7304424"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128.1.3.68</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44325"/>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122"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1315010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2"/>
                                        </p:tgtEl>
                                        <p:attrNameLst>
                                          <p:attrName>style.visibility</p:attrName>
                                        </p:attrNameLst>
                                      </p:cBhvr>
                                      <p:to>
                                        <p:strVal val="visible"/>
                                      </p:to>
                                    </p:set>
                                    <p:animEffect transition="in" filter="wipe(up)">
                                      <p:cBhvr>
                                        <p:cTn id="13"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8" grpId="0" animBg="1"/>
      <p:bldP spid="128" grpId="1" animBg="1"/>
      <p:bldP spid="122"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1624065583"/>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7"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66" name="AutoShape 63"/>
          <p:cNvSpPr>
            <a:spLocks noChangeArrowheads="1"/>
          </p:cNvSpPr>
          <p:nvPr/>
        </p:nvSpPr>
        <p:spPr bwMode="auto">
          <a:xfrm>
            <a:off x="5047835" y="1781707"/>
            <a:ext cx="547529" cy="143764"/>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69"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8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5"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121"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616389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66" grpId="0" animBg="1"/>
      <p:bldP spid="66" grpId="1"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219544502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21688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66" name="AutoShape 63"/>
          <p:cNvSpPr>
            <a:spLocks noChangeArrowheads="1"/>
          </p:cNvSpPr>
          <p:nvPr/>
        </p:nvSpPr>
        <p:spPr bwMode="auto">
          <a:xfrm>
            <a:off x="5047836" y="200795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3 </a:t>
            </a:r>
            <a:r>
              <a:rPr lang="zh-CN" altLang="en-US" dirty="0"/>
              <a:t>行。 </a:t>
            </a:r>
          </a:p>
        </p:txBody>
      </p:sp>
      <p:sp>
        <p:nvSpPr>
          <p:cNvPr id="121" name="Text Box 155"/>
          <p:cNvSpPr txBox="1">
            <a:spLocks noChangeArrowheads="1"/>
          </p:cNvSpPr>
          <p:nvPr/>
        </p:nvSpPr>
        <p:spPr bwMode="auto">
          <a:xfrm>
            <a:off x="1196428"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95"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22"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Tree>
    <p:extLst>
      <p:ext uri="{BB962C8B-B14F-4D97-AF65-F5344CB8AC3E}">
        <p14:creationId xmlns:p14="http://schemas.microsoft.com/office/powerpoint/2010/main" val="31064001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1"/>
                                        </p:tgtEl>
                                        <p:attrNameLst>
                                          <p:attrName>style.visibility</p:attrName>
                                        </p:attrNameLst>
                                      </p:cBhvr>
                                      <p:to>
                                        <p:strVal val="visible"/>
                                      </p:to>
                                    </p:set>
                                    <p:animEffect transition="in" filter="wipe(up)">
                                      <p:cBhvr>
                                        <p:cTn id="13"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6" grpId="1" animBg="1"/>
      <p:bldP spid="121"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1039691"/>
            <a:ext cx="8053711" cy="5155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en-US" altLang="zh-CN" sz="2000" b="1" dirty="0">
                <a:latin typeface="微软雅黑" pitchFamily="34" charset="-122"/>
                <a:ea typeface="微软雅黑" pitchFamily="34" charset="-122"/>
              </a:rPr>
              <a:t>R</a:t>
            </a:r>
            <a:r>
              <a:rPr lang="en-US" altLang="zh-CN" sz="2000" b="1" baseline="-25000" dirty="0">
                <a:latin typeface="微软雅黑" pitchFamily="34" charset="-122"/>
                <a:ea typeface="微软雅黑" pitchFamily="34" charset="-122"/>
              </a:rPr>
              <a:t>1</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从哪个接口向外转发分组？</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2177631" y="1710526"/>
            <a:ext cx="5247735" cy="1148300"/>
            <a:chOff x="1524000" y="1321631"/>
            <a:chExt cx="6096000" cy="1148300"/>
          </a:xfrm>
        </p:grpSpPr>
        <p:sp>
          <p:nvSpPr>
            <p:cNvPr id="7" name="任意多边形 6"/>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A.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0 </a:t>
              </a:r>
              <a:r>
                <a:rPr lang="zh-CN" altLang="en-US" b="1" dirty="0">
                  <a:solidFill>
                    <a:schemeClr val="tx1"/>
                  </a:solidFill>
                  <a:latin typeface="微软雅黑" panose="020B0503020204020204" pitchFamily="34" charset="-122"/>
                  <a:ea typeface="微软雅黑" panose="020B0503020204020204" pitchFamily="34" charset="-122"/>
                </a:rPr>
                <a:t>？</a:t>
              </a:r>
            </a:p>
          </p:txBody>
        </p:sp>
        <p:sp>
          <p:nvSpPr>
            <p:cNvPr id="8" name="任意多边形 7"/>
            <p:cNvSpPr/>
            <p:nvPr/>
          </p:nvSpPr>
          <p:spPr>
            <a:xfrm>
              <a:off x="1524000" y="2029985"/>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B.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1 </a:t>
              </a:r>
              <a:r>
                <a:rPr lang="zh-CN" altLang="en-US" b="1" dirty="0">
                  <a:solidFill>
                    <a:schemeClr val="tx1"/>
                  </a:solidFill>
                  <a:latin typeface="微软雅黑" panose="020B0503020204020204" pitchFamily="34" charset="-122"/>
                  <a:ea typeface="微软雅黑" panose="020B0503020204020204" pitchFamily="34" charset="-122"/>
                </a:rPr>
                <a:t>？</a:t>
              </a:r>
            </a:p>
          </p:txBody>
        </p:sp>
      </p:grpSp>
      <p:sp>
        <p:nvSpPr>
          <p:cNvPr id="9" name="任意多边形 8"/>
          <p:cNvSpPr/>
          <p:nvPr/>
        </p:nvSpPr>
        <p:spPr>
          <a:xfrm>
            <a:off x="3777832" y="1710526"/>
            <a:ext cx="3298830" cy="439946"/>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ctr" anchorCtr="0">
            <a:noAutofit/>
          </a:bodyPr>
          <a:lstStyle/>
          <a:p>
            <a:pPr marL="0" lvl="1" defTabSz="800100">
              <a:spcBef>
                <a:spcPct val="0"/>
              </a:spcBef>
              <a:spcAft>
                <a:spcPts val="600"/>
              </a:spcAft>
            </a:pPr>
            <a:r>
              <a:rPr lang="zh-CN" altLang="en-US" b="1" dirty="0">
                <a:solidFill>
                  <a:srgbClr val="0000CC"/>
                </a:solidFill>
                <a:latin typeface="微软雅黑" pitchFamily="34" charset="-122"/>
                <a:ea typeface="微软雅黑" pitchFamily="34" charset="-122"/>
              </a:rPr>
              <a:t>匹配的前缀最长 </a:t>
            </a:r>
            <a:endParaRPr lang="en-US" altLang="zh-CN" b="1" dirty="0">
              <a:solidFill>
                <a:srgbClr val="0000CC"/>
              </a:solidFill>
              <a:latin typeface="微软雅黑" panose="020B0503020204020204" pitchFamily="34" charset="-122"/>
              <a:ea typeface="微软雅黑" panose="020B0503020204020204" pitchFamily="34" charset="-122"/>
            </a:endParaRPr>
          </a:p>
        </p:txBody>
      </p:sp>
      <p:grpSp>
        <p:nvGrpSpPr>
          <p:cNvPr id="6" name="组合 9"/>
          <p:cNvGrpSpPr/>
          <p:nvPr/>
        </p:nvGrpSpPr>
        <p:grpSpPr>
          <a:xfrm>
            <a:off x="1698355" y="1727583"/>
            <a:ext cx="432614" cy="1131243"/>
            <a:chOff x="1044723" y="1338688"/>
            <a:chExt cx="432614" cy="1131243"/>
          </a:xfrm>
        </p:grpSpPr>
        <p:pic>
          <p:nvPicPr>
            <p:cNvPr id="11" name="图片 1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44723" y="1338688"/>
              <a:ext cx="405830" cy="405832"/>
            </a:xfrm>
            <a:prstGeom prst="rect">
              <a:avLst/>
            </a:prstGeom>
          </p:spPr>
        </p:pic>
        <p:pic>
          <p:nvPicPr>
            <p:cNvPr id="12" name="图片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029985"/>
              <a:ext cx="432614" cy="439946"/>
            </a:xfrm>
            <a:prstGeom prst="rect">
              <a:avLst/>
            </a:prstGeom>
          </p:spPr>
        </p:pic>
      </p:grpSp>
      <p:sp>
        <p:nvSpPr>
          <p:cNvPr id="10" name="矩形 9"/>
          <p:cNvSpPr/>
          <p:nvPr/>
        </p:nvSpPr>
        <p:spPr>
          <a:xfrm>
            <a:off x="1151066" y="3277849"/>
            <a:ext cx="6841863" cy="1052596"/>
          </a:xfrm>
          <a:prstGeom prst="rect">
            <a:avLst/>
          </a:prstGeom>
        </p:spPr>
        <p:txBody>
          <a:bodyPr wrap="square">
            <a:spAutoFit/>
          </a:bodyPr>
          <a:lstStyle/>
          <a:p>
            <a:pPr algn="ctr">
              <a:lnSpc>
                <a:spcPct val="130000"/>
              </a:lnSpc>
            </a:pPr>
            <a:r>
              <a:rPr lang="zh-CN" altLang="en-US" sz="2400" b="1" dirty="0">
                <a:solidFill>
                  <a:srgbClr val="CC0099"/>
                </a:solidFill>
                <a:latin typeface="微软雅黑" panose="020B0503020204020204" pitchFamily="34" charset="-122"/>
                <a:ea typeface="微软雅黑" panose="020B0503020204020204" pitchFamily="34" charset="-122"/>
              </a:rPr>
              <a:t>最长前缀匹配：</a:t>
            </a:r>
            <a:endParaRPr lang="en-US" altLang="zh-CN" sz="2400" b="1" dirty="0">
              <a:solidFill>
                <a:srgbClr val="CC0099"/>
              </a:solidFill>
              <a:latin typeface="微软雅黑" panose="020B0503020204020204" pitchFamily="34" charset="-122"/>
              <a:ea typeface="微软雅黑" panose="020B0503020204020204" pitchFamily="34" charset="-122"/>
            </a:endParaRPr>
          </a:p>
          <a:p>
            <a:pPr algn="ctr">
              <a:lnSpc>
                <a:spcPct val="130000"/>
              </a:lnSpc>
            </a:pPr>
            <a:r>
              <a:rPr lang="zh-CN" altLang="en-US" sz="2400" b="1" dirty="0">
                <a:latin typeface="微软雅黑" panose="020B0503020204020204" pitchFamily="34" charset="-122"/>
                <a:ea typeface="微软雅黑" panose="020B0503020204020204" pitchFamily="34" charset="-122"/>
              </a:rPr>
              <a:t>选择前缀最长的一个作为匹配的前缀</a:t>
            </a:r>
          </a:p>
        </p:txBody>
      </p:sp>
    </p:spTree>
    <p:extLst>
      <p:ext uri="{BB962C8B-B14F-4D97-AF65-F5344CB8AC3E}">
        <p14:creationId xmlns:p14="http://schemas.microsoft.com/office/powerpoint/2010/main" val="2085228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1051877" y="1046121"/>
            <a:ext cx="7949612" cy="759182"/>
            <a:chOff x="515164" y="1143523"/>
            <a:chExt cx="7949612" cy="759182"/>
          </a:xfrm>
        </p:grpSpPr>
        <p:sp>
          <p:nvSpPr>
            <p:cNvPr id="20" name="矩形 19"/>
            <p:cNvSpPr/>
            <p:nvPr/>
          </p:nvSpPr>
          <p:spPr>
            <a:xfrm>
              <a:off x="3137152" y="1482161"/>
              <a:ext cx="4108334" cy="396647"/>
            </a:xfrm>
            <a:prstGeom prst="rect">
              <a:avLst/>
            </a:prstGeom>
            <a:solidFill>
              <a:schemeClr val="accent6">
                <a:lumMod val="60000"/>
                <a:lumOff val="40000"/>
              </a:schemeClr>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21" name="TextBox 11"/>
            <p:cNvSpPr txBox="1"/>
            <p:nvPr/>
          </p:nvSpPr>
          <p:spPr>
            <a:xfrm>
              <a:off x="515164" y="1143523"/>
              <a:ext cx="7949612" cy="759182"/>
            </a:xfrm>
            <a:prstGeom prst="rect">
              <a:avLst/>
            </a:prstGeom>
            <a:noFill/>
          </p:spPr>
          <p:txBody>
            <a:bodyPr wrap="none" rtlCol="0">
              <a:spAutoFit/>
            </a:bodyPr>
            <a:lstStyle/>
            <a:p>
              <a:pPr>
                <a:lnSpc>
                  <a:spcPts val="2600"/>
                </a:lnSpc>
              </a:pPr>
              <a:r>
                <a:rPr lang="en-US" altLang="zh-CN" b="1" dirty="0">
                  <a:latin typeface="微软雅黑" panose="020B0503020204020204" pitchFamily="34" charset="-122"/>
                  <a:ea typeface="微软雅黑" panose="020B0503020204020204" pitchFamily="34" charset="-122"/>
                </a:rPr>
                <a:t>                                         128      .         1       .         2       .      196</a:t>
              </a:r>
            </a:p>
            <a:p>
              <a:pPr>
                <a:lnSpc>
                  <a:spcPts val="2600"/>
                </a:lnSpc>
              </a:pPr>
              <a:r>
                <a:rPr lang="zh-CN" altLang="en-US" b="1" dirty="0">
                  <a:solidFill>
                    <a:srgbClr val="C00000"/>
                  </a:solidFill>
                  <a:latin typeface="微软雅黑" panose="020B0503020204020204" pitchFamily="34" charset="-122"/>
                  <a:ea typeface="微软雅黑" panose="020B0503020204020204" pitchFamily="34" charset="-122"/>
                </a:rPr>
                <a:t>       目的主机 </a:t>
              </a:r>
              <a:r>
                <a:rPr lang="en-US" altLang="zh-CN" b="1" dirty="0">
                  <a:solidFill>
                    <a:srgbClr val="C00000"/>
                  </a:solidFill>
                  <a:latin typeface="微软雅黑" panose="020B0503020204020204" pitchFamily="34" charset="-122"/>
                  <a:ea typeface="微软雅黑" panose="020B0503020204020204" pitchFamily="34" charset="-122"/>
                </a:rPr>
                <a:t>IP </a:t>
              </a:r>
              <a:r>
                <a:rPr lang="zh-CN" altLang="en-US" b="1" dirty="0">
                  <a:solidFill>
                    <a:srgbClr val="C00000"/>
                  </a:solidFill>
                  <a:latin typeface="微软雅黑" panose="020B0503020204020204" pitchFamily="34" charset="-122"/>
                  <a:ea typeface="微软雅黑" panose="020B0503020204020204" pitchFamily="34" charset="-122"/>
                </a:rPr>
                <a:t>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00000001  00000010  11000100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p:txBody>
        </p:sp>
      </p:grpSp>
      <p:grpSp>
        <p:nvGrpSpPr>
          <p:cNvPr id="6" name="组合 7"/>
          <p:cNvGrpSpPr/>
          <p:nvPr/>
        </p:nvGrpSpPr>
        <p:grpSpPr>
          <a:xfrm>
            <a:off x="327990" y="1838207"/>
            <a:ext cx="8428383" cy="1644040"/>
            <a:chOff x="327990" y="2111474"/>
            <a:chExt cx="8428383" cy="1644040"/>
          </a:xfrm>
        </p:grpSpPr>
        <p:sp>
          <p:nvSpPr>
            <p:cNvPr id="13" name="矩形 12"/>
            <p:cNvSpPr/>
            <p:nvPr/>
          </p:nvSpPr>
          <p:spPr>
            <a:xfrm>
              <a:off x="3687561" y="3000368"/>
              <a:ext cx="397551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4" name="矩形 13"/>
            <p:cNvSpPr/>
            <p:nvPr/>
          </p:nvSpPr>
          <p:spPr>
            <a:xfrm>
              <a:off x="3691387" y="2177601"/>
              <a:ext cx="411069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5" name="TextBox 11"/>
            <p:cNvSpPr txBox="1"/>
            <p:nvPr/>
          </p:nvSpPr>
          <p:spPr>
            <a:xfrm>
              <a:off x="327990" y="2111474"/>
              <a:ext cx="8428383" cy="1644040"/>
            </a:xfrm>
            <a:prstGeom prst="rect">
              <a:avLst/>
            </a:prstGeom>
            <a:noFill/>
          </p:spPr>
          <p:txBody>
            <a:bodyPr wrap="square" rtlCol="0">
              <a:spAutoFit/>
            </a:bodyPr>
            <a:lstStyle/>
            <a:p>
              <a:pPr>
                <a:lnSpc>
                  <a:spcPts val="2800"/>
                </a:lnSpc>
              </a:pPr>
              <a:r>
                <a:rPr lang="en-US" altLang="zh-CN" b="1" dirty="0">
                  <a:latin typeface="微软雅黑" panose="020B0503020204020204" pitchFamily="34" charset="-122"/>
                  <a:ea typeface="微软雅黑" panose="020B0503020204020204" pitchFamily="34" charset="-122"/>
                </a:rPr>
                <a:t>128.1.2.192/26 </a:t>
              </a:r>
              <a:r>
                <a:rPr lang="zh-CN" altLang="en-US" b="1" dirty="0">
                  <a:latin typeface="微软雅黑" panose="020B0503020204020204" pitchFamily="34" charset="-122"/>
                  <a:ea typeface="微软雅黑" panose="020B0503020204020204" pitchFamily="34" charset="-122"/>
                </a:rPr>
                <a:t>的最小地址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00000001  00000010  11000000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128.1.2.192/26</a:t>
              </a:r>
              <a:r>
                <a:rPr lang="en-US" altLang="zh-CN" b="1" baseline="-25000"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00000001  00000010  11111111</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的最小地址</a:t>
              </a:r>
              <a:r>
                <a:rPr lang="zh-CN" altLang="en-US" sz="7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10000000  00000001  00000010  10000000</a:t>
              </a: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10000000  00000001  00000010  10111111</a:t>
              </a:r>
            </a:p>
          </p:txBody>
        </p:sp>
      </p:grpSp>
      <p:sp>
        <p:nvSpPr>
          <p:cNvPr id="2" name="矩形 1"/>
          <p:cNvSpPr/>
          <p:nvPr/>
        </p:nvSpPr>
        <p:spPr>
          <a:xfrm>
            <a:off x="871369" y="3989054"/>
            <a:ext cx="7282928" cy="4616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可以把前缀最长的排在转发表的第 </a:t>
            </a:r>
            <a:r>
              <a:rPr lang="en-US" altLang="zh-CN" sz="2400" b="1" dirty="0">
                <a:latin typeface="微软雅黑" panose="020B0503020204020204" pitchFamily="34" charset="-122"/>
                <a:ea typeface="微软雅黑" panose="020B0503020204020204" pitchFamily="34" charset="-122"/>
              </a:rPr>
              <a:t>1 </a:t>
            </a:r>
            <a:r>
              <a:rPr lang="zh-CN" altLang="en-US" sz="2400" b="1" dirty="0">
                <a:latin typeface="微软雅黑" panose="020B0503020204020204" pitchFamily="34" charset="-122"/>
                <a:ea typeface="微软雅黑" panose="020B0503020204020204" pitchFamily="34" charset="-122"/>
              </a:rPr>
              <a:t>行，以加快查表</a:t>
            </a:r>
          </a:p>
        </p:txBody>
      </p:sp>
      <p:sp>
        <p:nvSpPr>
          <p:cNvPr id="16" name="矩形 15"/>
          <p:cNvSpPr/>
          <p:nvPr/>
        </p:nvSpPr>
        <p:spPr>
          <a:xfrm>
            <a:off x="0" y="3469385"/>
            <a:ext cx="9144000" cy="461665"/>
          </a:xfrm>
          <a:prstGeom prst="rect">
            <a:avLst/>
          </a:prstGeom>
          <a:solidFill>
            <a:srgbClr val="92D050"/>
          </a:solidFill>
          <a:ln>
            <a:noFill/>
          </a:ln>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网络前缀越长，其地址块就越小，路由就越具体</a:t>
            </a:r>
            <a:r>
              <a:rPr lang="en-US" altLang="zh-CN" sz="2400" b="1" dirty="0">
                <a:latin typeface="微软雅黑" panose="020B0503020204020204" pitchFamily="34" charset="-122"/>
                <a:ea typeface="微软雅黑" panose="020B0503020204020204" pitchFamily="34" charset="-122"/>
              </a:rPr>
              <a:t>(more specific)</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3892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6"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4">
            <a:extLst>
              <a:ext uri="{FF2B5EF4-FFF2-40B4-BE49-F238E27FC236}">
                <a16:creationId xmlns:a16="http://schemas.microsoft.com/office/drawing/2014/main" id="{2C7C4C6D-36ED-8C12-C8C3-1FD5A8297097}"/>
              </a:ext>
            </a:extLst>
          </p:cNvPr>
          <p:cNvSpPr txBox="1">
            <a:spLocks/>
          </p:cNvSpPr>
          <p:nvPr/>
        </p:nvSpPr>
        <p:spPr>
          <a:xfrm>
            <a:off x="397362" y="1786169"/>
            <a:ext cx="5257800" cy="83099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endParaRPr lang="zh-CN" altLang="en-US" dirty="0"/>
          </a:p>
        </p:txBody>
      </p:sp>
      <p:sp>
        <p:nvSpPr>
          <p:cNvPr id="4" name="文本占位符 15">
            <a:extLst>
              <a:ext uri="{FF2B5EF4-FFF2-40B4-BE49-F238E27FC236}">
                <a16:creationId xmlns:a16="http://schemas.microsoft.com/office/drawing/2014/main" id="{18501CB8-DA71-E628-E0A8-B4BFB6BF62E0}"/>
              </a:ext>
            </a:extLst>
          </p:cNvPr>
          <p:cNvSpPr txBox="1">
            <a:spLocks/>
          </p:cNvSpPr>
          <p:nvPr/>
        </p:nvSpPr>
        <p:spPr>
          <a:xfrm>
            <a:off x="233056" y="2571750"/>
            <a:ext cx="5257800" cy="64633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zh-CN" altLang="en-US" dirty="0"/>
          </a:p>
        </p:txBody>
      </p:sp>
      <p:pic>
        <p:nvPicPr>
          <p:cNvPr id="22" name="图片占位符 21">
            <a:extLst>
              <a:ext uri="{FF2B5EF4-FFF2-40B4-BE49-F238E27FC236}">
                <a16:creationId xmlns:a16="http://schemas.microsoft.com/office/drawing/2014/main" id="{CBE71458-C4C8-C445-C8E7-E20611FA311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518" r="13518"/>
          <a:stretch/>
        </p:blipFill>
        <p:spPr>
          <a:xfrm>
            <a:off x="5079431" y="1178017"/>
            <a:ext cx="3600000" cy="2787466"/>
          </a:xfrm>
        </p:spPr>
      </p:pic>
      <p:sp>
        <p:nvSpPr>
          <p:cNvPr id="24" name="标题 23">
            <a:extLst>
              <a:ext uri="{FF2B5EF4-FFF2-40B4-BE49-F238E27FC236}">
                <a16:creationId xmlns:a16="http://schemas.microsoft.com/office/drawing/2014/main" id="{985BB151-0C0B-AC7E-1698-F2C9176E267A}"/>
              </a:ext>
            </a:extLst>
          </p:cNvPr>
          <p:cNvSpPr>
            <a:spLocks noGrp="1"/>
          </p:cNvSpPr>
          <p:nvPr>
            <p:ph type="title"/>
          </p:nvPr>
        </p:nvSpPr>
        <p:spPr>
          <a:xfrm>
            <a:off x="628650" y="1790739"/>
            <a:ext cx="4320000" cy="553998"/>
          </a:xfrm>
        </p:spPr>
        <p:txBody>
          <a:bodyPr/>
          <a:lstStyle/>
          <a:p>
            <a:r>
              <a:rPr lang="zh-CN" altLang="en-US" dirty="0"/>
              <a:t>默认路由</a:t>
            </a:r>
          </a:p>
        </p:txBody>
      </p:sp>
      <p:sp>
        <p:nvSpPr>
          <p:cNvPr id="25" name="文本占位符 24">
            <a:extLst>
              <a:ext uri="{FF2B5EF4-FFF2-40B4-BE49-F238E27FC236}">
                <a16:creationId xmlns:a16="http://schemas.microsoft.com/office/drawing/2014/main" id="{AA0582E4-5805-58DF-3E11-BAD154CA206F}"/>
              </a:ext>
            </a:extLst>
          </p:cNvPr>
          <p:cNvSpPr>
            <a:spLocks noGrp="1"/>
          </p:cNvSpPr>
          <p:nvPr>
            <p:ph type="body" sz="quarter" idx="11"/>
          </p:nvPr>
        </p:nvSpPr>
        <p:spPr>
          <a:xfrm>
            <a:off x="628100" y="2344736"/>
            <a:ext cx="4320000" cy="1870075"/>
          </a:xfrm>
        </p:spPr>
        <p:txBody>
          <a:bodyPr/>
          <a:lstStyle/>
          <a:p>
            <a:r>
              <a:rPr lang="en-US" altLang="zh-CN" dirty="0"/>
              <a:t>Default Router</a:t>
            </a:r>
          </a:p>
          <a:p>
            <a:r>
              <a:rPr lang="en-US" altLang="zh-CN" dirty="0"/>
              <a:t>0.0.0.0/0 </a:t>
            </a:r>
            <a:endParaRPr lang="zh-CN" altLang="en-US" dirty="0"/>
          </a:p>
          <a:p>
            <a:endParaRPr lang="zh-CN" altLang="en-US" dirty="0"/>
          </a:p>
        </p:txBody>
      </p:sp>
    </p:spTree>
    <p:extLst>
      <p:ext uri="{BB962C8B-B14F-4D97-AF65-F5344CB8AC3E}">
        <p14:creationId xmlns:p14="http://schemas.microsoft.com/office/powerpoint/2010/main" val="31546552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1421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22084" y="581006"/>
            <a:ext cx="33185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转发表中的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种特殊的路由</a:t>
            </a:r>
          </a:p>
        </p:txBody>
      </p:sp>
      <p:sp>
        <p:nvSpPr>
          <p:cNvPr id="5" name="Rectangle 68"/>
          <p:cNvSpPr>
            <a:spLocks noChangeArrowheads="1"/>
          </p:cNvSpPr>
          <p:nvPr/>
        </p:nvSpPr>
        <p:spPr bwMode="auto">
          <a:xfrm>
            <a:off x="556963" y="981522"/>
            <a:ext cx="8197744" cy="324704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主机路由 </a:t>
            </a:r>
            <a:r>
              <a:rPr lang="en-US" altLang="zh-CN" sz="2000" b="1" dirty="0">
                <a:solidFill>
                  <a:srgbClr val="C00000"/>
                </a:solidFill>
                <a:latin typeface="微软雅黑" pitchFamily="34" charset="-122"/>
                <a:ea typeface="微软雅黑" pitchFamily="34" charset="-122"/>
              </a:rPr>
              <a:t>(host route) </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又叫做</a:t>
            </a:r>
            <a:r>
              <a:rPr lang="zh-CN" altLang="en-US" sz="2000" b="1" dirty="0">
                <a:solidFill>
                  <a:srgbClr val="0000FF"/>
                </a:solidFill>
                <a:latin typeface="微软雅黑" pitchFamily="34" charset="-122"/>
                <a:ea typeface="微软雅黑" pitchFamily="34" charset="-122"/>
              </a:rPr>
              <a:t>特定主机路由。</a:t>
            </a:r>
            <a:endParaRPr lang="en-US" altLang="zh-CN" sz="2000" b="1" dirty="0">
              <a:solidFill>
                <a:srgbClr val="0000FF"/>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是对特定目的主机的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地址专门指明的一个路由。</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网络前缀就是 </a:t>
            </a:r>
            <a:r>
              <a:rPr lang="en-US" altLang="zh-CN" sz="2000" b="1" dirty="0" err="1">
                <a:solidFill>
                  <a:srgbClr val="0000FF"/>
                </a:solidFill>
                <a:latin typeface="微软雅黑" pitchFamily="34" charset="-122"/>
                <a:ea typeface="微软雅黑" pitchFamily="34" charset="-122"/>
              </a:rPr>
              <a:t>a.b.c.d</a:t>
            </a:r>
            <a:r>
              <a:rPr lang="en-US" altLang="zh-CN" sz="2000" b="1" dirty="0">
                <a:solidFill>
                  <a:srgbClr val="0000FF"/>
                </a:solidFill>
                <a:latin typeface="微软雅黑" pitchFamily="34" charset="-122"/>
                <a:ea typeface="微软雅黑" pitchFamily="34" charset="-122"/>
              </a:rPr>
              <a:t>/32</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放在转发表的</a:t>
            </a:r>
            <a:r>
              <a:rPr lang="zh-CN" altLang="en-US" sz="2000" b="1" dirty="0">
                <a:solidFill>
                  <a:srgbClr val="0000FF"/>
                </a:solidFill>
                <a:latin typeface="微软雅黑" pitchFamily="34" charset="-122"/>
                <a:ea typeface="微软雅黑" pitchFamily="34" charset="-122"/>
              </a:rPr>
              <a:t>最前面。</a:t>
            </a:r>
            <a:endParaRPr lang="en-US" altLang="zh-CN" sz="2000" b="1" dirty="0">
              <a:solidFill>
                <a:srgbClr val="0000FF"/>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默认路由 </a:t>
            </a:r>
            <a:r>
              <a:rPr lang="en-US" altLang="zh-CN" sz="2000" b="1" dirty="0">
                <a:solidFill>
                  <a:srgbClr val="C00000"/>
                </a:solidFill>
                <a:latin typeface="微软雅黑" pitchFamily="34" charset="-122"/>
                <a:ea typeface="微软雅黑" pitchFamily="34" charset="-122"/>
              </a:rPr>
              <a:t>(default route)</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不管分组的最终目的网络在哪里，都由指定的路由器 </a:t>
            </a:r>
            <a:r>
              <a:rPr lang="en-US" altLang="zh-CN" sz="2000" b="1" dirty="0">
                <a:latin typeface="微软雅黑" pitchFamily="34" charset="-122"/>
                <a:ea typeface="微软雅黑" pitchFamily="34" charset="-122"/>
              </a:rPr>
              <a:t>R </a:t>
            </a:r>
            <a:r>
              <a:rPr lang="zh-CN" altLang="en-US" sz="2000" b="1" dirty="0">
                <a:latin typeface="微软雅黑" pitchFamily="34" charset="-122"/>
                <a:ea typeface="微软雅黑" pitchFamily="34" charset="-122"/>
              </a:rPr>
              <a:t>来处理</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用特殊前缀 </a:t>
            </a:r>
            <a:r>
              <a:rPr lang="en-US" altLang="zh-CN" sz="2000" b="1" dirty="0">
                <a:solidFill>
                  <a:srgbClr val="0000FF"/>
                </a:solidFill>
                <a:latin typeface="微软雅黑" pitchFamily="34" charset="-122"/>
                <a:ea typeface="微软雅黑" pitchFamily="34" charset="-122"/>
              </a:rPr>
              <a:t>0.0.0.0/0</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表示。</a:t>
            </a:r>
            <a:endParaRPr lang="en-US" altLang="zh-CN" sz="2000" b="1" dirty="0">
              <a:latin typeface="微软雅黑" pitchFamily="34" charset="-122"/>
              <a:ea typeface="微软雅黑" pitchFamily="34" charset="-122"/>
            </a:endParaRPr>
          </a:p>
        </p:txBody>
      </p:sp>
    </p:spTree>
    <p:extLst>
      <p:ext uri="{BB962C8B-B14F-4D97-AF65-F5344CB8AC3E}">
        <p14:creationId xmlns:p14="http://schemas.microsoft.com/office/powerpoint/2010/main" val="19782744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196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719575" y="588754"/>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默认路由举例</a:t>
            </a:r>
          </a:p>
        </p:txBody>
      </p:sp>
      <p:sp>
        <p:nvSpPr>
          <p:cNvPr id="7" name="圆角矩形 6"/>
          <p:cNvSpPr/>
          <p:nvPr/>
        </p:nvSpPr>
        <p:spPr>
          <a:xfrm>
            <a:off x="556963" y="1059553"/>
            <a:ext cx="8048776" cy="22814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Line 4"/>
          <p:cNvSpPr>
            <a:spLocks noChangeShapeType="1"/>
          </p:cNvSpPr>
          <p:nvPr/>
        </p:nvSpPr>
        <p:spPr bwMode="auto">
          <a:xfrm flipV="1">
            <a:off x="4975616" y="1432111"/>
            <a:ext cx="453405"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0" name="Line 5"/>
          <p:cNvSpPr>
            <a:spLocks noChangeShapeType="1"/>
          </p:cNvSpPr>
          <p:nvPr/>
        </p:nvSpPr>
        <p:spPr bwMode="auto">
          <a:xfrm flipV="1">
            <a:off x="4652499" y="1714015"/>
            <a:ext cx="259536"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1" name="Line 6"/>
          <p:cNvSpPr>
            <a:spLocks noChangeShapeType="1"/>
          </p:cNvSpPr>
          <p:nvPr/>
        </p:nvSpPr>
        <p:spPr bwMode="auto">
          <a:xfrm flipV="1">
            <a:off x="4858877" y="2084437"/>
            <a:ext cx="743167" cy="1347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7"/>
          <p:cNvSpPr>
            <a:spLocks noChangeShapeType="1"/>
          </p:cNvSpPr>
          <p:nvPr/>
        </p:nvSpPr>
        <p:spPr bwMode="auto">
          <a:xfrm flipH="1">
            <a:off x="4006267" y="2165255"/>
            <a:ext cx="38773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8"/>
          <p:cNvSpPr>
            <a:spLocks noChangeShapeType="1"/>
          </p:cNvSpPr>
          <p:nvPr/>
        </p:nvSpPr>
        <p:spPr bwMode="auto">
          <a:xfrm>
            <a:off x="4652500" y="2221059"/>
            <a:ext cx="19386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9"/>
          <p:cNvSpPr>
            <a:spLocks noChangeShapeType="1"/>
          </p:cNvSpPr>
          <p:nvPr/>
        </p:nvSpPr>
        <p:spPr bwMode="auto">
          <a:xfrm flipV="1">
            <a:off x="3746733" y="2109452"/>
            <a:ext cx="518027" cy="558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pic>
        <p:nvPicPr>
          <p:cNvPr id="75"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05904" y="2029595"/>
            <a:ext cx="337709" cy="1693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6" name="Text Box 31"/>
          <p:cNvSpPr txBox="1">
            <a:spLocks noChangeArrowheads="1"/>
          </p:cNvSpPr>
          <p:nvPr/>
        </p:nvSpPr>
        <p:spPr bwMode="auto">
          <a:xfrm>
            <a:off x="5053940" y="175726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CC"/>
                </a:solidFill>
                <a:latin typeface="微软雅黑" pitchFamily="34" charset="-122"/>
                <a:ea typeface="微软雅黑" pitchFamily="34" charset="-122"/>
              </a:rPr>
              <a:t>R</a:t>
            </a:r>
            <a:r>
              <a:rPr lang="en-US" altLang="zh-CN" sz="1400" b="1" baseline="-25000">
                <a:solidFill>
                  <a:srgbClr val="0000CC"/>
                </a:solidFill>
                <a:latin typeface="微软雅黑" pitchFamily="34" charset="-122"/>
                <a:ea typeface="微软雅黑" pitchFamily="34" charset="-122"/>
              </a:rPr>
              <a:t>1</a:t>
            </a:r>
          </a:p>
        </p:txBody>
      </p:sp>
      <p:graphicFrame>
        <p:nvGraphicFramePr>
          <p:cNvPr id="77" name="Object 32"/>
          <p:cNvGraphicFramePr>
            <a:graphicFrameLocks noChangeAspect="1"/>
          </p:cNvGraphicFramePr>
          <p:nvPr>
            <p:extLst>
              <p:ext uri="{D42A27DB-BD31-4B8C-83A1-F6EECF244321}">
                <p14:modId xmlns:p14="http://schemas.microsoft.com/office/powerpoint/2010/main" val="563585180"/>
              </p:ext>
            </p:extLst>
          </p:nvPr>
        </p:nvGraphicFramePr>
        <p:xfrm>
          <a:off x="5558347" y="1629981"/>
          <a:ext cx="2004120" cy="1190156"/>
        </p:xfrm>
        <a:graphic>
          <a:graphicData uri="http://schemas.openxmlformats.org/presentationml/2006/ole">
            <mc:AlternateContent xmlns:mc="http://schemas.openxmlformats.org/markup-compatibility/2006">
              <mc:Choice xmlns:v="urn:schemas-microsoft-com:vml" Requires="v">
                <p:oleObj name="Visio" r:id="rId3" imgW="1689885" imgH="964337" progId="">
                  <p:embed/>
                </p:oleObj>
              </mc:Choice>
              <mc:Fallback>
                <p:oleObj name="Visio" r:id="rId3" imgW="1689885" imgH="964337" progId="">
                  <p:embed/>
                  <p:pic>
                    <p:nvPicPr>
                      <p:cNvPr id="0" name="Picture 39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58347" y="1629981"/>
                        <a:ext cx="2004120" cy="1190156"/>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8" name="Text Box 33"/>
          <p:cNvSpPr txBox="1">
            <a:spLocks noChangeArrowheads="1"/>
          </p:cNvSpPr>
          <p:nvPr/>
        </p:nvSpPr>
        <p:spPr bwMode="auto">
          <a:xfrm>
            <a:off x="6169329" y="202093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互联网</a:t>
            </a:r>
            <a:endParaRPr lang="zh-CN" altLang="en-US" sz="1400" b="1" baseline="-25000" dirty="0">
              <a:latin typeface="微软雅黑" pitchFamily="34" charset="-122"/>
              <a:ea typeface="微软雅黑" pitchFamily="34" charset="-122"/>
            </a:endParaRPr>
          </a:p>
        </p:txBody>
      </p:sp>
      <p:sp>
        <p:nvSpPr>
          <p:cNvPr id="80" name="Text Box 40"/>
          <p:cNvSpPr txBox="1">
            <a:spLocks noChangeArrowheads="1"/>
          </p:cNvSpPr>
          <p:nvPr/>
        </p:nvSpPr>
        <p:spPr bwMode="auto">
          <a:xfrm>
            <a:off x="1860412" y="1405325"/>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CC"/>
                </a:solidFill>
                <a:latin typeface="微软雅黑" pitchFamily="34" charset="-122"/>
                <a:ea typeface="微软雅黑" pitchFamily="34" charset="-122"/>
              </a:rPr>
              <a:t>主机路由表</a:t>
            </a:r>
            <a:endParaRPr lang="zh-CN" altLang="en-US" sz="1400" b="1" baseline="-25000" dirty="0">
              <a:solidFill>
                <a:srgbClr val="0000CC"/>
              </a:solidFill>
              <a:latin typeface="微软雅黑" pitchFamily="34" charset="-122"/>
              <a:ea typeface="微软雅黑" pitchFamily="34" charset="-122"/>
            </a:endParaRPr>
          </a:p>
        </p:txBody>
      </p:sp>
      <p:sp>
        <p:nvSpPr>
          <p:cNvPr id="81" name="Freeform 41"/>
          <p:cNvSpPr>
            <a:spLocks/>
          </p:cNvSpPr>
          <p:nvPr/>
        </p:nvSpPr>
        <p:spPr bwMode="auto">
          <a:xfrm>
            <a:off x="3255830" y="1685151"/>
            <a:ext cx="417942" cy="886123"/>
          </a:xfrm>
          <a:custGeom>
            <a:avLst/>
            <a:gdLst>
              <a:gd name="T0" fmla="*/ 4 w 368"/>
              <a:gd name="T1" fmla="*/ 0 h 524"/>
              <a:gd name="T2" fmla="*/ 368 w 368"/>
              <a:gd name="T3" fmla="*/ 256 h 524"/>
              <a:gd name="T4" fmla="*/ 367 w 368"/>
              <a:gd name="T5" fmla="*/ 277 h 524"/>
              <a:gd name="T6" fmla="*/ 0 w 368"/>
              <a:gd name="T7" fmla="*/ 524 h 524"/>
              <a:gd name="T8" fmla="*/ 4 w 368"/>
              <a:gd name="T9" fmla="*/ 0 h 524"/>
            </a:gdLst>
            <a:ahLst/>
            <a:cxnLst>
              <a:cxn ang="0">
                <a:pos x="T0" y="T1"/>
              </a:cxn>
              <a:cxn ang="0">
                <a:pos x="T2" y="T3"/>
              </a:cxn>
              <a:cxn ang="0">
                <a:pos x="T4" y="T5"/>
              </a:cxn>
              <a:cxn ang="0">
                <a:pos x="T6" y="T7"/>
              </a:cxn>
              <a:cxn ang="0">
                <a:pos x="T8" y="T9"/>
              </a:cxn>
            </a:cxnLst>
            <a:rect l="0" t="0" r="r" b="b"/>
            <a:pathLst>
              <a:path w="368" h="524">
                <a:moveTo>
                  <a:pt x="4" y="0"/>
                </a:moveTo>
                <a:lnTo>
                  <a:pt x="368" y="256"/>
                </a:lnTo>
                <a:lnTo>
                  <a:pt x="367" y="277"/>
                </a:lnTo>
                <a:lnTo>
                  <a:pt x="0" y="524"/>
                </a:lnTo>
                <a:lnTo>
                  <a:pt x="4" y="0"/>
                </a:lnTo>
                <a:close/>
              </a:path>
            </a:pathLst>
          </a:custGeom>
          <a:gradFill>
            <a:gsLst>
              <a:gs pos="0">
                <a:srgbClr val="00FFFF"/>
              </a:gs>
              <a:gs pos="100000">
                <a:srgbClr val="0000CC"/>
              </a:gs>
            </a:gsLst>
            <a:lin ang="0" scaled="0"/>
          </a:gradFill>
          <a:ln>
            <a:noFill/>
          </a:ln>
          <a:effec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84" name="Group 44"/>
          <p:cNvGrpSpPr>
            <a:grpSpLocks/>
          </p:cNvGrpSpPr>
          <p:nvPr/>
        </p:nvGrpSpPr>
        <p:grpSpPr bwMode="auto">
          <a:xfrm>
            <a:off x="5105904" y="1206973"/>
            <a:ext cx="717109" cy="425262"/>
            <a:chOff x="1776" y="2768"/>
            <a:chExt cx="1824" cy="736"/>
          </a:xfrm>
          <a:solidFill>
            <a:srgbClr val="00B0F0"/>
          </a:solidFill>
        </p:grpSpPr>
        <p:grpSp>
          <p:nvGrpSpPr>
            <p:cNvPr id="85" name="Group 45"/>
            <p:cNvGrpSpPr>
              <a:grpSpLocks/>
            </p:cNvGrpSpPr>
            <p:nvPr/>
          </p:nvGrpSpPr>
          <p:grpSpPr bwMode="auto">
            <a:xfrm>
              <a:off x="1787" y="2783"/>
              <a:ext cx="1813" cy="721"/>
              <a:chOff x="1787" y="2783"/>
              <a:chExt cx="1813" cy="721"/>
            </a:xfrm>
            <a:grpFill/>
          </p:grpSpPr>
          <p:sp>
            <p:nvSpPr>
              <p:cNvPr id="9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8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4" name="Text Box 64"/>
          <p:cNvSpPr txBox="1">
            <a:spLocks noChangeArrowheads="1"/>
          </p:cNvSpPr>
          <p:nvPr/>
        </p:nvSpPr>
        <p:spPr bwMode="auto">
          <a:xfrm>
            <a:off x="5292478" y="1261814"/>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N</a:t>
            </a:r>
            <a:r>
              <a:rPr lang="en-US" altLang="zh-CN" sz="1400" b="1" baseline="-25000">
                <a:latin typeface="微软雅黑" pitchFamily="34" charset="-122"/>
                <a:ea typeface="微软雅黑" pitchFamily="34" charset="-122"/>
              </a:rPr>
              <a:t>2</a:t>
            </a:r>
          </a:p>
        </p:txBody>
      </p:sp>
      <p:pic>
        <p:nvPicPr>
          <p:cNvPr id="105" name="Picture 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81746" y="1602409"/>
            <a:ext cx="338751" cy="1683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6" name="Text Box 66"/>
          <p:cNvSpPr txBox="1">
            <a:spLocks noChangeArrowheads="1"/>
          </p:cNvSpPr>
          <p:nvPr/>
        </p:nvSpPr>
        <p:spPr bwMode="auto">
          <a:xfrm>
            <a:off x="4626442" y="13060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CC"/>
                </a:solidFill>
                <a:latin typeface="微软雅黑" pitchFamily="34" charset="-122"/>
                <a:ea typeface="微软雅黑" pitchFamily="34" charset="-122"/>
              </a:rPr>
              <a:t>R</a:t>
            </a:r>
            <a:r>
              <a:rPr lang="en-US" altLang="zh-CN" sz="1400" b="1" baseline="-25000" dirty="0">
                <a:solidFill>
                  <a:srgbClr val="0000CC"/>
                </a:solidFill>
                <a:latin typeface="微软雅黑" pitchFamily="34" charset="-122"/>
                <a:ea typeface="微软雅黑" pitchFamily="34" charset="-122"/>
              </a:rPr>
              <a:t>2</a:t>
            </a:r>
          </a:p>
        </p:txBody>
      </p:sp>
      <p:grpSp>
        <p:nvGrpSpPr>
          <p:cNvPr id="107" name="Group 44"/>
          <p:cNvGrpSpPr>
            <a:grpSpLocks/>
          </p:cNvGrpSpPr>
          <p:nvPr/>
        </p:nvGrpSpPr>
        <p:grpSpPr bwMode="auto">
          <a:xfrm>
            <a:off x="4085442" y="1773668"/>
            <a:ext cx="872414" cy="556337"/>
            <a:chOff x="1776" y="2768"/>
            <a:chExt cx="1824" cy="736"/>
          </a:xfrm>
          <a:solidFill>
            <a:srgbClr val="00B0F0"/>
          </a:solidFill>
        </p:grpSpPr>
        <p:grpSp>
          <p:nvGrpSpPr>
            <p:cNvPr id="108" name="Group 45"/>
            <p:cNvGrpSpPr>
              <a:grpSpLocks/>
            </p:cNvGrpSpPr>
            <p:nvPr/>
          </p:nvGrpSpPr>
          <p:grpSpPr bwMode="auto">
            <a:xfrm>
              <a:off x="1787" y="2783"/>
              <a:ext cx="1813" cy="721"/>
              <a:chOff x="1787" y="2783"/>
              <a:chExt cx="1813" cy="721"/>
            </a:xfrm>
            <a:grpFill/>
          </p:grpSpPr>
          <p:sp>
            <p:nvSpPr>
              <p:cNvPr id="118"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9"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0"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1"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2"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9"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1"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2"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3"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4"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27" name="Text Box 30"/>
          <p:cNvSpPr txBox="1">
            <a:spLocks noChangeArrowheads="1"/>
          </p:cNvSpPr>
          <p:nvPr/>
        </p:nvSpPr>
        <p:spPr bwMode="auto">
          <a:xfrm>
            <a:off x="4348742" y="1892753"/>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N</a:t>
            </a:r>
            <a:r>
              <a:rPr lang="en-US" altLang="zh-CN" sz="1400" b="1" baseline="-25000" dirty="0">
                <a:latin typeface="微软雅黑" pitchFamily="34" charset="-122"/>
                <a:ea typeface="微软雅黑" pitchFamily="34" charset="-122"/>
              </a:rPr>
              <a:t>1</a:t>
            </a:r>
          </a:p>
        </p:txBody>
      </p:sp>
      <p:sp>
        <p:nvSpPr>
          <p:cNvPr id="128" name="Rectangle 36"/>
          <p:cNvSpPr>
            <a:spLocks noChangeArrowheads="1"/>
          </p:cNvSpPr>
          <p:nvPr/>
        </p:nvSpPr>
        <p:spPr bwMode="auto">
          <a:xfrm>
            <a:off x="1514007" y="1688038"/>
            <a:ext cx="1741823" cy="87072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2" name="Line 39"/>
          <p:cNvSpPr>
            <a:spLocks noChangeShapeType="1"/>
          </p:cNvSpPr>
          <p:nvPr/>
        </p:nvSpPr>
        <p:spPr bwMode="auto">
          <a:xfrm>
            <a:off x="2609598" y="1688038"/>
            <a:ext cx="3127" cy="8591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2" name="组合 1"/>
          <p:cNvGrpSpPr/>
          <p:nvPr/>
        </p:nvGrpSpPr>
        <p:grpSpPr>
          <a:xfrm>
            <a:off x="1514007" y="1909328"/>
            <a:ext cx="1741823" cy="425263"/>
            <a:chOff x="1834120" y="1909328"/>
            <a:chExt cx="1421710" cy="425263"/>
          </a:xfrm>
        </p:grpSpPr>
        <p:sp>
          <p:nvSpPr>
            <p:cNvPr id="130" name="Line 37"/>
            <p:cNvSpPr>
              <a:spLocks noChangeShapeType="1"/>
            </p:cNvSpPr>
            <p:nvPr/>
          </p:nvSpPr>
          <p:spPr bwMode="auto">
            <a:xfrm>
              <a:off x="1834120" y="1909328"/>
              <a:ext cx="1421710" cy="0"/>
            </a:xfrm>
            <a:prstGeom prst="line">
              <a:avLst/>
            </a:prstGeom>
            <a:ln>
              <a:solidFill>
                <a:schemeClr val="tx1"/>
              </a:solidFill>
              <a:headEnd/>
              <a:tailEnd/>
            </a:ln>
          </p:spPr>
          <p:style>
            <a:lnRef idx="1">
              <a:schemeClr val="dk1"/>
            </a:lnRef>
            <a:fillRef idx="0">
              <a:schemeClr val="dk1"/>
            </a:fillRef>
            <a:effectRef idx="0">
              <a:schemeClr val="dk1"/>
            </a:effectRef>
            <a:fontRef idx="minor">
              <a:schemeClr val="tx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Line 38"/>
            <p:cNvSpPr>
              <a:spLocks noChangeShapeType="1"/>
            </p:cNvSpPr>
            <p:nvPr/>
          </p:nvSpPr>
          <p:spPr bwMode="auto">
            <a:xfrm>
              <a:off x="1834120" y="2130619"/>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3" name="Line 67"/>
            <p:cNvSpPr>
              <a:spLocks noChangeShapeType="1"/>
            </p:cNvSpPr>
            <p:nvPr/>
          </p:nvSpPr>
          <p:spPr bwMode="auto">
            <a:xfrm>
              <a:off x="1834120" y="2334591"/>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36" name="矩形 135"/>
          <p:cNvSpPr/>
          <p:nvPr/>
        </p:nvSpPr>
        <p:spPr>
          <a:xfrm>
            <a:off x="1001438" y="3385219"/>
            <a:ext cx="7360078" cy="753220"/>
          </a:xfrm>
          <a:prstGeom prst="rect">
            <a:avLst/>
          </a:prstGeom>
        </p:spPr>
        <p:txBody>
          <a:bodyPr wrap="square">
            <a:spAutoFit/>
          </a:bodyPr>
          <a:lstStyle/>
          <a:p>
            <a:pPr>
              <a:lnSpc>
                <a:spcPts val="2700"/>
              </a:lnSpc>
            </a:pPr>
            <a:r>
              <a:rPr lang="zh-CN" altLang="en-US" b="1" dirty="0">
                <a:latin typeface="微软雅黑" pitchFamily="34" charset="-122"/>
                <a:ea typeface="微软雅黑" pitchFamily="34" charset="-122"/>
              </a:rPr>
              <a:t>只要目的网络不是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和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2</a:t>
            </a:r>
            <a:r>
              <a:rPr lang="zh-CN" altLang="en-US" b="1" dirty="0">
                <a:latin typeface="微软雅黑" pitchFamily="34" charset="-122"/>
                <a:ea typeface="微软雅黑" pitchFamily="34" charset="-122"/>
              </a:rPr>
              <a:t>，就一律选择默认路由，把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数据报先间接交付默认路由器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zh-CN" altLang="en-US" b="1" dirty="0">
                <a:latin typeface="微软雅黑" pitchFamily="34" charset="-122"/>
                <a:ea typeface="微软雅黑" pitchFamily="34" charset="-122"/>
              </a:rPr>
              <a:t>，让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再转发给下一个路由器。 </a:t>
            </a:r>
          </a:p>
        </p:txBody>
      </p:sp>
      <p:sp>
        <p:nvSpPr>
          <p:cNvPr id="137" name="矩形 136"/>
          <p:cNvSpPr/>
          <p:nvPr/>
        </p:nvSpPr>
        <p:spPr>
          <a:xfrm>
            <a:off x="2068643" y="2945065"/>
            <a:ext cx="5171606" cy="369332"/>
          </a:xfrm>
          <a:prstGeom prst="rect">
            <a:avLst/>
          </a:prstGeom>
        </p:spPr>
        <p:txBody>
          <a:bodyPr wrap="square">
            <a:spAutoFit/>
          </a:bodyPr>
          <a:lstStyle/>
          <a:p>
            <a:pPr algn="ctr"/>
            <a:r>
              <a:rPr lang="zh-CN" altLang="zh-CN" b="1" dirty="0">
                <a:latin typeface="微软雅黑" pitchFamily="34" charset="-122"/>
                <a:ea typeface="微软雅黑" pitchFamily="34" charset="-122"/>
              </a:rPr>
              <a:t>路由器</a:t>
            </a:r>
            <a:r>
              <a:rPr lang="en-US" altLang="zh-CN" b="1" dirty="0">
                <a:latin typeface="微软雅黑" pitchFamily="34" charset="-122"/>
                <a:ea typeface="微软雅黑" pitchFamily="34" charset="-122"/>
              </a:rPr>
              <a:t> R</a:t>
            </a:r>
            <a:r>
              <a:rPr lang="en-US" altLang="zh-CN" b="1" baseline="-25000" dirty="0">
                <a:latin typeface="微软雅黑" pitchFamily="34" charset="-122"/>
                <a:ea typeface="微软雅黑" pitchFamily="34" charset="-122"/>
              </a:rPr>
              <a:t>1 </a:t>
            </a:r>
            <a:r>
              <a:rPr lang="zh-CN" altLang="zh-CN" b="1" dirty="0">
                <a:latin typeface="微软雅黑" pitchFamily="34" charset="-122"/>
                <a:ea typeface="微软雅黑" pitchFamily="34" charset="-122"/>
              </a:rPr>
              <a:t>充当</a:t>
            </a:r>
            <a:r>
              <a:rPr lang="zh-CN" altLang="en-US" b="1" dirty="0">
                <a:latin typeface="微软雅黑" pitchFamily="34" charset="-122"/>
                <a:ea typeface="微软雅黑" pitchFamily="34" charset="-122"/>
              </a:rPr>
              <a:t>到达互联网</a:t>
            </a:r>
            <a:r>
              <a:rPr lang="zh-CN" altLang="zh-CN" b="1" dirty="0">
                <a:latin typeface="微软雅黑" pitchFamily="34" charset="-122"/>
                <a:ea typeface="微软雅黑" pitchFamily="34" charset="-122"/>
              </a:rPr>
              <a:t>的默认路由器</a:t>
            </a:r>
            <a:endParaRPr lang="zh-CN" altLang="en-US" b="1" dirty="0">
              <a:latin typeface="微软雅黑" pitchFamily="34" charset="-122"/>
              <a:ea typeface="微软雅黑" pitchFamily="34" charset="-122"/>
            </a:endParaRPr>
          </a:p>
        </p:txBody>
      </p:sp>
      <p:sp>
        <p:nvSpPr>
          <p:cNvPr id="138" name="Text Box 35"/>
          <p:cNvSpPr txBox="1">
            <a:spLocks noChangeArrowheads="1"/>
          </p:cNvSpPr>
          <p:nvPr/>
        </p:nvSpPr>
        <p:spPr bwMode="auto">
          <a:xfrm>
            <a:off x="1539180" y="1647509"/>
            <a:ext cx="1710415" cy="9787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ct val="120000"/>
              </a:lnSpc>
            </a:pPr>
            <a:r>
              <a:rPr lang="zh-CN" altLang="en-US" sz="1200" b="1" dirty="0">
                <a:latin typeface="微软雅黑" pitchFamily="34" charset="-122"/>
                <a:ea typeface="微软雅黑" pitchFamily="34" charset="-122"/>
              </a:rPr>
              <a:t>  网络前缀        下一跳</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直接 </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2</a:t>
            </a:r>
          </a:p>
          <a:p>
            <a:pPr>
              <a:lnSpc>
                <a:spcPct val="120000"/>
              </a:lnSpc>
            </a:pPr>
            <a:r>
              <a:rPr lang="en-US" altLang="zh-CN" sz="1200" b="1" dirty="0">
                <a:latin typeface="微软雅黑" pitchFamily="34" charset="-122"/>
                <a:ea typeface="微软雅黑" pitchFamily="34" charset="-122"/>
              </a:rPr>
              <a:t>  0.0.0.0/0</a:t>
            </a: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p>
        </p:txBody>
      </p:sp>
      <p:pic>
        <p:nvPicPr>
          <p:cNvPr id="13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52444" y="1984580"/>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0"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779912" y="2454772"/>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644008" y="2454772"/>
            <a:ext cx="370473" cy="3704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 name="Rectangle 6"/>
          <p:cNvSpPr>
            <a:spLocks noChangeArrowheads="1"/>
          </p:cNvSpPr>
          <p:nvPr/>
        </p:nvSpPr>
        <p:spPr bwMode="auto">
          <a:xfrm>
            <a:off x="3296383" y="582227"/>
            <a:ext cx="25699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路由器分组转发算法</a:t>
            </a:r>
          </a:p>
        </p:txBody>
      </p:sp>
      <p:sp>
        <p:nvSpPr>
          <p:cNvPr id="2" name="矩形 1"/>
          <p:cNvSpPr/>
          <p:nvPr/>
        </p:nvSpPr>
        <p:spPr>
          <a:xfrm>
            <a:off x="681941" y="1392030"/>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提取目的地址 </a:t>
            </a:r>
            <a:r>
              <a:rPr lang="en-US" altLang="zh-CN" sz="1400" b="1" dirty="0">
                <a:solidFill>
                  <a:schemeClr val="bg1"/>
                </a:solidFill>
                <a:latin typeface="微软雅黑" panose="020B0503020204020204" pitchFamily="34" charset="-122"/>
                <a:ea typeface="微软雅黑" panose="020B0503020204020204" pitchFamily="34" charset="-122"/>
              </a:rPr>
              <a:t>IP </a:t>
            </a:r>
            <a:r>
              <a:rPr lang="zh-CN" altLang="en-US" sz="1400" b="1" dirty="0">
                <a:solidFill>
                  <a:schemeClr val="bg1"/>
                </a:solidFill>
                <a:latin typeface="微软雅黑" panose="020B0503020204020204" pitchFamily="34" charset="-122"/>
                <a:ea typeface="微软雅黑" panose="020B0503020204020204" pitchFamily="34" charset="-122"/>
              </a:rPr>
              <a:t>地址</a:t>
            </a:r>
            <a:r>
              <a:rPr lang="en-US" altLang="zh-CN" sz="1400" b="1" dirty="0">
                <a:solidFill>
                  <a:schemeClr val="bg1"/>
                </a:solidFill>
                <a:latin typeface="微软雅黑" panose="020B0503020204020204" pitchFamily="34" charset="-122"/>
                <a:ea typeface="微软雅黑" panose="020B0503020204020204" pitchFamily="34" charset="-122"/>
              </a:rPr>
              <a:t> D</a:t>
            </a:r>
            <a:endParaRPr lang="zh-CN" altLang="en-US" sz="1400" b="1" dirty="0">
              <a:solidFill>
                <a:schemeClr val="bg1"/>
              </a:solidFill>
              <a:latin typeface="微软雅黑" panose="020B0503020204020204" pitchFamily="34" charset="-122"/>
              <a:ea typeface="微软雅黑" panose="020B0503020204020204" pitchFamily="34" charset="-122"/>
            </a:endParaRPr>
          </a:p>
        </p:txBody>
      </p:sp>
      <p:sp>
        <p:nvSpPr>
          <p:cNvPr id="3" name="菱形 2"/>
          <p:cNvSpPr/>
          <p:nvPr/>
        </p:nvSpPr>
        <p:spPr>
          <a:xfrm>
            <a:off x="4080677" y="1422924"/>
            <a:ext cx="2662533"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的特定主机路由 ？</a:t>
            </a:r>
          </a:p>
        </p:txBody>
      </p:sp>
      <p:sp>
        <p:nvSpPr>
          <p:cNvPr id="9" name="菱形 8"/>
          <p:cNvSpPr/>
          <p:nvPr/>
        </p:nvSpPr>
        <p:spPr>
          <a:xfrm>
            <a:off x="4080676" y="2270681"/>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的最长前缀匹配 ？</a:t>
            </a:r>
          </a:p>
        </p:txBody>
      </p:sp>
      <p:sp>
        <p:nvSpPr>
          <p:cNvPr id="10" name="菱形 9"/>
          <p:cNvSpPr/>
          <p:nvPr/>
        </p:nvSpPr>
        <p:spPr>
          <a:xfrm>
            <a:off x="4080676" y="3118439"/>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找到默认路由？</a:t>
            </a:r>
          </a:p>
        </p:txBody>
      </p:sp>
      <p:sp>
        <p:nvSpPr>
          <p:cNvPr id="11" name="矩形 10"/>
          <p:cNvSpPr/>
          <p:nvPr/>
        </p:nvSpPr>
        <p:spPr>
          <a:xfrm>
            <a:off x="6466437" y="3927627"/>
            <a:ext cx="2219913" cy="441235"/>
          </a:xfrm>
          <a:prstGeom prst="rect">
            <a:avLst/>
          </a:prstGeom>
          <a:solidFill>
            <a:srgbClr val="99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转发分组到下一跳路由器</a:t>
            </a:r>
          </a:p>
        </p:txBody>
      </p:sp>
      <p:sp>
        <p:nvSpPr>
          <p:cNvPr id="12" name="矩形 11"/>
          <p:cNvSpPr/>
          <p:nvPr/>
        </p:nvSpPr>
        <p:spPr>
          <a:xfrm>
            <a:off x="4422480" y="3927628"/>
            <a:ext cx="1978926" cy="441235"/>
          </a:xfrm>
          <a:prstGeom prst="rect">
            <a:avLst/>
          </a:prstGeom>
          <a:solidFill>
            <a:srgbClr val="0099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丢弃分组</a:t>
            </a:r>
          </a:p>
        </p:txBody>
      </p:sp>
      <p:cxnSp>
        <p:nvCxnSpPr>
          <p:cNvPr id="15" name="直接箭头连接符 14"/>
          <p:cNvCxnSpPr/>
          <p:nvPr/>
        </p:nvCxnSpPr>
        <p:spPr>
          <a:xfrm flipH="1">
            <a:off x="5411943" y="1969092"/>
            <a:ext cx="1" cy="301589"/>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p:cNvCxnSpPr/>
          <p:nvPr/>
        </p:nvCxnSpPr>
        <p:spPr>
          <a:xfrm>
            <a:off x="5411943" y="2816849"/>
            <a:ext cx="0" cy="30159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681940" y="2174485"/>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查找转发表</a:t>
            </a:r>
          </a:p>
        </p:txBody>
      </p:sp>
      <p:cxnSp>
        <p:nvCxnSpPr>
          <p:cNvPr id="43" name="直接箭头连接符 42"/>
          <p:cNvCxnSpPr>
            <a:stCxn id="2" idx="2"/>
            <a:endCxn id="31" idx="0"/>
          </p:cNvCxnSpPr>
          <p:nvPr/>
        </p:nvCxnSpPr>
        <p:spPr>
          <a:xfrm flipH="1">
            <a:off x="2132046" y="1833265"/>
            <a:ext cx="1" cy="34122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48" name="肘形连接符 47"/>
          <p:cNvCxnSpPr>
            <a:stCxn id="31" idx="2"/>
            <a:endCxn id="3" idx="0"/>
          </p:cNvCxnSpPr>
          <p:nvPr/>
        </p:nvCxnSpPr>
        <p:spPr>
          <a:xfrm rot="5400000" flipH="1" flipV="1">
            <a:off x="3175597" y="379373"/>
            <a:ext cx="1192796" cy="3279898"/>
          </a:xfrm>
          <a:prstGeom prst="bentConnector5">
            <a:avLst>
              <a:gd name="adj1" fmla="val -19165"/>
              <a:gd name="adj2" fmla="val 53893"/>
              <a:gd name="adj3" fmla="val 119165"/>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p:cNvCxnSpPr/>
          <p:nvPr/>
        </p:nvCxnSpPr>
        <p:spPr>
          <a:xfrm>
            <a:off x="5411943" y="3664607"/>
            <a:ext cx="0" cy="263021"/>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8" name="肘形连接符 57"/>
          <p:cNvCxnSpPr>
            <a:stCxn id="3" idx="3"/>
            <a:endCxn id="11" idx="0"/>
          </p:cNvCxnSpPr>
          <p:nvPr/>
        </p:nvCxnSpPr>
        <p:spPr>
          <a:xfrm>
            <a:off x="6743210" y="1696008"/>
            <a:ext cx="833184" cy="2231619"/>
          </a:xfrm>
          <a:prstGeom prst="bentConnector2">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p:cNvCxnSpPr>
            <a:stCxn id="9" idx="3"/>
          </p:cNvCxnSpPr>
          <p:nvPr/>
        </p:nvCxnSpPr>
        <p:spPr>
          <a:xfrm>
            <a:off x="6743210" y="2543765"/>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p:cNvCxnSpPr>
            <a:stCxn id="10" idx="3"/>
          </p:cNvCxnSpPr>
          <p:nvPr/>
        </p:nvCxnSpPr>
        <p:spPr>
          <a:xfrm>
            <a:off x="6743210" y="3391523"/>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77" name="矩形 76"/>
          <p:cNvSpPr/>
          <p:nvPr/>
        </p:nvSpPr>
        <p:spPr>
          <a:xfrm>
            <a:off x="6772090" y="1421493"/>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78" name="矩形 77"/>
          <p:cNvSpPr/>
          <p:nvPr/>
        </p:nvSpPr>
        <p:spPr>
          <a:xfrm>
            <a:off x="5047741" y="1946714"/>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79" name="矩形 78"/>
          <p:cNvSpPr/>
          <p:nvPr/>
        </p:nvSpPr>
        <p:spPr>
          <a:xfrm>
            <a:off x="5047741" y="2813755"/>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0" name="矩形 79"/>
          <p:cNvSpPr/>
          <p:nvPr/>
        </p:nvSpPr>
        <p:spPr>
          <a:xfrm>
            <a:off x="5047741" y="3642458"/>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1" name="矩形 80"/>
          <p:cNvSpPr/>
          <p:nvPr/>
        </p:nvSpPr>
        <p:spPr>
          <a:xfrm>
            <a:off x="6772090" y="2275140"/>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82" name="矩形 81"/>
          <p:cNvSpPr/>
          <p:nvPr/>
        </p:nvSpPr>
        <p:spPr>
          <a:xfrm>
            <a:off x="6772090" y="3135531"/>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369317" y="571120"/>
            <a:ext cx="440537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4.3.3 </a:t>
            </a:r>
            <a:r>
              <a:rPr lang="zh-CN" altLang="en-US" sz="2400" b="1" dirty="0">
                <a:solidFill>
                  <a:schemeClr val="bg1"/>
                </a:solidFill>
                <a:latin typeface="微软雅黑" pitchFamily="34" charset="-122"/>
                <a:ea typeface="微软雅黑" pitchFamily="34" charset="-122"/>
              </a:rPr>
              <a:t>使用二叉线索查找转发表</a:t>
            </a:r>
          </a:p>
        </p:txBody>
      </p:sp>
      <p:sp>
        <p:nvSpPr>
          <p:cNvPr id="4" name="Rectangle 8"/>
          <p:cNvSpPr>
            <a:spLocks noChangeArrowheads="1"/>
          </p:cNvSpPr>
          <p:nvPr/>
        </p:nvSpPr>
        <p:spPr bwMode="auto">
          <a:xfrm>
            <a:off x="545143" y="969791"/>
            <a:ext cx="8053711"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二叉线索 </a:t>
            </a:r>
            <a:r>
              <a:rPr lang="en-US" altLang="zh-CN" sz="2000" b="1" dirty="0">
                <a:latin typeface="微软雅黑" pitchFamily="34" charset="-122"/>
                <a:ea typeface="微软雅黑" pitchFamily="34" charset="-122"/>
              </a:rPr>
              <a:t>(binary </a:t>
            </a:r>
            <a:r>
              <a:rPr lang="en-US" altLang="zh-CN" sz="2000" b="1" dirty="0" err="1">
                <a:latin typeface="微软雅黑" pitchFamily="34" charset="-122"/>
                <a:ea typeface="微软雅黑" pitchFamily="34" charset="-122"/>
              </a:rPr>
              <a:t>trie</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：一种特殊结构的树，可以快速在转发表中找到匹配的叶节点。</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从二叉线索的根节点</a:t>
            </a:r>
            <a:r>
              <a:rPr lang="zh-CN" altLang="en-US" sz="2000" b="1" dirty="0">
                <a:solidFill>
                  <a:srgbClr val="C00000"/>
                </a:solidFill>
                <a:latin typeface="微软雅黑" pitchFamily="34" charset="-122"/>
                <a:ea typeface="微软雅黑" pitchFamily="34" charset="-122"/>
              </a:rPr>
              <a:t>自顶向下</a:t>
            </a:r>
            <a:r>
              <a:rPr lang="zh-CN" altLang="en-US" sz="2000" b="1" dirty="0">
                <a:latin typeface="微软雅黑" pitchFamily="34" charset="-122"/>
                <a:ea typeface="微软雅黑" pitchFamily="34" charset="-122"/>
              </a:rPr>
              <a:t>的深度最多有 </a:t>
            </a:r>
            <a:r>
              <a:rPr lang="en-US" altLang="zh-CN" sz="2000" b="1" dirty="0">
                <a:solidFill>
                  <a:srgbClr val="C00000"/>
                </a:solidFill>
                <a:latin typeface="微软雅黑" pitchFamily="34" charset="-122"/>
                <a:ea typeface="微软雅黑" pitchFamily="34" charset="-122"/>
              </a:rPr>
              <a:t>32</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层，每一层对应于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地址中的一位。</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为简化二叉线索的结构，可以用</a:t>
            </a:r>
            <a:r>
              <a:rPr lang="zh-CN" altLang="en-US" sz="2000" b="1" dirty="0">
                <a:solidFill>
                  <a:srgbClr val="C00000"/>
                </a:solidFill>
                <a:latin typeface="微软雅黑" pitchFamily="34" charset="-122"/>
                <a:ea typeface="微软雅黑" pitchFamily="34" charset="-122"/>
              </a:rPr>
              <a:t>唯一前缀 </a:t>
            </a:r>
            <a:r>
              <a:rPr lang="en-US" altLang="zh-CN" sz="2000" b="1" dirty="0">
                <a:latin typeface="微软雅黑" pitchFamily="34" charset="-122"/>
                <a:ea typeface="微软雅黑" pitchFamily="34" charset="-122"/>
              </a:rPr>
              <a:t>(unique prefix) </a:t>
            </a:r>
            <a:r>
              <a:rPr lang="zh-CN" altLang="en-US" sz="2000" b="1" dirty="0">
                <a:latin typeface="微软雅黑" pitchFamily="34" charset="-122"/>
                <a:ea typeface="微软雅黑" pitchFamily="34" charset="-122"/>
              </a:rPr>
              <a:t>来构造二叉线索。</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为了提高二叉线索的查找速度，广泛使用了各种</a:t>
            </a:r>
            <a:r>
              <a:rPr lang="zh-CN" altLang="en-US" sz="2000" b="1" dirty="0">
                <a:solidFill>
                  <a:srgbClr val="C00000"/>
                </a:solidFill>
                <a:latin typeface="微软雅黑" pitchFamily="34" charset="-122"/>
                <a:ea typeface="微软雅黑" pitchFamily="34" charset="-122"/>
              </a:rPr>
              <a:t>压缩</a:t>
            </a:r>
            <a:r>
              <a:rPr lang="zh-CN" altLang="en-US" sz="2000" b="1" dirty="0">
                <a:latin typeface="微软雅黑" pitchFamily="34" charset="-122"/>
                <a:ea typeface="微软雅黑" pitchFamily="34" charset="-122"/>
              </a:rPr>
              <a:t>技术。 </a:t>
            </a:r>
          </a:p>
        </p:txBody>
      </p:sp>
    </p:spTree>
    <p:extLst>
      <p:ext uri="{BB962C8B-B14F-4D97-AF65-F5344CB8AC3E}">
        <p14:creationId xmlns:p14="http://schemas.microsoft.com/office/powerpoint/2010/main" val="10769485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682385" y="3073260"/>
            <a:ext cx="7766343" cy="1040285"/>
          </a:xfrm>
          <a:prstGeom prst="rect">
            <a:avLst/>
          </a:prstGeom>
          <a:solidFill>
            <a:srgbClr val="00FF99"/>
          </a:solidFill>
          <a:ln>
            <a:solidFill>
              <a:srgbClr val="000099"/>
            </a:solidFill>
          </a:ln>
        </p:spPr>
        <p:txBody>
          <a:bodyPr wrap="square">
            <a:spAutoFit/>
          </a:bodyPr>
          <a:lstStyle/>
          <a:p>
            <a:pPr>
              <a:lnSpc>
                <a:spcPct val="110000"/>
              </a:lnSpc>
            </a:pPr>
            <a:r>
              <a:rPr lang="zh-CN" altLang="en-US" sz="1400" b="1" dirty="0">
                <a:solidFill>
                  <a:srgbClr val="0000FF"/>
                </a:solidFill>
                <a:latin typeface="微软雅黑" pitchFamily="34" charset="-122"/>
                <a:ea typeface="微软雅黑" pitchFamily="34" charset="-122"/>
              </a:rPr>
              <a:t>规则：</a:t>
            </a:r>
            <a:r>
              <a:rPr lang="zh-CN" altLang="en-US" sz="1400" b="1" dirty="0">
                <a:latin typeface="微软雅黑" pitchFamily="34" charset="-122"/>
                <a:ea typeface="微软雅黑" pitchFamily="34" charset="-122"/>
              </a:rPr>
              <a:t>先检查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地址左边的第一位，如为 </a:t>
            </a:r>
            <a:r>
              <a:rPr lang="en-US" altLang="zh-CN" sz="1400" b="1" dirty="0">
                <a:latin typeface="微软雅黑" pitchFamily="34" charset="-122"/>
                <a:ea typeface="微软雅黑" pitchFamily="34" charset="-122"/>
              </a:rPr>
              <a:t>0</a:t>
            </a:r>
            <a:r>
              <a:rPr lang="zh-CN" altLang="en-US" sz="1400" b="1" dirty="0">
                <a:latin typeface="微软雅黑" pitchFamily="34" charset="-122"/>
                <a:ea typeface="微软雅黑" pitchFamily="34" charset="-122"/>
              </a:rPr>
              <a:t>，则第一层的节点就在根节点的左下方；如为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，则在右下方。然后再检查地址的第二位，构造出第二层的节点。依此类推，直到唯一前缀的最后一位。每个叶节点代表一个唯一前缀。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为检查网络前缀是否匹配，必须使二叉线索中的每一个叶节点</a:t>
            </a:r>
            <a:r>
              <a:rPr lang="zh-CN" altLang="en-US" sz="1400" b="1" dirty="0">
                <a:solidFill>
                  <a:srgbClr val="C00000"/>
                </a:solidFill>
                <a:latin typeface="微软雅黑" pitchFamily="34" charset="-122"/>
                <a:ea typeface="微软雅黑" pitchFamily="34" charset="-122"/>
              </a:rPr>
              <a:t>包含</a:t>
            </a:r>
            <a:r>
              <a:rPr lang="zh-CN" altLang="en-US" sz="1400" b="1" dirty="0">
                <a:latin typeface="微软雅黑" pitchFamily="34" charset="-122"/>
                <a:ea typeface="微软雅黑" pitchFamily="34" charset="-122"/>
              </a:rPr>
              <a:t>所对应的网络前缀和子网掩码。</a:t>
            </a:r>
          </a:p>
        </p:txBody>
      </p:sp>
      <p:sp>
        <p:nvSpPr>
          <p:cNvPr id="14" name="Text Box 4"/>
          <p:cNvSpPr txBox="1">
            <a:spLocks noChangeArrowheads="1"/>
          </p:cNvSpPr>
          <p:nvPr/>
        </p:nvSpPr>
        <p:spPr bwMode="auto">
          <a:xfrm>
            <a:off x="607293" y="1159625"/>
            <a:ext cx="5525872" cy="18128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400" b="1" dirty="0">
                <a:latin typeface="微软雅黑" pitchFamily="34" charset="-122"/>
                <a:ea typeface="微软雅黑" pitchFamily="34" charset="-122"/>
              </a:rPr>
              <a:t>                     </a:t>
            </a:r>
            <a:r>
              <a:rPr kumimoji="1" lang="en-US" altLang="zh-CN" sz="1600" b="1" dirty="0">
                <a:latin typeface="微软雅黑" pitchFamily="34" charset="-122"/>
                <a:ea typeface="微软雅黑" pitchFamily="34" charset="-122"/>
              </a:rPr>
              <a:t>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                              唯一前缀</a:t>
            </a:r>
          </a:p>
          <a:p>
            <a:pPr>
              <a:lnSpc>
                <a:spcPct val="130000"/>
              </a:lnSpc>
            </a:pPr>
            <a:r>
              <a:rPr kumimoji="1" lang="en-US" altLang="zh-CN" sz="1400" b="1" dirty="0">
                <a:solidFill>
                  <a:srgbClr val="0000CC"/>
                </a:solidFill>
                <a:latin typeface="微软雅黑" pitchFamily="34" charset="-122"/>
                <a:ea typeface="微软雅黑" pitchFamily="34" charset="-122"/>
              </a:rPr>
              <a:t>  </a:t>
            </a:r>
            <a:r>
              <a:rPr kumimoji="1" lang="en-US" altLang="zh-CN" sz="1400" b="1" dirty="0">
                <a:solidFill>
                  <a:srgbClr val="0000FF"/>
                </a:solidFill>
                <a:latin typeface="微软雅黑" pitchFamily="34" charset="-122"/>
                <a:ea typeface="微软雅黑" pitchFamily="34" charset="-122"/>
              </a:rPr>
              <a:t>01000110 00000000 00000000 00000000	0100</a:t>
            </a:r>
          </a:p>
          <a:p>
            <a:pPr>
              <a:lnSpc>
                <a:spcPct val="130000"/>
              </a:lnSpc>
            </a:pPr>
            <a:r>
              <a:rPr kumimoji="1" lang="en-US" altLang="zh-CN" sz="1400" b="1" dirty="0">
                <a:solidFill>
                  <a:srgbClr val="0000FF"/>
                </a:solidFill>
                <a:latin typeface="微软雅黑" pitchFamily="34" charset="-122"/>
                <a:ea typeface="微软雅黑" pitchFamily="34" charset="-122"/>
              </a:rPr>
              <a:t>  01010110 00000000 00000000 00000000	0101</a:t>
            </a:r>
          </a:p>
          <a:p>
            <a:pPr>
              <a:lnSpc>
                <a:spcPct val="130000"/>
              </a:lnSpc>
            </a:pPr>
            <a:r>
              <a:rPr kumimoji="1" lang="en-US" altLang="zh-CN" sz="1400" b="1" dirty="0">
                <a:solidFill>
                  <a:srgbClr val="0000FF"/>
                </a:solidFill>
                <a:latin typeface="微软雅黑" pitchFamily="34" charset="-122"/>
                <a:ea typeface="微软雅黑" pitchFamily="34" charset="-122"/>
              </a:rPr>
              <a:t>  01100001 00000000 00000000 00000000	011</a:t>
            </a:r>
          </a:p>
          <a:p>
            <a:pPr>
              <a:lnSpc>
                <a:spcPct val="130000"/>
              </a:lnSpc>
            </a:pPr>
            <a:r>
              <a:rPr kumimoji="1" lang="en-US" altLang="zh-CN" sz="1400" b="1" dirty="0">
                <a:solidFill>
                  <a:srgbClr val="0000FF"/>
                </a:solidFill>
                <a:latin typeface="微软雅黑" pitchFamily="34" charset="-122"/>
                <a:ea typeface="微软雅黑" pitchFamily="34" charset="-122"/>
              </a:rPr>
              <a:t>  10110000 00000010 00000000 00000000	10110</a:t>
            </a:r>
          </a:p>
          <a:p>
            <a:pPr>
              <a:lnSpc>
                <a:spcPct val="130000"/>
              </a:lnSpc>
            </a:pPr>
            <a:r>
              <a:rPr kumimoji="1" lang="en-US" altLang="zh-CN" sz="1400" b="1" dirty="0">
                <a:solidFill>
                  <a:srgbClr val="0000FF"/>
                </a:solidFill>
                <a:latin typeface="微软雅黑" pitchFamily="34" charset="-122"/>
                <a:ea typeface="微软雅黑" pitchFamily="34" charset="-122"/>
              </a:rPr>
              <a:t>  10111011 00001010 00000000 00000000	10111</a:t>
            </a:r>
            <a:endParaRPr kumimoji="1" lang="en-US" altLang="zh-CN" sz="14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634346" y="582227"/>
            <a:ext cx="38940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用 </a:t>
            </a:r>
            <a:r>
              <a:rPr lang="en-US" altLang="zh-CN" sz="2000" b="1" dirty="0">
                <a:solidFill>
                  <a:schemeClr val="bg1"/>
                </a:solidFill>
                <a:latin typeface="微软雅黑" pitchFamily="34" charset="-122"/>
                <a:ea typeface="微软雅黑" pitchFamily="34" charset="-122"/>
              </a:rPr>
              <a:t>5 </a:t>
            </a:r>
            <a:r>
              <a:rPr lang="zh-CN" altLang="en-US" sz="2000" b="1" dirty="0">
                <a:solidFill>
                  <a:schemeClr val="bg1"/>
                </a:solidFill>
                <a:latin typeface="微软雅黑" pitchFamily="34" charset="-122"/>
                <a:ea typeface="微软雅黑" pitchFamily="34" charset="-122"/>
              </a:rPr>
              <a:t>个唯一前缀构成的二叉线索</a:t>
            </a:r>
          </a:p>
        </p:txBody>
      </p:sp>
      <p:grpSp>
        <p:nvGrpSpPr>
          <p:cNvPr id="2" name="组合 1"/>
          <p:cNvGrpSpPr/>
          <p:nvPr/>
        </p:nvGrpSpPr>
        <p:grpSpPr>
          <a:xfrm>
            <a:off x="6375275" y="1309581"/>
            <a:ext cx="1842271" cy="1595833"/>
            <a:chOff x="6375275" y="1309581"/>
            <a:chExt cx="1842271" cy="1595833"/>
          </a:xfrm>
        </p:grpSpPr>
        <p:sp>
          <p:nvSpPr>
            <p:cNvPr id="78"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79" name="组合 78"/>
            <p:cNvGrpSpPr/>
            <p:nvPr/>
          </p:nvGrpSpPr>
          <p:grpSpPr>
            <a:xfrm>
              <a:off x="6375275" y="1309581"/>
              <a:ext cx="1842271" cy="1595833"/>
              <a:chOff x="6375275" y="1309581"/>
              <a:chExt cx="1842271" cy="1595833"/>
            </a:xfrm>
          </p:grpSpPr>
          <p:sp>
            <p:nvSpPr>
              <p:cNvPr id="80"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1"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2"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3"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4"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5"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6"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89"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0"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1"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2"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3"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4"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95"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96"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7"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8"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9"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0"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1"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2"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3"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4"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5"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6"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7"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spTree>
    <p:extLst>
      <p:ext uri="{BB962C8B-B14F-4D97-AF65-F5344CB8AC3E}">
        <p14:creationId xmlns:p14="http://schemas.microsoft.com/office/powerpoint/2010/main" val="3279230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1058078" y="2115412"/>
            <a:ext cx="4433248" cy="1717393"/>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找到了一个叶节点。</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将目的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地址和该叶节点的子网掩码进行按位 </a:t>
            </a:r>
            <a:r>
              <a:rPr lang="en-US" altLang="zh-CN" sz="1600" b="1" dirty="0">
                <a:latin typeface="微软雅黑" pitchFamily="34" charset="-122"/>
                <a:ea typeface="微软雅黑" pitchFamily="34" charset="-122"/>
              </a:rPr>
              <a:t>AND </a:t>
            </a:r>
            <a:r>
              <a:rPr lang="zh-CN" altLang="en-US" sz="1600" b="1" dirty="0">
                <a:latin typeface="微软雅黑" pitchFamily="34" charset="-122"/>
                <a:ea typeface="微软雅黑" pitchFamily="34" charset="-122"/>
              </a:rPr>
              <a:t>运算，看结果是否与叶节点的网络前缀相匹配。</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若匹配，就按下一跳的接口转发该分组。否则，就丢弃该分组。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01010110 01111010 00000000 00000000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49" name="组合 48"/>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51" name="组合 50"/>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4" name="组合 3"/>
          <p:cNvGrpSpPr/>
          <p:nvPr/>
        </p:nvGrpSpPr>
        <p:grpSpPr>
          <a:xfrm>
            <a:off x="6478712" y="1393425"/>
            <a:ext cx="756725" cy="1226974"/>
            <a:chOff x="6478712" y="2744561"/>
            <a:chExt cx="756725" cy="1226974"/>
          </a:xfrm>
        </p:grpSpPr>
        <p:sp>
          <p:nvSpPr>
            <p:cNvPr id="42" name="Rectangle 32"/>
            <p:cNvSpPr>
              <a:spLocks noChangeArrowheads="1"/>
            </p:cNvSpPr>
            <p:nvPr/>
          </p:nvSpPr>
          <p:spPr bwMode="auto">
            <a:xfrm>
              <a:off x="6795557" y="3872583"/>
              <a:ext cx="104526" cy="98952"/>
            </a:xfrm>
            <a:prstGeom prst="rect">
              <a:avLst/>
            </a:prstGeom>
            <a:solidFill>
              <a:srgbClr val="C00000"/>
            </a:solidFill>
            <a:ln w="19050">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Freeform 7"/>
            <p:cNvSpPr>
              <a:spLocks/>
            </p:cNvSpPr>
            <p:nvPr/>
          </p:nvSpPr>
          <p:spPr bwMode="auto">
            <a:xfrm>
              <a:off x="6478712" y="2744561"/>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spTree>
    <p:extLst>
      <p:ext uri="{BB962C8B-B14F-4D97-AF65-F5344CB8AC3E}">
        <p14:creationId xmlns:p14="http://schemas.microsoft.com/office/powerpoint/2010/main" val="1365009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1058078" y="2115412"/>
            <a:ext cx="4433248" cy="1175706"/>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查到第三个字符 </a:t>
            </a:r>
            <a:r>
              <a:rPr lang="en-US" altLang="zh-CN" sz="1600" b="1" dirty="0">
                <a:latin typeface="微软雅黑" pitchFamily="34" charset="-122"/>
                <a:ea typeface="微软雅黑" pitchFamily="34" charset="-122"/>
              </a:rPr>
              <a:t>0 </a:t>
            </a:r>
            <a:r>
              <a:rPr lang="zh-CN" altLang="en-US" sz="1600" b="1" dirty="0">
                <a:latin typeface="微软雅黑" pitchFamily="34" charset="-122"/>
                <a:ea typeface="微软雅黑" pitchFamily="34" charset="-122"/>
              </a:rPr>
              <a:t>时，在二叉线索中找不到匹配的。说明这个地址不在这个二叉线索中。</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检查是否存在默认路由。若有，把分组传送到指明的默认路由器，否则丢弃该分组。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10011011 01111010 00000000 00000000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3" name="组合 2"/>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2" name="组合 1"/>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11" name="组合 10"/>
          <p:cNvGrpSpPr/>
          <p:nvPr/>
        </p:nvGrpSpPr>
        <p:grpSpPr>
          <a:xfrm>
            <a:off x="7235437" y="1403535"/>
            <a:ext cx="816065" cy="590805"/>
            <a:chOff x="7219105" y="1375249"/>
            <a:chExt cx="861251" cy="590805"/>
          </a:xfrm>
        </p:grpSpPr>
        <p:cxnSp>
          <p:nvCxnSpPr>
            <p:cNvPr id="7" name="直接连接符 6"/>
            <p:cNvCxnSpPr>
              <a:stCxn id="75" idx="0"/>
            </p:cNvCxnSpPr>
            <p:nvPr/>
          </p:nvCxnSpPr>
          <p:spPr>
            <a:xfrm>
              <a:off x="7219105" y="1375249"/>
              <a:ext cx="861251" cy="286063"/>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a:endCxn id="68" idx="6"/>
            </p:cNvCxnSpPr>
            <p:nvPr/>
          </p:nvCxnSpPr>
          <p:spPr>
            <a:xfrm flipH="1">
              <a:off x="7613327" y="1661312"/>
              <a:ext cx="453813" cy="304742"/>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234713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up)">
                                      <p:cBhvr>
                                        <p:cTn id="7" dur="1000"/>
                                        <p:tgtEl>
                                          <p:spTgt spid="11"/>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Line 16"/>
          <p:cNvSpPr>
            <a:spLocks noChangeShapeType="1"/>
          </p:cNvSpPr>
          <p:nvPr/>
        </p:nvSpPr>
        <p:spPr bwMode="auto">
          <a:xfrm>
            <a:off x="3637198" y="1162334"/>
            <a:ext cx="0" cy="114330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pic>
        <p:nvPicPr>
          <p:cNvPr id="64" name="图片占位符 63">
            <a:extLst>
              <a:ext uri="{FF2B5EF4-FFF2-40B4-BE49-F238E27FC236}">
                <a16:creationId xmlns:a16="http://schemas.microsoft.com/office/drawing/2014/main" id="{49253946-B472-F1AB-B1D0-4F0136FFF9EF}"/>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1D9D089D-373B-684B-C5CD-496B479A4BD6}"/>
              </a:ext>
            </a:extLst>
          </p:cNvPr>
          <p:cNvSpPr>
            <a:spLocks noGrp="1"/>
          </p:cNvSpPr>
          <p:nvPr>
            <p:ph type="title"/>
          </p:nvPr>
        </p:nvSpPr>
        <p:spPr>
          <a:xfrm>
            <a:off x="628650" y="1790739"/>
            <a:ext cx="4320000" cy="553998"/>
          </a:xfrm>
        </p:spPr>
        <p:txBody>
          <a:bodyPr/>
          <a:lstStyle/>
          <a:p>
            <a:r>
              <a:rPr lang="fr-FR" altLang="zh-CN"/>
              <a:t>4.4 </a:t>
            </a:r>
            <a:r>
              <a:rPr lang="zh-CN" altLang="en-US"/>
              <a:t>网际控制报文协议</a:t>
            </a:r>
            <a:endParaRPr lang="zh-CN" altLang="en-US" dirty="0"/>
          </a:p>
        </p:txBody>
      </p:sp>
      <p:sp>
        <p:nvSpPr>
          <p:cNvPr id="6" name="文本占位符 5">
            <a:extLst>
              <a:ext uri="{FF2B5EF4-FFF2-40B4-BE49-F238E27FC236}">
                <a16:creationId xmlns:a16="http://schemas.microsoft.com/office/drawing/2014/main" id="{5D1D3DA5-FB56-607C-3D7F-FDA8AE0B9619}"/>
              </a:ext>
            </a:extLst>
          </p:cNvPr>
          <p:cNvSpPr>
            <a:spLocks noGrp="1"/>
          </p:cNvSpPr>
          <p:nvPr>
            <p:ph type="body" sz="quarter" idx="11"/>
          </p:nvPr>
        </p:nvSpPr>
        <p:spPr>
          <a:xfrm>
            <a:off x="628100" y="2344736"/>
            <a:ext cx="4320000" cy="1870075"/>
          </a:xfrm>
        </p:spPr>
        <p:txBody>
          <a:bodyPr/>
          <a:lstStyle/>
          <a:p>
            <a:r>
              <a:rPr lang="en-US" altLang="zh-CN"/>
              <a:t>ICMP</a:t>
            </a:r>
          </a:p>
          <a:p>
            <a:r>
              <a:rPr lang="en-US" altLang="zh-CN"/>
              <a:t>Internet Control Message Protocol</a:t>
            </a:r>
          </a:p>
          <a:p>
            <a:r>
              <a:rPr lang="en-US" altLang="zh-CN"/>
              <a:t>· ICMP </a:t>
            </a:r>
            <a:r>
              <a:rPr lang="zh-CN" altLang="en-US"/>
              <a:t>报文的种类</a:t>
            </a:r>
            <a:endParaRPr lang="en-US" altLang="zh-CN"/>
          </a:p>
          <a:p>
            <a:r>
              <a:rPr lang="en-US" altLang="zh-CN"/>
              <a:t>· ICMP </a:t>
            </a:r>
            <a:r>
              <a:rPr lang="zh-CN" altLang="en-US"/>
              <a:t>的应用举例</a:t>
            </a:r>
            <a:endParaRPr lang="zh-CN" altLang="en-US" dirty="0"/>
          </a:p>
        </p:txBody>
      </p:sp>
    </p:spTree>
    <p:extLst>
      <p:ext uri="{BB962C8B-B14F-4D97-AF65-F5344CB8AC3E}">
        <p14:creationId xmlns:p14="http://schemas.microsoft.com/office/powerpoint/2010/main" val="25330570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p:cNvGrpSpPr/>
          <p:nvPr/>
        </p:nvGrpSpPr>
        <p:grpSpPr>
          <a:xfrm>
            <a:off x="4516339" y="1918791"/>
            <a:ext cx="3416249" cy="2751241"/>
            <a:chOff x="2372076" y="1403136"/>
            <a:chExt cx="4224107" cy="2751241"/>
          </a:xfrm>
        </p:grpSpPr>
        <p:sp>
          <p:nvSpPr>
            <p:cNvPr id="10" name="Text Box 9"/>
            <p:cNvSpPr txBox="1">
              <a:spLocks noChangeArrowheads="1"/>
            </p:cNvSpPr>
            <p:nvPr/>
          </p:nvSpPr>
          <p:spPr bwMode="auto">
            <a:xfrm>
              <a:off x="2372076" y="3355900"/>
              <a:ext cx="1047082"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b="1">
                  <a:latin typeface="微软雅黑" pitchFamily="34" charset="-122"/>
                  <a:ea typeface="微软雅黑" pitchFamily="34" charset="-122"/>
                </a:rPr>
                <a:t>  </a:t>
              </a:r>
              <a:r>
                <a:rPr kumimoji="1" lang="zh-CN" altLang="en-US" sz="1200" b="1">
                  <a:latin typeface="微软雅黑" pitchFamily="34" charset="-122"/>
                  <a:ea typeface="微软雅黑" pitchFamily="34" charset="-122"/>
                </a:rPr>
                <a:t>网络接口层</a:t>
              </a:r>
            </a:p>
          </p:txBody>
        </p:sp>
        <p:sp>
          <p:nvSpPr>
            <p:cNvPr id="11" name="Text Box 13"/>
            <p:cNvSpPr txBox="1">
              <a:spLocks noChangeArrowheads="1"/>
            </p:cNvSpPr>
            <p:nvPr/>
          </p:nvSpPr>
          <p:spPr bwMode="auto">
            <a:xfrm>
              <a:off x="2714268" y="197746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运输层</a:t>
              </a:r>
            </a:p>
          </p:txBody>
        </p:sp>
        <p:sp>
          <p:nvSpPr>
            <p:cNvPr id="12" name="Text Box 15"/>
            <p:cNvSpPr txBox="1">
              <a:spLocks noChangeArrowheads="1"/>
            </p:cNvSpPr>
            <p:nvPr/>
          </p:nvSpPr>
          <p:spPr bwMode="auto">
            <a:xfrm>
              <a:off x="2747925" y="152075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应用层</a:t>
              </a:r>
            </a:p>
          </p:txBody>
        </p:sp>
        <p:sp>
          <p:nvSpPr>
            <p:cNvPr id="13"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4"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6" name="Line 25"/>
            <p:cNvSpPr>
              <a:spLocks noChangeShapeType="1"/>
            </p:cNvSpPr>
            <p:nvPr/>
          </p:nvSpPr>
          <p:spPr bwMode="auto">
            <a:xfrm>
              <a:off x="3094606"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7" name="Text Box 26"/>
            <p:cNvSpPr txBox="1">
              <a:spLocks noChangeArrowheads="1"/>
            </p:cNvSpPr>
            <p:nvPr/>
          </p:nvSpPr>
          <p:spPr bwMode="auto">
            <a:xfrm>
              <a:off x="2514069" y="2497357"/>
              <a:ext cx="1165222" cy="461665"/>
            </a:xfrm>
            <a:prstGeom prst="rect">
              <a:avLst/>
            </a:prstGeom>
            <a:solidFill>
              <a:srgbClr val="C3E3F9"/>
            </a:solid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网络层</a:t>
              </a:r>
              <a:endParaRPr kumimoji="1" lang="en-US" altLang="zh-CN" sz="1200" b="1" dirty="0">
                <a:solidFill>
                  <a:srgbClr val="0000FF"/>
                </a:solidFill>
                <a:latin typeface="微软雅黑" pitchFamily="34" charset="-122"/>
                <a:ea typeface="微软雅黑" pitchFamily="34" charset="-122"/>
              </a:endParaRPr>
            </a:p>
            <a:p>
              <a:pPr algn="ctr"/>
              <a:r>
                <a:rPr kumimoji="1" lang="zh-CN" altLang="en-US" sz="1200" b="1" dirty="0">
                  <a:solidFill>
                    <a:srgbClr val="CC00CC"/>
                  </a:solidFill>
                  <a:latin typeface="微软雅黑" pitchFamily="34" charset="-122"/>
                  <a:ea typeface="微软雅黑" pitchFamily="34" charset="-122"/>
                </a:rPr>
                <a:t>（网际层）</a:t>
              </a:r>
            </a:p>
          </p:txBody>
        </p:sp>
        <p:grpSp>
          <p:nvGrpSpPr>
            <p:cNvPr id="18" name="组合 17"/>
            <p:cNvGrpSpPr/>
            <p:nvPr/>
          </p:nvGrpSpPr>
          <p:grpSpPr>
            <a:xfrm>
              <a:off x="3718405" y="1403136"/>
              <a:ext cx="2877778" cy="2751241"/>
              <a:chOff x="3718405" y="1403136"/>
              <a:chExt cx="2877778" cy="2751241"/>
            </a:xfrm>
          </p:grpSpPr>
          <p:sp>
            <p:nvSpPr>
              <p:cNvPr id="21" name="Rectangle 5"/>
              <p:cNvSpPr>
                <a:spLocks noChangeArrowheads="1"/>
              </p:cNvSpPr>
              <p:nvPr/>
            </p:nvSpPr>
            <p:spPr bwMode="auto">
              <a:xfrm>
                <a:off x="3721771" y="1403723"/>
                <a:ext cx="2874412" cy="2223514"/>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b="1">
                  <a:solidFill>
                    <a:srgbClr val="000099"/>
                  </a:solidFill>
                  <a:latin typeface="微软雅黑" pitchFamily="34" charset="-122"/>
                  <a:ea typeface="微软雅黑" pitchFamily="34" charset="-122"/>
                </a:endParaRPr>
              </a:p>
            </p:txBody>
          </p:sp>
          <p:sp>
            <p:nvSpPr>
              <p:cNvPr id="22" name="矩形 21"/>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23"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4"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Text Box 8"/>
              <p:cNvSpPr txBox="1">
                <a:spLocks noChangeArrowheads="1"/>
              </p:cNvSpPr>
              <p:nvPr/>
            </p:nvSpPr>
            <p:spPr bwMode="auto">
              <a:xfrm>
                <a:off x="4410642" y="1403136"/>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各种应用层协议</a:t>
                </a:r>
              </a:p>
            </p:txBody>
          </p:sp>
          <p:sp>
            <p:nvSpPr>
              <p:cNvPr id="27" name="Text Box 10"/>
              <p:cNvSpPr txBox="1">
                <a:spLocks noChangeArrowheads="1"/>
              </p:cNvSpPr>
              <p:nvPr/>
            </p:nvSpPr>
            <p:spPr bwMode="auto">
              <a:xfrm>
                <a:off x="4044889" y="1645744"/>
                <a:ext cx="17843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(HTTP, FTP, SMTP </a:t>
                </a:r>
                <a:r>
                  <a:rPr kumimoji="1" lang="zh-CN" altLang="zh-CN" sz="1200" b="1" dirty="0">
                    <a:latin typeface="微软雅黑" pitchFamily="34" charset="-122"/>
                    <a:ea typeface="微软雅黑" pitchFamily="34" charset="-122"/>
                  </a:rPr>
                  <a:t>等</a:t>
                </a:r>
                <a:r>
                  <a:rPr kumimoji="1" lang="en-US" altLang="zh-CN" sz="1200" b="1" dirty="0">
                    <a:latin typeface="微软雅黑" pitchFamily="34" charset="-122"/>
                    <a:ea typeface="微软雅黑" pitchFamily="34" charset="-122"/>
                  </a:rPr>
                  <a:t>)</a:t>
                </a:r>
              </a:p>
            </p:txBody>
          </p:sp>
          <p:sp>
            <p:nvSpPr>
              <p:cNvPr id="28"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9" name="Text Box 12"/>
              <p:cNvSpPr txBox="1">
                <a:spLocks noChangeArrowheads="1"/>
              </p:cNvSpPr>
              <p:nvPr/>
            </p:nvSpPr>
            <p:spPr bwMode="auto">
              <a:xfrm>
                <a:off x="4661957" y="376058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物理硬件</a:t>
                </a:r>
              </a:p>
            </p:txBody>
          </p:sp>
          <p:sp>
            <p:nvSpPr>
              <p:cNvPr id="30" name="Text Box 14"/>
              <p:cNvSpPr txBox="1">
                <a:spLocks noChangeArrowheads="1"/>
              </p:cNvSpPr>
              <p:nvPr/>
            </p:nvSpPr>
            <p:spPr bwMode="auto">
              <a:xfrm>
                <a:off x="4739371" y="1984375"/>
                <a:ext cx="8845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UDP</a:t>
                </a:r>
              </a:p>
            </p:txBody>
          </p:sp>
          <p:sp>
            <p:nvSpPr>
              <p:cNvPr id="31" name="Rectangle 16"/>
              <p:cNvSpPr>
                <a:spLocks noChangeArrowheads="1"/>
              </p:cNvSpPr>
              <p:nvPr/>
            </p:nvSpPr>
            <p:spPr bwMode="auto">
              <a:xfrm>
                <a:off x="3781234" y="2343046"/>
                <a:ext cx="685505"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dirty="0">
                    <a:solidFill>
                      <a:srgbClr val="0000FF"/>
                    </a:solidFill>
                    <a:latin typeface="微软雅黑" pitchFamily="34" charset="-122"/>
                    <a:ea typeface="微软雅黑" pitchFamily="34" charset="-122"/>
                  </a:rPr>
                  <a:t>ICMP</a:t>
                </a:r>
              </a:p>
            </p:txBody>
          </p:sp>
          <p:sp>
            <p:nvSpPr>
              <p:cNvPr id="32" name="Text Box 17"/>
              <p:cNvSpPr txBox="1">
                <a:spLocks noChangeArrowheads="1"/>
              </p:cNvSpPr>
              <p:nvPr/>
            </p:nvSpPr>
            <p:spPr bwMode="auto">
              <a:xfrm>
                <a:off x="4975193" y="2674159"/>
                <a:ext cx="38824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99"/>
                    </a:solidFill>
                    <a:latin typeface="微软雅黑" pitchFamily="34" charset="-122"/>
                    <a:ea typeface="微软雅黑" pitchFamily="34" charset="-122"/>
                  </a:rPr>
                  <a:t>IP</a:t>
                </a:r>
              </a:p>
            </p:txBody>
          </p:sp>
          <p:sp>
            <p:nvSpPr>
              <p:cNvPr id="33" name="Rectangle 19"/>
              <p:cNvSpPr>
                <a:spLocks noChangeArrowheads="1"/>
              </p:cNvSpPr>
              <p:nvPr/>
            </p:nvSpPr>
            <p:spPr bwMode="auto">
              <a:xfrm>
                <a:off x="5910678" y="2970643"/>
                <a:ext cx="624920"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ARP</a:t>
                </a:r>
              </a:p>
            </p:txBody>
          </p:sp>
          <p:sp>
            <p:nvSpPr>
              <p:cNvPr id="34" name="Text Box 20"/>
              <p:cNvSpPr txBox="1">
                <a:spLocks noChangeArrowheads="1"/>
              </p:cNvSpPr>
              <p:nvPr/>
            </p:nvSpPr>
            <p:spPr bwMode="auto">
              <a:xfrm>
                <a:off x="4375862" y="3290337"/>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与各种网络接口</a:t>
                </a:r>
              </a:p>
            </p:txBody>
          </p:sp>
          <p:sp>
            <p:nvSpPr>
              <p:cNvPr id="35"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Rectangle 27"/>
              <p:cNvSpPr>
                <a:spLocks noChangeArrowheads="1"/>
              </p:cNvSpPr>
              <p:nvPr/>
            </p:nvSpPr>
            <p:spPr bwMode="auto">
              <a:xfrm>
                <a:off x="4500398" y="2343046"/>
                <a:ext cx="684384"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IGMP</a:t>
                </a:r>
              </a:p>
            </p:txBody>
          </p:sp>
        </p:grpSp>
        <p:sp>
          <p:nvSpPr>
            <p:cNvPr id="19"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0"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B08DB0C0-04CE-1950-5A25-2BE0A0B49182}"/>
              </a:ext>
            </a:extLst>
          </p:cNvPr>
          <p:cNvSpPr>
            <a:spLocks noGrp="1"/>
          </p:cNvSpPr>
          <p:nvPr>
            <p:ph type="title"/>
          </p:nvPr>
        </p:nvSpPr>
        <p:spPr>
          <a:xfrm>
            <a:off x="486000" y="550723"/>
            <a:ext cx="8172000" cy="338554"/>
          </a:xfrm>
        </p:spPr>
        <p:txBody>
          <a:bodyPr/>
          <a:lstStyle/>
          <a:p>
            <a:r>
              <a:rPr lang="en-US" altLang="zh-CN" dirty="0"/>
              <a:t>4.4  </a:t>
            </a:r>
            <a:r>
              <a:rPr lang="zh-CN" altLang="en-US" dirty="0"/>
              <a:t>网际控制报文协议 </a:t>
            </a:r>
            <a:r>
              <a:rPr lang="en-US" altLang="zh-CN" dirty="0"/>
              <a:t>ICMP </a:t>
            </a:r>
            <a:endParaRPr lang="zh-CN" altLang="en-US" dirty="0"/>
          </a:p>
        </p:txBody>
      </p:sp>
      <p:sp>
        <p:nvSpPr>
          <p:cNvPr id="3" name="内容占位符 2">
            <a:extLst>
              <a:ext uri="{FF2B5EF4-FFF2-40B4-BE49-F238E27FC236}">
                <a16:creationId xmlns:a16="http://schemas.microsoft.com/office/drawing/2014/main" id="{2D506078-B116-FFA9-9749-95272D9050BC}"/>
              </a:ext>
            </a:extLst>
          </p:cNvPr>
          <p:cNvSpPr>
            <a:spLocks noGrp="1"/>
          </p:cNvSpPr>
          <p:nvPr>
            <p:ph sz="quarter" idx="11"/>
          </p:nvPr>
        </p:nvSpPr>
        <p:spPr>
          <a:xfrm>
            <a:off x="486000" y="900000"/>
            <a:ext cx="8172000" cy="3703500"/>
          </a:xfrm>
        </p:spPr>
        <p:txBody>
          <a:bodyPr/>
          <a:lstStyle/>
          <a:p>
            <a:r>
              <a:rPr lang="en-US" altLang="zh-CN" dirty="0"/>
              <a:t>ICMP - Internet Control Message Protocol</a:t>
            </a:r>
          </a:p>
          <a:p>
            <a:r>
              <a:rPr lang="zh-CN" altLang="en-US" dirty="0"/>
              <a:t>允许主机或路由器报告差错情况和提供有关异常情况的报告。</a:t>
            </a:r>
            <a:endParaRPr lang="en-US" altLang="zh-CN" dirty="0"/>
          </a:p>
          <a:p>
            <a:r>
              <a:rPr lang="en-US" altLang="zh-CN" dirty="0"/>
              <a:t>ICMP</a:t>
            </a:r>
            <a:r>
              <a:rPr lang="zh-CN" altLang="en-US" dirty="0"/>
              <a:t>是互联网的标准协议</a:t>
            </a:r>
            <a:endParaRPr lang="en-US" altLang="zh-CN" dirty="0"/>
          </a:p>
          <a:p>
            <a:r>
              <a:rPr lang="zh-CN" altLang="en-US" dirty="0"/>
              <a:t>但</a:t>
            </a:r>
            <a:r>
              <a:rPr lang="en-US" altLang="zh-CN" dirty="0"/>
              <a:t>ICMP</a:t>
            </a:r>
            <a:r>
              <a:rPr lang="zh-CN" altLang="en-US" dirty="0"/>
              <a:t>不是高层协议</a:t>
            </a:r>
            <a:endParaRPr lang="en-US" altLang="zh-CN" dirty="0"/>
          </a:p>
          <a:p>
            <a:r>
              <a:rPr lang="zh-CN" altLang="en-US" dirty="0"/>
              <a:t>而是 </a:t>
            </a:r>
            <a:r>
              <a:rPr lang="en-US" altLang="zh-CN" dirty="0"/>
              <a:t>IP </a:t>
            </a:r>
            <a:r>
              <a:rPr lang="zh-CN" altLang="en-US" dirty="0"/>
              <a:t>层的协议</a:t>
            </a:r>
          </a:p>
        </p:txBody>
      </p:sp>
    </p:spTree>
    <p:extLst>
      <p:ext uri="{BB962C8B-B14F-4D97-AF65-F5344CB8AC3E}">
        <p14:creationId xmlns:p14="http://schemas.microsoft.com/office/powerpoint/2010/main" val="775368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92080F4D-DB8D-5AD2-7717-250BFDEDB452}"/>
              </a:ext>
            </a:extLst>
          </p:cNvPr>
          <p:cNvGraphicFramePr>
            <a:graphicFrameLocks noGrp="1"/>
          </p:cNvGraphicFramePr>
          <p:nvPr>
            <p:extLst>
              <p:ext uri="{D42A27DB-BD31-4B8C-83A1-F6EECF244321}">
                <p14:modId xmlns:p14="http://schemas.microsoft.com/office/powerpoint/2010/main" val="2255913941"/>
              </p:ext>
            </p:extLst>
          </p:nvPr>
        </p:nvGraphicFramePr>
        <p:xfrm>
          <a:off x="2032000" y="719667"/>
          <a:ext cx="4788000" cy="3348360"/>
        </p:xfrm>
        <a:graphic>
          <a:graphicData uri="http://schemas.openxmlformats.org/drawingml/2006/table">
            <a:tbl>
              <a:tblPr firstRow="1" bandRow="1">
                <a:tableStyleId>{5C22544A-7EE6-4342-B048-85BDC9FD1C3A}</a:tableStyleId>
              </a:tblPr>
              <a:tblGrid>
                <a:gridCol w="369753">
                  <a:extLst>
                    <a:ext uri="{9D8B030D-6E8A-4147-A177-3AD203B41FA5}">
                      <a16:colId xmlns:a16="http://schemas.microsoft.com/office/drawing/2014/main" val="1298098468"/>
                    </a:ext>
                  </a:extLst>
                </a:gridCol>
                <a:gridCol w="680682">
                  <a:extLst>
                    <a:ext uri="{9D8B030D-6E8A-4147-A177-3AD203B41FA5}">
                      <a16:colId xmlns:a16="http://schemas.microsoft.com/office/drawing/2014/main" val="3786676652"/>
                    </a:ext>
                  </a:extLst>
                </a:gridCol>
                <a:gridCol w="745065">
                  <a:extLst>
                    <a:ext uri="{9D8B030D-6E8A-4147-A177-3AD203B41FA5}">
                      <a16:colId xmlns:a16="http://schemas.microsoft.com/office/drawing/2014/main" val="3092522330"/>
                    </a:ext>
                  </a:extLst>
                </a:gridCol>
                <a:gridCol w="598500">
                  <a:extLst>
                    <a:ext uri="{9D8B030D-6E8A-4147-A177-3AD203B41FA5}">
                      <a16:colId xmlns:a16="http://schemas.microsoft.com/office/drawing/2014/main" val="4237102363"/>
                    </a:ext>
                  </a:extLst>
                </a:gridCol>
                <a:gridCol w="598500">
                  <a:extLst>
                    <a:ext uri="{9D8B030D-6E8A-4147-A177-3AD203B41FA5}">
                      <a16:colId xmlns:a16="http://schemas.microsoft.com/office/drawing/2014/main" val="1546270910"/>
                    </a:ext>
                  </a:extLst>
                </a:gridCol>
                <a:gridCol w="598500">
                  <a:extLst>
                    <a:ext uri="{9D8B030D-6E8A-4147-A177-3AD203B41FA5}">
                      <a16:colId xmlns:a16="http://schemas.microsoft.com/office/drawing/2014/main" val="1773478025"/>
                    </a:ext>
                  </a:extLst>
                </a:gridCol>
                <a:gridCol w="598500">
                  <a:extLst>
                    <a:ext uri="{9D8B030D-6E8A-4147-A177-3AD203B41FA5}">
                      <a16:colId xmlns:a16="http://schemas.microsoft.com/office/drawing/2014/main" val="4005713678"/>
                    </a:ext>
                  </a:extLst>
                </a:gridCol>
                <a:gridCol w="598500">
                  <a:extLst>
                    <a:ext uri="{9D8B030D-6E8A-4147-A177-3AD203B41FA5}">
                      <a16:colId xmlns:a16="http://schemas.microsoft.com/office/drawing/2014/main" val="794738505"/>
                    </a:ext>
                  </a:extLst>
                </a:gridCol>
              </a:tblGrid>
              <a:tr h="230293">
                <a:tc gridSpan="8">
                  <a:txBody>
                    <a:bodyPr/>
                    <a:lstStyle/>
                    <a:p>
                      <a:pPr algn="just">
                        <a:lnSpc>
                          <a:spcPct val="150000"/>
                        </a:lnSpc>
                      </a:pPr>
                      <a:r>
                        <a:rPr lang="en-US" altLang="zh-CN" sz="1200" b="0" dirty="0">
                          <a:solidFill>
                            <a:schemeClr val="tx1"/>
                          </a:solidFill>
                          <a:latin typeface="Montserrat" panose="00000500000000000000" pitchFamily="2" charset="0"/>
                          <a:cs typeface="Courier New" panose="02070309020205020404" pitchFamily="49" charset="0"/>
                        </a:rPr>
                        <a:t>Application Layer</a:t>
                      </a:r>
                      <a:endParaRPr lang="zh-CN" altLang="en-US" sz="1200" b="0" dirty="0">
                        <a:solidFill>
                          <a:schemeClr val="tx1"/>
                        </a:solidFill>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1880760125"/>
                  </a:ext>
                </a:extLst>
              </a:tr>
              <a:tr h="230293">
                <a:tc gridSpan="8">
                  <a:txBody>
                    <a:bodyPr/>
                    <a:lstStyle/>
                    <a:p>
                      <a:pPr algn="just">
                        <a:lnSpc>
                          <a:spcPct val="150000"/>
                        </a:lnSpc>
                      </a:pPr>
                      <a:r>
                        <a:rPr lang="en-US" altLang="zh-CN" sz="1200" b="0" dirty="0">
                          <a:solidFill>
                            <a:schemeClr val="tx1"/>
                          </a:solidFill>
                          <a:latin typeface="Montserrat" panose="00000500000000000000" pitchFamily="2" charset="0"/>
                          <a:cs typeface="Courier New" panose="02070309020205020404" pitchFamily="49" charset="0"/>
                        </a:rPr>
                        <a:t>Transport Layer</a:t>
                      </a:r>
                      <a:endParaRPr lang="zh-CN" altLang="en-US" sz="1200" b="0" dirty="0">
                        <a:solidFill>
                          <a:schemeClr val="tx1"/>
                        </a:solidFill>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04759638"/>
                  </a:ext>
                </a:extLst>
              </a:tr>
              <a:tr h="230293">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T w="952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84229006"/>
                  </a:ext>
                </a:extLst>
              </a:tr>
              <a:tr h="230293">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algn="ctr" defTabSz="914400" rtl="0" eaLnBrk="1" latinLnBrk="0" hangingPunct="1">
                        <a:lnSpc>
                          <a:spcPct val="150000"/>
                        </a:lnSpc>
                      </a:pPr>
                      <a:r>
                        <a:rPr lang="en-US" altLang="zh-CN" sz="1200" kern="1200" dirty="0">
                          <a:solidFill>
                            <a:schemeClr val="tx1"/>
                          </a:solidFill>
                          <a:latin typeface="Montserrat" panose="00000500000000000000" pitchFamily="2" charset="0"/>
                          <a:ea typeface="+mn-ea"/>
                          <a:cs typeface="Courier New" panose="02070309020205020404" pitchFamily="49" charset="0"/>
                        </a:rPr>
                        <a:t>ICMP</a:t>
                      </a:r>
                      <a:endParaRPr lang="zh-CN" altLang="en-US" sz="1200" kern="1200" dirty="0">
                        <a:solidFill>
                          <a:schemeClr val="tx1"/>
                        </a:solidFill>
                        <a:latin typeface="Montserrat" panose="00000500000000000000" pitchFamily="2" charset="0"/>
                        <a:ea typeface="+mn-ea"/>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r>
                        <a:rPr lang="en-US" altLang="zh-CN" sz="1200" dirty="0">
                          <a:solidFill>
                            <a:schemeClr val="bg1"/>
                          </a:solidFill>
                          <a:latin typeface="Montserrat" panose="00000500000000000000" pitchFamily="2" charset="0"/>
                          <a:cs typeface="Courier New" panose="02070309020205020404" pitchFamily="49" charset="0"/>
                        </a:rPr>
                        <a:t>IGMP</a:t>
                      </a:r>
                      <a:endParaRPr lang="zh-CN" altLang="en-US" sz="1200" dirty="0">
                        <a:solidFill>
                          <a:schemeClr val="bg1"/>
                        </a:solidFill>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1992608700"/>
                  </a:ext>
                </a:extLst>
              </a:tr>
              <a:tr h="230293">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T w="12700" cap="flat" cmpd="sng" algn="ctr">
                      <a:noFill/>
                      <a:prstDash val="solid"/>
                      <a:round/>
                      <a:headEnd type="none" w="med" len="med"/>
                      <a:tailEnd type="none" w="med" len="med"/>
                    </a:lnT>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r>
                        <a:rPr lang="en-US" altLang="zh-CN" sz="1200" dirty="0">
                          <a:latin typeface="Montserrat" panose="00000500000000000000" pitchFamily="2" charset="0"/>
                          <a:cs typeface="Courier New" panose="02070309020205020404" pitchFamily="49" charset="0"/>
                        </a:rPr>
                        <a:t>IP</a:t>
                      </a: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3713461082"/>
                  </a:ext>
                </a:extLst>
              </a:tr>
              <a:tr h="230293">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668549254"/>
                  </a:ext>
                </a:extLst>
              </a:tr>
              <a:tr h="230293">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noFill/>
                  </a:tcPr>
                </a:tc>
                <a:tc>
                  <a:txBody>
                    <a:bodyPr/>
                    <a:lstStyle/>
                    <a:p>
                      <a:pPr algn="ctr">
                        <a:lnSpc>
                          <a:spcPct val="150000"/>
                        </a:lnSpc>
                      </a:pPr>
                      <a:r>
                        <a:rPr lang="en-US" altLang="zh-CN" sz="1200" dirty="0">
                          <a:solidFill>
                            <a:schemeClr val="tx1"/>
                          </a:solidFill>
                          <a:latin typeface="Montserrat" panose="00000500000000000000" pitchFamily="2" charset="0"/>
                          <a:cs typeface="Courier New" panose="02070309020205020404" pitchFamily="49" charset="0"/>
                        </a:rPr>
                        <a:t>ARP</a:t>
                      </a:r>
                      <a:endParaRPr lang="zh-CN" altLang="en-US" sz="1200" dirty="0">
                        <a:solidFill>
                          <a:schemeClr val="tx1"/>
                        </a:solidFill>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3912501089"/>
                  </a:ext>
                </a:extLst>
              </a:tr>
              <a:tr h="230293">
                <a:tc gridSpan="3">
                  <a:txBody>
                    <a:bodyPr/>
                    <a:lstStyle/>
                    <a:p>
                      <a:pPr algn="just">
                        <a:lnSpc>
                          <a:spcPct val="150000"/>
                        </a:lnSpc>
                      </a:pPr>
                      <a:r>
                        <a:rPr lang="en-US" altLang="zh-CN" sz="1200" dirty="0">
                          <a:latin typeface="Montserrat" panose="00000500000000000000" pitchFamily="2" charset="0"/>
                          <a:cs typeface="Courier New" panose="02070309020205020404" pitchFamily="49" charset="0"/>
                        </a:rPr>
                        <a:t>Network Layer</a:t>
                      </a: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B w="9525" cap="flat" cmpd="sng" algn="ctr">
                      <a:solidFill>
                        <a:schemeClr val="tx1"/>
                      </a:solidFill>
                      <a:prstDash val="solid"/>
                      <a:round/>
                      <a:headEnd type="none" w="med" len="med"/>
                      <a:tailEnd type="none" w="med" len="med"/>
                    </a:lnB>
                    <a:noFill/>
                  </a:tcPr>
                </a:tc>
                <a:tc hMerge="1">
                  <a:txBody>
                    <a:bodyPr/>
                    <a:lstStyle/>
                    <a:p>
                      <a:endParaRPr dirty="0"/>
                    </a:p>
                  </a:txBody>
                  <a:tcPr anchor="ctr">
                    <a:lnB w="6350"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Courier New" panose="02070309020205020404" pitchFamily="49" charset="0"/>
                        <a:cs typeface="Courier New" panose="02070309020205020404" pitchFamily="49" charset="0"/>
                      </a:endParaRPr>
                    </a:p>
                  </a:txBody>
                  <a:tcPr>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2924307"/>
                  </a:ext>
                </a:extLst>
              </a:tr>
              <a:tr h="230293">
                <a:tc gridSpan="3">
                  <a:txBody>
                    <a:bodyPr/>
                    <a:lstStyle/>
                    <a:p>
                      <a:pPr algn="just">
                        <a:lnSpc>
                          <a:spcPct val="150000"/>
                        </a:lnSpc>
                      </a:pPr>
                      <a:r>
                        <a:rPr lang="en-US" altLang="zh-CN" sz="1200" dirty="0">
                          <a:latin typeface="Montserrat" panose="00000500000000000000" pitchFamily="2" charset="0"/>
                          <a:cs typeface="Courier New" panose="02070309020205020404" pitchFamily="49" charset="0"/>
                        </a:rPr>
                        <a:t>Link Layer</a:t>
                      </a: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endParaRPr dirty="0"/>
                    </a:p>
                  </a:txBody>
                  <a:tcPr anchor="ct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endParaRPr lang="zh-CN" altLang="en-US"/>
                    </a:p>
                  </a:txBody>
                  <a:tcPr>
                    <a:lnT w="6350" cap="flat" cmpd="sng" algn="ctr">
                      <a:solidFill>
                        <a:schemeClr val="tx1"/>
                      </a:solidFill>
                      <a:prstDash val="solid"/>
                      <a:round/>
                      <a:headEnd type="none" w="med" len="med"/>
                      <a:tailEnd type="none" w="med" len="med"/>
                    </a:lnT>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r>
                        <a:rPr lang="en-US" altLang="zh-CN" sz="1200" dirty="0">
                          <a:latin typeface="Montserrat" panose="00000500000000000000" pitchFamily="2" charset="0"/>
                          <a:cs typeface="Courier New" panose="02070309020205020404" pitchFamily="49" charset="0"/>
                        </a:rPr>
                        <a:t>MAC</a:t>
                      </a: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10002304"/>
                  </a:ext>
                </a:extLst>
              </a:tr>
              <a:tr h="230293">
                <a:tc gridSpan="3">
                  <a:txBody>
                    <a:bodyPr/>
                    <a:lstStyle/>
                    <a:p>
                      <a:pPr algn="just">
                        <a:lnSpc>
                          <a:spcPct val="150000"/>
                        </a:lnSpc>
                      </a:pPr>
                      <a:r>
                        <a:rPr lang="en-US" altLang="zh-CN" sz="1200" dirty="0">
                          <a:latin typeface="Montserrat" panose="00000500000000000000" pitchFamily="2" charset="0"/>
                          <a:cs typeface="Courier New" panose="02070309020205020404" pitchFamily="49" charset="0"/>
                        </a:rPr>
                        <a:t>Physical Layer</a:t>
                      </a: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endParaRPr lang="zh-CN" altLang="en-US"/>
                    </a:p>
                  </a:txBody>
                  <a:tcPr/>
                </a:tc>
                <a:tc hMerge="1">
                  <a:txBody>
                    <a:bodyPr/>
                    <a:lstStyle/>
                    <a:p>
                      <a:endParaRPr lang="zh-CN" altLang="en-US"/>
                    </a:p>
                  </a:txBody>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72523587"/>
                  </a:ext>
                </a:extLst>
              </a:tr>
            </a:tbl>
          </a:graphicData>
        </a:graphic>
      </p:graphicFrame>
      <p:cxnSp>
        <p:nvCxnSpPr>
          <p:cNvPr id="5" name="直接箭头连接符 4">
            <a:extLst>
              <a:ext uri="{FF2B5EF4-FFF2-40B4-BE49-F238E27FC236}">
                <a16:creationId xmlns:a16="http://schemas.microsoft.com/office/drawing/2014/main" id="{8312F5A9-860E-6E6B-D074-38976FC71D4F}"/>
              </a:ext>
            </a:extLst>
          </p:cNvPr>
          <p:cNvCxnSpPr/>
          <p:nvPr/>
        </p:nvCxnSpPr>
        <p:spPr>
          <a:xfrm>
            <a:off x="5994400" y="3081881"/>
            <a:ext cx="0" cy="360000"/>
          </a:xfrm>
          <a:prstGeom prst="straightConnector1">
            <a:avLst/>
          </a:prstGeom>
          <a:ln w="1270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 name="连接符: 肘形 5">
            <a:extLst>
              <a:ext uri="{FF2B5EF4-FFF2-40B4-BE49-F238E27FC236}">
                <a16:creationId xmlns:a16="http://schemas.microsoft.com/office/drawing/2014/main" id="{1D70025C-26E1-B87B-BCED-4DEB9E9E3053}"/>
              </a:ext>
            </a:extLst>
          </p:cNvPr>
          <p:cNvCxnSpPr/>
          <p:nvPr/>
        </p:nvCxnSpPr>
        <p:spPr>
          <a:xfrm rot="16200000" flipH="1">
            <a:off x="5218785" y="1901729"/>
            <a:ext cx="432000" cy="1116000"/>
          </a:xfrm>
          <a:prstGeom prst="bentConnector3">
            <a:avLst>
              <a:gd name="adj1" fmla="val 346"/>
            </a:avLst>
          </a:prstGeom>
          <a:ln w="1270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172483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utoShape 31"/>
          <p:cNvSpPr>
            <a:spLocks noChangeArrowheads="1"/>
          </p:cNvSpPr>
          <p:nvPr/>
        </p:nvSpPr>
        <p:spPr bwMode="auto">
          <a:xfrm rot="5400000">
            <a:off x="2370617" y="3475756"/>
            <a:ext cx="226595" cy="397890"/>
          </a:xfrm>
          <a:prstGeom prst="downArrow">
            <a:avLst>
              <a:gd name="adj1" fmla="val 47222"/>
              <a:gd name="adj2" fmla="val 83745"/>
            </a:avLst>
          </a:prstGeom>
          <a:solidFill>
            <a:srgbClr val="00FFFF"/>
          </a:solidFill>
          <a:ln w="9525">
            <a:solidFill>
              <a:schemeClr val="tx1"/>
            </a:solid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10" name="Rectangle 2"/>
          <p:cNvSpPr>
            <a:spLocks noChangeArrowheads="1"/>
          </p:cNvSpPr>
          <p:nvPr/>
        </p:nvSpPr>
        <p:spPr bwMode="auto">
          <a:xfrm>
            <a:off x="2659930" y="3535258"/>
            <a:ext cx="3609335" cy="306277"/>
          </a:xfrm>
          <a:prstGeom prst="rect">
            <a:avLst/>
          </a:prstGeom>
          <a:solidFill>
            <a:srgbClr val="0000FF"/>
          </a:solidFill>
          <a:ln>
            <a:headEnd/>
            <a:tailEnd/>
          </a:ln>
        </p:spPr>
        <p:style>
          <a:lnRef idx="2">
            <a:schemeClr val="dk1"/>
          </a:lnRef>
          <a:fillRef idx="1">
            <a:schemeClr val="lt1"/>
          </a:fillRef>
          <a:effectRef idx="0">
            <a:schemeClr val="dk1"/>
          </a:effectRef>
          <a:fontRef idx="minor">
            <a:schemeClr val="dk1"/>
          </a:fontRef>
        </p:style>
        <p:txBody>
          <a:bodyPr wrap="none" anchor="ctr"/>
          <a:lstStyle/>
          <a:p>
            <a:pPr algn="ctr"/>
            <a:endParaRPr lang="zh-CN" altLang="en-US" sz="1400" b="1">
              <a:latin typeface="微软雅黑" pitchFamily="34" charset="-122"/>
              <a:ea typeface="微软雅黑" pitchFamily="34" charset="-122"/>
            </a:endParaRPr>
          </a:p>
        </p:txBody>
      </p:sp>
      <p:sp>
        <p:nvSpPr>
          <p:cNvPr id="11" name="Rectangle 4"/>
          <p:cNvSpPr>
            <a:spLocks noChangeArrowheads="1"/>
          </p:cNvSpPr>
          <p:nvPr/>
        </p:nvSpPr>
        <p:spPr bwMode="auto">
          <a:xfrm>
            <a:off x="3674373" y="3569576"/>
            <a:ext cx="2581244" cy="244521"/>
          </a:xfrm>
          <a:prstGeom prst="rect">
            <a:avLst/>
          </a:prstGeom>
          <a:solidFill>
            <a:srgbClr val="00FFFF"/>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12" name="Freeform 5"/>
          <p:cNvSpPr>
            <a:spLocks/>
          </p:cNvSpPr>
          <p:nvPr/>
        </p:nvSpPr>
        <p:spPr bwMode="auto">
          <a:xfrm>
            <a:off x="2680162" y="2577832"/>
            <a:ext cx="4769285" cy="367283"/>
          </a:xfrm>
          <a:custGeom>
            <a:avLst/>
            <a:gdLst>
              <a:gd name="T0" fmla="*/ 0 w 2790"/>
              <a:gd name="T1" fmla="*/ 6 h 279"/>
              <a:gd name="T2" fmla="*/ 561 w 2790"/>
              <a:gd name="T3" fmla="*/ 279 h 279"/>
              <a:gd name="T4" fmla="*/ 2100 w 2790"/>
              <a:gd name="T5" fmla="*/ 276 h 279"/>
              <a:gd name="T6" fmla="*/ 2790 w 2790"/>
              <a:gd name="T7" fmla="*/ 0 h 279"/>
              <a:gd name="T8" fmla="*/ 0 w 2790"/>
              <a:gd name="T9" fmla="*/ 6 h 279"/>
            </a:gdLst>
            <a:ahLst/>
            <a:cxnLst>
              <a:cxn ang="0">
                <a:pos x="T0" y="T1"/>
              </a:cxn>
              <a:cxn ang="0">
                <a:pos x="T2" y="T3"/>
              </a:cxn>
              <a:cxn ang="0">
                <a:pos x="T4" y="T5"/>
              </a:cxn>
              <a:cxn ang="0">
                <a:pos x="T6" y="T7"/>
              </a:cxn>
              <a:cxn ang="0">
                <a:pos x="T8" y="T9"/>
              </a:cxn>
            </a:cxnLst>
            <a:rect l="0" t="0" r="r" b="b"/>
            <a:pathLst>
              <a:path w="2790" h="279">
                <a:moveTo>
                  <a:pt x="0" y="6"/>
                </a:moveTo>
                <a:lnTo>
                  <a:pt x="561" y="279"/>
                </a:lnTo>
                <a:lnTo>
                  <a:pt x="2100" y="276"/>
                </a:lnTo>
                <a:lnTo>
                  <a:pt x="2790" y="0"/>
                </a:lnTo>
                <a:lnTo>
                  <a:pt x="0" y="6"/>
                </a:lnTo>
                <a:close/>
              </a:path>
            </a:pathLst>
          </a:custGeom>
          <a:gradFill flip="none" rotWithShape="1">
            <a:gsLst>
              <a:gs pos="0">
                <a:srgbClr val="00B0F0"/>
              </a:gs>
              <a:gs pos="100000">
                <a:srgbClr val="99FFCC"/>
              </a:gs>
            </a:gsLst>
            <a:lin ang="16200000" scaled="1"/>
            <a:tileRect/>
          </a:gradFill>
          <a:ln>
            <a:noFill/>
          </a:ln>
          <a:effectLst/>
        </p:spPr>
        <p:txBody>
          <a:bodyPr/>
          <a:lstStyle/>
          <a:p>
            <a:pPr algn="ctr"/>
            <a:endParaRPr lang="zh-CN" altLang="en-US" sz="1400" b="1">
              <a:latin typeface="微软雅黑" pitchFamily="34" charset="-122"/>
              <a:ea typeface="微软雅黑" pitchFamily="34" charset="-122"/>
            </a:endParaRPr>
          </a:p>
        </p:txBody>
      </p:sp>
      <p:sp>
        <p:nvSpPr>
          <p:cNvPr id="13" name="Line 6"/>
          <p:cNvSpPr>
            <a:spLocks noChangeShapeType="1"/>
          </p:cNvSpPr>
          <p:nvPr/>
        </p:nvSpPr>
        <p:spPr bwMode="auto">
          <a:xfrm>
            <a:off x="2659930" y="4024554"/>
            <a:ext cx="3609335" cy="0"/>
          </a:xfrm>
          <a:prstGeom prst="line">
            <a:avLst/>
          </a:prstGeom>
          <a:noFill/>
          <a:ln w="28575">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4" name="Text Box 7"/>
          <p:cNvSpPr txBox="1">
            <a:spLocks noChangeArrowheads="1"/>
          </p:cNvSpPr>
          <p:nvPr/>
        </p:nvSpPr>
        <p:spPr bwMode="auto">
          <a:xfrm>
            <a:off x="2844543" y="3532768"/>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chemeClr val="bg1"/>
                </a:solidFill>
                <a:latin typeface="微软雅黑" pitchFamily="34" charset="-122"/>
                <a:ea typeface="微软雅黑" pitchFamily="34" charset="-122"/>
              </a:rPr>
              <a:t>首  部</a:t>
            </a:r>
          </a:p>
        </p:txBody>
      </p:sp>
      <p:sp>
        <p:nvSpPr>
          <p:cNvPr id="15" name="Rectangle 8"/>
          <p:cNvSpPr>
            <a:spLocks noChangeArrowheads="1"/>
          </p:cNvSpPr>
          <p:nvPr/>
        </p:nvSpPr>
        <p:spPr bwMode="auto">
          <a:xfrm>
            <a:off x="3644540" y="2926439"/>
            <a:ext cx="2624726" cy="307521"/>
          </a:xfrm>
          <a:prstGeom prst="rect">
            <a:avLst/>
          </a:prstGeom>
          <a:solidFill>
            <a:srgbClr val="99FFCC"/>
          </a:solidFill>
          <a:ln w="9525">
            <a:solidFill>
              <a:schemeClr val="tx1"/>
            </a:solidFill>
            <a:miter lim="800000"/>
            <a:headEnd/>
            <a:tailEnd/>
          </a:ln>
          <a:effectLst/>
        </p:spPr>
        <p:txBody>
          <a:bodyPr wrap="none" anchor="ctr"/>
          <a:lstStyle/>
          <a:p>
            <a:pPr algn="ctr"/>
            <a:r>
              <a:rPr kumimoji="1" lang="en-US" altLang="zh-CN" sz="1400" b="1">
                <a:latin typeface="微软雅黑" pitchFamily="34" charset="-122"/>
                <a:ea typeface="微软雅黑" pitchFamily="34" charset="-122"/>
              </a:rPr>
              <a:t>ICMP </a:t>
            </a:r>
            <a:r>
              <a:rPr kumimoji="1" lang="zh-CN" altLang="en-US" sz="1400" b="1">
                <a:latin typeface="微软雅黑" pitchFamily="34" charset="-122"/>
                <a:ea typeface="微软雅黑" pitchFamily="34" charset="-122"/>
              </a:rPr>
              <a:t>报文</a:t>
            </a:r>
          </a:p>
        </p:txBody>
      </p:sp>
      <p:sp>
        <p:nvSpPr>
          <p:cNvPr id="16" name="Text Box 9"/>
          <p:cNvSpPr txBox="1">
            <a:spLocks noChangeArrowheads="1"/>
          </p:cNvSpPr>
          <p:nvPr/>
        </p:nvSpPr>
        <p:spPr bwMode="auto">
          <a:xfrm>
            <a:off x="253733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0</a:t>
            </a:r>
          </a:p>
        </p:txBody>
      </p:sp>
      <p:sp>
        <p:nvSpPr>
          <p:cNvPr id="17" name="Line 10"/>
          <p:cNvSpPr>
            <a:spLocks noChangeShapeType="1"/>
          </p:cNvSpPr>
          <p:nvPr/>
        </p:nvSpPr>
        <p:spPr bwMode="auto">
          <a:xfrm>
            <a:off x="3644540" y="3535258"/>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8" name="Text Box 11"/>
          <p:cNvSpPr txBox="1">
            <a:spLocks noChangeArrowheads="1"/>
          </p:cNvSpPr>
          <p:nvPr/>
        </p:nvSpPr>
        <p:spPr bwMode="auto">
          <a:xfrm>
            <a:off x="4406029" y="3532768"/>
            <a:ext cx="12202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数  据  部  分</a:t>
            </a:r>
          </a:p>
        </p:txBody>
      </p:sp>
      <p:sp>
        <p:nvSpPr>
          <p:cNvPr id="19" name="AutoShape 12"/>
          <p:cNvSpPr>
            <a:spLocks noChangeArrowheads="1"/>
          </p:cNvSpPr>
          <p:nvPr/>
        </p:nvSpPr>
        <p:spPr bwMode="auto">
          <a:xfrm>
            <a:off x="4792351" y="3233961"/>
            <a:ext cx="245478" cy="367283"/>
          </a:xfrm>
          <a:prstGeom prst="downArrow">
            <a:avLst>
              <a:gd name="adj1" fmla="val 47222"/>
              <a:gd name="adj2" fmla="val 83746"/>
            </a:avLst>
          </a:prstGeom>
          <a:solidFill>
            <a:srgbClr val="CC00CC"/>
          </a:solidFill>
          <a:ln w="9525">
            <a:no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23" name="Line 16"/>
          <p:cNvSpPr>
            <a:spLocks noChangeShapeType="1"/>
          </p:cNvSpPr>
          <p:nvPr/>
        </p:nvSpPr>
        <p:spPr bwMode="auto">
          <a:xfrm flipV="1">
            <a:off x="5037828" y="1351480"/>
            <a:ext cx="0" cy="306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9" name="Text Box 22"/>
          <p:cNvSpPr txBox="1">
            <a:spLocks noChangeArrowheads="1"/>
          </p:cNvSpPr>
          <p:nvPr/>
        </p:nvSpPr>
        <p:spPr bwMode="auto">
          <a:xfrm>
            <a:off x="371077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8</a:t>
            </a:r>
          </a:p>
        </p:txBody>
      </p:sp>
      <p:sp>
        <p:nvSpPr>
          <p:cNvPr id="30" name="Text Box 23"/>
          <p:cNvSpPr txBox="1">
            <a:spLocks noChangeArrowheads="1"/>
          </p:cNvSpPr>
          <p:nvPr/>
        </p:nvSpPr>
        <p:spPr bwMode="auto">
          <a:xfrm>
            <a:off x="4871758"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16</a:t>
            </a:r>
          </a:p>
        </p:txBody>
      </p:sp>
      <p:sp>
        <p:nvSpPr>
          <p:cNvPr id="31" name="Rectangle 24"/>
          <p:cNvSpPr>
            <a:spLocks noChangeArrowheads="1"/>
          </p:cNvSpPr>
          <p:nvPr/>
        </p:nvSpPr>
        <p:spPr bwMode="auto">
          <a:xfrm>
            <a:off x="3875181" y="3902541"/>
            <a:ext cx="1081721" cy="224105"/>
          </a:xfrm>
          <a:prstGeom prst="rect">
            <a:avLst/>
          </a:prstGeom>
          <a:solidFill>
            <a:srgbClr val="C3E3F9"/>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32" name="Text Box 25"/>
          <p:cNvSpPr txBox="1">
            <a:spLocks noChangeArrowheads="1"/>
          </p:cNvSpPr>
          <p:nvPr/>
        </p:nvSpPr>
        <p:spPr bwMode="auto">
          <a:xfrm>
            <a:off x="7166832"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31</a:t>
            </a:r>
          </a:p>
        </p:txBody>
      </p:sp>
      <p:sp>
        <p:nvSpPr>
          <p:cNvPr id="33" name="Text Box 26"/>
          <p:cNvSpPr txBox="1">
            <a:spLocks noChangeArrowheads="1"/>
          </p:cNvSpPr>
          <p:nvPr/>
        </p:nvSpPr>
        <p:spPr bwMode="auto">
          <a:xfrm>
            <a:off x="3959214" y="3855077"/>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a:t>
            </a:r>
          </a:p>
        </p:txBody>
      </p:sp>
      <p:grpSp>
        <p:nvGrpSpPr>
          <p:cNvPr id="2" name="组合 1"/>
          <p:cNvGrpSpPr/>
          <p:nvPr/>
        </p:nvGrpSpPr>
        <p:grpSpPr>
          <a:xfrm>
            <a:off x="2659930" y="1347840"/>
            <a:ext cx="4758495" cy="1226352"/>
            <a:chOff x="2659930" y="1470672"/>
            <a:chExt cx="4758495" cy="1226352"/>
          </a:xfrm>
        </p:grpSpPr>
        <p:sp>
          <p:nvSpPr>
            <p:cNvPr id="20" name="Rectangle 13"/>
            <p:cNvSpPr>
              <a:spLocks noChangeArrowheads="1"/>
            </p:cNvSpPr>
            <p:nvPr/>
          </p:nvSpPr>
          <p:spPr bwMode="auto">
            <a:xfrm>
              <a:off x="2659930" y="1470672"/>
              <a:ext cx="4758495" cy="1226352"/>
            </a:xfrm>
            <a:prstGeom prst="rect">
              <a:avLst/>
            </a:prstGeom>
            <a:solidFill>
              <a:srgbClr val="99FFCC"/>
            </a:solidFill>
            <a:ln w="19050">
              <a:solidFill>
                <a:schemeClr val="tx1"/>
              </a:solidFill>
              <a:miter lim="800000"/>
              <a:headEnd/>
              <a:tailEnd/>
            </a:ln>
            <a:effectLst/>
          </p:spPr>
          <p:txBody>
            <a:bodyPr wrap="none" anchor="ctr"/>
            <a:lstStyle/>
            <a:p>
              <a:pPr algn="ctr"/>
              <a:endParaRPr lang="zh-CN" altLang="en-US" sz="1400" b="1">
                <a:latin typeface="微软雅黑" pitchFamily="34" charset="-122"/>
                <a:ea typeface="微软雅黑" pitchFamily="34" charset="-122"/>
              </a:endParaRPr>
            </a:p>
          </p:txBody>
        </p:sp>
        <p:sp>
          <p:nvSpPr>
            <p:cNvPr id="21" name="Line 14"/>
            <p:cNvSpPr>
              <a:spLocks noChangeShapeType="1"/>
            </p:cNvSpPr>
            <p:nvPr/>
          </p:nvSpPr>
          <p:spPr bwMode="auto">
            <a:xfrm rot="5400000" flipV="1">
              <a:off x="5039178" y="-598660"/>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2" name="Line 15"/>
            <p:cNvSpPr>
              <a:spLocks noChangeShapeType="1"/>
            </p:cNvSpPr>
            <p:nvPr/>
          </p:nvSpPr>
          <p:spPr bwMode="auto">
            <a:xfrm flipV="1">
              <a:off x="3848205"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4" name="Line 17"/>
            <p:cNvSpPr>
              <a:spLocks noChangeShapeType="1"/>
            </p:cNvSpPr>
            <p:nvPr/>
          </p:nvSpPr>
          <p:spPr bwMode="auto">
            <a:xfrm flipV="1">
              <a:off x="5037828"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34" name="Line 27"/>
            <p:cNvSpPr>
              <a:spLocks noChangeShapeType="1"/>
            </p:cNvSpPr>
            <p:nvPr/>
          </p:nvSpPr>
          <p:spPr bwMode="auto">
            <a:xfrm rot="16200000">
              <a:off x="5039178" y="-291137"/>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grpSp>
      <p:sp>
        <p:nvSpPr>
          <p:cNvPr id="36" name="Text Box 29"/>
          <p:cNvSpPr txBox="1">
            <a:spLocks noChangeArrowheads="1"/>
          </p:cNvSpPr>
          <p:nvPr/>
        </p:nvSpPr>
        <p:spPr bwMode="auto">
          <a:xfrm>
            <a:off x="3566280" y="2120907"/>
            <a:ext cx="323518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的数据部分（长度取决于类型）</a:t>
            </a:r>
          </a:p>
        </p:txBody>
      </p:sp>
      <p:grpSp>
        <p:nvGrpSpPr>
          <p:cNvPr id="39" name="组合 38"/>
          <p:cNvGrpSpPr/>
          <p:nvPr/>
        </p:nvGrpSpPr>
        <p:grpSpPr>
          <a:xfrm>
            <a:off x="1227936" y="1277546"/>
            <a:ext cx="5387714" cy="480131"/>
            <a:chOff x="1227936" y="1400378"/>
            <a:chExt cx="5387714" cy="480131"/>
          </a:xfrm>
        </p:grpSpPr>
        <p:sp>
          <p:nvSpPr>
            <p:cNvPr id="25" name="Text Box 18"/>
            <p:cNvSpPr txBox="1">
              <a:spLocks noChangeArrowheads="1"/>
            </p:cNvSpPr>
            <p:nvPr/>
          </p:nvSpPr>
          <p:spPr bwMode="auto">
            <a:xfrm>
              <a:off x="5892375" y="148831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检验和</a:t>
              </a:r>
            </a:p>
          </p:txBody>
        </p:sp>
        <p:sp>
          <p:nvSpPr>
            <p:cNvPr id="26" name="Text Box 19"/>
            <p:cNvSpPr txBox="1">
              <a:spLocks noChangeArrowheads="1"/>
            </p:cNvSpPr>
            <p:nvPr/>
          </p:nvSpPr>
          <p:spPr bwMode="auto">
            <a:xfrm>
              <a:off x="2982352"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类型</a:t>
              </a:r>
            </a:p>
          </p:txBody>
        </p:sp>
        <p:sp>
          <p:nvSpPr>
            <p:cNvPr id="27" name="Text Box 20"/>
            <p:cNvSpPr txBox="1">
              <a:spLocks noChangeArrowheads="1"/>
            </p:cNvSpPr>
            <p:nvPr/>
          </p:nvSpPr>
          <p:spPr bwMode="auto">
            <a:xfrm>
              <a:off x="4239415"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代码</a:t>
              </a:r>
            </a:p>
          </p:txBody>
        </p:sp>
        <p:sp>
          <p:nvSpPr>
            <p:cNvPr id="35" name="Text Box 28"/>
            <p:cNvSpPr txBox="1">
              <a:spLocks noChangeArrowheads="1"/>
            </p:cNvSpPr>
            <p:nvPr/>
          </p:nvSpPr>
          <p:spPr bwMode="auto">
            <a:xfrm>
              <a:off x="1227936" y="1400378"/>
              <a:ext cx="1119217"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400" b="1" dirty="0">
                  <a:solidFill>
                    <a:srgbClr val="CC00CC"/>
                  </a:solidFill>
                  <a:latin typeface="微软雅黑" pitchFamily="34" charset="-122"/>
                  <a:ea typeface="微软雅黑" pitchFamily="34" charset="-122"/>
                </a:rPr>
                <a:t>前 </a:t>
              </a:r>
              <a:r>
                <a:rPr kumimoji="1" lang="en-US" altLang="zh-CN" sz="1400" b="1" dirty="0">
                  <a:solidFill>
                    <a:srgbClr val="CC00CC"/>
                  </a:solidFill>
                  <a:latin typeface="微软雅黑" pitchFamily="34" charset="-122"/>
                  <a:ea typeface="微软雅黑" pitchFamily="34" charset="-122"/>
                </a:rPr>
                <a:t>4 </a:t>
              </a:r>
              <a:r>
                <a:rPr kumimoji="1" lang="zh-CN" altLang="en-US" sz="1400" b="1" dirty="0">
                  <a:solidFill>
                    <a:srgbClr val="CC00CC"/>
                  </a:solidFill>
                  <a:latin typeface="微软雅黑" pitchFamily="34" charset="-122"/>
                  <a:ea typeface="微软雅黑" pitchFamily="34" charset="-122"/>
                </a:rPr>
                <a:t>个字节</a:t>
              </a:r>
            </a:p>
            <a:p>
              <a:pPr algn="ctr">
                <a:lnSpc>
                  <a:spcPct val="90000"/>
                </a:lnSpc>
              </a:pPr>
              <a:r>
                <a:rPr kumimoji="1" lang="zh-CN" altLang="en-US" sz="1400" b="1" dirty="0">
                  <a:solidFill>
                    <a:srgbClr val="CC00CC"/>
                  </a:solidFill>
                  <a:latin typeface="微软雅黑" pitchFamily="34" charset="-122"/>
                  <a:ea typeface="微软雅黑" pitchFamily="34" charset="-122"/>
                </a:rPr>
                <a:t>是统一格式</a:t>
              </a:r>
            </a:p>
          </p:txBody>
        </p:sp>
        <p:sp>
          <p:nvSpPr>
            <p:cNvPr id="37" name="Line 30"/>
            <p:cNvSpPr>
              <a:spLocks noChangeShapeType="1"/>
            </p:cNvSpPr>
            <p:nvPr/>
          </p:nvSpPr>
          <p:spPr bwMode="auto">
            <a:xfrm>
              <a:off x="2248552" y="1631492"/>
              <a:ext cx="411378"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400" b="1">
                <a:latin typeface="微软雅黑" pitchFamily="34" charset="-122"/>
                <a:ea typeface="微软雅黑" pitchFamily="34" charset="-122"/>
              </a:endParaRPr>
            </a:p>
          </p:txBody>
        </p:sp>
      </p:grpSp>
      <p:sp>
        <p:nvSpPr>
          <p:cNvPr id="28" name="Text Box 21"/>
          <p:cNvSpPr txBox="1">
            <a:spLocks noChangeArrowheads="1"/>
          </p:cNvSpPr>
          <p:nvPr/>
        </p:nvSpPr>
        <p:spPr bwMode="auto">
          <a:xfrm>
            <a:off x="3370925" y="1676740"/>
            <a:ext cx="35044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（这 </a:t>
            </a:r>
            <a:r>
              <a:rPr kumimoji="1" lang="en-US" altLang="zh-CN" sz="1400" b="1" dirty="0">
                <a:latin typeface="微软雅黑" pitchFamily="34" charset="-122"/>
                <a:ea typeface="微软雅黑" pitchFamily="34" charset="-122"/>
              </a:rPr>
              <a:t>4 </a:t>
            </a:r>
            <a:r>
              <a:rPr kumimoji="1" lang="zh-CN" altLang="en-US" sz="1400" b="1" dirty="0">
                <a:latin typeface="微软雅黑" pitchFamily="34" charset="-122"/>
                <a:ea typeface="微软雅黑" pitchFamily="34" charset="-122"/>
              </a:rPr>
              <a:t>个字节取决于 </a:t>
            </a: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报文的类型）</a:t>
            </a:r>
          </a:p>
        </p:txBody>
      </p:sp>
      <p:sp>
        <p:nvSpPr>
          <p:cNvPr id="3" name="标题 2">
            <a:extLst>
              <a:ext uri="{FF2B5EF4-FFF2-40B4-BE49-F238E27FC236}">
                <a16:creationId xmlns:a16="http://schemas.microsoft.com/office/drawing/2014/main" id="{17A437DC-0B0F-6717-B87C-985F1DE39539}"/>
              </a:ext>
            </a:extLst>
          </p:cNvPr>
          <p:cNvSpPr>
            <a:spLocks noGrp="1"/>
          </p:cNvSpPr>
          <p:nvPr>
            <p:ph type="title"/>
          </p:nvPr>
        </p:nvSpPr>
        <p:spPr>
          <a:xfrm>
            <a:off x="486000" y="550723"/>
            <a:ext cx="8172000" cy="338554"/>
          </a:xfrm>
        </p:spPr>
        <p:txBody>
          <a:bodyPr/>
          <a:lstStyle/>
          <a:p>
            <a:r>
              <a:rPr lang="en-US" altLang="zh-CN" dirty="0"/>
              <a:t>ICMP </a:t>
            </a:r>
            <a:r>
              <a:rPr lang="zh-CN" altLang="en-US" dirty="0"/>
              <a:t>报文的格式 </a:t>
            </a:r>
          </a:p>
        </p:txBody>
      </p:sp>
    </p:spTree>
    <p:extLst>
      <p:ext uri="{BB962C8B-B14F-4D97-AF65-F5344CB8AC3E}">
        <p14:creationId xmlns:p14="http://schemas.microsoft.com/office/powerpoint/2010/main" val="11282640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a:graphicFrameLocks noGrp="1"/>
          </p:cNvGraphicFramePr>
          <p:nvPr>
            <p:extLst>
              <p:ext uri="{D42A27DB-BD31-4B8C-83A1-F6EECF244321}">
                <p14:modId xmlns:p14="http://schemas.microsoft.com/office/powerpoint/2010/main" val="2854757506"/>
              </p:ext>
            </p:extLst>
          </p:nvPr>
        </p:nvGraphicFramePr>
        <p:xfrm>
          <a:off x="1242000" y="2069204"/>
          <a:ext cx="6660000" cy="2534582"/>
        </p:xfrm>
        <a:graphic>
          <a:graphicData uri="http://schemas.openxmlformats.org/drawingml/2006/table">
            <a:tbl>
              <a:tblPr firstRow="1" firstCol="1">
                <a:tableStyleId>{5C22544A-7EE6-4342-B048-85BDC9FD1C3A}</a:tableStyleId>
              </a:tblPr>
              <a:tblGrid>
                <a:gridCol w="1599405">
                  <a:extLst>
                    <a:ext uri="{9D8B030D-6E8A-4147-A177-3AD203B41FA5}">
                      <a16:colId xmlns:a16="http://schemas.microsoft.com/office/drawing/2014/main" val="2577757187"/>
                    </a:ext>
                  </a:extLst>
                </a:gridCol>
                <a:gridCol w="1312007">
                  <a:extLst>
                    <a:ext uri="{9D8B030D-6E8A-4147-A177-3AD203B41FA5}">
                      <a16:colId xmlns:a16="http://schemas.microsoft.com/office/drawing/2014/main" val="2504039375"/>
                    </a:ext>
                  </a:extLst>
                </a:gridCol>
                <a:gridCol w="3748588">
                  <a:extLst>
                    <a:ext uri="{9D8B030D-6E8A-4147-A177-3AD203B41FA5}">
                      <a16:colId xmlns:a16="http://schemas.microsoft.com/office/drawing/2014/main" val="4253697781"/>
                    </a:ext>
                  </a:extLst>
                </a:gridCol>
              </a:tblGrid>
              <a:tr h="464024">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 </a:t>
                      </a:r>
                      <a:r>
                        <a:rPr lang="zh-CN" sz="1400" b="0" kern="500" dirty="0">
                          <a:effectLst/>
                          <a:latin typeface="微软雅黑" panose="020B0503020204020204" pitchFamily="34" charset="-122"/>
                          <a:ea typeface="微软雅黑" panose="020B0503020204020204" pitchFamily="34" charset="-122"/>
                        </a:rPr>
                        <a:t>报文种类</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类型的值</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a:t>
                      </a:r>
                      <a:r>
                        <a:rPr lang="zh-CN" sz="1400" b="0" kern="500" dirty="0">
                          <a:effectLst/>
                          <a:latin typeface="微软雅黑" panose="020B0503020204020204" pitchFamily="34" charset="-122"/>
                          <a:ea typeface="微软雅黑" panose="020B0503020204020204" pitchFamily="34" charset="-122"/>
                        </a:rPr>
                        <a:t>报文的类型</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901984704"/>
                  </a:ext>
                </a:extLst>
              </a:tr>
              <a:tr h="345093">
                <a:tc rowSpan="4">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差错报告报文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 3</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终点不可达</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722480891"/>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11</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时间超过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425218434"/>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12</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参数问题</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743133543"/>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5</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改变路由</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(Redirect)</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321176566"/>
                  </a:ext>
                </a:extLst>
              </a:tr>
              <a:tr h="345093">
                <a:tc rowSpan="2">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询问报文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8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0</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回送</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(Echo)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266132482"/>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13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14</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时间戳</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(Timestamp)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810166473"/>
                  </a:ext>
                </a:extLst>
              </a:tr>
            </a:tbl>
          </a:graphicData>
        </a:graphic>
      </p:graphicFrame>
      <p:sp>
        <p:nvSpPr>
          <p:cNvPr id="4" name="标题 3">
            <a:extLst>
              <a:ext uri="{FF2B5EF4-FFF2-40B4-BE49-F238E27FC236}">
                <a16:creationId xmlns:a16="http://schemas.microsoft.com/office/drawing/2014/main" id="{E4AEE9B4-0FE4-2218-83BF-37524128FF71}"/>
              </a:ext>
            </a:extLst>
          </p:cNvPr>
          <p:cNvSpPr>
            <a:spLocks noGrp="1"/>
          </p:cNvSpPr>
          <p:nvPr>
            <p:ph type="title"/>
          </p:nvPr>
        </p:nvSpPr>
        <p:spPr>
          <a:xfrm>
            <a:off x="486000" y="550723"/>
            <a:ext cx="8172000" cy="338554"/>
          </a:xfrm>
        </p:spPr>
        <p:txBody>
          <a:bodyPr/>
          <a:lstStyle/>
          <a:p>
            <a:r>
              <a:rPr lang="en-US" altLang="zh-CN" dirty="0"/>
              <a:t>4.4.1  ICMP </a:t>
            </a:r>
            <a:r>
              <a:rPr lang="zh-CN" altLang="en-US" dirty="0"/>
              <a:t>报文的种类</a:t>
            </a:r>
          </a:p>
        </p:txBody>
      </p:sp>
      <p:sp>
        <p:nvSpPr>
          <p:cNvPr id="5" name="内容占位符 4">
            <a:extLst>
              <a:ext uri="{FF2B5EF4-FFF2-40B4-BE49-F238E27FC236}">
                <a16:creationId xmlns:a16="http://schemas.microsoft.com/office/drawing/2014/main" id="{30FB9D83-ABB4-2107-6430-655AFA7EC268}"/>
              </a:ext>
            </a:extLst>
          </p:cNvPr>
          <p:cNvSpPr>
            <a:spLocks noGrp="1"/>
          </p:cNvSpPr>
          <p:nvPr>
            <p:ph sz="quarter" idx="11"/>
          </p:nvPr>
        </p:nvSpPr>
        <p:spPr>
          <a:xfrm>
            <a:off x="486000" y="900000"/>
            <a:ext cx="8172000" cy="3703500"/>
          </a:xfrm>
        </p:spPr>
        <p:txBody>
          <a:bodyPr>
            <a:spAutoFit/>
          </a:bodyPr>
          <a:lstStyle/>
          <a:p>
            <a:r>
              <a:rPr lang="zh-CN" altLang="en-US" dirty="0"/>
              <a:t>差错报告报文</a:t>
            </a:r>
            <a:endParaRPr lang="en-US" altLang="zh-CN" dirty="0"/>
          </a:p>
          <a:p>
            <a:r>
              <a:rPr lang="zh-CN" altLang="en-US" dirty="0"/>
              <a:t>询问报文</a:t>
            </a:r>
          </a:p>
          <a:p>
            <a:endParaRPr lang="zh-CN" altLang="en-US" dirty="0"/>
          </a:p>
        </p:txBody>
      </p:sp>
    </p:spTree>
    <p:extLst>
      <p:ext uri="{BB962C8B-B14F-4D97-AF65-F5344CB8AC3E}">
        <p14:creationId xmlns:p14="http://schemas.microsoft.com/office/powerpoint/2010/main" val="20514126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094465" y="1176792"/>
            <a:ext cx="6987704" cy="2958454"/>
            <a:chOff x="650435" y="1556792"/>
            <a:chExt cx="8695053" cy="3681310"/>
          </a:xfrm>
        </p:grpSpPr>
        <p:sp>
          <p:nvSpPr>
            <p:cNvPr id="36" name="Rectangle 2"/>
            <p:cNvSpPr>
              <a:spLocks noChangeArrowheads="1"/>
            </p:cNvSpPr>
            <p:nvPr/>
          </p:nvSpPr>
          <p:spPr bwMode="auto">
            <a:xfrm>
              <a:off x="662260" y="4195216"/>
              <a:ext cx="4531651" cy="596900"/>
            </a:xfrm>
            <a:prstGeom prst="rect">
              <a:avLst/>
            </a:prstGeom>
            <a:solidFill>
              <a:srgbClr val="00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5"/>
            <p:cNvSpPr>
              <a:spLocks noChangeArrowheads="1"/>
            </p:cNvSpPr>
            <p:nvPr/>
          </p:nvSpPr>
          <p:spPr bwMode="auto">
            <a:xfrm>
              <a:off x="1412089" y="4195216"/>
              <a:ext cx="3781821" cy="596900"/>
            </a:xfrm>
            <a:prstGeom prst="rect">
              <a:avLst/>
            </a:prstGeom>
            <a:solidFill>
              <a:srgbClr val="00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6"/>
            <p:cNvSpPr>
              <a:spLocks noChangeShapeType="1"/>
            </p:cNvSpPr>
            <p:nvPr/>
          </p:nvSpPr>
          <p:spPr bwMode="auto">
            <a:xfrm>
              <a:off x="662260" y="5001667"/>
              <a:ext cx="4531651" cy="20637"/>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Text Box 7"/>
            <p:cNvSpPr txBox="1">
              <a:spLocks noChangeArrowheads="1"/>
            </p:cNvSpPr>
            <p:nvPr/>
          </p:nvSpPr>
          <p:spPr bwMode="auto">
            <a:xfrm>
              <a:off x="702315" y="4323803"/>
              <a:ext cx="67659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zh-CN" altLang="en-US" sz="1400" b="1" dirty="0">
                  <a:solidFill>
                    <a:schemeClr val="bg1"/>
                  </a:solidFill>
                  <a:latin typeface="微软雅黑" pitchFamily="34" charset="-122"/>
                  <a:ea typeface="微软雅黑" pitchFamily="34" charset="-122"/>
                </a:rPr>
                <a:t>首部</a:t>
              </a:r>
            </a:p>
          </p:txBody>
        </p:sp>
        <p:sp>
          <p:nvSpPr>
            <p:cNvPr id="40" name="Line 8"/>
            <p:cNvSpPr>
              <a:spLocks noChangeShapeType="1"/>
            </p:cNvSpPr>
            <p:nvPr/>
          </p:nvSpPr>
          <p:spPr bwMode="auto">
            <a:xfrm>
              <a:off x="1412089" y="4195216"/>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Text Box 10"/>
            <p:cNvSpPr txBox="1">
              <a:spLocks noChangeArrowheads="1"/>
            </p:cNvSpPr>
            <p:nvPr/>
          </p:nvSpPr>
          <p:spPr bwMode="auto">
            <a:xfrm>
              <a:off x="2362324" y="4816827"/>
              <a:ext cx="1324863" cy="421275"/>
            </a:xfrm>
            <a:prstGeom prst="rect">
              <a:avLst/>
            </a:prstGeom>
            <a:solidFill>
              <a:srgbClr val="C1E1F7"/>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CC"/>
                  </a:solidFill>
                  <a:latin typeface="微软雅黑" pitchFamily="34" charset="-122"/>
                  <a:ea typeface="微软雅黑" pitchFamily="34" charset="-122"/>
                </a:rPr>
                <a:t>IP </a:t>
              </a:r>
              <a:r>
                <a:rPr kumimoji="1" lang="zh-CN" altLang="en-US" sz="1600" b="1" dirty="0">
                  <a:solidFill>
                    <a:srgbClr val="0000CC"/>
                  </a:solidFill>
                  <a:latin typeface="微软雅黑" pitchFamily="34" charset="-122"/>
                  <a:ea typeface="微软雅黑" pitchFamily="34" charset="-122"/>
                </a:rPr>
                <a:t>数据报</a:t>
              </a:r>
            </a:p>
          </p:txBody>
        </p:sp>
        <p:sp>
          <p:nvSpPr>
            <p:cNvPr id="43" name="Rectangle 11"/>
            <p:cNvSpPr>
              <a:spLocks noChangeArrowheads="1"/>
            </p:cNvSpPr>
            <p:nvPr/>
          </p:nvSpPr>
          <p:spPr bwMode="auto">
            <a:xfrm>
              <a:off x="1412089" y="3174454"/>
              <a:ext cx="3781821" cy="607000"/>
            </a:xfrm>
            <a:prstGeom prst="rect">
              <a:avLst/>
            </a:prstGeom>
            <a:solidFill>
              <a:srgbClr val="DDDDDD"/>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12"/>
            <p:cNvSpPr>
              <a:spLocks noChangeArrowheads="1"/>
            </p:cNvSpPr>
            <p:nvPr/>
          </p:nvSpPr>
          <p:spPr bwMode="auto">
            <a:xfrm>
              <a:off x="1412089" y="3174454"/>
              <a:ext cx="3781821" cy="595313"/>
            </a:xfrm>
            <a:prstGeom prst="rect">
              <a:avLst/>
            </a:prstGeom>
            <a:solidFill>
              <a:srgbClr val="00FF99"/>
            </a:solidFill>
            <a:ln w="12700">
              <a:solidFill>
                <a:schemeClr val="tx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3"/>
            <p:cNvSpPr txBox="1">
              <a:spLocks noChangeArrowheads="1"/>
            </p:cNvSpPr>
            <p:nvPr/>
          </p:nvSpPr>
          <p:spPr bwMode="auto">
            <a:xfrm>
              <a:off x="1531703" y="3145153"/>
              <a:ext cx="1169279"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a:t>
              </a:r>
            </a:p>
            <a:p>
              <a:pPr algn="ctr"/>
              <a:r>
                <a:rPr kumimoji="1" lang="zh-CN" altLang="en-US" sz="1400" b="1" dirty="0">
                  <a:latin typeface="微软雅黑" pitchFamily="34" charset="-122"/>
                  <a:ea typeface="微软雅黑" pitchFamily="34" charset="-122"/>
                </a:rPr>
                <a:t>前 </a:t>
              </a:r>
              <a:r>
                <a:rPr kumimoji="1" lang="en-US" altLang="zh-CN" sz="1400" b="1" dirty="0">
                  <a:latin typeface="微软雅黑" pitchFamily="34" charset="-122"/>
                  <a:ea typeface="微软雅黑" pitchFamily="34" charset="-122"/>
                </a:rPr>
                <a:t>8 </a:t>
              </a:r>
              <a:r>
                <a:rPr kumimoji="1" lang="zh-CN" altLang="en-US" sz="1400" b="1" dirty="0">
                  <a:latin typeface="微软雅黑" pitchFamily="34" charset="-122"/>
                  <a:ea typeface="微软雅黑" pitchFamily="34" charset="-122"/>
                </a:rPr>
                <a:t>字节</a:t>
              </a:r>
            </a:p>
          </p:txBody>
        </p:sp>
        <p:sp>
          <p:nvSpPr>
            <p:cNvPr id="46" name="Line 14"/>
            <p:cNvSpPr>
              <a:spLocks noChangeShapeType="1"/>
            </p:cNvSpPr>
            <p:nvPr/>
          </p:nvSpPr>
          <p:spPr bwMode="auto">
            <a:xfrm>
              <a:off x="2794801" y="3174454"/>
              <a:ext cx="0" cy="5953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Text Box 15"/>
            <p:cNvSpPr txBox="1">
              <a:spLocks noChangeArrowheads="1"/>
            </p:cNvSpPr>
            <p:nvPr/>
          </p:nvSpPr>
          <p:spPr bwMode="auto">
            <a:xfrm>
              <a:off x="5297521" y="4293642"/>
              <a:ext cx="3517010"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C00CC"/>
                  </a:solidFill>
                  <a:latin typeface="微软雅黑" pitchFamily="34" charset="-122"/>
                  <a:ea typeface="微软雅黑" pitchFamily="34" charset="-122"/>
                </a:rPr>
                <a:t>装入 </a:t>
              </a:r>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报文的 </a:t>
              </a:r>
              <a:r>
                <a:rPr kumimoji="1" lang="en-US" altLang="zh-CN" sz="1600" b="1" dirty="0">
                  <a:solidFill>
                    <a:srgbClr val="CC00CC"/>
                  </a:solidFill>
                  <a:latin typeface="微软雅黑" pitchFamily="34" charset="-122"/>
                  <a:ea typeface="微软雅黑" pitchFamily="34" charset="-122"/>
                </a:rPr>
                <a:t>IP </a:t>
              </a:r>
              <a:r>
                <a:rPr kumimoji="1" lang="zh-CN" altLang="en-US" sz="1600" b="1" dirty="0">
                  <a:solidFill>
                    <a:srgbClr val="CC00CC"/>
                  </a:solidFill>
                  <a:latin typeface="微软雅黑" pitchFamily="34" charset="-122"/>
                  <a:ea typeface="微软雅黑" pitchFamily="34" charset="-122"/>
                </a:rPr>
                <a:t>数据报</a:t>
              </a:r>
            </a:p>
          </p:txBody>
        </p:sp>
        <p:sp>
          <p:nvSpPr>
            <p:cNvPr id="48" name="Rectangle 16"/>
            <p:cNvSpPr>
              <a:spLocks noChangeArrowheads="1"/>
            </p:cNvSpPr>
            <p:nvPr/>
          </p:nvSpPr>
          <p:spPr bwMode="auto">
            <a:xfrm>
              <a:off x="2794802" y="2152103"/>
              <a:ext cx="6550686" cy="5969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Text Box 17"/>
            <p:cNvSpPr txBox="1">
              <a:spLocks noChangeArrowheads="1"/>
            </p:cNvSpPr>
            <p:nvPr/>
          </p:nvSpPr>
          <p:spPr bwMode="auto">
            <a:xfrm>
              <a:off x="2838563" y="2296087"/>
              <a:ext cx="1648910"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0" name="Line 18"/>
            <p:cNvSpPr>
              <a:spLocks noChangeShapeType="1"/>
            </p:cNvSpPr>
            <p:nvPr/>
          </p:nvSpPr>
          <p:spPr bwMode="auto">
            <a:xfrm>
              <a:off x="4547269" y="2152103"/>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Text Box 19"/>
            <p:cNvSpPr txBox="1">
              <a:spLocks noChangeArrowheads="1"/>
            </p:cNvSpPr>
            <p:nvPr/>
          </p:nvSpPr>
          <p:spPr bwMode="auto">
            <a:xfrm>
              <a:off x="5317247" y="3285579"/>
              <a:ext cx="2525658"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差错报告报文</a:t>
              </a:r>
            </a:p>
          </p:txBody>
        </p:sp>
        <p:sp>
          <p:nvSpPr>
            <p:cNvPr id="52" name="Text Box 20"/>
            <p:cNvSpPr txBox="1">
              <a:spLocks noChangeArrowheads="1"/>
            </p:cNvSpPr>
            <p:nvPr/>
          </p:nvSpPr>
          <p:spPr bwMode="auto">
            <a:xfrm>
              <a:off x="4551210" y="2120164"/>
              <a:ext cx="676594"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3" name="Line 21"/>
            <p:cNvSpPr>
              <a:spLocks noChangeShapeType="1"/>
            </p:cNvSpPr>
            <p:nvPr/>
          </p:nvSpPr>
          <p:spPr bwMode="auto">
            <a:xfrm>
              <a:off x="5193910" y="2152103"/>
              <a:ext cx="0" cy="59690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4" name="Text Box 22"/>
            <p:cNvSpPr txBox="1">
              <a:spLocks noChangeArrowheads="1"/>
            </p:cNvSpPr>
            <p:nvPr/>
          </p:nvSpPr>
          <p:spPr bwMode="auto">
            <a:xfrm>
              <a:off x="650435" y="2251783"/>
              <a:ext cx="2166616"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00000"/>
                  </a:solidFill>
                  <a:latin typeface="微软雅黑" pitchFamily="34" charset="-122"/>
                  <a:ea typeface="微软雅黑" pitchFamily="34" charset="-122"/>
                </a:rPr>
                <a:t>收到的 </a:t>
              </a:r>
              <a:r>
                <a:rPr kumimoji="1" lang="en-US" altLang="zh-CN" sz="1600" b="1" dirty="0">
                  <a:solidFill>
                    <a:srgbClr val="C00000"/>
                  </a:solidFill>
                  <a:latin typeface="微软雅黑" pitchFamily="34" charset="-122"/>
                  <a:ea typeface="微软雅黑" pitchFamily="34" charset="-122"/>
                </a:rPr>
                <a:t>IP </a:t>
              </a:r>
              <a:r>
                <a:rPr kumimoji="1" lang="zh-CN" altLang="en-US" sz="1600" b="1" dirty="0">
                  <a:solidFill>
                    <a:srgbClr val="C00000"/>
                  </a:solidFill>
                  <a:latin typeface="微软雅黑" pitchFamily="34" charset="-122"/>
                  <a:ea typeface="微软雅黑" pitchFamily="34" charset="-122"/>
                </a:rPr>
                <a:t>数据报</a:t>
              </a:r>
            </a:p>
          </p:txBody>
        </p:sp>
        <p:sp>
          <p:nvSpPr>
            <p:cNvPr id="55" name="Line 23"/>
            <p:cNvSpPr>
              <a:spLocks noChangeShapeType="1"/>
            </p:cNvSpPr>
            <p:nvPr/>
          </p:nvSpPr>
          <p:spPr bwMode="auto">
            <a:xfrm>
              <a:off x="5193910"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Line 24"/>
            <p:cNvSpPr>
              <a:spLocks noChangeShapeType="1"/>
            </p:cNvSpPr>
            <p:nvPr/>
          </p:nvSpPr>
          <p:spPr bwMode="auto">
            <a:xfrm>
              <a:off x="4547269" y="3174454"/>
              <a:ext cx="0" cy="595313"/>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Text Box 25"/>
            <p:cNvSpPr txBox="1">
              <a:spLocks noChangeArrowheads="1"/>
            </p:cNvSpPr>
            <p:nvPr/>
          </p:nvSpPr>
          <p:spPr bwMode="auto">
            <a:xfrm>
              <a:off x="2865968" y="3335372"/>
              <a:ext cx="1636033"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8" name="Text Box 26"/>
            <p:cNvSpPr txBox="1">
              <a:spLocks noChangeArrowheads="1"/>
            </p:cNvSpPr>
            <p:nvPr/>
          </p:nvSpPr>
          <p:spPr bwMode="auto">
            <a:xfrm>
              <a:off x="4559816" y="3196678"/>
              <a:ext cx="676594" cy="597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9" name="AutoShape 27"/>
            <p:cNvSpPr>
              <a:spLocks noChangeArrowheads="1"/>
            </p:cNvSpPr>
            <p:nvPr/>
          </p:nvSpPr>
          <p:spPr bwMode="auto">
            <a:xfrm>
              <a:off x="3441444" y="2720428"/>
              <a:ext cx="276886" cy="509588"/>
            </a:xfrm>
            <a:prstGeom prst="downArrow">
              <a:avLst>
                <a:gd name="adj1" fmla="val 47222"/>
                <a:gd name="adj2" fmla="val 103013"/>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0" name="AutoShape 28"/>
            <p:cNvSpPr>
              <a:spLocks noChangeArrowheads="1"/>
            </p:cNvSpPr>
            <p:nvPr/>
          </p:nvSpPr>
          <p:spPr bwMode="auto">
            <a:xfrm>
              <a:off x="4763962" y="2720428"/>
              <a:ext cx="275167" cy="509588"/>
            </a:xfrm>
            <a:prstGeom prst="downArrow">
              <a:avLst>
                <a:gd name="adj1" fmla="val 47222"/>
                <a:gd name="adj2" fmla="val 103656"/>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1" name="Text Box 29"/>
            <p:cNvSpPr txBox="1">
              <a:spLocks noChangeArrowheads="1"/>
            </p:cNvSpPr>
            <p:nvPr/>
          </p:nvSpPr>
          <p:spPr bwMode="auto">
            <a:xfrm>
              <a:off x="2183406" y="4334744"/>
              <a:ext cx="223842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差错报告报文</a:t>
              </a:r>
            </a:p>
          </p:txBody>
        </p:sp>
        <p:sp>
          <p:nvSpPr>
            <p:cNvPr id="62" name="Text Box 30"/>
            <p:cNvSpPr txBox="1">
              <a:spLocks noChangeArrowheads="1"/>
            </p:cNvSpPr>
            <p:nvPr/>
          </p:nvSpPr>
          <p:spPr bwMode="auto">
            <a:xfrm>
              <a:off x="5721222" y="1556792"/>
              <a:ext cx="2306243" cy="3829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数据报的数据字段</a:t>
              </a:r>
            </a:p>
          </p:txBody>
        </p:sp>
        <p:sp>
          <p:nvSpPr>
            <p:cNvPr id="63" name="AutoShape 31"/>
            <p:cNvSpPr>
              <a:spLocks/>
            </p:cNvSpPr>
            <p:nvPr/>
          </p:nvSpPr>
          <p:spPr bwMode="auto">
            <a:xfrm rot="5400000">
              <a:off x="6815013" y="-371228"/>
              <a:ext cx="169862" cy="4705350"/>
            </a:xfrm>
            <a:prstGeom prst="leftBrace">
              <a:avLst>
                <a:gd name="adj1" fmla="val 21308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Line 32"/>
            <p:cNvSpPr>
              <a:spLocks noChangeShapeType="1"/>
            </p:cNvSpPr>
            <p:nvPr/>
          </p:nvSpPr>
          <p:spPr bwMode="auto">
            <a:xfrm>
              <a:off x="2794801"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5" name="Line 33"/>
            <p:cNvSpPr>
              <a:spLocks noChangeShapeType="1"/>
            </p:cNvSpPr>
            <p:nvPr/>
          </p:nvSpPr>
          <p:spPr bwMode="auto">
            <a:xfrm>
              <a:off x="1412089"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34"/>
            <p:cNvSpPr>
              <a:spLocks noChangeShapeType="1"/>
            </p:cNvSpPr>
            <p:nvPr/>
          </p:nvSpPr>
          <p:spPr bwMode="auto">
            <a:xfrm>
              <a:off x="5193910"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AutoShape 35"/>
            <p:cNvSpPr>
              <a:spLocks noChangeArrowheads="1"/>
            </p:cNvSpPr>
            <p:nvPr/>
          </p:nvSpPr>
          <p:spPr bwMode="auto">
            <a:xfrm>
              <a:off x="3127239" y="3817772"/>
              <a:ext cx="278606" cy="511176"/>
            </a:xfrm>
            <a:prstGeom prst="downArrow">
              <a:avLst>
                <a:gd name="adj1" fmla="val 47222"/>
                <a:gd name="adj2" fmla="val 102695"/>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6A19B83-759F-EA47-F970-32ED915B21F8}"/>
              </a:ext>
            </a:extLst>
          </p:cNvPr>
          <p:cNvSpPr>
            <a:spLocks noGrp="1"/>
          </p:cNvSpPr>
          <p:nvPr>
            <p:ph type="title"/>
          </p:nvPr>
        </p:nvSpPr>
        <p:spPr>
          <a:xfrm>
            <a:off x="486000" y="550723"/>
            <a:ext cx="8172000" cy="338554"/>
          </a:xfrm>
        </p:spPr>
        <p:txBody>
          <a:bodyPr/>
          <a:lstStyle/>
          <a:p>
            <a:r>
              <a:rPr lang="en-US" altLang="zh-CN" dirty="0"/>
              <a:t>ICMP </a:t>
            </a:r>
            <a:r>
              <a:rPr lang="zh-CN" altLang="en-US" dirty="0"/>
              <a:t>差错报告报文的数据字段的内容</a:t>
            </a:r>
          </a:p>
        </p:txBody>
      </p:sp>
    </p:spTree>
    <p:extLst>
      <p:ext uri="{BB962C8B-B14F-4D97-AF65-F5344CB8AC3E}">
        <p14:creationId xmlns:p14="http://schemas.microsoft.com/office/powerpoint/2010/main" val="23766583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60728F-A407-8887-0DD2-4518550BE030}"/>
              </a:ext>
            </a:extLst>
          </p:cNvPr>
          <p:cNvSpPr>
            <a:spLocks noGrp="1"/>
          </p:cNvSpPr>
          <p:nvPr>
            <p:ph type="title"/>
          </p:nvPr>
        </p:nvSpPr>
        <p:spPr>
          <a:xfrm>
            <a:off x="486000" y="550723"/>
            <a:ext cx="8172000" cy="338554"/>
          </a:xfrm>
        </p:spPr>
        <p:txBody>
          <a:bodyPr/>
          <a:lstStyle/>
          <a:p>
            <a:r>
              <a:rPr lang="zh-CN" altLang="en-US" dirty="0"/>
              <a:t>不应发送 </a:t>
            </a:r>
            <a:r>
              <a:rPr lang="en-US" altLang="zh-CN" dirty="0"/>
              <a:t>ICMP </a:t>
            </a:r>
            <a:r>
              <a:rPr lang="zh-CN" altLang="en-US" dirty="0"/>
              <a:t>差错报告报文的几种情况</a:t>
            </a:r>
          </a:p>
        </p:txBody>
      </p:sp>
      <p:sp>
        <p:nvSpPr>
          <p:cNvPr id="3" name="内容占位符 2">
            <a:extLst>
              <a:ext uri="{FF2B5EF4-FFF2-40B4-BE49-F238E27FC236}">
                <a16:creationId xmlns:a16="http://schemas.microsoft.com/office/drawing/2014/main" id="{88558A31-52ED-18E8-7E7A-7B492D94C989}"/>
              </a:ext>
            </a:extLst>
          </p:cNvPr>
          <p:cNvSpPr>
            <a:spLocks noGrp="1"/>
          </p:cNvSpPr>
          <p:nvPr>
            <p:ph sz="quarter" idx="11"/>
          </p:nvPr>
        </p:nvSpPr>
        <p:spPr>
          <a:xfrm>
            <a:off x="486000" y="900000"/>
            <a:ext cx="8172000" cy="3703500"/>
          </a:xfrm>
        </p:spPr>
        <p:txBody>
          <a:bodyPr/>
          <a:lstStyle/>
          <a:p>
            <a:r>
              <a:rPr lang="zh-CN" altLang="en-US" dirty="0"/>
              <a:t>对 </a:t>
            </a:r>
            <a:r>
              <a:rPr lang="en-US" altLang="zh-CN" dirty="0"/>
              <a:t>ICMP </a:t>
            </a:r>
            <a:r>
              <a:rPr lang="zh-CN" altLang="en-US" dirty="0"/>
              <a:t>差错报告报文不再发送 </a:t>
            </a:r>
            <a:r>
              <a:rPr lang="en-US" altLang="zh-CN" dirty="0"/>
              <a:t>ICMP </a:t>
            </a:r>
            <a:r>
              <a:rPr lang="zh-CN" altLang="en-US" dirty="0"/>
              <a:t>差错报告报文</a:t>
            </a:r>
          </a:p>
          <a:p>
            <a:r>
              <a:rPr lang="zh-CN" altLang="en-US" dirty="0"/>
              <a:t>对第一个分片的数据报片的所有后续数据报片都不发送 </a:t>
            </a:r>
            <a:r>
              <a:rPr lang="en-US" altLang="zh-CN" dirty="0"/>
              <a:t>ICMP </a:t>
            </a:r>
            <a:r>
              <a:rPr lang="zh-CN" altLang="en-US" dirty="0"/>
              <a:t>差错报告报文</a:t>
            </a:r>
          </a:p>
          <a:p>
            <a:r>
              <a:rPr lang="zh-CN" altLang="en-US" dirty="0"/>
              <a:t>对具有多播地址的数据报都不发送 </a:t>
            </a:r>
            <a:r>
              <a:rPr lang="en-US" altLang="zh-CN" dirty="0"/>
              <a:t>ICMP </a:t>
            </a:r>
            <a:r>
              <a:rPr lang="zh-CN" altLang="en-US" dirty="0"/>
              <a:t>差错报告报文</a:t>
            </a:r>
          </a:p>
          <a:p>
            <a:r>
              <a:rPr lang="zh-CN" altLang="en-US" dirty="0"/>
              <a:t>对具有特殊地址（如</a:t>
            </a:r>
            <a:r>
              <a:rPr lang="en-US" altLang="zh-CN" dirty="0"/>
              <a:t>127.0.0.0 </a:t>
            </a:r>
            <a:r>
              <a:rPr lang="zh-CN" altLang="en-US" dirty="0"/>
              <a:t>或 </a:t>
            </a:r>
            <a:r>
              <a:rPr lang="en-US" altLang="zh-CN" dirty="0"/>
              <a:t>0.0.0.0</a:t>
            </a:r>
            <a:r>
              <a:rPr lang="zh-CN" altLang="en-US" dirty="0"/>
              <a:t>）的数据报不发送 </a:t>
            </a:r>
            <a:r>
              <a:rPr lang="en-US" altLang="zh-CN" dirty="0"/>
              <a:t>ICMP </a:t>
            </a:r>
            <a:r>
              <a:rPr lang="zh-CN" altLang="en-US" dirty="0"/>
              <a:t>差错报告报文</a:t>
            </a:r>
          </a:p>
          <a:p>
            <a:endParaRPr lang="zh-CN" altLang="en-US" dirty="0"/>
          </a:p>
        </p:txBody>
      </p:sp>
    </p:spTree>
    <p:extLst>
      <p:ext uri="{BB962C8B-B14F-4D97-AF65-F5344CB8AC3E}">
        <p14:creationId xmlns:p14="http://schemas.microsoft.com/office/powerpoint/2010/main" val="29290711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E7302D-8879-42FD-2D4A-4F7047D74E55}"/>
              </a:ext>
            </a:extLst>
          </p:cNvPr>
          <p:cNvSpPr>
            <a:spLocks noGrp="1"/>
          </p:cNvSpPr>
          <p:nvPr>
            <p:ph type="title"/>
          </p:nvPr>
        </p:nvSpPr>
        <p:spPr>
          <a:xfrm>
            <a:off x="486000" y="550723"/>
            <a:ext cx="8172000" cy="338554"/>
          </a:xfrm>
        </p:spPr>
        <p:txBody>
          <a:bodyPr/>
          <a:lstStyle/>
          <a:p>
            <a:r>
              <a:rPr lang="en-US" altLang="zh-CN" dirty="0"/>
              <a:t>ICMP </a:t>
            </a:r>
            <a:r>
              <a:rPr lang="zh-CN" altLang="en-US" dirty="0"/>
              <a:t>询问报文</a:t>
            </a:r>
          </a:p>
        </p:txBody>
      </p:sp>
      <p:sp>
        <p:nvSpPr>
          <p:cNvPr id="3" name="内容占位符 2">
            <a:extLst>
              <a:ext uri="{FF2B5EF4-FFF2-40B4-BE49-F238E27FC236}">
                <a16:creationId xmlns:a16="http://schemas.microsoft.com/office/drawing/2014/main" id="{BE7C8FCF-79BA-C5B2-349A-87E6FD37B764}"/>
              </a:ext>
            </a:extLst>
          </p:cNvPr>
          <p:cNvSpPr>
            <a:spLocks noGrp="1"/>
          </p:cNvSpPr>
          <p:nvPr>
            <p:ph sz="quarter" idx="11"/>
          </p:nvPr>
        </p:nvSpPr>
        <p:spPr>
          <a:xfrm>
            <a:off x="486000" y="900000"/>
            <a:ext cx="8172000" cy="3703500"/>
          </a:xfrm>
        </p:spPr>
        <p:txBody>
          <a:bodyPr/>
          <a:lstStyle/>
          <a:p>
            <a:r>
              <a:rPr lang="en-US" altLang="zh-CN" dirty="0"/>
              <a:t>(1) </a:t>
            </a:r>
            <a:r>
              <a:rPr lang="zh-CN" altLang="en-US" dirty="0"/>
              <a:t>回送请求和回答</a:t>
            </a:r>
            <a:endParaRPr lang="en-US" altLang="zh-CN" dirty="0"/>
          </a:p>
          <a:p>
            <a:pPr lvl="1"/>
            <a:r>
              <a:rPr lang="zh-CN" altLang="en-US" dirty="0"/>
              <a:t>由主机或路由器向一个特定的目的主机发出的询问。</a:t>
            </a:r>
            <a:endParaRPr lang="en-US" altLang="zh-CN" dirty="0"/>
          </a:p>
          <a:p>
            <a:pPr lvl="1"/>
            <a:r>
              <a:rPr lang="zh-CN" altLang="en-US" dirty="0"/>
              <a:t>收到此报文的主机必须给源主机或路由器发送 </a:t>
            </a:r>
            <a:r>
              <a:rPr lang="en-US" altLang="zh-CN" dirty="0"/>
              <a:t>ICMP </a:t>
            </a:r>
            <a:r>
              <a:rPr lang="zh-CN" altLang="en-US" dirty="0"/>
              <a:t>回送回答报文。</a:t>
            </a:r>
            <a:endParaRPr lang="en-US" altLang="zh-CN" dirty="0"/>
          </a:p>
          <a:p>
            <a:pPr lvl="1"/>
            <a:r>
              <a:rPr lang="zh-CN" altLang="en-US" dirty="0"/>
              <a:t>这种询问报文用来测试目的站是否可达，以及了解其有关状态。</a:t>
            </a:r>
          </a:p>
          <a:p>
            <a:r>
              <a:rPr lang="en-US" altLang="zh-CN" dirty="0"/>
              <a:t>(2) </a:t>
            </a:r>
            <a:r>
              <a:rPr lang="zh-CN" altLang="en-US" dirty="0"/>
              <a:t>时间戳请求和回答：</a:t>
            </a:r>
            <a:endParaRPr lang="en-US" altLang="zh-CN" dirty="0"/>
          </a:p>
          <a:p>
            <a:pPr lvl="1"/>
            <a:r>
              <a:rPr lang="zh-CN" altLang="en-US" dirty="0"/>
              <a:t>请某台主机或路由器回答当前的日期和时间。</a:t>
            </a:r>
            <a:endParaRPr lang="en-US" altLang="zh-CN" dirty="0"/>
          </a:p>
          <a:p>
            <a:pPr lvl="1"/>
            <a:r>
              <a:rPr lang="zh-CN" altLang="en-US" dirty="0"/>
              <a:t>时间戳回答报文中有一个 </a:t>
            </a:r>
            <a:r>
              <a:rPr lang="en-US" altLang="zh-CN" dirty="0"/>
              <a:t>32 </a:t>
            </a:r>
            <a:r>
              <a:rPr lang="zh-CN" altLang="en-US" dirty="0"/>
              <a:t>位的字段，其中写入的整数代表从</a:t>
            </a:r>
            <a:r>
              <a:rPr lang="en-US" altLang="zh-CN" dirty="0"/>
              <a:t>1900 </a:t>
            </a:r>
            <a:r>
              <a:rPr lang="zh-CN" altLang="en-US" dirty="0"/>
              <a:t>年 </a:t>
            </a:r>
            <a:r>
              <a:rPr lang="en-US" altLang="zh-CN" dirty="0"/>
              <a:t>1 </a:t>
            </a:r>
            <a:r>
              <a:rPr lang="zh-CN" altLang="en-US" dirty="0"/>
              <a:t>月 </a:t>
            </a:r>
            <a:r>
              <a:rPr lang="en-US" altLang="zh-CN" dirty="0"/>
              <a:t>1 </a:t>
            </a:r>
            <a:r>
              <a:rPr lang="zh-CN" altLang="en-US" dirty="0"/>
              <a:t>日起到当前时刻一共有多少秒。</a:t>
            </a:r>
            <a:endParaRPr lang="en-US" altLang="zh-CN" dirty="0"/>
          </a:p>
          <a:p>
            <a:pPr lvl="1"/>
            <a:r>
              <a:rPr lang="zh-CN" altLang="en-US" dirty="0"/>
              <a:t>时间戳请求与回答可用于时钟同步和时间测量。</a:t>
            </a:r>
          </a:p>
          <a:p>
            <a:endParaRPr lang="zh-CN" altLang="en-US" dirty="0"/>
          </a:p>
        </p:txBody>
      </p:sp>
    </p:spTree>
    <p:extLst>
      <p:ext uri="{BB962C8B-B14F-4D97-AF65-F5344CB8AC3E}">
        <p14:creationId xmlns:p14="http://schemas.microsoft.com/office/powerpoint/2010/main" val="88834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0E8699-CCF6-EDCE-78A3-EDC63583996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3" name="内容占位符 2">
            <a:extLst>
              <a:ext uri="{FF2B5EF4-FFF2-40B4-BE49-F238E27FC236}">
                <a16:creationId xmlns:a16="http://schemas.microsoft.com/office/drawing/2014/main" id="{F6786F88-DFB7-24C9-30B2-8F1FDBB6A86A}"/>
              </a:ext>
            </a:extLst>
          </p:cNvPr>
          <p:cNvSpPr>
            <a:spLocks noGrp="1"/>
          </p:cNvSpPr>
          <p:nvPr>
            <p:ph sz="quarter" idx="11"/>
          </p:nvPr>
        </p:nvSpPr>
        <p:spPr>
          <a:xfrm>
            <a:off x="486000" y="900000"/>
            <a:ext cx="8172000" cy="3703500"/>
          </a:xfrm>
        </p:spPr>
        <p:txBody>
          <a:bodyPr/>
          <a:lstStyle/>
          <a:p>
            <a:r>
              <a:rPr lang="en-US" altLang="zh-CN" dirty="0"/>
              <a:t>PING</a:t>
            </a:r>
          </a:p>
          <a:p>
            <a:pPr lvl="1"/>
            <a:r>
              <a:rPr lang="en-US" altLang="zh-CN" dirty="0"/>
              <a:t>Packet </a:t>
            </a:r>
            <a:r>
              <a:rPr lang="en-US" altLang="zh-CN" dirty="0" err="1"/>
              <a:t>InterNet</a:t>
            </a:r>
            <a:r>
              <a:rPr lang="en-US" altLang="zh-CN" dirty="0"/>
              <a:t> Groper</a:t>
            </a:r>
          </a:p>
          <a:p>
            <a:pPr lvl="1"/>
            <a:r>
              <a:rPr lang="zh-CN" altLang="en-US" dirty="0"/>
              <a:t>用来测试两个主机之间的连通性</a:t>
            </a:r>
          </a:p>
          <a:p>
            <a:pPr lvl="1"/>
            <a:r>
              <a:rPr lang="zh-CN" altLang="en-US" dirty="0"/>
              <a:t>使用了 </a:t>
            </a:r>
            <a:r>
              <a:rPr lang="en-US" altLang="zh-CN" dirty="0"/>
              <a:t>ICMP </a:t>
            </a:r>
            <a:r>
              <a:rPr lang="zh-CN" altLang="en-US" dirty="0"/>
              <a:t>回送请求与回送回答报文</a:t>
            </a:r>
          </a:p>
          <a:p>
            <a:pPr lvl="1"/>
            <a:r>
              <a:rPr lang="zh-CN" altLang="en-US" dirty="0"/>
              <a:t>是应用层直接使用网络层 </a:t>
            </a:r>
            <a:r>
              <a:rPr lang="en-US" altLang="zh-CN" dirty="0"/>
              <a:t>ICMP </a:t>
            </a:r>
            <a:r>
              <a:rPr lang="zh-CN" altLang="en-US" dirty="0"/>
              <a:t>的例子，没有通过运输层的 </a:t>
            </a:r>
            <a:r>
              <a:rPr lang="en-US" altLang="zh-CN" dirty="0"/>
              <a:t>TCP </a:t>
            </a:r>
            <a:r>
              <a:rPr lang="zh-CN" altLang="en-US" dirty="0"/>
              <a:t>或 </a:t>
            </a:r>
            <a:r>
              <a:rPr lang="en-US" altLang="zh-CN" dirty="0"/>
              <a:t>UDP</a:t>
            </a:r>
            <a:endParaRPr lang="zh-CN" altLang="en-US" dirty="0"/>
          </a:p>
        </p:txBody>
      </p:sp>
    </p:spTree>
    <p:extLst>
      <p:ext uri="{BB962C8B-B14F-4D97-AF65-F5344CB8AC3E}">
        <p14:creationId xmlns:p14="http://schemas.microsoft.com/office/powerpoint/2010/main" val="2524377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矩形 107"/>
          <p:cNvSpPr/>
          <p:nvPr/>
        </p:nvSpPr>
        <p:spPr>
          <a:xfrm>
            <a:off x="1932338" y="4308390"/>
            <a:ext cx="5298024"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用</a:t>
            </a:r>
            <a:r>
              <a:rPr lang="en-US" altLang="zh-CN" sz="1400" b="1" dirty="0">
                <a:latin typeface="微软雅黑" pitchFamily="34" charset="-122"/>
                <a:ea typeface="微软雅黑" pitchFamily="34" charset="-122"/>
              </a:rPr>
              <a:t> PING </a:t>
            </a:r>
            <a:r>
              <a:rPr lang="zh-CN" altLang="zh-CN" sz="1400" b="1" dirty="0">
                <a:latin typeface="微软雅黑" pitchFamily="34" charset="-122"/>
                <a:ea typeface="微软雅黑" pitchFamily="34" charset="-122"/>
              </a:rPr>
              <a:t>测试</a:t>
            </a:r>
            <a:r>
              <a:rPr lang="zh-CN" altLang="en-US" sz="1400" b="1" dirty="0">
                <a:latin typeface="微软雅黑" pitchFamily="34" charset="-122"/>
                <a:ea typeface="微软雅黑" pitchFamily="34" charset="-122"/>
              </a:rPr>
              <a:t>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的连通性</a:t>
            </a:r>
          </a:p>
        </p:txBody>
      </p:sp>
      <p:sp>
        <p:nvSpPr>
          <p:cNvPr id="2" name="标题 1">
            <a:extLst>
              <a:ext uri="{FF2B5EF4-FFF2-40B4-BE49-F238E27FC236}">
                <a16:creationId xmlns:a16="http://schemas.microsoft.com/office/drawing/2014/main" id="{B8D42235-0C2D-1A8D-8684-99DDCC2DBD2E}"/>
              </a:ext>
            </a:extLst>
          </p:cNvPr>
          <p:cNvSpPr>
            <a:spLocks noGrp="1"/>
          </p:cNvSpPr>
          <p:nvPr>
            <p:ph type="title"/>
          </p:nvPr>
        </p:nvSpPr>
        <p:spPr>
          <a:xfrm>
            <a:off x="486000" y="550723"/>
            <a:ext cx="8172000" cy="338554"/>
          </a:xfrm>
        </p:spPr>
        <p:txBody>
          <a:bodyPr/>
          <a:lstStyle/>
          <a:p>
            <a:r>
              <a:rPr lang="en-US" altLang="zh-CN" dirty="0"/>
              <a:t>PING </a:t>
            </a:r>
            <a:r>
              <a:rPr lang="zh-CN" altLang="en-US" dirty="0"/>
              <a:t>的应用举例</a:t>
            </a:r>
          </a:p>
        </p:txBody>
      </p:sp>
      <p:sp>
        <p:nvSpPr>
          <p:cNvPr id="3" name="文本框 2">
            <a:extLst>
              <a:ext uri="{FF2B5EF4-FFF2-40B4-BE49-F238E27FC236}">
                <a16:creationId xmlns:a16="http://schemas.microsoft.com/office/drawing/2014/main" id="{1736B96D-1B74-AB10-F7BA-563759E5BF0D}"/>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Tree>
    <p:extLst>
      <p:ext uri="{BB962C8B-B14F-4D97-AF65-F5344CB8AC3E}">
        <p14:creationId xmlns:p14="http://schemas.microsoft.com/office/powerpoint/2010/main" val="3004579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B54F10C-EF05-6325-2E8B-2E70F4FA3274}"/>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
        <p:nvSpPr>
          <p:cNvPr id="7" name="内容占位符 6">
            <a:extLst>
              <a:ext uri="{FF2B5EF4-FFF2-40B4-BE49-F238E27FC236}">
                <a16:creationId xmlns:a16="http://schemas.microsoft.com/office/drawing/2014/main" id="{512E3664-D17C-7D72-B302-AD2A87572830}"/>
              </a:ext>
            </a:extLst>
          </p:cNvPr>
          <p:cNvSpPr>
            <a:spLocks noGrp="1"/>
          </p:cNvSpPr>
          <p:nvPr>
            <p:ph sz="quarter" idx="11"/>
          </p:nvPr>
        </p:nvSpPr>
        <p:spPr>
          <a:xfrm>
            <a:off x="486000" y="900000"/>
            <a:ext cx="8172000" cy="3703500"/>
          </a:xfrm>
        </p:spPr>
        <p:txBody>
          <a:bodyPr/>
          <a:lstStyle/>
          <a:p>
            <a:r>
              <a:rPr lang="en-US" altLang="zh-CN" dirty="0" err="1"/>
              <a:t>Tracert</a:t>
            </a:r>
            <a:endParaRPr lang="zh-CN" altLang="en-US" dirty="0"/>
          </a:p>
          <a:p>
            <a:pPr lvl="1"/>
            <a:r>
              <a:rPr lang="zh-CN" altLang="en-US" dirty="0"/>
              <a:t>用来跟踪一个分组从源点到终点的路径</a:t>
            </a:r>
          </a:p>
          <a:p>
            <a:pPr lvl="1"/>
            <a:r>
              <a:rPr lang="zh-CN" altLang="en-US" dirty="0"/>
              <a:t>它利用 </a:t>
            </a:r>
            <a:r>
              <a:rPr lang="en-US" altLang="zh-CN" dirty="0"/>
              <a:t>IP </a:t>
            </a:r>
            <a:r>
              <a:rPr lang="zh-CN" altLang="en-US" dirty="0"/>
              <a:t>数据报中的 </a:t>
            </a:r>
            <a:r>
              <a:rPr lang="en-US" altLang="zh-CN" dirty="0"/>
              <a:t>TTL </a:t>
            </a:r>
            <a:r>
              <a:rPr lang="zh-CN" altLang="en-US" dirty="0"/>
              <a:t>字段、</a:t>
            </a:r>
            <a:r>
              <a:rPr lang="en-US" altLang="zh-CN" dirty="0"/>
              <a:t>ICMP </a:t>
            </a:r>
            <a:r>
              <a:rPr lang="zh-CN" altLang="en-US" dirty="0"/>
              <a:t>时间超过差错报告报文和</a:t>
            </a:r>
            <a:r>
              <a:rPr lang="en-US" altLang="zh-CN" dirty="0"/>
              <a:t>ICMP </a:t>
            </a:r>
            <a:r>
              <a:rPr lang="zh-CN" altLang="en-US" dirty="0"/>
              <a:t>终点不可达差错报告报文实现对从源点到终点的路径的跟踪</a:t>
            </a:r>
            <a:endParaRPr lang="en-US" altLang="zh-CN" dirty="0"/>
          </a:p>
          <a:p>
            <a:pPr lvl="1"/>
            <a:r>
              <a:rPr lang="en-US" altLang="zh-CN" dirty="0"/>
              <a:t>UNIX</a:t>
            </a:r>
            <a:r>
              <a:rPr lang="zh-CN" altLang="en-US" dirty="0"/>
              <a:t>操作系统命令是</a:t>
            </a:r>
            <a:r>
              <a:rPr lang="en-US" altLang="zh-CN" dirty="0"/>
              <a:t>Traceroute</a:t>
            </a:r>
            <a:endParaRPr lang="zh-CN" altLang="en-US" dirty="0"/>
          </a:p>
        </p:txBody>
      </p:sp>
    </p:spTree>
    <p:extLst>
      <p:ext uri="{BB962C8B-B14F-4D97-AF65-F5344CB8AC3E}">
        <p14:creationId xmlns:p14="http://schemas.microsoft.com/office/powerpoint/2010/main" val="1601099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504332" y="4353117"/>
            <a:ext cx="6151905"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用 </a:t>
            </a:r>
            <a:r>
              <a:rPr lang="en-US" altLang="zh-CN" sz="1400" b="1" dirty="0" err="1">
                <a:latin typeface="微软雅黑" pitchFamily="34" charset="-122"/>
                <a:ea typeface="微软雅黑" pitchFamily="34" charset="-122"/>
              </a:rPr>
              <a:t>tracert</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命令获得到新浪网的邮件服务器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的路由信息</a:t>
            </a:r>
          </a:p>
        </p:txBody>
      </p:sp>
      <p:sp>
        <p:nvSpPr>
          <p:cNvPr id="2" name="文本框 1">
            <a:extLst>
              <a:ext uri="{FF2B5EF4-FFF2-40B4-BE49-F238E27FC236}">
                <a16:creationId xmlns:a16="http://schemas.microsoft.com/office/drawing/2014/main" id="{AAB99540-0BA9-A3EA-573E-798791588AE3}"/>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
        <p:nvSpPr>
          <p:cNvPr id="3" name="标题 2">
            <a:extLst>
              <a:ext uri="{FF2B5EF4-FFF2-40B4-BE49-F238E27FC236}">
                <a16:creationId xmlns:a16="http://schemas.microsoft.com/office/drawing/2014/main" id="{BCFF20FA-2FDD-523F-5BEA-09D2B5669D7C}"/>
              </a:ext>
            </a:extLst>
          </p:cNvPr>
          <p:cNvSpPr>
            <a:spLocks noGrp="1"/>
          </p:cNvSpPr>
          <p:nvPr>
            <p:ph type="title"/>
          </p:nvPr>
        </p:nvSpPr>
        <p:spPr>
          <a:xfrm>
            <a:off x="486000" y="550723"/>
            <a:ext cx="8172000" cy="338554"/>
          </a:xfrm>
        </p:spPr>
        <p:txBody>
          <a:bodyPr/>
          <a:lstStyle/>
          <a:p>
            <a:r>
              <a:rPr lang="en-US" altLang="zh-CN" dirty="0"/>
              <a:t>4.4.2  ICMP </a:t>
            </a:r>
            <a:r>
              <a:rPr lang="zh-CN" altLang="en-US" dirty="0"/>
              <a:t>的应用举例</a:t>
            </a:r>
          </a:p>
        </p:txBody>
      </p:sp>
    </p:spTree>
    <p:extLst>
      <p:ext uri="{BB962C8B-B14F-4D97-AF65-F5344CB8AC3E}">
        <p14:creationId xmlns:p14="http://schemas.microsoft.com/office/powerpoint/2010/main" val="12390357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5C7F8505-9D93-0A63-3BAE-BB48A12476AD}"/>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E7B2B071-D6BC-047B-C797-F1D9B14C1F2E}"/>
              </a:ext>
            </a:extLst>
          </p:cNvPr>
          <p:cNvSpPr>
            <a:spLocks noGrp="1"/>
          </p:cNvSpPr>
          <p:nvPr>
            <p:ph type="title"/>
          </p:nvPr>
        </p:nvSpPr>
        <p:spPr>
          <a:xfrm>
            <a:off x="628650" y="1790739"/>
            <a:ext cx="4320000" cy="553998"/>
          </a:xfrm>
        </p:spPr>
        <p:txBody>
          <a:bodyPr/>
          <a:lstStyle/>
          <a:p>
            <a:r>
              <a:rPr lang="fr-FR" altLang="zh-CN" dirty="0"/>
              <a:t>4.</a:t>
            </a:r>
            <a:r>
              <a:rPr lang="en-US" altLang="zh-CN" dirty="0"/>
              <a:t>5 IPv6</a:t>
            </a:r>
            <a:endParaRPr lang="zh-CN" altLang="en-US" dirty="0"/>
          </a:p>
        </p:txBody>
      </p:sp>
      <p:sp>
        <p:nvSpPr>
          <p:cNvPr id="3" name="文本占位符 2">
            <a:extLst>
              <a:ext uri="{FF2B5EF4-FFF2-40B4-BE49-F238E27FC236}">
                <a16:creationId xmlns:a16="http://schemas.microsoft.com/office/drawing/2014/main" id="{8462FEF6-AA2E-7BF8-B358-B9E4F0479D1F}"/>
              </a:ext>
            </a:extLst>
          </p:cNvPr>
          <p:cNvSpPr>
            <a:spLocks noGrp="1"/>
          </p:cNvSpPr>
          <p:nvPr>
            <p:ph type="body" sz="quarter" idx="11"/>
          </p:nvPr>
        </p:nvSpPr>
        <p:spPr>
          <a:xfrm>
            <a:off x="628100" y="2344736"/>
            <a:ext cx="4320000" cy="1870075"/>
          </a:xfrm>
        </p:spPr>
        <p:txBody>
          <a:bodyPr/>
          <a:lstStyle/>
          <a:p>
            <a:r>
              <a:rPr lang="en-US" altLang="zh-CN" dirty="0"/>
              <a:t>· IPv6 </a:t>
            </a:r>
            <a:r>
              <a:rPr lang="zh-CN" altLang="en-US" dirty="0"/>
              <a:t>的基本首部</a:t>
            </a:r>
            <a:endParaRPr lang="en-US" altLang="zh-CN" dirty="0"/>
          </a:p>
          <a:p>
            <a:r>
              <a:rPr lang="en-US" altLang="zh-CN" dirty="0"/>
              <a:t>· IPv6 </a:t>
            </a:r>
            <a:r>
              <a:rPr lang="zh-CN" altLang="en-US" dirty="0"/>
              <a:t>的地址</a:t>
            </a:r>
            <a:endParaRPr lang="en-US" altLang="zh-CN" dirty="0"/>
          </a:p>
          <a:p>
            <a:r>
              <a:rPr lang="en-US" altLang="zh-CN" dirty="0"/>
              <a:t>·</a:t>
            </a:r>
            <a:r>
              <a:rPr lang="zh-CN" altLang="en-US" dirty="0"/>
              <a:t>从 </a:t>
            </a:r>
            <a:r>
              <a:rPr lang="en-US" altLang="zh-CN" dirty="0"/>
              <a:t>IPv4 </a:t>
            </a:r>
            <a:r>
              <a:rPr lang="zh-CN" altLang="en-US" dirty="0"/>
              <a:t>向 </a:t>
            </a:r>
            <a:r>
              <a:rPr lang="en-US" altLang="zh-CN" dirty="0"/>
              <a:t>IPv6 </a:t>
            </a:r>
            <a:r>
              <a:rPr lang="zh-CN" altLang="en-US" dirty="0"/>
              <a:t>过渡</a:t>
            </a:r>
            <a:endParaRPr lang="en-US" altLang="zh-CN" dirty="0"/>
          </a:p>
          <a:p>
            <a:r>
              <a:rPr lang="en-US" altLang="zh-CN" dirty="0"/>
              <a:t>· ICMPv6</a:t>
            </a:r>
          </a:p>
          <a:p>
            <a:endParaRPr lang="zh-CN" altLang="en-US" dirty="0"/>
          </a:p>
        </p:txBody>
      </p:sp>
    </p:spTree>
    <p:extLst>
      <p:ext uri="{BB962C8B-B14F-4D97-AF65-F5344CB8AC3E}">
        <p14:creationId xmlns:p14="http://schemas.microsoft.com/office/powerpoint/2010/main" val="38963179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EF7265B-BAE8-AB86-BBCB-169C85AC5DF8}"/>
              </a:ext>
            </a:extLst>
          </p:cNvPr>
          <p:cNvSpPr>
            <a:spLocks noGrp="1"/>
          </p:cNvSpPr>
          <p:nvPr>
            <p:ph type="title"/>
          </p:nvPr>
        </p:nvSpPr>
        <p:spPr>
          <a:xfrm>
            <a:off x="486000" y="550723"/>
            <a:ext cx="8172000" cy="338554"/>
          </a:xfrm>
        </p:spPr>
        <p:txBody>
          <a:bodyPr/>
          <a:lstStyle/>
          <a:p>
            <a:r>
              <a:rPr lang="en-US" altLang="zh-CN" dirty="0"/>
              <a:t>4.5  IPv6</a:t>
            </a:r>
            <a:endParaRPr lang="zh-CN" altLang="en-US" dirty="0"/>
          </a:p>
        </p:txBody>
      </p:sp>
      <p:sp>
        <p:nvSpPr>
          <p:cNvPr id="4" name="内容占位符 3">
            <a:extLst>
              <a:ext uri="{FF2B5EF4-FFF2-40B4-BE49-F238E27FC236}">
                <a16:creationId xmlns:a16="http://schemas.microsoft.com/office/drawing/2014/main" id="{C3A377CD-EB42-5157-04E4-1E49A1C23FF7}"/>
              </a:ext>
            </a:extLst>
          </p:cNvPr>
          <p:cNvSpPr>
            <a:spLocks noGrp="1"/>
          </p:cNvSpPr>
          <p:nvPr>
            <p:ph sz="quarter" idx="11"/>
          </p:nvPr>
        </p:nvSpPr>
        <p:spPr>
          <a:xfrm>
            <a:off x="486000" y="900000"/>
            <a:ext cx="8172000" cy="3703500"/>
          </a:xfrm>
        </p:spPr>
        <p:txBody>
          <a:bodyPr/>
          <a:lstStyle/>
          <a:p>
            <a:r>
              <a:rPr lang="en-US" altLang="zh-CN" dirty="0"/>
              <a:t>IP </a:t>
            </a:r>
            <a:r>
              <a:rPr lang="zh-CN" altLang="en-US" dirty="0"/>
              <a:t>是互联网的核心协议</a:t>
            </a:r>
          </a:p>
          <a:p>
            <a:r>
              <a:rPr lang="en-US" altLang="zh-CN" dirty="0"/>
              <a:t>IPv4 </a:t>
            </a:r>
            <a:r>
              <a:rPr lang="zh-CN" altLang="en-US" dirty="0"/>
              <a:t>地址耗尽问题：</a:t>
            </a:r>
            <a:endParaRPr lang="en-US" altLang="zh-CN" dirty="0"/>
          </a:p>
          <a:p>
            <a:pPr lvl="1"/>
            <a:r>
              <a:rPr lang="zh-CN" altLang="en-US" dirty="0"/>
              <a:t>到 </a:t>
            </a:r>
            <a:r>
              <a:rPr lang="en-US" altLang="zh-CN" dirty="0"/>
              <a:t>2011 </a:t>
            </a:r>
            <a:r>
              <a:rPr lang="zh-CN" altLang="en-US" dirty="0"/>
              <a:t>年 </a:t>
            </a:r>
            <a:r>
              <a:rPr lang="en-US" altLang="zh-CN" dirty="0"/>
              <a:t>2 </a:t>
            </a:r>
            <a:r>
              <a:rPr lang="zh-CN" altLang="en-US" dirty="0"/>
              <a:t>月，</a:t>
            </a:r>
            <a:r>
              <a:rPr lang="en-US" altLang="zh-CN" dirty="0"/>
              <a:t>IANA IPv4 </a:t>
            </a:r>
            <a:r>
              <a:rPr lang="zh-CN" altLang="en-US" dirty="0"/>
              <a:t>的 </a:t>
            </a:r>
            <a:r>
              <a:rPr lang="en-US" altLang="zh-CN" dirty="0"/>
              <a:t>32 </a:t>
            </a:r>
            <a:r>
              <a:rPr lang="zh-CN" altLang="en-US" dirty="0"/>
              <a:t>位地址已经耗尽</a:t>
            </a:r>
            <a:endParaRPr lang="en-US" altLang="zh-CN" dirty="0"/>
          </a:p>
          <a:p>
            <a:pPr lvl="1"/>
            <a:r>
              <a:rPr lang="zh-CN" altLang="en-US" dirty="0"/>
              <a:t>各地区互联网地址分配机构也相继宣布地址耗尽</a:t>
            </a:r>
          </a:p>
          <a:p>
            <a:pPr lvl="1"/>
            <a:r>
              <a:rPr lang="zh-CN" altLang="en-US" dirty="0"/>
              <a:t>我国在 </a:t>
            </a:r>
            <a:r>
              <a:rPr lang="en-US" altLang="zh-CN" dirty="0"/>
              <a:t>2014 – 2015 </a:t>
            </a:r>
            <a:r>
              <a:rPr lang="zh-CN" altLang="en-US" dirty="0"/>
              <a:t>年也逐步停止了向新用户和应用分配 </a:t>
            </a:r>
            <a:r>
              <a:rPr lang="en-US" altLang="zh-CN" dirty="0"/>
              <a:t>IPv4 </a:t>
            </a:r>
            <a:r>
              <a:rPr lang="zh-CN" altLang="en-US" dirty="0"/>
              <a:t>地址</a:t>
            </a:r>
          </a:p>
          <a:p>
            <a:r>
              <a:rPr lang="zh-CN" altLang="en-US" dirty="0"/>
              <a:t>根本解决措施：采用具有更大地址空间的新版本的 </a:t>
            </a:r>
            <a:r>
              <a:rPr lang="en-US" altLang="zh-CN" dirty="0"/>
              <a:t>IP</a:t>
            </a:r>
            <a:r>
              <a:rPr lang="zh-CN" altLang="en-US" dirty="0"/>
              <a:t>，即 </a:t>
            </a:r>
            <a:r>
              <a:rPr lang="en-US" altLang="zh-CN" dirty="0"/>
              <a:t>IPv6</a:t>
            </a:r>
            <a:endParaRPr lang="zh-CN" altLang="en-US" dirty="0"/>
          </a:p>
          <a:p>
            <a:endParaRPr lang="zh-CN" altLang="en-US" dirty="0"/>
          </a:p>
        </p:txBody>
      </p:sp>
    </p:spTree>
    <p:extLst>
      <p:ext uri="{BB962C8B-B14F-4D97-AF65-F5344CB8AC3E}">
        <p14:creationId xmlns:p14="http://schemas.microsoft.com/office/powerpoint/2010/main" val="4214158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C7D09FA-A3F0-1A6A-877A-8E3B508BC3E2}"/>
              </a:ext>
            </a:extLst>
          </p:cNvPr>
          <p:cNvSpPr>
            <a:spLocks noGrp="1"/>
          </p:cNvSpPr>
          <p:nvPr>
            <p:ph type="title"/>
          </p:nvPr>
        </p:nvSpPr>
        <p:spPr>
          <a:xfrm>
            <a:off x="486000" y="550723"/>
            <a:ext cx="8172000" cy="338554"/>
          </a:xfrm>
        </p:spPr>
        <p:txBody>
          <a:bodyPr/>
          <a:lstStyle/>
          <a:p>
            <a:r>
              <a:rPr lang="en-US" altLang="zh-CN" dirty="0"/>
              <a:t>4.5.1  IPv6 </a:t>
            </a:r>
            <a:r>
              <a:rPr lang="zh-CN" altLang="en-US" dirty="0"/>
              <a:t>的基本首部</a:t>
            </a:r>
          </a:p>
        </p:txBody>
      </p:sp>
      <p:sp>
        <p:nvSpPr>
          <p:cNvPr id="3" name="内容占位符 2">
            <a:extLst>
              <a:ext uri="{FF2B5EF4-FFF2-40B4-BE49-F238E27FC236}">
                <a16:creationId xmlns:a16="http://schemas.microsoft.com/office/drawing/2014/main" id="{EB9A386A-4819-78E4-D9F0-86BE8EC650F0}"/>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仍支持无连接的传送</a:t>
            </a:r>
            <a:endParaRPr lang="en-US" altLang="zh-CN" dirty="0"/>
          </a:p>
          <a:p>
            <a:r>
              <a:rPr lang="zh-CN" altLang="en-US" dirty="0"/>
              <a:t>将协议数据单元 </a:t>
            </a:r>
            <a:r>
              <a:rPr lang="en-US" altLang="zh-CN" dirty="0"/>
              <a:t>PDU </a:t>
            </a:r>
            <a:r>
              <a:rPr lang="zh-CN" altLang="en-US" dirty="0"/>
              <a:t>称为分组 </a:t>
            </a:r>
            <a:r>
              <a:rPr lang="en-US" altLang="zh-CN" dirty="0"/>
              <a:t>packet</a:t>
            </a:r>
            <a:endParaRPr lang="zh-CN" altLang="en-US" dirty="0"/>
          </a:p>
          <a:p>
            <a:r>
              <a:rPr lang="zh-CN" altLang="en-US" dirty="0"/>
              <a:t>主要变化</a:t>
            </a:r>
          </a:p>
          <a:p>
            <a:pPr lvl="1"/>
            <a:r>
              <a:rPr lang="zh-CN" altLang="en-US" dirty="0"/>
              <a:t>更大的地址空间。</a:t>
            </a:r>
            <a:r>
              <a:rPr lang="en-US" altLang="zh-CN" dirty="0"/>
              <a:t> </a:t>
            </a:r>
            <a:r>
              <a:rPr lang="zh-CN" altLang="en-US" dirty="0"/>
              <a:t>将地址从 </a:t>
            </a:r>
            <a:r>
              <a:rPr lang="en-US" altLang="zh-CN" dirty="0"/>
              <a:t>IPv4 </a:t>
            </a:r>
            <a:r>
              <a:rPr lang="zh-CN" altLang="en-US" dirty="0"/>
              <a:t>的 </a:t>
            </a:r>
            <a:r>
              <a:rPr lang="en-US" altLang="zh-CN" dirty="0"/>
              <a:t>32 </a:t>
            </a:r>
            <a:r>
              <a:rPr lang="zh-CN" altLang="en-US" dirty="0"/>
              <a:t>位 增大到了 </a:t>
            </a:r>
            <a:r>
              <a:rPr lang="en-US" altLang="zh-CN" dirty="0"/>
              <a:t>128 </a:t>
            </a:r>
            <a:r>
              <a:rPr lang="zh-CN" altLang="en-US" dirty="0"/>
              <a:t>位</a:t>
            </a:r>
          </a:p>
          <a:p>
            <a:pPr lvl="1"/>
            <a:r>
              <a:rPr lang="zh-CN" altLang="en-US" dirty="0"/>
              <a:t>扩展的地址层次结构。可以划分为更多的层次</a:t>
            </a:r>
          </a:p>
          <a:p>
            <a:pPr lvl="1"/>
            <a:r>
              <a:rPr lang="zh-CN" altLang="en-US" dirty="0"/>
              <a:t>灵活的首部格式。定义了许多可选的扩展首部</a:t>
            </a:r>
          </a:p>
          <a:p>
            <a:pPr lvl="1"/>
            <a:r>
              <a:rPr lang="zh-CN" altLang="en-US" dirty="0"/>
              <a:t>改进的选项。允许数据报包含有选项的控制信息，其选项放在有效载荷中</a:t>
            </a:r>
            <a:endParaRPr lang="en-US" altLang="zh-CN" dirty="0"/>
          </a:p>
          <a:p>
            <a:pPr lvl="1"/>
            <a:r>
              <a:rPr lang="zh-CN" altLang="en-US" dirty="0"/>
              <a:t>允许协议继续扩充。更好地适应新的应用</a:t>
            </a:r>
          </a:p>
          <a:p>
            <a:pPr lvl="1"/>
            <a:r>
              <a:rPr lang="zh-CN" altLang="en-US" dirty="0"/>
              <a:t>支持即插即用（即自动配置）。不需要使用 </a:t>
            </a:r>
            <a:r>
              <a:rPr lang="en-US" altLang="zh-CN" dirty="0"/>
              <a:t>DHCP</a:t>
            </a:r>
            <a:endParaRPr lang="zh-CN" altLang="en-US" dirty="0"/>
          </a:p>
          <a:p>
            <a:pPr lvl="1"/>
            <a:r>
              <a:rPr lang="zh-CN" altLang="en-US" dirty="0"/>
              <a:t>支持资源的预分配。支持实时视像等要求保证一定的带宽和时延的应用</a:t>
            </a:r>
          </a:p>
          <a:p>
            <a:pPr lvl="1"/>
            <a:r>
              <a:rPr lang="en-US" altLang="zh-CN" dirty="0"/>
              <a:t>IPv6 </a:t>
            </a:r>
            <a:r>
              <a:rPr lang="zh-CN" altLang="en-US" dirty="0"/>
              <a:t>首部改为 </a:t>
            </a:r>
            <a:r>
              <a:rPr lang="en-US" altLang="zh-CN" dirty="0"/>
              <a:t>8 </a:t>
            </a:r>
            <a:r>
              <a:rPr lang="zh-CN" altLang="en-US" dirty="0"/>
              <a:t>字节对齐。首部长度必须是 </a:t>
            </a:r>
            <a:r>
              <a:rPr lang="en-US" altLang="zh-CN" dirty="0"/>
              <a:t>8 </a:t>
            </a:r>
            <a:r>
              <a:rPr lang="zh-CN" altLang="en-US" dirty="0"/>
              <a:t>字节的整数倍</a:t>
            </a:r>
          </a:p>
        </p:txBody>
      </p:sp>
    </p:spTree>
    <p:extLst>
      <p:ext uri="{BB962C8B-B14F-4D97-AF65-F5344CB8AC3E}">
        <p14:creationId xmlns:p14="http://schemas.microsoft.com/office/powerpoint/2010/main" val="1972310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 name="组合 37"/>
          <p:cNvGrpSpPr/>
          <p:nvPr/>
        </p:nvGrpSpPr>
        <p:grpSpPr>
          <a:xfrm>
            <a:off x="1688153" y="2690135"/>
            <a:ext cx="5586407" cy="1680982"/>
            <a:chOff x="1688153" y="2730775"/>
            <a:chExt cx="5586407" cy="1680982"/>
          </a:xfrm>
        </p:grpSpPr>
        <p:sp>
          <p:nvSpPr>
            <p:cNvPr id="5" name="Rectangle 2"/>
            <p:cNvSpPr>
              <a:spLocks noChangeArrowheads="1"/>
            </p:cNvSpPr>
            <p:nvPr/>
          </p:nvSpPr>
          <p:spPr bwMode="auto">
            <a:xfrm>
              <a:off x="2725001" y="3008694"/>
              <a:ext cx="4548321" cy="373441"/>
            </a:xfrm>
            <a:prstGeom prst="rect">
              <a:avLst/>
            </a:prstGeom>
            <a:solidFill>
              <a:srgbClr val="0000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6" name="Rectangle 30"/>
            <p:cNvSpPr>
              <a:spLocks noChangeArrowheads="1"/>
            </p:cNvSpPr>
            <p:nvPr/>
          </p:nvSpPr>
          <p:spPr bwMode="auto">
            <a:xfrm>
              <a:off x="3541048" y="3761052"/>
              <a:ext cx="3732273" cy="372323"/>
            </a:xfrm>
            <a:prstGeom prst="rect">
              <a:avLst/>
            </a:prstGeom>
            <a:solidFill>
              <a:srgbClr val="00FF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7" name="Line 3"/>
            <p:cNvSpPr>
              <a:spLocks noChangeShapeType="1"/>
            </p:cNvSpPr>
            <p:nvPr/>
          </p:nvSpPr>
          <p:spPr bwMode="auto">
            <a:xfrm>
              <a:off x="353733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8" name="Line 4"/>
            <p:cNvSpPr>
              <a:spLocks noChangeShapeType="1"/>
            </p:cNvSpPr>
            <p:nvPr/>
          </p:nvSpPr>
          <p:spPr bwMode="auto">
            <a:xfrm>
              <a:off x="407228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9" name="Line 5"/>
            <p:cNvSpPr>
              <a:spLocks noChangeShapeType="1"/>
            </p:cNvSpPr>
            <p:nvPr/>
          </p:nvSpPr>
          <p:spPr bwMode="auto">
            <a:xfrm>
              <a:off x="4410343"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0" name="Line 6"/>
            <p:cNvSpPr>
              <a:spLocks noChangeShapeType="1"/>
            </p:cNvSpPr>
            <p:nvPr/>
          </p:nvSpPr>
          <p:spPr bwMode="auto">
            <a:xfrm>
              <a:off x="4971299"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 name="Text Box 15"/>
            <p:cNvSpPr txBox="1">
              <a:spLocks noChangeArrowheads="1"/>
            </p:cNvSpPr>
            <p:nvPr/>
          </p:nvSpPr>
          <p:spPr bwMode="auto">
            <a:xfrm>
              <a:off x="2636456" y="3062081"/>
              <a:ext cx="999889"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zh-CN" altLang="en-US" sz="1400" b="1" dirty="0">
                  <a:solidFill>
                    <a:schemeClr val="bg1"/>
                  </a:solidFill>
                  <a:latin typeface="微软雅黑" pitchFamily="34" charset="-122"/>
                  <a:ea typeface="微软雅黑" pitchFamily="34" charset="-122"/>
                </a:rPr>
                <a:t>基本首部</a:t>
              </a:r>
            </a:p>
          </p:txBody>
        </p:sp>
        <p:sp>
          <p:nvSpPr>
            <p:cNvPr id="12" name="Text Box 16"/>
            <p:cNvSpPr txBox="1">
              <a:spLocks noChangeArrowheads="1"/>
            </p:cNvSpPr>
            <p:nvPr/>
          </p:nvSpPr>
          <p:spPr bwMode="auto">
            <a:xfrm>
              <a:off x="3499559" y="3758003"/>
              <a:ext cx="659018"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1</a:t>
              </a:r>
            </a:p>
          </p:txBody>
        </p:sp>
        <p:sp>
          <p:nvSpPr>
            <p:cNvPr id="13" name="Text Box 17"/>
            <p:cNvSpPr txBox="1">
              <a:spLocks noChangeArrowheads="1"/>
            </p:cNvSpPr>
            <p:nvPr/>
          </p:nvSpPr>
          <p:spPr bwMode="auto">
            <a:xfrm>
              <a:off x="4340305" y="3749058"/>
              <a:ext cx="696301"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N</a:t>
              </a:r>
            </a:p>
          </p:txBody>
        </p:sp>
        <p:sp>
          <p:nvSpPr>
            <p:cNvPr id="14" name="Text Box 18"/>
            <p:cNvSpPr txBox="1">
              <a:spLocks noChangeArrowheads="1"/>
            </p:cNvSpPr>
            <p:nvPr/>
          </p:nvSpPr>
          <p:spPr bwMode="auto">
            <a:xfrm>
              <a:off x="4033335" y="3786109"/>
              <a:ext cx="40159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99"/>
                  </a:solidFill>
                  <a:latin typeface="微软雅黑" pitchFamily="34" charset="-122"/>
                  <a:ea typeface="微软雅黑" pitchFamily="34" charset="-122"/>
                </a:rPr>
                <a:t> …</a:t>
              </a:r>
            </a:p>
          </p:txBody>
        </p:sp>
        <p:sp>
          <p:nvSpPr>
            <p:cNvPr id="15" name="Text Box 19"/>
            <p:cNvSpPr txBox="1">
              <a:spLocks noChangeArrowheads="1"/>
            </p:cNvSpPr>
            <p:nvPr/>
          </p:nvSpPr>
          <p:spPr bwMode="auto">
            <a:xfrm>
              <a:off x="5462456" y="3829410"/>
              <a:ext cx="1383371"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latin typeface="微软雅黑" pitchFamily="34" charset="-122"/>
                  <a:ea typeface="微软雅黑" pitchFamily="34" charset="-122"/>
                </a:rPr>
                <a:t>数    据    部    分</a:t>
              </a:r>
            </a:p>
          </p:txBody>
        </p:sp>
        <p:sp>
          <p:nvSpPr>
            <p:cNvPr id="16" name="Line 22"/>
            <p:cNvSpPr>
              <a:spLocks noChangeShapeType="1"/>
            </p:cNvSpPr>
            <p:nvPr/>
          </p:nvSpPr>
          <p:spPr bwMode="auto">
            <a:xfrm>
              <a:off x="3511329" y="4268663"/>
              <a:ext cx="1459971"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7" name="Text Box 23"/>
            <p:cNvSpPr txBox="1">
              <a:spLocks noChangeArrowheads="1"/>
            </p:cNvSpPr>
            <p:nvPr/>
          </p:nvSpPr>
          <p:spPr bwMode="auto">
            <a:xfrm>
              <a:off x="4012845" y="4150147"/>
              <a:ext cx="516988"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选项</a:t>
              </a:r>
            </a:p>
          </p:txBody>
        </p:sp>
        <p:grpSp>
          <p:nvGrpSpPr>
            <p:cNvPr id="18" name="组合 26"/>
            <p:cNvGrpSpPr>
              <a:grpSpLocks/>
            </p:cNvGrpSpPr>
            <p:nvPr/>
          </p:nvGrpSpPr>
          <p:grpSpPr bwMode="auto">
            <a:xfrm>
              <a:off x="2725001" y="2784185"/>
              <a:ext cx="4549559" cy="191192"/>
              <a:chOff x="1331640" y="1700808"/>
              <a:chExt cx="5832648" cy="344488"/>
            </a:xfrm>
          </p:grpSpPr>
          <p:sp>
            <p:nvSpPr>
              <p:cNvPr id="19" name="Line 25"/>
              <p:cNvSpPr>
                <a:spLocks noChangeShapeType="1"/>
              </p:cNvSpPr>
              <p:nvPr/>
            </p:nvSpPr>
            <p:spPr bwMode="auto">
              <a:xfrm>
                <a:off x="1331640" y="170080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0" name="Line 26"/>
              <p:cNvSpPr>
                <a:spLocks noChangeShapeType="1"/>
              </p:cNvSpPr>
              <p:nvPr/>
            </p:nvSpPr>
            <p:spPr bwMode="auto">
              <a:xfrm>
                <a:off x="7164288" y="170715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grpSp>
        <p:sp>
          <p:nvSpPr>
            <p:cNvPr id="21" name="Line 27"/>
            <p:cNvSpPr>
              <a:spLocks noChangeShapeType="1"/>
            </p:cNvSpPr>
            <p:nvPr/>
          </p:nvSpPr>
          <p:spPr bwMode="auto">
            <a:xfrm flipV="1">
              <a:off x="2725001" y="2876985"/>
              <a:ext cx="4540890"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2" name="Text Box 28"/>
            <p:cNvSpPr txBox="1">
              <a:spLocks noChangeArrowheads="1"/>
            </p:cNvSpPr>
            <p:nvPr/>
          </p:nvSpPr>
          <p:spPr bwMode="auto">
            <a:xfrm>
              <a:off x="4487119" y="2730775"/>
              <a:ext cx="1062029"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FF"/>
                  </a:solidFill>
                  <a:latin typeface="微软雅黑" pitchFamily="34" charset="-122"/>
                  <a:ea typeface="微软雅黑" pitchFamily="34" charset="-122"/>
                </a:rPr>
                <a:t>IPv6 </a:t>
              </a:r>
              <a:r>
                <a:rPr lang="zh-CN" altLang="en-US" sz="1100" b="1" dirty="0">
                  <a:solidFill>
                    <a:srgbClr val="0000FF"/>
                  </a:solidFill>
                  <a:latin typeface="微软雅黑" pitchFamily="34" charset="-122"/>
                  <a:ea typeface="微软雅黑" pitchFamily="34" charset="-122"/>
                </a:rPr>
                <a:t>数据报</a:t>
              </a:r>
            </a:p>
          </p:txBody>
        </p:sp>
        <p:cxnSp>
          <p:nvCxnSpPr>
            <p:cNvPr id="23" name="直接连接符 32"/>
            <p:cNvCxnSpPr>
              <a:cxnSpLocks noChangeShapeType="1"/>
            </p:cNvCxnSpPr>
            <p:nvPr/>
          </p:nvCxnSpPr>
          <p:spPr bwMode="auto">
            <a:xfrm>
              <a:off x="3545017"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24" name="直接连接符 34"/>
            <p:cNvCxnSpPr>
              <a:cxnSpLocks noChangeShapeType="1"/>
            </p:cNvCxnSpPr>
            <p:nvPr/>
          </p:nvCxnSpPr>
          <p:spPr bwMode="auto">
            <a:xfrm>
              <a:off x="7273321"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sp>
          <p:nvSpPr>
            <p:cNvPr id="25" name="Text Box 23"/>
            <p:cNvSpPr txBox="1">
              <a:spLocks noChangeArrowheads="1"/>
            </p:cNvSpPr>
            <p:nvPr/>
          </p:nvSpPr>
          <p:spPr bwMode="auto">
            <a:xfrm>
              <a:off x="2771341" y="3398014"/>
              <a:ext cx="728084" cy="276999"/>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200" b="1" dirty="0">
                  <a:solidFill>
                    <a:srgbClr val="CC0099"/>
                  </a:solidFill>
                  <a:latin typeface="微软雅黑" pitchFamily="34" charset="-122"/>
                  <a:ea typeface="微软雅黑" pitchFamily="34" charset="-122"/>
                </a:rPr>
                <a:t>40 </a:t>
              </a:r>
              <a:r>
                <a:rPr lang="zh-CN" altLang="en-US" sz="1200" b="1" dirty="0">
                  <a:solidFill>
                    <a:srgbClr val="CC0099"/>
                  </a:solidFill>
                  <a:latin typeface="微软雅黑" pitchFamily="34" charset="-122"/>
                  <a:ea typeface="微软雅黑" pitchFamily="34" charset="-122"/>
                </a:rPr>
                <a:t>字节</a:t>
              </a:r>
            </a:p>
          </p:txBody>
        </p:sp>
        <p:sp>
          <p:nvSpPr>
            <p:cNvPr id="26" name="Line 27"/>
            <p:cNvSpPr>
              <a:spLocks noChangeShapeType="1"/>
            </p:cNvSpPr>
            <p:nvPr/>
          </p:nvSpPr>
          <p:spPr bwMode="auto">
            <a:xfrm>
              <a:off x="3539810" y="3541129"/>
              <a:ext cx="3734750" cy="3355"/>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7" name="Text Box 23"/>
            <p:cNvSpPr txBox="1">
              <a:spLocks noChangeArrowheads="1"/>
            </p:cNvSpPr>
            <p:nvPr/>
          </p:nvSpPr>
          <p:spPr bwMode="auto">
            <a:xfrm>
              <a:off x="4593614" y="3412550"/>
              <a:ext cx="1557357"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a:solidFill>
                    <a:srgbClr val="0000FF"/>
                  </a:solidFill>
                  <a:latin typeface="微软雅黑" pitchFamily="34" charset="-122"/>
                  <a:ea typeface="微软雅黑" pitchFamily="34" charset="-122"/>
                </a:rPr>
                <a:t>不超过 </a:t>
              </a:r>
              <a:r>
                <a:rPr lang="en-US" altLang="zh-CN" sz="1100" b="1">
                  <a:solidFill>
                    <a:srgbClr val="0000FF"/>
                  </a:solidFill>
                  <a:latin typeface="微软雅黑" pitchFamily="34" charset="-122"/>
                  <a:ea typeface="微软雅黑" pitchFamily="34" charset="-122"/>
                </a:rPr>
                <a:t>65535 </a:t>
              </a:r>
              <a:r>
                <a:rPr lang="zh-CN" altLang="en-US" sz="1100" b="1">
                  <a:solidFill>
                    <a:srgbClr val="0000FF"/>
                  </a:solidFill>
                  <a:latin typeface="微软雅黑" pitchFamily="34" charset="-122"/>
                  <a:ea typeface="微软雅黑" pitchFamily="34" charset="-122"/>
                </a:rPr>
                <a:t>字节</a:t>
              </a:r>
            </a:p>
          </p:txBody>
        </p:sp>
        <p:sp>
          <p:nvSpPr>
            <p:cNvPr id="28" name="右箭头 28"/>
            <p:cNvSpPr>
              <a:spLocks noChangeArrowheads="1"/>
            </p:cNvSpPr>
            <p:nvPr/>
          </p:nvSpPr>
          <p:spPr bwMode="auto">
            <a:xfrm rot="10800000">
              <a:off x="2162806" y="3119157"/>
              <a:ext cx="562194" cy="143115"/>
            </a:xfrm>
            <a:prstGeom prst="rightArrow">
              <a:avLst>
                <a:gd name="adj1" fmla="val 50000"/>
                <a:gd name="adj2" fmla="val 162073"/>
              </a:avLst>
            </a:prstGeom>
            <a:solidFill>
              <a:srgbClr val="FF00FF"/>
            </a:solidFill>
            <a:ln w="9525" algn="ctr">
              <a:solidFill>
                <a:schemeClr val="tx1"/>
              </a:solidFill>
              <a:round/>
              <a:headEnd/>
              <a:tailEnd/>
            </a:ln>
          </p:spPr>
          <p:txBody>
            <a:bodyPr/>
            <a:lstStyle/>
            <a:p>
              <a:endParaRPr lang="zh-CN" altLang="en-US" sz="11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1688153" y="3337862"/>
              <a:ext cx="82945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发送在前</a:t>
              </a:r>
            </a:p>
          </p:txBody>
        </p:sp>
        <p:sp>
          <p:nvSpPr>
            <p:cNvPr id="30" name="Line 3"/>
            <p:cNvSpPr>
              <a:spLocks noChangeShapeType="1"/>
            </p:cNvSpPr>
            <p:nvPr/>
          </p:nvSpPr>
          <p:spPr bwMode="auto">
            <a:xfrm>
              <a:off x="3537334" y="3006684"/>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31" name="矩形 30"/>
            <p:cNvSpPr/>
            <p:nvPr/>
          </p:nvSpPr>
          <p:spPr bwMode="auto">
            <a:xfrm>
              <a:off x="3543525" y="3017865"/>
              <a:ext cx="3722367" cy="362260"/>
            </a:xfrm>
            <a:prstGeom prst="rect">
              <a:avLst/>
            </a:prstGeom>
            <a:solidFill>
              <a:srgbClr val="99FFCC"/>
            </a:solidFill>
            <a:ln w="9525" cap="flat" cmpd="sng" algn="ctr">
              <a:noFill/>
              <a:prstDash val="solid"/>
              <a:round/>
              <a:headEnd type="none" w="med" len="med"/>
              <a:tailEnd type="none" w="med" len="med"/>
            </a:ln>
            <a:effectLst/>
          </p:spPr>
          <p:txBody>
            <a:bodyPr/>
            <a:lstStyle/>
            <a:p>
              <a:pPr>
                <a:defRPr/>
              </a:pPr>
              <a:endParaRPr lang="zh-CN" altLang="en-US" sz="1100" b="1">
                <a:solidFill>
                  <a:srgbClr val="000099"/>
                </a:solidFill>
                <a:latin typeface="微软雅黑" pitchFamily="34" charset="-122"/>
                <a:ea typeface="微软雅黑" pitchFamily="34" charset="-122"/>
              </a:endParaRPr>
            </a:p>
          </p:txBody>
        </p:sp>
        <p:sp>
          <p:nvSpPr>
            <p:cNvPr id="32" name="Text Box 33"/>
            <p:cNvSpPr txBox="1">
              <a:spLocks noChangeArrowheads="1"/>
            </p:cNvSpPr>
            <p:nvPr/>
          </p:nvSpPr>
          <p:spPr bwMode="auto">
            <a:xfrm>
              <a:off x="3894722" y="3046735"/>
              <a:ext cx="311882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r>
                <a:rPr lang="zh-CN" altLang="en-US" sz="1400" b="1" dirty="0">
                  <a:latin typeface="微软雅黑" pitchFamily="34" charset="-122"/>
                  <a:ea typeface="微软雅黑" pitchFamily="34" charset="-122"/>
                </a:rPr>
                <a:t>有     效     载     荷</a:t>
              </a:r>
            </a:p>
          </p:txBody>
        </p:sp>
      </p:grpSp>
      <p:sp>
        <p:nvSpPr>
          <p:cNvPr id="33" name="标题 32">
            <a:extLst>
              <a:ext uri="{FF2B5EF4-FFF2-40B4-BE49-F238E27FC236}">
                <a16:creationId xmlns:a16="http://schemas.microsoft.com/office/drawing/2014/main" id="{C52D1B8B-7381-1BF3-4664-17C7A8F52CDD}"/>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数据报的一般形式</a:t>
            </a:r>
          </a:p>
        </p:txBody>
      </p:sp>
      <p:sp>
        <p:nvSpPr>
          <p:cNvPr id="34" name="内容占位符 33">
            <a:extLst>
              <a:ext uri="{FF2B5EF4-FFF2-40B4-BE49-F238E27FC236}">
                <a16:creationId xmlns:a16="http://schemas.microsoft.com/office/drawing/2014/main" id="{5E8737AB-86E0-AEF1-252D-06C412E6E46D}"/>
              </a:ext>
            </a:extLst>
          </p:cNvPr>
          <p:cNvSpPr>
            <a:spLocks noGrp="1"/>
          </p:cNvSpPr>
          <p:nvPr>
            <p:ph sz="quarter" idx="11"/>
          </p:nvPr>
        </p:nvSpPr>
        <p:spPr>
          <a:xfrm>
            <a:off x="486000" y="900000"/>
            <a:ext cx="8172000" cy="3703500"/>
          </a:xfrm>
        </p:spPr>
        <p:txBody>
          <a:bodyPr/>
          <a:lstStyle/>
          <a:p>
            <a:r>
              <a:rPr lang="zh-CN" altLang="en-US" dirty="0"/>
              <a:t>由两大部分组成：</a:t>
            </a:r>
          </a:p>
          <a:p>
            <a:pPr lvl="1"/>
            <a:r>
              <a:rPr lang="zh-CN" altLang="en-US" dirty="0"/>
              <a:t>基本首部 </a:t>
            </a:r>
            <a:r>
              <a:rPr lang="en-US" altLang="zh-CN" dirty="0"/>
              <a:t>(base header)</a:t>
            </a:r>
          </a:p>
          <a:p>
            <a:pPr lvl="1"/>
            <a:r>
              <a:rPr lang="zh-CN" altLang="en-US" dirty="0"/>
              <a:t>有效载荷 </a:t>
            </a:r>
            <a:r>
              <a:rPr lang="en-US" altLang="zh-CN" dirty="0"/>
              <a:t>(payload)</a:t>
            </a:r>
            <a:r>
              <a:rPr lang="zh-CN" altLang="en-US" dirty="0"/>
              <a:t>。有效载荷也称为净负荷。有效载荷允许有零个或多个扩展首部 </a:t>
            </a:r>
            <a:r>
              <a:rPr lang="en-US" altLang="zh-CN" dirty="0"/>
              <a:t>(extension header)</a:t>
            </a:r>
            <a:r>
              <a:rPr lang="zh-CN" altLang="en-US" dirty="0"/>
              <a:t>，再后面是数据部分。</a:t>
            </a:r>
          </a:p>
          <a:p>
            <a:endParaRPr lang="zh-CN" altLang="en-US" dirty="0"/>
          </a:p>
        </p:txBody>
      </p:sp>
    </p:spTree>
    <p:extLst>
      <p:ext uri="{BB962C8B-B14F-4D97-AF65-F5344CB8AC3E}">
        <p14:creationId xmlns:p14="http://schemas.microsoft.com/office/powerpoint/2010/main" val="1017495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A453A58-ACC5-0944-F51F-F5E998B1F008}"/>
              </a:ext>
            </a:extLst>
          </p:cNvPr>
          <p:cNvSpPr>
            <a:spLocks noGrp="1"/>
          </p:cNvSpPr>
          <p:nvPr>
            <p:ph type="title"/>
          </p:nvPr>
        </p:nvSpPr>
        <p:spPr>
          <a:xfrm>
            <a:off x="486000" y="550723"/>
            <a:ext cx="8172000" cy="338554"/>
          </a:xfrm>
        </p:spPr>
        <p:txBody>
          <a:bodyPr/>
          <a:lstStyle/>
          <a:p>
            <a:r>
              <a:rPr lang="en-US" altLang="zh-CN" dirty="0"/>
              <a:t>IPv6 </a:t>
            </a:r>
            <a:r>
              <a:rPr lang="zh-CN" altLang="en-US" dirty="0"/>
              <a:t>数据报的基本首部</a:t>
            </a:r>
          </a:p>
        </p:txBody>
      </p:sp>
      <p:sp>
        <p:nvSpPr>
          <p:cNvPr id="7" name="内容占位符 6">
            <a:extLst>
              <a:ext uri="{FF2B5EF4-FFF2-40B4-BE49-F238E27FC236}">
                <a16:creationId xmlns:a16="http://schemas.microsoft.com/office/drawing/2014/main" id="{007A8ADC-D942-7EF9-A0BA-B20B733E77BE}"/>
              </a:ext>
            </a:extLst>
          </p:cNvPr>
          <p:cNvSpPr>
            <a:spLocks noGrp="1"/>
          </p:cNvSpPr>
          <p:nvPr>
            <p:ph sz="quarter" idx="11"/>
          </p:nvPr>
        </p:nvSpPr>
        <p:spPr>
          <a:xfrm>
            <a:off x="486000" y="900000"/>
            <a:ext cx="8172000" cy="3703500"/>
          </a:xfrm>
        </p:spPr>
        <p:txBody>
          <a:bodyPr/>
          <a:lstStyle/>
          <a:p>
            <a:r>
              <a:rPr lang="zh-CN" altLang="en-US" dirty="0"/>
              <a:t>首部长度：固定的 </a:t>
            </a:r>
            <a:r>
              <a:rPr lang="en-US" altLang="zh-CN" dirty="0"/>
              <a:t>40 </a:t>
            </a:r>
            <a:r>
              <a:rPr lang="zh-CN" altLang="en-US" dirty="0"/>
              <a:t>字节，称为基本首部。</a:t>
            </a:r>
          </a:p>
          <a:p>
            <a:r>
              <a:rPr lang="zh-CN" altLang="en-US" dirty="0"/>
              <a:t>首部字段数：只有 </a:t>
            </a:r>
            <a:r>
              <a:rPr lang="en-US" altLang="zh-CN" dirty="0"/>
              <a:t>8 </a:t>
            </a:r>
            <a:r>
              <a:rPr lang="zh-CN" altLang="en-US" dirty="0"/>
              <a:t>个。</a:t>
            </a:r>
          </a:p>
          <a:p>
            <a:endParaRPr lang="zh-CN" altLang="en-US" dirty="0"/>
          </a:p>
        </p:txBody>
      </p:sp>
      <p:graphicFrame>
        <p:nvGraphicFramePr>
          <p:cNvPr id="35" name="表格 34"/>
          <p:cNvGraphicFramePr>
            <a:graphicFrameLocks noGrp="1"/>
          </p:cNvGraphicFramePr>
          <p:nvPr>
            <p:extLst>
              <p:ext uri="{D42A27DB-BD31-4B8C-83A1-F6EECF244321}">
                <p14:modId xmlns:p14="http://schemas.microsoft.com/office/powerpoint/2010/main" val="2902904346"/>
              </p:ext>
            </p:extLst>
          </p:nvPr>
        </p:nvGraphicFramePr>
        <p:xfrm>
          <a:off x="729313" y="2152261"/>
          <a:ext cx="7685374" cy="1822831"/>
        </p:xfrm>
        <a:graphic>
          <a:graphicData uri="http://schemas.openxmlformats.org/drawingml/2006/table">
            <a:tbl>
              <a:tblPr firstRow="1" bandRow="1">
                <a:tableStyleId>{5C22544A-7EE6-4342-B048-85BDC9FD1C3A}</a:tableStyleId>
              </a:tblPr>
              <a:tblGrid>
                <a:gridCol w="3599373">
                  <a:extLst>
                    <a:ext uri="{9D8B030D-6E8A-4147-A177-3AD203B41FA5}">
                      <a16:colId xmlns:a16="http://schemas.microsoft.com/office/drawing/2014/main" val="20000"/>
                    </a:ext>
                  </a:extLst>
                </a:gridCol>
                <a:gridCol w="4086001">
                  <a:extLst>
                    <a:ext uri="{9D8B030D-6E8A-4147-A177-3AD203B41FA5}">
                      <a16:colId xmlns:a16="http://schemas.microsoft.com/office/drawing/2014/main" val="20001"/>
                    </a:ext>
                  </a:extLst>
                </a:gridCol>
              </a:tblGrid>
              <a:tr h="1257129">
                <a:tc>
                  <a:txBody>
                    <a:bodyPr/>
                    <a:lstStyle/>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取消了首部长度字段</a:t>
                      </a:r>
                      <a:r>
                        <a:rPr lang="zh-CN" altLang="en-US" sz="1400" b="0" kern="1200" dirty="0">
                          <a:solidFill>
                            <a:schemeClr val="tx1"/>
                          </a:solidFill>
                          <a:latin typeface="微软雅黑" pitchFamily="34" charset="-122"/>
                          <a:ea typeface="微软雅黑" pitchFamily="34" charset="-122"/>
                          <a:cs typeface="+mn-cs"/>
                        </a:rPr>
                        <a:t>；</a:t>
                      </a:r>
                      <a:endParaRPr lang="en-US" altLang="zh-CN" sz="1400" b="0" kern="1200" dirty="0">
                        <a:solidFill>
                          <a:schemeClr val="tx1"/>
                        </a:solidFill>
                        <a:latin typeface="微软雅黑" pitchFamily="34" charset="-122"/>
                        <a:ea typeface="微软雅黑" pitchFamily="34" charset="-122"/>
                        <a:cs typeface="+mn-cs"/>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取消了服务类型字段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取消了总长度字段</a:t>
                      </a:r>
                      <a:r>
                        <a:rPr lang="zh-CN" altLang="en-US" sz="1400" b="0" dirty="0">
                          <a:solidFill>
                            <a:schemeClr val="tx1"/>
                          </a:solidFill>
                          <a:latin typeface="微软雅黑" pitchFamily="34" charset="-122"/>
                          <a:ea typeface="微软雅黑" pitchFamily="34" charset="-122"/>
                        </a:rPr>
                        <a:t>，</a:t>
                      </a:r>
                      <a:r>
                        <a:rPr lang="zh-CN" altLang="zh-CN" sz="1400" b="0" dirty="0">
                          <a:solidFill>
                            <a:schemeClr val="tx1"/>
                          </a:solidFill>
                          <a:latin typeface="微软雅黑" pitchFamily="34" charset="-122"/>
                          <a:ea typeface="微软雅黑" pitchFamily="34" charset="-122"/>
                        </a:rPr>
                        <a:t>改用有效载荷长度字段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marR="0" lvl="0" indent="-342900" algn="l" defTabSz="914400" rtl="0" eaLnBrk="1" fontAlgn="auto" latinLnBrk="0" hangingPunct="1">
                        <a:lnSpc>
                          <a:spcPts val="2800"/>
                        </a:lnSpc>
                        <a:spcBef>
                          <a:spcPts val="0"/>
                        </a:spcBef>
                        <a:spcAft>
                          <a:spcPts val="0"/>
                        </a:spcAft>
                        <a:buClr>
                          <a:srgbClr val="CC00CC"/>
                        </a:buClr>
                        <a:buSzPct val="80000"/>
                        <a:buFont typeface="Wingdings" pitchFamily="2" charset="2"/>
                        <a:buChar char="l"/>
                        <a:tabLst/>
                        <a:defRPr/>
                      </a:pPr>
                      <a:r>
                        <a:rPr lang="zh-CN" altLang="zh-CN" sz="1400" b="0" dirty="0">
                          <a:solidFill>
                            <a:schemeClr val="tx1"/>
                          </a:solidFill>
                          <a:latin typeface="微软雅黑" pitchFamily="34" charset="-122"/>
                          <a:ea typeface="微软雅黑" pitchFamily="34" charset="-122"/>
                        </a:rPr>
                        <a:t>把</a:t>
                      </a:r>
                      <a:r>
                        <a:rPr lang="en-US" altLang="zh-CN" sz="1400" b="0" dirty="0">
                          <a:solidFill>
                            <a:schemeClr val="tx1"/>
                          </a:solidFill>
                          <a:latin typeface="微软雅黑" pitchFamily="34" charset="-122"/>
                          <a:ea typeface="微软雅黑" pitchFamily="34" charset="-122"/>
                        </a:rPr>
                        <a:t> TTL </a:t>
                      </a:r>
                      <a:r>
                        <a:rPr lang="zh-CN" altLang="zh-CN" sz="1400" b="0" dirty="0">
                          <a:solidFill>
                            <a:schemeClr val="tx1"/>
                          </a:solidFill>
                          <a:latin typeface="微软雅黑" pitchFamily="34" charset="-122"/>
                          <a:ea typeface="微软雅黑" pitchFamily="34" charset="-122"/>
                        </a:rPr>
                        <a:t>字段改称为跳数限制字段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取消了协议字段，改用下一个首部字段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取消了检验和字段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取消了选项字段，而用扩展首部来实现选项功能。</a:t>
                      </a:r>
                      <a:endParaRPr lang="zh-CN" altLang="en-US" sz="1400" b="0" dirty="0">
                        <a:solidFill>
                          <a:schemeClr val="tx1"/>
                        </a:solidFill>
                        <a:latin typeface="微软雅黑" pitchFamily="34" charset="-122"/>
                        <a:ea typeface="微软雅黑" pitchFamily="34" charset="-122"/>
                      </a:endParaRPr>
                    </a:p>
                  </a:txBody>
                  <a:tcPr marL="1800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5" name="矩形 4"/>
          <p:cNvSpPr/>
          <p:nvPr/>
        </p:nvSpPr>
        <p:spPr>
          <a:xfrm>
            <a:off x="2012171" y="1803249"/>
            <a:ext cx="5119659" cy="369332"/>
          </a:xfrm>
          <a:prstGeom prst="rect">
            <a:avLst/>
          </a:prstGeom>
        </p:spPr>
        <p:txBody>
          <a:bodyPr wrap="square">
            <a:spAutoFit/>
          </a:bodyPr>
          <a:lstStyle/>
          <a:p>
            <a:pPr algn="ctr">
              <a:buClr>
                <a:srgbClr val="0070C0"/>
              </a:buClr>
            </a:pPr>
            <a:r>
              <a:rPr lang="en-US" altLang="zh-CN" dirty="0">
                <a:latin typeface="微软雅黑" pitchFamily="34" charset="-122"/>
                <a:ea typeface="微软雅黑" pitchFamily="34" charset="-122"/>
              </a:rPr>
              <a:t>IPv6 </a:t>
            </a:r>
            <a:r>
              <a:rPr lang="zh-CN" altLang="en-US" dirty="0">
                <a:latin typeface="微软雅黑" pitchFamily="34" charset="-122"/>
                <a:ea typeface="微软雅黑" pitchFamily="34" charset="-122"/>
              </a:rPr>
              <a:t>对首部的主要</a:t>
            </a:r>
            <a:r>
              <a:rPr lang="zh-CN" altLang="en-US" dirty="0">
                <a:solidFill>
                  <a:srgbClr val="0000FF"/>
                </a:solidFill>
                <a:latin typeface="微软雅黑" pitchFamily="34" charset="-122"/>
                <a:ea typeface="微软雅黑" pitchFamily="34" charset="-122"/>
              </a:rPr>
              <a:t>更改</a:t>
            </a:r>
            <a:endParaRPr lang="zh-CN" altLang="en-US" dirty="0">
              <a:latin typeface="微软雅黑" pitchFamily="34" charset="-122"/>
              <a:ea typeface="微软雅黑" pitchFamily="34" charset="-122"/>
            </a:endParaRPr>
          </a:p>
        </p:txBody>
      </p:sp>
    </p:spTree>
    <p:extLst>
      <p:ext uri="{BB962C8B-B14F-4D97-AF65-F5344CB8AC3E}">
        <p14:creationId xmlns:p14="http://schemas.microsoft.com/office/powerpoint/2010/main" val="3940674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3148312"/>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Rectangle 36"/>
          <p:cNvSpPr>
            <a:spLocks noChangeArrowheads="1"/>
          </p:cNvSpPr>
          <p:nvPr/>
        </p:nvSpPr>
        <p:spPr bwMode="auto">
          <a:xfrm>
            <a:off x="2652176" y="3196060"/>
            <a:ext cx="4005293" cy="779486"/>
          </a:xfrm>
          <a:prstGeom prst="rect">
            <a:avLst/>
          </a:prstGeom>
          <a:solidFill>
            <a:srgbClr val="00FFFF"/>
          </a:solidFill>
          <a:ln w="12700">
            <a:no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37"/>
          <p:cNvSpPr>
            <a:spLocks noChangeArrowheads="1"/>
          </p:cNvSpPr>
          <p:nvPr/>
        </p:nvSpPr>
        <p:spPr bwMode="auto">
          <a:xfrm>
            <a:off x="3453252" y="3245272"/>
            <a:ext cx="2194513" cy="274434"/>
          </a:xfrm>
          <a:prstGeom prst="rect">
            <a:avLst/>
          </a:prstGeom>
          <a:noFill/>
          <a:ln>
            <a:noFill/>
          </a:ln>
          <a:effec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有效载荷（扩展首部 </a:t>
            </a: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数据）</a:t>
            </a:r>
          </a:p>
        </p:txBody>
      </p:sp>
      <p:sp>
        <p:nvSpPr>
          <p:cNvPr id="39" name="Freeform 38"/>
          <p:cNvSpPr>
            <a:spLocks/>
          </p:cNvSpPr>
          <p:nvPr/>
        </p:nvSpPr>
        <p:spPr bwMode="auto">
          <a:xfrm>
            <a:off x="2585177" y="3550792"/>
            <a:ext cx="4090642" cy="165495"/>
          </a:xfrm>
          <a:custGeom>
            <a:avLst/>
            <a:gdLst>
              <a:gd name="T0" fmla="*/ 0 w 4778"/>
              <a:gd name="T1" fmla="*/ 203 h 214"/>
              <a:gd name="T2" fmla="*/ 475 w 4778"/>
              <a:gd name="T3" fmla="*/ 34 h 214"/>
              <a:gd name="T4" fmla="*/ 926 w 4778"/>
              <a:gd name="T5" fmla="*/ 214 h 214"/>
              <a:gd name="T6" fmla="*/ 1265 w 4778"/>
              <a:gd name="T7" fmla="*/ 113 h 214"/>
              <a:gd name="T8" fmla="*/ 1717 w 4778"/>
              <a:gd name="T9" fmla="*/ 214 h 214"/>
              <a:gd name="T10" fmla="*/ 2056 w 4778"/>
              <a:gd name="T11" fmla="*/ 68 h 214"/>
              <a:gd name="T12" fmla="*/ 2361 w 4778"/>
              <a:gd name="T13" fmla="*/ 169 h 214"/>
              <a:gd name="T14" fmla="*/ 2677 w 4778"/>
              <a:gd name="T15" fmla="*/ 68 h 214"/>
              <a:gd name="T16" fmla="*/ 2869 w 4778"/>
              <a:gd name="T17" fmla="*/ 180 h 214"/>
              <a:gd name="T18" fmla="*/ 3332 w 4778"/>
              <a:gd name="T19" fmla="*/ 11 h 214"/>
              <a:gd name="T20" fmla="*/ 3818 w 4778"/>
              <a:gd name="T21" fmla="*/ 192 h 214"/>
              <a:gd name="T22" fmla="*/ 3908 w 4778"/>
              <a:gd name="T23" fmla="*/ 11 h 214"/>
              <a:gd name="T24" fmla="*/ 4089 w 4778"/>
              <a:gd name="T25" fmla="*/ 180 h 214"/>
              <a:gd name="T26" fmla="*/ 4303 w 4778"/>
              <a:gd name="T27" fmla="*/ 11 h 214"/>
              <a:gd name="T28" fmla="*/ 4507 w 4778"/>
              <a:gd name="T29" fmla="*/ 135 h 214"/>
              <a:gd name="T30" fmla="*/ 4778 w 4778"/>
              <a:gd name="T31" fmla="*/ 0 h 214"/>
              <a:gd name="connsiteX0" fmla="*/ 0 w 9905"/>
              <a:gd name="connsiteY0" fmla="*/ 8972 h 9486"/>
              <a:gd name="connsiteX1" fmla="*/ 994 w 9905"/>
              <a:gd name="connsiteY1" fmla="*/ 1075 h 9486"/>
              <a:gd name="connsiteX2" fmla="*/ 1938 w 9905"/>
              <a:gd name="connsiteY2" fmla="*/ 9486 h 9486"/>
              <a:gd name="connsiteX3" fmla="*/ 2648 w 9905"/>
              <a:gd name="connsiteY3" fmla="*/ 4766 h 9486"/>
              <a:gd name="connsiteX4" fmla="*/ 3594 w 9905"/>
              <a:gd name="connsiteY4" fmla="*/ 9486 h 9486"/>
              <a:gd name="connsiteX5" fmla="*/ 4303 w 9905"/>
              <a:gd name="connsiteY5" fmla="*/ 2664 h 9486"/>
              <a:gd name="connsiteX6" fmla="*/ 4941 w 9905"/>
              <a:gd name="connsiteY6" fmla="*/ 7383 h 9486"/>
              <a:gd name="connsiteX7" fmla="*/ 5603 w 9905"/>
              <a:gd name="connsiteY7" fmla="*/ 2664 h 9486"/>
              <a:gd name="connsiteX8" fmla="*/ 6005 w 9905"/>
              <a:gd name="connsiteY8" fmla="*/ 7897 h 9486"/>
              <a:gd name="connsiteX9" fmla="*/ 6974 w 9905"/>
              <a:gd name="connsiteY9" fmla="*/ 0 h 9486"/>
              <a:gd name="connsiteX10" fmla="*/ 7991 w 9905"/>
              <a:gd name="connsiteY10" fmla="*/ 8458 h 9486"/>
              <a:gd name="connsiteX11" fmla="*/ 8179 w 9905"/>
              <a:gd name="connsiteY11" fmla="*/ 0 h 9486"/>
              <a:gd name="connsiteX12" fmla="*/ 8558 w 9905"/>
              <a:gd name="connsiteY12" fmla="*/ 7897 h 9486"/>
              <a:gd name="connsiteX13" fmla="*/ 9006 w 9905"/>
              <a:gd name="connsiteY13" fmla="*/ 0 h 9486"/>
              <a:gd name="connsiteX14" fmla="*/ 9433 w 9905"/>
              <a:gd name="connsiteY14" fmla="*/ 5794 h 9486"/>
              <a:gd name="connsiteX15" fmla="*/ 9905 w 9905"/>
              <a:gd name="connsiteY15" fmla="*/ 1778 h 9486"/>
              <a:gd name="connsiteX0" fmla="*/ 0 w 9828"/>
              <a:gd name="connsiteY0" fmla="*/ 9517 h 10059"/>
              <a:gd name="connsiteX1" fmla="*/ 1004 w 9828"/>
              <a:gd name="connsiteY1" fmla="*/ 1192 h 10059"/>
              <a:gd name="connsiteX2" fmla="*/ 1957 w 9828"/>
              <a:gd name="connsiteY2" fmla="*/ 10059 h 10059"/>
              <a:gd name="connsiteX3" fmla="*/ 2673 w 9828"/>
              <a:gd name="connsiteY3" fmla="*/ 5083 h 10059"/>
              <a:gd name="connsiteX4" fmla="*/ 3628 w 9828"/>
              <a:gd name="connsiteY4" fmla="*/ 10059 h 10059"/>
              <a:gd name="connsiteX5" fmla="*/ 4344 w 9828"/>
              <a:gd name="connsiteY5" fmla="*/ 2867 h 10059"/>
              <a:gd name="connsiteX6" fmla="*/ 4988 w 9828"/>
              <a:gd name="connsiteY6" fmla="*/ 7842 h 10059"/>
              <a:gd name="connsiteX7" fmla="*/ 5657 w 9828"/>
              <a:gd name="connsiteY7" fmla="*/ 2867 h 10059"/>
              <a:gd name="connsiteX8" fmla="*/ 6063 w 9828"/>
              <a:gd name="connsiteY8" fmla="*/ 8384 h 10059"/>
              <a:gd name="connsiteX9" fmla="*/ 7041 w 9828"/>
              <a:gd name="connsiteY9" fmla="*/ 59 h 10059"/>
              <a:gd name="connsiteX10" fmla="*/ 8068 w 9828"/>
              <a:gd name="connsiteY10" fmla="*/ 8975 h 10059"/>
              <a:gd name="connsiteX11" fmla="*/ 8257 w 9828"/>
              <a:gd name="connsiteY11" fmla="*/ 59 h 10059"/>
              <a:gd name="connsiteX12" fmla="*/ 8640 w 9828"/>
              <a:gd name="connsiteY12" fmla="*/ 8384 h 10059"/>
              <a:gd name="connsiteX13" fmla="*/ 9092 w 9828"/>
              <a:gd name="connsiteY13" fmla="*/ 59 h 10059"/>
              <a:gd name="connsiteX14" fmla="*/ 9523 w 9828"/>
              <a:gd name="connsiteY14" fmla="*/ 6167 h 10059"/>
              <a:gd name="connsiteX15" fmla="*/ 9828 w 9828"/>
              <a:gd name="connsiteY15" fmla="*/ 0 h 10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9828" h="10059">
                <a:moveTo>
                  <a:pt x="0" y="9517"/>
                </a:moveTo>
                <a:lnTo>
                  <a:pt x="1004" y="1192"/>
                </a:lnTo>
                <a:lnTo>
                  <a:pt x="1957" y="10059"/>
                </a:lnTo>
                <a:cubicBezTo>
                  <a:pt x="2196" y="8401"/>
                  <a:pt x="2434" y="6741"/>
                  <a:pt x="2673" y="5083"/>
                </a:cubicBezTo>
                <a:lnTo>
                  <a:pt x="3628" y="10059"/>
                </a:lnTo>
                <a:cubicBezTo>
                  <a:pt x="3867" y="7662"/>
                  <a:pt x="4106" y="5265"/>
                  <a:pt x="4344" y="2867"/>
                </a:cubicBezTo>
                <a:lnTo>
                  <a:pt x="4988" y="7842"/>
                </a:lnTo>
                <a:cubicBezTo>
                  <a:pt x="5212" y="6184"/>
                  <a:pt x="5434" y="4526"/>
                  <a:pt x="5657" y="2867"/>
                </a:cubicBezTo>
                <a:cubicBezTo>
                  <a:pt x="5792" y="4706"/>
                  <a:pt x="5928" y="6545"/>
                  <a:pt x="6063" y="8384"/>
                </a:cubicBezTo>
                <a:lnTo>
                  <a:pt x="7041" y="59"/>
                </a:lnTo>
                <a:lnTo>
                  <a:pt x="8068" y="8975"/>
                </a:lnTo>
                <a:cubicBezTo>
                  <a:pt x="8131" y="6004"/>
                  <a:pt x="8194" y="3031"/>
                  <a:pt x="8257" y="59"/>
                </a:cubicBezTo>
                <a:cubicBezTo>
                  <a:pt x="8385" y="2834"/>
                  <a:pt x="8513" y="5609"/>
                  <a:pt x="8640" y="8384"/>
                </a:cubicBezTo>
                <a:cubicBezTo>
                  <a:pt x="8791" y="5609"/>
                  <a:pt x="8942" y="2834"/>
                  <a:pt x="9092" y="59"/>
                </a:cubicBezTo>
                <a:cubicBezTo>
                  <a:pt x="9236" y="2095"/>
                  <a:pt x="9380" y="4131"/>
                  <a:pt x="9523" y="6167"/>
                </a:cubicBezTo>
                <a:cubicBezTo>
                  <a:pt x="9714" y="3950"/>
                  <a:pt x="9637" y="2217"/>
                  <a:pt x="9828" y="0"/>
                </a:cubicBezTo>
              </a:path>
            </a:pathLst>
          </a:custGeom>
          <a:noFill/>
          <a:ln w="57150" cap="flat" cmpd="sng">
            <a:solidFill>
              <a:schemeClr val="bg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41"/>
          <p:cNvSpPr>
            <a:spLocks/>
          </p:cNvSpPr>
          <p:nvPr/>
        </p:nvSpPr>
        <p:spPr bwMode="auto">
          <a:xfrm>
            <a:off x="2482170" y="3194210"/>
            <a:ext cx="126778" cy="801164"/>
          </a:xfrm>
          <a:prstGeom prst="leftBrace">
            <a:avLst>
              <a:gd name="adj1" fmla="val 5266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48" name="组合 47"/>
          <p:cNvGrpSpPr/>
          <p:nvPr/>
        </p:nvGrpSpPr>
        <p:grpSpPr>
          <a:xfrm>
            <a:off x="1711709" y="840899"/>
            <a:ext cx="4966450" cy="2333062"/>
            <a:chOff x="1711709" y="840899"/>
            <a:chExt cx="4966450" cy="2333062"/>
          </a:xfrm>
        </p:grpSpPr>
        <p:sp>
          <p:nvSpPr>
            <p:cNvPr id="40"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3" name="Rectangle 43"/>
            <p:cNvSpPr>
              <a:spLocks noChangeArrowheads="1"/>
            </p:cNvSpPr>
            <p:nvPr/>
          </p:nvSpPr>
          <p:spPr bwMode="auto">
            <a:xfrm>
              <a:off x="2635360" y="840899"/>
              <a:ext cx="4042799" cy="2333062"/>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4" name="矩形 43"/>
          <p:cNvSpPr/>
          <p:nvPr/>
        </p:nvSpPr>
        <p:spPr>
          <a:xfrm>
            <a:off x="3308876" y="4049822"/>
            <a:ext cx="2624501" cy="307777"/>
          </a:xfrm>
          <a:prstGeom prst="rect">
            <a:avLst/>
          </a:prstGeom>
        </p:spPr>
        <p:txBody>
          <a:bodyPr wrap="square">
            <a:spAutoFit/>
          </a:bodyPr>
          <a:lstStyle/>
          <a:p>
            <a:pPr algn="ctr"/>
            <a:endParaRPr lang="zh-CN" altLang="en-US" sz="1400" b="1" dirty="0">
              <a:latin typeface="微软雅黑" pitchFamily="34" charset="-122"/>
              <a:ea typeface="微软雅黑" pitchFamily="34" charset="-122"/>
            </a:endParaRPr>
          </a:p>
        </p:txBody>
      </p:sp>
      <p:sp>
        <p:nvSpPr>
          <p:cNvPr id="46" name="矩形 45"/>
          <p:cNvSpPr/>
          <p:nvPr/>
        </p:nvSpPr>
        <p:spPr>
          <a:xfrm>
            <a:off x="3382347" y="4008475"/>
            <a:ext cx="2395207"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40 </a:t>
            </a:r>
            <a:r>
              <a:rPr lang="zh-CN" altLang="zh-CN" sz="1400" b="1" dirty="0">
                <a:latin typeface="微软雅黑" pitchFamily="34" charset="-122"/>
                <a:ea typeface="微软雅黑" pitchFamily="34" charset="-122"/>
              </a:rPr>
              <a:t>字节长的</a:t>
            </a:r>
            <a:r>
              <a:rPr lang="en-US" altLang="zh-CN" sz="1400" b="1" dirty="0">
                <a:latin typeface="微软雅黑" pitchFamily="34" charset="-122"/>
                <a:ea typeface="微软雅黑" pitchFamily="34" charset="-122"/>
              </a:rPr>
              <a:t> IPv6 </a:t>
            </a:r>
            <a:r>
              <a:rPr lang="zh-CN" altLang="zh-CN" sz="1400" b="1" dirty="0">
                <a:latin typeface="微软雅黑" pitchFamily="34" charset="-122"/>
                <a:ea typeface="微软雅黑" pitchFamily="34" charset="-122"/>
              </a:rPr>
              <a:t>基本首部</a:t>
            </a:r>
            <a:endParaRPr lang="zh-CN" altLang="en-US" sz="1400" b="1" dirty="0">
              <a:latin typeface="微软雅黑" pitchFamily="34" charset="-122"/>
              <a:ea typeface="微软雅黑" pitchFamily="34" charset="-122"/>
            </a:endParaRPr>
          </a:p>
        </p:txBody>
      </p:sp>
      <p:sp>
        <p:nvSpPr>
          <p:cNvPr id="47" name="Rectangle 42"/>
          <p:cNvSpPr>
            <a:spLocks noChangeArrowheads="1"/>
          </p:cNvSpPr>
          <p:nvPr/>
        </p:nvSpPr>
        <p:spPr bwMode="auto">
          <a:xfrm>
            <a:off x="1570819" y="3290066"/>
            <a:ext cx="1056379"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有效载荷</a:t>
            </a:r>
          </a:p>
          <a:p>
            <a:pPr algn="ctr" defTabSz="762000" eaLnBrk="0" hangingPunct="0"/>
            <a:r>
              <a:rPr kumimoji="1" lang="zh-CN" altLang="en-US" sz="1100" b="1" dirty="0">
                <a:solidFill>
                  <a:srgbClr val="0000CC"/>
                </a:solidFill>
                <a:latin typeface="微软雅黑" pitchFamily="34" charset="-122"/>
                <a:ea typeface="微软雅黑" pitchFamily="34" charset="-122"/>
              </a:rPr>
              <a:t>（至 </a:t>
            </a:r>
            <a:r>
              <a:rPr kumimoji="1" lang="en-US" altLang="zh-CN" sz="1100" b="1" dirty="0">
                <a:solidFill>
                  <a:srgbClr val="0000CC"/>
                </a:solidFill>
                <a:latin typeface="微软雅黑" pitchFamily="34" charset="-122"/>
                <a:ea typeface="微软雅黑" pitchFamily="34" charset="-122"/>
              </a:rPr>
              <a:t>64 KB</a:t>
            </a:r>
            <a:r>
              <a:rPr kumimoji="1" lang="zh-CN" altLang="en-US" sz="1100" b="1" dirty="0">
                <a:solidFill>
                  <a:srgbClr val="0000CC"/>
                </a:solidFill>
                <a:latin typeface="微软雅黑" pitchFamily="34" charset="-122"/>
                <a:ea typeface="微软雅黑" pitchFamily="34" charset="-122"/>
              </a:rPr>
              <a:t>）</a:t>
            </a:r>
          </a:p>
        </p:txBody>
      </p:sp>
    </p:spTree>
    <p:extLst>
      <p:ext uri="{BB962C8B-B14F-4D97-AF65-F5344CB8AC3E}">
        <p14:creationId xmlns:p14="http://schemas.microsoft.com/office/powerpoint/2010/main" val="18214349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nodeType="afterEffect">
                                  <p:stCondLst>
                                    <p:cond delay="0"/>
                                  </p:stCondLst>
                                  <p:endCondLst>
                                    <p:cond evt="onNext" delay="0">
                                      <p:tgtEl>
                                        <p:sldTgt/>
                                      </p:tgtEl>
                                    </p:cond>
                                  </p:endCondLst>
                                  <p:childTnLst>
                                    <p:anim calcmode="discrete" valueType="str">
                                      <p:cBhvr>
                                        <p:cTn id="6"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4" name="Rectangle 43"/>
          <p:cNvSpPr>
            <a:spLocks noChangeArrowheads="1"/>
          </p:cNvSpPr>
          <p:nvPr/>
        </p:nvSpPr>
        <p:spPr bwMode="auto">
          <a:xfrm>
            <a:off x="2635360" y="840900"/>
            <a:ext cx="499187"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对角圆角矩形 47"/>
          <p:cNvSpPr/>
          <p:nvPr/>
        </p:nvSpPr>
        <p:spPr>
          <a:xfrm>
            <a:off x="1885750" y="3392007"/>
            <a:ext cx="5394293"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2086918" y="3435469"/>
            <a:ext cx="5060049"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(version)—— 4 </a:t>
            </a:r>
            <a:r>
              <a:rPr lang="zh-CN" altLang="en-US" sz="1600" b="1" dirty="0">
                <a:solidFill>
                  <a:schemeClr val="bg1"/>
                </a:solidFill>
                <a:latin typeface="微软雅黑" pitchFamily="34" charset="-122"/>
                <a:ea typeface="微软雅黑" pitchFamily="34" charset="-122"/>
              </a:rPr>
              <a:t>位。它指明了协议的版本，对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该字段总是 </a:t>
            </a:r>
            <a:r>
              <a:rPr lang="en-US" altLang="zh-CN" sz="1600" b="1" dirty="0">
                <a:solidFill>
                  <a:schemeClr val="bg1"/>
                </a:solidFill>
                <a:latin typeface="微软雅黑" pitchFamily="34" charset="-122"/>
                <a:ea typeface="微软雅黑" pitchFamily="34" charset="-122"/>
              </a:rPr>
              <a:t>6</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12022254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3134547" y="840900"/>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68955"/>
            <a:ext cx="6998676"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42" name="矩形 41"/>
          <p:cNvSpPr/>
          <p:nvPr/>
        </p:nvSpPr>
        <p:spPr>
          <a:xfrm>
            <a:off x="1169377" y="3412417"/>
            <a:ext cx="6875585"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通信量类</a:t>
            </a:r>
            <a:r>
              <a:rPr lang="en-US" altLang="zh-CN" sz="1600" b="1" dirty="0">
                <a:solidFill>
                  <a:schemeClr val="bg1"/>
                </a:solidFill>
                <a:latin typeface="微软雅黑" pitchFamily="34" charset="-122"/>
                <a:ea typeface="微软雅黑" pitchFamily="34" charset="-122"/>
              </a:rPr>
              <a:t>(traffic class)—— 8 </a:t>
            </a:r>
            <a:r>
              <a:rPr lang="zh-CN" altLang="en-US" sz="1600" b="1" dirty="0">
                <a:solidFill>
                  <a:schemeClr val="bg1"/>
                </a:solidFill>
                <a:latin typeface="微软雅黑" pitchFamily="34" charset="-122"/>
                <a:ea typeface="微软雅黑" pitchFamily="34" charset="-122"/>
              </a:rPr>
              <a:t>位。这是为了区分不同的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数据报的类别或优先级。目前正在进行不同的通信量类性能的实验。 </a:t>
            </a:r>
          </a:p>
        </p:txBody>
      </p:sp>
    </p:spTree>
    <p:extLst>
      <p:ext uri="{BB962C8B-B14F-4D97-AF65-F5344CB8AC3E}">
        <p14:creationId xmlns:p14="http://schemas.microsoft.com/office/powerpoint/2010/main" val="6014489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4142605" y="840900"/>
            <a:ext cx="2524894"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流标号</a:t>
            </a:r>
            <a:r>
              <a:rPr lang="en-US" altLang="zh-CN" sz="1600" b="1" dirty="0">
                <a:solidFill>
                  <a:schemeClr val="bg1"/>
                </a:solidFill>
                <a:latin typeface="微软雅黑" pitchFamily="34" charset="-122"/>
                <a:ea typeface="微软雅黑" pitchFamily="34" charset="-122"/>
              </a:rPr>
              <a:t>(flow label)—— 20 </a:t>
            </a:r>
            <a:r>
              <a:rPr lang="zh-CN" altLang="en-US" sz="1600" b="1" dirty="0">
                <a:solidFill>
                  <a:schemeClr val="bg1"/>
                </a:solidFill>
                <a:latin typeface="微软雅黑" pitchFamily="34" charset="-122"/>
                <a:ea typeface="微软雅黑" pitchFamily="34" charset="-122"/>
              </a:rPr>
              <a:t>位。 “流”是互联网络上从特定源点到特定终点的一系列数据报， “流”所经过的路径上的路由器都保证指明的服务质量。所有属于同一个流的数据报都具有同样的流标号。 </a:t>
            </a:r>
          </a:p>
        </p:txBody>
      </p:sp>
    </p:spTree>
    <p:extLst>
      <p:ext uri="{BB962C8B-B14F-4D97-AF65-F5344CB8AC3E}">
        <p14:creationId xmlns:p14="http://schemas.microsoft.com/office/powerpoint/2010/main" val="2391077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2630958" y="1071593"/>
            <a:ext cx="2029323"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306286" y="3344153"/>
            <a:ext cx="6615581"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有效载荷长度</a:t>
            </a:r>
            <a:r>
              <a:rPr lang="en-US" altLang="zh-CN" sz="1600" b="1" dirty="0">
                <a:solidFill>
                  <a:schemeClr val="bg1"/>
                </a:solidFill>
                <a:latin typeface="微软雅黑" pitchFamily="34" charset="-122"/>
                <a:ea typeface="微软雅黑" pitchFamily="34" charset="-122"/>
              </a:rPr>
              <a:t>(payload length)—— 16 </a:t>
            </a:r>
            <a:r>
              <a:rPr lang="zh-CN" altLang="en-US" sz="1600" b="1" dirty="0">
                <a:solidFill>
                  <a:schemeClr val="bg1"/>
                </a:solidFill>
                <a:latin typeface="微软雅黑" pitchFamily="34" charset="-122"/>
                <a:ea typeface="微软雅黑" pitchFamily="34" charset="-122"/>
              </a:rPr>
              <a:t>位。它指明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数据报除基本首部以外的字节数（所有扩展首部都算在有效载荷之内），其最大值是 </a:t>
            </a:r>
            <a:r>
              <a:rPr lang="en-US" altLang="zh-CN" sz="1600" b="1" dirty="0">
                <a:solidFill>
                  <a:schemeClr val="bg1"/>
                </a:solidFill>
                <a:latin typeface="微软雅黑" pitchFamily="34" charset="-122"/>
                <a:ea typeface="微软雅黑" pitchFamily="34" charset="-122"/>
              </a:rPr>
              <a:t>64 KB</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529938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4656760" y="1062913"/>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84324"/>
            <a:ext cx="7198682" cy="537774"/>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27785"/>
            <a:ext cx="7075591" cy="438582"/>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下一个首部</a:t>
            </a:r>
            <a:r>
              <a:rPr lang="en-US" altLang="zh-CN" sz="1600" b="1" dirty="0">
                <a:solidFill>
                  <a:schemeClr val="bg1"/>
                </a:solidFill>
                <a:latin typeface="微软雅黑" pitchFamily="34" charset="-122"/>
                <a:ea typeface="微软雅黑" pitchFamily="34" charset="-122"/>
              </a:rPr>
              <a:t>(next header)—— 8 </a:t>
            </a:r>
            <a:r>
              <a:rPr lang="zh-CN" altLang="en-US" sz="1600" b="1" dirty="0">
                <a:solidFill>
                  <a:schemeClr val="bg1"/>
                </a:solidFill>
                <a:latin typeface="微软雅黑" pitchFamily="34" charset="-122"/>
                <a:ea typeface="微软雅黑" pitchFamily="34" charset="-122"/>
              </a:rPr>
              <a:t>位。相当于 </a:t>
            </a:r>
            <a:r>
              <a:rPr lang="en-US" altLang="zh-CN" sz="1600" b="1" dirty="0">
                <a:solidFill>
                  <a:schemeClr val="bg1"/>
                </a:solidFill>
                <a:latin typeface="微软雅黑" pitchFamily="34" charset="-122"/>
                <a:ea typeface="微软雅黑" pitchFamily="34" charset="-122"/>
              </a:rPr>
              <a:t>IPv4 </a:t>
            </a:r>
            <a:r>
              <a:rPr lang="zh-CN" altLang="en-US" sz="1600" b="1" dirty="0">
                <a:solidFill>
                  <a:schemeClr val="bg1"/>
                </a:solidFill>
                <a:latin typeface="微软雅黑" pitchFamily="34" charset="-122"/>
                <a:ea typeface="微软雅黑" pitchFamily="34" charset="-122"/>
              </a:rPr>
              <a:t>的协议字段或可选字段。 </a:t>
            </a:r>
          </a:p>
        </p:txBody>
      </p:sp>
    </p:spTree>
    <p:extLst>
      <p:ext uri="{BB962C8B-B14F-4D97-AF65-F5344CB8AC3E}">
        <p14:creationId xmlns:p14="http://schemas.microsoft.com/office/powerpoint/2010/main" val="18075798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0257"/>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5669221" y="1059683"/>
            <a:ext cx="998278"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跳数限制</a:t>
            </a:r>
            <a:r>
              <a:rPr lang="en-US" altLang="zh-CN" sz="1600" b="1" dirty="0">
                <a:solidFill>
                  <a:schemeClr val="bg1"/>
                </a:solidFill>
                <a:latin typeface="微软雅黑" pitchFamily="34" charset="-122"/>
                <a:ea typeface="微软雅黑" pitchFamily="34" charset="-122"/>
              </a:rPr>
              <a:t>(hop limit)—— 8 </a:t>
            </a:r>
            <a:r>
              <a:rPr lang="zh-CN" altLang="en-US" sz="1600" b="1" dirty="0">
                <a:solidFill>
                  <a:schemeClr val="bg1"/>
                </a:solidFill>
                <a:latin typeface="微软雅黑" pitchFamily="34" charset="-122"/>
                <a:ea typeface="微软雅黑" pitchFamily="34" charset="-122"/>
              </a:rPr>
              <a:t>位。源站在数据报发出时即设定跳数限制。路由器在转发数据报时将跳数限制字段中的值减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。当跳数限制的值为零时，就要将此数据报丢弃。 </a:t>
            </a:r>
          </a:p>
        </p:txBody>
      </p:sp>
    </p:spTree>
    <p:extLst>
      <p:ext uri="{BB962C8B-B14F-4D97-AF65-F5344CB8AC3E}">
        <p14:creationId xmlns:p14="http://schemas.microsoft.com/office/powerpoint/2010/main" val="36740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2630515" y="1300662"/>
            <a:ext cx="4035411" cy="93127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源地址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位。是数据报的发送站的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 </a:t>
            </a:r>
          </a:p>
        </p:txBody>
      </p:sp>
    </p:spTree>
    <p:extLst>
      <p:ext uri="{BB962C8B-B14F-4D97-AF65-F5344CB8AC3E}">
        <p14:creationId xmlns:p14="http://schemas.microsoft.com/office/powerpoint/2010/main" val="2995642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flipV="1">
            <a:off x="2630514" y="2231931"/>
            <a:ext cx="4035411" cy="942029"/>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对角圆角矩形 42"/>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目的地址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位。是数据报的接收站的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a:t>
            </a:r>
          </a:p>
        </p:txBody>
      </p:sp>
    </p:spTree>
    <p:extLst>
      <p:ext uri="{BB962C8B-B14F-4D97-AF65-F5344CB8AC3E}">
        <p14:creationId xmlns:p14="http://schemas.microsoft.com/office/powerpoint/2010/main" val="2166826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A63C551-C42C-5ACE-2C95-3EF5D29616A8}"/>
              </a:ext>
            </a:extLst>
          </p:cNvPr>
          <p:cNvSpPr>
            <a:spLocks noGrp="1"/>
          </p:cNvSpPr>
          <p:nvPr>
            <p:ph type="title"/>
          </p:nvPr>
        </p:nvSpPr>
        <p:spPr>
          <a:xfrm>
            <a:off x="486000" y="550723"/>
            <a:ext cx="8172000" cy="338554"/>
          </a:xfrm>
        </p:spPr>
        <p:txBody>
          <a:bodyPr/>
          <a:lstStyle/>
          <a:p>
            <a:r>
              <a:rPr lang="en-US" altLang="zh-CN" dirty="0"/>
              <a:t>IPv6 </a:t>
            </a:r>
            <a:r>
              <a:rPr lang="zh-CN" altLang="en-US" dirty="0"/>
              <a:t>的六种扩展首部</a:t>
            </a:r>
          </a:p>
        </p:txBody>
      </p:sp>
      <p:sp>
        <p:nvSpPr>
          <p:cNvPr id="6" name="内容占位符 5">
            <a:extLst>
              <a:ext uri="{FF2B5EF4-FFF2-40B4-BE49-F238E27FC236}">
                <a16:creationId xmlns:a16="http://schemas.microsoft.com/office/drawing/2014/main" id="{6A49FB16-81E4-61C4-908C-4AA2952E6793}"/>
              </a:ext>
            </a:extLst>
          </p:cNvPr>
          <p:cNvSpPr>
            <a:spLocks noGrp="1"/>
          </p:cNvSpPr>
          <p:nvPr>
            <p:ph sz="quarter" idx="11"/>
          </p:nvPr>
        </p:nvSpPr>
        <p:spPr>
          <a:xfrm>
            <a:off x="486000" y="900000"/>
            <a:ext cx="8172000" cy="3703500"/>
          </a:xfrm>
        </p:spPr>
        <p:txBody>
          <a:bodyPr/>
          <a:lstStyle/>
          <a:p>
            <a:r>
              <a:rPr lang="zh-CN" altLang="en-US" dirty="0"/>
              <a:t>逐跳选项</a:t>
            </a:r>
          </a:p>
          <a:p>
            <a:r>
              <a:rPr lang="zh-CN" altLang="en-US" dirty="0"/>
              <a:t>路由选择</a:t>
            </a:r>
          </a:p>
          <a:p>
            <a:r>
              <a:rPr lang="zh-CN" altLang="en-US" dirty="0"/>
              <a:t>分片</a:t>
            </a:r>
          </a:p>
          <a:p>
            <a:r>
              <a:rPr lang="zh-CN" altLang="en-US" dirty="0"/>
              <a:t>鉴别</a:t>
            </a:r>
          </a:p>
          <a:p>
            <a:r>
              <a:rPr lang="zh-CN" altLang="en-US" dirty="0"/>
              <a:t>封装安全有效载荷</a:t>
            </a:r>
          </a:p>
          <a:p>
            <a:r>
              <a:rPr lang="zh-CN" altLang="en-US" dirty="0"/>
              <a:t>目的站选项 </a:t>
            </a:r>
          </a:p>
          <a:p>
            <a:endParaRPr lang="zh-CN" altLang="en-US" dirty="0"/>
          </a:p>
        </p:txBody>
      </p:sp>
    </p:spTree>
    <p:extLst>
      <p:ext uri="{BB962C8B-B14F-4D97-AF65-F5344CB8AC3E}">
        <p14:creationId xmlns:p14="http://schemas.microsoft.com/office/powerpoint/2010/main" val="3646108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5B7E4B-1CFA-8F96-DFEE-DE02AF300605}"/>
              </a:ext>
            </a:extLst>
          </p:cNvPr>
          <p:cNvSpPr>
            <a:spLocks noGrp="1"/>
          </p:cNvSpPr>
          <p:nvPr>
            <p:ph type="title"/>
          </p:nvPr>
        </p:nvSpPr>
        <p:spPr>
          <a:xfrm>
            <a:off x="486000" y="550723"/>
            <a:ext cx="8172000" cy="338554"/>
          </a:xfrm>
        </p:spPr>
        <p:txBody>
          <a:bodyPr/>
          <a:lstStyle/>
          <a:p>
            <a:r>
              <a:rPr lang="en-US" altLang="zh-CN" dirty="0"/>
              <a:t>4.5.2  IPv6 </a:t>
            </a:r>
            <a:r>
              <a:rPr lang="zh-CN" altLang="en-US" dirty="0"/>
              <a:t>的地址</a:t>
            </a:r>
          </a:p>
        </p:txBody>
      </p:sp>
      <p:sp>
        <p:nvSpPr>
          <p:cNvPr id="6" name="内容占位符 5">
            <a:extLst>
              <a:ext uri="{FF2B5EF4-FFF2-40B4-BE49-F238E27FC236}">
                <a16:creationId xmlns:a16="http://schemas.microsoft.com/office/drawing/2014/main" id="{3D1E84BD-C4F4-8DE8-300E-6E2DB78A24E7}"/>
              </a:ext>
            </a:extLst>
          </p:cNvPr>
          <p:cNvSpPr>
            <a:spLocks noGrp="1"/>
          </p:cNvSpPr>
          <p:nvPr>
            <p:ph sz="quarter" idx="11"/>
          </p:nvPr>
        </p:nvSpPr>
        <p:spPr>
          <a:xfrm>
            <a:off x="486000" y="900000"/>
            <a:ext cx="8172000" cy="3703500"/>
          </a:xfrm>
        </p:spPr>
        <p:txBody>
          <a:bodyPr/>
          <a:lstStyle/>
          <a:p>
            <a:r>
              <a:rPr lang="zh-CN" altLang="en-US" dirty="0"/>
              <a:t>三种基本类型：</a:t>
            </a:r>
          </a:p>
          <a:p>
            <a:pPr lvl="1"/>
            <a:r>
              <a:rPr lang="zh-CN" altLang="en-US" dirty="0"/>
              <a:t>单播 </a:t>
            </a:r>
            <a:r>
              <a:rPr lang="en-US" altLang="zh-CN" dirty="0"/>
              <a:t>(unicast)</a:t>
            </a:r>
            <a:r>
              <a:rPr lang="zh-CN" altLang="en-US" dirty="0"/>
              <a:t>：传统的点对点通信</a:t>
            </a:r>
          </a:p>
          <a:p>
            <a:pPr lvl="1"/>
            <a:r>
              <a:rPr lang="zh-CN" altLang="en-US" dirty="0"/>
              <a:t>多播 </a:t>
            </a:r>
            <a:r>
              <a:rPr lang="en-US" altLang="zh-CN" dirty="0"/>
              <a:t>(multicast)</a:t>
            </a:r>
            <a:r>
              <a:rPr lang="zh-CN" altLang="en-US" dirty="0"/>
              <a:t>：一点对多点的通信</a:t>
            </a:r>
          </a:p>
          <a:p>
            <a:pPr lvl="1"/>
            <a:r>
              <a:rPr lang="zh-CN" altLang="en-US" dirty="0"/>
              <a:t>任播 </a:t>
            </a:r>
            <a:r>
              <a:rPr lang="en-US" altLang="zh-CN" dirty="0"/>
              <a:t>(anycast)</a:t>
            </a:r>
            <a:r>
              <a:rPr lang="zh-CN" altLang="en-US" dirty="0"/>
              <a:t>：</a:t>
            </a:r>
            <a:r>
              <a:rPr lang="en-US" altLang="zh-CN" dirty="0"/>
              <a:t>IPv6 </a:t>
            </a:r>
            <a:r>
              <a:rPr lang="zh-CN" altLang="en-US" dirty="0"/>
              <a:t>增加的一种类型。任播的终点是一组计算机，但数据报在交付时只交付其中的一个。通常是按照路由算法得出的距离最近的一个</a:t>
            </a:r>
          </a:p>
          <a:p>
            <a:endParaRPr lang="zh-CN" altLang="en-US" dirty="0"/>
          </a:p>
        </p:txBody>
      </p:sp>
    </p:spTree>
    <p:extLst>
      <p:ext uri="{BB962C8B-B14F-4D97-AF65-F5344CB8AC3E}">
        <p14:creationId xmlns:p14="http://schemas.microsoft.com/office/powerpoint/2010/main" val="151321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3D7BBBC-8FA9-9648-60CF-FB8297252EDF}"/>
              </a:ext>
            </a:extLst>
          </p:cNvPr>
          <p:cNvSpPr>
            <a:spLocks noGrp="1"/>
          </p:cNvSpPr>
          <p:nvPr>
            <p:ph type="title"/>
          </p:nvPr>
        </p:nvSpPr>
        <p:spPr>
          <a:xfrm>
            <a:off x="486000" y="550723"/>
            <a:ext cx="8172000" cy="338554"/>
          </a:xfrm>
        </p:spPr>
        <p:txBody>
          <a:bodyPr/>
          <a:lstStyle/>
          <a:p>
            <a:r>
              <a:rPr lang="zh-CN" altLang="en-US" dirty="0"/>
              <a:t>节点与接口</a:t>
            </a:r>
          </a:p>
        </p:txBody>
      </p:sp>
      <p:sp>
        <p:nvSpPr>
          <p:cNvPr id="6" name="内容占位符 5">
            <a:extLst>
              <a:ext uri="{FF2B5EF4-FFF2-40B4-BE49-F238E27FC236}">
                <a16:creationId xmlns:a16="http://schemas.microsoft.com/office/drawing/2014/main" id="{19DA3A2C-DAFF-4927-219D-7C32E52B47FF}"/>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将实现 </a:t>
            </a:r>
            <a:r>
              <a:rPr lang="en-US" altLang="zh-CN" dirty="0"/>
              <a:t>IPv6 </a:t>
            </a:r>
            <a:r>
              <a:rPr lang="zh-CN" altLang="en-US" dirty="0"/>
              <a:t>的主机和路由器均称为节点</a:t>
            </a:r>
          </a:p>
          <a:p>
            <a:r>
              <a:rPr lang="zh-CN" altLang="en-US" dirty="0"/>
              <a:t>一个节点可能有多个与链路相连的接口</a:t>
            </a:r>
          </a:p>
          <a:p>
            <a:r>
              <a:rPr lang="en-US" altLang="zh-CN" dirty="0"/>
              <a:t>IPv6 </a:t>
            </a:r>
            <a:r>
              <a:rPr lang="zh-CN" altLang="en-US" dirty="0"/>
              <a:t>地址是分配给节点上接口的</a:t>
            </a:r>
          </a:p>
          <a:p>
            <a:r>
              <a:rPr lang="zh-CN" altLang="en-US" dirty="0"/>
              <a:t>一个具有多个接口的节点可以有多个单播地址</a:t>
            </a:r>
          </a:p>
          <a:p>
            <a:r>
              <a:rPr lang="zh-CN" altLang="en-US" dirty="0"/>
              <a:t>其中的任何一个地址都可以当作到达该节点的目的地址</a:t>
            </a:r>
          </a:p>
          <a:p>
            <a:endParaRPr lang="zh-CN" altLang="en-US" dirty="0"/>
          </a:p>
        </p:txBody>
      </p:sp>
    </p:spTree>
    <p:extLst>
      <p:ext uri="{BB962C8B-B14F-4D97-AF65-F5344CB8AC3E}">
        <p14:creationId xmlns:p14="http://schemas.microsoft.com/office/powerpoint/2010/main" val="2017317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2270929" y="2830608"/>
            <a:ext cx="660786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104.230.140.100.255.255.255.255.0.0.17.128.150.10.255.255</a:t>
            </a:r>
            <a:endParaRPr lang="zh-CN" altLang="zh-CN" sz="1400" dirty="0">
              <a:solidFill>
                <a:srgbClr val="0000FF"/>
              </a:solidFill>
              <a:latin typeface="微软雅黑" pitchFamily="34" charset="-122"/>
              <a:ea typeface="微软雅黑" pitchFamily="34" charset="-122"/>
            </a:endParaRPr>
          </a:p>
        </p:txBody>
      </p:sp>
      <p:sp>
        <p:nvSpPr>
          <p:cNvPr id="12" name="矩形 11"/>
          <p:cNvSpPr/>
          <p:nvPr/>
        </p:nvSpPr>
        <p:spPr>
          <a:xfrm>
            <a:off x="485775" y="2799042"/>
            <a:ext cx="1800493" cy="307777"/>
          </a:xfrm>
          <a:prstGeom prst="rect">
            <a:avLst/>
          </a:prstGeom>
        </p:spPr>
        <p:txBody>
          <a:bodyPr wrap="none">
            <a:spAutoFit/>
          </a:bodyPr>
          <a:lstStyle/>
          <a:p>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点分十进制数记法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grpSp>
        <p:nvGrpSpPr>
          <p:cNvPr id="11" name="组合 10"/>
          <p:cNvGrpSpPr/>
          <p:nvPr/>
        </p:nvGrpSpPr>
        <p:grpSpPr>
          <a:xfrm>
            <a:off x="2921403" y="3165304"/>
            <a:ext cx="5234307" cy="546346"/>
            <a:chOff x="2052959" y="2863156"/>
            <a:chExt cx="5234307" cy="546346"/>
          </a:xfrm>
        </p:grpSpPr>
        <p:sp>
          <p:nvSpPr>
            <p:cNvPr id="8" name="矩形 7"/>
            <p:cNvSpPr/>
            <p:nvPr/>
          </p:nvSpPr>
          <p:spPr>
            <a:xfrm>
              <a:off x="2052959" y="3101725"/>
              <a:ext cx="5234307"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68E6:8C64:FFFF:FFFF:0000:1180:960A:FFFF</a:t>
              </a:r>
            </a:p>
          </p:txBody>
        </p:sp>
        <p:sp>
          <p:nvSpPr>
            <p:cNvPr id="10" name="下箭头 9"/>
            <p:cNvSpPr/>
            <p:nvPr/>
          </p:nvSpPr>
          <p:spPr>
            <a:xfrm>
              <a:off x="4840940" y="2863156"/>
              <a:ext cx="207469" cy="286235"/>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grpSp>
      <p:sp>
        <p:nvSpPr>
          <p:cNvPr id="13" name="矩形 12"/>
          <p:cNvSpPr/>
          <p:nvPr/>
        </p:nvSpPr>
        <p:spPr>
          <a:xfrm>
            <a:off x="485775" y="3403873"/>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4" name="矩形 13"/>
          <p:cNvSpPr/>
          <p:nvPr/>
        </p:nvSpPr>
        <p:spPr>
          <a:xfrm>
            <a:off x="5552994" y="3451539"/>
            <a:ext cx="50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p:cNvSpPr/>
          <p:nvPr/>
        </p:nvSpPr>
        <p:spPr>
          <a:xfrm>
            <a:off x="5750479" y="3972581"/>
            <a:ext cx="14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 name="组合 6"/>
          <p:cNvGrpSpPr/>
          <p:nvPr/>
        </p:nvGrpSpPr>
        <p:grpSpPr>
          <a:xfrm>
            <a:off x="3188794" y="3686250"/>
            <a:ext cx="4743142" cy="555186"/>
            <a:chOff x="1902550" y="2800118"/>
            <a:chExt cx="5278446" cy="555186"/>
          </a:xfrm>
        </p:grpSpPr>
        <p:sp>
          <p:nvSpPr>
            <p:cNvPr id="5" name="下箭头 4"/>
            <p:cNvSpPr/>
            <p:nvPr/>
          </p:nvSpPr>
          <p:spPr>
            <a:xfrm>
              <a:off x="4707604" y="2800118"/>
              <a:ext cx="230884" cy="296547"/>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6" name="矩形 5"/>
            <p:cNvSpPr/>
            <p:nvPr/>
          </p:nvSpPr>
          <p:spPr>
            <a:xfrm>
              <a:off x="1902550" y="3047527"/>
              <a:ext cx="527844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68E6:8C64:FFFF:FFFF:0:1180:960A:FFFF</a:t>
              </a:r>
            </a:p>
          </p:txBody>
        </p:sp>
      </p:grpSp>
      <p:sp>
        <p:nvSpPr>
          <p:cNvPr id="17" name="矩形 16"/>
          <p:cNvSpPr/>
          <p:nvPr/>
        </p:nvSpPr>
        <p:spPr>
          <a:xfrm>
            <a:off x="485775" y="3920659"/>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9" name="矩形 18"/>
          <p:cNvSpPr/>
          <p:nvPr/>
        </p:nvSpPr>
        <p:spPr>
          <a:xfrm>
            <a:off x="2940784" y="4521099"/>
            <a:ext cx="3262432" cy="2769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wrap="none">
            <a:spAutoFit/>
          </a:bodyPr>
          <a:lstStyle/>
          <a:p>
            <a:pPr algn="ctr"/>
            <a:r>
              <a:rPr lang="zh-CN" altLang="en-US" sz="1200" dirty="0">
                <a:solidFill>
                  <a:srgbClr val="C00000"/>
                </a:solidFill>
                <a:latin typeface="微软雅黑" panose="020B0503020204020204" pitchFamily="34" charset="-122"/>
                <a:ea typeface="微软雅黑" panose="020B0503020204020204" pitchFamily="34" charset="-122"/>
              </a:rPr>
              <a:t>两个技术：</a:t>
            </a:r>
            <a:r>
              <a:rPr lang="zh-CN" altLang="en-US" sz="1200" dirty="0">
                <a:latin typeface="微软雅黑" panose="020B0503020204020204" pitchFamily="34" charset="-122"/>
                <a:ea typeface="微软雅黑" panose="020B0503020204020204" pitchFamily="34" charset="-122"/>
              </a:rPr>
              <a:t>零压缩，点分十进制记法的后缀。</a:t>
            </a:r>
          </a:p>
        </p:txBody>
      </p:sp>
      <p:sp>
        <p:nvSpPr>
          <p:cNvPr id="21" name="标题 20">
            <a:extLst>
              <a:ext uri="{FF2B5EF4-FFF2-40B4-BE49-F238E27FC236}">
                <a16:creationId xmlns:a16="http://schemas.microsoft.com/office/drawing/2014/main" id="{BAB8CF85-2CAA-9FBA-BC19-1F3279124908}"/>
              </a:ext>
            </a:extLst>
          </p:cNvPr>
          <p:cNvSpPr>
            <a:spLocks noGrp="1"/>
          </p:cNvSpPr>
          <p:nvPr>
            <p:ph type="title"/>
          </p:nvPr>
        </p:nvSpPr>
        <p:spPr>
          <a:xfrm>
            <a:off x="486000" y="550723"/>
            <a:ext cx="8172000" cy="338554"/>
          </a:xfrm>
        </p:spPr>
        <p:txBody>
          <a:bodyPr/>
          <a:lstStyle/>
          <a:p>
            <a:r>
              <a:rPr lang="zh-CN" altLang="en-US" dirty="0"/>
              <a:t>冒号十六进制记法</a:t>
            </a:r>
          </a:p>
        </p:txBody>
      </p:sp>
      <p:sp>
        <p:nvSpPr>
          <p:cNvPr id="22" name="内容占位符 21">
            <a:extLst>
              <a:ext uri="{FF2B5EF4-FFF2-40B4-BE49-F238E27FC236}">
                <a16:creationId xmlns:a16="http://schemas.microsoft.com/office/drawing/2014/main" id="{06243B95-734F-0A61-F309-7CAFC179BAAA}"/>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中，每个地址占 </a:t>
            </a:r>
            <a:r>
              <a:rPr lang="en-US" altLang="zh-CN" dirty="0"/>
              <a:t>128 </a:t>
            </a:r>
            <a:r>
              <a:rPr lang="zh-CN" altLang="en-US" dirty="0"/>
              <a:t>位，地址空间大于 </a:t>
            </a:r>
            <a:r>
              <a:rPr lang="en-US" altLang="zh-CN" dirty="0"/>
              <a:t>3.4</a:t>
            </a:r>
            <a:r>
              <a:rPr lang="en-US" altLang="zh-CN" dirty="0">
                <a:sym typeface="Symbol"/>
              </a:rPr>
              <a:t>  </a:t>
            </a:r>
            <a:r>
              <a:rPr lang="en-US" altLang="zh-CN" dirty="0"/>
              <a:t>1038</a:t>
            </a:r>
            <a:endParaRPr lang="zh-CN" altLang="en-US" dirty="0"/>
          </a:p>
          <a:p>
            <a:r>
              <a:rPr lang="zh-CN" altLang="en-US" dirty="0"/>
              <a:t>使用冒号十六进制记法</a:t>
            </a:r>
            <a:endParaRPr lang="en-US" altLang="zh-CN" dirty="0"/>
          </a:p>
          <a:p>
            <a:pPr lvl="1"/>
            <a:r>
              <a:rPr lang="en-US" altLang="zh-CN" dirty="0"/>
              <a:t>colon hexadecimal notation - colon hex </a:t>
            </a:r>
          </a:p>
          <a:p>
            <a:pPr lvl="1"/>
            <a:r>
              <a:rPr lang="en-US" altLang="zh-CN" dirty="0"/>
              <a:t>16 </a:t>
            </a:r>
            <a:r>
              <a:rPr lang="zh-CN" altLang="en-US" dirty="0"/>
              <a:t>位的值用十六进制值表示，各值之间用冒号分隔</a:t>
            </a:r>
          </a:p>
          <a:p>
            <a:endParaRPr lang="zh-CN" altLang="en-US" dirty="0"/>
          </a:p>
        </p:txBody>
      </p:sp>
    </p:spTree>
    <p:extLst>
      <p:ext uri="{BB962C8B-B14F-4D97-AF65-F5344CB8AC3E}">
        <p14:creationId xmlns:p14="http://schemas.microsoft.com/office/powerpoint/2010/main" val="2338434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 presetClass="entr" presetSubtype="0" fill="hold" grpId="0" nodeType="afterEffect">
                                  <p:stCondLst>
                                    <p:cond delay="0"/>
                                  </p:stCondLst>
                                  <p:childTnLst>
                                    <p:set>
                                      <p:cBhvr>
                                        <p:cTn id="11" dur="1" fill="hold">
                                          <p:stCondLst>
                                            <p:cond delay="0"/>
                                          </p:stCondLst>
                                        </p:cTn>
                                        <p:tgtEl>
                                          <p:spTgt spid="15"/>
                                        </p:tgtEl>
                                        <p:attrNameLst>
                                          <p:attrName>style.visibility</p:attrName>
                                        </p:attrNameLst>
                                      </p:cBhvr>
                                      <p:to>
                                        <p:strVal val="visible"/>
                                      </p:to>
                                    </p:set>
                                  </p:childTnLst>
                                </p:cTn>
                              </p:par>
                            </p:childTnLst>
                          </p:cTn>
                        </p:par>
                        <p:par>
                          <p:cTn id="12" fill="hold">
                            <p:stCondLst>
                              <p:cond delay="3000"/>
                            </p:stCondLst>
                            <p:childTnLst>
                              <p:par>
                                <p:cTn id="13" presetID="35" presetClass="emph" presetSubtype="0" repeatCount="3000" fill="hold" grpId="1" nodeType="afterEffect">
                                  <p:stCondLst>
                                    <p:cond delay="0"/>
                                  </p:stCondLst>
                                  <p:childTnLst>
                                    <p:anim calcmode="discrete" valueType="str">
                                      <p:cBhvr>
                                        <p:cTn id="14" dur="1000" fill="hold"/>
                                        <p:tgtEl>
                                          <p:spTgt spid="15"/>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4" grpId="1" animBg="1"/>
      <p:bldP spid="15" grpId="0" animBg="1"/>
      <p:bldP spid="15" grpId="1" animBg="1"/>
      <p:bldP spid="19" grpId="0" animBg="1"/>
    </p:bld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5146" y="2222363"/>
            <a:ext cx="8053710" cy="186934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7890"/>
            <a:ext cx="8053710" cy="461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零压缩 </a:t>
            </a:r>
            <a:r>
              <a:rPr lang="en-US" altLang="zh-CN" sz="2000" b="1" dirty="0">
                <a:latin typeface="微软雅黑" pitchFamily="34" charset="-122"/>
                <a:ea typeface="微软雅黑" pitchFamily="34" charset="-122"/>
              </a:rPr>
              <a:t>(zero compression)</a:t>
            </a:r>
            <a:r>
              <a:rPr lang="zh-CN" altLang="en-US" sz="2000" b="1" dirty="0">
                <a:latin typeface="微软雅黑" pitchFamily="34" charset="-122"/>
                <a:ea typeface="微软雅黑" pitchFamily="34" charset="-122"/>
              </a:rPr>
              <a:t>：一串连续的零可以用</a:t>
            </a:r>
            <a:r>
              <a:rPr lang="zh-CN" altLang="en-US" sz="2000" b="1" dirty="0">
                <a:solidFill>
                  <a:srgbClr val="C00000"/>
                </a:solidFill>
                <a:latin typeface="微软雅黑" pitchFamily="34" charset="-122"/>
                <a:ea typeface="微软雅黑" pitchFamily="34" charset="-122"/>
              </a:rPr>
              <a:t>一对冒号</a:t>
            </a:r>
            <a:r>
              <a:rPr lang="zh-CN" altLang="en-US" sz="2000" b="1" dirty="0">
                <a:latin typeface="微软雅黑" pitchFamily="34" charset="-122"/>
                <a:ea typeface="微软雅黑" pitchFamily="34" charset="-122"/>
              </a:rPr>
              <a:t>取代。</a:t>
            </a:r>
          </a:p>
        </p:txBody>
      </p:sp>
      <p:sp>
        <p:nvSpPr>
          <p:cNvPr id="3" name="AutoShape 5"/>
          <p:cNvSpPr>
            <a:spLocks noChangeArrowheads="1"/>
          </p:cNvSpPr>
          <p:nvPr/>
        </p:nvSpPr>
        <p:spPr bwMode="auto">
          <a:xfrm>
            <a:off x="545145" y="621601"/>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8390"/>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零压缩</a:t>
            </a:r>
          </a:p>
        </p:txBody>
      </p:sp>
      <p:sp>
        <p:nvSpPr>
          <p:cNvPr id="5" name="矩形 4"/>
          <p:cNvSpPr/>
          <p:nvPr/>
        </p:nvSpPr>
        <p:spPr>
          <a:xfrm>
            <a:off x="3081294" y="1430076"/>
            <a:ext cx="3265713" cy="810478"/>
          </a:xfrm>
          <a:prstGeom prst="rect">
            <a:avLst/>
          </a:prstGeom>
        </p:spPr>
        <p:txBody>
          <a:bodyPr wrap="square">
            <a:spAutoFit/>
          </a:bodyPr>
          <a:lstStyle/>
          <a:p>
            <a:pPr>
              <a:lnSpc>
                <a:spcPts val="2800"/>
              </a:lnSpc>
              <a:buClr>
                <a:srgbClr val="0070C0"/>
              </a:buClr>
            </a:pPr>
            <a:r>
              <a:rPr lang="en-US" altLang="zh-CN" sz="2000" b="1" dirty="0">
                <a:solidFill>
                  <a:srgbClr val="0000FF"/>
                </a:solidFill>
                <a:latin typeface="微软雅黑" pitchFamily="34" charset="-122"/>
                <a:ea typeface="微软雅黑" pitchFamily="34" charset="-122"/>
              </a:rPr>
              <a:t>FF05:0:0:0:0:0:0:B3</a:t>
            </a:r>
            <a:endParaRPr lang="zh-CN" altLang="en-US" sz="2000" b="1" dirty="0">
              <a:solidFill>
                <a:srgbClr val="0000FF"/>
              </a:solidFill>
              <a:latin typeface="微软雅黑" pitchFamily="34" charset="-122"/>
              <a:ea typeface="微软雅黑" pitchFamily="34" charset="-122"/>
            </a:endParaRPr>
          </a:p>
          <a:p>
            <a:pPr>
              <a:lnSpc>
                <a:spcPts val="2800"/>
              </a:lnSpc>
              <a:buClr>
                <a:srgbClr val="0070C0"/>
              </a:buClr>
            </a:pPr>
            <a:r>
              <a:rPr lang="en-US" altLang="zh-CN" sz="2000" b="1" dirty="0">
                <a:solidFill>
                  <a:srgbClr val="0000FF"/>
                </a:solidFill>
                <a:latin typeface="微软雅黑" pitchFamily="34" charset="-122"/>
                <a:ea typeface="微软雅黑" pitchFamily="34" charset="-122"/>
              </a:rPr>
              <a:t>FF05::B3</a:t>
            </a:r>
          </a:p>
        </p:txBody>
      </p:sp>
      <p:sp>
        <p:nvSpPr>
          <p:cNvPr id="6" name="矩形 5"/>
          <p:cNvSpPr/>
          <p:nvPr/>
        </p:nvSpPr>
        <p:spPr>
          <a:xfrm>
            <a:off x="1709969" y="4172335"/>
            <a:ext cx="5611437" cy="369332"/>
          </a:xfrm>
          <a:prstGeom prst="rect">
            <a:avLst/>
          </a:prstGeom>
        </p:spPr>
        <p:style>
          <a:lnRef idx="1">
            <a:schemeClr val="accent2"/>
          </a:lnRef>
          <a:fillRef idx="2">
            <a:schemeClr val="accent2"/>
          </a:fillRef>
          <a:effectRef idx="1">
            <a:schemeClr val="accent2"/>
          </a:effectRef>
          <a:fontRef idx="minor">
            <a:schemeClr val="dk1"/>
          </a:fontRef>
        </p:style>
        <p:txBody>
          <a:bodyPr wrap="square">
            <a:spAutoFit/>
          </a:bodyPr>
          <a:lstStyle/>
          <a:p>
            <a:pPr algn="ctr">
              <a:buClr>
                <a:srgbClr val="0070C0"/>
              </a:buClr>
            </a:pPr>
            <a:r>
              <a:rPr lang="zh-CN" altLang="en-US" b="1" dirty="0">
                <a:solidFill>
                  <a:schemeClr val="tx1"/>
                </a:solidFill>
                <a:latin typeface="微软雅黑" pitchFamily="34" charset="-122"/>
                <a:ea typeface="微软雅黑" pitchFamily="34" charset="-122"/>
              </a:rPr>
              <a:t>注意：在任一地址中，只能使用一次零压缩。</a:t>
            </a:r>
          </a:p>
        </p:txBody>
      </p:sp>
      <p:sp>
        <p:nvSpPr>
          <p:cNvPr id="7" name="矩形 6"/>
          <p:cNvSpPr/>
          <p:nvPr/>
        </p:nvSpPr>
        <p:spPr>
          <a:xfrm>
            <a:off x="1743852" y="1791264"/>
            <a:ext cx="1544914" cy="400110"/>
          </a:xfrm>
          <a:prstGeom prst="rect">
            <a:avLst/>
          </a:prstGeom>
        </p:spPr>
        <p:txBody>
          <a:bodyPr wrap="square">
            <a:spAutoFit/>
          </a:bodyPr>
          <a:lstStyle/>
          <a:p>
            <a:pPr algn="r"/>
            <a:r>
              <a:rPr lang="zh-CN" altLang="en-US" sz="2000" b="1" dirty="0">
                <a:latin typeface="微软雅黑" pitchFamily="34" charset="-122"/>
                <a:ea typeface="微软雅黑" pitchFamily="34" charset="-122"/>
              </a:rPr>
              <a:t>可压缩为： </a:t>
            </a:r>
            <a:endParaRPr lang="zh-CN" altLang="en-US" sz="2000" dirty="0"/>
          </a:p>
        </p:txBody>
      </p:sp>
      <p:sp>
        <p:nvSpPr>
          <p:cNvPr id="8" name="矩形 7"/>
          <p:cNvSpPr/>
          <p:nvPr/>
        </p:nvSpPr>
        <p:spPr>
          <a:xfrm>
            <a:off x="873889" y="2222363"/>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9" name="矩形 8"/>
          <p:cNvSpPr/>
          <p:nvPr/>
        </p:nvSpPr>
        <p:spPr>
          <a:xfrm>
            <a:off x="5109936" y="2222363"/>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10" name="矩形 9"/>
          <p:cNvSpPr/>
          <p:nvPr/>
        </p:nvSpPr>
        <p:spPr>
          <a:xfrm>
            <a:off x="873889" y="2580384"/>
            <a:ext cx="3467616"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1080:0:0:0:8:800:200C:417A </a:t>
            </a:r>
            <a:endParaRPr lang="zh-CN" altLang="en-US" b="1" dirty="0">
              <a:solidFill>
                <a:srgbClr val="0000FF"/>
              </a:solidFill>
              <a:latin typeface="微软雅黑" pitchFamily="34" charset="-122"/>
              <a:ea typeface="微软雅黑" pitchFamily="34" charset="-122"/>
            </a:endParaRPr>
          </a:p>
        </p:txBody>
      </p:sp>
      <p:sp>
        <p:nvSpPr>
          <p:cNvPr id="11" name="矩形 10"/>
          <p:cNvSpPr/>
          <p:nvPr/>
        </p:nvSpPr>
        <p:spPr>
          <a:xfrm>
            <a:off x="873889" y="2938405"/>
            <a:ext cx="385554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FF01:0:0:0:0:0:0:101</a:t>
            </a:r>
            <a:r>
              <a:rPr lang="zh-CN" altLang="en-US" b="1" dirty="0">
                <a:solidFill>
                  <a:srgbClr val="0000FF"/>
                </a:solidFill>
                <a:latin typeface="微软雅黑" pitchFamily="34" charset="-122"/>
                <a:ea typeface="微软雅黑" pitchFamily="34" charset="-122"/>
              </a:rPr>
              <a:t>（多播地址）</a:t>
            </a:r>
          </a:p>
        </p:txBody>
      </p:sp>
      <p:sp>
        <p:nvSpPr>
          <p:cNvPr id="12" name="矩形 11"/>
          <p:cNvSpPr/>
          <p:nvPr/>
        </p:nvSpPr>
        <p:spPr>
          <a:xfrm>
            <a:off x="873889" y="3296426"/>
            <a:ext cx="3171061"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0:0:0:0:0:0:0:1</a:t>
            </a:r>
            <a:r>
              <a:rPr lang="zh-CN" altLang="en-US" b="1" dirty="0">
                <a:solidFill>
                  <a:srgbClr val="0000FF"/>
                </a:solidFill>
                <a:latin typeface="微软雅黑" pitchFamily="34" charset="-122"/>
                <a:ea typeface="微软雅黑" pitchFamily="34" charset="-122"/>
              </a:rPr>
              <a:t>（环回地址）</a:t>
            </a:r>
          </a:p>
        </p:txBody>
      </p:sp>
      <p:sp>
        <p:nvSpPr>
          <p:cNvPr id="13" name="矩形 12"/>
          <p:cNvSpPr/>
          <p:nvPr/>
        </p:nvSpPr>
        <p:spPr>
          <a:xfrm>
            <a:off x="873889" y="3654448"/>
            <a:ext cx="340189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0:0:0:0:0:0:0:0</a:t>
            </a:r>
            <a:r>
              <a:rPr lang="zh-CN" altLang="en-US" b="1" dirty="0">
                <a:solidFill>
                  <a:srgbClr val="0000FF"/>
                </a:solidFill>
                <a:latin typeface="微软雅黑" pitchFamily="34" charset="-122"/>
                <a:ea typeface="微软雅黑" pitchFamily="34" charset="-122"/>
              </a:rPr>
              <a:t>（未指明地址）</a:t>
            </a:r>
          </a:p>
        </p:txBody>
      </p:sp>
      <p:sp>
        <p:nvSpPr>
          <p:cNvPr id="14" name="矩形 13"/>
          <p:cNvSpPr/>
          <p:nvPr/>
        </p:nvSpPr>
        <p:spPr>
          <a:xfrm>
            <a:off x="5109936" y="2580384"/>
            <a:ext cx="283923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1080::8:800:200C:417A</a:t>
            </a:r>
            <a:endParaRPr lang="zh-CN" altLang="en-US" b="1" dirty="0">
              <a:solidFill>
                <a:srgbClr val="0000FF"/>
              </a:solidFill>
              <a:latin typeface="微软雅黑" pitchFamily="34" charset="-122"/>
              <a:ea typeface="微软雅黑" pitchFamily="34" charset="-122"/>
            </a:endParaRPr>
          </a:p>
        </p:txBody>
      </p:sp>
      <p:sp>
        <p:nvSpPr>
          <p:cNvPr id="15" name="矩形 14"/>
          <p:cNvSpPr/>
          <p:nvPr/>
        </p:nvSpPr>
        <p:spPr>
          <a:xfrm>
            <a:off x="5109936" y="2938405"/>
            <a:ext cx="128592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FF01::101</a:t>
            </a:r>
          </a:p>
        </p:txBody>
      </p:sp>
      <p:sp>
        <p:nvSpPr>
          <p:cNvPr id="16" name="矩形 15"/>
          <p:cNvSpPr/>
          <p:nvPr/>
        </p:nvSpPr>
        <p:spPr>
          <a:xfrm>
            <a:off x="5109936" y="3296426"/>
            <a:ext cx="458780"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a:t>
            </a:r>
            <a:endParaRPr lang="zh-CN" altLang="en-US" b="1" dirty="0">
              <a:solidFill>
                <a:srgbClr val="0000FF"/>
              </a:solidFill>
              <a:latin typeface="微软雅黑" pitchFamily="34" charset="-122"/>
              <a:ea typeface="微软雅黑" pitchFamily="34" charset="-122"/>
            </a:endParaRPr>
          </a:p>
        </p:txBody>
      </p:sp>
      <p:sp>
        <p:nvSpPr>
          <p:cNvPr id="17" name="矩形 16"/>
          <p:cNvSpPr/>
          <p:nvPr/>
        </p:nvSpPr>
        <p:spPr>
          <a:xfrm>
            <a:off x="5109936" y="3654448"/>
            <a:ext cx="31611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a:t>
            </a:r>
          </a:p>
        </p:txBody>
      </p:sp>
      <p:sp>
        <p:nvSpPr>
          <p:cNvPr id="18" name="右箭头 17"/>
          <p:cNvSpPr/>
          <p:nvPr/>
        </p:nvSpPr>
        <p:spPr>
          <a:xfrm>
            <a:off x="4664210" y="2317573"/>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右箭头 18"/>
          <p:cNvSpPr/>
          <p:nvPr/>
        </p:nvSpPr>
        <p:spPr>
          <a:xfrm>
            <a:off x="4664210" y="2675595"/>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右箭头 19"/>
          <p:cNvSpPr/>
          <p:nvPr/>
        </p:nvSpPr>
        <p:spPr>
          <a:xfrm>
            <a:off x="4664210" y="30336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右箭头 20"/>
          <p:cNvSpPr/>
          <p:nvPr/>
        </p:nvSpPr>
        <p:spPr>
          <a:xfrm>
            <a:off x="4664210" y="3391639"/>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右箭头 21"/>
          <p:cNvSpPr/>
          <p:nvPr/>
        </p:nvSpPr>
        <p:spPr>
          <a:xfrm>
            <a:off x="4664210" y="3749661"/>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99356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11"/>
          <p:cNvSpPr/>
          <p:nvPr/>
        </p:nvSpPr>
        <p:spPr>
          <a:xfrm>
            <a:off x="572855" y="3367672"/>
            <a:ext cx="7730636" cy="11383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4134"/>
            <a:ext cx="8053710" cy="2169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结合使用点分十进制记法的</a:t>
            </a:r>
            <a:r>
              <a:rPr lang="zh-CN" altLang="en-US" b="1" dirty="0">
                <a:solidFill>
                  <a:srgbClr val="C00000"/>
                </a:solidFill>
                <a:latin typeface="微软雅黑" pitchFamily="34" charset="-122"/>
                <a:ea typeface="微软雅黑" pitchFamily="34" charset="-122"/>
              </a:rPr>
              <a:t>后缀</a:t>
            </a:r>
            <a:r>
              <a:rPr lang="zh-CN" altLang="en-US" b="1" dirty="0">
                <a:latin typeface="微软雅黑" pitchFamily="34" charset="-122"/>
                <a:ea typeface="微软雅黑" pitchFamily="34" charset="-122"/>
              </a:rPr>
              <a:t>在 </a:t>
            </a:r>
            <a:r>
              <a:rPr lang="en-US" altLang="zh-CN" b="1" dirty="0">
                <a:latin typeface="微软雅黑" pitchFamily="34" charset="-122"/>
                <a:ea typeface="微软雅黑" pitchFamily="34" charset="-122"/>
              </a:rPr>
              <a:t>IPv4 </a:t>
            </a:r>
            <a:r>
              <a:rPr lang="zh-CN" altLang="en-US" b="1" dirty="0">
                <a:latin typeface="微软雅黑" pitchFamily="34" charset="-122"/>
                <a:ea typeface="微软雅黑" pitchFamily="34" charset="-122"/>
              </a:rPr>
              <a:t>向 </a:t>
            </a:r>
            <a:r>
              <a:rPr lang="en-US" altLang="zh-CN" b="1" dirty="0">
                <a:latin typeface="微软雅黑" pitchFamily="34" charset="-122"/>
                <a:ea typeface="微软雅黑" pitchFamily="34" charset="-122"/>
              </a:rPr>
              <a:t>IPv6 </a:t>
            </a:r>
            <a:r>
              <a:rPr lang="zh-CN" altLang="en-US" b="1" dirty="0">
                <a:latin typeface="微软雅黑" pitchFamily="34" charset="-122"/>
                <a:ea typeface="微软雅黑" pitchFamily="34" charset="-122"/>
              </a:rPr>
              <a:t>的转换阶段特别有用。</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endParaRPr lang="en-US" altLang="zh-CN"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的</a:t>
            </a:r>
            <a:r>
              <a:rPr lang="zh-CN" altLang="en-US" b="1" dirty="0">
                <a:solidFill>
                  <a:srgbClr val="C00000"/>
                </a:solidFill>
                <a:latin typeface="微软雅黑" pitchFamily="34" charset="-122"/>
                <a:ea typeface="微软雅黑" pitchFamily="34" charset="-122"/>
              </a:rPr>
              <a:t>斜线表示法</a:t>
            </a:r>
            <a:r>
              <a:rPr lang="zh-CN" altLang="en-US" b="1" dirty="0">
                <a:latin typeface="微软雅黑" pitchFamily="34" charset="-122"/>
                <a:ea typeface="微软雅黑" pitchFamily="34" charset="-122"/>
              </a:rPr>
              <a:t>仍然可用，</a:t>
            </a:r>
            <a:r>
              <a:rPr lang="zh-CN" altLang="en-US" b="1" dirty="0">
                <a:solidFill>
                  <a:srgbClr val="C00000"/>
                </a:solidFill>
                <a:latin typeface="微软雅黑" pitchFamily="34" charset="-122"/>
                <a:ea typeface="微软雅黑" pitchFamily="34" charset="-122"/>
              </a:rPr>
              <a:t>但取消了子网掩码。</a:t>
            </a:r>
            <a:endParaRPr lang="en-US" altLang="zh-CN" b="1" dirty="0">
              <a:solidFill>
                <a:srgbClr val="C00000"/>
              </a:solidFill>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r>
              <a:rPr lang="en-US" altLang="zh-CN" b="1" dirty="0">
                <a:latin typeface="微软雅黑" pitchFamily="34" charset="-122"/>
                <a:ea typeface="微软雅黑" pitchFamily="34" charset="-122"/>
              </a:rPr>
              <a:t>60 </a:t>
            </a:r>
            <a:r>
              <a:rPr lang="zh-CN" altLang="en-US" b="1" dirty="0">
                <a:latin typeface="微软雅黑" pitchFamily="34" charset="-122"/>
                <a:ea typeface="微软雅黑" pitchFamily="34" charset="-122"/>
              </a:rPr>
              <a:t>位的前缀 </a:t>
            </a:r>
            <a:r>
              <a:rPr lang="en-US" altLang="zh-CN" b="1" dirty="0">
                <a:latin typeface="微软雅黑" pitchFamily="34" charset="-122"/>
                <a:ea typeface="微软雅黑" pitchFamily="34" charset="-122"/>
              </a:rPr>
              <a:t>12AB00000000CD3 </a:t>
            </a:r>
            <a:r>
              <a:rPr lang="zh-CN" altLang="en-US" b="1" dirty="0">
                <a:latin typeface="微软雅黑" pitchFamily="34" charset="-122"/>
                <a:ea typeface="微软雅黑" pitchFamily="34" charset="-122"/>
              </a:rPr>
              <a:t>可记为：</a:t>
            </a:r>
          </a:p>
          <a:p>
            <a:pPr marL="285750" indent="-285750">
              <a:lnSpc>
                <a:spcPts val="2700"/>
              </a:lnSpc>
              <a:buClr>
                <a:srgbClr val="0070C0"/>
              </a:buClr>
              <a:buFont typeface="Wingdings" pitchFamily="2" charset="2"/>
              <a:buChar char="l"/>
            </a:pPr>
            <a:endParaRPr lang="zh-CN" altLang="en-US"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endParaRPr lang="en-US" altLang="zh-CN" b="1" dirty="0">
              <a:latin typeface="微软雅黑" pitchFamily="34" charset="-122"/>
              <a:ea typeface="微软雅黑" pitchFamily="34" charset="-122"/>
            </a:endParaRPr>
          </a:p>
        </p:txBody>
      </p:sp>
      <p:sp>
        <p:nvSpPr>
          <p:cNvPr id="3" name="AutoShape 5"/>
          <p:cNvSpPr>
            <a:spLocks noChangeArrowheads="1"/>
          </p:cNvSpPr>
          <p:nvPr/>
        </p:nvSpPr>
        <p:spPr bwMode="auto">
          <a:xfrm>
            <a:off x="545145" y="625529"/>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92318"/>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点分十进制记法的后缀</a:t>
            </a:r>
          </a:p>
        </p:txBody>
      </p:sp>
      <p:sp>
        <p:nvSpPr>
          <p:cNvPr id="5" name="矩形 4"/>
          <p:cNvSpPr/>
          <p:nvPr/>
        </p:nvSpPr>
        <p:spPr>
          <a:xfrm>
            <a:off x="1644934" y="1406707"/>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6" name="矩形 5"/>
          <p:cNvSpPr/>
          <p:nvPr/>
        </p:nvSpPr>
        <p:spPr>
          <a:xfrm>
            <a:off x="4751433" y="1406707"/>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8" name="矩形 7"/>
          <p:cNvSpPr/>
          <p:nvPr/>
        </p:nvSpPr>
        <p:spPr>
          <a:xfrm>
            <a:off x="1678750" y="2387715"/>
            <a:ext cx="5771132"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12AB:0000:0000:CD30:0000:0000:0000:0000</a:t>
            </a:r>
            <a:r>
              <a:rPr lang="en-US" altLang="zh-CN" b="1" dirty="0">
                <a:solidFill>
                  <a:srgbClr val="C00000"/>
                </a:solidFill>
                <a:latin typeface="微软雅黑" pitchFamily="34" charset="-122"/>
                <a:ea typeface="微软雅黑" pitchFamily="34" charset="-122"/>
              </a:rPr>
              <a:t>/60</a:t>
            </a:r>
            <a:endParaRPr lang="zh-CN" altLang="en-US" b="1" dirty="0">
              <a:solidFill>
                <a:srgbClr val="C00000"/>
              </a:solidFill>
              <a:latin typeface="微软雅黑" pitchFamily="34" charset="-122"/>
              <a:ea typeface="微软雅黑" pitchFamily="34" charset="-122"/>
            </a:endParaRPr>
          </a:p>
        </p:txBody>
      </p:sp>
      <p:sp>
        <p:nvSpPr>
          <p:cNvPr id="16" name="右箭头 15"/>
          <p:cNvSpPr/>
          <p:nvPr/>
        </p:nvSpPr>
        <p:spPr>
          <a:xfrm>
            <a:off x="4305707" y="15019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p:cNvSpPr/>
          <p:nvPr/>
        </p:nvSpPr>
        <p:spPr>
          <a:xfrm>
            <a:off x="1381661" y="2704934"/>
            <a:ext cx="4305987" cy="369332"/>
          </a:xfrm>
          <a:prstGeom prst="rect">
            <a:avLst/>
          </a:prstGeom>
        </p:spPr>
        <p:txBody>
          <a:bodyPr wrap="none">
            <a:spAutoFit/>
          </a:bodyPr>
          <a:lstStyle/>
          <a:p>
            <a:pPr>
              <a:buClr>
                <a:srgbClr val="0070C0"/>
              </a:buClr>
            </a:pPr>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12AB::CD30:0:0:0:0</a:t>
            </a:r>
            <a:r>
              <a:rPr lang="en-US" altLang="zh-CN" b="1" dirty="0">
                <a:solidFill>
                  <a:srgbClr val="C00000"/>
                </a:solidFill>
                <a:latin typeface="微软雅黑" pitchFamily="34" charset="-122"/>
                <a:ea typeface="微软雅黑" pitchFamily="34" charset="-122"/>
              </a:rPr>
              <a:t>/60</a:t>
            </a:r>
            <a:r>
              <a:rPr lang="en-US" altLang="zh-CN" b="1" dirty="0">
                <a:solidFill>
                  <a:srgbClr val="0000FF"/>
                </a:solidFill>
                <a:latin typeface="微软雅黑" pitchFamily="34" charset="-122"/>
                <a:ea typeface="微软雅黑" pitchFamily="34" charset="-122"/>
              </a:rPr>
              <a:t> </a:t>
            </a:r>
            <a:r>
              <a:rPr lang="zh-CN" altLang="en-US" b="1" dirty="0">
                <a:solidFill>
                  <a:srgbClr val="0000FF"/>
                </a:solidFill>
                <a:latin typeface="微软雅黑" pitchFamily="34" charset="-122"/>
                <a:ea typeface="微软雅黑" pitchFamily="34" charset="-122"/>
              </a:rPr>
              <a:t>（零压缩）</a:t>
            </a:r>
          </a:p>
        </p:txBody>
      </p:sp>
      <p:sp>
        <p:nvSpPr>
          <p:cNvPr id="23" name="矩形 22"/>
          <p:cNvSpPr/>
          <p:nvPr/>
        </p:nvSpPr>
        <p:spPr>
          <a:xfrm>
            <a:off x="1384397" y="3035339"/>
            <a:ext cx="3954929" cy="369332"/>
          </a:xfrm>
          <a:prstGeom prst="rect">
            <a:avLst/>
          </a:prstGeom>
        </p:spPr>
        <p:txBody>
          <a:bodyPr wrap="none">
            <a:spAutoFit/>
          </a:bodyPr>
          <a:lstStyle/>
          <a:p>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12AB:0:0:CD30</a:t>
            </a:r>
            <a:r>
              <a:rPr lang="en-US" altLang="zh-CN" b="1" dirty="0">
                <a:solidFill>
                  <a:srgbClr val="C00000"/>
                </a:solidFill>
                <a:latin typeface="微软雅黑" pitchFamily="34" charset="-122"/>
                <a:ea typeface="微软雅黑" pitchFamily="34" charset="-122"/>
              </a:rPr>
              <a:t>::/60 </a:t>
            </a:r>
            <a:r>
              <a:rPr lang="zh-CN" altLang="en-US" b="1" dirty="0">
                <a:solidFill>
                  <a:srgbClr val="0000FF"/>
                </a:solidFill>
                <a:latin typeface="微软雅黑" pitchFamily="34" charset="-122"/>
                <a:ea typeface="微软雅黑" pitchFamily="34" charset="-122"/>
              </a:rPr>
              <a:t>（零压缩）</a:t>
            </a:r>
            <a:endParaRPr lang="zh-CN" altLang="en-US" dirty="0"/>
          </a:p>
        </p:txBody>
      </p:sp>
      <p:sp>
        <p:nvSpPr>
          <p:cNvPr id="24" name="矩形 23"/>
          <p:cNvSpPr/>
          <p:nvPr/>
        </p:nvSpPr>
        <p:spPr>
          <a:xfrm>
            <a:off x="766816" y="3382893"/>
            <a:ext cx="7388891" cy="1092607"/>
          </a:xfrm>
          <a:prstGeom prst="rect">
            <a:avLst/>
          </a:prstGeom>
          <a:noFill/>
        </p:spPr>
        <p:txBody>
          <a:bodyPr wrap="square">
            <a:spAutoFit/>
          </a:bodyPr>
          <a:lstStyle/>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CIDR </a:t>
            </a:r>
            <a:r>
              <a:rPr lang="zh-CN" altLang="zh-CN" sz="1600" b="1" kern="500" dirty="0">
                <a:solidFill>
                  <a:srgbClr val="000000"/>
                </a:solidFill>
                <a:latin typeface="微软雅黑" panose="020B0503020204020204" pitchFamily="34" charset="-122"/>
                <a:ea typeface="微软雅黑" panose="020B0503020204020204" pitchFamily="34" charset="-122"/>
              </a:rPr>
              <a:t>记法</a:t>
            </a:r>
            <a:r>
              <a:rPr lang="zh-CN" altLang="en-US" sz="1600" b="1" kern="500" dirty="0">
                <a:solidFill>
                  <a:srgbClr val="000000"/>
                </a:solidFill>
                <a:latin typeface="微软雅黑" panose="020B0503020204020204" pitchFamily="34" charset="-122"/>
                <a:ea typeface="微软雅黑" panose="020B0503020204020204" pitchFamily="34" charset="-122"/>
              </a:rPr>
              <a:t>地址：</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2001:0DB8:0:CD30:123:4567:89AB:CDEF/60</a:t>
            </a:r>
            <a:r>
              <a:rPr lang="zh-CN" altLang="zh-CN" sz="1600" b="1" kern="500" dirty="0">
                <a:solidFill>
                  <a:srgbClr val="000000"/>
                </a:solidFill>
                <a:latin typeface="微软雅黑" panose="020B0503020204020204" pitchFamily="34" charset="-122"/>
                <a:ea typeface="微软雅黑" panose="020B0503020204020204" pitchFamily="34" charset="-122"/>
              </a:rPr>
              <a:t>，表示</a:t>
            </a:r>
            <a:r>
              <a:rPr lang="zh-CN" altLang="en-US" sz="1600" b="1" kern="500" dirty="0">
                <a:solidFill>
                  <a:srgbClr val="000000"/>
                </a:solidFill>
                <a:latin typeface="微软雅黑" panose="020B0503020204020204" pitchFamily="34" charset="-122"/>
                <a:ea typeface="微软雅黑" panose="020B0503020204020204" pitchFamily="34" charset="-122"/>
              </a:rPr>
              <a:t>：</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IPv6 </a:t>
            </a:r>
            <a:r>
              <a:rPr lang="zh-CN" altLang="zh-CN" sz="1600" b="1" kern="500" dirty="0">
                <a:solidFill>
                  <a:srgbClr val="000000"/>
                </a:solidFill>
                <a:latin typeface="微软雅黑" panose="020B0503020204020204" pitchFamily="34" charset="-122"/>
                <a:ea typeface="微软雅黑" panose="020B0503020204020204" pitchFamily="34" charset="-122"/>
              </a:rPr>
              <a:t>的地址是：</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zh-CN" altLang="zh-CN" sz="1600" b="1" kern="500" dirty="0">
                <a:latin typeface="微软雅黑" panose="020B0503020204020204" pitchFamily="34" charset="-122"/>
                <a:ea typeface="微软雅黑" panose="020B0503020204020204" pitchFamily="34" charset="-122"/>
              </a:rPr>
              <a:t>其子网号是：</a:t>
            </a:r>
            <a:r>
              <a:rPr lang="en-US" altLang="zh-CN" sz="1600" b="1" kern="500" dirty="0">
                <a:latin typeface="微软雅黑" panose="020B0503020204020204" pitchFamily="34" charset="-122"/>
                <a:ea typeface="微软雅黑" panose="020B0503020204020204" pitchFamily="34" charset="-122"/>
              </a:rPr>
              <a:t>	</a:t>
            </a:r>
            <a:r>
              <a:rPr lang="en-US" altLang="zh-CN" sz="1600" b="1" kern="500" dirty="0">
                <a:solidFill>
                  <a:srgbClr val="000000"/>
                </a:solidFill>
                <a:latin typeface="微软雅黑" panose="020B0503020204020204" pitchFamily="34" charset="-122"/>
                <a:ea typeface="微软雅黑" panose="020B0503020204020204" pitchFamily="34" charset="-122"/>
              </a:rPr>
              <a:t>2001:0DB8:0:CD30::/60</a:t>
            </a:r>
            <a:endParaRPr lang="zh-CN" altLang="zh-CN" sz="1600" b="1" kern="5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523324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内容占位符 3"/>
          <p:cNvGraphicFramePr>
            <a:graphicFrameLocks/>
          </p:cNvGraphicFramePr>
          <p:nvPr>
            <p:extLst>
              <p:ext uri="{D42A27DB-BD31-4B8C-83A1-F6EECF244321}">
                <p14:modId xmlns:p14="http://schemas.microsoft.com/office/powerpoint/2010/main" val="4287544903"/>
              </p:ext>
            </p:extLst>
          </p:nvPr>
        </p:nvGraphicFramePr>
        <p:xfrm>
          <a:off x="486000" y="1119916"/>
          <a:ext cx="8172000" cy="2569095"/>
        </p:xfrm>
        <a:graphic>
          <a:graphicData uri="http://schemas.openxmlformats.org/drawingml/2006/table">
            <a:tbl>
              <a:tblPr firstRow="1" firstCol="1" bandCol="1">
                <a:tableStyleId>{7DF18680-E054-41AD-8BC1-D1AEF772440D}</a:tableStyleId>
              </a:tblPr>
              <a:tblGrid>
                <a:gridCol w="1844427">
                  <a:extLst>
                    <a:ext uri="{9D8B030D-6E8A-4147-A177-3AD203B41FA5}">
                      <a16:colId xmlns:a16="http://schemas.microsoft.com/office/drawing/2014/main" val="20000"/>
                    </a:ext>
                  </a:extLst>
                </a:gridCol>
                <a:gridCol w="3990492">
                  <a:extLst>
                    <a:ext uri="{9D8B030D-6E8A-4147-A177-3AD203B41FA5}">
                      <a16:colId xmlns:a16="http://schemas.microsoft.com/office/drawing/2014/main" val="20001"/>
                    </a:ext>
                  </a:extLst>
                </a:gridCol>
                <a:gridCol w="2337081">
                  <a:extLst>
                    <a:ext uri="{9D8B030D-6E8A-4147-A177-3AD203B41FA5}">
                      <a16:colId xmlns:a16="http://schemas.microsoft.com/office/drawing/2014/main" val="20002"/>
                    </a:ext>
                  </a:extLst>
                </a:gridCol>
              </a:tblGrid>
              <a:tr h="396471">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地址类型</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二进制前缀</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en-US" altLang="zh-CN" sz="1400" b="0" baseline="0" dirty="0" err="1">
                          <a:solidFill>
                            <a:schemeClr val="bg1"/>
                          </a:solidFill>
                          <a:latin typeface="Courier New" panose="02070309020205020404" pitchFamily="49" charset="0"/>
                          <a:ea typeface="微软雅黑 Light" panose="020B0502040204020203" pitchFamily="34" charset="-122"/>
                        </a:rPr>
                        <a:t>IPv6</a:t>
                      </a:r>
                      <a:r>
                        <a:rPr lang="zh-CN" altLang="en-US" sz="1400" b="0" baseline="0" dirty="0">
                          <a:solidFill>
                            <a:schemeClr val="bg1"/>
                          </a:solidFill>
                          <a:latin typeface="Courier New" panose="02070309020205020404" pitchFamily="49" charset="0"/>
                          <a:ea typeface="微软雅黑 Light" panose="020B0502040204020203" pitchFamily="34" charset="-122"/>
                        </a:rPr>
                        <a:t>记法</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0"/>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未指明地址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1"/>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环回地址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2"/>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多播地址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a:effectLst/>
                          <a:latin typeface="Courier New" panose="02070309020205020404" pitchFamily="49" charset="0"/>
                          <a:ea typeface="微软雅黑 Light" panose="020B0502040204020203" pitchFamily="34" charset="-122"/>
                        </a:rPr>
                        <a:t>11111111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8</a:t>
                      </a:r>
                      <a:r>
                        <a:rPr lang="zh-CN" sz="1400" b="0" baseline="0" dirty="0">
                          <a:effectLst/>
                          <a:latin typeface="Courier New" panose="02070309020205020404" pitchFamily="49" charset="0"/>
                          <a:ea typeface="微软雅黑 Light" panose="020B0502040204020203" pitchFamily="34" charset="-122"/>
                        </a:rPr>
                        <a:t>位），</a:t>
                      </a:r>
                      <a:r>
                        <a:rPr lang="zh-CN" altLang="en-US" sz="1400" b="0" kern="1200" baseline="0" dirty="0">
                          <a:solidFill>
                            <a:srgbClr val="C00000"/>
                          </a:solidFill>
                          <a:latin typeface="Courier New" panose="02070309020205020404" pitchFamily="49" charset="0"/>
                          <a:ea typeface="微软雅黑 Light" panose="020B0502040204020203" pitchFamily="34" charset="-122"/>
                        </a:rPr>
                        <a:t>功能和 </a:t>
                      </a:r>
                      <a:r>
                        <a:rPr lang="en-US" altLang="zh-CN" sz="1400" b="0" kern="1200" baseline="0" dirty="0" err="1">
                          <a:solidFill>
                            <a:srgbClr val="C00000"/>
                          </a:solidFill>
                          <a:latin typeface="Courier New" panose="02070309020205020404" pitchFamily="49" charset="0"/>
                          <a:ea typeface="微软雅黑 Light" panose="020B0502040204020203" pitchFamily="34" charset="-122"/>
                        </a:rPr>
                        <a:t>IPv4</a:t>
                      </a:r>
                      <a:r>
                        <a:rPr lang="en-US" altLang="zh-CN" sz="1400" b="0" kern="1200" baseline="0" dirty="0">
                          <a:solidFill>
                            <a:srgbClr val="C00000"/>
                          </a:solidFill>
                          <a:latin typeface="Courier New" panose="02070309020205020404" pitchFamily="49" charset="0"/>
                          <a:ea typeface="微软雅黑 Light" panose="020B0502040204020203" pitchFamily="34" charset="-122"/>
                        </a:rPr>
                        <a:t> </a:t>
                      </a:r>
                      <a:r>
                        <a:rPr lang="zh-CN" altLang="en-US" sz="1400" b="0" kern="1200" baseline="0" dirty="0">
                          <a:solidFill>
                            <a:srgbClr val="C00000"/>
                          </a:solidFill>
                          <a:latin typeface="Courier New" panose="02070309020205020404" pitchFamily="49" charset="0"/>
                          <a:ea typeface="微软雅黑 Light" panose="020B0502040204020203" pitchFamily="34" charset="-122"/>
                        </a:rPr>
                        <a:t>的一样</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err="1">
                          <a:effectLst/>
                          <a:latin typeface="Courier New" panose="02070309020205020404" pitchFamily="49" charset="0"/>
                          <a:ea typeface="微软雅黑 Light" panose="020B0502040204020203" pitchFamily="34" charset="-122"/>
                        </a:rPr>
                        <a:t>FF00</a:t>
                      </a:r>
                      <a:r>
                        <a:rPr lang="en-US" sz="1400" b="0" baseline="0" dirty="0">
                          <a:effectLst/>
                          <a:latin typeface="Courier New" panose="02070309020205020404" pitchFamily="49" charset="0"/>
                          <a:ea typeface="微软雅黑 Light" panose="020B0502040204020203" pitchFamily="34" charset="-122"/>
                        </a:rPr>
                        <a:t>::/8</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extLst>
                  <a:ext uri="{0D108BD9-81ED-4DB2-BD59-A6C34878D82A}">
                    <a16:rowId xmlns:a16="http://schemas.microsoft.com/office/drawing/2014/main" val="10003"/>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本地链路单播地址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1111111010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10</a:t>
                      </a:r>
                      <a:r>
                        <a:rPr lang="zh-CN" sz="1400" b="0" baseline="0" dirty="0">
                          <a:effectLst/>
                          <a:latin typeface="Courier New" panose="02070309020205020404" pitchFamily="49" charset="0"/>
                          <a:ea typeface="微软雅黑 Light" panose="020B0502040204020203" pitchFamily="34" charset="-122"/>
                        </a:rPr>
                        <a:t>位）</a:t>
                      </a:r>
                      <a:r>
                        <a:rPr lang="en-US" sz="1400" b="0" baseline="0" dirty="0">
                          <a:effectLst/>
                          <a:latin typeface="Courier New" panose="02070309020205020404" pitchFamily="49" charset="0"/>
                          <a:ea typeface="微软雅黑 Light" panose="020B0502040204020203" pitchFamily="34" charset="-122"/>
                        </a:rPr>
                        <a:t>, </a:t>
                      </a:r>
                      <a:r>
                        <a:rPr lang="zh-CN" altLang="en-US" sz="1400" b="0" baseline="0" dirty="0">
                          <a:solidFill>
                            <a:srgbClr val="C00000"/>
                          </a:solidFill>
                          <a:latin typeface="Courier New" panose="02070309020205020404" pitchFamily="49" charset="0"/>
                          <a:ea typeface="微软雅黑 Light" panose="020B0502040204020203" pitchFamily="34" charset="-122"/>
                        </a:rPr>
                        <a:t>未连接到互联网，不能和互联网上的其他主机通信</a:t>
                      </a:r>
                    </a:p>
                  </a:txBody>
                  <a:tcPr marL="68580" marR="68580" marT="0" marB="0" anchor="ctr"/>
                </a:tc>
                <a:tc>
                  <a:txBody>
                    <a:bodyPr/>
                    <a:lstStyle/>
                    <a:p>
                      <a:pPr algn="just">
                        <a:lnSpc>
                          <a:spcPts val="2400"/>
                        </a:lnSpc>
                        <a:spcAft>
                          <a:spcPts val="0"/>
                        </a:spcAft>
                      </a:pPr>
                      <a:r>
                        <a:rPr lang="en-US" sz="1400" b="0" baseline="0" dirty="0" err="1">
                          <a:effectLst/>
                          <a:latin typeface="Courier New" panose="02070309020205020404" pitchFamily="49" charset="0"/>
                          <a:ea typeface="微软雅黑 Light" panose="020B0502040204020203" pitchFamily="34" charset="-122"/>
                        </a:rPr>
                        <a:t>FE80</a:t>
                      </a:r>
                      <a:r>
                        <a:rPr lang="en-US" sz="1400" b="0" baseline="0" dirty="0">
                          <a:effectLst/>
                          <a:latin typeface="Courier New" panose="02070309020205020404" pitchFamily="49" charset="0"/>
                          <a:ea typeface="微软雅黑 Light" panose="020B0502040204020203" pitchFamily="34" charset="-122"/>
                        </a:rPr>
                        <a:t>::/10</a:t>
                      </a:r>
                      <a:endParaRPr lang="zh-CN" altLang="en-US" sz="1400" b="0" baseline="0" dirty="0">
                        <a:solidFill>
                          <a:srgbClr val="C00000"/>
                        </a:solidFill>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4"/>
                  </a:ext>
                </a:extLst>
              </a:tr>
              <a:tr h="396471">
                <a:tc>
                  <a:txBody>
                    <a:bodyPr/>
                    <a:lstStyle/>
                    <a:p>
                      <a:pPr algn="just">
                        <a:lnSpc>
                          <a:spcPts val="2400"/>
                        </a:lnSpc>
                        <a:spcAft>
                          <a:spcPts val="0"/>
                        </a:spcAft>
                      </a:pPr>
                      <a:r>
                        <a:rPr lang="zh-CN" sz="1400" b="0" baseline="0">
                          <a:effectLst/>
                          <a:latin typeface="Courier New" panose="02070309020205020404" pitchFamily="49" charset="0"/>
                          <a:ea typeface="微软雅黑 Light" panose="020B0502040204020203" pitchFamily="34" charset="-122"/>
                        </a:rPr>
                        <a:t>全球单播地址</a:t>
                      </a:r>
                      <a:endParaRPr lang="zh-CN" sz="1400" b="0" baseline="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gridSpan="2">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除上述四种外，所有其他的二进制前缀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hMerge="1">
                  <a:txBody>
                    <a:bodyPr/>
                    <a:lstStyle/>
                    <a:p>
                      <a:pPr algn="just">
                        <a:lnSpc>
                          <a:spcPts val="2400"/>
                        </a:lnSpc>
                        <a:spcAft>
                          <a:spcPts val="0"/>
                        </a:spcAft>
                      </a:pPr>
                      <a:endParaRPr lang="zh-CN" sz="16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5"/>
                  </a:ext>
                </a:extLst>
              </a:tr>
            </a:tbl>
          </a:graphicData>
        </a:graphic>
      </p:graphicFrame>
      <p:sp>
        <p:nvSpPr>
          <p:cNvPr id="5" name="标题 4">
            <a:extLst>
              <a:ext uri="{FF2B5EF4-FFF2-40B4-BE49-F238E27FC236}">
                <a16:creationId xmlns:a16="http://schemas.microsoft.com/office/drawing/2014/main" id="{10500D6D-EEC5-3704-AB2A-AB6D9105CE69}"/>
              </a:ext>
            </a:extLst>
          </p:cNvPr>
          <p:cNvSpPr>
            <a:spLocks noGrp="1"/>
          </p:cNvSpPr>
          <p:nvPr>
            <p:ph type="title"/>
          </p:nvPr>
        </p:nvSpPr>
        <p:spPr>
          <a:xfrm>
            <a:off x="486000" y="550723"/>
            <a:ext cx="8172000" cy="338554"/>
          </a:xfrm>
        </p:spPr>
        <p:txBody>
          <a:bodyPr/>
          <a:lstStyle/>
          <a:p>
            <a:r>
              <a:rPr lang="en-US" altLang="zh-CN" dirty="0"/>
              <a:t>IPv6 </a:t>
            </a:r>
            <a:r>
              <a:rPr lang="zh-CN" altLang="en-US" dirty="0"/>
              <a:t>地址分类</a:t>
            </a:r>
          </a:p>
        </p:txBody>
      </p:sp>
    </p:spTree>
    <p:extLst>
      <p:ext uri="{BB962C8B-B14F-4D97-AF65-F5344CB8AC3E}">
        <p14:creationId xmlns:p14="http://schemas.microsoft.com/office/powerpoint/2010/main" val="38367565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 name="组合 22"/>
          <p:cNvGrpSpPr/>
          <p:nvPr/>
        </p:nvGrpSpPr>
        <p:grpSpPr>
          <a:xfrm>
            <a:off x="998507" y="1410676"/>
            <a:ext cx="7174153" cy="1390651"/>
            <a:chOff x="933855" y="1761657"/>
            <a:chExt cx="7174153" cy="1390651"/>
          </a:xfrm>
        </p:grpSpPr>
        <p:sp>
          <p:nvSpPr>
            <p:cNvPr id="6" name="Rectangle 2"/>
            <p:cNvSpPr>
              <a:spLocks noChangeArrowheads="1"/>
            </p:cNvSpPr>
            <p:nvPr/>
          </p:nvSpPr>
          <p:spPr bwMode="auto">
            <a:xfrm>
              <a:off x="933855" y="2806529"/>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dirty="0">
                <a:solidFill>
                  <a:srgbClr val="000099"/>
                </a:solidFill>
                <a:latin typeface="微软雅黑" pitchFamily="34" charset="-122"/>
                <a:ea typeface="微软雅黑" pitchFamily="34" charset="-122"/>
              </a:endParaRPr>
            </a:p>
          </p:txBody>
        </p:sp>
        <p:sp>
          <p:nvSpPr>
            <p:cNvPr id="7" name="Rectangle 110"/>
            <p:cNvSpPr>
              <a:spLocks noChangeArrowheads="1"/>
            </p:cNvSpPr>
            <p:nvPr/>
          </p:nvSpPr>
          <p:spPr bwMode="auto">
            <a:xfrm>
              <a:off x="5504730" y="2837799"/>
              <a:ext cx="260327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a:t>
              </a:r>
              <a:r>
                <a:rPr lang="en-US" altLang="zh-CN" sz="1400" b="1" i="1" dirty="0">
                  <a:solidFill>
                    <a:schemeClr val="bg1"/>
                  </a:solidFill>
                  <a:latin typeface="微软雅黑" pitchFamily="34" charset="-122"/>
                  <a:ea typeface="微软雅黑" pitchFamily="34" charset="-122"/>
                </a:rPr>
                <a:t>m</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8" name="Line 165"/>
            <p:cNvSpPr>
              <a:spLocks noChangeShapeType="1"/>
            </p:cNvSpPr>
            <p:nvPr/>
          </p:nvSpPr>
          <p:spPr bwMode="auto">
            <a:xfrm>
              <a:off x="3664655" y="2806529"/>
              <a:ext cx="1435" cy="345779"/>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166"/>
            <p:cNvSpPr>
              <a:spLocks noChangeShapeType="1"/>
            </p:cNvSpPr>
            <p:nvPr/>
          </p:nvSpPr>
          <p:spPr bwMode="auto">
            <a:xfrm>
              <a:off x="5552120" y="2806529"/>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Rectangle 2"/>
            <p:cNvSpPr>
              <a:spLocks noChangeArrowheads="1"/>
            </p:cNvSpPr>
            <p:nvPr/>
          </p:nvSpPr>
          <p:spPr bwMode="auto">
            <a:xfrm>
              <a:off x="933855" y="2294550"/>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1" name="Rectangle 2"/>
            <p:cNvSpPr>
              <a:spLocks noChangeArrowheads="1"/>
            </p:cNvSpPr>
            <p:nvPr/>
          </p:nvSpPr>
          <p:spPr bwMode="auto">
            <a:xfrm>
              <a:off x="933855" y="1774261"/>
              <a:ext cx="7172653" cy="335566"/>
            </a:xfrm>
            <a:prstGeom prst="rect">
              <a:avLst/>
            </a:prstGeom>
            <a:solidFill>
              <a:srgbClr val="00FF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2" name="Rectangle 126"/>
            <p:cNvSpPr>
              <a:spLocks noChangeArrowheads="1"/>
            </p:cNvSpPr>
            <p:nvPr/>
          </p:nvSpPr>
          <p:spPr bwMode="auto">
            <a:xfrm>
              <a:off x="2660076" y="1761657"/>
              <a:ext cx="3879272" cy="3359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algn="ctr" defTabSz="762000"/>
              <a:r>
                <a:rPr lang="zh-CN" altLang="en-US" sz="1600" b="1" dirty="0">
                  <a:latin typeface="微软雅黑" pitchFamily="34" charset="-122"/>
                  <a:ea typeface="微软雅黑" pitchFamily="34" charset="-122"/>
                </a:rPr>
                <a:t>节 点 地 址 </a:t>
              </a:r>
              <a:r>
                <a:rPr lang="en-US" altLang="zh-CN" sz="1600" b="1" dirty="0">
                  <a:latin typeface="微软雅黑" pitchFamily="34" charset="-122"/>
                  <a:ea typeface="微软雅黑" pitchFamily="34" charset="-122"/>
                </a:rPr>
                <a:t>(128 bit)</a:t>
              </a:r>
              <a:endParaRPr lang="zh-CN" altLang="en-US" sz="1600" b="1" dirty="0">
                <a:latin typeface="微软雅黑" pitchFamily="34" charset="-122"/>
                <a:ea typeface="微软雅黑" pitchFamily="34" charset="-122"/>
              </a:endParaRPr>
            </a:p>
          </p:txBody>
        </p:sp>
        <p:sp>
          <p:nvSpPr>
            <p:cNvPr id="13" name="Line 166"/>
            <p:cNvSpPr>
              <a:spLocks noChangeShapeType="1"/>
            </p:cNvSpPr>
            <p:nvPr/>
          </p:nvSpPr>
          <p:spPr bwMode="auto">
            <a:xfrm>
              <a:off x="4788632" y="2294550"/>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Rectangle 110"/>
            <p:cNvSpPr>
              <a:spLocks noChangeArrowheads="1"/>
            </p:cNvSpPr>
            <p:nvPr/>
          </p:nvSpPr>
          <p:spPr bwMode="auto">
            <a:xfrm>
              <a:off x="5293811" y="2321286"/>
              <a:ext cx="227786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 </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15" name="矩形 14"/>
            <p:cNvSpPr/>
            <p:nvPr/>
          </p:nvSpPr>
          <p:spPr bwMode="auto">
            <a:xfrm>
              <a:off x="963629" y="2309803"/>
              <a:ext cx="3795720"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6" name="Rectangle 126"/>
            <p:cNvSpPr>
              <a:spLocks noChangeArrowheads="1"/>
            </p:cNvSpPr>
            <p:nvPr/>
          </p:nvSpPr>
          <p:spPr bwMode="auto">
            <a:xfrm>
              <a:off x="2123587" y="2319438"/>
              <a:ext cx="1511633"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7" name="矩形 16"/>
            <p:cNvSpPr/>
            <p:nvPr/>
          </p:nvSpPr>
          <p:spPr bwMode="auto">
            <a:xfrm>
              <a:off x="3695998" y="2823875"/>
              <a:ext cx="1829473"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8" name="Rectangle 126"/>
            <p:cNvSpPr>
              <a:spLocks noChangeArrowheads="1"/>
            </p:cNvSpPr>
            <p:nvPr/>
          </p:nvSpPr>
          <p:spPr bwMode="auto">
            <a:xfrm>
              <a:off x="3726694" y="2837798"/>
              <a:ext cx="1750480"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子网标识符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m</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9" name="矩形 18"/>
            <p:cNvSpPr/>
            <p:nvPr/>
          </p:nvSpPr>
          <p:spPr bwMode="auto">
            <a:xfrm>
              <a:off x="963629" y="2824700"/>
              <a:ext cx="2675206" cy="304236"/>
            </a:xfrm>
            <a:prstGeom prst="rect">
              <a:avLst/>
            </a:prstGeom>
            <a:solidFill>
              <a:srgbClr val="00FF99"/>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20" name="Rectangle 126"/>
            <p:cNvSpPr>
              <a:spLocks noChangeArrowheads="1"/>
            </p:cNvSpPr>
            <p:nvPr/>
          </p:nvSpPr>
          <p:spPr bwMode="auto">
            <a:xfrm>
              <a:off x="1172893" y="2837798"/>
              <a:ext cx="222977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全球路由选择前缀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9A44C0A7-DDF9-79CC-BB3B-7AD53A26CE19}"/>
              </a:ext>
            </a:extLst>
          </p:cNvPr>
          <p:cNvSpPr>
            <a:spLocks noGrp="1"/>
          </p:cNvSpPr>
          <p:nvPr>
            <p:ph type="title"/>
          </p:nvPr>
        </p:nvSpPr>
        <p:spPr>
          <a:xfrm>
            <a:off x="486000" y="550723"/>
            <a:ext cx="8172000" cy="338554"/>
          </a:xfrm>
        </p:spPr>
        <p:txBody>
          <a:bodyPr/>
          <a:lstStyle/>
          <a:p>
            <a:r>
              <a:rPr lang="en-US" altLang="zh-CN" dirty="0"/>
              <a:t>IPv6 </a:t>
            </a:r>
            <a:r>
              <a:rPr lang="zh-CN" altLang="en-US" dirty="0"/>
              <a:t>单播地址的划分方法</a:t>
            </a:r>
          </a:p>
        </p:txBody>
      </p:sp>
    </p:spTree>
    <p:extLst>
      <p:ext uri="{BB962C8B-B14F-4D97-AF65-F5344CB8AC3E}">
        <p14:creationId xmlns:p14="http://schemas.microsoft.com/office/powerpoint/2010/main" val="3275345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B3E5241-4FFD-25E6-C881-6FA25F7A9CA1}"/>
              </a:ext>
            </a:extLst>
          </p:cNvPr>
          <p:cNvSpPr>
            <a:spLocks noGrp="1"/>
          </p:cNvSpPr>
          <p:nvPr>
            <p:ph type="title"/>
          </p:nvPr>
        </p:nvSpPr>
        <p:spPr>
          <a:xfrm>
            <a:off x="486000" y="550723"/>
            <a:ext cx="8172000" cy="338554"/>
          </a:xfrm>
        </p:spPr>
        <p:txBody>
          <a:bodyPr/>
          <a:lstStyle/>
          <a:p>
            <a:r>
              <a:rPr lang="en-US" altLang="zh-CN" dirty="0"/>
              <a:t>4.5.3  </a:t>
            </a:r>
            <a:r>
              <a:rPr lang="zh-CN" altLang="en-US" dirty="0"/>
              <a:t>从 </a:t>
            </a:r>
            <a:r>
              <a:rPr lang="en-US" altLang="zh-CN" dirty="0"/>
              <a:t>IPv4 </a:t>
            </a:r>
            <a:r>
              <a:rPr lang="zh-CN" altLang="en-US" dirty="0"/>
              <a:t>向 </a:t>
            </a:r>
            <a:r>
              <a:rPr lang="en-US" altLang="zh-CN" dirty="0"/>
              <a:t>IPv6 </a:t>
            </a:r>
            <a:r>
              <a:rPr lang="zh-CN" altLang="en-US" dirty="0"/>
              <a:t>过渡</a:t>
            </a:r>
          </a:p>
        </p:txBody>
      </p:sp>
      <p:sp>
        <p:nvSpPr>
          <p:cNvPr id="6" name="内容占位符 5">
            <a:extLst>
              <a:ext uri="{FF2B5EF4-FFF2-40B4-BE49-F238E27FC236}">
                <a16:creationId xmlns:a16="http://schemas.microsoft.com/office/drawing/2014/main" id="{11145FBD-3AC7-09F9-710B-0EA41C9E2E1D}"/>
              </a:ext>
            </a:extLst>
          </p:cNvPr>
          <p:cNvSpPr>
            <a:spLocks noGrp="1"/>
          </p:cNvSpPr>
          <p:nvPr>
            <p:ph sz="quarter" idx="11"/>
          </p:nvPr>
        </p:nvSpPr>
        <p:spPr>
          <a:xfrm>
            <a:off x="486000" y="900000"/>
            <a:ext cx="8172000" cy="3703500"/>
          </a:xfrm>
        </p:spPr>
        <p:txBody>
          <a:bodyPr/>
          <a:lstStyle/>
          <a:p>
            <a:r>
              <a:rPr lang="zh-CN" altLang="en-US" dirty="0"/>
              <a:t>方法：</a:t>
            </a:r>
            <a:endParaRPr lang="en-US" altLang="zh-CN" dirty="0"/>
          </a:p>
          <a:p>
            <a:pPr lvl="1"/>
            <a:r>
              <a:rPr lang="zh-CN" altLang="en-US" dirty="0"/>
              <a:t>逐步演进</a:t>
            </a:r>
            <a:endParaRPr lang="en-US" altLang="zh-CN" dirty="0"/>
          </a:p>
          <a:p>
            <a:pPr lvl="1"/>
            <a:r>
              <a:rPr lang="zh-CN" altLang="en-US" dirty="0"/>
              <a:t>向后兼容</a:t>
            </a:r>
            <a:endParaRPr lang="en-US" altLang="zh-CN" dirty="0"/>
          </a:p>
          <a:p>
            <a:r>
              <a:rPr lang="zh-CN" altLang="en-US" dirty="0"/>
              <a:t>向后兼容：</a:t>
            </a:r>
            <a:endParaRPr lang="en-US" altLang="zh-CN" dirty="0"/>
          </a:p>
          <a:p>
            <a:pPr lvl="1"/>
            <a:r>
              <a:rPr lang="en-US" altLang="zh-CN" dirty="0"/>
              <a:t>IPv6 </a:t>
            </a:r>
            <a:r>
              <a:rPr lang="zh-CN" altLang="en-US" dirty="0"/>
              <a:t>系统必须能够接收和转发 </a:t>
            </a:r>
            <a:r>
              <a:rPr lang="en-US" altLang="zh-CN" dirty="0"/>
              <a:t>IPv4 </a:t>
            </a:r>
            <a:r>
              <a:rPr lang="zh-CN" altLang="en-US" dirty="0"/>
              <a:t>分组，并且能够为 </a:t>
            </a:r>
            <a:r>
              <a:rPr lang="en-US" altLang="zh-CN" dirty="0"/>
              <a:t>IPv4 </a:t>
            </a:r>
            <a:r>
              <a:rPr lang="zh-CN" altLang="en-US" dirty="0"/>
              <a:t>分组选择路由</a:t>
            </a:r>
          </a:p>
          <a:p>
            <a:r>
              <a:rPr lang="zh-CN" altLang="en-US" dirty="0"/>
              <a:t>两种过渡策略：</a:t>
            </a:r>
          </a:p>
          <a:p>
            <a:pPr lvl="1"/>
            <a:r>
              <a:rPr lang="zh-CN" altLang="en-US" dirty="0"/>
              <a:t>使用双协议栈</a:t>
            </a:r>
          </a:p>
          <a:p>
            <a:pPr lvl="1"/>
            <a:r>
              <a:rPr lang="zh-CN" altLang="en-US" dirty="0"/>
              <a:t>使用隧道技术</a:t>
            </a:r>
          </a:p>
          <a:p>
            <a:endParaRPr lang="zh-CN" altLang="en-US" dirty="0"/>
          </a:p>
        </p:txBody>
      </p:sp>
    </p:spTree>
    <p:extLst>
      <p:ext uri="{BB962C8B-B14F-4D97-AF65-F5344CB8AC3E}">
        <p14:creationId xmlns:p14="http://schemas.microsoft.com/office/powerpoint/2010/main" val="79617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7"/>
          <p:cNvSpPr>
            <a:spLocks noChangeArrowheads="1"/>
          </p:cNvSpPr>
          <p:nvPr/>
        </p:nvSpPr>
        <p:spPr bwMode="auto">
          <a:xfrm>
            <a:off x="3042946" y="1321524"/>
            <a:ext cx="3097212" cy="1584325"/>
          </a:xfrm>
          <a:prstGeom prst="rect">
            <a:avLst/>
          </a:prstGeom>
          <a:solidFill>
            <a:schemeClr val="bg1"/>
          </a:solidFill>
          <a:ln w="28575">
            <a:solidFill>
              <a:schemeClr val="tx1"/>
            </a:solidFill>
            <a:miter lim="800000"/>
            <a:headEnd/>
            <a:tailEnd/>
          </a:ln>
          <a:effectLst/>
        </p:spPr>
        <p:txBody>
          <a:bodyPr wrap="none" anchor="ctr"/>
          <a:lstStyle/>
          <a:p>
            <a:pPr>
              <a:defRPr/>
            </a:pPr>
            <a:endParaRPr lang="zh-CN" altLang="en-US" b="1">
              <a:latin typeface="微软雅黑" panose="020B0503020204020204" pitchFamily="34" charset="-122"/>
              <a:ea typeface="微软雅黑" panose="020B0503020204020204" pitchFamily="34" charset="-122"/>
            </a:endParaRPr>
          </a:p>
        </p:txBody>
      </p:sp>
      <p:sp>
        <p:nvSpPr>
          <p:cNvPr id="6" name="Line 89"/>
          <p:cNvSpPr>
            <a:spLocks noChangeShapeType="1"/>
          </p:cNvSpPr>
          <p:nvPr/>
        </p:nvSpPr>
        <p:spPr bwMode="auto">
          <a:xfrm>
            <a:off x="3042946" y="204224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7" name="Text Box 90"/>
          <p:cNvSpPr txBox="1">
            <a:spLocks noChangeArrowheads="1"/>
          </p:cNvSpPr>
          <p:nvPr/>
        </p:nvSpPr>
        <p:spPr bwMode="auto">
          <a:xfrm>
            <a:off x="3395371" y="1704111"/>
            <a:ext cx="8001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运输层</a:t>
            </a:r>
          </a:p>
        </p:txBody>
      </p:sp>
      <p:sp>
        <p:nvSpPr>
          <p:cNvPr id="8" name="Line 89"/>
          <p:cNvSpPr>
            <a:spLocks noChangeShapeType="1"/>
          </p:cNvSpPr>
          <p:nvPr/>
        </p:nvSpPr>
        <p:spPr bwMode="auto">
          <a:xfrm>
            <a:off x="3042946" y="246769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cxnSp>
        <p:nvCxnSpPr>
          <p:cNvPr id="9" name="直接连接符 69"/>
          <p:cNvCxnSpPr>
            <a:cxnSpLocks noChangeShapeType="1"/>
          </p:cNvCxnSpPr>
          <p:nvPr/>
        </p:nvCxnSpPr>
        <p:spPr bwMode="auto">
          <a:xfrm>
            <a:off x="4593933" y="2048599"/>
            <a:ext cx="1588" cy="4381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10" name="Rectangle 47"/>
          <p:cNvSpPr>
            <a:spLocks noChangeArrowheads="1"/>
          </p:cNvSpPr>
          <p:nvPr/>
        </p:nvSpPr>
        <p:spPr bwMode="auto">
          <a:xfrm>
            <a:off x="3149308" y="2110511"/>
            <a:ext cx="1360488" cy="271463"/>
          </a:xfrm>
          <a:prstGeom prst="rect">
            <a:avLst/>
          </a:prstGeom>
          <a:solidFill>
            <a:srgbClr val="00B0F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IPv4</a:t>
            </a:r>
            <a:endParaRPr lang="zh-CN" altLang="en-US" sz="1600" b="1" dirty="0">
              <a:latin typeface="微软雅黑" panose="020B0503020204020204" pitchFamily="34" charset="-122"/>
              <a:ea typeface="微软雅黑" panose="020B0503020204020204" pitchFamily="34" charset="-122"/>
            </a:endParaRPr>
          </a:p>
        </p:txBody>
      </p:sp>
      <p:sp>
        <p:nvSpPr>
          <p:cNvPr id="11" name="Rectangle 47"/>
          <p:cNvSpPr>
            <a:spLocks noChangeArrowheads="1"/>
          </p:cNvSpPr>
          <p:nvPr/>
        </p:nvSpPr>
        <p:spPr bwMode="auto">
          <a:xfrm>
            <a:off x="4700296" y="2113686"/>
            <a:ext cx="1358900" cy="273050"/>
          </a:xfrm>
          <a:prstGeom prst="rect">
            <a:avLst/>
          </a:prstGeom>
          <a:solidFill>
            <a:srgbClr val="00B05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IPv6</a:t>
            </a:r>
            <a:endParaRPr lang="zh-CN" altLang="en-US" sz="1600" b="1" dirty="0">
              <a:latin typeface="微软雅黑" panose="020B0503020204020204" pitchFamily="34" charset="-122"/>
              <a:ea typeface="微软雅黑" panose="020B0503020204020204" pitchFamily="34" charset="-122"/>
            </a:endParaRPr>
          </a:p>
        </p:txBody>
      </p:sp>
      <p:sp>
        <p:nvSpPr>
          <p:cNvPr id="12" name="Text Box 90"/>
          <p:cNvSpPr txBox="1">
            <a:spLocks noChangeArrowheads="1"/>
          </p:cNvSpPr>
          <p:nvPr/>
        </p:nvSpPr>
        <p:spPr bwMode="auto">
          <a:xfrm>
            <a:off x="2989980" y="2545486"/>
            <a:ext cx="141605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链路层和以下</a:t>
            </a:r>
          </a:p>
        </p:txBody>
      </p:sp>
      <p:sp>
        <p:nvSpPr>
          <p:cNvPr id="13" name="Line 89"/>
          <p:cNvSpPr>
            <a:spLocks noChangeShapeType="1"/>
          </p:cNvSpPr>
          <p:nvPr/>
        </p:nvSpPr>
        <p:spPr bwMode="auto">
          <a:xfrm>
            <a:off x="3042946" y="1681886"/>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Text Box 90"/>
          <p:cNvSpPr txBox="1">
            <a:spLocks noChangeArrowheads="1"/>
          </p:cNvSpPr>
          <p:nvPr/>
        </p:nvSpPr>
        <p:spPr bwMode="auto">
          <a:xfrm>
            <a:off x="3395371" y="1321524"/>
            <a:ext cx="80010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应用层</a:t>
            </a:r>
          </a:p>
        </p:txBody>
      </p:sp>
      <p:sp>
        <p:nvSpPr>
          <p:cNvPr id="15" name="Text Box 18"/>
          <p:cNvSpPr txBox="1">
            <a:spLocks noChangeArrowheads="1"/>
          </p:cNvSpPr>
          <p:nvPr/>
        </p:nvSpPr>
        <p:spPr bwMode="auto">
          <a:xfrm>
            <a:off x="200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到 </a:t>
            </a:r>
            <a:r>
              <a:rPr lang="en-US" altLang="zh-CN" sz="1600" b="1" dirty="0">
                <a:latin typeface="微软雅黑" panose="020B0503020204020204" pitchFamily="34" charset="-122"/>
                <a:ea typeface="微软雅黑" panose="020B0503020204020204" pitchFamily="34" charset="-122"/>
              </a:rPr>
              <a:t>IPv4 </a:t>
            </a:r>
            <a:r>
              <a:rPr lang="zh-CN" altLang="en-US" sz="1600" b="1" dirty="0">
                <a:latin typeface="微软雅黑" panose="020B0503020204020204" pitchFamily="34" charset="-122"/>
                <a:ea typeface="微软雅黑" panose="020B0503020204020204" pitchFamily="34" charset="-122"/>
              </a:rPr>
              <a:t>系统</a:t>
            </a:r>
            <a:endParaRPr lang="en-US" altLang="zh-CN" sz="1600" b="1" dirty="0">
              <a:latin typeface="微软雅黑" panose="020B0503020204020204" pitchFamily="34" charset="-122"/>
              <a:ea typeface="微软雅黑" panose="020B0503020204020204" pitchFamily="34" charset="-122"/>
            </a:endParaRPr>
          </a:p>
        </p:txBody>
      </p:sp>
      <p:sp>
        <p:nvSpPr>
          <p:cNvPr id="16" name="Text Box 18"/>
          <p:cNvSpPr txBox="1">
            <a:spLocks noChangeArrowheads="1"/>
          </p:cNvSpPr>
          <p:nvPr/>
        </p:nvSpPr>
        <p:spPr bwMode="auto">
          <a:xfrm>
            <a:off x="581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a:latin typeface="微软雅黑" panose="020B0503020204020204" pitchFamily="34" charset="-122"/>
                <a:ea typeface="微软雅黑" panose="020B0503020204020204" pitchFamily="34" charset="-122"/>
              </a:rPr>
              <a:t>到 </a:t>
            </a:r>
            <a:r>
              <a:rPr lang="en-US" altLang="zh-CN" sz="1600" b="1">
                <a:latin typeface="微软雅黑" panose="020B0503020204020204" pitchFamily="34" charset="-122"/>
                <a:ea typeface="微软雅黑" panose="020B0503020204020204" pitchFamily="34" charset="-122"/>
              </a:rPr>
              <a:t>IPv6 </a:t>
            </a:r>
            <a:r>
              <a:rPr lang="zh-CN" altLang="en-US" sz="1600" b="1">
                <a:latin typeface="微软雅黑" panose="020B0503020204020204" pitchFamily="34" charset="-122"/>
                <a:ea typeface="微软雅黑" panose="020B0503020204020204" pitchFamily="34" charset="-122"/>
              </a:rPr>
              <a:t>系统</a:t>
            </a:r>
            <a:endParaRPr lang="en-US" altLang="zh-CN" sz="1600" b="1">
              <a:latin typeface="微软雅黑" panose="020B0503020204020204" pitchFamily="34" charset="-122"/>
              <a:ea typeface="微软雅黑" panose="020B0503020204020204" pitchFamily="34" charset="-122"/>
            </a:endParaRPr>
          </a:p>
        </p:txBody>
      </p:sp>
      <p:sp>
        <p:nvSpPr>
          <p:cNvPr id="17" name="任意多边形 87"/>
          <p:cNvSpPr>
            <a:spLocks/>
          </p:cNvSpPr>
          <p:nvPr/>
        </p:nvSpPr>
        <p:spPr bwMode="auto">
          <a:xfrm>
            <a:off x="4801896" y="1470749"/>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8" name="任意多边形 88"/>
          <p:cNvSpPr>
            <a:spLocks/>
          </p:cNvSpPr>
          <p:nvPr/>
        </p:nvSpPr>
        <p:spPr bwMode="auto">
          <a:xfrm flipH="1">
            <a:off x="3269958" y="1465986"/>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0" name="矩形 19"/>
          <p:cNvSpPr/>
          <p:nvPr/>
        </p:nvSpPr>
        <p:spPr>
          <a:xfrm>
            <a:off x="2305552" y="3497228"/>
            <a:ext cx="4896480" cy="338554"/>
          </a:xfrm>
          <a:prstGeom prst="rect">
            <a:avLst/>
          </a:prstGeom>
        </p:spPr>
        <p:txBody>
          <a:bodyPr wrap="square">
            <a:spAutoFit/>
          </a:bodyPr>
          <a:lstStyle/>
          <a:p>
            <a:pPr algn="ctr">
              <a:buClr>
                <a:srgbClr val="0070C0"/>
              </a:buClr>
            </a:pPr>
            <a:r>
              <a:rPr lang="en-US" altLang="zh-CN" sz="1600" b="1" dirty="0">
                <a:latin typeface="微软雅黑" pitchFamily="34" charset="-122"/>
                <a:ea typeface="微软雅黑" pitchFamily="34" charset="-122"/>
              </a:rPr>
              <a:t>IPv6/IPv4 </a:t>
            </a:r>
            <a:r>
              <a:rPr lang="zh-CN" altLang="en-US" sz="1600" b="1" dirty="0">
                <a:latin typeface="微软雅黑" pitchFamily="34" charset="-122"/>
                <a:ea typeface="微软雅黑" pitchFamily="34" charset="-122"/>
              </a:rPr>
              <a:t>双协议栈主机（或路由器）</a:t>
            </a:r>
            <a:endParaRPr lang="en-US" altLang="zh-CN" sz="1600" b="1" dirty="0">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358C9699-AC70-37A5-B57C-6200998FBE14}"/>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24137191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3"/>
          <p:cNvGrpSpPr>
            <a:grpSpLocks/>
          </p:cNvGrpSpPr>
          <p:nvPr/>
        </p:nvGrpSpPr>
        <p:grpSpPr bwMode="auto">
          <a:xfrm>
            <a:off x="3194398" y="1277486"/>
            <a:ext cx="2864834" cy="802708"/>
            <a:chOff x="912" y="768"/>
            <a:chExt cx="2400" cy="1584"/>
          </a:xfrm>
          <a:solidFill>
            <a:srgbClr val="3399FF"/>
          </a:solidFill>
        </p:grpSpPr>
        <p:sp>
          <p:nvSpPr>
            <p:cNvPr id="6" name="Oval 4"/>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7" name="Oval 5"/>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8" name="Oval 6"/>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9" name="Oval 7"/>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0" name="Oval 8"/>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 name="Oval 9"/>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 name="Oval 10"/>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 name="Oval 11"/>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 name="Oval 12"/>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5" name="Group 13"/>
            <p:cNvGrpSpPr>
              <a:grpSpLocks/>
            </p:cNvGrpSpPr>
            <p:nvPr/>
          </p:nvGrpSpPr>
          <p:grpSpPr bwMode="auto">
            <a:xfrm>
              <a:off x="912" y="768"/>
              <a:ext cx="2386" cy="1553"/>
              <a:chOff x="912" y="768"/>
              <a:chExt cx="2386" cy="1553"/>
            </a:xfrm>
            <a:grpFill/>
          </p:grpSpPr>
          <p:sp>
            <p:nvSpPr>
              <p:cNvPr id="16" name="Oval 14"/>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 name="Oval 15"/>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 name="Oval 16"/>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 name="Oval 17"/>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0" name="Oval 18"/>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1" name="Oval 19"/>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2" name="Oval 20"/>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3" name="Oval 21"/>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4" name="Oval 22"/>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25" name="Freeform 23"/>
          <p:cNvSpPr>
            <a:spLocks/>
          </p:cNvSpPr>
          <p:nvPr/>
        </p:nvSpPr>
        <p:spPr bwMode="auto">
          <a:xfrm flipH="1">
            <a:off x="6087429" y="2181184"/>
            <a:ext cx="491759"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6" name="Freeform 24"/>
          <p:cNvSpPr>
            <a:spLocks/>
          </p:cNvSpPr>
          <p:nvPr/>
        </p:nvSpPr>
        <p:spPr bwMode="auto">
          <a:xfrm>
            <a:off x="2559398" y="2185348"/>
            <a:ext cx="649663"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7" name="Line 25"/>
          <p:cNvSpPr>
            <a:spLocks noChangeShapeType="1"/>
          </p:cNvSpPr>
          <p:nvPr/>
        </p:nvSpPr>
        <p:spPr bwMode="auto">
          <a:xfrm>
            <a:off x="1814992" y="1773062"/>
            <a:ext cx="573869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pic>
        <p:nvPicPr>
          <p:cNvPr id="29" name="Picture 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664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0" name="Text Box 28"/>
          <p:cNvSpPr txBox="1">
            <a:spLocks noChangeArrowheads="1"/>
          </p:cNvSpPr>
          <p:nvPr/>
        </p:nvSpPr>
        <p:spPr bwMode="auto">
          <a:xfrm>
            <a:off x="2588859"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pic>
        <p:nvPicPr>
          <p:cNvPr id="31"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89559"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2" name="Picture 3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64053"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3"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0245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5" name="Text Box 33"/>
          <p:cNvSpPr txBox="1">
            <a:spLocks noChangeArrowheads="1"/>
          </p:cNvSpPr>
          <p:nvPr/>
        </p:nvSpPr>
        <p:spPr bwMode="auto">
          <a:xfrm>
            <a:off x="1484142"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6" name="Text Box 34"/>
          <p:cNvSpPr txBox="1">
            <a:spLocks noChangeArrowheads="1"/>
          </p:cNvSpPr>
          <p:nvPr/>
        </p:nvSpPr>
        <p:spPr bwMode="auto">
          <a:xfrm>
            <a:off x="7234950"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7" name="Text Box 35"/>
          <p:cNvSpPr txBox="1">
            <a:spLocks noChangeArrowheads="1"/>
          </p:cNvSpPr>
          <p:nvPr/>
        </p:nvSpPr>
        <p:spPr bwMode="auto">
          <a:xfrm>
            <a:off x="4334692" y="1291831"/>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sp>
        <p:nvSpPr>
          <p:cNvPr id="38" name="Text Box 36"/>
          <p:cNvSpPr txBox="1">
            <a:spLocks noChangeArrowheads="1"/>
          </p:cNvSpPr>
          <p:nvPr/>
        </p:nvSpPr>
        <p:spPr bwMode="auto">
          <a:xfrm>
            <a:off x="1294888" y="1565536"/>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39" name="Text Box 37"/>
          <p:cNvSpPr txBox="1">
            <a:spLocks noChangeArrowheads="1"/>
          </p:cNvSpPr>
          <p:nvPr/>
        </p:nvSpPr>
        <p:spPr bwMode="auto">
          <a:xfrm>
            <a:off x="2830091" y="1558247"/>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40" name="Text Box 38"/>
          <p:cNvSpPr txBox="1">
            <a:spLocks noChangeArrowheads="1"/>
          </p:cNvSpPr>
          <p:nvPr/>
        </p:nvSpPr>
        <p:spPr bwMode="auto">
          <a:xfrm>
            <a:off x="3753831" y="1550960"/>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41" name="Text Box 39"/>
          <p:cNvSpPr txBox="1">
            <a:spLocks noChangeArrowheads="1"/>
          </p:cNvSpPr>
          <p:nvPr/>
        </p:nvSpPr>
        <p:spPr bwMode="auto">
          <a:xfrm>
            <a:off x="4739169" y="154367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42" name="Text Box 40"/>
          <p:cNvSpPr txBox="1">
            <a:spLocks noChangeArrowheads="1"/>
          </p:cNvSpPr>
          <p:nvPr/>
        </p:nvSpPr>
        <p:spPr bwMode="auto">
          <a:xfrm>
            <a:off x="6175205" y="1545620"/>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43" name="Text Box 41"/>
          <p:cNvSpPr txBox="1">
            <a:spLocks noChangeArrowheads="1"/>
          </p:cNvSpPr>
          <p:nvPr/>
        </p:nvSpPr>
        <p:spPr bwMode="auto">
          <a:xfrm>
            <a:off x="7109090" y="152909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44" name="Rectangle 42"/>
          <p:cNvSpPr>
            <a:spLocks noChangeArrowheads="1"/>
          </p:cNvSpPr>
          <p:nvPr/>
        </p:nvSpPr>
        <p:spPr bwMode="auto">
          <a:xfrm>
            <a:off x="1640170"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5" name="Rectangle 43"/>
          <p:cNvSpPr>
            <a:spLocks noChangeArrowheads="1"/>
          </p:cNvSpPr>
          <p:nvPr/>
        </p:nvSpPr>
        <p:spPr bwMode="auto">
          <a:xfrm>
            <a:off x="1663856" y="2193678"/>
            <a:ext cx="897798"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7" name="Rectangle 45"/>
          <p:cNvSpPr>
            <a:spLocks noChangeArrowheads="1"/>
          </p:cNvSpPr>
          <p:nvPr/>
        </p:nvSpPr>
        <p:spPr bwMode="auto">
          <a:xfrm>
            <a:off x="6579188"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6"/>
          <p:cNvSpPr>
            <a:spLocks noChangeArrowheads="1"/>
          </p:cNvSpPr>
          <p:nvPr/>
        </p:nvSpPr>
        <p:spPr bwMode="auto">
          <a:xfrm>
            <a:off x="6592722" y="2193678"/>
            <a:ext cx="906822"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50" name="Line 48"/>
          <p:cNvSpPr>
            <a:spLocks noChangeShapeType="1"/>
          </p:cNvSpPr>
          <p:nvPr/>
        </p:nvSpPr>
        <p:spPr bwMode="auto">
          <a:xfrm>
            <a:off x="176085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49"/>
          <p:cNvSpPr>
            <a:spLocks noChangeShapeType="1"/>
          </p:cNvSpPr>
          <p:nvPr/>
        </p:nvSpPr>
        <p:spPr bwMode="auto">
          <a:xfrm>
            <a:off x="327673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2" name="Line 50"/>
          <p:cNvSpPr>
            <a:spLocks noChangeShapeType="1"/>
          </p:cNvSpPr>
          <p:nvPr/>
        </p:nvSpPr>
        <p:spPr bwMode="auto">
          <a:xfrm>
            <a:off x="5279862"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3" name="Line 51"/>
          <p:cNvSpPr>
            <a:spLocks noChangeShapeType="1"/>
          </p:cNvSpPr>
          <p:nvPr/>
        </p:nvSpPr>
        <p:spPr bwMode="auto">
          <a:xfrm>
            <a:off x="674160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4" name="Text Box 52"/>
          <p:cNvSpPr txBox="1">
            <a:spLocks noChangeArrowheads="1"/>
          </p:cNvSpPr>
          <p:nvPr/>
        </p:nvSpPr>
        <p:spPr bwMode="auto">
          <a:xfrm>
            <a:off x="5838303"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55" name="Text Box 53"/>
          <p:cNvSpPr txBox="1">
            <a:spLocks noChangeArrowheads="1"/>
          </p:cNvSpPr>
          <p:nvPr/>
        </p:nvSpPr>
        <p:spPr bwMode="auto">
          <a:xfrm>
            <a:off x="4486957" y="2358176"/>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56" name="Text Box 54"/>
          <p:cNvSpPr txBox="1">
            <a:spLocks noChangeArrowheads="1"/>
          </p:cNvSpPr>
          <p:nvPr/>
        </p:nvSpPr>
        <p:spPr bwMode="auto">
          <a:xfrm>
            <a:off x="1607054"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grpSp>
        <p:nvGrpSpPr>
          <p:cNvPr id="57" name="组合 56"/>
          <p:cNvGrpSpPr/>
          <p:nvPr/>
        </p:nvGrpSpPr>
        <p:grpSpPr>
          <a:xfrm>
            <a:off x="3132831" y="1885536"/>
            <a:ext cx="3031761" cy="1936219"/>
            <a:chOff x="2822251" y="2637309"/>
            <a:chExt cx="4622801" cy="2590800"/>
          </a:xfrm>
        </p:grpSpPr>
        <p:sp>
          <p:nvSpPr>
            <p:cNvPr id="58" name="Line 55"/>
            <p:cNvSpPr>
              <a:spLocks noChangeShapeType="1"/>
            </p:cNvSpPr>
            <p:nvPr/>
          </p:nvSpPr>
          <p:spPr bwMode="auto">
            <a:xfrm>
              <a:off x="2822251"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9" name="Line 56"/>
            <p:cNvSpPr>
              <a:spLocks noChangeShapeType="1"/>
            </p:cNvSpPr>
            <p:nvPr/>
          </p:nvSpPr>
          <p:spPr bwMode="auto">
            <a:xfrm>
              <a:off x="7445052"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60" name="Text Box 57"/>
          <p:cNvSpPr txBox="1">
            <a:spLocks noChangeArrowheads="1"/>
          </p:cNvSpPr>
          <p:nvPr/>
        </p:nvSpPr>
        <p:spPr bwMode="auto">
          <a:xfrm>
            <a:off x="6556223"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IPv6 </a:t>
            </a:r>
            <a:r>
              <a:rPr kumimoji="1" lang="zh-CN" altLang="en-US" sz="1200" b="1">
                <a:latin typeface="微软雅黑" pitchFamily="34" charset="-122"/>
                <a:ea typeface="微软雅黑" pitchFamily="34" charset="-122"/>
              </a:rPr>
              <a:t>数据报</a:t>
            </a:r>
          </a:p>
        </p:txBody>
      </p:sp>
      <p:sp>
        <p:nvSpPr>
          <p:cNvPr id="61" name="Line 58"/>
          <p:cNvSpPr>
            <a:spLocks noChangeShapeType="1"/>
          </p:cNvSpPr>
          <p:nvPr/>
        </p:nvSpPr>
        <p:spPr bwMode="auto">
          <a:xfrm>
            <a:off x="1652577"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2" name="Line 59"/>
          <p:cNvSpPr>
            <a:spLocks noChangeShapeType="1"/>
          </p:cNvSpPr>
          <p:nvPr/>
        </p:nvSpPr>
        <p:spPr bwMode="auto">
          <a:xfrm>
            <a:off x="6579188"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3" name="Rectangle 60"/>
          <p:cNvSpPr>
            <a:spLocks noChangeArrowheads="1"/>
          </p:cNvSpPr>
          <p:nvPr/>
        </p:nvSpPr>
        <p:spPr bwMode="auto">
          <a:xfrm>
            <a:off x="3210189"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4" name="Rectangle 61"/>
          <p:cNvSpPr>
            <a:spLocks noChangeArrowheads="1"/>
          </p:cNvSpPr>
          <p:nvPr/>
        </p:nvSpPr>
        <p:spPr bwMode="auto">
          <a:xfrm>
            <a:off x="3219212" y="2186390"/>
            <a:ext cx="906822"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6" name="Line 63"/>
          <p:cNvSpPr>
            <a:spLocks noChangeShapeType="1"/>
          </p:cNvSpPr>
          <p:nvPr/>
        </p:nvSpPr>
        <p:spPr bwMode="auto">
          <a:xfrm>
            <a:off x="3222596"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7" name="Text Box 64"/>
          <p:cNvSpPr txBox="1">
            <a:spLocks noChangeArrowheads="1"/>
          </p:cNvSpPr>
          <p:nvPr/>
        </p:nvSpPr>
        <p:spPr bwMode="auto">
          <a:xfrm>
            <a:off x="3308112"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68" name="Rectangle 65"/>
          <p:cNvSpPr>
            <a:spLocks noChangeArrowheads="1"/>
          </p:cNvSpPr>
          <p:nvPr/>
        </p:nvSpPr>
        <p:spPr bwMode="auto">
          <a:xfrm>
            <a:off x="5159178"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9" name="Rectangle 66"/>
          <p:cNvSpPr>
            <a:spLocks noChangeArrowheads="1"/>
          </p:cNvSpPr>
          <p:nvPr/>
        </p:nvSpPr>
        <p:spPr bwMode="auto">
          <a:xfrm>
            <a:off x="5174968" y="2190554"/>
            <a:ext cx="896670"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1" name="Line 68"/>
          <p:cNvSpPr>
            <a:spLocks noChangeShapeType="1"/>
          </p:cNvSpPr>
          <p:nvPr/>
        </p:nvSpPr>
        <p:spPr bwMode="auto">
          <a:xfrm>
            <a:off x="5171585"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2" name="Text Box 69"/>
          <p:cNvSpPr txBox="1">
            <a:spLocks noChangeArrowheads="1"/>
          </p:cNvSpPr>
          <p:nvPr/>
        </p:nvSpPr>
        <p:spPr bwMode="auto">
          <a:xfrm>
            <a:off x="5274685"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73" name="Line 70"/>
          <p:cNvSpPr>
            <a:spLocks noChangeShapeType="1"/>
          </p:cNvSpPr>
          <p:nvPr/>
        </p:nvSpPr>
        <p:spPr bwMode="auto">
          <a:xfrm>
            <a:off x="3132831" y="3699266"/>
            <a:ext cx="303176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4" name="Text Box 71"/>
          <p:cNvSpPr txBox="1">
            <a:spLocks noChangeArrowheads="1"/>
          </p:cNvSpPr>
          <p:nvPr/>
        </p:nvSpPr>
        <p:spPr bwMode="auto">
          <a:xfrm>
            <a:off x="4265230" y="3579536"/>
            <a:ext cx="873957" cy="276999"/>
          </a:xfrm>
          <a:prstGeom prst="rect">
            <a:avLst/>
          </a:prstGeom>
          <a:solidFill>
            <a:srgbClr val="C3E3F9"/>
          </a:solidFill>
          <a:ln>
            <a:noFill/>
          </a:ln>
          <a:effectLst/>
        </p:spPr>
        <p:txBody>
          <a:bodyPr wrap="none">
            <a:spAutoFit/>
          </a:bodyPr>
          <a:lstStyle/>
          <a:p>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a:t>
            </a:r>
          </a:p>
        </p:txBody>
      </p:sp>
      <p:sp>
        <p:nvSpPr>
          <p:cNvPr id="75" name="矩形 74"/>
          <p:cNvSpPr/>
          <p:nvPr/>
        </p:nvSpPr>
        <p:spPr>
          <a:xfrm>
            <a:off x="2471888" y="4054943"/>
            <a:ext cx="4460639" cy="338554"/>
          </a:xfrm>
          <a:prstGeom prst="rect">
            <a:avLst/>
          </a:prstGeom>
        </p:spPr>
        <p:txBody>
          <a:bodyPr wrap="square">
            <a:spAutoFit/>
          </a:bodyPr>
          <a:lstStyle/>
          <a:p>
            <a:pPr algn="ctr"/>
            <a:r>
              <a:rPr lang="zh-CN" altLang="zh-CN" sz="1600" b="1" dirty="0">
                <a:latin typeface="微软雅黑" pitchFamily="34" charset="-122"/>
                <a:ea typeface="微软雅黑" pitchFamily="34" charset="-122"/>
              </a:rPr>
              <a:t>使用双协议栈进行从</a:t>
            </a:r>
            <a:r>
              <a:rPr lang="en-US" altLang="zh-CN" sz="1600" b="1" dirty="0">
                <a:latin typeface="微软雅黑" pitchFamily="34" charset="-122"/>
                <a:ea typeface="微软雅黑" pitchFamily="34" charset="-122"/>
              </a:rPr>
              <a:t> IPv4 </a:t>
            </a:r>
            <a:r>
              <a:rPr lang="zh-CN" altLang="zh-CN" sz="1600" b="1" dirty="0">
                <a:latin typeface="微软雅黑" pitchFamily="34" charset="-122"/>
                <a:ea typeface="微软雅黑" pitchFamily="34" charset="-122"/>
              </a:rPr>
              <a:t>到</a:t>
            </a:r>
            <a:r>
              <a:rPr lang="en-US" altLang="zh-CN" sz="1600" b="1" dirty="0">
                <a:latin typeface="微软雅黑" pitchFamily="34" charset="-122"/>
                <a:ea typeface="微软雅黑" pitchFamily="34" charset="-122"/>
              </a:rPr>
              <a:t> IPv6 </a:t>
            </a:r>
            <a:r>
              <a:rPr lang="zh-CN" altLang="zh-CN" sz="1600" b="1" dirty="0">
                <a:latin typeface="微软雅黑" pitchFamily="34" charset="-122"/>
                <a:ea typeface="微软雅黑" pitchFamily="34" charset="-122"/>
              </a:rPr>
              <a:t>的过渡</a:t>
            </a:r>
            <a:endParaRPr lang="zh-CN" altLang="en-US" sz="1600" b="1" dirty="0">
              <a:latin typeface="微软雅黑" pitchFamily="34" charset="-122"/>
              <a:ea typeface="微软雅黑" pitchFamily="34" charset="-122"/>
            </a:endParaRPr>
          </a:p>
        </p:txBody>
      </p:sp>
      <p:sp>
        <p:nvSpPr>
          <p:cNvPr id="76" name="Text Box 64"/>
          <p:cNvSpPr txBox="1">
            <a:spLocks noChangeArrowheads="1"/>
          </p:cNvSpPr>
          <p:nvPr/>
        </p:nvSpPr>
        <p:spPr bwMode="auto">
          <a:xfrm>
            <a:off x="3168063"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77" name="Text Box 65"/>
          <p:cNvSpPr txBox="1">
            <a:spLocks noChangeArrowheads="1"/>
          </p:cNvSpPr>
          <p:nvPr/>
        </p:nvSpPr>
        <p:spPr bwMode="auto">
          <a:xfrm>
            <a:off x="5110286"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IPv4 </a:t>
            </a:r>
            <a:r>
              <a:rPr kumimoji="1" lang="zh-CN" altLang="en-US" sz="1200" b="1">
                <a:latin typeface="微软雅黑" pitchFamily="34" charset="-122"/>
                <a:ea typeface="微软雅黑" pitchFamily="34" charset="-122"/>
              </a:rPr>
              <a:t>数据报</a:t>
            </a:r>
          </a:p>
        </p:txBody>
      </p:sp>
      <p:sp>
        <p:nvSpPr>
          <p:cNvPr id="79" name="Text Box 44"/>
          <p:cNvSpPr txBox="1">
            <a:spLocks noChangeArrowheads="1"/>
          </p:cNvSpPr>
          <p:nvPr/>
        </p:nvSpPr>
        <p:spPr bwMode="auto">
          <a:xfrm>
            <a:off x="1587417" y="2180142"/>
            <a:ext cx="1065065"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0" name="Text Box 47"/>
          <p:cNvSpPr txBox="1">
            <a:spLocks noChangeArrowheads="1"/>
          </p:cNvSpPr>
          <p:nvPr/>
        </p:nvSpPr>
        <p:spPr bwMode="auto">
          <a:xfrm>
            <a:off x="6526436" y="2180142"/>
            <a:ext cx="1071287"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endParaRPr kumimoji="1" lang="zh-CN" altLang="en-US"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1" name="Text Box 62"/>
          <p:cNvSpPr txBox="1">
            <a:spLocks noChangeArrowheads="1"/>
          </p:cNvSpPr>
          <p:nvPr/>
        </p:nvSpPr>
        <p:spPr bwMode="auto">
          <a:xfrm>
            <a:off x="3157437" y="2180142"/>
            <a:ext cx="105504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sp>
        <p:nvSpPr>
          <p:cNvPr id="82" name="Text Box 67"/>
          <p:cNvSpPr txBox="1">
            <a:spLocks noChangeArrowheads="1"/>
          </p:cNvSpPr>
          <p:nvPr/>
        </p:nvSpPr>
        <p:spPr bwMode="auto">
          <a:xfrm>
            <a:off x="5106427" y="2180142"/>
            <a:ext cx="1049288"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59727" y="159298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36352" y="1592982"/>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28" name="标题 27">
            <a:extLst>
              <a:ext uri="{FF2B5EF4-FFF2-40B4-BE49-F238E27FC236}">
                <a16:creationId xmlns:a16="http://schemas.microsoft.com/office/drawing/2014/main" id="{4F30AFCF-8E36-B936-368F-7DD025E3051F}"/>
              </a:ext>
            </a:extLst>
          </p:cNvPr>
          <p:cNvSpPr>
            <a:spLocks noGrp="1"/>
          </p:cNvSpPr>
          <p:nvPr>
            <p:ph type="title"/>
          </p:nvPr>
        </p:nvSpPr>
        <p:spPr>
          <a:xfrm>
            <a:off x="486000" y="550723"/>
            <a:ext cx="8172000" cy="338554"/>
          </a:xfrm>
        </p:spPr>
        <p:txBody>
          <a:bodyPr/>
          <a:lstStyle/>
          <a:p>
            <a:r>
              <a:rPr lang="zh-CN" altLang="en-US" dirty="0"/>
              <a:t>双协议栈</a:t>
            </a:r>
          </a:p>
        </p:txBody>
      </p:sp>
    </p:spTree>
    <p:extLst>
      <p:ext uri="{BB962C8B-B14F-4D97-AF65-F5344CB8AC3E}">
        <p14:creationId xmlns:p14="http://schemas.microsoft.com/office/powerpoint/2010/main" val="1063593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矩形 68"/>
          <p:cNvSpPr/>
          <p:nvPr/>
        </p:nvSpPr>
        <p:spPr>
          <a:xfrm>
            <a:off x="2412325" y="3969844"/>
            <a:ext cx="4460639"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使用隧道技术进行从 </a:t>
            </a:r>
            <a:r>
              <a:rPr lang="en-US" altLang="zh-CN" sz="1400" b="1" dirty="0">
                <a:latin typeface="微软雅黑" pitchFamily="34" charset="-122"/>
                <a:ea typeface="微软雅黑" pitchFamily="34" charset="-122"/>
              </a:rPr>
              <a:t>IPv4 </a:t>
            </a:r>
            <a:r>
              <a:rPr lang="zh-CN" altLang="en-US" sz="1400" b="1" dirty="0">
                <a:latin typeface="微软雅黑" pitchFamily="34" charset="-122"/>
                <a:ea typeface="微软雅黑" pitchFamily="34" charset="-122"/>
              </a:rPr>
              <a:t>到 </a:t>
            </a:r>
            <a:r>
              <a:rPr lang="en-US" altLang="zh-CN" sz="1400" b="1" dirty="0">
                <a:latin typeface="微软雅黑" pitchFamily="34" charset="-122"/>
                <a:ea typeface="微软雅黑" pitchFamily="34" charset="-122"/>
              </a:rPr>
              <a:t>IPv6 </a:t>
            </a:r>
            <a:r>
              <a:rPr lang="zh-CN" altLang="en-US" sz="1400" b="1" dirty="0">
                <a:latin typeface="微软雅黑" pitchFamily="34" charset="-122"/>
                <a:ea typeface="微软雅黑" pitchFamily="34" charset="-122"/>
              </a:rPr>
              <a:t>的过渡</a:t>
            </a:r>
          </a:p>
        </p:txBody>
      </p:sp>
      <p:grpSp>
        <p:nvGrpSpPr>
          <p:cNvPr id="78" name="Group 23"/>
          <p:cNvGrpSpPr>
            <a:grpSpLocks/>
          </p:cNvGrpSpPr>
          <p:nvPr/>
        </p:nvGrpSpPr>
        <p:grpSpPr bwMode="auto">
          <a:xfrm>
            <a:off x="2917282" y="1265316"/>
            <a:ext cx="3307033" cy="744129"/>
            <a:chOff x="904" y="768"/>
            <a:chExt cx="2569" cy="1584"/>
          </a:xfrm>
          <a:solidFill>
            <a:srgbClr val="3399FF"/>
          </a:solidFill>
          <a:effectLst/>
        </p:grpSpPr>
        <p:sp>
          <p:nvSpPr>
            <p:cNvPr id="79" name="Oval 24"/>
            <p:cNvSpPr>
              <a:spLocks noChangeArrowheads="1"/>
            </p:cNvSpPr>
            <p:nvPr/>
          </p:nvSpPr>
          <p:spPr bwMode="auto">
            <a:xfrm>
              <a:off x="1751" y="799"/>
              <a:ext cx="1026" cy="62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0" name="Oval 25"/>
            <p:cNvSpPr>
              <a:spLocks noChangeArrowheads="1"/>
            </p:cNvSpPr>
            <p:nvPr/>
          </p:nvSpPr>
          <p:spPr bwMode="auto">
            <a:xfrm>
              <a:off x="1172" y="972"/>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1" name="Oval 26"/>
            <p:cNvSpPr>
              <a:spLocks noChangeArrowheads="1"/>
            </p:cNvSpPr>
            <p:nvPr/>
          </p:nvSpPr>
          <p:spPr bwMode="auto">
            <a:xfrm>
              <a:off x="926" y="1364"/>
              <a:ext cx="521" cy="50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2" name="Oval 27"/>
            <p:cNvSpPr>
              <a:spLocks noChangeArrowheads="1"/>
            </p:cNvSpPr>
            <p:nvPr/>
          </p:nvSpPr>
          <p:spPr bwMode="auto">
            <a:xfrm>
              <a:off x="1085" y="1599"/>
              <a:ext cx="796" cy="5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3" name="Oval 28"/>
            <p:cNvSpPr>
              <a:spLocks noChangeArrowheads="1"/>
            </p:cNvSpPr>
            <p:nvPr/>
          </p:nvSpPr>
          <p:spPr bwMode="auto">
            <a:xfrm>
              <a:off x="1664" y="1693"/>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4" name="Oval 29"/>
            <p:cNvSpPr>
              <a:spLocks noChangeArrowheads="1"/>
            </p:cNvSpPr>
            <p:nvPr/>
          </p:nvSpPr>
          <p:spPr bwMode="auto">
            <a:xfrm>
              <a:off x="2445" y="988"/>
              <a:ext cx="751"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5" name="Oval 30"/>
            <p:cNvSpPr>
              <a:spLocks noChangeArrowheads="1"/>
            </p:cNvSpPr>
            <p:nvPr/>
          </p:nvSpPr>
          <p:spPr bwMode="auto">
            <a:xfrm>
              <a:off x="2560" y="1317"/>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6" name="Oval 31"/>
            <p:cNvSpPr>
              <a:spLocks noChangeArrowheads="1"/>
            </p:cNvSpPr>
            <p:nvPr/>
          </p:nvSpPr>
          <p:spPr bwMode="auto">
            <a:xfrm>
              <a:off x="2488" y="1427"/>
              <a:ext cx="752"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7" name="Oval 32"/>
            <p:cNvSpPr>
              <a:spLocks noChangeArrowheads="1"/>
            </p:cNvSpPr>
            <p:nvPr/>
          </p:nvSpPr>
          <p:spPr bwMode="auto">
            <a:xfrm>
              <a:off x="1360" y="1176"/>
              <a:ext cx="1547"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nvGrpSpPr>
            <p:cNvPr id="88" name="Group 33"/>
            <p:cNvGrpSpPr>
              <a:grpSpLocks/>
            </p:cNvGrpSpPr>
            <p:nvPr/>
          </p:nvGrpSpPr>
          <p:grpSpPr bwMode="auto">
            <a:xfrm>
              <a:off x="904" y="768"/>
              <a:ext cx="2569" cy="1553"/>
              <a:chOff x="904" y="768"/>
              <a:chExt cx="2569" cy="1553"/>
            </a:xfrm>
            <a:grpFill/>
          </p:grpSpPr>
          <p:sp>
            <p:nvSpPr>
              <p:cNvPr id="89" name="Oval 34"/>
              <p:cNvSpPr>
                <a:spLocks noChangeArrowheads="1"/>
              </p:cNvSpPr>
              <p:nvPr/>
            </p:nvSpPr>
            <p:spPr bwMode="auto">
              <a:xfrm>
                <a:off x="1736" y="768"/>
                <a:ext cx="1027"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0" name="Oval 35"/>
              <p:cNvSpPr>
                <a:spLocks noChangeArrowheads="1"/>
              </p:cNvSpPr>
              <p:nvPr/>
            </p:nvSpPr>
            <p:spPr bwMode="auto">
              <a:xfrm>
                <a:off x="1158" y="941"/>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1" name="Oval 36"/>
              <p:cNvSpPr>
                <a:spLocks noChangeArrowheads="1"/>
              </p:cNvSpPr>
              <p:nvPr/>
            </p:nvSpPr>
            <p:spPr bwMode="auto">
              <a:xfrm>
                <a:off x="912" y="1333"/>
                <a:ext cx="520" cy="50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2" name="Oval 38"/>
              <p:cNvSpPr>
                <a:spLocks noChangeArrowheads="1"/>
              </p:cNvSpPr>
              <p:nvPr/>
            </p:nvSpPr>
            <p:spPr bwMode="auto">
              <a:xfrm>
                <a:off x="1649" y="1662"/>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3" name="Oval 39"/>
              <p:cNvSpPr>
                <a:spLocks noChangeArrowheads="1"/>
              </p:cNvSpPr>
              <p:nvPr/>
            </p:nvSpPr>
            <p:spPr bwMode="auto">
              <a:xfrm>
                <a:off x="2430" y="95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4" name="Oval 40"/>
              <p:cNvSpPr>
                <a:spLocks noChangeArrowheads="1"/>
              </p:cNvSpPr>
              <p:nvPr/>
            </p:nvSpPr>
            <p:spPr bwMode="auto">
              <a:xfrm>
                <a:off x="2546" y="128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5" name="Oval 41"/>
              <p:cNvSpPr>
                <a:spLocks noChangeArrowheads="1"/>
              </p:cNvSpPr>
              <p:nvPr/>
            </p:nvSpPr>
            <p:spPr bwMode="auto">
              <a:xfrm>
                <a:off x="2473" y="1395"/>
                <a:ext cx="752"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6" name="Oval 42"/>
              <p:cNvSpPr>
                <a:spLocks noChangeArrowheads="1"/>
              </p:cNvSpPr>
              <p:nvPr/>
            </p:nvSpPr>
            <p:spPr bwMode="auto">
              <a:xfrm>
                <a:off x="1346" y="1144"/>
                <a:ext cx="1547"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7" name="Oval 37"/>
              <p:cNvSpPr>
                <a:spLocks noChangeArrowheads="1"/>
              </p:cNvSpPr>
              <p:nvPr/>
            </p:nvSpPr>
            <p:spPr bwMode="auto">
              <a:xfrm>
                <a:off x="904" y="1175"/>
                <a:ext cx="922" cy="66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8" name="Oval 37"/>
              <p:cNvSpPr>
                <a:spLocks noChangeArrowheads="1"/>
              </p:cNvSpPr>
              <p:nvPr/>
            </p:nvSpPr>
            <p:spPr bwMode="auto">
              <a:xfrm>
                <a:off x="1776" y="1175"/>
                <a:ext cx="984" cy="72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9" name="Oval 37"/>
              <p:cNvSpPr>
                <a:spLocks noChangeArrowheads="1"/>
              </p:cNvSpPr>
              <p:nvPr/>
            </p:nvSpPr>
            <p:spPr bwMode="auto">
              <a:xfrm>
                <a:off x="2533" y="1175"/>
                <a:ext cx="940" cy="7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grpSp>
      </p:grpSp>
      <p:sp>
        <p:nvSpPr>
          <p:cNvPr id="100" name="Line 44"/>
          <p:cNvSpPr>
            <a:spLocks noChangeShapeType="1"/>
          </p:cNvSpPr>
          <p:nvPr/>
        </p:nvSpPr>
        <p:spPr bwMode="auto">
          <a:xfrm>
            <a:off x="1824567" y="1751606"/>
            <a:ext cx="564806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3" name="Text Box 51"/>
          <p:cNvSpPr txBox="1">
            <a:spLocks noChangeArrowheads="1"/>
          </p:cNvSpPr>
          <p:nvPr/>
        </p:nvSpPr>
        <p:spPr bwMode="auto">
          <a:xfrm>
            <a:off x="156754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4" name="Text Box 52"/>
          <p:cNvSpPr txBox="1">
            <a:spLocks noChangeArrowheads="1"/>
          </p:cNvSpPr>
          <p:nvPr/>
        </p:nvSpPr>
        <p:spPr bwMode="auto">
          <a:xfrm>
            <a:off x="712440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5" name="Text Box 53"/>
          <p:cNvSpPr txBox="1">
            <a:spLocks noChangeArrowheads="1"/>
          </p:cNvSpPr>
          <p:nvPr/>
        </p:nvSpPr>
        <p:spPr bwMode="auto">
          <a:xfrm>
            <a:off x="1419191" y="1548671"/>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106" name="Text Box 58"/>
          <p:cNvSpPr txBox="1">
            <a:spLocks noChangeArrowheads="1"/>
          </p:cNvSpPr>
          <p:nvPr/>
        </p:nvSpPr>
        <p:spPr bwMode="auto">
          <a:xfrm>
            <a:off x="6988576" y="151280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107" name="Line 59"/>
          <p:cNvSpPr>
            <a:spLocks noChangeShapeType="1"/>
          </p:cNvSpPr>
          <p:nvPr/>
        </p:nvSpPr>
        <p:spPr bwMode="auto">
          <a:xfrm>
            <a:off x="177128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326322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234717"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667337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1" name="Text Box 63"/>
          <p:cNvSpPr txBox="1">
            <a:spLocks noChangeArrowheads="1"/>
          </p:cNvSpPr>
          <p:nvPr/>
        </p:nvSpPr>
        <p:spPr bwMode="auto">
          <a:xfrm>
            <a:off x="4484306" y="248114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112" name="Text Box 64"/>
          <p:cNvSpPr txBox="1">
            <a:spLocks noChangeArrowheads="1"/>
          </p:cNvSpPr>
          <p:nvPr/>
        </p:nvSpPr>
        <p:spPr bwMode="auto">
          <a:xfrm>
            <a:off x="3158345"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3" name="Text Box 65"/>
          <p:cNvSpPr txBox="1">
            <a:spLocks noChangeArrowheads="1"/>
          </p:cNvSpPr>
          <p:nvPr/>
        </p:nvSpPr>
        <p:spPr bwMode="auto">
          <a:xfrm>
            <a:off x="5025934"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4" name="Rectangle 80"/>
          <p:cNvSpPr>
            <a:spLocks noChangeArrowheads="1"/>
          </p:cNvSpPr>
          <p:nvPr/>
        </p:nvSpPr>
        <p:spPr bwMode="auto">
          <a:xfrm>
            <a:off x="3197730"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5" name="Text Box 81"/>
          <p:cNvSpPr txBox="1">
            <a:spLocks noChangeArrowheads="1"/>
          </p:cNvSpPr>
          <p:nvPr/>
        </p:nvSpPr>
        <p:spPr bwMode="auto">
          <a:xfrm>
            <a:off x="3197729"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latin typeface="微软雅黑" pitchFamily="34" charset="-122"/>
                <a:ea typeface="微软雅黑" pitchFamily="34" charset="-122"/>
              </a:rPr>
              <a:t>源地址：</a:t>
            </a:r>
            <a:r>
              <a:rPr kumimoji="1" lang="en-US" altLang="zh-CN" sz="1100" b="1" dirty="0">
                <a:latin typeface="微软雅黑" pitchFamily="34" charset="-122"/>
                <a:ea typeface="微软雅黑" pitchFamily="34" charset="-122"/>
              </a:rPr>
              <a:t>B</a:t>
            </a:r>
          </a:p>
          <a:p>
            <a:r>
              <a:rPr kumimoji="1" lang="zh-CN" altLang="en-US" sz="1100" b="1" dirty="0">
                <a:latin typeface="微软雅黑" pitchFamily="34" charset="-122"/>
                <a:ea typeface="微软雅黑" pitchFamily="34" charset="-122"/>
              </a:rPr>
              <a:t>目的地址：</a:t>
            </a:r>
            <a:r>
              <a:rPr kumimoji="1" lang="en-US" altLang="zh-CN" sz="1100" b="1" dirty="0">
                <a:latin typeface="微软雅黑" pitchFamily="34" charset="-122"/>
                <a:ea typeface="微软雅黑" pitchFamily="34" charset="-122"/>
              </a:rPr>
              <a:t>E</a:t>
            </a:r>
          </a:p>
          <a:p>
            <a:endParaRPr kumimoji="1" lang="en-US" altLang="zh-CN" sz="1100" b="1" dirty="0">
              <a:latin typeface="微软雅黑" pitchFamily="34" charset="-122"/>
              <a:ea typeface="微软雅黑" pitchFamily="34" charset="-122"/>
            </a:endParaRPr>
          </a:p>
          <a:p>
            <a:endParaRPr kumimoji="1" lang="en-US" altLang="zh-CN" sz="1100" b="1" dirty="0">
              <a:latin typeface="微软雅黑" pitchFamily="34" charset="-122"/>
              <a:ea typeface="微软雅黑" pitchFamily="34" charset="-122"/>
            </a:endParaRPr>
          </a:p>
        </p:txBody>
      </p:sp>
      <p:sp>
        <p:nvSpPr>
          <p:cNvPr id="116" name="Rectangle 82"/>
          <p:cNvSpPr>
            <a:spLocks noChangeArrowheads="1"/>
          </p:cNvSpPr>
          <p:nvPr/>
        </p:nvSpPr>
        <p:spPr bwMode="auto">
          <a:xfrm>
            <a:off x="3274324"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7" name="Text Box 83"/>
          <p:cNvSpPr txBox="1">
            <a:spLocks noChangeArrowheads="1"/>
          </p:cNvSpPr>
          <p:nvPr/>
        </p:nvSpPr>
        <p:spPr bwMode="auto">
          <a:xfrm>
            <a:off x="3314153"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IPv6</a:t>
            </a:r>
          </a:p>
          <a:p>
            <a:pPr algn="ctr"/>
            <a:r>
              <a:rPr kumimoji="1" lang="zh-CN" altLang="en-US" sz="1200" b="1" dirty="0">
                <a:latin typeface="微软雅黑" pitchFamily="34" charset="-122"/>
                <a:ea typeface="微软雅黑" pitchFamily="34" charset="-122"/>
              </a:rPr>
              <a:t>数据报</a:t>
            </a:r>
          </a:p>
        </p:txBody>
      </p:sp>
      <p:sp>
        <p:nvSpPr>
          <p:cNvPr id="119" name="Text Box 88"/>
          <p:cNvSpPr txBox="1">
            <a:spLocks noChangeArrowheads="1"/>
          </p:cNvSpPr>
          <p:nvPr/>
        </p:nvSpPr>
        <p:spPr bwMode="auto">
          <a:xfrm>
            <a:off x="5823499" y="1128268"/>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120" name="Rectangle 90"/>
          <p:cNvSpPr>
            <a:spLocks noChangeArrowheads="1"/>
          </p:cNvSpPr>
          <p:nvPr/>
        </p:nvSpPr>
        <p:spPr bwMode="auto">
          <a:xfrm>
            <a:off x="1652506"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1" name="Text Box 91"/>
          <p:cNvSpPr txBox="1">
            <a:spLocks noChangeArrowheads="1"/>
          </p:cNvSpPr>
          <p:nvPr/>
        </p:nvSpPr>
        <p:spPr bwMode="auto">
          <a:xfrm>
            <a:off x="1652505" y="2212409"/>
            <a:ext cx="1105389"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2" name="Text Box 92"/>
          <p:cNvSpPr txBox="1">
            <a:spLocks noChangeArrowheads="1"/>
          </p:cNvSpPr>
          <p:nvPr/>
        </p:nvSpPr>
        <p:spPr bwMode="auto">
          <a:xfrm>
            <a:off x="1584791" y="3220563"/>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3" name="Line 93"/>
          <p:cNvSpPr>
            <a:spLocks noChangeShapeType="1"/>
          </p:cNvSpPr>
          <p:nvPr/>
        </p:nvSpPr>
        <p:spPr bwMode="auto">
          <a:xfrm>
            <a:off x="1664717"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Line 94"/>
          <p:cNvSpPr>
            <a:spLocks noChangeShapeType="1"/>
          </p:cNvSpPr>
          <p:nvPr/>
        </p:nvSpPr>
        <p:spPr bwMode="auto">
          <a:xfrm>
            <a:off x="2570539" y="2211650"/>
            <a:ext cx="692686" cy="40799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Line 95"/>
          <p:cNvSpPr>
            <a:spLocks noChangeShapeType="1"/>
          </p:cNvSpPr>
          <p:nvPr/>
        </p:nvSpPr>
        <p:spPr bwMode="auto">
          <a:xfrm flipV="1">
            <a:off x="2570538" y="3148803"/>
            <a:ext cx="703786" cy="103926"/>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6" name="Rectangle 96"/>
          <p:cNvSpPr>
            <a:spLocks noChangeArrowheads="1"/>
          </p:cNvSpPr>
          <p:nvPr/>
        </p:nvSpPr>
        <p:spPr bwMode="auto">
          <a:xfrm>
            <a:off x="6513523"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7" name="Text Box 97"/>
          <p:cNvSpPr txBox="1">
            <a:spLocks noChangeArrowheads="1"/>
          </p:cNvSpPr>
          <p:nvPr/>
        </p:nvSpPr>
        <p:spPr bwMode="auto">
          <a:xfrm>
            <a:off x="6513523" y="2212409"/>
            <a:ext cx="994627"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8" name="Text Box 98"/>
          <p:cNvSpPr txBox="1">
            <a:spLocks noChangeArrowheads="1"/>
          </p:cNvSpPr>
          <p:nvPr/>
        </p:nvSpPr>
        <p:spPr bwMode="auto">
          <a:xfrm>
            <a:off x="6463393" y="3216106"/>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9" name="Line 99"/>
          <p:cNvSpPr>
            <a:spLocks noChangeShapeType="1"/>
          </p:cNvSpPr>
          <p:nvPr/>
        </p:nvSpPr>
        <p:spPr bwMode="auto">
          <a:xfrm>
            <a:off x="6525734"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0" name="Rectangle 100"/>
          <p:cNvSpPr>
            <a:spLocks noChangeArrowheads="1"/>
          </p:cNvSpPr>
          <p:nvPr/>
        </p:nvSpPr>
        <p:spPr bwMode="auto">
          <a:xfrm>
            <a:off x="5062655"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1" name="Text Box 101"/>
          <p:cNvSpPr txBox="1">
            <a:spLocks noChangeArrowheads="1"/>
          </p:cNvSpPr>
          <p:nvPr/>
        </p:nvSpPr>
        <p:spPr bwMode="auto">
          <a:xfrm>
            <a:off x="5062655"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a:latin typeface="微软雅黑" pitchFamily="34" charset="-122"/>
                <a:ea typeface="微软雅黑" pitchFamily="34" charset="-122"/>
              </a:rPr>
              <a:t>源地址：</a:t>
            </a:r>
            <a:r>
              <a:rPr kumimoji="1" lang="en-US" altLang="zh-CN" sz="1100" b="1">
                <a:latin typeface="微软雅黑" pitchFamily="34" charset="-122"/>
                <a:ea typeface="微软雅黑" pitchFamily="34" charset="-122"/>
              </a:rPr>
              <a:t>B</a:t>
            </a:r>
          </a:p>
          <a:p>
            <a:r>
              <a:rPr kumimoji="1" lang="zh-CN" altLang="en-US" sz="1100" b="1">
                <a:latin typeface="微软雅黑" pitchFamily="34" charset="-122"/>
                <a:ea typeface="微软雅黑" pitchFamily="34" charset="-122"/>
              </a:rPr>
              <a:t>目的地址：</a:t>
            </a:r>
            <a:r>
              <a:rPr kumimoji="1" lang="en-US" altLang="zh-CN" sz="1100" b="1">
                <a:latin typeface="微软雅黑" pitchFamily="34" charset="-122"/>
                <a:ea typeface="微软雅黑" pitchFamily="34" charset="-122"/>
              </a:rPr>
              <a:t>E</a:t>
            </a:r>
          </a:p>
          <a:p>
            <a:endParaRPr kumimoji="1" lang="en-US" altLang="zh-CN" sz="1100" b="1">
              <a:latin typeface="微软雅黑" pitchFamily="34" charset="-122"/>
              <a:ea typeface="微软雅黑" pitchFamily="34" charset="-122"/>
            </a:endParaRPr>
          </a:p>
          <a:p>
            <a:endParaRPr kumimoji="1" lang="en-US" altLang="zh-CN" sz="1100" b="1">
              <a:latin typeface="微软雅黑" pitchFamily="34" charset="-122"/>
              <a:ea typeface="微软雅黑" pitchFamily="34" charset="-122"/>
            </a:endParaRPr>
          </a:p>
        </p:txBody>
      </p:sp>
      <p:sp>
        <p:nvSpPr>
          <p:cNvPr id="132" name="Rectangle 102"/>
          <p:cNvSpPr>
            <a:spLocks noChangeArrowheads="1"/>
          </p:cNvSpPr>
          <p:nvPr/>
        </p:nvSpPr>
        <p:spPr bwMode="auto">
          <a:xfrm>
            <a:off x="5139250"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3" name="Text Box 103"/>
          <p:cNvSpPr txBox="1">
            <a:spLocks noChangeArrowheads="1"/>
          </p:cNvSpPr>
          <p:nvPr/>
        </p:nvSpPr>
        <p:spPr bwMode="auto">
          <a:xfrm>
            <a:off x="5179080"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latin typeface="微软雅黑" pitchFamily="34" charset="-122"/>
                <a:ea typeface="微软雅黑" pitchFamily="34" charset="-122"/>
              </a:rPr>
              <a:t>IPv6</a:t>
            </a:r>
          </a:p>
          <a:p>
            <a:pPr algn="ctr"/>
            <a:r>
              <a:rPr kumimoji="1" lang="zh-CN" altLang="en-US" sz="1200" b="1">
                <a:latin typeface="微软雅黑" pitchFamily="34" charset="-122"/>
                <a:ea typeface="微软雅黑" pitchFamily="34" charset="-122"/>
              </a:rPr>
              <a:t>数据报</a:t>
            </a:r>
          </a:p>
        </p:txBody>
      </p:sp>
      <p:sp>
        <p:nvSpPr>
          <p:cNvPr id="134" name="Line 104"/>
          <p:cNvSpPr>
            <a:spLocks noChangeShapeType="1"/>
          </p:cNvSpPr>
          <p:nvPr/>
        </p:nvSpPr>
        <p:spPr bwMode="auto">
          <a:xfrm flipV="1">
            <a:off x="5885220" y="2195254"/>
            <a:ext cx="643844" cy="42438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5" name="Line 105"/>
          <p:cNvSpPr>
            <a:spLocks noChangeShapeType="1"/>
          </p:cNvSpPr>
          <p:nvPr/>
        </p:nvSpPr>
        <p:spPr bwMode="auto">
          <a:xfrm>
            <a:off x="5885220" y="3148803"/>
            <a:ext cx="616092" cy="9880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cxnSp>
        <p:nvCxnSpPr>
          <p:cNvPr id="137" name="直接连接符 136"/>
          <p:cNvCxnSpPr/>
          <p:nvPr/>
        </p:nvCxnSpPr>
        <p:spPr bwMode="auto">
          <a:xfrm>
            <a:off x="2945603" y="1745201"/>
            <a:ext cx="3242113" cy="0"/>
          </a:xfrm>
          <a:prstGeom prst="line">
            <a:avLst/>
          </a:prstGeom>
          <a:solidFill>
            <a:schemeClr val="accent1"/>
          </a:solidFill>
          <a:ln w="76200" cap="flat" cmpd="sng" algn="ctr">
            <a:solidFill>
              <a:srgbClr val="CC00CC"/>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38" name="Text Box 43"/>
          <p:cNvSpPr txBox="1">
            <a:spLocks noChangeArrowheads="1"/>
          </p:cNvSpPr>
          <p:nvPr/>
        </p:nvSpPr>
        <p:spPr bwMode="auto">
          <a:xfrm>
            <a:off x="4246313" y="1253448"/>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pic>
        <p:nvPicPr>
          <p:cNvPr id="13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7895"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64791"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1"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23896"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2"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66723"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3" name="Text Box 54"/>
          <p:cNvSpPr txBox="1">
            <a:spLocks noChangeArrowheads="1"/>
          </p:cNvSpPr>
          <p:nvPr/>
        </p:nvSpPr>
        <p:spPr bwMode="auto">
          <a:xfrm>
            <a:off x="2531341" y="1520751"/>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144" name="Text Box 55"/>
          <p:cNvSpPr txBox="1">
            <a:spLocks noChangeArrowheads="1"/>
          </p:cNvSpPr>
          <p:nvPr/>
        </p:nvSpPr>
        <p:spPr bwMode="auto">
          <a:xfrm>
            <a:off x="3995350" y="1376532"/>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145" name="Text Box 56"/>
          <p:cNvSpPr txBox="1">
            <a:spLocks noChangeArrowheads="1"/>
          </p:cNvSpPr>
          <p:nvPr/>
        </p:nvSpPr>
        <p:spPr bwMode="auto">
          <a:xfrm>
            <a:off x="4953403" y="137653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146" name="Text Box 57"/>
          <p:cNvSpPr txBox="1">
            <a:spLocks noChangeArrowheads="1"/>
          </p:cNvSpPr>
          <p:nvPr/>
        </p:nvSpPr>
        <p:spPr bwMode="auto">
          <a:xfrm>
            <a:off x="6357889" y="1510099"/>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147" name="Text Box 87"/>
          <p:cNvSpPr txBox="1">
            <a:spLocks noChangeArrowheads="1"/>
          </p:cNvSpPr>
          <p:nvPr/>
        </p:nvSpPr>
        <p:spPr bwMode="auto">
          <a:xfrm>
            <a:off x="2439456" y="1127144"/>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grpSp>
        <p:nvGrpSpPr>
          <p:cNvPr id="148" name="组合 147"/>
          <p:cNvGrpSpPr/>
          <p:nvPr/>
        </p:nvGrpSpPr>
        <p:grpSpPr>
          <a:xfrm>
            <a:off x="2902885" y="1884639"/>
            <a:ext cx="3384042" cy="2045077"/>
            <a:chOff x="2922487" y="2420888"/>
            <a:chExt cx="4622801" cy="2590800"/>
          </a:xfrm>
        </p:grpSpPr>
        <p:sp>
          <p:nvSpPr>
            <p:cNvPr id="149" name="Line 55"/>
            <p:cNvSpPr>
              <a:spLocks noChangeShapeType="1"/>
            </p:cNvSpPr>
            <p:nvPr/>
          </p:nvSpPr>
          <p:spPr bwMode="auto">
            <a:xfrm>
              <a:off x="2922487"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0" name="Line 56"/>
            <p:cNvSpPr>
              <a:spLocks noChangeShapeType="1"/>
            </p:cNvSpPr>
            <p:nvPr/>
          </p:nvSpPr>
          <p:spPr bwMode="auto">
            <a:xfrm>
              <a:off x="7545288"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51" name="Line 70"/>
          <p:cNvSpPr>
            <a:spLocks noChangeShapeType="1"/>
          </p:cNvSpPr>
          <p:nvPr/>
        </p:nvSpPr>
        <p:spPr bwMode="auto">
          <a:xfrm>
            <a:off x="2912657" y="3726851"/>
            <a:ext cx="3332255"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2" name="Text Box 66"/>
          <p:cNvSpPr txBox="1">
            <a:spLocks noChangeArrowheads="1"/>
          </p:cNvSpPr>
          <p:nvPr/>
        </p:nvSpPr>
        <p:spPr bwMode="auto">
          <a:xfrm>
            <a:off x="4190523" y="3587415"/>
            <a:ext cx="988835" cy="276999"/>
          </a:xfrm>
          <a:prstGeom prst="rect">
            <a:avLst/>
          </a:prstGeom>
          <a:solidFill>
            <a:srgbClr val="C3E3F9"/>
          </a:solidFill>
          <a:ln>
            <a:noFill/>
          </a:ln>
          <a:effectLst/>
        </p:spPr>
        <p:txBody>
          <a:bodyPr wrap="square">
            <a:spAutoFit/>
          </a:bodyPr>
          <a:lstStyle/>
          <a:p>
            <a:pPr algn="ctr"/>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 </a:t>
            </a:r>
          </a:p>
        </p:txBody>
      </p:sp>
      <p:pic>
        <p:nvPicPr>
          <p:cNvPr id="15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48126" y="1586140"/>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15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228408" y="1586140"/>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118" name="AutoShape 84"/>
          <p:cNvSpPr>
            <a:spLocks noChangeArrowheads="1"/>
          </p:cNvSpPr>
          <p:nvPr/>
        </p:nvSpPr>
        <p:spPr bwMode="auto">
          <a:xfrm>
            <a:off x="2623821" y="2777275"/>
            <a:ext cx="799254" cy="147555"/>
          </a:xfrm>
          <a:prstGeom prst="rightArrow">
            <a:avLst>
              <a:gd name="adj1" fmla="val 50000"/>
              <a:gd name="adj2" fmla="val 125000"/>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6" name="AutoShape 106"/>
          <p:cNvSpPr>
            <a:spLocks noChangeArrowheads="1"/>
          </p:cNvSpPr>
          <p:nvPr/>
        </p:nvSpPr>
        <p:spPr bwMode="auto">
          <a:xfrm>
            <a:off x="5826600" y="2777275"/>
            <a:ext cx="702464" cy="147555"/>
          </a:xfrm>
          <a:prstGeom prst="rightArrow">
            <a:avLst>
              <a:gd name="adj1" fmla="val 50000"/>
              <a:gd name="adj2" fmla="val 99132"/>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9D098262-B62A-811D-2256-CD9327FE5041}"/>
              </a:ext>
            </a:extLst>
          </p:cNvPr>
          <p:cNvSpPr>
            <a:spLocks noGrp="1"/>
          </p:cNvSpPr>
          <p:nvPr>
            <p:ph type="title"/>
          </p:nvPr>
        </p:nvSpPr>
        <p:spPr>
          <a:xfrm>
            <a:off x="486000" y="550723"/>
            <a:ext cx="8172000" cy="338554"/>
          </a:xfrm>
        </p:spPr>
        <p:txBody>
          <a:bodyPr/>
          <a:lstStyle/>
          <a:p>
            <a:r>
              <a:rPr lang="zh-CN" altLang="en-US" dirty="0"/>
              <a:t>隧道技术</a:t>
            </a:r>
          </a:p>
        </p:txBody>
      </p:sp>
    </p:spTree>
    <p:extLst>
      <p:ext uri="{BB962C8B-B14F-4D97-AF65-F5344CB8AC3E}">
        <p14:creationId xmlns:p14="http://schemas.microsoft.com/office/powerpoint/2010/main" val="2901911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4"/>
          <p:cNvSpPr txBox="1">
            <a:spLocks noChangeArrowheads="1"/>
          </p:cNvSpPr>
          <p:nvPr/>
        </p:nvSpPr>
        <p:spPr bwMode="auto">
          <a:xfrm>
            <a:off x="1524425" y="2890390"/>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4 </a:t>
            </a:r>
            <a:r>
              <a:rPr kumimoji="1" lang="zh-CN" altLang="en-US" sz="1600" b="1" dirty="0">
                <a:solidFill>
                  <a:srgbClr val="0000FF"/>
                </a:solidFill>
                <a:latin typeface="微软雅黑" pitchFamily="34" charset="-122"/>
                <a:ea typeface="微软雅黑" pitchFamily="34" charset="-122"/>
              </a:rPr>
              <a:t>中的网络层</a:t>
            </a:r>
          </a:p>
        </p:txBody>
      </p:sp>
      <p:sp>
        <p:nvSpPr>
          <p:cNvPr id="7" name="Rectangle 6"/>
          <p:cNvSpPr>
            <a:spLocks noChangeArrowheads="1"/>
          </p:cNvSpPr>
          <p:nvPr/>
        </p:nvSpPr>
        <p:spPr bwMode="auto">
          <a:xfrm>
            <a:off x="1293090" y="1843114"/>
            <a:ext cx="2481774" cy="1054335"/>
          </a:xfrm>
          <a:prstGeom prst="rect">
            <a:avLst/>
          </a:prstGeom>
          <a:solidFill>
            <a:srgbClr val="00FFFF"/>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8" name="Rectangle 7"/>
          <p:cNvSpPr>
            <a:spLocks noChangeArrowheads="1"/>
          </p:cNvSpPr>
          <p:nvPr/>
        </p:nvSpPr>
        <p:spPr bwMode="auto">
          <a:xfrm>
            <a:off x="1413812" y="1890499"/>
            <a:ext cx="591870"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a:t>
            </a:r>
          </a:p>
        </p:txBody>
      </p:sp>
      <p:sp>
        <p:nvSpPr>
          <p:cNvPr id="9" name="Text Box 8"/>
          <p:cNvSpPr txBox="1">
            <a:spLocks noChangeArrowheads="1"/>
          </p:cNvSpPr>
          <p:nvPr/>
        </p:nvSpPr>
        <p:spPr bwMode="auto">
          <a:xfrm>
            <a:off x="2178160" y="2290740"/>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IPv4</a:t>
            </a:r>
          </a:p>
        </p:txBody>
      </p:sp>
      <p:sp>
        <p:nvSpPr>
          <p:cNvPr id="10" name="Rectangle 9"/>
          <p:cNvSpPr>
            <a:spLocks noChangeArrowheads="1"/>
          </p:cNvSpPr>
          <p:nvPr/>
        </p:nvSpPr>
        <p:spPr bwMode="auto">
          <a:xfrm>
            <a:off x="3105745" y="2599882"/>
            <a:ext cx="538806" cy="260622"/>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a:solidFill>
                  <a:srgbClr val="0000FF"/>
                </a:solidFill>
                <a:latin typeface="微软雅黑" pitchFamily="34" charset="-122"/>
                <a:ea typeface="微软雅黑" pitchFamily="34" charset="-122"/>
              </a:rPr>
              <a:t>ARP</a:t>
            </a:r>
          </a:p>
        </p:txBody>
      </p:sp>
      <p:sp>
        <p:nvSpPr>
          <p:cNvPr id="11" name="Rectangle 10"/>
          <p:cNvSpPr>
            <a:spLocks noChangeArrowheads="1"/>
          </p:cNvSpPr>
          <p:nvPr/>
        </p:nvSpPr>
        <p:spPr bwMode="auto">
          <a:xfrm>
            <a:off x="2008163" y="1890499"/>
            <a:ext cx="59084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IGMP</a:t>
            </a:r>
          </a:p>
        </p:txBody>
      </p:sp>
      <p:sp>
        <p:nvSpPr>
          <p:cNvPr id="12" name="Text Box 11"/>
          <p:cNvSpPr txBox="1">
            <a:spLocks noChangeArrowheads="1"/>
          </p:cNvSpPr>
          <p:nvPr/>
        </p:nvSpPr>
        <p:spPr bwMode="auto">
          <a:xfrm>
            <a:off x="4370409" y="2886158"/>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6 </a:t>
            </a:r>
            <a:r>
              <a:rPr kumimoji="1" lang="zh-CN" altLang="en-US" sz="1600" b="1" dirty="0">
                <a:solidFill>
                  <a:srgbClr val="0000FF"/>
                </a:solidFill>
                <a:latin typeface="微软雅黑" pitchFamily="34" charset="-122"/>
                <a:ea typeface="微软雅黑" pitchFamily="34" charset="-122"/>
              </a:rPr>
              <a:t>中的网络层</a:t>
            </a:r>
          </a:p>
        </p:txBody>
      </p:sp>
      <p:sp>
        <p:nvSpPr>
          <p:cNvPr id="13" name="Rectangle 13"/>
          <p:cNvSpPr>
            <a:spLocks noChangeArrowheads="1"/>
          </p:cNvSpPr>
          <p:nvPr/>
        </p:nvSpPr>
        <p:spPr bwMode="auto">
          <a:xfrm>
            <a:off x="4091605" y="1843114"/>
            <a:ext cx="2481774" cy="1054335"/>
          </a:xfrm>
          <a:prstGeom prst="rect">
            <a:avLst/>
          </a:prstGeom>
          <a:solidFill>
            <a:srgbClr val="99FFCC"/>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14" name="Rectangle 14"/>
          <p:cNvSpPr>
            <a:spLocks noChangeArrowheads="1"/>
          </p:cNvSpPr>
          <p:nvPr/>
        </p:nvSpPr>
        <p:spPr bwMode="auto">
          <a:xfrm>
            <a:off x="4221976" y="1886269"/>
            <a:ext cx="94188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ICMPv6</a:t>
            </a:r>
          </a:p>
        </p:txBody>
      </p:sp>
      <p:sp>
        <p:nvSpPr>
          <p:cNvPr id="15" name="Text Box 15"/>
          <p:cNvSpPr txBox="1">
            <a:spLocks noChangeArrowheads="1"/>
          </p:cNvSpPr>
          <p:nvPr/>
        </p:nvSpPr>
        <p:spPr bwMode="auto">
          <a:xfrm>
            <a:off x="5038220" y="2286509"/>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IPv6</a:t>
            </a:r>
          </a:p>
        </p:txBody>
      </p:sp>
      <p:sp>
        <p:nvSpPr>
          <p:cNvPr id="16" name="矩形 15"/>
          <p:cNvSpPr/>
          <p:nvPr/>
        </p:nvSpPr>
        <p:spPr>
          <a:xfrm>
            <a:off x="2285999" y="3451731"/>
            <a:ext cx="3984171" cy="369332"/>
          </a:xfrm>
          <a:prstGeom prst="rect">
            <a:avLst/>
          </a:prstGeom>
        </p:spPr>
        <p:txBody>
          <a:bodyPr wrap="square">
            <a:spAutoFit/>
          </a:bodyPr>
          <a:lstStyle/>
          <a:p>
            <a:pPr algn="ctr"/>
            <a:r>
              <a:rPr lang="zh-CN" altLang="zh-CN" b="1" dirty="0">
                <a:latin typeface="微软雅黑" pitchFamily="34" charset="-122"/>
                <a:ea typeface="微软雅黑" pitchFamily="34" charset="-122"/>
              </a:rPr>
              <a:t>新旧版本中的网络层的比较</a:t>
            </a:r>
            <a:endParaRPr lang="zh-CN" altLang="en-US" b="1" dirty="0">
              <a:latin typeface="微软雅黑" pitchFamily="34" charset="-122"/>
              <a:ea typeface="微软雅黑" pitchFamily="34" charset="-122"/>
            </a:endParaRPr>
          </a:p>
        </p:txBody>
      </p:sp>
      <p:sp>
        <p:nvSpPr>
          <p:cNvPr id="17" name="矩形 16"/>
          <p:cNvSpPr/>
          <p:nvPr/>
        </p:nvSpPr>
        <p:spPr>
          <a:xfrm>
            <a:off x="6756326" y="1862449"/>
            <a:ext cx="1691367" cy="1015663"/>
          </a:xfrm>
          <a:prstGeom prst="rect">
            <a:avLst/>
          </a:prstGeom>
          <a:solidFill>
            <a:schemeClr val="bg1"/>
          </a:solidFill>
        </p:spPr>
        <p:txBody>
          <a:bodyPr wrap="square">
            <a:spAutoFit/>
          </a:bodyPr>
          <a:lstStyle/>
          <a:p>
            <a:pPr algn="ctr">
              <a:lnSpc>
                <a:spcPts val="2400"/>
              </a:lnSpc>
              <a:buClr>
                <a:srgbClr val="0070C0"/>
              </a:buClr>
            </a:pPr>
            <a:r>
              <a:rPr lang="en-US" altLang="zh-CN" sz="1600" b="1" dirty="0">
                <a:latin typeface="微软雅黑" pitchFamily="34" charset="-122"/>
                <a:ea typeface="微软雅黑" pitchFamily="34" charset="-122"/>
              </a:rPr>
              <a:t>ICMPv6 </a:t>
            </a:r>
            <a:r>
              <a:rPr lang="zh-CN" altLang="en-US" sz="1600" b="1" dirty="0">
                <a:latin typeface="微软雅黑" pitchFamily="34" charset="-122"/>
                <a:ea typeface="微软雅黑" pitchFamily="34" charset="-122"/>
              </a:rPr>
              <a:t>包含了 </a:t>
            </a:r>
            <a:r>
              <a:rPr lang="en-US" altLang="zh-CN" sz="1600" b="1" dirty="0">
                <a:latin typeface="微软雅黑" pitchFamily="34" charset="-122"/>
                <a:ea typeface="微软雅黑" pitchFamily="34" charset="-122"/>
              </a:rPr>
              <a:t>ARP </a:t>
            </a:r>
            <a:r>
              <a:rPr lang="zh-CN" altLang="en-US" sz="1600" b="1" dirty="0">
                <a:latin typeface="微软雅黑" pitchFamily="34" charset="-122"/>
                <a:ea typeface="微软雅黑" pitchFamily="34" charset="-122"/>
              </a:rPr>
              <a:t>和 </a:t>
            </a:r>
            <a:r>
              <a:rPr lang="en-US" altLang="zh-CN" sz="1600" b="1" dirty="0">
                <a:latin typeface="微软雅黑" pitchFamily="34" charset="-122"/>
                <a:ea typeface="微软雅黑" pitchFamily="34" charset="-122"/>
              </a:rPr>
              <a:t>IGMP </a:t>
            </a:r>
            <a:r>
              <a:rPr lang="zh-CN" altLang="en-US" sz="1600" b="1" dirty="0">
                <a:latin typeface="微软雅黑" pitchFamily="34" charset="-122"/>
                <a:ea typeface="微软雅黑" pitchFamily="34" charset="-122"/>
              </a:rPr>
              <a:t>协议的功能中。</a:t>
            </a:r>
          </a:p>
        </p:txBody>
      </p:sp>
      <p:sp>
        <p:nvSpPr>
          <p:cNvPr id="19" name="标题 18">
            <a:extLst>
              <a:ext uri="{FF2B5EF4-FFF2-40B4-BE49-F238E27FC236}">
                <a16:creationId xmlns:a16="http://schemas.microsoft.com/office/drawing/2014/main" id="{FF9D6FC7-E2B9-6099-2C29-F7FB16ECBAC6}"/>
              </a:ext>
            </a:extLst>
          </p:cNvPr>
          <p:cNvSpPr>
            <a:spLocks noGrp="1"/>
          </p:cNvSpPr>
          <p:nvPr>
            <p:ph type="title"/>
          </p:nvPr>
        </p:nvSpPr>
        <p:spPr>
          <a:xfrm>
            <a:off x="486000" y="550723"/>
            <a:ext cx="8172000" cy="338554"/>
          </a:xfrm>
        </p:spPr>
        <p:txBody>
          <a:bodyPr/>
          <a:lstStyle/>
          <a:p>
            <a:r>
              <a:rPr lang="en-US" altLang="zh-CN" dirty="0"/>
              <a:t>4.5.4  ICMPv6</a:t>
            </a:r>
            <a:endParaRPr lang="zh-CN" altLang="en-US" dirty="0"/>
          </a:p>
        </p:txBody>
      </p:sp>
      <p:sp>
        <p:nvSpPr>
          <p:cNvPr id="20" name="内容占位符 19">
            <a:extLst>
              <a:ext uri="{FF2B5EF4-FFF2-40B4-BE49-F238E27FC236}">
                <a16:creationId xmlns:a16="http://schemas.microsoft.com/office/drawing/2014/main" id="{3065E77E-7809-E5EC-32C7-E54B5CD9A90B}"/>
              </a:ext>
            </a:extLst>
          </p:cNvPr>
          <p:cNvSpPr>
            <a:spLocks noGrp="1"/>
          </p:cNvSpPr>
          <p:nvPr>
            <p:ph sz="quarter" idx="11"/>
          </p:nvPr>
        </p:nvSpPr>
        <p:spPr>
          <a:xfrm>
            <a:off x="486000" y="900000"/>
            <a:ext cx="8172000" cy="3703500"/>
          </a:xfrm>
        </p:spPr>
        <p:txBody>
          <a:bodyPr/>
          <a:lstStyle/>
          <a:p>
            <a:r>
              <a:rPr lang="en-US" altLang="zh-CN" dirty="0"/>
              <a:t>IPv6 </a:t>
            </a:r>
            <a:r>
              <a:rPr lang="zh-CN" altLang="en-US" dirty="0"/>
              <a:t>也需要使用 </a:t>
            </a:r>
            <a:r>
              <a:rPr lang="en-US" altLang="zh-CN" dirty="0"/>
              <a:t>ICMP </a:t>
            </a:r>
            <a:r>
              <a:rPr lang="zh-CN" altLang="en-US" dirty="0"/>
              <a:t>来反馈一些差错信息。新的版本称为 </a:t>
            </a:r>
            <a:r>
              <a:rPr lang="en-US" altLang="zh-CN" dirty="0"/>
              <a:t>ICMPv6</a:t>
            </a:r>
            <a:endParaRPr lang="zh-CN" altLang="en-US" dirty="0"/>
          </a:p>
          <a:p>
            <a:endParaRPr lang="zh-CN" altLang="en-US" dirty="0"/>
          </a:p>
        </p:txBody>
      </p:sp>
    </p:spTree>
    <p:extLst>
      <p:ext uri="{BB962C8B-B14F-4D97-AF65-F5344CB8AC3E}">
        <p14:creationId xmlns:p14="http://schemas.microsoft.com/office/powerpoint/2010/main" val="9111879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74619" y="1271070"/>
            <a:ext cx="6660441" cy="2181976"/>
            <a:chOff x="1274619" y="1271070"/>
            <a:chExt cx="6660441" cy="2181976"/>
          </a:xfrm>
        </p:grpSpPr>
        <p:sp>
          <p:nvSpPr>
            <p:cNvPr id="20" name="Rectangle 5"/>
            <p:cNvSpPr>
              <a:spLocks noChangeArrowheads="1"/>
            </p:cNvSpPr>
            <p:nvPr/>
          </p:nvSpPr>
          <p:spPr bwMode="auto">
            <a:xfrm>
              <a:off x="3516598" y="1271070"/>
              <a:ext cx="1448135" cy="340023"/>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1600" b="1" dirty="0">
                  <a:latin typeface="微软雅黑" pitchFamily="34" charset="-122"/>
                  <a:ea typeface="微软雅黑" pitchFamily="34" charset="-122"/>
                </a:rPr>
                <a:t>ICMPv6 </a:t>
              </a:r>
              <a:r>
                <a:rPr kumimoji="1" lang="zh-CN" altLang="en-US" sz="1600" b="1" dirty="0">
                  <a:latin typeface="微软雅黑" pitchFamily="34" charset="-122"/>
                  <a:ea typeface="微软雅黑" pitchFamily="34" charset="-122"/>
                </a:rPr>
                <a:t>报文</a:t>
              </a:r>
            </a:p>
          </p:txBody>
        </p:sp>
        <p:sp>
          <p:nvSpPr>
            <p:cNvPr id="21" name="Rectangle 6"/>
            <p:cNvSpPr>
              <a:spLocks noChangeArrowheads="1"/>
            </p:cNvSpPr>
            <p:nvPr/>
          </p:nvSpPr>
          <p:spPr bwMode="auto">
            <a:xfrm>
              <a:off x="1274619"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dirty="0">
                  <a:latin typeface="微软雅黑" pitchFamily="34" charset="-122"/>
                  <a:ea typeface="微软雅黑" pitchFamily="34" charset="-122"/>
                </a:rPr>
                <a:t>差错报文</a:t>
              </a:r>
            </a:p>
          </p:txBody>
        </p:sp>
        <p:sp>
          <p:nvSpPr>
            <p:cNvPr id="22" name="Rectangle 7"/>
            <p:cNvSpPr>
              <a:spLocks noChangeArrowheads="1"/>
            </p:cNvSpPr>
            <p:nvPr/>
          </p:nvSpPr>
          <p:spPr bwMode="auto">
            <a:xfrm>
              <a:off x="5995034" y="2002206"/>
              <a:ext cx="1828162"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组成员关系报文</a:t>
              </a:r>
            </a:p>
          </p:txBody>
        </p:sp>
        <p:sp>
          <p:nvSpPr>
            <p:cNvPr id="23" name="Rectangle 8"/>
            <p:cNvSpPr>
              <a:spLocks noChangeArrowheads="1"/>
            </p:cNvSpPr>
            <p:nvPr/>
          </p:nvSpPr>
          <p:spPr bwMode="auto">
            <a:xfrm>
              <a:off x="4300371" y="2002206"/>
              <a:ext cx="1566173"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邻站发现报文</a:t>
              </a:r>
            </a:p>
          </p:txBody>
        </p:sp>
        <p:sp>
          <p:nvSpPr>
            <p:cNvPr id="24" name="Rectangle 9"/>
            <p:cNvSpPr>
              <a:spLocks noChangeArrowheads="1"/>
            </p:cNvSpPr>
            <p:nvPr/>
          </p:nvSpPr>
          <p:spPr bwMode="auto">
            <a:xfrm>
              <a:off x="2793376"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信息报文</a:t>
              </a:r>
            </a:p>
          </p:txBody>
        </p:sp>
        <p:sp>
          <p:nvSpPr>
            <p:cNvPr id="25" name="Freeform 10"/>
            <p:cNvSpPr>
              <a:spLocks/>
            </p:cNvSpPr>
            <p:nvPr/>
          </p:nvSpPr>
          <p:spPr bwMode="auto">
            <a:xfrm>
              <a:off x="1958110" y="1806649"/>
              <a:ext cx="4922982" cy="195557"/>
            </a:xfrm>
            <a:custGeom>
              <a:avLst/>
              <a:gdLst>
                <a:gd name="T0" fmla="*/ 0 w 3311"/>
                <a:gd name="T1" fmla="*/ 136 h 136"/>
                <a:gd name="T2" fmla="*/ 0 w 3311"/>
                <a:gd name="T3" fmla="*/ 0 h 136"/>
                <a:gd name="T4" fmla="*/ 3311 w 3311"/>
                <a:gd name="T5" fmla="*/ 0 h 136"/>
                <a:gd name="T6" fmla="*/ 3311 w 3311"/>
                <a:gd name="T7" fmla="*/ 136 h 136"/>
              </a:gdLst>
              <a:ahLst/>
              <a:cxnLst>
                <a:cxn ang="0">
                  <a:pos x="T0" y="T1"/>
                </a:cxn>
                <a:cxn ang="0">
                  <a:pos x="T2" y="T3"/>
                </a:cxn>
                <a:cxn ang="0">
                  <a:pos x="T4" y="T5"/>
                </a:cxn>
                <a:cxn ang="0">
                  <a:pos x="T6" y="T7"/>
                </a:cxn>
              </a:cxnLst>
              <a:rect l="0" t="0" r="r" b="b"/>
              <a:pathLst>
                <a:path w="3311" h="136">
                  <a:moveTo>
                    <a:pt x="0" y="136"/>
                  </a:moveTo>
                  <a:lnTo>
                    <a:pt x="0" y="0"/>
                  </a:lnTo>
                  <a:lnTo>
                    <a:pt x="3311" y="0"/>
                  </a:lnTo>
                  <a:lnTo>
                    <a:pt x="3311" y="136"/>
                  </a:lnTo>
                </a:path>
              </a:pathLst>
            </a:custGeom>
            <a:noFill/>
            <a:ln w="28575">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6" name="Line 11"/>
            <p:cNvSpPr>
              <a:spLocks noChangeShapeType="1"/>
            </p:cNvSpPr>
            <p:nvPr/>
          </p:nvSpPr>
          <p:spPr bwMode="auto">
            <a:xfrm>
              <a:off x="3461722"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7" name="Line 12"/>
            <p:cNvSpPr>
              <a:spLocks noChangeShapeType="1"/>
            </p:cNvSpPr>
            <p:nvPr/>
          </p:nvSpPr>
          <p:spPr bwMode="auto">
            <a:xfrm>
              <a:off x="5006400"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13"/>
            <p:cNvSpPr>
              <a:spLocks noChangeShapeType="1"/>
            </p:cNvSpPr>
            <p:nvPr/>
          </p:nvSpPr>
          <p:spPr bwMode="auto">
            <a:xfrm>
              <a:off x="4231115" y="1611093"/>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14"/>
            <p:cNvSpPr txBox="1">
              <a:spLocks noChangeArrowheads="1"/>
            </p:cNvSpPr>
            <p:nvPr/>
          </p:nvSpPr>
          <p:spPr bwMode="auto">
            <a:xfrm>
              <a:off x="4440705" y="2350570"/>
              <a:ext cx="1212667"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ND </a:t>
              </a:r>
              <a:r>
                <a:rPr kumimoji="1" lang="zh-CN" altLang="en-US" sz="1600" b="1" dirty="0">
                  <a:solidFill>
                    <a:srgbClr val="CC00CC"/>
                  </a:solidFill>
                  <a:latin typeface="微软雅黑" pitchFamily="34" charset="-122"/>
                  <a:ea typeface="微软雅黑" pitchFamily="34" charset="-122"/>
                </a:rPr>
                <a:t>协议</a:t>
              </a:r>
            </a:p>
          </p:txBody>
        </p:sp>
        <p:sp>
          <p:nvSpPr>
            <p:cNvPr id="30" name="Text Box 15"/>
            <p:cNvSpPr txBox="1">
              <a:spLocks noChangeArrowheads="1"/>
            </p:cNvSpPr>
            <p:nvPr/>
          </p:nvSpPr>
          <p:spPr bwMode="auto">
            <a:xfrm>
              <a:off x="6195082" y="2350570"/>
              <a:ext cx="1394802"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MLD </a:t>
              </a:r>
              <a:r>
                <a:rPr kumimoji="1" lang="zh-CN" altLang="en-US" sz="1600" b="1" dirty="0">
                  <a:solidFill>
                    <a:srgbClr val="CC00CC"/>
                  </a:solidFill>
                  <a:latin typeface="微软雅黑" pitchFamily="34" charset="-122"/>
                  <a:ea typeface="微软雅黑" pitchFamily="34" charset="-122"/>
                </a:rPr>
                <a:t>协议</a:t>
              </a:r>
            </a:p>
          </p:txBody>
        </p:sp>
        <p:sp>
          <p:nvSpPr>
            <p:cNvPr id="19" name="矩形 18"/>
            <p:cNvSpPr/>
            <p:nvPr/>
          </p:nvSpPr>
          <p:spPr>
            <a:xfrm>
              <a:off x="1723280" y="2745160"/>
              <a:ext cx="6211780" cy="707886"/>
            </a:xfrm>
            <a:prstGeom prst="rect">
              <a:avLst/>
            </a:prstGeom>
          </p:spPr>
          <p:txBody>
            <a:bodyPr wrap="square">
              <a:spAutoFit/>
            </a:bodyPr>
            <a:lstStyle/>
            <a:p>
              <a:pPr>
                <a:lnSpc>
                  <a:spcPts val="2400"/>
                </a:lnSpc>
              </a:pPr>
              <a:r>
                <a:rPr lang="en-US" altLang="zh-CN" sz="1600" b="1" dirty="0">
                  <a:solidFill>
                    <a:srgbClr val="0000FF"/>
                  </a:solidFill>
                  <a:latin typeface="微软雅黑" pitchFamily="34" charset="-122"/>
                  <a:ea typeface="微软雅黑" pitchFamily="34" charset="-122"/>
                </a:rPr>
                <a:t>ND (Neighbor-Discovery)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邻站发现</a:t>
              </a:r>
              <a:endParaRPr lang="en-US" altLang="zh-CN" sz="1600" b="1" dirty="0">
                <a:solidFill>
                  <a:srgbClr val="0000FF"/>
                </a:solidFill>
                <a:latin typeface="微软雅黑" pitchFamily="34" charset="-122"/>
                <a:ea typeface="微软雅黑" pitchFamily="34" charset="-122"/>
              </a:endParaRPr>
            </a:p>
            <a:p>
              <a:pPr>
                <a:lnSpc>
                  <a:spcPts val="2400"/>
                </a:lnSpc>
              </a:pPr>
              <a:r>
                <a:rPr lang="en-US" altLang="zh-CN" sz="1600" b="1" dirty="0">
                  <a:solidFill>
                    <a:srgbClr val="0000FF"/>
                  </a:solidFill>
                  <a:latin typeface="微软雅黑" pitchFamily="34" charset="-122"/>
                  <a:ea typeface="微软雅黑" pitchFamily="34" charset="-122"/>
                </a:rPr>
                <a:t>MLD (Multicast Listener Delivery)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多播听众交付</a:t>
              </a:r>
              <a:endParaRPr lang="zh-CN" altLang="en-US" sz="1600" b="1" dirty="0">
                <a:solidFill>
                  <a:srgbClr val="0000FF"/>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53C29D5-39D3-FE54-C5CA-C9321CE9B234}"/>
              </a:ext>
            </a:extLst>
          </p:cNvPr>
          <p:cNvSpPr>
            <a:spLocks noGrp="1"/>
          </p:cNvSpPr>
          <p:nvPr>
            <p:ph type="title"/>
          </p:nvPr>
        </p:nvSpPr>
        <p:spPr>
          <a:xfrm>
            <a:off x="486000" y="550723"/>
            <a:ext cx="8172000" cy="338554"/>
          </a:xfrm>
        </p:spPr>
        <p:txBody>
          <a:bodyPr/>
          <a:lstStyle/>
          <a:p>
            <a:r>
              <a:rPr lang="en-US" altLang="zh-CN" dirty="0"/>
              <a:t>ICMPv6 </a:t>
            </a:r>
            <a:r>
              <a:rPr lang="zh-CN" altLang="en-US" dirty="0"/>
              <a:t>报文的分类</a:t>
            </a:r>
          </a:p>
        </p:txBody>
      </p:sp>
    </p:spTree>
    <p:extLst>
      <p:ext uri="{BB962C8B-B14F-4D97-AF65-F5344CB8AC3E}">
        <p14:creationId xmlns:p14="http://schemas.microsoft.com/office/powerpoint/2010/main" val="993771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图片占位符 12">
            <a:extLst>
              <a:ext uri="{FF2B5EF4-FFF2-40B4-BE49-F238E27FC236}">
                <a16:creationId xmlns:a16="http://schemas.microsoft.com/office/drawing/2014/main" id="{7C7D3BDD-A824-6246-FC7C-51F5A6F463A0}"/>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3" name="标题 2">
            <a:extLst>
              <a:ext uri="{FF2B5EF4-FFF2-40B4-BE49-F238E27FC236}">
                <a16:creationId xmlns:a16="http://schemas.microsoft.com/office/drawing/2014/main" id="{D3AEA63E-0C8C-5E8B-0556-1E5AA3055627}"/>
              </a:ext>
            </a:extLst>
          </p:cNvPr>
          <p:cNvSpPr>
            <a:spLocks noGrp="1"/>
          </p:cNvSpPr>
          <p:nvPr>
            <p:ph type="title"/>
          </p:nvPr>
        </p:nvSpPr>
        <p:spPr>
          <a:xfrm>
            <a:off x="628650" y="1790739"/>
            <a:ext cx="4320000" cy="553998"/>
          </a:xfrm>
        </p:spPr>
        <p:txBody>
          <a:bodyPr/>
          <a:lstStyle/>
          <a:p>
            <a:r>
              <a:rPr lang="fr-FR" altLang="zh-CN" dirty="0"/>
              <a:t>4.</a:t>
            </a:r>
            <a:r>
              <a:rPr lang="en-US" altLang="zh-CN" dirty="0"/>
              <a:t>6</a:t>
            </a:r>
            <a:r>
              <a:rPr lang="zh-CN" altLang="en-US" dirty="0"/>
              <a:t>路由选择协议</a:t>
            </a:r>
          </a:p>
        </p:txBody>
      </p:sp>
      <p:sp>
        <p:nvSpPr>
          <p:cNvPr id="4" name="文本占位符 3">
            <a:extLst>
              <a:ext uri="{FF2B5EF4-FFF2-40B4-BE49-F238E27FC236}">
                <a16:creationId xmlns:a16="http://schemas.microsoft.com/office/drawing/2014/main" id="{4754544C-7CD0-8972-E484-BB618F32501A}"/>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几个基本概念</a:t>
            </a:r>
            <a:endParaRPr lang="en-US" altLang="zh-CN" dirty="0"/>
          </a:p>
          <a:p>
            <a:r>
              <a:rPr lang="en-US" altLang="zh-CN" dirty="0"/>
              <a:t>· </a:t>
            </a:r>
            <a:r>
              <a:rPr lang="zh-CN" altLang="en-US" dirty="0"/>
              <a:t>内部网关协议 </a:t>
            </a:r>
            <a:r>
              <a:rPr lang="en-US" altLang="zh-CN" dirty="0"/>
              <a:t>RIP</a:t>
            </a:r>
          </a:p>
          <a:p>
            <a:r>
              <a:rPr lang="en-US" altLang="zh-CN" dirty="0"/>
              <a:t>· </a:t>
            </a:r>
            <a:r>
              <a:rPr lang="zh-CN" altLang="en-US" dirty="0"/>
              <a:t>内部网关协议 </a:t>
            </a:r>
            <a:r>
              <a:rPr lang="en-US" altLang="zh-CN" dirty="0"/>
              <a:t>OSPF</a:t>
            </a:r>
          </a:p>
          <a:p>
            <a:r>
              <a:rPr lang="en-US" altLang="zh-CN" dirty="0"/>
              <a:t>· </a:t>
            </a:r>
            <a:r>
              <a:rPr lang="zh-CN" altLang="en-US" dirty="0"/>
              <a:t>外部网关协议 </a:t>
            </a:r>
            <a:r>
              <a:rPr lang="en-US" altLang="zh-CN" dirty="0"/>
              <a:t>BGP</a:t>
            </a:r>
          </a:p>
          <a:p>
            <a:r>
              <a:rPr lang="en-US" altLang="zh-CN" dirty="0"/>
              <a:t>· </a:t>
            </a:r>
            <a:r>
              <a:rPr lang="zh-CN" altLang="en-US" dirty="0"/>
              <a:t>路由器的构成</a:t>
            </a:r>
          </a:p>
          <a:p>
            <a:endParaRPr lang="zh-CN" altLang="en-US" dirty="0"/>
          </a:p>
        </p:txBody>
      </p:sp>
    </p:spTree>
    <p:extLst>
      <p:ext uri="{BB962C8B-B14F-4D97-AF65-F5344CB8AC3E}">
        <p14:creationId xmlns:p14="http://schemas.microsoft.com/office/powerpoint/2010/main" val="12923953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26220"/>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1708076" y="585357"/>
            <a:ext cx="572785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4.6.1  </a:t>
            </a:r>
            <a:r>
              <a:rPr lang="zh-CN" altLang="en-US" sz="2400" b="1" dirty="0">
                <a:solidFill>
                  <a:schemeClr val="bg1"/>
                </a:solidFill>
                <a:latin typeface="微软雅黑" pitchFamily="34" charset="-122"/>
                <a:ea typeface="微软雅黑" pitchFamily="34" charset="-122"/>
              </a:rPr>
              <a:t>有关路由选择协议的几个基本概念</a:t>
            </a:r>
          </a:p>
        </p:txBody>
      </p:sp>
      <p:grpSp>
        <p:nvGrpSpPr>
          <p:cNvPr id="8" name="组合 7"/>
          <p:cNvGrpSpPr/>
          <p:nvPr/>
        </p:nvGrpSpPr>
        <p:grpSpPr>
          <a:xfrm>
            <a:off x="957532" y="1300244"/>
            <a:ext cx="7040366" cy="2667520"/>
            <a:chOff x="957532" y="1263300"/>
            <a:chExt cx="7040366" cy="2667520"/>
          </a:xfrm>
        </p:grpSpPr>
        <p:sp>
          <p:nvSpPr>
            <p:cNvPr id="9"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0"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1"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2"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3"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5"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609787" y="3427534"/>
              <a:ext cx="520700" cy="287337"/>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5642481" y="3283443"/>
              <a:ext cx="520700" cy="287337"/>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5066417" y="3643483"/>
              <a:ext cx="520700" cy="287337"/>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6722874" y="3500559"/>
              <a:ext cx="520700" cy="287337"/>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418345" y="2635371"/>
              <a:ext cx="520700" cy="287338"/>
            </a:xfrm>
            <a:prstGeom prst="rect">
              <a:avLst/>
            </a:prstGeom>
            <a:noFill/>
            <a:ln w="12699">
              <a:noFill/>
              <a:miter lim="800000"/>
              <a:headEnd/>
              <a:tailEnd/>
            </a:ln>
          </p:spPr>
        </p:pic>
        <p:pic>
          <p:nvPicPr>
            <p:cNvPr id="23" name="Picture 113"/>
            <p:cNvPicPr>
              <a:picLocks noChangeArrowheads="1"/>
            </p:cNvPicPr>
            <p:nvPr/>
          </p:nvPicPr>
          <p:blipFill>
            <a:blip r:embed="rId3" cstate="print"/>
            <a:srcRect/>
            <a:stretch>
              <a:fillRect/>
            </a:stretch>
          </p:blipFill>
          <p:spPr bwMode="auto">
            <a:xfrm>
              <a:off x="3557370" y="1365789"/>
              <a:ext cx="351656" cy="189462"/>
            </a:xfrm>
            <a:prstGeom prst="rect">
              <a:avLst/>
            </a:prstGeom>
            <a:noFill/>
            <a:ln w="12699">
              <a:noFill/>
              <a:miter lim="800000"/>
              <a:headEnd/>
              <a:tailEnd/>
            </a:ln>
          </p:spPr>
        </p:pic>
        <p:sp>
          <p:nvSpPr>
            <p:cNvPr id="24" name="矩形 23"/>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25" name="直接连接符 24"/>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椭圆 29"/>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1" name="下箭头 30"/>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32" name="Picture 113"/>
            <p:cNvPicPr>
              <a:picLocks noChangeArrowheads="1"/>
            </p:cNvPicPr>
            <p:nvPr/>
          </p:nvPicPr>
          <p:blipFill>
            <a:blip r:embed="rId3" cstate="print"/>
            <a:srcRect/>
            <a:stretch>
              <a:fillRect/>
            </a:stretch>
          </p:blipFill>
          <p:spPr bwMode="auto">
            <a:xfrm>
              <a:off x="4423607" y="1365789"/>
              <a:ext cx="351656" cy="189462"/>
            </a:xfrm>
            <a:prstGeom prst="rect">
              <a:avLst/>
            </a:prstGeom>
            <a:noFill/>
            <a:ln w="12699">
              <a:noFill/>
              <a:miter lim="800000"/>
              <a:headEnd/>
              <a:tailEnd/>
            </a:ln>
          </p:spPr>
        </p:pic>
        <p:sp>
          <p:nvSpPr>
            <p:cNvPr id="33" name="矩形 32"/>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34" name="直接连接符 33"/>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9" name="椭圆 38"/>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0" name="下箭头 39"/>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1" name="Picture 113"/>
            <p:cNvPicPr>
              <a:picLocks noChangeArrowheads="1"/>
            </p:cNvPicPr>
            <p:nvPr/>
          </p:nvPicPr>
          <p:blipFill>
            <a:blip r:embed="rId3" cstate="print"/>
            <a:srcRect/>
            <a:stretch>
              <a:fillRect/>
            </a:stretch>
          </p:blipFill>
          <p:spPr bwMode="auto">
            <a:xfrm>
              <a:off x="5143687" y="1365789"/>
              <a:ext cx="351656" cy="189462"/>
            </a:xfrm>
            <a:prstGeom prst="rect">
              <a:avLst/>
            </a:prstGeom>
            <a:noFill/>
            <a:ln w="12699">
              <a:noFill/>
              <a:miter lim="800000"/>
              <a:headEnd/>
              <a:tailEnd/>
            </a:ln>
          </p:spPr>
        </p:pic>
        <p:sp>
          <p:nvSpPr>
            <p:cNvPr id="42" name="矩形 41"/>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43" name="直接连接符 42"/>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椭圆 47"/>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9" name="下箭头 48"/>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0" name="Picture 113"/>
            <p:cNvPicPr>
              <a:picLocks noChangeArrowheads="1"/>
            </p:cNvPicPr>
            <p:nvPr/>
          </p:nvPicPr>
          <p:blipFill>
            <a:blip r:embed="rId3" cstate="print"/>
            <a:srcRect/>
            <a:stretch>
              <a:fillRect/>
            </a:stretch>
          </p:blipFill>
          <p:spPr bwMode="auto">
            <a:xfrm>
              <a:off x="6727863" y="1365789"/>
              <a:ext cx="351656" cy="189462"/>
            </a:xfrm>
            <a:prstGeom prst="rect">
              <a:avLst/>
            </a:prstGeom>
            <a:noFill/>
            <a:ln w="12699">
              <a:noFill/>
              <a:miter lim="800000"/>
              <a:headEnd/>
              <a:tailEnd/>
            </a:ln>
          </p:spPr>
        </p:pic>
        <p:sp>
          <p:nvSpPr>
            <p:cNvPr id="51" name="矩形 50"/>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52" name="直接连接符 51"/>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椭圆 56"/>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58" name="下箭头 57"/>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9" name="Picture 113"/>
            <p:cNvPicPr>
              <a:picLocks noChangeArrowheads="1"/>
            </p:cNvPicPr>
            <p:nvPr/>
          </p:nvPicPr>
          <p:blipFill>
            <a:blip r:embed="rId3" cstate="print"/>
            <a:srcRect/>
            <a:stretch>
              <a:fillRect/>
            </a:stretch>
          </p:blipFill>
          <p:spPr bwMode="auto">
            <a:xfrm>
              <a:off x="5791759" y="1365789"/>
              <a:ext cx="351656" cy="189462"/>
            </a:xfrm>
            <a:prstGeom prst="rect">
              <a:avLst/>
            </a:prstGeom>
            <a:noFill/>
            <a:ln w="12699">
              <a:noFill/>
              <a:miter lim="800000"/>
              <a:headEnd/>
              <a:tailEnd/>
            </a:ln>
          </p:spPr>
        </p:pic>
        <p:sp>
          <p:nvSpPr>
            <p:cNvPr id="60" name="矩形 59"/>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61" name="直接连接符 60"/>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椭圆 65"/>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7" name="下箭头 66"/>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8" name="TextBox 175"/>
            <p:cNvSpPr txBox="1"/>
            <p:nvPr/>
          </p:nvSpPr>
          <p:spPr>
            <a:xfrm>
              <a:off x="2453417" y="1339227"/>
              <a:ext cx="902811" cy="523220"/>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路由选择</a:t>
              </a:r>
              <a:endParaRPr lang="en-US" altLang="zh-CN" sz="1400" b="1" dirty="0">
                <a:solidFill>
                  <a:srgbClr val="0000FF"/>
                </a:solidFill>
                <a:latin typeface="微软雅黑" panose="020B0503020204020204" pitchFamily="34" charset="-122"/>
                <a:ea typeface="微软雅黑" panose="020B0503020204020204" pitchFamily="34" charset="-122"/>
              </a:endParaRPr>
            </a:p>
            <a:p>
              <a:pPr algn="ctr"/>
              <a:r>
                <a:rPr lang="zh-CN" altLang="en-US" sz="1400" b="1" dirty="0">
                  <a:solidFill>
                    <a:srgbClr val="0000FF"/>
                  </a:solidFill>
                  <a:latin typeface="微软雅黑" panose="020B0503020204020204" pitchFamily="34" charset="-122"/>
                  <a:ea typeface="微软雅黑" panose="020B0503020204020204" pitchFamily="34" charset="-122"/>
                </a:rPr>
                <a:t>算法</a:t>
              </a:r>
            </a:p>
          </p:txBody>
        </p:sp>
        <p:sp>
          <p:nvSpPr>
            <p:cNvPr id="69" name="TextBox 176"/>
            <p:cNvSpPr txBox="1"/>
            <p:nvPr/>
          </p:nvSpPr>
          <p:spPr>
            <a:xfrm>
              <a:off x="2549711" y="2103292"/>
              <a:ext cx="723275" cy="307777"/>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转发表</a:t>
              </a:r>
            </a:p>
          </p:txBody>
        </p:sp>
        <p:cxnSp>
          <p:nvCxnSpPr>
            <p:cNvPr id="70" name="直接连接符 69"/>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1" name="TextBox 179"/>
            <p:cNvSpPr txBox="1"/>
            <p:nvPr/>
          </p:nvSpPr>
          <p:spPr>
            <a:xfrm>
              <a:off x="1249993" y="1559485"/>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72" name="TextBox 180"/>
            <p:cNvSpPr txBox="1"/>
            <p:nvPr/>
          </p:nvSpPr>
          <p:spPr>
            <a:xfrm>
              <a:off x="1249993" y="1932543"/>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cxnSp>
          <p:nvCxnSpPr>
            <p:cNvPr id="73" name="直接箭头连接符 72"/>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a:endCxn id="21"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flipV="1">
              <a:off x="3212645" y="224918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nvGrpSpPr>
            <p:cNvPr id="84" name="组合 83"/>
            <p:cNvGrpSpPr/>
            <p:nvPr/>
          </p:nvGrpSpPr>
          <p:grpSpPr>
            <a:xfrm>
              <a:off x="1062847" y="1267219"/>
              <a:ext cx="206062" cy="1296144"/>
              <a:chOff x="199861" y="1988840"/>
              <a:chExt cx="288414" cy="1440160"/>
            </a:xfrm>
          </p:grpSpPr>
          <p:sp>
            <p:nvSpPr>
              <p:cNvPr id="88" name="上箭头 87"/>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9" name="上箭头 88"/>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pic>
          <p:nvPicPr>
            <p:cNvPr id="8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87" name="直接箭头连接符 86"/>
            <p:cNvCxnSpPr/>
            <p:nvPr/>
          </p:nvCxnSpPr>
          <p:spPr>
            <a:xfrm flipV="1">
              <a:off x="3212645" y="168836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90" name="矩形 89"/>
          <p:cNvSpPr/>
          <p:nvPr/>
        </p:nvSpPr>
        <p:spPr>
          <a:xfrm>
            <a:off x="2453417" y="4209242"/>
            <a:ext cx="4965299" cy="369332"/>
          </a:xfrm>
          <a:prstGeom prst="rect">
            <a:avLst/>
          </a:prstGeom>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路由选择协议属于</a:t>
            </a:r>
            <a:r>
              <a:rPr lang="zh-CN" altLang="en-US" b="1" dirty="0">
                <a:solidFill>
                  <a:srgbClr val="C00000"/>
                </a:solidFill>
                <a:latin typeface="微软雅黑" panose="020B0503020204020204" pitchFamily="34" charset="-122"/>
                <a:ea typeface="微软雅黑" panose="020B0503020204020204" pitchFamily="34" charset="-122"/>
              </a:rPr>
              <a:t>网络层控制层面</a:t>
            </a:r>
            <a:r>
              <a:rPr lang="zh-CN" altLang="en-US" b="1" dirty="0">
                <a:latin typeface="微软雅黑" panose="020B0503020204020204" pitchFamily="34" charset="-122"/>
                <a:ea typeface="微软雅黑" panose="020B0503020204020204" pitchFamily="34" charset="-122"/>
              </a:rPr>
              <a:t>的内容</a:t>
            </a:r>
          </a:p>
        </p:txBody>
      </p:sp>
    </p:spTree>
    <p:extLst>
      <p:ext uri="{BB962C8B-B14F-4D97-AF65-F5344CB8AC3E}">
        <p14:creationId xmlns:p14="http://schemas.microsoft.com/office/powerpoint/2010/main" val="1610816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30148"/>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96937"/>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理想的路由算法</a:t>
            </a:r>
          </a:p>
        </p:txBody>
      </p:sp>
      <p:graphicFrame>
        <p:nvGraphicFramePr>
          <p:cNvPr id="16" name="图示 15"/>
          <p:cNvGraphicFramePr/>
          <p:nvPr>
            <p:extLst>
              <p:ext uri="{D42A27DB-BD31-4B8C-83A1-F6EECF244321}">
                <p14:modId xmlns:p14="http://schemas.microsoft.com/office/powerpoint/2010/main" val="949914576"/>
              </p:ext>
            </p:extLst>
          </p:nvPr>
        </p:nvGraphicFramePr>
        <p:xfrm>
          <a:off x="2382983" y="1154546"/>
          <a:ext cx="4819049" cy="28632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676219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055392491"/>
              </p:ext>
            </p:extLst>
          </p:nvPr>
        </p:nvGraphicFramePr>
        <p:xfrm>
          <a:off x="1440873" y="613640"/>
          <a:ext cx="6520872" cy="347806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76170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2091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87701"/>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路由算法分类（自适应）</a:t>
            </a:r>
          </a:p>
        </p:txBody>
      </p:sp>
      <p:graphicFrame>
        <p:nvGraphicFramePr>
          <p:cNvPr id="2" name="图示 1"/>
          <p:cNvGraphicFramePr/>
          <p:nvPr>
            <p:extLst>
              <p:ext uri="{D42A27DB-BD31-4B8C-83A1-F6EECF244321}">
                <p14:modId xmlns:p14="http://schemas.microsoft.com/office/powerpoint/2010/main" val="2406667029"/>
              </p:ext>
            </p:extLst>
          </p:nvPr>
        </p:nvGraphicFramePr>
        <p:xfrm>
          <a:off x="992908" y="1200729"/>
          <a:ext cx="7449128" cy="208741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42625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977168"/>
            <a:ext cx="8053711" cy="3631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互联网：</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采用自适应的（即动态的）、分布式路由选择协议。</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把整个互联网划分为许多较小的自治系统 </a:t>
            </a:r>
            <a:r>
              <a:rPr lang="en-US" altLang="zh-CN" sz="2000" b="1" dirty="0">
                <a:latin typeface="微软雅黑" pitchFamily="34" charset="-122"/>
                <a:ea typeface="微软雅黑" pitchFamily="34" charset="-122"/>
              </a:rPr>
              <a:t>AS</a:t>
            </a:r>
            <a:r>
              <a:rPr lang="zh-CN" altLang="en-US" sz="2000" b="1" dirty="0">
                <a:latin typeface="微软雅黑" pitchFamily="34" charset="-122"/>
                <a:ea typeface="微软雅黑" pitchFamily="34" charset="-122"/>
              </a:rPr>
              <a:t>，采用分层次的路由选择协议。</a:t>
            </a:r>
            <a:endParaRPr lang="en-US" altLang="zh-CN" sz="2000" b="1" dirty="0">
              <a:latin typeface="微软雅黑" pitchFamily="34" charset="-122"/>
              <a:ea typeface="微软雅黑" pitchFamily="34" charset="-122"/>
            </a:endParaRPr>
          </a:p>
          <a:p>
            <a:pPr marL="285750" lvl="1" indent="-285750">
              <a:lnSpc>
                <a:spcPts val="3300"/>
              </a:lnSpc>
              <a:buClr>
                <a:srgbClr val="0070C0"/>
              </a:buClr>
              <a:buSzPct val="75000"/>
              <a:buFont typeface="Wingdings" pitchFamily="2" charset="2"/>
              <a:buChar char="l"/>
            </a:pPr>
            <a:r>
              <a:rPr lang="zh-CN" altLang="en-US" sz="2000" b="1" dirty="0">
                <a:solidFill>
                  <a:srgbClr val="C00000"/>
                </a:solidFill>
                <a:latin typeface="微软雅黑" pitchFamily="34" charset="-122"/>
                <a:ea typeface="微软雅黑" pitchFamily="34" charset="-122"/>
              </a:rPr>
              <a:t>分为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个层次：</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自治系统之间的路由选择 或 </a:t>
            </a:r>
            <a:r>
              <a:rPr lang="zh-CN" altLang="en-US" sz="2000" b="1" dirty="0">
                <a:solidFill>
                  <a:srgbClr val="0000FF"/>
                </a:solidFill>
                <a:latin typeface="微软雅黑" pitchFamily="34" charset="-122"/>
                <a:ea typeface="微软雅黑" pitchFamily="34" charset="-122"/>
              </a:rPr>
              <a:t>域间路由选择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interdomain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自治系统内部的路由选择 或 </a:t>
            </a:r>
            <a:r>
              <a:rPr lang="zh-CN" altLang="en-US" sz="2000" b="1" dirty="0">
                <a:solidFill>
                  <a:srgbClr val="0000FF"/>
                </a:solidFill>
                <a:latin typeface="微软雅黑" pitchFamily="34" charset="-122"/>
                <a:ea typeface="微软雅黑" pitchFamily="34" charset="-122"/>
              </a:rPr>
              <a:t>域内路由选择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intradomain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20824"/>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7613"/>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分层次的路由选择协议</a:t>
            </a:r>
          </a:p>
        </p:txBody>
      </p:sp>
    </p:spTree>
    <p:extLst>
      <p:ext uri="{BB962C8B-B14F-4D97-AF65-F5344CB8AC3E}">
        <p14:creationId xmlns:p14="http://schemas.microsoft.com/office/powerpoint/2010/main" val="31413079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0883"/>
            <a:ext cx="4670317"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 </a:t>
            </a:r>
            <a:r>
              <a:rPr lang="en-US" altLang="zh-CN" sz="2000" b="1" dirty="0">
                <a:latin typeface="微软雅黑" pitchFamily="34" charset="-122"/>
                <a:ea typeface="微软雅黑" pitchFamily="34" charset="-122"/>
              </a:rPr>
              <a:t>AS (Autonomous System) </a:t>
            </a:r>
            <a:endParaRPr lang="zh-CN" altLang="en-US" sz="2000" b="1" dirty="0">
              <a:latin typeface="微软雅黑" pitchFamily="34" charset="-122"/>
              <a:ea typeface="微软雅黑" pitchFamily="34" charset="-122"/>
            </a:endParaRPr>
          </a:p>
        </p:txBody>
      </p:sp>
      <p:sp>
        <p:nvSpPr>
          <p:cNvPr id="8" name="Text Box 7"/>
          <p:cNvSpPr txBox="1">
            <a:spLocks noChangeArrowheads="1"/>
          </p:cNvSpPr>
          <p:nvPr/>
        </p:nvSpPr>
        <p:spPr bwMode="auto">
          <a:xfrm>
            <a:off x="2117966" y="1688071"/>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dirty="0">
                <a:latin typeface="Montserrat" panose="00000500000000000000" pitchFamily="2" charset="0"/>
                <a:ea typeface="微软雅黑 Light" panose="020B0502040204020203" pitchFamily="34" charset="-122"/>
              </a:rPr>
              <a:t>R1</a:t>
            </a:r>
          </a:p>
        </p:txBody>
      </p:sp>
      <p:sp>
        <p:nvSpPr>
          <p:cNvPr id="94" name="Rectangle 9"/>
          <p:cNvSpPr>
            <a:spLocks noChangeArrowheads="1"/>
          </p:cNvSpPr>
          <p:nvPr/>
        </p:nvSpPr>
        <p:spPr bwMode="auto">
          <a:xfrm>
            <a:off x="862523" y="2815497"/>
            <a:ext cx="2084903" cy="1128284"/>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5" name="Oval 10"/>
          <p:cNvSpPr>
            <a:spLocks noChangeArrowheads="1"/>
          </p:cNvSpPr>
          <p:nvPr/>
        </p:nvSpPr>
        <p:spPr bwMode="auto">
          <a:xfrm>
            <a:off x="1236736" y="2976680"/>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6" name="Group 11"/>
          <p:cNvGrpSpPr>
            <a:grpSpLocks/>
          </p:cNvGrpSpPr>
          <p:nvPr/>
        </p:nvGrpSpPr>
        <p:grpSpPr bwMode="auto">
          <a:xfrm>
            <a:off x="2412835" y="3460231"/>
            <a:ext cx="356394" cy="205957"/>
            <a:chOff x="1000" y="3128"/>
            <a:chExt cx="320" cy="184"/>
          </a:xfrm>
        </p:grpSpPr>
        <p:sp>
          <p:nvSpPr>
            <p:cNvPr id="124" name="AutoShape 1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5" name="Line 1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6" name="Line 1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97" name="Oval 15"/>
          <p:cNvSpPr>
            <a:spLocks noChangeArrowheads="1"/>
          </p:cNvSpPr>
          <p:nvPr/>
        </p:nvSpPr>
        <p:spPr bwMode="auto">
          <a:xfrm>
            <a:off x="1183277" y="3621414"/>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9" name="Group 17"/>
          <p:cNvGrpSpPr>
            <a:grpSpLocks/>
          </p:cNvGrpSpPr>
          <p:nvPr/>
        </p:nvGrpSpPr>
        <p:grpSpPr bwMode="auto">
          <a:xfrm>
            <a:off x="1076359" y="3299047"/>
            <a:ext cx="267295" cy="107456"/>
            <a:chOff x="1000" y="3128"/>
            <a:chExt cx="320" cy="184"/>
          </a:xfrm>
        </p:grpSpPr>
        <p:sp>
          <p:nvSpPr>
            <p:cNvPr id="121" name="AutoShape 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2" name="Line 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3" name="Line 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0" name="Line 21"/>
          <p:cNvSpPr>
            <a:spLocks noChangeShapeType="1"/>
          </p:cNvSpPr>
          <p:nvPr/>
        </p:nvSpPr>
        <p:spPr bwMode="auto">
          <a:xfrm>
            <a:off x="1450573" y="3030408"/>
            <a:ext cx="908804"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1" name="Line 22"/>
          <p:cNvSpPr>
            <a:spLocks noChangeShapeType="1"/>
          </p:cNvSpPr>
          <p:nvPr/>
        </p:nvSpPr>
        <p:spPr bwMode="auto">
          <a:xfrm flipH="1">
            <a:off x="1236736" y="3084136"/>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2" name="Line 23"/>
          <p:cNvSpPr>
            <a:spLocks noChangeShapeType="1"/>
          </p:cNvSpPr>
          <p:nvPr/>
        </p:nvSpPr>
        <p:spPr bwMode="auto">
          <a:xfrm>
            <a:off x="1236736" y="3406503"/>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3" name="Line 24"/>
          <p:cNvSpPr>
            <a:spLocks noChangeShapeType="1"/>
          </p:cNvSpPr>
          <p:nvPr/>
        </p:nvSpPr>
        <p:spPr bwMode="auto">
          <a:xfrm>
            <a:off x="1397114" y="3675142"/>
            <a:ext cx="374213"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4" name="Line 25"/>
          <p:cNvSpPr>
            <a:spLocks noChangeShapeType="1"/>
          </p:cNvSpPr>
          <p:nvPr/>
        </p:nvSpPr>
        <p:spPr bwMode="auto">
          <a:xfrm flipV="1">
            <a:off x="1985163" y="3567686"/>
            <a:ext cx="427672" cy="10745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5" name="Oval 26"/>
          <p:cNvSpPr>
            <a:spLocks noChangeArrowheads="1"/>
          </p:cNvSpPr>
          <p:nvPr/>
        </p:nvSpPr>
        <p:spPr bwMode="auto">
          <a:xfrm>
            <a:off x="1557491" y="3406503"/>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6" name="Oval 27"/>
          <p:cNvSpPr>
            <a:spLocks noChangeArrowheads="1"/>
          </p:cNvSpPr>
          <p:nvPr/>
        </p:nvSpPr>
        <p:spPr bwMode="auto">
          <a:xfrm>
            <a:off x="1771327" y="3621414"/>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7" name="Line 28"/>
          <p:cNvSpPr>
            <a:spLocks noChangeShapeType="1"/>
          </p:cNvSpPr>
          <p:nvPr/>
        </p:nvSpPr>
        <p:spPr bwMode="auto">
          <a:xfrm>
            <a:off x="1397114" y="3084136"/>
            <a:ext cx="213836" cy="322367"/>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08" name="Group 29"/>
          <p:cNvGrpSpPr>
            <a:grpSpLocks/>
          </p:cNvGrpSpPr>
          <p:nvPr/>
        </p:nvGrpSpPr>
        <p:grpSpPr bwMode="auto">
          <a:xfrm>
            <a:off x="1397114" y="3191592"/>
            <a:ext cx="267295" cy="107456"/>
            <a:chOff x="1000" y="3128"/>
            <a:chExt cx="320" cy="184"/>
          </a:xfrm>
        </p:grpSpPr>
        <p:sp>
          <p:nvSpPr>
            <p:cNvPr id="118" name="AutoShape 3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9" name="Line 3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0" name="Line 3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9" name="Line 33"/>
          <p:cNvSpPr>
            <a:spLocks noChangeShapeType="1"/>
          </p:cNvSpPr>
          <p:nvPr/>
        </p:nvSpPr>
        <p:spPr bwMode="auto">
          <a:xfrm flipV="1">
            <a:off x="1771327" y="3352775"/>
            <a:ext cx="267295" cy="10745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0" name="Line 34"/>
          <p:cNvSpPr>
            <a:spLocks noChangeShapeType="1"/>
          </p:cNvSpPr>
          <p:nvPr/>
        </p:nvSpPr>
        <p:spPr bwMode="auto">
          <a:xfrm flipH="1">
            <a:off x="1931704" y="3084136"/>
            <a:ext cx="427672" cy="53727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11" name="Group 35"/>
          <p:cNvGrpSpPr>
            <a:grpSpLocks/>
          </p:cNvGrpSpPr>
          <p:nvPr/>
        </p:nvGrpSpPr>
        <p:grpSpPr bwMode="auto">
          <a:xfrm>
            <a:off x="2038622" y="3299047"/>
            <a:ext cx="267295" cy="107456"/>
            <a:chOff x="1000" y="3128"/>
            <a:chExt cx="320" cy="184"/>
          </a:xfrm>
        </p:grpSpPr>
        <p:sp>
          <p:nvSpPr>
            <p:cNvPr id="115" name="AutoShape 36"/>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6" name="Line 37"/>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7" name="Line 38"/>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12" name="Line 39"/>
          <p:cNvSpPr>
            <a:spLocks noChangeShapeType="1"/>
          </p:cNvSpPr>
          <p:nvPr/>
        </p:nvSpPr>
        <p:spPr bwMode="auto">
          <a:xfrm>
            <a:off x="2412835" y="3084136"/>
            <a:ext cx="160377" cy="376095"/>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3" name="Text Box 40"/>
          <p:cNvSpPr txBox="1">
            <a:spLocks noChangeArrowheads="1"/>
          </p:cNvSpPr>
          <p:nvPr/>
        </p:nvSpPr>
        <p:spPr bwMode="auto">
          <a:xfrm>
            <a:off x="2252458" y="3640443"/>
            <a:ext cx="3962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dirty="0">
                <a:latin typeface="Montserrat" panose="00000500000000000000" pitchFamily="2" charset="0"/>
                <a:ea typeface="微软雅黑 Light" panose="020B0502040204020203" pitchFamily="34" charset="-122"/>
              </a:rPr>
              <a:t>R4</a:t>
            </a:r>
          </a:p>
        </p:txBody>
      </p:sp>
      <p:sp>
        <p:nvSpPr>
          <p:cNvPr id="98" name="Oval 16"/>
          <p:cNvSpPr>
            <a:spLocks noChangeArrowheads="1"/>
          </p:cNvSpPr>
          <p:nvPr/>
        </p:nvSpPr>
        <p:spPr bwMode="auto">
          <a:xfrm>
            <a:off x="2252458" y="2976680"/>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9" name="Rectangle 43"/>
          <p:cNvSpPr>
            <a:spLocks noChangeArrowheads="1"/>
          </p:cNvSpPr>
          <p:nvPr/>
        </p:nvSpPr>
        <p:spPr bwMode="auto">
          <a:xfrm>
            <a:off x="3393013" y="2815497"/>
            <a:ext cx="2084903" cy="1128284"/>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2" name="Oval 46"/>
          <p:cNvSpPr>
            <a:spLocks noChangeArrowheads="1"/>
          </p:cNvSpPr>
          <p:nvPr/>
        </p:nvSpPr>
        <p:spPr bwMode="auto">
          <a:xfrm>
            <a:off x="5103703" y="3299047"/>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3" name="Line 47"/>
          <p:cNvSpPr>
            <a:spLocks noChangeShapeType="1"/>
          </p:cNvSpPr>
          <p:nvPr/>
        </p:nvSpPr>
        <p:spPr bwMode="auto">
          <a:xfrm>
            <a:off x="3767226" y="3084136"/>
            <a:ext cx="481131" cy="0"/>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4" name="Line 48"/>
          <p:cNvSpPr>
            <a:spLocks noChangeShapeType="1"/>
          </p:cNvSpPr>
          <p:nvPr/>
        </p:nvSpPr>
        <p:spPr bwMode="auto">
          <a:xfrm>
            <a:off x="3820685" y="3728870"/>
            <a:ext cx="641509"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5" name="Line 49"/>
          <p:cNvSpPr>
            <a:spLocks noChangeShapeType="1"/>
          </p:cNvSpPr>
          <p:nvPr/>
        </p:nvSpPr>
        <p:spPr bwMode="auto">
          <a:xfrm flipV="1">
            <a:off x="4622571" y="3621414"/>
            <a:ext cx="320754" cy="10745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6" name="Oval 50"/>
          <p:cNvSpPr>
            <a:spLocks noChangeArrowheads="1"/>
          </p:cNvSpPr>
          <p:nvPr/>
        </p:nvSpPr>
        <p:spPr bwMode="auto">
          <a:xfrm>
            <a:off x="4462194" y="3675142"/>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77" name="Group 51"/>
          <p:cNvGrpSpPr>
            <a:grpSpLocks/>
          </p:cNvGrpSpPr>
          <p:nvPr/>
        </p:nvGrpSpPr>
        <p:grpSpPr bwMode="auto">
          <a:xfrm>
            <a:off x="4034522" y="3675142"/>
            <a:ext cx="267295" cy="107456"/>
            <a:chOff x="1000" y="3128"/>
            <a:chExt cx="320" cy="184"/>
          </a:xfrm>
        </p:grpSpPr>
        <p:sp>
          <p:nvSpPr>
            <p:cNvPr id="91" name="AutoShape 5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2" name="Line 5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3" name="Line 5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8" name="Line 55"/>
          <p:cNvSpPr>
            <a:spLocks noChangeShapeType="1"/>
          </p:cNvSpPr>
          <p:nvPr/>
        </p:nvSpPr>
        <p:spPr bwMode="auto">
          <a:xfrm flipV="1">
            <a:off x="5050244" y="3406503"/>
            <a:ext cx="160377" cy="161183"/>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9" name="Line 56"/>
          <p:cNvSpPr>
            <a:spLocks noChangeShapeType="1"/>
          </p:cNvSpPr>
          <p:nvPr/>
        </p:nvSpPr>
        <p:spPr bwMode="auto">
          <a:xfrm flipH="1">
            <a:off x="3713767" y="3179279"/>
            <a:ext cx="615893" cy="549591"/>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0" name="Group 57"/>
          <p:cNvGrpSpPr>
            <a:grpSpLocks/>
          </p:cNvGrpSpPr>
          <p:nvPr/>
        </p:nvGrpSpPr>
        <p:grpSpPr bwMode="auto">
          <a:xfrm>
            <a:off x="4836407" y="3567686"/>
            <a:ext cx="267295" cy="107456"/>
            <a:chOff x="1000" y="3128"/>
            <a:chExt cx="320" cy="184"/>
          </a:xfrm>
        </p:grpSpPr>
        <p:sp>
          <p:nvSpPr>
            <p:cNvPr id="88" name="AutoShape 5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9" name="Line 5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0" name="Line 6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1" name="Line 61"/>
          <p:cNvSpPr>
            <a:spLocks noChangeShapeType="1"/>
          </p:cNvSpPr>
          <p:nvPr/>
        </p:nvSpPr>
        <p:spPr bwMode="auto">
          <a:xfrm>
            <a:off x="4569112" y="3137864"/>
            <a:ext cx="534591"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83" name="Text Box 66"/>
          <p:cNvSpPr txBox="1">
            <a:spLocks noChangeArrowheads="1"/>
          </p:cNvSpPr>
          <p:nvPr/>
        </p:nvSpPr>
        <p:spPr bwMode="auto">
          <a:xfrm>
            <a:off x="4569112" y="2834526"/>
            <a:ext cx="38183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a:latin typeface="Montserrat" panose="00000500000000000000" pitchFamily="2" charset="0"/>
                <a:ea typeface="微软雅黑 Light" panose="020B0502040204020203" pitchFamily="34" charset="-122"/>
              </a:rPr>
              <a:t>R3</a:t>
            </a:r>
          </a:p>
        </p:txBody>
      </p:sp>
      <p:sp>
        <p:nvSpPr>
          <p:cNvPr id="70" name="Oval 44"/>
          <p:cNvSpPr>
            <a:spLocks noChangeArrowheads="1"/>
          </p:cNvSpPr>
          <p:nvPr/>
        </p:nvSpPr>
        <p:spPr bwMode="auto">
          <a:xfrm>
            <a:off x="3553390" y="3030408"/>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1" name="Oval 45"/>
          <p:cNvSpPr>
            <a:spLocks noChangeArrowheads="1"/>
          </p:cNvSpPr>
          <p:nvPr/>
        </p:nvSpPr>
        <p:spPr bwMode="auto">
          <a:xfrm>
            <a:off x="3606849" y="3675142"/>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6" name="Rectangle 69"/>
          <p:cNvSpPr>
            <a:spLocks noChangeArrowheads="1"/>
          </p:cNvSpPr>
          <p:nvPr/>
        </p:nvSpPr>
        <p:spPr bwMode="auto">
          <a:xfrm>
            <a:off x="862523" y="1364845"/>
            <a:ext cx="2084903" cy="1128285"/>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7" name="Oval 70"/>
          <p:cNvSpPr>
            <a:spLocks noChangeArrowheads="1"/>
          </p:cNvSpPr>
          <p:nvPr/>
        </p:nvSpPr>
        <p:spPr bwMode="auto">
          <a:xfrm>
            <a:off x="1236736" y="1526029"/>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9" name="Oval 75"/>
          <p:cNvSpPr>
            <a:spLocks noChangeArrowheads="1"/>
          </p:cNvSpPr>
          <p:nvPr/>
        </p:nvSpPr>
        <p:spPr bwMode="auto">
          <a:xfrm>
            <a:off x="1183277" y="2170763"/>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50" name="Oval 76"/>
          <p:cNvSpPr>
            <a:spLocks noChangeArrowheads="1"/>
          </p:cNvSpPr>
          <p:nvPr/>
        </p:nvSpPr>
        <p:spPr bwMode="auto">
          <a:xfrm>
            <a:off x="2412835" y="2063307"/>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51" name="Group 77"/>
          <p:cNvGrpSpPr>
            <a:grpSpLocks/>
          </p:cNvGrpSpPr>
          <p:nvPr/>
        </p:nvGrpSpPr>
        <p:grpSpPr bwMode="auto">
          <a:xfrm>
            <a:off x="1076359" y="1848396"/>
            <a:ext cx="267295" cy="107456"/>
            <a:chOff x="1000" y="3128"/>
            <a:chExt cx="320" cy="184"/>
          </a:xfrm>
        </p:grpSpPr>
        <p:sp>
          <p:nvSpPr>
            <p:cNvPr id="63" name="AutoShape 7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4" name="Line 7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5" name="Line 8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52" name="Group 81"/>
          <p:cNvGrpSpPr>
            <a:grpSpLocks/>
          </p:cNvGrpSpPr>
          <p:nvPr/>
        </p:nvGrpSpPr>
        <p:grpSpPr bwMode="auto">
          <a:xfrm>
            <a:off x="1771327" y="2224491"/>
            <a:ext cx="267295" cy="107456"/>
            <a:chOff x="1000" y="3128"/>
            <a:chExt cx="320" cy="184"/>
          </a:xfrm>
        </p:grpSpPr>
        <p:sp>
          <p:nvSpPr>
            <p:cNvPr id="60" name="AutoShape 8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1" name="Line 8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2" name="Line 8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53" name="Line 85"/>
          <p:cNvSpPr>
            <a:spLocks noChangeShapeType="1"/>
          </p:cNvSpPr>
          <p:nvPr/>
        </p:nvSpPr>
        <p:spPr bwMode="auto">
          <a:xfrm>
            <a:off x="1450573" y="1579757"/>
            <a:ext cx="908804"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4" name="Line 86"/>
          <p:cNvSpPr>
            <a:spLocks noChangeShapeType="1"/>
          </p:cNvSpPr>
          <p:nvPr/>
        </p:nvSpPr>
        <p:spPr bwMode="auto">
          <a:xfrm flipH="1">
            <a:off x="1236736" y="1633484"/>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5" name="Line 87"/>
          <p:cNvSpPr>
            <a:spLocks noChangeShapeType="1"/>
          </p:cNvSpPr>
          <p:nvPr/>
        </p:nvSpPr>
        <p:spPr bwMode="auto">
          <a:xfrm>
            <a:off x="1236736" y="1955852"/>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6" name="Line 88"/>
          <p:cNvSpPr>
            <a:spLocks noChangeShapeType="1"/>
          </p:cNvSpPr>
          <p:nvPr/>
        </p:nvSpPr>
        <p:spPr bwMode="auto">
          <a:xfrm>
            <a:off x="1397114" y="2224491"/>
            <a:ext cx="374213" cy="5372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7" name="Line 89"/>
          <p:cNvSpPr>
            <a:spLocks noChangeShapeType="1"/>
          </p:cNvSpPr>
          <p:nvPr/>
        </p:nvSpPr>
        <p:spPr bwMode="auto">
          <a:xfrm flipV="1">
            <a:off x="2038622" y="2117035"/>
            <a:ext cx="374213" cy="16118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8" name="Line 90"/>
          <p:cNvSpPr>
            <a:spLocks noChangeShapeType="1"/>
          </p:cNvSpPr>
          <p:nvPr/>
        </p:nvSpPr>
        <p:spPr bwMode="auto">
          <a:xfrm>
            <a:off x="2519754" y="1687212"/>
            <a:ext cx="0" cy="376095"/>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9" name="Text Box 91"/>
          <p:cNvSpPr txBox="1">
            <a:spLocks noChangeArrowheads="1"/>
          </p:cNvSpPr>
          <p:nvPr/>
        </p:nvSpPr>
        <p:spPr bwMode="auto">
          <a:xfrm>
            <a:off x="862523" y="2216131"/>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sp>
        <p:nvSpPr>
          <p:cNvPr id="16" name="Rectangle 93"/>
          <p:cNvSpPr>
            <a:spLocks noChangeArrowheads="1"/>
          </p:cNvSpPr>
          <p:nvPr/>
        </p:nvSpPr>
        <p:spPr bwMode="auto">
          <a:xfrm>
            <a:off x="3393013" y="1364845"/>
            <a:ext cx="2084903" cy="1128285"/>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7" name="Oval 94"/>
          <p:cNvSpPr>
            <a:spLocks noChangeArrowheads="1"/>
          </p:cNvSpPr>
          <p:nvPr/>
        </p:nvSpPr>
        <p:spPr bwMode="auto">
          <a:xfrm>
            <a:off x="3606849" y="1740940"/>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9" name="Oval 96"/>
          <p:cNvSpPr>
            <a:spLocks noChangeArrowheads="1"/>
          </p:cNvSpPr>
          <p:nvPr/>
        </p:nvSpPr>
        <p:spPr bwMode="auto">
          <a:xfrm>
            <a:off x="5103703" y="222449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0" name="Line 97"/>
          <p:cNvSpPr>
            <a:spLocks noChangeShapeType="1"/>
          </p:cNvSpPr>
          <p:nvPr/>
        </p:nvSpPr>
        <p:spPr bwMode="auto">
          <a:xfrm>
            <a:off x="4569112" y="1579757"/>
            <a:ext cx="588050" cy="64473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1" name="Line 98"/>
          <p:cNvSpPr>
            <a:spLocks noChangeShapeType="1"/>
          </p:cNvSpPr>
          <p:nvPr/>
        </p:nvSpPr>
        <p:spPr bwMode="auto">
          <a:xfrm flipH="1">
            <a:off x="3767226" y="1526029"/>
            <a:ext cx="694968" cy="268639"/>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2" name="Line 99"/>
          <p:cNvSpPr>
            <a:spLocks noChangeShapeType="1"/>
          </p:cNvSpPr>
          <p:nvPr/>
        </p:nvSpPr>
        <p:spPr bwMode="auto">
          <a:xfrm>
            <a:off x="5157162" y="1579757"/>
            <a:ext cx="53459" cy="69846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3" name="Line 100"/>
          <p:cNvSpPr>
            <a:spLocks noChangeShapeType="1"/>
          </p:cNvSpPr>
          <p:nvPr/>
        </p:nvSpPr>
        <p:spPr bwMode="auto">
          <a:xfrm>
            <a:off x="3927604" y="2278219"/>
            <a:ext cx="374213"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4" name="Line 101"/>
          <p:cNvSpPr>
            <a:spLocks noChangeShapeType="1"/>
          </p:cNvSpPr>
          <p:nvPr/>
        </p:nvSpPr>
        <p:spPr bwMode="auto">
          <a:xfrm flipV="1">
            <a:off x="4408735" y="1526029"/>
            <a:ext cx="694968" cy="69846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25" name="Group 102"/>
          <p:cNvGrpSpPr>
            <a:grpSpLocks/>
          </p:cNvGrpSpPr>
          <p:nvPr/>
        </p:nvGrpSpPr>
        <p:grpSpPr bwMode="auto">
          <a:xfrm>
            <a:off x="4658211" y="1794668"/>
            <a:ext cx="267295" cy="107456"/>
            <a:chOff x="1000" y="3128"/>
            <a:chExt cx="320" cy="184"/>
          </a:xfrm>
        </p:grpSpPr>
        <p:sp>
          <p:nvSpPr>
            <p:cNvPr id="43" name="AutoShape 10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4" name="Line 10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5" name="Line 10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26" name="Line 106"/>
          <p:cNvSpPr>
            <a:spLocks noChangeShapeType="1"/>
          </p:cNvSpPr>
          <p:nvPr/>
        </p:nvSpPr>
        <p:spPr bwMode="auto">
          <a:xfrm flipH="1">
            <a:off x="3713767" y="1848396"/>
            <a:ext cx="0" cy="322367"/>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7" name="Oval 107"/>
          <p:cNvSpPr>
            <a:spLocks noChangeArrowheads="1"/>
          </p:cNvSpPr>
          <p:nvPr/>
        </p:nvSpPr>
        <p:spPr bwMode="auto">
          <a:xfrm>
            <a:off x="4408735" y="147230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8" name="Oval 108"/>
          <p:cNvSpPr>
            <a:spLocks noChangeArrowheads="1"/>
          </p:cNvSpPr>
          <p:nvPr/>
        </p:nvSpPr>
        <p:spPr bwMode="auto">
          <a:xfrm>
            <a:off x="5050244" y="147230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29" name="Group 109"/>
          <p:cNvGrpSpPr>
            <a:grpSpLocks/>
          </p:cNvGrpSpPr>
          <p:nvPr/>
        </p:nvGrpSpPr>
        <p:grpSpPr bwMode="auto">
          <a:xfrm>
            <a:off x="3981063" y="1579757"/>
            <a:ext cx="267295" cy="107456"/>
            <a:chOff x="1000" y="3128"/>
            <a:chExt cx="320" cy="184"/>
          </a:xfrm>
        </p:grpSpPr>
        <p:sp>
          <p:nvSpPr>
            <p:cNvPr id="40" name="AutoShape 11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1" name="Line 11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2" name="Line 11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0" name="Group 113"/>
          <p:cNvGrpSpPr>
            <a:grpSpLocks/>
          </p:cNvGrpSpPr>
          <p:nvPr/>
        </p:nvGrpSpPr>
        <p:grpSpPr bwMode="auto">
          <a:xfrm>
            <a:off x="5050244" y="1794668"/>
            <a:ext cx="267295" cy="107456"/>
            <a:chOff x="1000" y="3128"/>
            <a:chExt cx="320" cy="184"/>
          </a:xfrm>
        </p:grpSpPr>
        <p:sp>
          <p:nvSpPr>
            <p:cNvPr id="37" name="AutoShape 114"/>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8" name="Line 115"/>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9" name="Line 116"/>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32" name="Text Box 121"/>
          <p:cNvSpPr txBox="1">
            <a:spLocks noChangeArrowheads="1"/>
          </p:cNvSpPr>
          <p:nvPr/>
        </p:nvSpPr>
        <p:spPr bwMode="auto">
          <a:xfrm>
            <a:off x="3858552" y="1921152"/>
            <a:ext cx="3834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a:latin typeface="Montserrat" panose="00000500000000000000" pitchFamily="2" charset="0"/>
                <a:ea typeface="微软雅黑 Light" panose="020B0502040204020203" pitchFamily="34" charset="-122"/>
              </a:rPr>
              <a:t>R2</a:t>
            </a:r>
          </a:p>
        </p:txBody>
      </p:sp>
      <p:sp>
        <p:nvSpPr>
          <p:cNvPr id="18" name="Oval 95"/>
          <p:cNvSpPr>
            <a:spLocks noChangeArrowheads="1"/>
          </p:cNvSpPr>
          <p:nvPr/>
        </p:nvSpPr>
        <p:spPr bwMode="auto">
          <a:xfrm>
            <a:off x="4248358" y="222449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3" name="Line 123"/>
          <p:cNvSpPr>
            <a:spLocks noChangeShapeType="1"/>
          </p:cNvSpPr>
          <p:nvPr/>
        </p:nvSpPr>
        <p:spPr bwMode="auto">
          <a:xfrm>
            <a:off x="2656741" y="1617134"/>
            <a:ext cx="938971" cy="553629"/>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4" name="Line 124"/>
          <p:cNvSpPr>
            <a:spLocks noChangeShapeType="1"/>
          </p:cNvSpPr>
          <p:nvPr/>
        </p:nvSpPr>
        <p:spPr bwMode="auto">
          <a:xfrm>
            <a:off x="3838505" y="2303525"/>
            <a:ext cx="481132" cy="698462"/>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5" name="Line 125"/>
          <p:cNvSpPr>
            <a:spLocks noChangeShapeType="1"/>
          </p:cNvSpPr>
          <p:nvPr/>
        </p:nvSpPr>
        <p:spPr bwMode="auto">
          <a:xfrm flipH="1">
            <a:off x="2787049" y="3145699"/>
            <a:ext cx="1488772" cy="42198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7" name="矩形 126"/>
          <p:cNvSpPr/>
          <p:nvPr/>
        </p:nvSpPr>
        <p:spPr>
          <a:xfrm>
            <a:off x="5703920" y="1250108"/>
            <a:ext cx="2570739" cy="2862322"/>
          </a:xfrm>
          <a:prstGeom prst="rect">
            <a:avLst/>
          </a:prstGeom>
          <a:solidFill>
            <a:schemeClr val="bg1"/>
          </a:solidFill>
        </p:spPr>
        <p:txBody>
          <a:bodyPr wrap="square">
            <a:spAutoFit/>
          </a:bodyPr>
          <a:lstStyle/>
          <a:p>
            <a:pPr>
              <a:lnSpc>
                <a:spcPts val="2400"/>
              </a:lnSpc>
            </a:pPr>
            <a:r>
              <a:rPr lang="zh-CN" altLang="en-US" sz="1600" b="1" dirty="0">
                <a:solidFill>
                  <a:srgbClr val="C00000"/>
                </a:solidFill>
                <a:latin typeface="微软雅黑" panose="020B0503020204020204" pitchFamily="34" charset="-122"/>
                <a:ea typeface="微软雅黑" panose="020B0503020204020204" pitchFamily="34" charset="-122"/>
              </a:rPr>
              <a:t>自治系统 </a:t>
            </a:r>
            <a:r>
              <a:rPr lang="en-US" altLang="zh-CN" sz="1600" b="1" dirty="0">
                <a:solidFill>
                  <a:srgbClr val="C00000"/>
                </a:solidFill>
                <a:latin typeface="微软雅黑" panose="020B0503020204020204" pitchFamily="34" charset="-122"/>
                <a:ea typeface="微软雅黑" panose="020B0503020204020204" pitchFamily="34" charset="-122"/>
              </a:rPr>
              <a:t>AS </a:t>
            </a:r>
            <a:r>
              <a:rPr lang="zh-CN" altLang="en-US" sz="1600" b="1" dirty="0">
                <a:solidFill>
                  <a:srgbClr val="C00000"/>
                </a:solidFill>
                <a:latin typeface="微软雅黑" panose="020B0503020204020204" pitchFamily="34" charset="-122"/>
                <a:ea typeface="微软雅黑" panose="020B0503020204020204" pitchFamily="34" charset="-122"/>
              </a:rPr>
              <a:t>：</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是在单一技术管理下的许多网络、</a:t>
            </a:r>
            <a:r>
              <a:rPr lang="en-US" altLang="zh-CN" sz="1600" b="1" dirty="0">
                <a:latin typeface="微软雅黑" panose="020B0503020204020204" pitchFamily="34" charset="-122"/>
                <a:ea typeface="微软雅黑" panose="020B0503020204020204" pitchFamily="34" charset="-122"/>
              </a:rPr>
              <a:t>IP</a:t>
            </a:r>
            <a:r>
              <a:rPr lang="zh-CN" altLang="en-US" sz="1600" b="1" dirty="0">
                <a:latin typeface="微软雅黑" panose="020B0503020204020204" pitchFamily="34" charset="-122"/>
                <a:ea typeface="微软雅黑" panose="020B0503020204020204" pitchFamily="34" charset="-122"/>
              </a:rPr>
              <a:t>地址以及路由器，而这些路由器使用一种自治系统内部的路由选择协议和共同的度量。每一个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对其他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表现出的是一个</a:t>
            </a:r>
            <a:r>
              <a:rPr lang="zh-CN" altLang="en-US" sz="1600" b="1" dirty="0">
                <a:solidFill>
                  <a:srgbClr val="C00000"/>
                </a:solidFill>
                <a:latin typeface="微软雅黑" panose="020B0503020204020204" pitchFamily="34" charset="-122"/>
                <a:ea typeface="微软雅黑" panose="020B0503020204020204" pitchFamily="34" charset="-122"/>
              </a:rPr>
              <a:t>单一的和一致的</a:t>
            </a:r>
            <a:r>
              <a:rPr lang="zh-CN" altLang="en-US" sz="1600" b="1" dirty="0">
                <a:latin typeface="微软雅黑" panose="020B0503020204020204" pitchFamily="34" charset="-122"/>
                <a:ea typeface="微软雅黑" panose="020B0503020204020204" pitchFamily="34" charset="-122"/>
              </a:rPr>
              <a:t>路由选择策略。</a:t>
            </a:r>
          </a:p>
        </p:txBody>
      </p:sp>
      <p:sp>
        <p:nvSpPr>
          <p:cNvPr id="5" name="Text Box 91">
            <a:extLst>
              <a:ext uri="{FF2B5EF4-FFF2-40B4-BE49-F238E27FC236}">
                <a16:creationId xmlns:a16="http://schemas.microsoft.com/office/drawing/2014/main" id="{8FB1C699-EB4B-D8D5-63B5-F77F3E018342}"/>
              </a:ext>
            </a:extLst>
          </p:cNvPr>
          <p:cNvSpPr txBox="1">
            <a:spLocks noChangeArrowheads="1"/>
          </p:cNvSpPr>
          <p:nvPr/>
        </p:nvSpPr>
        <p:spPr bwMode="auto">
          <a:xfrm>
            <a:off x="5088066" y="2216131"/>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sp>
        <p:nvSpPr>
          <p:cNvPr id="6" name="Text Box 91">
            <a:extLst>
              <a:ext uri="{FF2B5EF4-FFF2-40B4-BE49-F238E27FC236}">
                <a16:creationId xmlns:a16="http://schemas.microsoft.com/office/drawing/2014/main" id="{0494D937-DEF0-EBA4-8E03-7DAFA8FE71C9}"/>
              </a:ext>
            </a:extLst>
          </p:cNvPr>
          <p:cNvSpPr txBox="1">
            <a:spLocks noChangeArrowheads="1"/>
          </p:cNvSpPr>
          <p:nvPr/>
        </p:nvSpPr>
        <p:spPr bwMode="auto">
          <a:xfrm>
            <a:off x="5088066" y="3666782"/>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sp>
        <p:nvSpPr>
          <p:cNvPr id="129" name="Text Box 91">
            <a:extLst>
              <a:ext uri="{FF2B5EF4-FFF2-40B4-BE49-F238E27FC236}">
                <a16:creationId xmlns:a16="http://schemas.microsoft.com/office/drawing/2014/main" id="{100E59C7-3637-6AB4-68D8-85AA1BD63A34}"/>
              </a:ext>
            </a:extLst>
          </p:cNvPr>
          <p:cNvSpPr txBox="1">
            <a:spLocks noChangeArrowheads="1"/>
          </p:cNvSpPr>
          <p:nvPr/>
        </p:nvSpPr>
        <p:spPr bwMode="auto">
          <a:xfrm>
            <a:off x="862523" y="3666782"/>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pic>
        <p:nvPicPr>
          <p:cNvPr id="130" name="Picture 35">
            <a:extLst>
              <a:ext uri="{FF2B5EF4-FFF2-40B4-BE49-F238E27FC236}">
                <a16:creationId xmlns:a16="http://schemas.microsoft.com/office/drawing/2014/main" id="{D9118026-6CA8-B584-DC74-951F8A83E78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55384" y="2981001"/>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2" name="Picture 35">
            <a:extLst>
              <a:ext uri="{FF2B5EF4-FFF2-40B4-BE49-F238E27FC236}">
                <a16:creationId xmlns:a16="http://schemas.microsoft.com/office/drawing/2014/main" id="{C13754FF-37C2-6104-9A9B-17798064AD7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41724" y="2117035"/>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3" name="Picture 35">
            <a:extLst>
              <a:ext uri="{FF2B5EF4-FFF2-40B4-BE49-F238E27FC236}">
                <a16:creationId xmlns:a16="http://schemas.microsoft.com/office/drawing/2014/main" id="{9F9B702A-CE94-08A2-F5DD-15D4B4D1FCF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48273" y="1453705"/>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Tree>
    <p:extLst>
      <p:ext uri="{BB962C8B-B14F-4D97-AF65-F5344CB8AC3E}">
        <p14:creationId xmlns:p14="http://schemas.microsoft.com/office/powerpoint/2010/main" val="5044002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954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69568"/>
            <a:ext cx="2472152" cy="400110"/>
          </a:xfrm>
          <a:prstGeom prst="rect">
            <a:avLst/>
          </a:prstGeom>
        </p:spPr>
        <p:txBody>
          <a:bodyPr wrap="none">
            <a:spAutoFit/>
          </a:bodyPr>
          <a:lstStyle/>
          <a:p>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大类路由选择协议</a:t>
            </a:r>
          </a:p>
        </p:txBody>
      </p:sp>
      <p:graphicFrame>
        <p:nvGraphicFramePr>
          <p:cNvPr id="6" name="图示 5"/>
          <p:cNvGraphicFramePr/>
          <p:nvPr>
            <p:extLst>
              <p:ext uri="{D42A27DB-BD31-4B8C-83A1-F6EECF244321}">
                <p14:modId xmlns:p14="http://schemas.microsoft.com/office/powerpoint/2010/main" val="3572960983"/>
              </p:ext>
            </p:extLst>
          </p:nvPr>
        </p:nvGraphicFramePr>
        <p:xfrm>
          <a:off x="992908" y="1191492"/>
          <a:ext cx="7449128" cy="28540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337019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9B176AB4-FC43-CB74-8044-A09097EB3579}"/>
              </a:ext>
            </a:extLst>
          </p:cNvPr>
          <p:cNvSpPr>
            <a:spLocks noGrp="1"/>
          </p:cNvSpPr>
          <p:nvPr>
            <p:ph sz="quarter" idx="11"/>
          </p:nvPr>
        </p:nvSpPr>
        <p:spPr>
          <a:xfrm>
            <a:off x="486000" y="900000"/>
            <a:ext cx="8172000" cy="3703500"/>
          </a:xfrm>
        </p:spPr>
        <p:txBody>
          <a:bodyPr/>
          <a:lstStyle/>
          <a:p>
            <a:r>
              <a:rPr lang="zh-CN" altLang="en-US" dirty="0"/>
              <a:t>自治系统之间的路由选择也叫做域间路由选择 </a:t>
            </a:r>
            <a:r>
              <a:rPr lang="en-US" altLang="zh-CN" dirty="0"/>
              <a:t>(interdomain routing)</a:t>
            </a:r>
            <a:r>
              <a:rPr lang="zh-CN" altLang="en-US" dirty="0"/>
              <a:t>。</a:t>
            </a:r>
            <a:endParaRPr lang="en-US" altLang="zh-CN" dirty="0"/>
          </a:p>
          <a:p>
            <a:r>
              <a:rPr lang="zh-CN" altLang="en-US" dirty="0"/>
              <a:t>自治系统内部的路由选择叫做域内路由选择 </a:t>
            </a:r>
            <a:r>
              <a:rPr lang="en-US" altLang="zh-CN" dirty="0"/>
              <a:t>(intradomain routing) </a:t>
            </a:r>
            <a:r>
              <a:rPr lang="zh-CN" altLang="en-US" dirty="0"/>
              <a:t>。</a:t>
            </a:r>
          </a:p>
          <a:p>
            <a:endParaRPr lang="zh-CN" altLang="en-US" dirty="0"/>
          </a:p>
        </p:txBody>
      </p:sp>
      <p:sp>
        <p:nvSpPr>
          <p:cNvPr id="2" name="标题 1">
            <a:extLst>
              <a:ext uri="{FF2B5EF4-FFF2-40B4-BE49-F238E27FC236}">
                <a16:creationId xmlns:a16="http://schemas.microsoft.com/office/drawing/2014/main" id="{044A8B83-9C6B-DC06-BB67-70AD823E6781}"/>
              </a:ext>
            </a:extLst>
          </p:cNvPr>
          <p:cNvSpPr>
            <a:spLocks noGrp="1"/>
          </p:cNvSpPr>
          <p:nvPr>
            <p:ph type="title"/>
          </p:nvPr>
        </p:nvSpPr>
        <p:spPr>
          <a:xfrm>
            <a:off x="486000" y="550723"/>
            <a:ext cx="8172000" cy="338554"/>
          </a:xfrm>
        </p:spPr>
        <p:txBody>
          <a:bodyPr/>
          <a:lstStyle/>
          <a:p>
            <a:r>
              <a:rPr lang="zh-CN" altLang="en-US" dirty="0"/>
              <a:t>自治系统和内部网关协议、外部网关协议 </a:t>
            </a:r>
          </a:p>
        </p:txBody>
      </p:sp>
      <p:sp>
        <p:nvSpPr>
          <p:cNvPr id="38" name="云形 37">
            <a:extLst>
              <a:ext uri="{FF2B5EF4-FFF2-40B4-BE49-F238E27FC236}">
                <a16:creationId xmlns:a16="http://schemas.microsoft.com/office/drawing/2014/main" id="{C30589A2-81E8-CBFB-D135-214A864B9B6A}"/>
              </a:ext>
            </a:extLst>
          </p:cNvPr>
          <p:cNvSpPr/>
          <p:nvPr/>
        </p:nvSpPr>
        <p:spPr>
          <a:xfrm>
            <a:off x="5211164" y="3212343"/>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AS</a:t>
            </a:r>
            <a:endParaRPr lang="zh-CN" altLang="en-US" sz="1200" dirty="0">
              <a:solidFill>
                <a:schemeClr val="tx1"/>
              </a:solidFill>
              <a:latin typeface="Montserrat" panose="00000500000000000000" pitchFamily="2" charset="0"/>
            </a:endParaRPr>
          </a:p>
        </p:txBody>
      </p:sp>
      <p:sp>
        <p:nvSpPr>
          <p:cNvPr id="39" name="云形 38">
            <a:extLst>
              <a:ext uri="{FF2B5EF4-FFF2-40B4-BE49-F238E27FC236}">
                <a16:creationId xmlns:a16="http://schemas.microsoft.com/office/drawing/2014/main" id="{2D4D3E49-1345-EA78-B2A7-6916FDA4D46B}"/>
              </a:ext>
            </a:extLst>
          </p:cNvPr>
          <p:cNvSpPr/>
          <p:nvPr/>
        </p:nvSpPr>
        <p:spPr>
          <a:xfrm>
            <a:off x="1796163" y="3210257"/>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AS</a:t>
            </a:r>
            <a:endParaRPr lang="zh-CN" altLang="en-US" sz="1200" dirty="0">
              <a:solidFill>
                <a:schemeClr val="tx1"/>
              </a:solidFill>
              <a:latin typeface="Montserrat" panose="00000500000000000000" pitchFamily="2" charset="0"/>
            </a:endParaRPr>
          </a:p>
        </p:txBody>
      </p:sp>
      <p:pic>
        <p:nvPicPr>
          <p:cNvPr id="40" name="Picture 179">
            <a:extLst>
              <a:ext uri="{FF2B5EF4-FFF2-40B4-BE49-F238E27FC236}">
                <a16:creationId xmlns:a16="http://schemas.microsoft.com/office/drawing/2014/main" id="{08C1808B-A2E6-C89B-962A-62F1C9A874D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22028" y="3719585"/>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1" name="Picture 180">
            <a:extLst>
              <a:ext uri="{FF2B5EF4-FFF2-40B4-BE49-F238E27FC236}">
                <a16:creationId xmlns:a16="http://schemas.microsoft.com/office/drawing/2014/main" id="{071A68EF-3A41-1080-6D0A-EDDE5C59A67E}"/>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19218" y="3686205"/>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42" name="直接连接符 41">
            <a:extLst>
              <a:ext uri="{FF2B5EF4-FFF2-40B4-BE49-F238E27FC236}">
                <a16:creationId xmlns:a16="http://schemas.microsoft.com/office/drawing/2014/main" id="{2B94EDF8-558A-B252-3315-3D3A966CEFD9}"/>
              </a:ext>
            </a:extLst>
          </p:cNvPr>
          <p:cNvCxnSpPr>
            <a:stCxn id="40" idx="3"/>
            <a:endCxn id="41" idx="1"/>
          </p:cNvCxnSpPr>
          <p:nvPr/>
        </p:nvCxnSpPr>
        <p:spPr>
          <a:xfrm flipV="1">
            <a:off x="3845193" y="3851049"/>
            <a:ext cx="1074025" cy="3221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云形 42">
            <a:extLst>
              <a:ext uri="{FF2B5EF4-FFF2-40B4-BE49-F238E27FC236}">
                <a16:creationId xmlns:a16="http://schemas.microsoft.com/office/drawing/2014/main" id="{69E9C865-75E1-9436-0B76-B0F86E8B4B12}"/>
              </a:ext>
            </a:extLst>
          </p:cNvPr>
          <p:cNvSpPr/>
          <p:nvPr/>
        </p:nvSpPr>
        <p:spPr>
          <a:xfrm>
            <a:off x="3468441" y="1808285"/>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AS</a:t>
            </a:r>
            <a:endParaRPr lang="zh-CN" altLang="en-US" sz="1200" dirty="0">
              <a:solidFill>
                <a:schemeClr val="tx1"/>
              </a:solidFill>
              <a:latin typeface="Montserrat" panose="00000500000000000000" pitchFamily="2" charset="0"/>
            </a:endParaRPr>
          </a:p>
        </p:txBody>
      </p:sp>
      <p:pic>
        <p:nvPicPr>
          <p:cNvPr id="44" name="Picture 179">
            <a:extLst>
              <a:ext uri="{FF2B5EF4-FFF2-40B4-BE49-F238E27FC236}">
                <a16:creationId xmlns:a16="http://schemas.microsoft.com/office/drawing/2014/main" id="{4A55CA49-733E-FDDB-603C-ED9DE2D36E49}"/>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8899" y="2971362"/>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45" name="直接连接符 44">
            <a:extLst>
              <a:ext uri="{FF2B5EF4-FFF2-40B4-BE49-F238E27FC236}">
                <a16:creationId xmlns:a16="http://schemas.microsoft.com/office/drawing/2014/main" id="{93F97166-C92D-E06A-C4AB-BF1AFBBAF844}"/>
              </a:ext>
            </a:extLst>
          </p:cNvPr>
          <p:cNvCxnSpPr>
            <a:cxnSpLocks/>
            <a:stCxn id="40" idx="0"/>
            <a:endCxn id="44" idx="1"/>
          </p:cNvCxnSpPr>
          <p:nvPr/>
        </p:nvCxnSpPr>
        <p:spPr>
          <a:xfrm flipV="1">
            <a:off x="3583611" y="3135045"/>
            <a:ext cx="585288" cy="58454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089E5F0A-B682-F673-297C-F606AB5D9295}"/>
              </a:ext>
            </a:extLst>
          </p:cNvPr>
          <p:cNvCxnSpPr>
            <a:cxnSpLocks/>
            <a:stCxn id="44" idx="3"/>
            <a:endCxn id="41" idx="0"/>
          </p:cNvCxnSpPr>
          <p:nvPr/>
        </p:nvCxnSpPr>
        <p:spPr>
          <a:xfrm>
            <a:off x="4692064" y="3135045"/>
            <a:ext cx="488737" cy="55116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554207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云形 3">
            <a:extLst>
              <a:ext uri="{FF2B5EF4-FFF2-40B4-BE49-F238E27FC236}">
                <a16:creationId xmlns:a16="http://schemas.microsoft.com/office/drawing/2014/main" id="{5B27824E-0ACA-ECDE-20AC-B8472369210E}"/>
              </a:ext>
            </a:extLst>
          </p:cNvPr>
          <p:cNvSpPr/>
          <p:nvPr/>
        </p:nvSpPr>
        <p:spPr>
          <a:xfrm>
            <a:off x="5211164" y="2745618"/>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IGP</a:t>
            </a:r>
            <a:endParaRPr lang="zh-CN" altLang="en-US" sz="1200" dirty="0">
              <a:solidFill>
                <a:schemeClr val="tx1"/>
              </a:solidFill>
              <a:latin typeface="Montserrat" panose="00000500000000000000" pitchFamily="2" charset="0"/>
            </a:endParaRPr>
          </a:p>
        </p:txBody>
      </p:sp>
      <p:sp>
        <p:nvSpPr>
          <p:cNvPr id="5" name="云形 4">
            <a:extLst>
              <a:ext uri="{FF2B5EF4-FFF2-40B4-BE49-F238E27FC236}">
                <a16:creationId xmlns:a16="http://schemas.microsoft.com/office/drawing/2014/main" id="{8EB72E4C-E417-2FB1-B1BB-C12588A10815}"/>
              </a:ext>
            </a:extLst>
          </p:cNvPr>
          <p:cNvSpPr/>
          <p:nvPr/>
        </p:nvSpPr>
        <p:spPr>
          <a:xfrm>
            <a:off x="1796163" y="2743532"/>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IGP</a:t>
            </a:r>
            <a:endParaRPr lang="zh-CN" altLang="en-US" sz="1200" dirty="0">
              <a:solidFill>
                <a:schemeClr val="tx1"/>
              </a:solidFill>
              <a:latin typeface="Montserrat" panose="00000500000000000000" pitchFamily="2" charset="0"/>
            </a:endParaRPr>
          </a:p>
        </p:txBody>
      </p:sp>
      <p:pic>
        <p:nvPicPr>
          <p:cNvPr id="13" name="Picture 179">
            <a:extLst>
              <a:ext uri="{FF2B5EF4-FFF2-40B4-BE49-F238E27FC236}">
                <a16:creationId xmlns:a16="http://schemas.microsoft.com/office/drawing/2014/main" id="{4F914A0F-A482-30AF-0E8B-A85F376AD010}"/>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22028" y="3252860"/>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 name="Picture 180">
            <a:extLst>
              <a:ext uri="{FF2B5EF4-FFF2-40B4-BE49-F238E27FC236}">
                <a16:creationId xmlns:a16="http://schemas.microsoft.com/office/drawing/2014/main" id="{5BAC143C-F78F-03B5-00AD-50591848ECB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19218" y="3219480"/>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15" name="直接连接符 14">
            <a:extLst>
              <a:ext uri="{FF2B5EF4-FFF2-40B4-BE49-F238E27FC236}">
                <a16:creationId xmlns:a16="http://schemas.microsoft.com/office/drawing/2014/main" id="{BE5FE92B-2D7D-3BF4-D5B7-AC6018EE4758}"/>
              </a:ext>
            </a:extLst>
          </p:cNvPr>
          <p:cNvCxnSpPr>
            <a:stCxn id="13" idx="3"/>
            <a:endCxn id="14" idx="1"/>
          </p:cNvCxnSpPr>
          <p:nvPr/>
        </p:nvCxnSpPr>
        <p:spPr>
          <a:xfrm flipV="1">
            <a:off x="3845193" y="3384324"/>
            <a:ext cx="1074025" cy="3221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云形 15">
            <a:extLst>
              <a:ext uri="{FF2B5EF4-FFF2-40B4-BE49-F238E27FC236}">
                <a16:creationId xmlns:a16="http://schemas.microsoft.com/office/drawing/2014/main" id="{BD8CC20F-4AED-A61E-A341-05F11AEF1E82}"/>
              </a:ext>
            </a:extLst>
          </p:cNvPr>
          <p:cNvSpPr/>
          <p:nvPr/>
        </p:nvSpPr>
        <p:spPr>
          <a:xfrm>
            <a:off x="3468441" y="1341560"/>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IGP</a:t>
            </a:r>
            <a:endParaRPr lang="zh-CN" altLang="en-US" sz="1200" dirty="0">
              <a:solidFill>
                <a:schemeClr val="tx1"/>
              </a:solidFill>
              <a:latin typeface="Montserrat" panose="00000500000000000000" pitchFamily="2" charset="0"/>
            </a:endParaRPr>
          </a:p>
        </p:txBody>
      </p:sp>
      <p:pic>
        <p:nvPicPr>
          <p:cNvPr id="17" name="Picture 179">
            <a:extLst>
              <a:ext uri="{FF2B5EF4-FFF2-40B4-BE49-F238E27FC236}">
                <a16:creationId xmlns:a16="http://schemas.microsoft.com/office/drawing/2014/main" id="{616D5089-5133-F709-E989-206FB4B3E50D}"/>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8899" y="2504637"/>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21" name="直接连接符 20">
            <a:extLst>
              <a:ext uri="{FF2B5EF4-FFF2-40B4-BE49-F238E27FC236}">
                <a16:creationId xmlns:a16="http://schemas.microsoft.com/office/drawing/2014/main" id="{45F1093F-722F-6945-862D-609F2DC012FF}"/>
              </a:ext>
            </a:extLst>
          </p:cNvPr>
          <p:cNvCxnSpPr>
            <a:cxnSpLocks/>
            <a:stCxn id="13" idx="0"/>
            <a:endCxn id="17" idx="1"/>
          </p:cNvCxnSpPr>
          <p:nvPr/>
        </p:nvCxnSpPr>
        <p:spPr>
          <a:xfrm flipV="1">
            <a:off x="3583611" y="2668320"/>
            <a:ext cx="585288" cy="58454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49A112B1-3C96-DCBB-B6DD-851D80124E97}"/>
              </a:ext>
            </a:extLst>
          </p:cNvPr>
          <p:cNvCxnSpPr>
            <a:cxnSpLocks/>
            <a:stCxn id="17" idx="3"/>
            <a:endCxn id="14" idx="0"/>
          </p:cNvCxnSpPr>
          <p:nvPr/>
        </p:nvCxnSpPr>
        <p:spPr>
          <a:xfrm>
            <a:off x="4692064" y="2668320"/>
            <a:ext cx="488737" cy="55116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C40BD3D6-A9DE-6E9E-B314-DE3909738624}"/>
              </a:ext>
            </a:extLst>
          </p:cNvPr>
          <p:cNvSpPr txBox="1"/>
          <p:nvPr/>
        </p:nvSpPr>
        <p:spPr>
          <a:xfrm>
            <a:off x="3517048" y="2666901"/>
            <a:ext cx="51648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EGP</a:t>
            </a:r>
            <a:endParaRPr lang="zh-CN" altLang="en-US" sz="1200" dirty="0">
              <a:latin typeface="Montserrat" panose="00000500000000000000" pitchFamily="2" charset="0"/>
              <a:ea typeface="微软雅黑 Light" panose="020B0502040204020203" pitchFamily="34" charset="-122"/>
            </a:endParaRPr>
          </a:p>
        </p:txBody>
      </p:sp>
      <p:sp>
        <p:nvSpPr>
          <p:cNvPr id="24" name="文本框 23">
            <a:extLst>
              <a:ext uri="{FF2B5EF4-FFF2-40B4-BE49-F238E27FC236}">
                <a16:creationId xmlns:a16="http://schemas.microsoft.com/office/drawing/2014/main" id="{DD65EAE2-5879-7239-E5A1-0729DB6EE668}"/>
              </a:ext>
            </a:extLst>
          </p:cNvPr>
          <p:cNvSpPr txBox="1"/>
          <p:nvPr/>
        </p:nvSpPr>
        <p:spPr>
          <a:xfrm>
            <a:off x="4129305" y="3441725"/>
            <a:ext cx="51648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EGP</a:t>
            </a:r>
            <a:endParaRPr lang="zh-CN" altLang="en-US" sz="1200" dirty="0">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BFFDD7B0-EBA6-303B-21E4-3261FEDE7046}"/>
              </a:ext>
            </a:extLst>
          </p:cNvPr>
          <p:cNvSpPr txBox="1"/>
          <p:nvPr/>
        </p:nvSpPr>
        <p:spPr>
          <a:xfrm>
            <a:off x="4577358" y="2943900"/>
            <a:ext cx="51648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EGP</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931634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792D5-9079-4ED8-6B4C-96B9109262B9}"/>
            </a:ext>
          </a:extLst>
        </p:cNvPr>
        <p:cNvGrpSpPr/>
        <p:nvPr/>
      </p:nvGrpSpPr>
      <p:grpSpPr>
        <a:xfrm>
          <a:off x="0" y="0"/>
          <a:ext cx="0" cy="0"/>
          <a:chOff x="0" y="0"/>
          <a:chExt cx="0" cy="0"/>
        </a:xfrm>
      </p:grpSpPr>
      <p:sp>
        <p:nvSpPr>
          <p:cNvPr id="4" name="云形 3">
            <a:extLst>
              <a:ext uri="{FF2B5EF4-FFF2-40B4-BE49-F238E27FC236}">
                <a16:creationId xmlns:a16="http://schemas.microsoft.com/office/drawing/2014/main" id="{9BD6116D-E150-834A-4039-8F465C4D3563}"/>
              </a:ext>
            </a:extLst>
          </p:cNvPr>
          <p:cNvSpPr/>
          <p:nvPr/>
        </p:nvSpPr>
        <p:spPr>
          <a:xfrm>
            <a:off x="5211164" y="2745618"/>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RIP</a:t>
            </a:r>
            <a:endParaRPr lang="zh-CN" altLang="en-US" sz="1200" dirty="0">
              <a:solidFill>
                <a:schemeClr val="tx1"/>
              </a:solidFill>
              <a:latin typeface="Montserrat" panose="00000500000000000000" pitchFamily="2" charset="0"/>
            </a:endParaRPr>
          </a:p>
        </p:txBody>
      </p:sp>
      <p:sp>
        <p:nvSpPr>
          <p:cNvPr id="5" name="云形 4">
            <a:extLst>
              <a:ext uri="{FF2B5EF4-FFF2-40B4-BE49-F238E27FC236}">
                <a16:creationId xmlns:a16="http://schemas.microsoft.com/office/drawing/2014/main" id="{85120372-C374-2DD9-E15E-6D504EF8BBA1}"/>
              </a:ext>
            </a:extLst>
          </p:cNvPr>
          <p:cNvSpPr/>
          <p:nvPr/>
        </p:nvSpPr>
        <p:spPr>
          <a:xfrm>
            <a:off x="1796163" y="2743532"/>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OSPF</a:t>
            </a:r>
            <a:endParaRPr lang="zh-CN" altLang="en-US" sz="1200" dirty="0">
              <a:solidFill>
                <a:schemeClr val="tx1"/>
              </a:solidFill>
              <a:latin typeface="Montserrat" panose="00000500000000000000" pitchFamily="2" charset="0"/>
            </a:endParaRPr>
          </a:p>
        </p:txBody>
      </p:sp>
      <p:pic>
        <p:nvPicPr>
          <p:cNvPr id="13" name="Picture 179">
            <a:extLst>
              <a:ext uri="{FF2B5EF4-FFF2-40B4-BE49-F238E27FC236}">
                <a16:creationId xmlns:a16="http://schemas.microsoft.com/office/drawing/2014/main" id="{14777A4C-E97E-735B-A88B-B9DE69B3BD6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22028" y="3252860"/>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 name="Picture 180">
            <a:extLst>
              <a:ext uri="{FF2B5EF4-FFF2-40B4-BE49-F238E27FC236}">
                <a16:creationId xmlns:a16="http://schemas.microsoft.com/office/drawing/2014/main" id="{37218CBA-A635-CCD6-9F67-8B7C82E7CAE6}"/>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19218" y="3219480"/>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15" name="直接连接符 14">
            <a:extLst>
              <a:ext uri="{FF2B5EF4-FFF2-40B4-BE49-F238E27FC236}">
                <a16:creationId xmlns:a16="http://schemas.microsoft.com/office/drawing/2014/main" id="{EB52806A-2179-0EE7-F00B-098C94D1D233}"/>
              </a:ext>
            </a:extLst>
          </p:cNvPr>
          <p:cNvCxnSpPr>
            <a:stCxn id="13" idx="3"/>
            <a:endCxn id="14" idx="1"/>
          </p:cNvCxnSpPr>
          <p:nvPr/>
        </p:nvCxnSpPr>
        <p:spPr>
          <a:xfrm flipV="1">
            <a:off x="3845193" y="3384324"/>
            <a:ext cx="1074025" cy="3221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云形 15">
            <a:extLst>
              <a:ext uri="{FF2B5EF4-FFF2-40B4-BE49-F238E27FC236}">
                <a16:creationId xmlns:a16="http://schemas.microsoft.com/office/drawing/2014/main" id="{273D0585-892B-A1A6-39B9-9C0A62DF74B8}"/>
              </a:ext>
            </a:extLst>
          </p:cNvPr>
          <p:cNvSpPr/>
          <p:nvPr/>
        </p:nvSpPr>
        <p:spPr>
          <a:xfrm>
            <a:off x="3468441" y="1341560"/>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RIP</a:t>
            </a:r>
            <a:endParaRPr lang="zh-CN" altLang="en-US" sz="1200" dirty="0">
              <a:solidFill>
                <a:schemeClr val="tx1"/>
              </a:solidFill>
              <a:latin typeface="Montserrat" panose="00000500000000000000" pitchFamily="2" charset="0"/>
            </a:endParaRPr>
          </a:p>
        </p:txBody>
      </p:sp>
      <p:pic>
        <p:nvPicPr>
          <p:cNvPr id="17" name="Picture 179">
            <a:extLst>
              <a:ext uri="{FF2B5EF4-FFF2-40B4-BE49-F238E27FC236}">
                <a16:creationId xmlns:a16="http://schemas.microsoft.com/office/drawing/2014/main" id="{F22EC365-53F0-7208-050F-300521BB2B0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8899" y="2504637"/>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21" name="直接连接符 20">
            <a:extLst>
              <a:ext uri="{FF2B5EF4-FFF2-40B4-BE49-F238E27FC236}">
                <a16:creationId xmlns:a16="http://schemas.microsoft.com/office/drawing/2014/main" id="{FC9A42B2-9893-DDDD-448D-E42085D6682F}"/>
              </a:ext>
            </a:extLst>
          </p:cNvPr>
          <p:cNvCxnSpPr>
            <a:cxnSpLocks/>
            <a:stCxn id="13" idx="0"/>
            <a:endCxn id="17" idx="1"/>
          </p:cNvCxnSpPr>
          <p:nvPr/>
        </p:nvCxnSpPr>
        <p:spPr>
          <a:xfrm flipV="1">
            <a:off x="3583611" y="2668320"/>
            <a:ext cx="585288" cy="58454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CC2FAD1C-7F56-0C83-4BE8-6067A89BD6AF}"/>
              </a:ext>
            </a:extLst>
          </p:cNvPr>
          <p:cNvCxnSpPr>
            <a:cxnSpLocks/>
            <a:stCxn id="17" idx="3"/>
            <a:endCxn id="14" idx="0"/>
          </p:cNvCxnSpPr>
          <p:nvPr/>
        </p:nvCxnSpPr>
        <p:spPr>
          <a:xfrm>
            <a:off x="4692064" y="2668320"/>
            <a:ext cx="488737" cy="55116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8B2F82F8-BD86-55B1-303C-6A7CC55DEDB1}"/>
              </a:ext>
            </a:extLst>
          </p:cNvPr>
          <p:cNvSpPr txBox="1"/>
          <p:nvPr/>
        </p:nvSpPr>
        <p:spPr>
          <a:xfrm>
            <a:off x="3510636" y="2666901"/>
            <a:ext cx="52931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BGP</a:t>
            </a:r>
            <a:endParaRPr lang="zh-CN" altLang="en-US" sz="1200" dirty="0">
              <a:latin typeface="Montserrat" panose="00000500000000000000" pitchFamily="2" charset="0"/>
              <a:ea typeface="微软雅黑 Light" panose="020B0502040204020203" pitchFamily="34" charset="-122"/>
            </a:endParaRPr>
          </a:p>
        </p:txBody>
      </p:sp>
      <p:sp>
        <p:nvSpPr>
          <p:cNvPr id="24" name="文本框 23">
            <a:extLst>
              <a:ext uri="{FF2B5EF4-FFF2-40B4-BE49-F238E27FC236}">
                <a16:creationId xmlns:a16="http://schemas.microsoft.com/office/drawing/2014/main" id="{A7151968-0260-0E21-5849-AF85023D1E28}"/>
              </a:ext>
            </a:extLst>
          </p:cNvPr>
          <p:cNvSpPr txBox="1"/>
          <p:nvPr/>
        </p:nvSpPr>
        <p:spPr>
          <a:xfrm>
            <a:off x="4122893" y="3441725"/>
            <a:ext cx="52931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BGP</a:t>
            </a:r>
            <a:endParaRPr lang="zh-CN" altLang="en-US" sz="1200" dirty="0">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90DE416F-F8F0-6690-75D0-C19F0FD143E5}"/>
              </a:ext>
            </a:extLst>
          </p:cNvPr>
          <p:cNvSpPr txBox="1"/>
          <p:nvPr/>
        </p:nvSpPr>
        <p:spPr>
          <a:xfrm>
            <a:off x="4570946" y="2943900"/>
            <a:ext cx="52931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BGP</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269132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a:extLst>
              <a:ext uri="{FF2B5EF4-FFF2-40B4-BE49-F238E27FC236}">
                <a16:creationId xmlns:a16="http://schemas.microsoft.com/office/drawing/2014/main" id="{F15D87C0-186E-8407-CB86-4B7410D0CA1D}"/>
              </a:ext>
            </a:extLst>
          </p:cNvPr>
          <p:cNvGrpSpPr/>
          <p:nvPr/>
        </p:nvGrpSpPr>
        <p:grpSpPr>
          <a:xfrm>
            <a:off x="1442748" y="1587428"/>
            <a:ext cx="6258503" cy="2717359"/>
            <a:chOff x="1113847" y="1369650"/>
            <a:chExt cx="6258503" cy="2717359"/>
          </a:xfrm>
        </p:grpSpPr>
        <p:sp>
          <p:nvSpPr>
            <p:cNvPr id="5" name="矩形 4">
              <a:extLst>
                <a:ext uri="{FF2B5EF4-FFF2-40B4-BE49-F238E27FC236}">
                  <a16:creationId xmlns:a16="http://schemas.microsoft.com/office/drawing/2014/main" id="{1D115E11-96A7-3720-0419-6A6EC3997285}"/>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6" name="矩形 5">
              <a:extLst>
                <a:ext uri="{FF2B5EF4-FFF2-40B4-BE49-F238E27FC236}">
                  <a16:creationId xmlns:a16="http://schemas.microsoft.com/office/drawing/2014/main" id="{1BBE7A6F-BA32-D983-B623-55AFEAB117BD}"/>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7" name="矩形 6">
              <a:extLst>
                <a:ext uri="{FF2B5EF4-FFF2-40B4-BE49-F238E27FC236}">
                  <a16:creationId xmlns:a16="http://schemas.microsoft.com/office/drawing/2014/main" id="{3D2C4BD9-79D4-897A-6E4A-B7EF942D0C61}"/>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a:extLst>
                <a:ext uri="{FF2B5EF4-FFF2-40B4-BE49-F238E27FC236}">
                  <a16:creationId xmlns:a16="http://schemas.microsoft.com/office/drawing/2014/main" id="{5735AA3C-14AC-C509-C255-BA82C175B113}"/>
                </a:ext>
              </a:extLst>
            </p:cNvPr>
            <p:cNvSpPr/>
            <p:nvPr/>
          </p:nvSpPr>
          <p:spPr>
            <a:xfrm>
              <a:off x="1113847" y="3109407"/>
              <a:ext cx="1802444" cy="670653"/>
            </a:xfrm>
            <a:prstGeom prst="rect">
              <a:avLst/>
            </a:prstGeom>
            <a:solidFill>
              <a:srgbClr val="FF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距离向量</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(Distance Vector)</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6" name="矩形 15">
              <a:extLst>
                <a:ext uri="{FF2B5EF4-FFF2-40B4-BE49-F238E27FC236}">
                  <a16:creationId xmlns:a16="http://schemas.microsoft.com/office/drawing/2014/main" id="{E42E8357-4874-DC19-C519-1E71D423BD0D}"/>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链路状态</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(Link State)</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8" name="矩形 17">
              <a:extLst>
                <a:ext uri="{FF2B5EF4-FFF2-40B4-BE49-F238E27FC236}">
                  <a16:creationId xmlns:a16="http://schemas.microsoft.com/office/drawing/2014/main" id="{B14E0978-513A-8994-BAE8-0762C53E1687}"/>
                </a:ext>
              </a:extLst>
            </p:cNvPr>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20" name="直接连接符 19">
              <a:extLst>
                <a:ext uri="{FF2B5EF4-FFF2-40B4-BE49-F238E27FC236}">
                  <a16:creationId xmlns:a16="http://schemas.microsoft.com/office/drawing/2014/main" id="{75B4A99A-713C-62CA-8003-58779AE70125}"/>
                </a:ext>
              </a:extLst>
            </p:cNvPr>
            <p:cNvCxnSpPr>
              <a:endCxn id="6"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369C7DBA-9CC8-FC49-E3E7-CB7F3256CCD7}"/>
                </a:ext>
              </a:extLst>
            </p:cNvPr>
            <p:cNvCxnSpPr>
              <a:endCxn id="7"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42499B94-CC61-A6C7-481B-3E0EEA364E3B}"/>
                </a:ext>
              </a:extLst>
            </p:cNvPr>
            <p:cNvCxnSpPr>
              <a:stCxn id="6"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EB3C1800-6955-CF60-8BD0-026359CC7B4B}"/>
                </a:ext>
              </a:extLst>
            </p:cNvPr>
            <p:cNvCxnSpPr>
              <a:stCxn id="6" idx="2"/>
              <a:endCxn id="16"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6AC98E0C-D148-54B4-C782-610D89AC3FBB}"/>
                </a:ext>
              </a:extLst>
            </p:cNvPr>
            <p:cNvCxnSpPr>
              <a:stCxn id="7" idx="2"/>
              <a:endCxn id="18"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965457BF-EA83-7B25-8F72-A07EB6485514}"/>
                </a:ext>
              </a:extLst>
            </p:cNvPr>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32" name="矩形 31">
              <a:extLst>
                <a:ext uri="{FF2B5EF4-FFF2-40B4-BE49-F238E27FC236}">
                  <a16:creationId xmlns:a16="http://schemas.microsoft.com/office/drawing/2014/main" id="{FCE4CF24-237E-2295-B8AE-078B463281BE}"/>
                </a:ext>
              </a:extLst>
            </p:cNvPr>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33" name="矩形 32">
              <a:extLst>
                <a:ext uri="{FF2B5EF4-FFF2-40B4-BE49-F238E27FC236}">
                  <a16:creationId xmlns:a16="http://schemas.microsoft.com/office/drawing/2014/main" id="{DBBC1380-D5F1-90A9-F00C-9903750E0A65}"/>
                </a:ext>
              </a:extLst>
            </p:cNvPr>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34" name="标题 33">
            <a:extLst>
              <a:ext uri="{FF2B5EF4-FFF2-40B4-BE49-F238E27FC236}">
                <a16:creationId xmlns:a16="http://schemas.microsoft.com/office/drawing/2014/main" id="{1F08EB1E-B0DD-54C4-FB24-F51809F9B656}"/>
              </a:ext>
            </a:extLst>
          </p:cNvPr>
          <p:cNvSpPr>
            <a:spLocks noGrp="1"/>
          </p:cNvSpPr>
          <p:nvPr>
            <p:ph type="title"/>
          </p:nvPr>
        </p:nvSpPr>
        <p:spPr>
          <a:xfrm>
            <a:off x="486000" y="550723"/>
            <a:ext cx="8172000" cy="338554"/>
          </a:xfrm>
        </p:spPr>
        <p:txBody>
          <a:bodyPr/>
          <a:lstStyle/>
          <a:p>
            <a:r>
              <a:rPr lang="en-US" altLang="zh-CN" dirty="0"/>
              <a:t>4.6.2  </a:t>
            </a:r>
            <a:r>
              <a:rPr lang="zh-CN" altLang="en-US" dirty="0"/>
              <a:t>内部网关协议 </a:t>
            </a:r>
            <a:r>
              <a:rPr lang="en-US" altLang="zh-CN" dirty="0"/>
              <a:t>RIP</a:t>
            </a:r>
            <a:endParaRPr lang="zh-CN" altLang="en-US" dirty="0"/>
          </a:p>
        </p:txBody>
      </p:sp>
    </p:spTree>
    <p:extLst>
      <p:ext uri="{BB962C8B-B14F-4D97-AF65-F5344CB8AC3E}">
        <p14:creationId xmlns:p14="http://schemas.microsoft.com/office/powerpoint/2010/main" val="3685004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66557C5-98A3-6374-006E-3F666E3DF17E}"/>
              </a:ext>
            </a:extLst>
          </p:cNvPr>
          <p:cNvSpPr>
            <a:spLocks noGrp="1"/>
          </p:cNvSpPr>
          <p:nvPr>
            <p:ph type="title"/>
          </p:nvPr>
        </p:nvSpPr>
        <p:spPr>
          <a:xfrm>
            <a:off x="486000" y="550723"/>
            <a:ext cx="8172000" cy="338554"/>
          </a:xfrm>
        </p:spPr>
        <p:txBody>
          <a:bodyPr/>
          <a:lstStyle/>
          <a:p>
            <a:r>
              <a:rPr lang="en-US" altLang="zh-CN" dirty="0"/>
              <a:t>1. </a:t>
            </a:r>
            <a:r>
              <a:rPr lang="zh-CN" altLang="en-US" dirty="0"/>
              <a:t>协议 </a:t>
            </a:r>
            <a:r>
              <a:rPr lang="en-US" altLang="zh-CN" dirty="0"/>
              <a:t>RIP </a:t>
            </a:r>
            <a:r>
              <a:rPr lang="zh-CN" altLang="en-US" dirty="0"/>
              <a:t>的工作原理</a:t>
            </a:r>
          </a:p>
        </p:txBody>
      </p:sp>
      <p:sp>
        <p:nvSpPr>
          <p:cNvPr id="3" name="内容占位符 2">
            <a:extLst>
              <a:ext uri="{FF2B5EF4-FFF2-40B4-BE49-F238E27FC236}">
                <a16:creationId xmlns:a16="http://schemas.microsoft.com/office/drawing/2014/main" id="{C8B745CA-E9F4-CCCE-A49C-8C842FE1D0FD}"/>
              </a:ext>
            </a:extLst>
          </p:cNvPr>
          <p:cNvSpPr>
            <a:spLocks noGrp="1"/>
          </p:cNvSpPr>
          <p:nvPr>
            <p:ph sz="quarter" idx="11"/>
          </p:nvPr>
        </p:nvSpPr>
        <p:spPr>
          <a:xfrm>
            <a:off x="486000" y="900000"/>
            <a:ext cx="8172000" cy="3703500"/>
          </a:xfrm>
        </p:spPr>
        <p:txBody>
          <a:bodyPr/>
          <a:lstStyle/>
          <a:p>
            <a:r>
              <a:rPr lang="zh-CN" altLang="en-US" dirty="0"/>
              <a:t>路由信息协议 </a:t>
            </a:r>
            <a:r>
              <a:rPr lang="en-US" altLang="zh-CN" dirty="0"/>
              <a:t>RIP</a:t>
            </a:r>
          </a:p>
          <a:p>
            <a:pPr lvl="1"/>
            <a:r>
              <a:rPr lang="en-US" altLang="zh-CN" dirty="0"/>
              <a:t>Routing Information Protocol</a:t>
            </a:r>
          </a:p>
          <a:p>
            <a:pPr lvl="1"/>
            <a:r>
              <a:rPr lang="zh-CN" altLang="en-US" dirty="0"/>
              <a:t>分布式</a:t>
            </a:r>
            <a:endParaRPr lang="en-US" altLang="zh-CN" dirty="0"/>
          </a:p>
          <a:p>
            <a:pPr lvl="1"/>
            <a:r>
              <a:rPr lang="zh-CN" altLang="en-US" dirty="0"/>
              <a:t>基于距离向量</a:t>
            </a:r>
            <a:endParaRPr lang="en-US" altLang="zh-CN" dirty="0"/>
          </a:p>
          <a:p>
            <a:r>
              <a:rPr lang="zh-CN" altLang="en-US" dirty="0"/>
              <a:t>互联网的标准协议</a:t>
            </a:r>
            <a:endParaRPr lang="en-US" altLang="zh-CN" dirty="0"/>
          </a:p>
          <a:p>
            <a:r>
              <a:rPr lang="zh-CN" altLang="en-US" dirty="0"/>
              <a:t>最大优点：简单</a:t>
            </a:r>
          </a:p>
          <a:p>
            <a:r>
              <a:rPr lang="zh-CN" altLang="en-US" dirty="0"/>
              <a:t>要求网络中的每个路由器都要维护从它自己到其他每一个目的网络的距离记录</a:t>
            </a:r>
          </a:p>
          <a:p>
            <a:endParaRPr lang="zh-CN" altLang="en-US" dirty="0"/>
          </a:p>
        </p:txBody>
      </p:sp>
    </p:spTree>
    <p:extLst>
      <p:ext uri="{BB962C8B-B14F-4D97-AF65-F5344CB8AC3E}">
        <p14:creationId xmlns:p14="http://schemas.microsoft.com/office/powerpoint/2010/main" val="42095016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6A4DAA75-B0C1-823B-7171-0BDEE4D7A57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6746" y="1487962"/>
            <a:ext cx="528750" cy="360000"/>
          </a:xfrm>
          <a:prstGeom prst="rect">
            <a:avLst/>
          </a:prstGeom>
        </p:spPr>
      </p:pic>
      <p:sp>
        <p:nvSpPr>
          <p:cNvPr id="5" name="云形 4">
            <a:extLst>
              <a:ext uri="{FF2B5EF4-FFF2-40B4-BE49-F238E27FC236}">
                <a16:creationId xmlns:a16="http://schemas.microsoft.com/office/drawing/2014/main" id="{AF3B0B92-54A5-58B7-94A7-E2B3992289BF}"/>
              </a:ext>
            </a:extLst>
          </p:cNvPr>
          <p:cNvSpPr/>
          <p:nvPr/>
        </p:nvSpPr>
        <p:spPr>
          <a:xfrm>
            <a:off x="2112348" y="1333822"/>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Courier New" panose="02070309020205020404" pitchFamily="49" charset="0"/>
              </a:rPr>
              <a:t>NET1</a:t>
            </a:r>
            <a:endParaRPr lang="zh-CN" altLang="en-US" sz="1200" dirty="0">
              <a:solidFill>
                <a:sysClr val="windowText" lastClr="000000"/>
              </a:solidFill>
              <a:latin typeface="Montserrat" panose="00000500000000000000" pitchFamily="2" charset="0"/>
              <a:cs typeface="Courier New" panose="02070309020205020404" pitchFamily="49" charset="0"/>
            </a:endParaRPr>
          </a:p>
        </p:txBody>
      </p:sp>
      <p:sp>
        <p:nvSpPr>
          <p:cNvPr id="6" name="云形 5">
            <a:extLst>
              <a:ext uri="{FF2B5EF4-FFF2-40B4-BE49-F238E27FC236}">
                <a16:creationId xmlns:a16="http://schemas.microsoft.com/office/drawing/2014/main" id="{BC7B3D3F-8A7F-C352-EB23-1AABA3B549EB}"/>
              </a:ext>
            </a:extLst>
          </p:cNvPr>
          <p:cNvSpPr/>
          <p:nvPr/>
        </p:nvSpPr>
        <p:spPr>
          <a:xfrm>
            <a:off x="5907106" y="1333822"/>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Courier New" panose="02070309020205020404" pitchFamily="49" charset="0"/>
              </a:rPr>
              <a:t>NET2</a:t>
            </a:r>
            <a:endParaRPr lang="zh-CN" altLang="en-US" sz="1200" dirty="0">
              <a:solidFill>
                <a:sysClr val="windowText" lastClr="000000"/>
              </a:solidFill>
              <a:latin typeface="Montserrat" panose="00000500000000000000" pitchFamily="2" charset="0"/>
              <a:cs typeface="Courier New" panose="02070309020205020404" pitchFamily="49" charset="0"/>
            </a:endParaRPr>
          </a:p>
        </p:txBody>
      </p:sp>
      <p:pic>
        <p:nvPicPr>
          <p:cNvPr id="7" name="图片 6">
            <a:extLst>
              <a:ext uri="{FF2B5EF4-FFF2-40B4-BE49-F238E27FC236}">
                <a16:creationId xmlns:a16="http://schemas.microsoft.com/office/drawing/2014/main" id="{C15A005D-A06F-0977-740A-A955BDD6FC6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6746" y="2732300"/>
            <a:ext cx="528750" cy="360000"/>
          </a:xfrm>
          <a:prstGeom prst="rect">
            <a:avLst/>
          </a:prstGeom>
        </p:spPr>
      </p:pic>
      <p:sp>
        <p:nvSpPr>
          <p:cNvPr id="8" name="云形 7">
            <a:extLst>
              <a:ext uri="{FF2B5EF4-FFF2-40B4-BE49-F238E27FC236}">
                <a16:creationId xmlns:a16="http://schemas.microsoft.com/office/drawing/2014/main" id="{24A99EE5-234B-D421-6EC3-08A7272050E4}"/>
              </a:ext>
            </a:extLst>
          </p:cNvPr>
          <p:cNvSpPr/>
          <p:nvPr/>
        </p:nvSpPr>
        <p:spPr>
          <a:xfrm>
            <a:off x="2578049" y="2912300"/>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Courier New" panose="02070309020205020404" pitchFamily="49" charset="0"/>
              </a:rPr>
              <a:t>NET3</a:t>
            </a:r>
            <a:endParaRPr lang="zh-CN" altLang="en-US" sz="1200" dirty="0">
              <a:solidFill>
                <a:sysClr val="windowText" lastClr="000000"/>
              </a:solidFill>
              <a:latin typeface="Montserrat" panose="00000500000000000000" pitchFamily="2" charset="0"/>
              <a:cs typeface="Courier New" panose="02070309020205020404" pitchFamily="49" charset="0"/>
            </a:endParaRPr>
          </a:p>
        </p:txBody>
      </p:sp>
      <p:pic>
        <p:nvPicPr>
          <p:cNvPr id="9" name="图片 8">
            <a:extLst>
              <a:ext uri="{FF2B5EF4-FFF2-40B4-BE49-F238E27FC236}">
                <a16:creationId xmlns:a16="http://schemas.microsoft.com/office/drawing/2014/main" id="{401FB74C-FF46-E067-A113-D8C0BCF6097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912371" y="3873625"/>
            <a:ext cx="528750" cy="360000"/>
          </a:xfrm>
          <a:prstGeom prst="rect">
            <a:avLst/>
          </a:prstGeom>
        </p:spPr>
      </p:pic>
      <p:cxnSp>
        <p:nvCxnSpPr>
          <p:cNvPr id="10" name="直接连接符 9">
            <a:extLst>
              <a:ext uri="{FF2B5EF4-FFF2-40B4-BE49-F238E27FC236}">
                <a16:creationId xmlns:a16="http://schemas.microsoft.com/office/drawing/2014/main" id="{AB320C23-BEE5-2C7B-4661-8C8C9AF9B8D4}"/>
              </a:ext>
            </a:extLst>
          </p:cNvPr>
          <p:cNvCxnSpPr>
            <a:stCxn id="5" idx="0"/>
            <a:endCxn id="4" idx="1"/>
          </p:cNvCxnSpPr>
          <p:nvPr/>
        </p:nvCxnSpPr>
        <p:spPr>
          <a:xfrm>
            <a:off x="3075068" y="1667962"/>
            <a:ext cx="1101678"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CE896C29-D1AA-D3FC-9225-C55140C1E24B}"/>
              </a:ext>
            </a:extLst>
          </p:cNvPr>
          <p:cNvCxnSpPr>
            <a:stCxn id="4" idx="3"/>
            <a:endCxn id="6" idx="2"/>
          </p:cNvCxnSpPr>
          <p:nvPr/>
        </p:nvCxnSpPr>
        <p:spPr>
          <a:xfrm>
            <a:off x="4705496" y="1667962"/>
            <a:ext cx="1204599"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2" name="直接连接符 11">
            <a:extLst>
              <a:ext uri="{FF2B5EF4-FFF2-40B4-BE49-F238E27FC236}">
                <a16:creationId xmlns:a16="http://schemas.microsoft.com/office/drawing/2014/main" id="{BEF5929A-A639-6439-743C-73BA72EB750A}"/>
              </a:ext>
            </a:extLst>
          </p:cNvPr>
          <p:cNvCxnSpPr>
            <a:stCxn id="6" idx="1"/>
            <a:endCxn id="7" idx="3"/>
          </p:cNvCxnSpPr>
          <p:nvPr/>
        </p:nvCxnSpPr>
        <p:spPr>
          <a:xfrm flipH="1">
            <a:off x="4705496" y="2001389"/>
            <a:ext cx="1683372" cy="910911"/>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3" name="直接连接符 12">
            <a:extLst>
              <a:ext uri="{FF2B5EF4-FFF2-40B4-BE49-F238E27FC236}">
                <a16:creationId xmlns:a16="http://schemas.microsoft.com/office/drawing/2014/main" id="{CF7EA39C-AB19-0999-940C-81E8A852204D}"/>
              </a:ext>
            </a:extLst>
          </p:cNvPr>
          <p:cNvCxnSpPr>
            <a:stCxn id="7" idx="1"/>
            <a:endCxn id="8" idx="0"/>
          </p:cNvCxnSpPr>
          <p:nvPr/>
        </p:nvCxnSpPr>
        <p:spPr>
          <a:xfrm flipH="1">
            <a:off x="3540769" y="2912300"/>
            <a:ext cx="635977" cy="33414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B07404F1-EC71-4611-0CD4-4B8767783C2A}"/>
              </a:ext>
            </a:extLst>
          </p:cNvPr>
          <p:cNvCxnSpPr>
            <a:stCxn id="8" idx="1"/>
            <a:endCxn id="9" idx="1"/>
          </p:cNvCxnSpPr>
          <p:nvPr/>
        </p:nvCxnSpPr>
        <p:spPr>
          <a:xfrm>
            <a:off x="3059811" y="3579867"/>
            <a:ext cx="852560" cy="47375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5" name="云形 14">
            <a:extLst>
              <a:ext uri="{FF2B5EF4-FFF2-40B4-BE49-F238E27FC236}">
                <a16:creationId xmlns:a16="http://schemas.microsoft.com/office/drawing/2014/main" id="{04837FC9-8F7C-9EDF-6FC7-2E4F1C3AFBD6}"/>
              </a:ext>
            </a:extLst>
          </p:cNvPr>
          <p:cNvSpPr/>
          <p:nvPr/>
        </p:nvSpPr>
        <p:spPr>
          <a:xfrm>
            <a:off x="5473136" y="3719485"/>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Courier New" panose="02070309020205020404" pitchFamily="49" charset="0"/>
              </a:rPr>
              <a:t>NET4</a:t>
            </a:r>
            <a:endParaRPr lang="zh-CN" altLang="en-US" sz="1200" dirty="0">
              <a:solidFill>
                <a:sysClr val="windowText" lastClr="000000"/>
              </a:solidFill>
              <a:latin typeface="Montserrat" panose="00000500000000000000" pitchFamily="2" charset="0"/>
              <a:cs typeface="Courier New" panose="02070309020205020404" pitchFamily="49" charset="0"/>
            </a:endParaRPr>
          </a:p>
        </p:txBody>
      </p:sp>
      <p:cxnSp>
        <p:nvCxnSpPr>
          <p:cNvPr id="16" name="直接连接符 15">
            <a:extLst>
              <a:ext uri="{FF2B5EF4-FFF2-40B4-BE49-F238E27FC236}">
                <a16:creationId xmlns:a16="http://schemas.microsoft.com/office/drawing/2014/main" id="{94512E90-07F6-C6D4-17ED-1EC4D9CDB140}"/>
              </a:ext>
            </a:extLst>
          </p:cNvPr>
          <p:cNvCxnSpPr>
            <a:stCxn id="9" idx="3"/>
            <a:endCxn id="15" idx="2"/>
          </p:cNvCxnSpPr>
          <p:nvPr/>
        </p:nvCxnSpPr>
        <p:spPr>
          <a:xfrm>
            <a:off x="4441121" y="4053625"/>
            <a:ext cx="1035004"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DB514E26-07C3-C238-C576-F96ECC8DC2E0}"/>
              </a:ext>
            </a:extLst>
          </p:cNvPr>
          <p:cNvSpPr txBox="1"/>
          <p:nvPr/>
        </p:nvSpPr>
        <p:spPr>
          <a:xfrm>
            <a:off x="4262849" y="1193800"/>
            <a:ext cx="348172"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R1</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18" name="文本框 17">
            <a:extLst>
              <a:ext uri="{FF2B5EF4-FFF2-40B4-BE49-F238E27FC236}">
                <a16:creationId xmlns:a16="http://schemas.microsoft.com/office/drawing/2014/main" id="{140838B6-EDE8-8A4A-B90F-5F6FC9F4CC6B}"/>
              </a:ext>
            </a:extLst>
          </p:cNvPr>
          <p:cNvSpPr txBox="1"/>
          <p:nvPr/>
        </p:nvSpPr>
        <p:spPr>
          <a:xfrm>
            <a:off x="4245947" y="2466108"/>
            <a:ext cx="380232" cy="276999"/>
          </a:xfrm>
          <a:prstGeom prst="rect">
            <a:avLst/>
          </a:prstGeom>
          <a:noFill/>
        </p:spPr>
        <p:txBody>
          <a:bodyPr wrap="none" rtlCol="0">
            <a:spAutoFit/>
          </a:bodyPr>
          <a:lstStyle/>
          <a:p>
            <a:pPr algn="ctr"/>
            <a:r>
              <a:rPr lang="en-US" altLang="zh-CN" sz="1200" b="1" kern="100" dirty="0">
                <a:latin typeface="Montserrat" panose="00000500000000000000" pitchFamily="2" charset="0"/>
                <a:ea typeface="微软雅黑 Light" panose="020B0502040204020203" pitchFamily="34" charset="-122"/>
                <a:cs typeface="Times New Roman" panose="02020603050405020304" pitchFamily="18" charset="0"/>
              </a:rPr>
              <a:t>R2</a:t>
            </a:r>
            <a:endParaRPr lang="zh-CN" altLang="en-US" sz="1200" b="1" kern="100" dirty="0">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19" name="文本框 18">
            <a:extLst>
              <a:ext uri="{FF2B5EF4-FFF2-40B4-BE49-F238E27FC236}">
                <a16:creationId xmlns:a16="http://schemas.microsoft.com/office/drawing/2014/main" id="{27AFE0ED-384E-CAFA-FB2E-A018A1DCAA5D}"/>
              </a:ext>
            </a:extLst>
          </p:cNvPr>
          <p:cNvSpPr txBox="1"/>
          <p:nvPr/>
        </p:nvSpPr>
        <p:spPr>
          <a:xfrm>
            <a:off x="3987431" y="3587169"/>
            <a:ext cx="378630" cy="276999"/>
          </a:xfrm>
          <a:prstGeom prst="rect">
            <a:avLst/>
          </a:prstGeom>
          <a:noFill/>
        </p:spPr>
        <p:txBody>
          <a:bodyPr wrap="none" rtlCol="0">
            <a:spAutoFit/>
          </a:bodyPr>
          <a:lstStyle/>
          <a:p>
            <a:pPr algn="ctr"/>
            <a:r>
              <a:rPr lang="en-US" altLang="zh-CN" sz="1200" b="1" kern="100" dirty="0">
                <a:latin typeface="Montserrat" panose="00000500000000000000" pitchFamily="2" charset="0"/>
                <a:ea typeface="微软雅黑 Light" panose="020B0502040204020203" pitchFamily="34" charset="-122"/>
                <a:cs typeface="Times New Roman" panose="02020603050405020304" pitchFamily="18" charset="0"/>
              </a:rPr>
              <a:t>R3</a:t>
            </a:r>
            <a:endParaRPr lang="zh-CN" altLang="en-US" sz="1200" b="1" kern="100" dirty="0">
              <a:latin typeface="Montserrat" panose="00000500000000000000" pitchFamily="2" charset="0"/>
              <a:ea typeface="微软雅黑 Light" panose="020B0502040204020203" pitchFamily="34" charset="-122"/>
              <a:cs typeface="Times New Roman" panose="02020603050405020304" pitchFamily="18" charset="0"/>
            </a:endParaRPr>
          </a:p>
        </p:txBody>
      </p:sp>
      <p:cxnSp>
        <p:nvCxnSpPr>
          <p:cNvPr id="20" name="直接箭头连接符 19">
            <a:extLst>
              <a:ext uri="{FF2B5EF4-FFF2-40B4-BE49-F238E27FC236}">
                <a16:creationId xmlns:a16="http://schemas.microsoft.com/office/drawing/2014/main" id="{4DE8BF3A-6604-3799-8F10-F654F394945D}"/>
              </a:ext>
            </a:extLst>
          </p:cNvPr>
          <p:cNvCxnSpPr>
            <a:cxnSpLocks/>
            <a:stCxn id="17" idx="1"/>
          </p:cNvCxnSpPr>
          <p:nvPr/>
        </p:nvCxnSpPr>
        <p:spPr>
          <a:xfrm flipH="1">
            <a:off x="3212028" y="1332300"/>
            <a:ext cx="1050821" cy="152819"/>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DCB574AC-AD43-5E6D-4A58-81A34930537F}"/>
              </a:ext>
            </a:extLst>
          </p:cNvPr>
          <p:cNvCxnSpPr>
            <a:cxnSpLocks/>
            <a:stCxn id="17" idx="3"/>
          </p:cNvCxnSpPr>
          <p:nvPr/>
        </p:nvCxnSpPr>
        <p:spPr>
          <a:xfrm>
            <a:off x="4611021" y="1332300"/>
            <a:ext cx="1201610" cy="131158"/>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7D123468-3939-51D9-CB7A-59ECECD050D6}"/>
              </a:ext>
            </a:extLst>
          </p:cNvPr>
          <p:cNvCxnSpPr>
            <a:cxnSpLocks/>
            <a:stCxn id="4" idx="2"/>
          </p:cNvCxnSpPr>
          <p:nvPr/>
        </p:nvCxnSpPr>
        <p:spPr>
          <a:xfrm flipH="1">
            <a:off x="3451151" y="1847962"/>
            <a:ext cx="989970" cy="966764"/>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41726403-D855-1430-9518-7900E447F74B}"/>
              </a:ext>
            </a:extLst>
          </p:cNvPr>
          <p:cNvCxnSpPr>
            <a:stCxn id="4" idx="2"/>
            <a:endCxn id="15" idx="3"/>
          </p:cNvCxnSpPr>
          <p:nvPr/>
        </p:nvCxnSpPr>
        <p:spPr>
          <a:xfrm>
            <a:off x="4441121" y="1847962"/>
            <a:ext cx="1513777" cy="1909732"/>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BE0B6C5C-BB92-D633-E44A-3D8D6DE2DB44}"/>
              </a:ext>
            </a:extLst>
          </p:cNvPr>
          <p:cNvSpPr txBox="1"/>
          <p:nvPr/>
        </p:nvSpPr>
        <p:spPr>
          <a:xfrm>
            <a:off x="3360461" y="937635"/>
            <a:ext cx="239168"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1</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25" name="文本框 24">
            <a:extLst>
              <a:ext uri="{FF2B5EF4-FFF2-40B4-BE49-F238E27FC236}">
                <a16:creationId xmlns:a16="http://schemas.microsoft.com/office/drawing/2014/main" id="{09C2204C-B20F-3D35-974F-F89579C07885}"/>
              </a:ext>
            </a:extLst>
          </p:cNvPr>
          <p:cNvSpPr txBox="1"/>
          <p:nvPr/>
        </p:nvSpPr>
        <p:spPr>
          <a:xfrm>
            <a:off x="5006270" y="925403"/>
            <a:ext cx="239168"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1</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26" name="文本框 25">
            <a:extLst>
              <a:ext uri="{FF2B5EF4-FFF2-40B4-BE49-F238E27FC236}">
                <a16:creationId xmlns:a16="http://schemas.microsoft.com/office/drawing/2014/main" id="{7F368183-F028-BEA7-A95F-1FFC980423F2}"/>
              </a:ext>
            </a:extLst>
          </p:cNvPr>
          <p:cNvSpPr txBox="1"/>
          <p:nvPr/>
        </p:nvSpPr>
        <p:spPr>
          <a:xfrm>
            <a:off x="3232177" y="2448015"/>
            <a:ext cx="322524" cy="276999"/>
          </a:xfrm>
          <a:prstGeom prst="rect">
            <a:avLst/>
          </a:prstGeom>
          <a:noFill/>
        </p:spPr>
        <p:txBody>
          <a:bodyPr wrap="squar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2</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27" name="文本框 26">
            <a:extLst>
              <a:ext uri="{FF2B5EF4-FFF2-40B4-BE49-F238E27FC236}">
                <a16:creationId xmlns:a16="http://schemas.microsoft.com/office/drawing/2014/main" id="{09B8C552-3B20-ED21-854C-7E19161311B4}"/>
              </a:ext>
            </a:extLst>
          </p:cNvPr>
          <p:cNvSpPr txBox="1"/>
          <p:nvPr/>
        </p:nvSpPr>
        <p:spPr>
          <a:xfrm>
            <a:off x="5356031" y="3352486"/>
            <a:ext cx="277640"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3</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1781963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 name="圆角矩形 164"/>
          <p:cNvSpPr/>
          <p:nvPr/>
        </p:nvSpPr>
        <p:spPr>
          <a:xfrm>
            <a:off x="545144" y="2417498"/>
            <a:ext cx="8053712" cy="179670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4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dirty="0">
                  <a:latin typeface="Times New Roman" pitchFamily="18" charset="0"/>
                  <a:ea typeface="微软雅黑"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0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5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pic>
          <p:nvPicPr>
            <p:cNvPr id="56"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58" name="Text Box 178"/>
            <p:cNvSpPr txBox="1">
              <a:spLocks noChangeArrowheads="1"/>
            </p:cNvSpPr>
            <p:nvPr/>
          </p:nvSpPr>
          <p:spPr bwMode="auto">
            <a:xfrm>
              <a:off x="4410798" y="2420607"/>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p>
          </p:txBody>
        </p:sp>
        <p:sp>
          <p:nvSpPr>
            <p:cNvPr id="59" name="Text Box 178"/>
            <p:cNvSpPr txBox="1">
              <a:spLocks noChangeArrowheads="1"/>
            </p:cNvSpPr>
            <p:nvPr/>
          </p:nvSpPr>
          <p:spPr bwMode="auto">
            <a:xfrm>
              <a:off x="3578563" y="2864869"/>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60" name="Text Box 178"/>
            <p:cNvSpPr txBox="1">
              <a:spLocks noChangeArrowheads="1"/>
            </p:cNvSpPr>
            <p:nvPr/>
          </p:nvSpPr>
          <p:spPr bwMode="auto">
            <a:xfrm>
              <a:off x="4976249" y="2872273"/>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2955477" y="1837177"/>
              <a:ext cx="1027085" cy="3653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657135" y="985903"/>
                <a:ext cx="1027085" cy="365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pic>
          <p:nvPicPr>
            <p:cNvPr id="67"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E</a:t>
              </a:r>
            </a:p>
          </p:txBody>
        </p:sp>
      </p:grpSp>
      <p:sp>
        <p:nvSpPr>
          <p:cNvPr id="164" name="Text Box 178"/>
          <p:cNvSpPr txBox="1">
            <a:spLocks noChangeArrowheads="1"/>
          </p:cNvSpPr>
          <p:nvPr/>
        </p:nvSpPr>
        <p:spPr bwMode="auto">
          <a:xfrm>
            <a:off x="2474311" y="4206537"/>
            <a:ext cx="4195379"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A-B-E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2</a:t>
            </a: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A-C-D-E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3</a:t>
            </a:r>
          </a:p>
        </p:txBody>
      </p:sp>
      <p:sp>
        <p:nvSpPr>
          <p:cNvPr id="166" name="标题 165">
            <a:extLst>
              <a:ext uri="{FF2B5EF4-FFF2-40B4-BE49-F238E27FC236}">
                <a16:creationId xmlns:a16="http://schemas.microsoft.com/office/drawing/2014/main" id="{A507821A-ED01-39C4-7B22-546928BB71CC}"/>
              </a:ext>
            </a:extLst>
          </p:cNvPr>
          <p:cNvSpPr>
            <a:spLocks noGrp="1"/>
          </p:cNvSpPr>
          <p:nvPr>
            <p:ph type="title"/>
          </p:nvPr>
        </p:nvSpPr>
        <p:spPr>
          <a:xfrm>
            <a:off x="486000" y="550723"/>
            <a:ext cx="8172000" cy="338554"/>
          </a:xfrm>
        </p:spPr>
        <p:txBody>
          <a:bodyPr/>
          <a:lstStyle/>
          <a:p>
            <a:r>
              <a:rPr lang="zh-CN" altLang="en-US" dirty="0"/>
              <a:t>距离</a:t>
            </a:r>
          </a:p>
        </p:txBody>
      </p:sp>
      <p:sp>
        <p:nvSpPr>
          <p:cNvPr id="167" name="内容占位符 166">
            <a:extLst>
              <a:ext uri="{FF2B5EF4-FFF2-40B4-BE49-F238E27FC236}">
                <a16:creationId xmlns:a16="http://schemas.microsoft.com/office/drawing/2014/main" id="{84069894-C2C2-F71C-F28E-0396C0166152}"/>
              </a:ext>
            </a:extLst>
          </p:cNvPr>
          <p:cNvSpPr>
            <a:spLocks noGrp="1"/>
          </p:cNvSpPr>
          <p:nvPr>
            <p:ph sz="quarter" idx="11"/>
          </p:nvPr>
        </p:nvSpPr>
        <p:spPr>
          <a:xfrm>
            <a:off x="486000" y="900000"/>
            <a:ext cx="8172000" cy="3703500"/>
          </a:xfrm>
        </p:spPr>
        <p:txBody>
          <a:bodyPr/>
          <a:lstStyle/>
          <a:p>
            <a:r>
              <a:rPr lang="zh-CN" altLang="en-US" dirty="0"/>
              <a:t>路由器到直接连接的网络的距离 </a:t>
            </a:r>
            <a:r>
              <a:rPr lang="en-US" altLang="zh-CN" dirty="0"/>
              <a:t>= 1</a:t>
            </a:r>
            <a:endParaRPr lang="zh-CN" altLang="en-US" dirty="0"/>
          </a:p>
          <a:p>
            <a:r>
              <a:rPr lang="zh-CN" altLang="en-US" dirty="0"/>
              <a:t>路由器到非直接连接的网络的距离 </a:t>
            </a:r>
            <a:r>
              <a:rPr lang="en-US" altLang="zh-CN" dirty="0"/>
              <a:t>= </a:t>
            </a:r>
            <a:r>
              <a:rPr lang="zh-CN" altLang="en-US" dirty="0"/>
              <a:t>所经过的路由器数 </a:t>
            </a:r>
            <a:r>
              <a:rPr lang="en-US" altLang="zh-CN" dirty="0"/>
              <a:t>+</a:t>
            </a:r>
            <a:r>
              <a:rPr lang="zh-CN" altLang="en-US" dirty="0"/>
              <a:t> </a:t>
            </a:r>
            <a:r>
              <a:rPr lang="en-US" altLang="zh-CN" dirty="0"/>
              <a:t>1</a:t>
            </a:r>
            <a:endParaRPr lang="zh-CN" altLang="en-US" dirty="0"/>
          </a:p>
          <a:p>
            <a:r>
              <a:rPr lang="en-US" altLang="zh-CN" dirty="0"/>
              <a:t>RIP </a:t>
            </a:r>
            <a:r>
              <a:rPr lang="zh-CN" altLang="en-US" dirty="0"/>
              <a:t>协议中的“距离”也称为“跳数”</a:t>
            </a:r>
            <a:r>
              <a:rPr lang="en-US" altLang="zh-CN" dirty="0"/>
              <a:t>(hop count)</a:t>
            </a:r>
            <a:r>
              <a:rPr lang="zh-CN" altLang="en-US" dirty="0"/>
              <a:t>，每经过一个路由器，跳数就加 </a:t>
            </a:r>
            <a:r>
              <a:rPr lang="en-US" altLang="zh-CN" dirty="0"/>
              <a:t>1</a:t>
            </a:r>
            <a:endParaRPr lang="zh-CN" altLang="en-US" dirty="0"/>
          </a:p>
        </p:txBody>
      </p:sp>
    </p:spTree>
    <p:extLst>
      <p:ext uri="{BB962C8B-B14F-4D97-AF65-F5344CB8AC3E}">
        <p14:creationId xmlns:p14="http://schemas.microsoft.com/office/powerpoint/2010/main" val="2382856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4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0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5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pic>
          <p:nvPicPr>
            <p:cNvPr id="56"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32811"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A</a:t>
              </a:r>
            </a:p>
          </p:txBody>
        </p:sp>
        <p:sp>
          <p:nvSpPr>
            <p:cNvPr id="58" name="Text Box 178"/>
            <p:cNvSpPr txBox="1">
              <a:spLocks noChangeArrowheads="1"/>
            </p:cNvSpPr>
            <p:nvPr/>
          </p:nvSpPr>
          <p:spPr bwMode="auto">
            <a:xfrm>
              <a:off x="4410797" y="2420607"/>
              <a:ext cx="330975"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B</a:t>
              </a:r>
            </a:p>
          </p:txBody>
        </p:sp>
        <p:sp>
          <p:nvSpPr>
            <p:cNvPr id="59" name="Text Box 178"/>
            <p:cNvSpPr txBox="1">
              <a:spLocks noChangeArrowheads="1"/>
            </p:cNvSpPr>
            <p:nvPr/>
          </p:nvSpPr>
          <p:spPr bwMode="auto">
            <a:xfrm>
              <a:off x="3578563" y="2864869"/>
              <a:ext cx="325464"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C</a:t>
              </a:r>
            </a:p>
          </p:txBody>
        </p:sp>
        <p:sp>
          <p:nvSpPr>
            <p:cNvPr id="60" name="Text Box 178"/>
            <p:cNvSpPr txBox="1">
              <a:spLocks noChangeArrowheads="1"/>
            </p:cNvSpPr>
            <p:nvPr/>
          </p:nvSpPr>
          <p:spPr bwMode="auto">
            <a:xfrm>
              <a:off x="4976249" y="2872273"/>
              <a:ext cx="345669"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3084963" y="1864576"/>
              <a:ext cx="768110"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786624" y="1013301"/>
                <a:ext cx="768110" cy="310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pic>
          <p:nvPicPr>
            <p:cNvPr id="67"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318117"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E</a:t>
              </a:r>
            </a:p>
          </p:txBody>
        </p:sp>
      </p:grpSp>
      <p:sp>
        <p:nvSpPr>
          <p:cNvPr id="166" name="标题 165">
            <a:extLst>
              <a:ext uri="{FF2B5EF4-FFF2-40B4-BE49-F238E27FC236}">
                <a16:creationId xmlns:a16="http://schemas.microsoft.com/office/drawing/2014/main" id="{DC60B5BD-5108-DFC1-0108-B653F2C0EFD7}"/>
              </a:ext>
            </a:extLst>
          </p:cNvPr>
          <p:cNvSpPr>
            <a:spLocks noGrp="1"/>
          </p:cNvSpPr>
          <p:nvPr>
            <p:ph type="title"/>
          </p:nvPr>
        </p:nvSpPr>
        <p:spPr>
          <a:xfrm>
            <a:off x="486000" y="550723"/>
            <a:ext cx="8172000" cy="338554"/>
          </a:xfrm>
        </p:spPr>
        <p:txBody>
          <a:bodyPr/>
          <a:lstStyle/>
          <a:p>
            <a:r>
              <a:rPr lang="en-US" altLang="zh-CN" dirty="0"/>
              <a:t>RIP</a:t>
            </a:r>
            <a:r>
              <a:rPr lang="zh-CN" altLang="en-US" dirty="0"/>
              <a:t>“距离”的定义</a:t>
            </a:r>
          </a:p>
        </p:txBody>
      </p:sp>
      <p:sp>
        <p:nvSpPr>
          <p:cNvPr id="167" name="内容占位符 166">
            <a:extLst>
              <a:ext uri="{FF2B5EF4-FFF2-40B4-BE49-F238E27FC236}">
                <a16:creationId xmlns:a16="http://schemas.microsoft.com/office/drawing/2014/main" id="{20F6A1EC-CA83-150A-807F-8400731BF490}"/>
              </a:ext>
            </a:extLst>
          </p:cNvPr>
          <p:cNvSpPr>
            <a:spLocks noGrp="1"/>
          </p:cNvSpPr>
          <p:nvPr>
            <p:ph sz="quarter" idx="11"/>
          </p:nvPr>
        </p:nvSpPr>
        <p:spPr>
          <a:xfrm>
            <a:off x="485775" y="900113"/>
            <a:ext cx="8172450" cy="3703637"/>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dirty="0"/>
              <a:t>好路由 </a:t>
            </a:r>
            <a:r>
              <a:rPr lang="en-US" altLang="zh-CN"/>
              <a:t>= </a:t>
            </a:r>
            <a:r>
              <a:rPr lang="zh-CN" altLang="en-US"/>
              <a:t>距离</a:t>
            </a:r>
            <a:r>
              <a:rPr lang="zh-CN" altLang="en-US" dirty="0"/>
              <a:t>短的路由；最佳路由 </a:t>
            </a:r>
            <a:r>
              <a:rPr lang="en-US" altLang="zh-CN"/>
              <a:t>= </a:t>
            </a:r>
            <a:r>
              <a:rPr lang="zh-CN" altLang="en-US"/>
              <a:t>距离</a:t>
            </a:r>
            <a:r>
              <a:rPr lang="zh-CN" altLang="en-US" dirty="0"/>
              <a:t>最短的路由</a:t>
            </a:r>
            <a:endParaRPr lang="en-US" altLang="zh-CN"/>
          </a:p>
          <a:p>
            <a:r>
              <a:rPr lang="zh-CN" altLang="en-US"/>
              <a:t>一</a:t>
            </a:r>
            <a:r>
              <a:rPr lang="zh-CN" altLang="en-US" dirty="0"/>
              <a:t>条路径最多只能包含 </a:t>
            </a:r>
            <a:r>
              <a:rPr lang="en-US" altLang="zh-CN"/>
              <a:t>15 </a:t>
            </a:r>
            <a:r>
              <a:rPr lang="zh-CN" altLang="en-US"/>
              <a:t>个</a:t>
            </a:r>
            <a:r>
              <a:rPr lang="zh-CN" altLang="en-US" dirty="0"/>
              <a:t>路由器</a:t>
            </a:r>
            <a:endParaRPr lang="en-US" altLang="zh-CN"/>
          </a:p>
          <a:p>
            <a:r>
              <a:rPr lang="zh-CN" altLang="en-US"/>
              <a:t>距离</a:t>
            </a:r>
            <a:r>
              <a:rPr lang="zh-CN" altLang="en-US" dirty="0"/>
              <a:t>最大值为 </a:t>
            </a:r>
            <a:r>
              <a:rPr lang="en-US" altLang="zh-CN"/>
              <a:t>16 </a:t>
            </a:r>
            <a:r>
              <a:rPr lang="zh-CN" altLang="en-US"/>
              <a:t>时</a:t>
            </a:r>
            <a:r>
              <a:rPr lang="zh-CN" altLang="en-US" dirty="0"/>
              <a:t>即相当于不可达</a:t>
            </a:r>
            <a:endParaRPr lang="en-US" altLang="zh-CN"/>
          </a:p>
          <a:p>
            <a:r>
              <a:rPr lang="en-US" altLang="zh-CN"/>
              <a:t>RIP </a:t>
            </a:r>
            <a:r>
              <a:rPr lang="zh-CN" altLang="en-US"/>
              <a:t>不能</a:t>
            </a:r>
            <a:r>
              <a:rPr lang="zh-CN" altLang="en-US" dirty="0"/>
              <a:t>在两个网络之间同时使用多条路由，只选择距离最短的路由</a:t>
            </a:r>
          </a:p>
          <a:p>
            <a:endParaRPr lang="zh-CN" altLang="en-US" dirty="0"/>
          </a:p>
        </p:txBody>
      </p:sp>
      <p:sp>
        <p:nvSpPr>
          <p:cNvPr id="170" name="Text Box 178"/>
          <p:cNvSpPr txBox="1">
            <a:spLocks noChangeArrowheads="1"/>
          </p:cNvSpPr>
          <p:nvPr/>
        </p:nvSpPr>
        <p:spPr bwMode="auto">
          <a:xfrm>
            <a:off x="2474311" y="4206537"/>
            <a:ext cx="4195379"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路由 </a:t>
            </a:r>
            <a:r>
              <a:rPr lang="en-US" altLang="zh-CN" dirty="0"/>
              <a:t>A-B-E </a:t>
            </a:r>
            <a:r>
              <a:rPr lang="zh-CN" altLang="en-US" dirty="0"/>
              <a:t>的距离 </a:t>
            </a:r>
            <a:r>
              <a:rPr lang="en-US" altLang="zh-CN" dirty="0"/>
              <a:t>= 2</a:t>
            </a:r>
            <a:r>
              <a:rPr lang="zh-CN" altLang="en-US" dirty="0"/>
              <a:t>，路由 </a:t>
            </a:r>
            <a:r>
              <a:rPr lang="en-US" altLang="zh-CN" dirty="0"/>
              <a:t>A-C-D-E </a:t>
            </a:r>
            <a:r>
              <a:rPr lang="zh-CN" altLang="en-US" dirty="0"/>
              <a:t>的距离 </a:t>
            </a:r>
            <a:r>
              <a:rPr lang="en-US" altLang="zh-CN" dirty="0"/>
              <a:t>= 3</a:t>
            </a:r>
          </a:p>
          <a:p>
            <a:r>
              <a:rPr lang="zh-CN" altLang="en-US" dirty="0"/>
              <a:t>最佳路由为 </a:t>
            </a:r>
            <a:r>
              <a:rPr lang="en-US" altLang="zh-CN" dirty="0"/>
              <a:t>A-B-E</a:t>
            </a:r>
            <a:r>
              <a:rPr lang="zh-CN" altLang="en-US" dirty="0"/>
              <a:t>。</a:t>
            </a:r>
            <a:endParaRPr lang="en-US" altLang="zh-CN" dirty="0"/>
          </a:p>
        </p:txBody>
      </p:sp>
    </p:spTree>
    <p:extLst>
      <p:ext uri="{BB962C8B-B14F-4D97-AF65-F5344CB8AC3E}">
        <p14:creationId xmlns:p14="http://schemas.microsoft.com/office/powerpoint/2010/main" val="18551232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616085" y="616488"/>
            <a:ext cx="7853464"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 name="标题 4">
            <a:extLst>
              <a:ext uri="{FF2B5EF4-FFF2-40B4-BE49-F238E27FC236}">
                <a16:creationId xmlns:a16="http://schemas.microsoft.com/office/drawing/2014/main" id="{335FE39E-50AB-9BCB-F6B4-849A79C6F6E7}"/>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协议的三个特点</a:t>
            </a:r>
          </a:p>
        </p:txBody>
      </p:sp>
      <p:sp>
        <p:nvSpPr>
          <p:cNvPr id="6" name="内容占位符 5">
            <a:extLst>
              <a:ext uri="{FF2B5EF4-FFF2-40B4-BE49-F238E27FC236}">
                <a16:creationId xmlns:a16="http://schemas.microsoft.com/office/drawing/2014/main" id="{45233FBD-623A-7D39-B644-C39679B42236}"/>
              </a:ext>
            </a:extLst>
          </p:cNvPr>
          <p:cNvSpPr>
            <a:spLocks noGrp="1"/>
          </p:cNvSpPr>
          <p:nvPr>
            <p:ph sz="quarter" idx="11"/>
          </p:nvPr>
        </p:nvSpPr>
        <p:spPr>
          <a:xfrm>
            <a:off x="486000" y="900000"/>
            <a:ext cx="8172000" cy="3703500"/>
          </a:xfrm>
        </p:spPr>
        <p:txBody>
          <a:bodyPr/>
          <a:lstStyle/>
          <a:p>
            <a:r>
              <a:rPr lang="zh-CN" altLang="en-US" dirty="0"/>
              <a:t>仅和相邻路由器交换信息。 </a:t>
            </a:r>
          </a:p>
          <a:p>
            <a:r>
              <a:rPr lang="zh-CN" altLang="en-US" dirty="0"/>
              <a:t>交换的信息是当前本路由器所知道的全部信息，即自己的路由表。 </a:t>
            </a:r>
          </a:p>
          <a:p>
            <a:r>
              <a:rPr lang="zh-CN" altLang="en-US" dirty="0"/>
              <a:t>按固定时间间隔交换路由信息，例如，每隔 </a:t>
            </a:r>
            <a:r>
              <a:rPr lang="en-US" altLang="zh-CN" dirty="0"/>
              <a:t>30 </a:t>
            </a:r>
            <a:r>
              <a:rPr lang="zh-CN" altLang="en-US" dirty="0"/>
              <a:t>秒。当网络拓扑发生变化时，路由器也及时向相邻路由器通告拓扑变化后的路由信息。</a:t>
            </a:r>
          </a:p>
          <a:p>
            <a:endParaRPr lang="zh-CN" altLang="en-US" dirty="0"/>
          </a:p>
        </p:txBody>
      </p:sp>
    </p:spTree>
    <p:extLst>
      <p:ext uri="{BB962C8B-B14F-4D97-AF65-F5344CB8AC3E}">
        <p14:creationId xmlns:p14="http://schemas.microsoft.com/office/powerpoint/2010/main" val="3860626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6870"/>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 name="标题 1">
            <a:extLst>
              <a:ext uri="{FF2B5EF4-FFF2-40B4-BE49-F238E27FC236}">
                <a16:creationId xmlns:a16="http://schemas.microsoft.com/office/drawing/2014/main" id="{4B04BC04-3C64-4A74-4919-86C18D078976}"/>
              </a:ext>
            </a:extLst>
          </p:cNvPr>
          <p:cNvSpPr>
            <a:spLocks noGrp="1"/>
          </p:cNvSpPr>
          <p:nvPr>
            <p:ph type="title"/>
          </p:nvPr>
        </p:nvSpPr>
        <p:spPr>
          <a:xfrm>
            <a:off x="486000" y="550723"/>
            <a:ext cx="8172000" cy="338554"/>
          </a:xfrm>
        </p:spPr>
        <p:txBody>
          <a:bodyPr/>
          <a:lstStyle/>
          <a:p>
            <a:r>
              <a:rPr lang="zh-CN" altLang="en-US" dirty="0"/>
              <a:t>路由表的建立</a:t>
            </a:r>
          </a:p>
        </p:txBody>
      </p:sp>
      <p:sp>
        <p:nvSpPr>
          <p:cNvPr id="3" name="内容占位符 2">
            <a:extLst>
              <a:ext uri="{FF2B5EF4-FFF2-40B4-BE49-F238E27FC236}">
                <a16:creationId xmlns:a16="http://schemas.microsoft.com/office/drawing/2014/main" id="{98D8B9E3-5974-3C52-D059-363BFA3FC39F}"/>
              </a:ext>
            </a:extLst>
          </p:cNvPr>
          <p:cNvSpPr>
            <a:spLocks noGrp="1"/>
          </p:cNvSpPr>
          <p:nvPr>
            <p:ph sz="quarter" idx="11"/>
          </p:nvPr>
        </p:nvSpPr>
        <p:spPr>
          <a:xfrm>
            <a:off x="486000" y="900000"/>
            <a:ext cx="8172000" cy="3703500"/>
          </a:xfrm>
        </p:spPr>
        <p:txBody>
          <a:bodyPr/>
          <a:lstStyle/>
          <a:p>
            <a:r>
              <a:rPr lang="zh-CN" altLang="en-US" dirty="0"/>
              <a:t>路由器在刚刚开始工作时，路由表是空的</a:t>
            </a:r>
            <a:endParaRPr lang="en-US" altLang="zh-CN" dirty="0"/>
          </a:p>
          <a:p>
            <a:r>
              <a:rPr lang="zh-CN" altLang="en-US" dirty="0"/>
              <a:t>然后，得到直接连接的网络的距离 </a:t>
            </a:r>
            <a:r>
              <a:rPr lang="en-US" altLang="zh-CN" dirty="0"/>
              <a:t>- 1</a:t>
            </a:r>
            <a:endParaRPr lang="zh-CN" altLang="en-US" dirty="0"/>
          </a:p>
          <a:p>
            <a:r>
              <a:rPr lang="zh-CN" altLang="en-US" dirty="0"/>
              <a:t>之后，每一个路由器也只和数目非常有限的相邻路由器交换并更新路由信息</a:t>
            </a:r>
          </a:p>
          <a:p>
            <a:r>
              <a:rPr lang="zh-CN" altLang="en-US" dirty="0"/>
              <a:t>经过若干次更新后，所有的路由器最终都会知道到达本自治系统中任何一个网络的最短距离和下一跳路由器的地址</a:t>
            </a:r>
          </a:p>
          <a:p>
            <a:r>
              <a:rPr lang="en-US" altLang="zh-CN" dirty="0"/>
              <a:t>RIP </a:t>
            </a:r>
            <a:r>
              <a:rPr lang="zh-CN" altLang="en-US" dirty="0"/>
              <a:t>协议的收敛 </a:t>
            </a:r>
            <a:r>
              <a:rPr lang="en-US" altLang="zh-CN" dirty="0"/>
              <a:t>(convergence) </a:t>
            </a:r>
            <a:r>
              <a:rPr lang="zh-CN" altLang="en-US" dirty="0"/>
              <a:t>过程较快</a:t>
            </a:r>
            <a:endParaRPr lang="en-US" altLang="zh-CN" dirty="0"/>
          </a:p>
          <a:p>
            <a:pPr lvl="1"/>
            <a:r>
              <a:rPr lang="zh-CN" altLang="en-US" dirty="0"/>
              <a:t>收敛：就是在自治系统中所有的结点都得到正确的路由选择信息的过程</a:t>
            </a:r>
          </a:p>
        </p:txBody>
      </p:sp>
    </p:spTree>
    <p:extLst>
      <p:ext uri="{BB962C8B-B14F-4D97-AF65-F5344CB8AC3E}">
        <p14:creationId xmlns:p14="http://schemas.microsoft.com/office/powerpoint/2010/main" val="8108327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B155928-6077-9203-56A5-D511658576C7}"/>
              </a:ext>
            </a:extLst>
          </p:cNvPr>
          <p:cNvSpPr>
            <a:spLocks noGrp="1"/>
          </p:cNvSpPr>
          <p:nvPr>
            <p:ph type="title"/>
          </p:nvPr>
        </p:nvSpPr>
        <p:spPr>
          <a:xfrm>
            <a:off x="486000" y="550723"/>
            <a:ext cx="8172000" cy="338554"/>
          </a:xfrm>
        </p:spPr>
        <p:txBody>
          <a:bodyPr/>
          <a:lstStyle/>
          <a:p>
            <a:r>
              <a:rPr lang="zh-CN" altLang="en-US" dirty="0"/>
              <a:t>路由表主要信息和更新规则</a:t>
            </a:r>
          </a:p>
        </p:txBody>
      </p:sp>
      <p:sp>
        <p:nvSpPr>
          <p:cNvPr id="4" name="内容占位符 3">
            <a:extLst>
              <a:ext uri="{FF2B5EF4-FFF2-40B4-BE49-F238E27FC236}">
                <a16:creationId xmlns:a16="http://schemas.microsoft.com/office/drawing/2014/main" id="{76B968A9-B704-AE2E-6CB0-ECE16CCC4C73}"/>
              </a:ext>
            </a:extLst>
          </p:cNvPr>
          <p:cNvSpPr>
            <a:spLocks noGrp="1"/>
          </p:cNvSpPr>
          <p:nvPr>
            <p:ph sz="quarter" idx="11"/>
          </p:nvPr>
        </p:nvSpPr>
        <p:spPr>
          <a:xfrm>
            <a:off x="486000" y="900000"/>
            <a:ext cx="8172000" cy="3703500"/>
          </a:xfrm>
        </p:spPr>
        <p:txBody>
          <a:bodyPr/>
          <a:lstStyle/>
          <a:p>
            <a:r>
              <a:rPr lang="zh-CN" altLang="en-US" dirty="0"/>
              <a:t>路由表主要信息：</a:t>
            </a:r>
            <a:endParaRPr lang="en-US" altLang="zh-CN" dirty="0"/>
          </a:p>
          <a:p>
            <a:endParaRPr lang="en-US" altLang="zh-CN" dirty="0"/>
          </a:p>
          <a:p>
            <a:endParaRPr lang="en-US" altLang="zh-CN" dirty="0"/>
          </a:p>
          <a:p>
            <a:endParaRPr lang="en-US" altLang="zh-CN" dirty="0"/>
          </a:p>
          <a:p>
            <a:endParaRPr lang="en-US" altLang="zh-CN" dirty="0"/>
          </a:p>
          <a:p>
            <a:endParaRPr lang="en-US" altLang="zh-CN" dirty="0"/>
          </a:p>
          <a:p>
            <a:r>
              <a:rPr lang="zh-CN" altLang="en-US" dirty="0"/>
              <a:t>路由表更新规则：</a:t>
            </a:r>
            <a:endParaRPr lang="en-US" altLang="zh-CN" dirty="0"/>
          </a:p>
          <a:p>
            <a:pPr lvl="1"/>
            <a:r>
              <a:rPr lang="zh-CN" altLang="en-US" dirty="0"/>
              <a:t>使用距离向量算法找出到达每个目的网络的最短距离。</a:t>
            </a:r>
          </a:p>
          <a:p>
            <a:endParaRPr lang="zh-CN" altLang="en-US" dirty="0"/>
          </a:p>
        </p:txBody>
      </p:sp>
      <p:graphicFrame>
        <p:nvGraphicFramePr>
          <p:cNvPr id="10" name="表格 9"/>
          <p:cNvGraphicFramePr>
            <a:graphicFrameLocks noGrp="1"/>
          </p:cNvGraphicFramePr>
          <p:nvPr>
            <p:extLst>
              <p:ext uri="{D42A27DB-BD31-4B8C-83A1-F6EECF244321}">
                <p14:modId xmlns:p14="http://schemas.microsoft.com/office/powerpoint/2010/main" val="2200455562"/>
              </p:ext>
            </p:extLst>
          </p:nvPr>
        </p:nvGraphicFramePr>
        <p:xfrm>
          <a:off x="1413164" y="1314183"/>
          <a:ext cx="6096000" cy="1219200"/>
        </p:xfrm>
        <a:graphic>
          <a:graphicData uri="http://schemas.openxmlformats.org/drawingml/2006/table">
            <a:tbl>
              <a:tblPr firstRow="1" bandRow="1">
                <a:tableStyleId>{7DF18680-E054-41AD-8BC1-D1AEF772440D}</a:tableStyleId>
              </a:tblPr>
              <a:tblGrid>
                <a:gridCol w="2032000">
                  <a:extLst>
                    <a:ext uri="{9D8B030D-6E8A-4147-A177-3AD203B41FA5}">
                      <a16:colId xmlns:a16="http://schemas.microsoft.com/office/drawing/2014/main" val="4066635892"/>
                    </a:ext>
                  </a:extLst>
                </a:gridCol>
                <a:gridCol w="2032000">
                  <a:extLst>
                    <a:ext uri="{9D8B030D-6E8A-4147-A177-3AD203B41FA5}">
                      <a16:colId xmlns:a16="http://schemas.microsoft.com/office/drawing/2014/main" val="2958364535"/>
                    </a:ext>
                  </a:extLst>
                </a:gridCol>
                <a:gridCol w="2032000">
                  <a:extLst>
                    <a:ext uri="{9D8B030D-6E8A-4147-A177-3AD203B41FA5}">
                      <a16:colId xmlns:a16="http://schemas.microsoft.com/office/drawing/2014/main" val="3111467422"/>
                    </a:ext>
                  </a:extLst>
                </a:gridCol>
              </a:tblGrid>
              <a:tr h="283008">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目的网络</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距离（最短）</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下一跳地址</a:t>
                      </a:r>
                    </a:p>
                  </a:txBody>
                  <a:tcPr anchor="ctr"/>
                </a:tc>
                <a:extLst>
                  <a:ext uri="{0D108BD9-81ED-4DB2-BD59-A6C34878D82A}">
                    <a16:rowId xmlns:a16="http://schemas.microsoft.com/office/drawing/2014/main" val="687519655"/>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01858409"/>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888851160"/>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02472287"/>
                  </a:ext>
                </a:extLst>
              </a:tr>
            </a:tbl>
          </a:graphicData>
        </a:graphic>
      </p:graphicFrame>
    </p:spTree>
    <p:extLst>
      <p:ext uri="{BB962C8B-B14F-4D97-AF65-F5344CB8AC3E}">
        <p14:creationId xmlns:p14="http://schemas.microsoft.com/office/powerpoint/2010/main" val="4865856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形 4" descr="时钟">
            <a:extLst>
              <a:ext uri="{FF2B5EF4-FFF2-40B4-BE49-F238E27FC236}">
                <a16:creationId xmlns:a16="http://schemas.microsoft.com/office/drawing/2014/main" id="{BF905D22-38E0-1718-E430-B82E85F15A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10878" y="1893557"/>
            <a:ext cx="360000" cy="360000"/>
          </a:xfrm>
          <a:prstGeom prst="rect">
            <a:avLst/>
          </a:prstGeom>
        </p:spPr>
      </p:pic>
      <p:sp>
        <p:nvSpPr>
          <p:cNvPr id="6" name="文本框 5">
            <a:extLst>
              <a:ext uri="{FF2B5EF4-FFF2-40B4-BE49-F238E27FC236}">
                <a16:creationId xmlns:a16="http://schemas.microsoft.com/office/drawing/2014/main" id="{9C0A600A-AF56-40E3-C51F-0394BBF55D52}"/>
              </a:ext>
            </a:extLst>
          </p:cNvPr>
          <p:cNvSpPr txBox="1"/>
          <p:nvPr/>
        </p:nvSpPr>
        <p:spPr>
          <a:xfrm>
            <a:off x="3469589" y="1842725"/>
            <a:ext cx="800219" cy="461665"/>
          </a:xfrm>
          <a:prstGeom prst="rect">
            <a:avLst/>
          </a:prstGeom>
          <a:noFill/>
        </p:spPr>
        <p:txBody>
          <a:bodyPr wrap="none" rtlCol="0">
            <a:spAutoFit/>
          </a:bodyPr>
          <a:lstStyle/>
          <a:p>
            <a:r>
              <a:rPr lang="en-US" altLang="zh-CN" sz="1200" kern="100" dirty="0">
                <a:latin typeface="Montserrat" panose="00000500000000000000" pitchFamily="2" charset="0"/>
                <a:ea typeface="微软雅黑 Light" panose="020B0502040204020203" pitchFamily="34" charset="-122"/>
                <a:cs typeface="Times New Roman" panose="02020603050405020304" pitchFamily="18" charset="0"/>
              </a:rPr>
              <a:t>0s</a:t>
            </a:r>
          </a:p>
          <a:p>
            <a:r>
              <a:rPr lang="zh-CN" altLang="en-US" sz="1200" kern="100" dirty="0">
                <a:latin typeface="Montserrat" panose="00000500000000000000" pitchFamily="2" charset="0"/>
                <a:ea typeface="微软雅黑 Light" panose="020B0502040204020203" pitchFamily="34" charset="-122"/>
                <a:cs typeface="Times New Roman" panose="02020603050405020304" pitchFamily="18" charset="0"/>
              </a:rPr>
              <a:t>有效路由</a:t>
            </a:r>
          </a:p>
        </p:txBody>
      </p:sp>
      <p:pic>
        <p:nvPicPr>
          <p:cNvPr id="9" name="图形 8" descr="时钟">
            <a:extLst>
              <a:ext uri="{FF2B5EF4-FFF2-40B4-BE49-F238E27FC236}">
                <a16:creationId xmlns:a16="http://schemas.microsoft.com/office/drawing/2014/main" id="{181BF919-4C88-185A-139A-47C79E73595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10878" y="2525584"/>
            <a:ext cx="360000" cy="360000"/>
          </a:xfrm>
          <a:prstGeom prst="rect">
            <a:avLst/>
          </a:prstGeom>
        </p:spPr>
      </p:pic>
      <p:sp>
        <p:nvSpPr>
          <p:cNvPr id="10" name="文本框 9">
            <a:extLst>
              <a:ext uri="{FF2B5EF4-FFF2-40B4-BE49-F238E27FC236}">
                <a16:creationId xmlns:a16="http://schemas.microsoft.com/office/drawing/2014/main" id="{19D4A10C-A69B-9811-8A7D-3158CAFF6D17}"/>
              </a:ext>
            </a:extLst>
          </p:cNvPr>
          <p:cNvSpPr txBox="1"/>
          <p:nvPr/>
        </p:nvSpPr>
        <p:spPr>
          <a:xfrm>
            <a:off x="3469589" y="2474752"/>
            <a:ext cx="1723549" cy="461665"/>
          </a:xfrm>
          <a:prstGeom prst="rect">
            <a:avLst/>
          </a:prstGeom>
          <a:noFill/>
        </p:spPr>
        <p:txBody>
          <a:bodyPr wrap="none" rtlCol="0">
            <a:spAutoFit/>
          </a:bodyPr>
          <a:lstStyle/>
          <a:p>
            <a:r>
              <a:rPr lang="en-US" altLang="zh-CN" sz="1200" kern="100" dirty="0">
                <a:latin typeface="Montserrat" panose="00000500000000000000" pitchFamily="2" charset="0"/>
                <a:ea typeface="微软雅黑 Light" panose="020B0502040204020203" pitchFamily="34" charset="-122"/>
                <a:cs typeface="Times New Roman" panose="02020603050405020304" pitchFamily="18" charset="0"/>
              </a:rPr>
              <a:t>180s</a:t>
            </a:r>
          </a:p>
          <a:p>
            <a:r>
              <a:rPr lang="zh-CN" altLang="en-US" sz="1200" kern="100" dirty="0">
                <a:latin typeface="Montserrat" panose="00000500000000000000" pitchFamily="2" charset="0"/>
                <a:ea typeface="微软雅黑 Light" panose="020B0502040204020203" pitchFamily="34" charset="-122"/>
                <a:cs typeface="Times New Roman" panose="02020603050405020304" pitchFamily="18" charset="0"/>
              </a:rPr>
              <a:t>标记为无效；仍然广播</a:t>
            </a:r>
          </a:p>
        </p:txBody>
      </p:sp>
      <p:pic>
        <p:nvPicPr>
          <p:cNvPr id="14" name="图形 13" descr="时钟">
            <a:extLst>
              <a:ext uri="{FF2B5EF4-FFF2-40B4-BE49-F238E27FC236}">
                <a16:creationId xmlns:a16="http://schemas.microsoft.com/office/drawing/2014/main" id="{5D6E787C-7AB5-8A09-1AA4-4D13CF97A26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10878" y="3157610"/>
            <a:ext cx="360000" cy="360000"/>
          </a:xfrm>
          <a:prstGeom prst="rect">
            <a:avLst/>
          </a:prstGeom>
        </p:spPr>
      </p:pic>
      <p:sp>
        <p:nvSpPr>
          <p:cNvPr id="15" name="文本框 14">
            <a:extLst>
              <a:ext uri="{FF2B5EF4-FFF2-40B4-BE49-F238E27FC236}">
                <a16:creationId xmlns:a16="http://schemas.microsoft.com/office/drawing/2014/main" id="{D1264B95-9276-67D8-3182-2D48C85BE2C5}"/>
              </a:ext>
            </a:extLst>
          </p:cNvPr>
          <p:cNvSpPr txBox="1"/>
          <p:nvPr/>
        </p:nvSpPr>
        <p:spPr>
          <a:xfrm>
            <a:off x="3469589" y="3106778"/>
            <a:ext cx="551754" cy="461665"/>
          </a:xfrm>
          <a:prstGeom prst="rect">
            <a:avLst/>
          </a:prstGeom>
          <a:noFill/>
        </p:spPr>
        <p:txBody>
          <a:bodyPr wrap="none" rtlCol="0">
            <a:spAutoFit/>
          </a:bodyPr>
          <a:lstStyle/>
          <a:p>
            <a:r>
              <a:rPr lang="en-US" altLang="zh-CN" sz="1200" kern="100" dirty="0">
                <a:latin typeface="Montserrat" panose="00000500000000000000" pitchFamily="2" charset="0"/>
                <a:ea typeface="微软雅黑 Light" panose="020B0502040204020203" pitchFamily="34" charset="-122"/>
                <a:cs typeface="Times New Roman" panose="02020603050405020304" pitchFamily="18" charset="0"/>
              </a:rPr>
              <a:t>300s</a:t>
            </a:r>
          </a:p>
          <a:p>
            <a:r>
              <a:rPr lang="zh-CN" altLang="en-US" sz="1200" kern="100" dirty="0">
                <a:latin typeface="Montserrat" panose="00000500000000000000" pitchFamily="2" charset="0"/>
                <a:ea typeface="微软雅黑 Light" panose="020B0502040204020203" pitchFamily="34" charset="-122"/>
                <a:cs typeface="Times New Roman" panose="02020603050405020304" pitchFamily="18" charset="0"/>
              </a:rPr>
              <a:t>删除</a:t>
            </a:r>
          </a:p>
        </p:txBody>
      </p:sp>
      <p:cxnSp>
        <p:nvCxnSpPr>
          <p:cNvPr id="17" name="直接箭头连接符 16">
            <a:extLst>
              <a:ext uri="{FF2B5EF4-FFF2-40B4-BE49-F238E27FC236}">
                <a16:creationId xmlns:a16="http://schemas.microsoft.com/office/drawing/2014/main" id="{46B8C33F-70A3-80C4-0ED4-C61EE6A349DA}"/>
              </a:ext>
            </a:extLst>
          </p:cNvPr>
          <p:cNvCxnSpPr>
            <a:cxnSpLocks/>
            <a:stCxn id="5" idx="2"/>
            <a:endCxn id="9" idx="0"/>
          </p:cNvCxnSpPr>
          <p:nvPr/>
        </p:nvCxnSpPr>
        <p:spPr>
          <a:xfrm>
            <a:off x="3290878" y="2253557"/>
            <a:ext cx="0" cy="272027"/>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511DFC81-B022-1C13-2759-DD7FC7BA1076}"/>
              </a:ext>
            </a:extLst>
          </p:cNvPr>
          <p:cNvCxnSpPr>
            <a:cxnSpLocks/>
            <a:stCxn id="9" idx="2"/>
            <a:endCxn id="14" idx="0"/>
          </p:cNvCxnSpPr>
          <p:nvPr/>
        </p:nvCxnSpPr>
        <p:spPr>
          <a:xfrm>
            <a:off x="3290878" y="2885584"/>
            <a:ext cx="0" cy="27202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30780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40769E1-E7DD-8608-D6D5-747FAE025745}"/>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8" name="内容占位符 7">
            <a:extLst>
              <a:ext uri="{FF2B5EF4-FFF2-40B4-BE49-F238E27FC236}">
                <a16:creationId xmlns:a16="http://schemas.microsoft.com/office/drawing/2014/main" id="{AC87D980-CA69-D619-845D-7DC0C9B664C4}"/>
              </a:ext>
            </a:extLst>
          </p:cNvPr>
          <p:cNvSpPr>
            <a:spLocks noGrp="1"/>
          </p:cNvSpPr>
          <p:nvPr>
            <p:ph sz="quarter" idx="11"/>
          </p:nvPr>
        </p:nvSpPr>
        <p:spPr>
          <a:xfrm>
            <a:off x="486000" y="900000"/>
            <a:ext cx="8172000" cy="3703500"/>
          </a:xfrm>
        </p:spPr>
        <p:txBody>
          <a:bodyPr/>
          <a:lstStyle/>
          <a:p>
            <a:r>
              <a:rPr lang="zh-CN" altLang="en-US" dirty="0"/>
              <a:t>对每个相邻路由器（假设其地址为 </a:t>
            </a:r>
            <a:r>
              <a:rPr lang="en-US" altLang="zh-CN" dirty="0"/>
              <a:t>X</a:t>
            </a:r>
            <a:r>
              <a:rPr lang="zh-CN" altLang="en-US" dirty="0"/>
              <a:t>）发送过来的 </a:t>
            </a:r>
            <a:r>
              <a:rPr lang="en-US" altLang="zh-CN" dirty="0"/>
              <a:t>RIP </a:t>
            </a:r>
            <a:r>
              <a:rPr lang="zh-CN" altLang="en-US" dirty="0"/>
              <a:t>报文，路由器：</a:t>
            </a:r>
          </a:p>
          <a:p>
            <a:r>
              <a:rPr lang="en-US" altLang="zh-CN" dirty="0"/>
              <a:t>(1) </a:t>
            </a:r>
            <a:r>
              <a:rPr lang="zh-CN" altLang="en-US" dirty="0"/>
              <a:t>修改 </a:t>
            </a:r>
            <a:r>
              <a:rPr lang="en-US" altLang="zh-CN" dirty="0"/>
              <a:t>RIP </a:t>
            </a:r>
            <a:r>
              <a:rPr lang="zh-CN" altLang="en-US" dirty="0"/>
              <a:t>报文中的所有项目：把“下一跳”字段中的地址都改为 </a:t>
            </a:r>
            <a:r>
              <a:rPr lang="en-US" altLang="zh-CN" dirty="0"/>
              <a:t>X</a:t>
            </a:r>
            <a:r>
              <a:rPr lang="zh-CN" altLang="en-US" dirty="0"/>
              <a:t>，并把所有的距离字段的值加 </a:t>
            </a:r>
            <a:r>
              <a:rPr lang="en-US" altLang="zh-CN" dirty="0"/>
              <a:t>1</a:t>
            </a:r>
            <a:endParaRPr lang="zh-CN" altLang="en-US" dirty="0"/>
          </a:p>
          <a:p>
            <a:r>
              <a:rPr lang="en-US" altLang="zh-CN" dirty="0"/>
              <a:t>(2) </a:t>
            </a:r>
            <a:r>
              <a:rPr lang="zh-CN" altLang="en-US" dirty="0"/>
              <a:t>对修改后的 </a:t>
            </a:r>
            <a:r>
              <a:rPr lang="en-US" altLang="zh-CN" dirty="0"/>
              <a:t>RIP </a:t>
            </a:r>
            <a:r>
              <a:rPr lang="zh-CN" altLang="en-US" dirty="0"/>
              <a:t>报文中的每一个项目，重复以下步骤：</a:t>
            </a:r>
            <a:endParaRPr lang="en-US" altLang="zh-CN" dirty="0"/>
          </a:p>
          <a:p>
            <a:pPr lvl="1"/>
            <a:r>
              <a:rPr lang="zh-CN" altLang="en-US" dirty="0"/>
              <a:t>若路由表中没有目的网络</a:t>
            </a:r>
            <a:r>
              <a:rPr lang="en-US" altLang="zh-CN" dirty="0"/>
              <a:t>N</a:t>
            </a:r>
            <a:r>
              <a:rPr lang="zh-CN" altLang="en-US" dirty="0"/>
              <a:t>，则把该项目添加到路由表中。否则</a:t>
            </a:r>
            <a:endParaRPr lang="en-US" altLang="zh-CN" dirty="0"/>
          </a:p>
          <a:p>
            <a:pPr lvl="1"/>
            <a:r>
              <a:rPr lang="zh-CN" altLang="en-US" dirty="0"/>
              <a:t>若路由表中网络 </a:t>
            </a:r>
            <a:r>
              <a:rPr lang="en-US" altLang="zh-CN" dirty="0"/>
              <a:t>N </a:t>
            </a:r>
            <a:r>
              <a:rPr lang="zh-CN" altLang="en-US" dirty="0"/>
              <a:t>的下一跳路由器为 </a:t>
            </a:r>
            <a:r>
              <a:rPr lang="en-US" altLang="zh-CN" dirty="0"/>
              <a:t>X</a:t>
            </a:r>
            <a:r>
              <a:rPr lang="zh-CN" altLang="en-US" dirty="0"/>
              <a:t>，则用收到的项目替换原路由表中的项目。否则</a:t>
            </a:r>
            <a:endParaRPr lang="en-US" altLang="zh-CN" dirty="0"/>
          </a:p>
          <a:p>
            <a:pPr lvl="1"/>
            <a:r>
              <a:rPr lang="zh-CN" altLang="en-US" dirty="0"/>
              <a:t>若收到项目中的距离小于路由表中的距离，则用收到项目更新原路由表中的项目。否则</a:t>
            </a:r>
            <a:endParaRPr lang="en-US" altLang="zh-CN" dirty="0"/>
          </a:p>
          <a:p>
            <a:pPr lvl="1"/>
            <a:r>
              <a:rPr lang="zh-CN" altLang="en-US" dirty="0"/>
              <a:t>什么也不做</a:t>
            </a:r>
          </a:p>
          <a:p>
            <a:r>
              <a:rPr lang="en-US" altLang="zh-CN" dirty="0"/>
              <a:t>(3) </a:t>
            </a:r>
            <a:r>
              <a:rPr lang="zh-CN" altLang="en-US" dirty="0"/>
              <a:t>若 </a:t>
            </a:r>
            <a:r>
              <a:rPr lang="en-US" altLang="zh-CN" dirty="0"/>
              <a:t>3 </a:t>
            </a:r>
            <a:r>
              <a:rPr lang="zh-CN" altLang="en-US" dirty="0"/>
              <a:t>分钟还未收到相邻路由器的更新路由表，则把此相邻路由器记为不可达路由器，即将距离置为 </a:t>
            </a:r>
            <a:r>
              <a:rPr lang="en-US" altLang="zh-CN" dirty="0"/>
              <a:t>16</a:t>
            </a:r>
            <a:r>
              <a:rPr lang="zh-CN" altLang="en-US" dirty="0"/>
              <a:t>（表示不可达）</a:t>
            </a:r>
          </a:p>
          <a:p>
            <a:r>
              <a:rPr lang="en-US" altLang="zh-CN" dirty="0"/>
              <a:t>(4) </a:t>
            </a:r>
            <a:r>
              <a:rPr lang="zh-CN" altLang="en-US" dirty="0"/>
              <a:t>返回</a:t>
            </a:r>
          </a:p>
        </p:txBody>
      </p:sp>
    </p:spTree>
    <p:extLst>
      <p:ext uri="{BB962C8B-B14F-4D97-AF65-F5344CB8AC3E}">
        <p14:creationId xmlns:p14="http://schemas.microsoft.com/office/powerpoint/2010/main" val="47950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2726509" y="2981560"/>
            <a:ext cx="3480976" cy="670591"/>
            <a:chOff x="2488044" y="3332202"/>
            <a:chExt cx="3480976" cy="670591"/>
          </a:xfrm>
        </p:grpSpPr>
        <p:cxnSp>
          <p:nvCxnSpPr>
            <p:cNvPr id="9" name="直接连接符 8"/>
            <p:cNvCxnSpPr/>
            <p:nvPr/>
          </p:nvCxnSpPr>
          <p:spPr>
            <a:xfrm>
              <a:off x="2530761" y="4002793"/>
              <a:ext cx="3438259" cy="0"/>
            </a:xfrm>
            <a:prstGeom prst="line">
              <a:avLst/>
            </a:prstGeom>
            <a:ln w="38100">
              <a:solidFill>
                <a:srgbClr val="CC0099"/>
              </a:solidFill>
            </a:ln>
          </p:spPr>
          <p:style>
            <a:lnRef idx="1">
              <a:schemeClr val="dk1"/>
            </a:lnRef>
            <a:fillRef idx="0">
              <a:schemeClr val="dk1"/>
            </a:fillRef>
            <a:effectRef idx="0">
              <a:schemeClr val="dk1"/>
            </a:effectRef>
            <a:fontRef idx="minor">
              <a:schemeClr val="tx1"/>
            </a:fontRef>
          </p:style>
        </p:cxnSp>
        <p:sp>
          <p:nvSpPr>
            <p:cNvPr id="10" name="右大括号 9"/>
            <p:cNvSpPr/>
            <p:nvPr/>
          </p:nvSpPr>
          <p:spPr>
            <a:xfrm rot="16200000" flipV="1">
              <a:off x="4106156" y="2032715"/>
              <a:ext cx="202035" cy="3438259"/>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11" name="文本框 10"/>
            <p:cNvSpPr txBox="1"/>
            <p:nvPr/>
          </p:nvSpPr>
          <p:spPr>
            <a:xfrm>
              <a:off x="3701007" y="3332202"/>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17" name="椭圆 16"/>
          <p:cNvSpPr/>
          <p:nvPr/>
        </p:nvSpPr>
        <p:spPr>
          <a:xfrm>
            <a:off x="2861611" y="2828453"/>
            <a:ext cx="404068" cy="404068"/>
          </a:xfrm>
          <a:prstGeom prst="ellipse">
            <a:avLst/>
          </a:prstGeom>
          <a:solidFill>
            <a:schemeClr val="accent1">
              <a:lumMod val="40000"/>
              <a:lumOff val="60000"/>
            </a:schemeClr>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Z</a:t>
            </a:r>
            <a:endParaRPr lang="zh-CN" altLang="en-US" b="1" dirty="0">
              <a:solidFill>
                <a:schemeClr val="tx1"/>
              </a:solidFill>
              <a:latin typeface="微软雅黑" panose="020B0503020204020204" pitchFamily="34" charset="-122"/>
              <a:ea typeface="微软雅黑" panose="020B0503020204020204" pitchFamily="34" charset="-122"/>
            </a:endParaRPr>
          </a:p>
        </p:txBody>
      </p:sp>
      <p:cxnSp>
        <p:nvCxnSpPr>
          <p:cNvPr id="18" name="直接连接符 17"/>
          <p:cNvCxnSpPr>
            <a:stCxn id="5" idx="0"/>
            <a:endCxn id="17" idx="3"/>
          </p:cNvCxnSpPr>
          <p:nvPr/>
        </p:nvCxnSpPr>
        <p:spPr>
          <a:xfrm flipV="1">
            <a:off x="2507156" y="3173347"/>
            <a:ext cx="413629" cy="253677"/>
          </a:xfrm>
          <a:prstGeom prst="line">
            <a:avLst/>
          </a:prstGeom>
          <a:ln w="19050">
            <a:solidFill>
              <a:srgbClr val="0000FF"/>
            </a:solidFill>
            <a:prstDash val="sysDash"/>
          </a:ln>
        </p:spPr>
        <p:style>
          <a:lnRef idx="1">
            <a:schemeClr val="dk1"/>
          </a:lnRef>
          <a:fillRef idx="0">
            <a:schemeClr val="dk1"/>
          </a:fillRef>
          <a:effectRef idx="0">
            <a:schemeClr val="dk1"/>
          </a:effectRef>
          <a:fontRef idx="minor">
            <a:schemeClr val="tx1"/>
          </a:fontRef>
        </p:style>
      </p:cxnSp>
      <p:grpSp>
        <p:nvGrpSpPr>
          <p:cNvPr id="29" name="组合 28"/>
          <p:cNvGrpSpPr/>
          <p:nvPr/>
        </p:nvGrpSpPr>
        <p:grpSpPr>
          <a:xfrm>
            <a:off x="2706532" y="3728368"/>
            <a:ext cx="1379246" cy="608079"/>
            <a:chOff x="2468067" y="4079010"/>
            <a:chExt cx="1379246" cy="608079"/>
          </a:xfrm>
        </p:grpSpPr>
        <p:cxnSp>
          <p:nvCxnSpPr>
            <p:cNvPr id="12" name="直接连接符 11"/>
            <p:cNvCxnSpPr/>
            <p:nvPr/>
          </p:nvCxnSpPr>
          <p:spPr>
            <a:xfrm>
              <a:off x="2468067" y="4079010"/>
              <a:ext cx="1379246" cy="0"/>
            </a:xfrm>
            <a:prstGeom prst="line">
              <a:avLst/>
            </a:prstGeom>
            <a:ln w="38100">
              <a:solidFill>
                <a:srgbClr val="0000FF"/>
              </a:solidFill>
            </a:ln>
          </p:spPr>
          <p:style>
            <a:lnRef idx="1">
              <a:schemeClr val="dk1"/>
            </a:lnRef>
            <a:fillRef idx="0">
              <a:schemeClr val="dk1"/>
            </a:fillRef>
            <a:effectRef idx="0">
              <a:schemeClr val="dk1"/>
            </a:effectRef>
            <a:fontRef idx="minor">
              <a:schemeClr val="tx1"/>
            </a:fontRef>
          </p:style>
        </p:cxnSp>
        <p:sp>
          <p:nvSpPr>
            <p:cNvPr id="24" name="右大括号 23"/>
            <p:cNvSpPr/>
            <p:nvPr/>
          </p:nvSpPr>
          <p:spPr>
            <a:xfrm rot="5400000">
              <a:off x="3066283" y="3621244"/>
              <a:ext cx="158583" cy="1315062"/>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5" name="文本框 24"/>
            <p:cNvSpPr txBox="1"/>
            <p:nvPr/>
          </p:nvSpPr>
          <p:spPr>
            <a:xfrm>
              <a:off x="2654988"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grpSp>
        <p:nvGrpSpPr>
          <p:cNvPr id="30" name="组合 29"/>
          <p:cNvGrpSpPr/>
          <p:nvPr/>
        </p:nvGrpSpPr>
        <p:grpSpPr>
          <a:xfrm>
            <a:off x="4316583" y="3728368"/>
            <a:ext cx="1971268" cy="608079"/>
            <a:chOff x="4078118" y="4079010"/>
            <a:chExt cx="1971268" cy="608079"/>
          </a:xfrm>
        </p:grpSpPr>
        <p:cxnSp>
          <p:nvCxnSpPr>
            <p:cNvPr id="15" name="直接连接符 14"/>
            <p:cNvCxnSpPr/>
            <p:nvPr/>
          </p:nvCxnSpPr>
          <p:spPr>
            <a:xfrm>
              <a:off x="4078118" y="4079010"/>
              <a:ext cx="1971268" cy="0"/>
            </a:xfrm>
            <a:prstGeom prst="line">
              <a:avLst/>
            </a:prstGeom>
            <a:ln w="38100">
              <a:solidFill>
                <a:srgbClr val="993300"/>
              </a:solidFill>
            </a:ln>
          </p:spPr>
          <p:style>
            <a:lnRef idx="1">
              <a:schemeClr val="dk1"/>
            </a:lnRef>
            <a:fillRef idx="0">
              <a:schemeClr val="dk1"/>
            </a:fillRef>
            <a:effectRef idx="0">
              <a:schemeClr val="dk1"/>
            </a:effectRef>
            <a:fontRef idx="minor">
              <a:schemeClr val="tx1"/>
            </a:fontRef>
          </p:style>
        </p:cxnSp>
        <p:sp>
          <p:nvSpPr>
            <p:cNvPr id="26" name="右大括号 25"/>
            <p:cNvSpPr/>
            <p:nvPr/>
          </p:nvSpPr>
          <p:spPr>
            <a:xfrm rot="5400000">
              <a:off x="5002603" y="3382121"/>
              <a:ext cx="149052" cy="1783781"/>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7" name="文本框 26"/>
            <p:cNvSpPr txBox="1"/>
            <p:nvPr/>
          </p:nvSpPr>
          <p:spPr>
            <a:xfrm>
              <a:off x="4536910"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5" name="椭圆 4"/>
          <p:cNvSpPr/>
          <p:nvPr/>
        </p:nvSpPr>
        <p:spPr>
          <a:xfrm>
            <a:off x="22450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A</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6" name="椭圆 5"/>
          <p:cNvSpPr/>
          <p:nvPr/>
        </p:nvSpPr>
        <p:spPr>
          <a:xfrm>
            <a:off x="62074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B</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7" name="椭圆 6"/>
          <p:cNvSpPr/>
          <p:nvPr/>
        </p:nvSpPr>
        <p:spPr>
          <a:xfrm>
            <a:off x="4041571" y="3487060"/>
            <a:ext cx="404068" cy="404068"/>
          </a:xfrm>
          <a:prstGeom prst="ellipse">
            <a:avLst/>
          </a:prstGeom>
          <a:solidFill>
            <a:srgbClr val="FFFF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X</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16" name="标题 15">
            <a:extLst>
              <a:ext uri="{FF2B5EF4-FFF2-40B4-BE49-F238E27FC236}">
                <a16:creationId xmlns:a16="http://schemas.microsoft.com/office/drawing/2014/main" id="{8EE5D33E-A0C8-D975-7AD8-55A6C84E7FF6}"/>
              </a:ext>
            </a:extLst>
          </p:cNvPr>
          <p:cNvSpPr>
            <a:spLocks noGrp="1"/>
          </p:cNvSpPr>
          <p:nvPr>
            <p:ph type="title"/>
          </p:nvPr>
        </p:nvSpPr>
        <p:spPr>
          <a:xfrm>
            <a:off x="486000" y="550723"/>
            <a:ext cx="8172000" cy="338554"/>
          </a:xfrm>
        </p:spPr>
        <p:txBody>
          <a:bodyPr/>
          <a:lstStyle/>
          <a:p>
            <a:r>
              <a:rPr lang="en-US" altLang="zh-CN" dirty="0"/>
              <a:t>2. </a:t>
            </a:r>
            <a:r>
              <a:rPr lang="zh-CN" altLang="en-US" dirty="0"/>
              <a:t>距离向量算法</a:t>
            </a:r>
          </a:p>
        </p:txBody>
      </p:sp>
      <p:sp>
        <p:nvSpPr>
          <p:cNvPr id="13" name="内容占位符 12">
            <a:extLst>
              <a:ext uri="{FF2B5EF4-FFF2-40B4-BE49-F238E27FC236}">
                <a16:creationId xmlns:a16="http://schemas.microsoft.com/office/drawing/2014/main" id="{81B552A7-0A5C-1826-CE39-F3F96768799F}"/>
              </a:ext>
            </a:extLst>
          </p:cNvPr>
          <p:cNvSpPr>
            <a:spLocks noGrp="1"/>
          </p:cNvSpPr>
          <p:nvPr>
            <p:ph sz="quarter" idx="11"/>
          </p:nvPr>
        </p:nvSpPr>
        <p:spPr>
          <a:xfrm>
            <a:off x="486000" y="900000"/>
            <a:ext cx="8172000" cy="3703500"/>
          </a:xfrm>
        </p:spPr>
        <p:txBody>
          <a:bodyPr/>
          <a:lstStyle/>
          <a:p>
            <a:r>
              <a:rPr lang="zh-CN" altLang="en-US" dirty="0"/>
              <a:t>算法基础：</a:t>
            </a:r>
            <a:endParaRPr lang="en-US" altLang="zh-CN" dirty="0"/>
          </a:p>
          <a:p>
            <a:pPr lvl="1"/>
            <a:r>
              <a:rPr lang="en-US" altLang="zh-CN" dirty="0"/>
              <a:t>Bellman-Ford </a:t>
            </a:r>
            <a:r>
              <a:rPr lang="zh-CN" altLang="en-US" dirty="0"/>
              <a:t>算法（或 </a:t>
            </a:r>
            <a:r>
              <a:rPr lang="en-US" altLang="zh-CN" dirty="0"/>
              <a:t>Ford-Fulkerson </a:t>
            </a:r>
            <a:r>
              <a:rPr lang="zh-CN" altLang="en-US" dirty="0"/>
              <a:t>算法）</a:t>
            </a:r>
            <a:endParaRPr lang="en-US" altLang="zh-CN" dirty="0"/>
          </a:p>
          <a:p>
            <a:r>
              <a:rPr lang="zh-CN" altLang="en-US" dirty="0"/>
              <a:t>算法要点：</a:t>
            </a:r>
          </a:p>
          <a:p>
            <a:pPr lvl="1"/>
            <a:r>
              <a:rPr lang="zh-CN" altLang="en-US" dirty="0"/>
              <a:t>设 </a:t>
            </a:r>
            <a:r>
              <a:rPr lang="en-US" altLang="zh-CN" dirty="0"/>
              <a:t>X </a:t>
            </a:r>
            <a:r>
              <a:rPr lang="zh-CN" altLang="en-US" dirty="0"/>
              <a:t>是结点 </a:t>
            </a:r>
            <a:r>
              <a:rPr lang="en-US" altLang="zh-CN" dirty="0"/>
              <a:t>A </a:t>
            </a:r>
            <a:r>
              <a:rPr lang="zh-CN" altLang="en-US" dirty="0"/>
              <a:t>到 </a:t>
            </a:r>
            <a:r>
              <a:rPr lang="en-US" altLang="zh-CN" dirty="0"/>
              <a:t>B </a:t>
            </a:r>
            <a:r>
              <a:rPr lang="zh-CN" altLang="en-US" dirty="0"/>
              <a:t>的最短路径上的一个结点。</a:t>
            </a:r>
          </a:p>
          <a:p>
            <a:pPr lvl="1"/>
            <a:r>
              <a:rPr lang="zh-CN" altLang="en-US" dirty="0"/>
              <a:t>若把路径 </a:t>
            </a:r>
            <a:r>
              <a:rPr lang="en-US" altLang="zh-CN" dirty="0"/>
              <a:t>A→B </a:t>
            </a:r>
            <a:r>
              <a:rPr lang="zh-CN" altLang="en-US" dirty="0"/>
              <a:t>拆成两段路径 </a:t>
            </a:r>
            <a:r>
              <a:rPr lang="en-US" altLang="zh-CN" dirty="0"/>
              <a:t>A→X </a:t>
            </a:r>
            <a:r>
              <a:rPr lang="zh-CN" altLang="en-US" dirty="0"/>
              <a:t>和 </a:t>
            </a:r>
            <a:r>
              <a:rPr lang="en-US" altLang="zh-CN" dirty="0"/>
              <a:t>X→B</a:t>
            </a:r>
            <a:r>
              <a:rPr lang="zh-CN" altLang="en-US" dirty="0"/>
              <a:t>，则每一段路径 </a:t>
            </a:r>
            <a:r>
              <a:rPr lang="en-US" altLang="zh-CN" dirty="0"/>
              <a:t>A→X </a:t>
            </a:r>
            <a:r>
              <a:rPr lang="zh-CN" altLang="en-US" dirty="0"/>
              <a:t>和 </a:t>
            </a:r>
            <a:r>
              <a:rPr lang="en-US" altLang="zh-CN" dirty="0"/>
              <a:t>X→B </a:t>
            </a:r>
            <a:r>
              <a:rPr lang="zh-CN" altLang="en-US" dirty="0"/>
              <a:t>也都分别是结点 </a:t>
            </a:r>
            <a:r>
              <a:rPr lang="en-US" altLang="zh-CN" dirty="0"/>
              <a:t>A </a:t>
            </a:r>
            <a:r>
              <a:rPr lang="zh-CN" altLang="en-US" dirty="0"/>
              <a:t>到 </a:t>
            </a:r>
            <a:r>
              <a:rPr lang="en-US" altLang="zh-CN" dirty="0"/>
              <a:t>X </a:t>
            </a:r>
            <a:r>
              <a:rPr lang="zh-CN" altLang="en-US" dirty="0"/>
              <a:t>和结点 </a:t>
            </a:r>
            <a:r>
              <a:rPr lang="en-US" altLang="zh-CN" dirty="0"/>
              <a:t>X </a:t>
            </a:r>
            <a:r>
              <a:rPr lang="zh-CN" altLang="en-US" dirty="0"/>
              <a:t>到 </a:t>
            </a:r>
            <a:r>
              <a:rPr lang="en-US" altLang="zh-CN" dirty="0"/>
              <a:t>B </a:t>
            </a:r>
            <a:r>
              <a:rPr lang="zh-CN" altLang="en-US" dirty="0"/>
              <a:t>的最短路径</a:t>
            </a:r>
          </a:p>
          <a:p>
            <a:endParaRPr lang="zh-CN" altLang="en-US" dirty="0"/>
          </a:p>
        </p:txBody>
      </p:sp>
    </p:spTree>
    <p:extLst>
      <p:ext uri="{BB962C8B-B14F-4D97-AF65-F5344CB8AC3E}">
        <p14:creationId xmlns:p14="http://schemas.microsoft.com/office/powerpoint/2010/main" val="7122914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081454" y="723313"/>
            <a:ext cx="6980782" cy="634020"/>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已知路由器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有表 </a:t>
            </a:r>
            <a:r>
              <a:rPr lang="en-US" altLang="zh-CN" sz="1600" b="1" dirty="0">
                <a:solidFill>
                  <a:schemeClr val="bg1"/>
                </a:solidFill>
                <a:latin typeface="微软雅黑" pitchFamily="34" charset="-122"/>
                <a:ea typeface="微软雅黑" pitchFamily="34" charset="-122"/>
              </a:rPr>
              <a:t>4-8(a) </a:t>
            </a:r>
            <a:r>
              <a:rPr lang="zh-CN" altLang="en-US" sz="1600" b="1" dirty="0">
                <a:solidFill>
                  <a:schemeClr val="bg1"/>
                </a:solidFill>
                <a:latin typeface="微软雅黑" pitchFamily="34" charset="-122"/>
                <a:ea typeface="微软雅黑" pitchFamily="34" charset="-122"/>
              </a:rPr>
              <a:t>所示的路由表。现在收到相邻路由器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发来的路由更新信息，如表 </a:t>
            </a:r>
            <a:r>
              <a:rPr lang="en-US" altLang="zh-CN" sz="1600" b="1" dirty="0">
                <a:solidFill>
                  <a:schemeClr val="bg1"/>
                </a:solidFill>
                <a:latin typeface="微软雅黑" pitchFamily="34" charset="-122"/>
                <a:ea typeface="微软雅黑" pitchFamily="34" charset="-122"/>
              </a:rPr>
              <a:t>4-8(b) </a:t>
            </a:r>
            <a:r>
              <a:rPr lang="zh-CN" altLang="en-US" sz="1600" b="1" dirty="0">
                <a:solidFill>
                  <a:schemeClr val="bg1"/>
                </a:solidFill>
                <a:latin typeface="微软雅黑" pitchFamily="34" charset="-122"/>
                <a:ea typeface="微软雅黑" pitchFamily="34" charset="-122"/>
              </a:rPr>
              <a:t>所示。试更新路由器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的路由表。</a:t>
            </a:r>
          </a:p>
        </p:txBody>
      </p:sp>
      <p:graphicFrame>
        <p:nvGraphicFramePr>
          <p:cNvPr id="51" name="表格 50"/>
          <p:cNvGraphicFramePr>
            <a:graphicFrameLocks noGrp="1"/>
          </p:cNvGraphicFramePr>
          <p:nvPr>
            <p:extLst>
              <p:ext uri="{D42A27DB-BD31-4B8C-83A1-F6EECF244321}">
                <p14:modId xmlns:p14="http://schemas.microsoft.com/office/powerpoint/2010/main" val="3916673970"/>
              </p:ext>
            </p:extLst>
          </p:nvPr>
        </p:nvGraphicFramePr>
        <p:xfrm>
          <a:off x="980316"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3</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5" name="矩形 64"/>
          <p:cNvSpPr/>
          <p:nvPr/>
        </p:nvSpPr>
        <p:spPr>
          <a:xfrm>
            <a:off x="1322029" y="1373208"/>
            <a:ext cx="2265364" cy="276999"/>
          </a:xfrm>
          <a:prstGeom prst="rect">
            <a:avLst/>
          </a:prstGeom>
        </p:spPr>
        <p:txBody>
          <a:bodyPr wrap="none">
            <a:spAutoFit/>
          </a:bodyPr>
          <a:lstStyle/>
          <a:p>
            <a:pPr algn="ctr"/>
            <a:r>
              <a:rPr lang="zh-CN" altLang="zh-CN" sz="1200" b="1" dirty="0">
                <a:latin typeface="微软雅黑" pitchFamily="34" charset="-122"/>
                <a:ea typeface="微软雅黑" pitchFamily="34" charset="-122"/>
              </a:rPr>
              <a:t>表</a:t>
            </a:r>
            <a:r>
              <a:rPr lang="en-US" altLang="zh-CN" sz="1200" b="1" dirty="0">
                <a:latin typeface="微软雅黑" pitchFamily="34" charset="-122"/>
                <a:ea typeface="微软雅黑" pitchFamily="34" charset="-122"/>
              </a:rPr>
              <a:t> 4-8(a)  </a:t>
            </a:r>
            <a:r>
              <a:rPr lang="zh-CN" altLang="zh-CN" sz="1200" b="1" dirty="0">
                <a:latin typeface="微软雅黑" pitchFamily="34" charset="-122"/>
                <a:ea typeface="微软雅黑" pitchFamily="34" charset="-122"/>
              </a:rPr>
              <a:t>路由器</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6 </a:t>
            </a:r>
            <a:r>
              <a:rPr lang="zh-CN" altLang="zh-CN" sz="1200" b="1" dirty="0">
                <a:latin typeface="微软雅黑" pitchFamily="34" charset="-122"/>
                <a:ea typeface="微软雅黑" pitchFamily="34" charset="-122"/>
              </a:rPr>
              <a:t>的路由表</a:t>
            </a:r>
            <a:endParaRPr lang="zh-CN" altLang="en-US" sz="1200" b="1" dirty="0">
              <a:latin typeface="微软雅黑" pitchFamily="34" charset="-122"/>
              <a:ea typeface="微软雅黑" pitchFamily="34" charset="-122"/>
            </a:endParaRPr>
          </a:p>
        </p:txBody>
      </p:sp>
      <p:graphicFrame>
        <p:nvGraphicFramePr>
          <p:cNvPr id="66" name="表格 65"/>
          <p:cNvGraphicFramePr>
            <a:graphicFrameLocks noGrp="1"/>
          </p:cNvGraphicFramePr>
          <p:nvPr>
            <p:extLst>
              <p:ext uri="{D42A27DB-BD31-4B8C-83A1-F6EECF244321}">
                <p14:modId xmlns:p14="http://schemas.microsoft.com/office/powerpoint/2010/main" val="4227897987"/>
              </p:ext>
            </p:extLst>
          </p:nvPr>
        </p:nvGraphicFramePr>
        <p:xfrm>
          <a:off x="5258087"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1</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zh-CN" sz="1200" b="1" dirty="0">
                          <a:solidFill>
                            <a:schemeClr val="tx1"/>
                          </a:solidFill>
                          <a:effectLst/>
                          <a:latin typeface="微软雅黑" pitchFamily="34" charset="-122"/>
                          <a:ea typeface="微软雅黑" pitchFamily="34" charset="-122"/>
                        </a:rPr>
                        <a:t>直接交付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7" name="矩形 66"/>
          <p:cNvSpPr/>
          <p:nvPr/>
        </p:nvSpPr>
        <p:spPr>
          <a:xfrm>
            <a:off x="5437897" y="1373208"/>
            <a:ext cx="2589170"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4-8(b)  R4 </a:t>
            </a:r>
            <a:r>
              <a:rPr lang="zh-CN" altLang="en-US" sz="1200" b="1" dirty="0">
                <a:latin typeface="微软雅黑" pitchFamily="34" charset="-122"/>
                <a:ea typeface="微软雅黑" pitchFamily="34" charset="-122"/>
              </a:rPr>
              <a:t>发来的路由更新信息</a:t>
            </a:r>
          </a:p>
        </p:txBody>
      </p:sp>
      <p:graphicFrame>
        <p:nvGraphicFramePr>
          <p:cNvPr id="68" name="表格 67"/>
          <p:cNvGraphicFramePr>
            <a:graphicFrameLocks noGrp="1"/>
          </p:cNvGraphicFramePr>
          <p:nvPr>
            <p:extLst>
              <p:ext uri="{D42A27DB-BD31-4B8C-83A1-F6EECF244321}">
                <p14:modId xmlns:p14="http://schemas.microsoft.com/office/powerpoint/2010/main" val="2582743477"/>
              </p:ext>
            </p:extLst>
          </p:nvPr>
        </p:nvGraphicFramePr>
        <p:xfrm>
          <a:off x="5258087" y="3250629"/>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9" name="矩形 68"/>
          <p:cNvSpPr/>
          <p:nvPr/>
        </p:nvSpPr>
        <p:spPr>
          <a:xfrm>
            <a:off x="5619035" y="2968914"/>
            <a:ext cx="2226893"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4-8(c)  </a:t>
            </a:r>
            <a:r>
              <a:rPr lang="zh-CN" altLang="en-US" sz="1200" b="1" dirty="0">
                <a:latin typeface="微软雅黑" pitchFamily="34" charset="-122"/>
                <a:ea typeface="微软雅黑" pitchFamily="34" charset="-122"/>
              </a:rPr>
              <a:t>修改后的表 </a:t>
            </a:r>
            <a:r>
              <a:rPr lang="en-US" altLang="zh-CN" sz="1200" b="1" dirty="0">
                <a:latin typeface="微软雅黑" pitchFamily="34" charset="-122"/>
                <a:ea typeface="微软雅黑" pitchFamily="34" charset="-122"/>
              </a:rPr>
              <a:t>4-9(b)</a:t>
            </a:r>
          </a:p>
        </p:txBody>
      </p:sp>
      <p:graphicFrame>
        <p:nvGraphicFramePr>
          <p:cNvPr id="70" name="表格 69"/>
          <p:cNvGraphicFramePr>
            <a:graphicFrameLocks noGrp="1"/>
          </p:cNvGraphicFramePr>
          <p:nvPr>
            <p:extLst>
              <p:ext uri="{D42A27DB-BD31-4B8C-83A1-F6EECF244321}">
                <p14:modId xmlns:p14="http://schemas.microsoft.com/office/powerpoint/2010/main" val="1738129026"/>
              </p:ext>
            </p:extLst>
          </p:nvPr>
        </p:nvGraphicFramePr>
        <p:xfrm>
          <a:off x="980316" y="3056921"/>
          <a:ext cx="2948791" cy="1158145"/>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
        <p:nvSpPr>
          <p:cNvPr id="71" name="矩形 70"/>
          <p:cNvSpPr/>
          <p:nvPr/>
        </p:nvSpPr>
        <p:spPr>
          <a:xfrm>
            <a:off x="864183" y="2775206"/>
            <a:ext cx="2741456"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4-8(d)  </a:t>
            </a:r>
            <a:r>
              <a:rPr lang="zh-CN" altLang="en-US" sz="1200" b="1" dirty="0">
                <a:latin typeface="微软雅黑" pitchFamily="34" charset="-122"/>
                <a:ea typeface="微软雅黑" pitchFamily="34" charset="-122"/>
              </a:rPr>
              <a:t>路由器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6 </a:t>
            </a:r>
            <a:r>
              <a:rPr lang="zh-CN" altLang="en-US" sz="1200" b="1" dirty="0">
                <a:latin typeface="微软雅黑" pitchFamily="34" charset="-122"/>
                <a:ea typeface="微软雅黑" pitchFamily="34" charset="-122"/>
              </a:rPr>
              <a:t>更新后的路由表</a:t>
            </a:r>
          </a:p>
        </p:txBody>
      </p:sp>
      <p:grpSp>
        <p:nvGrpSpPr>
          <p:cNvPr id="7" name="组合 6"/>
          <p:cNvGrpSpPr/>
          <p:nvPr/>
        </p:nvGrpSpPr>
        <p:grpSpPr>
          <a:xfrm>
            <a:off x="3578156" y="1953579"/>
            <a:ext cx="1653268" cy="1768676"/>
            <a:chOff x="3578156" y="1953579"/>
            <a:chExt cx="1653268" cy="1768676"/>
          </a:xfrm>
        </p:grpSpPr>
        <p:grpSp>
          <p:nvGrpSpPr>
            <p:cNvPr id="72" name="组合 71"/>
            <p:cNvGrpSpPr/>
            <p:nvPr/>
          </p:nvGrpSpPr>
          <p:grpSpPr>
            <a:xfrm>
              <a:off x="3578156" y="1953579"/>
              <a:ext cx="1653268" cy="1768676"/>
              <a:chOff x="3239516" y="1802855"/>
              <a:chExt cx="2342104" cy="2505589"/>
            </a:xfrm>
          </p:grpSpPr>
          <p:sp>
            <p:nvSpPr>
              <p:cNvPr id="61" name="椭圆 60"/>
              <p:cNvSpPr/>
              <p:nvPr/>
            </p:nvSpPr>
            <p:spPr bwMode="auto">
              <a:xfrm>
                <a:off x="4146775" y="2403831"/>
                <a:ext cx="1180985" cy="936105"/>
              </a:xfrm>
              <a:prstGeom prst="ellipse">
                <a:avLst/>
              </a:prstGeom>
              <a:solidFill>
                <a:srgbClr val="99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r>
                  <a:rPr kumimoji="0" lang="zh-CN" altLang="en-US" sz="1400" b="1" i="0" u="none" strike="noStrike" cap="none" normalizeH="0" baseline="0" dirty="0">
                    <a:ln>
                      <a:noFill/>
                    </a:ln>
                    <a:effectLst/>
                    <a:latin typeface="微软雅黑" pitchFamily="34" charset="-122"/>
                    <a:ea typeface="微软雅黑" pitchFamily="34" charset="-122"/>
                  </a:rPr>
                  <a:t>计算更新</a:t>
                </a:r>
              </a:p>
            </p:txBody>
          </p:sp>
          <p:sp>
            <p:nvSpPr>
              <p:cNvPr id="62" name="直角上箭头 61"/>
              <p:cNvSpPr/>
              <p:nvPr/>
            </p:nvSpPr>
            <p:spPr bwMode="auto">
              <a:xfrm flipH="1">
                <a:off x="4552757" y="3359220"/>
                <a:ext cx="1028863" cy="949224"/>
              </a:xfrm>
              <a:prstGeom prst="bentUpArrow">
                <a:avLst>
                  <a:gd name="adj1" fmla="val 17604"/>
                  <a:gd name="adj2" fmla="val 26017"/>
                  <a:gd name="adj3" fmla="val 33446"/>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3" name="直角上箭头 62"/>
              <p:cNvSpPr/>
              <p:nvPr/>
            </p:nvSpPr>
            <p:spPr bwMode="auto">
              <a:xfrm flipV="1">
                <a:off x="3706033" y="1802855"/>
                <a:ext cx="1196826" cy="576064"/>
              </a:xfrm>
              <a:prstGeom prst="bentUpArrow">
                <a:avLst>
                  <a:gd name="adj1" fmla="val 25000"/>
                  <a:gd name="adj2" fmla="val 37144"/>
                  <a:gd name="adj3" fmla="val 42348"/>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4" name="直角上箭头 63"/>
              <p:cNvSpPr/>
              <p:nvPr/>
            </p:nvSpPr>
            <p:spPr bwMode="auto">
              <a:xfrm flipH="1" flipV="1">
                <a:off x="3239516" y="2838050"/>
                <a:ext cx="906865" cy="521169"/>
              </a:xfrm>
              <a:prstGeom prst="bentUpArrow">
                <a:avLst>
                  <a:gd name="adj1" fmla="val 28080"/>
                  <a:gd name="adj2" fmla="val 37144"/>
                  <a:gd name="adj3" fmla="val 42348"/>
                </a:avLst>
              </a:prstGeom>
              <a:solidFill>
                <a:srgbClr val="990099"/>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grpSp>
        <p:sp>
          <p:nvSpPr>
            <p:cNvPr id="20" name="矩形 19"/>
            <p:cNvSpPr/>
            <p:nvPr/>
          </p:nvSpPr>
          <p:spPr>
            <a:xfrm>
              <a:off x="4160240" y="2523927"/>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2000" dirty="0">
                <a:solidFill>
                  <a:srgbClr val="0000FF"/>
                </a:solidFill>
              </a:endParaRPr>
            </a:p>
          </p:txBody>
        </p:sp>
      </p:grpSp>
      <p:grpSp>
        <p:nvGrpSpPr>
          <p:cNvPr id="6" name="组合 5"/>
          <p:cNvGrpSpPr/>
          <p:nvPr/>
        </p:nvGrpSpPr>
        <p:grpSpPr>
          <a:xfrm>
            <a:off x="5682698" y="2571145"/>
            <a:ext cx="2722681" cy="443441"/>
            <a:chOff x="6638192" y="2560871"/>
            <a:chExt cx="2722681" cy="443441"/>
          </a:xfrm>
        </p:grpSpPr>
        <p:sp>
          <p:nvSpPr>
            <p:cNvPr id="73" name="下箭头 72"/>
            <p:cNvSpPr/>
            <p:nvPr/>
          </p:nvSpPr>
          <p:spPr bwMode="auto">
            <a:xfrm>
              <a:off x="6638192" y="2560871"/>
              <a:ext cx="253526" cy="443441"/>
            </a:xfrm>
            <a:prstGeom prst="downArrow">
              <a:avLst/>
            </a:prstGeom>
            <a:solidFill>
              <a:srgbClr val="00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Arial" charset="0"/>
              </a:endParaRPr>
            </a:p>
          </p:txBody>
        </p:sp>
        <p:sp>
          <p:nvSpPr>
            <p:cNvPr id="4" name="矩形 3"/>
            <p:cNvSpPr/>
            <p:nvPr/>
          </p:nvSpPr>
          <p:spPr>
            <a:xfrm>
              <a:off x="6814308" y="2574385"/>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1600" dirty="0"/>
            </a:p>
          </p:txBody>
        </p:sp>
        <p:sp>
          <p:nvSpPr>
            <p:cNvPr id="5" name="矩形 4"/>
            <p:cNvSpPr/>
            <p:nvPr/>
          </p:nvSpPr>
          <p:spPr>
            <a:xfrm>
              <a:off x="7057037" y="2617395"/>
              <a:ext cx="2303836" cy="307777"/>
            </a:xfrm>
            <a:prstGeom prst="rect">
              <a:avLst/>
            </a:prstGeom>
          </p:spPr>
          <p:txBody>
            <a:bodyPr wrap="none">
              <a:spAutoFit/>
            </a:bodyPr>
            <a:lstStyle/>
            <a:p>
              <a:r>
                <a:rPr lang="zh-CN" altLang="en-US" sz="1400" b="1" dirty="0">
                  <a:latin typeface="微软雅黑" pitchFamily="34" charset="-122"/>
                  <a:ea typeface="微软雅黑" pitchFamily="34" charset="-122"/>
                  <a:sym typeface="Wingdings 2" panose="05020102010507070707" pitchFamily="18" charset="2"/>
                </a:rPr>
                <a:t>距离</a:t>
              </a:r>
              <a:r>
                <a:rPr lang="en-US" altLang="zh-CN" sz="1400" b="1" dirty="0">
                  <a:latin typeface="微软雅黑" pitchFamily="34" charset="-122"/>
                  <a:ea typeface="微软雅黑" pitchFamily="34" charset="-122"/>
                  <a:sym typeface="Wingdings 2" panose="05020102010507070707" pitchFamily="18" charset="2"/>
                </a:rPr>
                <a:t>+1</a:t>
              </a:r>
              <a:r>
                <a:rPr lang="zh-CN" altLang="en-US" sz="1400" b="1" dirty="0">
                  <a:latin typeface="微软雅黑" pitchFamily="34" charset="-122"/>
                  <a:ea typeface="微软雅黑" pitchFamily="34" charset="-122"/>
                  <a:sym typeface="Wingdings 2" panose="05020102010507070707" pitchFamily="18" charset="2"/>
                </a:rPr>
                <a:t>，修改下一跳地址</a:t>
              </a:r>
              <a:endParaRPr lang="zh-CN" altLang="en-US" sz="1400" dirty="0"/>
            </a:p>
          </p:txBody>
        </p:sp>
      </p:grpSp>
    </p:spTree>
    <p:extLst>
      <p:ext uri="{BB962C8B-B14F-4D97-AF65-F5344CB8AC3E}">
        <p14:creationId xmlns:p14="http://schemas.microsoft.com/office/powerpoint/2010/main" val="3430182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000"/>
                                        <p:tgtEl>
                                          <p:spTgt spid="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69"/>
                                        </p:tgtEl>
                                        <p:attrNameLst>
                                          <p:attrName>style.visibility</p:attrName>
                                        </p:attrNameLst>
                                      </p:cBhvr>
                                      <p:to>
                                        <p:strVal val="visible"/>
                                      </p:to>
                                    </p:set>
                                    <p:animEffect transition="in" filter="wipe(up)">
                                      <p:cBhvr>
                                        <p:cTn id="11" dur="1000"/>
                                        <p:tgtEl>
                                          <p:spTgt spid="69"/>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68"/>
                                        </p:tgtEl>
                                        <p:attrNameLst>
                                          <p:attrName>style.visibility</p:attrName>
                                        </p:attrNameLst>
                                      </p:cBhvr>
                                      <p:to>
                                        <p:strVal val="visible"/>
                                      </p:to>
                                    </p:set>
                                    <p:animEffect transition="in" filter="wipe(up)">
                                      <p:cBhvr>
                                        <p:cTn id="15" dur="1000"/>
                                        <p:tgtEl>
                                          <p:spTgt spid="68"/>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6" fill="hold"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barn(inHorizontal)">
                                      <p:cBhvr>
                                        <p:cTn id="20" dur="1000"/>
                                        <p:tgtEl>
                                          <p:spTgt spid="7"/>
                                        </p:tgtEl>
                                      </p:cBhvr>
                                    </p:animEffect>
                                  </p:childTnLst>
                                </p:cTn>
                              </p:par>
                            </p:childTnLst>
                          </p:cTn>
                        </p:par>
                        <p:par>
                          <p:cTn id="21" fill="hold">
                            <p:stCondLst>
                              <p:cond delay="1000"/>
                            </p:stCondLst>
                            <p:childTnLst>
                              <p:par>
                                <p:cTn id="22" presetID="22" presetClass="entr" presetSubtype="1" fill="hold" grpId="0" nodeType="afterEffect">
                                  <p:stCondLst>
                                    <p:cond delay="0"/>
                                  </p:stCondLst>
                                  <p:childTnLst>
                                    <p:set>
                                      <p:cBhvr>
                                        <p:cTn id="23" dur="1" fill="hold">
                                          <p:stCondLst>
                                            <p:cond delay="0"/>
                                          </p:stCondLst>
                                        </p:cTn>
                                        <p:tgtEl>
                                          <p:spTgt spid="71"/>
                                        </p:tgtEl>
                                        <p:attrNameLst>
                                          <p:attrName>style.visibility</p:attrName>
                                        </p:attrNameLst>
                                      </p:cBhvr>
                                      <p:to>
                                        <p:strVal val="visible"/>
                                      </p:to>
                                    </p:set>
                                    <p:animEffect transition="in" filter="wipe(up)">
                                      <p:cBhvr>
                                        <p:cTn id="24" dur="1000"/>
                                        <p:tgtEl>
                                          <p:spTgt spid="71"/>
                                        </p:tgtEl>
                                      </p:cBhvr>
                                    </p:animEffect>
                                  </p:childTnLst>
                                </p:cTn>
                              </p:par>
                            </p:childTnLst>
                          </p:cTn>
                        </p:par>
                        <p:par>
                          <p:cTn id="25" fill="hold">
                            <p:stCondLst>
                              <p:cond delay="2000"/>
                            </p:stCondLst>
                            <p:childTnLst>
                              <p:par>
                                <p:cTn id="26" presetID="22" presetClass="entr" presetSubtype="1" fill="hold" nodeType="afterEffect">
                                  <p:stCondLst>
                                    <p:cond delay="0"/>
                                  </p:stCondLst>
                                  <p:childTnLst>
                                    <p:set>
                                      <p:cBhvr>
                                        <p:cTn id="27" dur="1" fill="hold">
                                          <p:stCondLst>
                                            <p:cond delay="0"/>
                                          </p:stCondLst>
                                        </p:cTn>
                                        <p:tgtEl>
                                          <p:spTgt spid="70"/>
                                        </p:tgtEl>
                                        <p:attrNameLst>
                                          <p:attrName>style.visibility</p:attrName>
                                        </p:attrNameLst>
                                      </p:cBhvr>
                                      <p:to>
                                        <p:strVal val="visible"/>
                                      </p:to>
                                    </p:set>
                                    <p:animEffect transition="in" filter="wipe(up)">
                                      <p:cBhvr>
                                        <p:cTn id="28" dur="10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 grpId="0"/>
      <p:bldP spid="71" grpId="0"/>
    </p:bld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7" name="Group 20"/>
          <p:cNvGrpSpPr>
            <a:grpSpLocks/>
          </p:cNvGrpSpPr>
          <p:nvPr/>
        </p:nvGrpSpPr>
        <p:grpSpPr bwMode="auto">
          <a:xfrm>
            <a:off x="977270" y="1172666"/>
            <a:ext cx="7032940" cy="2968515"/>
            <a:chOff x="-451" y="756"/>
            <a:chExt cx="6411" cy="2706"/>
          </a:xfrm>
        </p:grpSpPr>
        <p:sp>
          <p:nvSpPr>
            <p:cNvPr id="128" name="Rectangle 6"/>
            <p:cNvSpPr>
              <a:spLocks noChangeArrowheads="1"/>
            </p:cNvSpPr>
            <p:nvPr/>
          </p:nvSpPr>
          <p:spPr bwMode="auto">
            <a:xfrm>
              <a:off x="37" y="1008"/>
              <a:ext cx="1384"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8</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3</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5</a:t>
              </a:r>
            </a:p>
          </p:txBody>
        </p:sp>
        <p:sp>
          <p:nvSpPr>
            <p:cNvPr id="129" name="Rectangle 7"/>
            <p:cNvSpPr>
              <a:spLocks noChangeArrowheads="1"/>
            </p:cNvSpPr>
            <p:nvPr/>
          </p:nvSpPr>
          <p:spPr bwMode="auto">
            <a:xfrm>
              <a:off x="1924" y="1200"/>
              <a:ext cx="1211"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9</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6</a:t>
              </a:r>
            </a:p>
          </p:txBody>
        </p:sp>
        <p:sp>
          <p:nvSpPr>
            <p:cNvPr id="130" name="Rectangle 8"/>
            <p:cNvSpPr>
              <a:spLocks noChangeArrowheads="1"/>
            </p:cNvSpPr>
            <p:nvPr/>
          </p:nvSpPr>
          <p:spPr bwMode="auto">
            <a:xfrm>
              <a:off x="-451" y="2448"/>
              <a:ext cx="2044" cy="1008"/>
            </a:xfrm>
            <a:prstGeom prst="rect">
              <a:avLst/>
            </a:prstGeom>
            <a:solidFill>
              <a:srgbClr val="66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2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8	F</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4	F</a:t>
              </a:r>
            </a:p>
          </p:txBody>
        </p:sp>
        <p:sp>
          <p:nvSpPr>
            <p:cNvPr id="131" name="Text Box 9"/>
            <p:cNvSpPr txBox="1">
              <a:spLocks noChangeArrowheads="1"/>
            </p:cNvSpPr>
            <p:nvPr/>
          </p:nvSpPr>
          <p:spPr bwMode="auto">
            <a:xfrm>
              <a:off x="-8" y="756"/>
              <a:ext cx="1469"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2" name="Text Box 10"/>
            <p:cNvSpPr txBox="1">
              <a:spLocks noChangeArrowheads="1"/>
            </p:cNvSpPr>
            <p:nvPr/>
          </p:nvSpPr>
          <p:spPr bwMode="auto">
            <a:xfrm>
              <a:off x="1803" y="768"/>
              <a:ext cx="1469"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增加跳数以后</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3" name="Text Box 11"/>
            <p:cNvSpPr txBox="1">
              <a:spLocks noChangeArrowheads="1"/>
            </p:cNvSpPr>
            <p:nvPr/>
          </p:nvSpPr>
          <p:spPr bwMode="auto">
            <a:xfrm>
              <a:off x="214" y="2208"/>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旧路由表</a:t>
              </a:r>
            </a:p>
          </p:txBody>
        </p:sp>
        <p:sp>
          <p:nvSpPr>
            <p:cNvPr id="134" name="Rectangle 12"/>
            <p:cNvSpPr>
              <a:spLocks noChangeArrowheads="1"/>
            </p:cNvSpPr>
            <p:nvPr/>
          </p:nvSpPr>
          <p:spPr bwMode="auto">
            <a:xfrm>
              <a:off x="1881" y="2544"/>
              <a:ext cx="1104" cy="384"/>
            </a:xfrm>
            <a:prstGeom prst="rect">
              <a:avLst/>
            </a:prstGeom>
            <a:solidFill>
              <a:schemeClr val="accent6">
                <a:lumMod val="60000"/>
                <a:lumOff val="40000"/>
              </a:schemeClr>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更新算法</a:t>
              </a:r>
            </a:p>
          </p:txBody>
        </p:sp>
        <p:sp>
          <p:nvSpPr>
            <p:cNvPr id="135" name="Rectangle 13"/>
            <p:cNvSpPr>
              <a:spLocks noChangeArrowheads="1"/>
            </p:cNvSpPr>
            <p:nvPr/>
          </p:nvSpPr>
          <p:spPr bwMode="auto">
            <a:xfrm>
              <a:off x="3321" y="2310"/>
              <a:ext cx="2016" cy="1152"/>
            </a:xfrm>
            <a:prstGeom prst="rect">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Net2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Net3	9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Net6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Net9	4	F</a:t>
              </a:r>
            </a:p>
          </p:txBody>
        </p:sp>
        <p:sp>
          <p:nvSpPr>
            <p:cNvPr id="136" name="Text Box 14"/>
            <p:cNvSpPr txBox="1">
              <a:spLocks noChangeArrowheads="1"/>
            </p:cNvSpPr>
            <p:nvPr/>
          </p:nvSpPr>
          <p:spPr bwMode="auto">
            <a:xfrm>
              <a:off x="4011" y="2076"/>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solidFill>
                    <a:srgbClr val="0000CC"/>
                  </a:solidFill>
                  <a:effectLst/>
                  <a:uLnTx/>
                  <a:uFillTx/>
                  <a:latin typeface="微软雅黑" pitchFamily="34" charset="-122"/>
                  <a:ea typeface="微软雅黑" pitchFamily="34" charset="-122"/>
                </a:rPr>
                <a:t>新路由表</a:t>
              </a:r>
            </a:p>
          </p:txBody>
        </p:sp>
        <p:sp>
          <p:nvSpPr>
            <p:cNvPr id="137" name="AutoShape 15"/>
            <p:cNvSpPr>
              <a:spLocks noChangeArrowheads="1"/>
            </p:cNvSpPr>
            <p:nvPr/>
          </p:nvSpPr>
          <p:spPr bwMode="auto">
            <a:xfrm>
              <a:off x="164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AutoShape 16"/>
            <p:cNvSpPr>
              <a:spLocks noChangeArrowheads="1"/>
            </p:cNvSpPr>
            <p:nvPr/>
          </p:nvSpPr>
          <p:spPr bwMode="auto">
            <a:xfrm>
              <a:off x="308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AutoShape 17"/>
            <p:cNvSpPr>
              <a:spLocks noChangeArrowheads="1"/>
            </p:cNvSpPr>
            <p:nvPr/>
          </p:nvSpPr>
          <p:spPr bwMode="auto">
            <a:xfrm>
              <a:off x="2361" y="2304"/>
              <a:ext cx="144" cy="192"/>
            </a:xfrm>
            <a:prstGeom prst="down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AutoShape 18"/>
            <p:cNvSpPr>
              <a:spLocks noChangeArrowheads="1"/>
            </p:cNvSpPr>
            <p:nvPr/>
          </p:nvSpPr>
          <p:spPr bwMode="auto">
            <a:xfrm>
              <a:off x="1497" y="1584"/>
              <a:ext cx="384" cy="144"/>
            </a:xfrm>
            <a:prstGeom prst="rightArrow">
              <a:avLst>
                <a:gd name="adj1" fmla="val 50000"/>
                <a:gd name="adj2" fmla="val 66667"/>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3330" y="786"/>
              <a:ext cx="2630" cy="123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没有新信息，不变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相同的下一跳，替换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一条新路由，增加</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不同的下一跳，新跳数小，替换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不同的下一跳，跳数相同，不变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不同的下一跳，新跳数大，不变</a:t>
              </a:r>
            </a:p>
          </p:txBody>
        </p:sp>
      </p:grpSp>
      <p:sp>
        <p:nvSpPr>
          <p:cNvPr id="20" name="Text Box 155"/>
          <p:cNvSpPr txBox="1">
            <a:spLocks noChangeArrowheads="1"/>
          </p:cNvSpPr>
          <p:nvPr/>
        </p:nvSpPr>
        <p:spPr bwMode="auto">
          <a:xfrm>
            <a:off x="1081454" y="723313"/>
            <a:ext cx="6980782" cy="344325"/>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路由表更新。</a:t>
            </a:r>
          </a:p>
        </p:txBody>
      </p:sp>
    </p:spTree>
    <p:extLst>
      <p:ext uri="{BB962C8B-B14F-4D97-AF65-F5344CB8AC3E}">
        <p14:creationId xmlns:p14="http://schemas.microsoft.com/office/powerpoint/2010/main" val="346437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4"/>
          <p:cNvSpPr>
            <a:spLocks noChangeArrowheads="1"/>
          </p:cNvSpPr>
          <p:nvPr/>
        </p:nvSpPr>
        <p:spPr bwMode="auto">
          <a:xfrm rot="5400000">
            <a:off x="1301693" y="3407501"/>
            <a:ext cx="144795" cy="301338"/>
          </a:xfrm>
          <a:prstGeom prst="downArrow">
            <a:avLst>
              <a:gd name="adj1" fmla="val 50000"/>
              <a:gd name="adj2" fmla="val 48026"/>
            </a:avLst>
          </a:prstGeom>
          <a:solidFill>
            <a:srgbClr val="FFFF00"/>
          </a:solidFill>
          <a:ln w="9525">
            <a:solidFill>
              <a:srgbClr val="000099"/>
            </a:solidFill>
            <a:miter lim="800000"/>
            <a:headEnd/>
            <a:tailEnd/>
          </a:ln>
          <a:effectLst/>
        </p:spPr>
        <p:txBody>
          <a:bodyPr vert="eaVert" wrap="none" anchor="ctr"/>
          <a:lstStyle/>
          <a:p>
            <a:endParaRPr lang="zh-CN" altLang="en-US" sz="1200" b="1">
              <a:latin typeface="微软雅黑" pitchFamily="34" charset="-122"/>
              <a:ea typeface="微软雅黑" pitchFamily="34" charset="-122"/>
            </a:endParaRPr>
          </a:p>
        </p:txBody>
      </p:sp>
      <p:sp>
        <p:nvSpPr>
          <p:cNvPr id="9" name="Line 2"/>
          <p:cNvSpPr>
            <a:spLocks noChangeShapeType="1"/>
          </p:cNvSpPr>
          <p:nvPr/>
        </p:nvSpPr>
        <p:spPr bwMode="auto">
          <a:xfrm>
            <a:off x="3615552" y="1282988"/>
            <a:ext cx="235910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Text Box 3"/>
          <p:cNvSpPr txBox="1">
            <a:spLocks noChangeArrowheads="1"/>
          </p:cNvSpPr>
          <p:nvPr/>
        </p:nvSpPr>
        <p:spPr bwMode="auto">
          <a:xfrm>
            <a:off x="4562910" y="115405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11" name="Rectangle 4"/>
          <p:cNvSpPr>
            <a:spLocks noChangeArrowheads="1"/>
          </p:cNvSpPr>
          <p:nvPr/>
        </p:nvSpPr>
        <p:spPr bwMode="auto">
          <a:xfrm>
            <a:off x="1512376" y="3367650"/>
            <a:ext cx="3756408" cy="388660"/>
          </a:xfrm>
          <a:prstGeom prst="rect">
            <a:avLst/>
          </a:prstGeom>
          <a:solidFill>
            <a:srgbClr val="FF66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flipV="1">
            <a:off x="2788939" y="3227402"/>
            <a:ext cx="247571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Text Box 6"/>
          <p:cNvSpPr txBox="1">
            <a:spLocks noChangeArrowheads="1"/>
          </p:cNvSpPr>
          <p:nvPr/>
        </p:nvSpPr>
        <p:spPr bwMode="auto">
          <a:xfrm>
            <a:off x="3619680" y="3105988"/>
            <a:ext cx="747320"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RIP </a:t>
            </a:r>
            <a:r>
              <a:rPr kumimoji="1" lang="zh-CN" altLang="en-US" sz="1050" b="1" dirty="0">
                <a:solidFill>
                  <a:srgbClr val="0000FF"/>
                </a:solidFill>
                <a:latin typeface="微软雅黑" pitchFamily="34" charset="-122"/>
                <a:ea typeface="微软雅黑" pitchFamily="34" charset="-122"/>
              </a:rPr>
              <a:t>报文</a:t>
            </a:r>
          </a:p>
        </p:txBody>
      </p:sp>
      <p:sp>
        <p:nvSpPr>
          <p:cNvPr id="14" name="Freeform 8"/>
          <p:cNvSpPr>
            <a:spLocks/>
          </p:cNvSpPr>
          <p:nvPr/>
        </p:nvSpPr>
        <p:spPr bwMode="auto">
          <a:xfrm>
            <a:off x="3243006" y="2601226"/>
            <a:ext cx="2786623" cy="125958"/>
          </a:xfrm>
          <a:custGeom>
            <a:avLst/>
            <a:gdLst>
              <a:gd name="T0" fmla="*/ 306 w 2328"/>
              <a:gd name="T1" fmla="*/ 6 h 204"/>
              <a:gd name="T2" fmla="*/ 2328 w 2328"/>
              <a:gd name="T3" fmla="*/ 0 h 204"/>
              <a:gd name="T4" fmla="*/ 1716 w 2328"/>
              <a:gd name="T5" fmla="*/ 204 h 204"/>
              <a:gd name="T6" fmla="*/ 0 w 2328"/>
              <a:gd name="T7" fmla="*/ 204 h 204"/>
              <a:gd name="T8" fmla="*/ 306 w 2328"/>
              <a:gd name="T9" fmla="*/ 6 h 204"/>
            </a:gdLst>
            <a:ahLst/>
            <a:cxnLst>
              <a:cxn ang="0">
                <a:pos x="T0" y="T1"/>
              </a:cxn>
              <a:cxn ang="0">
                <a:pos x="T2" y="T3"/>
              </a:cxn>
              <a:cxn ang="0">
                <a:pos x="T4" y="T5"/>
              </a:cxn>
              <a:cxn ang="0">
                <a:pos x="T6" y="T7"/>
              </a:cxn>
              <a:cxn ang="0">
                <a:pos x="T8" y="T9"/>
              </a:cxn>
            </a:cxnLst>
            <a:rect l="0" t="0" r="r" b="b"/>
            <a:pathLst>
              <a:path w="2328" h="204">
                <a:moveTo>
                  <a:pt x="306" y="6"/>
                </a:moveTo>
                <a:lnTo>
                  <a:pt x="2328" y="0"/>
                </a:lnTo>
                <a:lnTo>
                  <a:pt x="1716" y="204"/>
                </a:lnTo>
                <a:lnTo>
                  <a:pt x="0" y="204"/>
                </a:lnTo>
                <a:lnTo>
                  <a:pt x="306" y="6"/>
                </a:lnTo>
                <a:close/>
              </a:path>
            </a:pathLst>
          </a:custGeom>
          <a:gradFill>
            <a:gsLst>
              <a:gs pos="0">
                <a:srgbClr val="3399FF"/>
              </a:gs>
              <a:gs pos="100000">
                <a:srgbClr val="00FF99"/>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15" name="Rectangle 9"/>
          <p:cNvSpPr>
            <a:spLocks noChangeArrowheads="1"/>
          </p:cNvSpPr>
          <p:nvPr/>
        </p:nvSpPr>
        <p:spPr bwMode="auto">
          <a:xfrm>
            <a:off x="3609360" y="1384759"/>
            <a:ext cx="2385938" cy="1216467"/>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Line 10"/>
          <p:cNvSpPr>
            <a:spLocks noChangeShapeType="1"/>
          </p:cNvSpPr>
          <p:nvPr/>
        </p:nvSpPr>
        <p:spPr bwMode="auto">
          <a:xfrm>
            <a:off x="2285328" y="3900760"/>
            <a:ext cx="2975200"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1"/>
          <p:cNvSpPr txBox="1">
            <a:spLocks noChangeArrowheads="1"/>
          </p:cNvSpPr>
          <p:nvPr/>
        </p:nvSpPr>
        <p:spPr bwMode="auto">
          <a:xfrm>
            <a:off x="5974659" y="3012113"/>
            <a:ext cx="1673904" cy="830997"/>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路由信息</a:t>
            </a:r>
          </a:p>
          <a:p>
            <a:pPr algn="ctr"/>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20 </a:t>
            </a:r>
            <a:r>
              <a:rPr kumimoji="1" lang="zh-CN" altLang="en-US" sz="1200" b="1" dirty="0">
                <a:latin typeface="微软雅黑" pitchFamily="34" charset="-122"/>
                <a:ea typeface="微软雅黑" pitchFamily="34" charset="-122"/>
              </a:rPr>
              <a:t>字节</a:t>
            </a:r>
            <a:r>
              <a:rPr kumimoji="1" lang="en-US" altLang="zh-CN" sz="1200" b="1" dirty="0">
                <a:latin typeface="微软雅黑" pitchFamily="34" charset="-122"/>
                <a:ea typeface="微软雅黑" pitchFamily="34" charset="-122"/>
              </a:rPr>
              <a:t>/</a:t>
            </a:r>
            <a:r>
              <a:rPr kumimoji="1" lang="zh-CN" altLang="en-US" sz="1200" b="1" dirty="0">
                <a:latin typeface="微软雅黑" pitchFamily="34" charset="-122"/>
                <a:ea typeface="微软雅黑" pitchFamily="34" charset="-122"/>
              </a:rPr>
              <a:t>路由）</a:t>
            </a:r>
          </a:p>
          <a:p>
            <a:pPr algn="ctr"/>
            <a:r>
              <a:rPr kumimoji="1" lang="zh-CN" altLang="en-US" sz="1200" b="1" dirty="0">
                <a:latin typeface="微软雅黑" pitchFamily="34" charset="-122"/>
                <a:ea typeface="微软雅黑" pitchFamily="34" charset="-122"/>
              </a:rPr>
              <a:t>可重复出现</a:t>
            </a:r>
          </a:p>
          <a:p>
            <a:pPr algn="ctr"/>
            <a:r>
              <a:rPr kumimoji="1" lang="zh-CN" altLang="en-US" sz="1200" b="1" dirty="0">
                <a:latin typeface="微软雅黑" pitchFamily="34" charset="-122"/>
                <a:ea typeface="微软雅黑" pitchFamily="34" charset="-122"/>
              </a:rPr>
              <a:t>最多 </a:t>
            </a:r>
            <a:r>
              <a:rPr kumimoji="1" lang="en-US" altLang="zh-CN" sz="1200" b="1" dirty="0">
                <a:latin typeface="微软雅黑" pitchFamily="34" charset="-122"/>
                <a:ea typeface="微软雅黑" pitchFamily="34" charset="-122"/>
              </a:rPr>
              <a:t>25 </a:t>
            </a:r>
            <a:r>
              <a:rPr kumimoji="1" lang="zh-CN" altLang="en-US" sz="1200" b="1" dirty="0">
                <a:latin typeface="微软雅黑" pitchFamily="34" charset="-122"/>
                <a:ea typeface="微软雅黑" pitchFamily="34" charset="-122"/>
              </a:rPr>
              <a:t>个</a:t>
            </a:r>
          </a:p>
        </p:txBody>
      </p:sp>
      <p:sp>
        <p:nvSpPr>
          <p:cNvPr id="18" name="Rectangle 12"/>
          <p:cNvSpPr>
            <a:spLocks noChangeArrowheads="1"/>
          </p:cNvSpPr>
          <p:nvPr/>
        </p:nvSpPr>
        <p:spPr bwMode="auto">
          <a:xfrm>
            <a:off x="2764168" y="2743379"/>
            <a:ext cx="2496361" cy="372466"/>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Freeform 13"/>
          <p:cNvSpPr>
            <a:spLocks/>
          </p:cNvSpPr>
          <p:nvPr/>
        </p:nvSpPr>
        <p:spPr bwMode="auto">
          <a:xfrm>
            <a:off x="984002" y="2157317"/>
            <a:ext cx="2343627" cy="586062"/>
          </a:xfrm>
          <a:custGeom>
            <a:avLst/>
            <a:gdLst>
              <a:gd name="T0" fmla="*/ 0 w 1992"/>
              <a:gd name="T1" fmla="*/ 12 h 612"/>
              <a:gd name="T2" fmla="*/ 1992 w 1992"/>
              <a:gd name="T3" fmla="*/ 0 h 612"/>
              <a:gd name="T4" fmla="*/ 1890 w 1992"/>
              <a:gd name="T5" fmla="*/ 606 h 612"/>
              <a:gd name="T6" fmla="*/ 1506 w 1992"/>
              <a:gd name="T7" fmla="*/ 612 h 612"/>
              <a:gd name="T8" fmla="*/ 0 w 1992"/>
              <a:gd name="T9" fmla="*/ 12 h 612"/>
            </a:gdLst>
            <a:ahLst/>
            <a:cxnLst>
              <a:cxn ang="0">
                <a:pos x="T0" y="T1"/>
              </a:cxn>
              <a:cxn ang="0">
                <a:pos x="T2" y="T3"/>
              </a:cxn>
              <a:cxn ang="0">
                <a:pos x="T4" y="T5"/>
              </a:cxn>
              <a:cxn ang="0">
                <a:pos x="T6" y="T7"/>
              </a:cxn>
              <a:cxn ang="0">
                <a:pos x="T8" y="T9"/>
              </a:cxn>
            </a:cxnLst>
            <a:rect l="0" t="0" r="r" b="b"/>
            <a:pathLst>
              <a:path w="1992" h="612">
                <a:moveTo>
                  <a:pt x="0" y="12"/>
                </a:moveTo>
                <a:lnTo>
                  <a:pt x="1992" y="0"/>
                </a:lnTo>
                <a:lnTo>
                  <a:pt x="1890" y="606"/>
                </a:lnTo>
                <a:lnTo>
                  <a:pt x="1506" y="612"/>
                </a:lnTo>
                <a:lnTo>
                  <a:pt x="0" y="12"/>
                </a:lnTo>
                <a:close/>
              </a:path>
            </a:pathLst>
          </a:custGeom>
          <a:gradFill>
            <a:gsLst>
              <a:gs pos="0">
                <a:srgbClr val="0000FF"/>
              </a:gs>
              <a:gs pos="100000">
                <a:srgbClr val="00FFFF"/>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20" name="Rectangle 14"/>
          <p:cNvSpPr>
            <a:spLocks noChangeArrowheads="1"/>
          </p:cNvSpPr>
          <p:nvPr/>
        </p:nvSpPr>
        <p:spPr bwMode="auto">
          <a:xfrm>
            <a:off x="2764168" y="2735758"/>
            <a:ext cx="2504616" cy="387707"/>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Line 15"/>
          <p:cNvSpPr>
            <a:spLocks noChangeShapeType="1"/>
          </p:cNvSpPr>
          <p:nvPr/>
        </p:nvSpPr>
        <p:spPr bwMode="auto">
          <a:xfrm>
            <a:off x="1512375"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 name="Rectangle 16"/>
          <p:cNvSpPr>
            <a:spLocks noChangeArrowheads="1"/>
          </p:cNvSpPr>
          <p:nvPr/>
        </p:nvSpPr>
        <p:spPr bwMode="auto">
          <a:xfrm>
            <a:off x="3390581" y="3849403"/>
            <a:ext cx="930846" cy="16765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3" name="Line 17"/>
          <p:cNvSpPr>
            <a:spLocks noChangeShapeType="1"/>
          </p:cNvSpPr>
          <p:nvPr/>
        </p:nvSpPr>
        <p:spPr bwMode="auto">
          <a:xfrm>
            <a:off x="1512376" y="4110059"/>
            <a:ext cx="3756408"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4" name="Text Box 18"/>
          <p:cNvSpPr txBox="1">
            <a:spLocks noChangeArrowheads="1"/>
          </p:cNvSpPr>
          <p:nvPr/>
        </p:nvSpPr>
        <p:spPr bwMode="auto">
          <a:xfrm>
            <a:off x="2400056" y="3986696"/>
            <a:ext cx="790601"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IP </a:t>
            </a:r>
            <a:r>
              <a:rPr kumimoji="1" lang="zh-CN" altLang="en-US" sz="1050" b="1" dirty="0">
                <a:solidFill>
                  <a:srgbClr val="0000FF"/>
                </a:solidFill>
                <a:latin typeface="微软雅黑" pitchFamily="34" charset="-122"/>
                <a:ea typeface="微软雅黑" pitchFamily="34" charset="-122"/>
              </a:rPr>
              <a:t>数据报</a:t>
            </a:r>
          </a:p>
        </p:txBody>
      </p:sp>
      <p:sp>
        <p:nvSpPr>
          <p:cNvPr id="25" name="Line 19"/>
          <p:cNvSpPr>
            <a:spLocks noChangeShapeType="1"/>
          </p:cNvSpPr>
          <p:nvPr/>
        </p:nvSpPr>
        <p:spPr bwMode="auto">
          <a:xfrm>
            <a:off x="3616583" y="1618146"/>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0"/>
          <p:cNvSpPr>
            <a:spLocks noChangeShapeType="1"/>
          </p:cNvSpPr>
          <p:nvPr/>
        </p:nvSpPr>
        <p:spPr bwMode="auto">
          <a:xfrm>
            <a:off x="3616583" y="187248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Line 21"/>
          <p:cNvSpPr>
            <a:spLocks noChangeShapeType="1"/>
          </p:cNvSpPr>
          <p:nvPr/>
        </p:nvSpPr>
        <p:spPr bwMode="auto">
          <a:xfrm>
            <a:off x="3616583" y="211444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Line 22"/>
          <p:cNvSpPr>
            <a:spLocks noChangeShapeType="1"/>
          </p:cNvSpPr>
          <p:nvPr/>
        </p:nvSpPr>
        <p:spPr bwMode="auto">
          <a:xfrm>
            <a:off x="3616583" y="2344977"/>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3"/>
          <p:cNvSpPr>
            <a:spLocks noChangeShapeType="1"/>
          </p:cNvSpPr>
          <p:nvPr/>
        </p:nvSpPr>
        <p:spPr bwMode="auto">
          <a:xfrm rot="5400000" flipH="1">
            <a:off x="4690954" y="1510979"/>
            <a:ext cx="23719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Text Box 24"/>
          <p:cNvSpPr txBox="1">
            <a:spLocks noChangeArrowheads="1"/>
          </p:cNvSpPr>
          <p:nvPr/>
        </p:nvSpPr>
        <p:spPr bwMode="auto">
          <a:xfrm>
            <a:off x="5086123" y="134665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路由标记</a:t>
            </a:r>
          </a:p>
        </p:txBody>
      </p:sp>
      <p:sp>
        <p:nvSpPr>
          <p:cNvPr id="31" name="Text Box 25"/>
          <p:cNvSpPr txBox="1">
            <a:spLocks noChangeArrowheads="1"/>
          </p:cNvSpPr>
          <p:nvPr/>
        </p:nvSpPr>
        <p:spPr bwMode="auto">
          <a:xfrm>
            <a:off x="4442167" y="159909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网络地址</a:t>
            </a:r>
          </a:p>
        </p:txBody>
      </p:sp>
      <p:sp>
        <p:nvSpPr>
          <p:cNvPr id="32" name="Text Box 26"/>
          <p:cNvSpPr txBox="1">
            <a:spLocks noChangeArrowheads="1"/>
          </p:cNvSpPr>
          <p:nvPr/>
        </p:nvSpPr>
        <p:spPr bwMode="auto">
          <a:xfrm>
            <a:off x="3730101" y="1358087"/>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地址族标识符</a:t>
            </a:r>
          </a:p>
        </p:txBody>
      </p:sp>
      <p:sp>
        <p:nvSpPr>
          <p:cNvPr id="33" name="Text Box 27"/>
          <p:cNvSpPr txBox="1">
            <a:spLocks noChangeArrowheads="1"/>
          </p:cNvSpPr>
          <p:nvPr/>
        </p:nvSpPr>
        <p:spPr bwMode="auto">
          <a:xfrm>
            <a:off x="4407081" y="2346883"/>
            <a:ext cx="100860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距离 </a:t>
            </a:r>
            <a:r>
              <a:rPr kumimoji="1" lang="en-US" altLang="zh-CN" sz="1200" b="1">
                <a:latin typeface="微软雅黑" pitchFamily="34" charset="-122"/>
                <a:ea typeface="微软雅黑" pitchFamily="34" charset="-122"/>
              </a:rPr>
              <a:t>(1-16)</a:t>
            </a:r>
          </a:p>
        </p:txBody>
      </p:sp>
      <p:sp>
        <p:nvSpPr>
          <p:cNvPr id="34" name="Rectangle 28"/>
          <p:cNvSpPr>
            <a:spLocks noChangeArrowheads="1"/>
          </p:cNvSpPr>
          <p:nvPr/>
        </p:nvSpPr>
        <p:spPr bwMode="auto">
          <a:xfrm>
            <a:off x="2764168" y="3375271"/>
            <a:ext cx="2496361" cy="37341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29"/>
          <p:cNvSpPr>
            <a:spLocks noChangeShapeType="1"/>
          </p:cNvSpPr>
          <p:nvPr/>
        </p:nvSpPr>
        <p:spPr bwMode="auto">
          <a:xfrm>
            <a:off x="2294617" y="3367650"/>
            <a:ext cx="0" cy="3886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Text Box 30"/>
          <p:cNvSpPr txBox="1">
            <a:spLocks noChangeArrowheads="1"/>
          </p:cNvSpPr>
          <p:nvPr/>
        </p:nvSpPr>
        <p:spPr bwMode="auto">
          <a:xfrm>
            <a:off x="1675429" y="3369847"/>
            <a:ext cx="492443"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  IP </a:t>
            </a:r>
          </a:p>
          <a:p>
            <a:pPr>
              <a:lnSpc>
                <a:spcPct val="90000"/>
              </a:lnSpc>
            </a:pPr>
            <a:r>
              <a:rPr kumimoji="1" lang="zh-CN" altLang="en-US" sz="1200" b="1" dirty="0">
                <a:latin typeface="微软雅黑" pitchFamily="34" charset="-122"/>
                <a:ea typeface="微软雅黑" pitchFamily="34" charset="-122"/>
              </a:rPr>
              <a:t>首部</a:t>
            </a:r>
          </a:p>
        </p:txBody>
      </p:sp>
      <p:sp>
        <p:nvSpPr>
          <p:cNvPr id="37" name="AutoShape 32"/>
          <p:cNvSpPr>
            <a:spLocks noChangeArrowheads="1"/>
          </p:cNvSpPr>
          <p:nvPr/>
        </p:nvSpPr>
        <p:spPr bwMode="auto">
          <a:xfrm>
            <a:off x="3883984" y="3310367"/>
            <a:ext cx="125648" cy="237949"/>
          </a:xfrm>
          <a:prstGeom prst="downArrow">
            <a:avLst>
              <a:gd name="adj1" fmla="val 50000"/>
              <a:gd name="adj2" fmla="val 48026"/>
            </a:avLst>
          </a:prstGeom>
          <a:solidFill>
            <a:srgbClr val="FFFF00"/>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38" name="Text Box 33"/>
          <p:cNvSpPr txBox="1">
            <a:spLocks noChangeArrowheads="1"/>
          </p:cNvSpPr>
          <p:nvPr/>
        </p:nvSpPr>
        <p:spPr bwMode="auto">
          <a:xfrm>
            <a:off x="2281998" y="3369847"/>
            <a:ext cx="574196"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UDP </a:t>
            </a:r>
          </a:p>
          <a:p>
            <a:pPr>
              <a:lnSpc>
                <a:spcPct val="90000"/>
              </a:lnSpc>
            </a:pPr>
            <a:r>
              <a:rPr kumimoji="1" lang="zh-CN" altLang="en-US" sz="1200" b="1" dirty="0">
                <a:latin typeface="微软雅黑" pitchFamily="34" charset="-122"/>
                <a:ea typeface="微软雅黑" pitchFamily="34" charset="-122"/>
              </a:rPr>
              <a:t>首部</a:t>
            </a:r>
          </a:p>
        </p:txBody>
      </p:sp>
      <p:sp>
        <p:nvSpPr>
          <p:cNvPr id="39" name="Line 34"/>
          <p:cNvSpPr>
            <a:spLocks noChangeShapeType="1"/>
          </p:cNvSpPr>
          <p:nvPr/>
        </p:nvSpPr>
        <p:spPr bwMode="auto">
          <a:xfrm>
            <a:off x="2764168" y="3375271"/>
            <a:ext cx="0" cy="3877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AutoShape 35"/>
          <p:cNvSpPr>
            <a:spLocks/>
          </p:cNvSpPr>
          <p:nvPr/>
        </p:nvSpPr>
        <p:spPr bwMode="auto">
          <a:xfrm>
            <a:off x="6029629" y="1395239"/>
            <a:ext cx="159957" cy="1185983"/>
          </a:xfrm>
          <a:prstGeom prst="rightBrace">
            <a:avLst>
              <a:gd name="adj1" fmla="val 66936"/>
              <a:gd name="adj2" fmla="val 50000"/>
            </a:avLst>
          </a:prstGeom>
          <a:noFill/>
          <a:ln w="19050">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36"/>
          <p:cNvSpPr>
            <a:spLocks noChangeShapeType="1"/>
          </p:cNvSpPr>
          <p:nvPr/>
        </p:nvSpPr>
        <p:spPr bwMode="auto">
          <a:xfrm>
            <a:off x="3205855" y="2733853"/>
            <a:ext cx="0" cy="38770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37"/>
          <p:cNvSpPr>
            <a:spLocks noChangeShapeType="1"/>
          </p:cNvSpPr>
          <p:nvPr/>
        </p:nvSpPr>
        <p:spPr bwMode="auto">
          <a:xfrm>
            <a:off x="2764168" y="3115874"/>
            <a:ext cx="0" cy="193378"/>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38"/>
          <p:cNvSpPr>
            <a:spLocks noChangeShapeType="1"/>
          </p:cNvSpPr>
          <p:nvPr/>
        </p:nvSpPr>
        <p:spPr bwMode="auto">
          <a:xfrm>
            <a:off x="5269853" y="3097775"/>
            <a:ext cx="0" cy="193377"/>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Text Box 40"/>
          <p:cNvSpPr txBox="1">
            <a:spLocks noChangeArrowheads="1"/>
          </p:cNvSpPr>
          <p:nvPr/>
        </p:nvSpPr>
        <p:spPr bwMode="auto">
          <a:xfrm>
            <a:off x="3766221" y="2779691"/>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路由部分</a:t>
            </a:r>
          </a:p>
        </p:txBody>
      </p:sp>
      <p:sp>
        <p:nvSpPr>
          <p:cNvPr id="45" name="Line 47"/>
          <p:cNvSpPr>
            <a:spLocks noChangeShapeType="1"/>
          </p:cNvSpPr>
          <p:nvPr/>
        </p:nvSpPr>
        <p:spPr bwMode="auto">
          <a:xfrm>
            <a:off x="990194" y="1801498"/>
            <a:ext cx="2358074"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Text Box 48"/>
          <p:cNvSpPr txBox="1">
            <a:spLocks noChangeArrowheads="1"/>
          </p:cNvSpPr>
          <p:nvPr/>
        </p:nvSpPr>
        <p:spPr bwMode="auto">
          <a:xfrm>
            <a:off x="1936519" y="167256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47" name="Text Box 49"/>
          <p:cNvSpPr txBox="1">
            <a:spLocks noChangeArrowheads="1"/>
          </p:cNvSpPr>
          <p:nvPr/>
        </p:nvSpPr>
        <p:spPr bwMode="auto">
          <a:xfrm>
            <a:off x="4442167" y="185820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子网掩码</a:t>
            </a:r>
          </a:p>
        </p:txBody>
      </p:sp>
      <p:sp>
        <p:nvSpPr>
          <p:cNvPr id="48" name="Text Box 50"/>
          <p:cNvSpPr txBox="1">
            <a:spLocks noChangeArrowheads="1"/>
          </p:cNvSpPr>
          <p:nvPr/>
        </p:nvSpPr>
        <p:spPr bwMode="auto">
          <a:xfrm>
            <a:off x="4186237" y="2087777"/>
            <a:ext cx="14157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下一跳路由器地址</a:t>
            </a:r>
          </a:p>
        </p:txBody>
      </p:sp>
      <p:sp>
        <p:nvSpPr>
          <p:cNvPr id="49" name="Text Box 51"/>
          <p:cNvSpPr txBox="1">
            <a:spLocks noChangeArrowheads="1"/>
          </p:cNvSpPr>
          <p:nvPr/>
        </p:nvSpPr>
        <p:spPr bwMode="auto">
          <a:xfrm>
            <a:off x="3225464" y="3789122"/>
            <a:ext cx="1196161" cy="253916"/>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UDP </a:t>
            </a:r>
            <a:r>
              <a:rPr kumimoji="1" lang="zh-CN" altLang="en-US" sz="1050" b="1" dirty="0">
                <a:solidFill>
                  <a:srgbClr val="0000FF"/>
                </a:solidFill>
                <a:latin typeface="微软雅黑" pitchFamily="34" charset="-122"/>
                <a:ea typeface="微软雅黑" pitchFamily="34" charset="-122"/>
              </a:rPr>
              <a:t>用户数据报</a:t>
            </a:r>
          </a:p>
        </p:txBody>
      </p:sp>
      <p:sp>
        <p:nvSpPr>
          <p:cNvPr id="50" name="Line 52"/>
          <p:cNvSpPr>
            <a:spLocks noChangeShapeType="1"/>
          </p:cNvSpPr>
          <p:nvPr/>
        </p:nvSpPr>
        <p:spPr bwMode="auto">
          <a:xfrm>
            <a:off x="2296681" y="3733187"/>
            <a:ext cx="0" cy="200045"/>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矩形 51"/>
          <p:cNvSpPr/>
          <p:nvPr/>
        </p:nvSpPr>
        <p:spPr bwMode="auto">
          <a:xfrm>
            <a:off x="2764168" y="2743379"/>
            <a:ext cx="441687" cy="370561"/>
          </a:xfrm>
          <a:prstGeom prst="rect">
            <a:avLst/>
          </a:prstGeom>
          <a:solidFill>
            <a:srgbClr val="0000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微软雅黑" pitchFamily="34" charset="-122"/>
              <a:ea typeface="微软雅黑" pitchFamily="34" charset="-122"/>
            </a:endParaRPr>
          </a:p>
        </p:txBody>
      </p:sp>
      <p:sp>
        <p:nvSpPr>
          <p:cNvPr id="53" name="Text Box 39"/>
          <p:cNvSpPr txBox="1">
            <a:spLocks noChangeArrowheads="1"/>
          </p:cNvSpPr>
          <p:nvPr/>
        </p:nvSpPr>
        <p:spPr bwMode="auto">
          <a:xfrm>
            <a:off x="2749184" y="2799710"/>
            <a:ext cx="49244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54" name="Line 15"/>
          <p:cNvSpPr>
            <a:spLocks noChangeShapeType="1"/>
          </p:cNvSpPr>
          <p:nvPr/>
        </p:nvSpPr>
        <p:spPr bwMode="auto">
          <a:xfrm>
            <a:off x="5269853"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Rectangle 41"/>
          <p:cNvSpPr>
            <a:spLocks noChangeArrowheads="1"/>
          </p:cNvSpPr>
          <p:nvPr/>
        </p:nvSpPr>
        <p:spPr bwMode="auto">
          <a:xfrm>
            <a:off x="976778" y="1916309"/>
            <a:ext cx="2359107" cy="241007"/>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6" name="Line 42"/>
          <p:cNvSpPr>
            <a:spLocks noChangeShapeType="1"/>
          </p:cNvSpPr>
          <p:nvPr/>
        </p:nvSpPr>
        <p:spPr bwMode="auto">
          <a:xfrm rot="16200000">
            <a:off x="1444106" y="2038241"/>
            <a:ext cx="24386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43"/>
          <p:cNvSpPr>
            <a:spLocks noChangeShapeType="1"/>
          </p:cNvSpPr>
          <p:nvPr/>
        </p:nvSpPr>
        <p:spPr bwMode="auto">
          <a:xfrm rot="16200000">
            <a:off x="2033923" y="2038718"/>
            <a:ext cx="24481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Text Box 44"/>
          <p:cNvSpPr txBox="1">
            <a:spLocks noChangeArrowheads="1"/>
          </p:cNvSpPr>
          <p:nvPr/>
        </p:nvSpPr>
        <p:spPr bwMode="auto">
          <a:xfrm>
            <a:off x="2458702" y="1915395"/>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必为 </a:t>
            </a:r>
            <a:r>
              <a:rPr kumimoji="1" lang="en-US" altLang="zh-CN" sz="1200" b="1">
                <a:latin typeface="微软雅黑" pitchFamily="34" charset="-122"/>
                <a:ea typeface="微软雅黑" pitchFamily="34" charset="-122"/>
              </a:rPr>
              <a:t>0</a:t>
            </a:r>
          </a:p>
        </p:txBody>
      </p:sp>
      <p:sp>
        <p:nvSpPr>
          <p:cNvPr id="59" name="Text Box 45"/>
          <p:cNvSpPr txBox="1">
            <a:spLocks noChangeArrowheads="1"/>
          </p:cNvSpPr>
          <p:nvPr/>
        </p:nvSpPr>
        <p:spPr bwMode="auto">
          <a:xfrm>
            <a:off x="1647565" y="191158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版本</a:t>
            </a:r>
          </a:p>
        </p:txBody>
      </p:sp>
      <p:sp>
        <p:nvSpPr>
          <p:cNvPr id="60" name="Text Box 46"/>
          <p:cNvSpPr txBox="1">
            <a:spLocks noChangeArrowheads="1"/>
          </p:cNvSpPr>
          <p:nvPr/>
        </p:nvSpPr>
        <p:spPr bwMode="auto">
          <a:xfrm>
            <a:off x="1046953" y="190491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命令</a:t>
            </a:r>
          </a:p>
        </p:txBody>
      </p:sp>
      <p:cxnSp>
        <p:nvCxnSpPr>
          <p:cNvPr id="63" name="肘形连接符 62"/>
          <p:cNvCxnSpPr/>
          <p:nvPr/>
        </p:nvCxnSpPr>
        <p:spPr>
          <a:xfrm rot="16200000" flipH="1">
            <a:off x="5960690" y="2217125"/>
            <a:ext cx="1023883" cy="566091"/>
          </a:xfrm>
          <a:prstGeom prst="bentConnector3">
            <a:avLst/>
          </a:prstGeom>
          <a:ln w="12700">
            <a:solidFill>
              <a:srgbClr val="0070C0"/>
            </a:solidFill>
          </a:ln>
        </p:spPr>
        <p:style>
          <a:lnRef idx="1">
            <a:schemeClr val="accent1"/>
          </a:lnRef>
          <a:fillRef idx="0">
            <a:schemeClr val="accent1"/>
          </a:fillRef>
          <a:effectRef idx="0">
            <a:schemeClr val="accent1"/>
          </a:effectRef>
          <a:fontRef idx="minor">
            <a:schemeClr val="tx1"/>
          </a:fontRef>
        </p:style>
      </p:cxnSp>
      <p:sp>
        <p:nvSpPr>
          <p:cNvPr id="2" name="矩形 1"/>
          <p:cNvSpPr/>
          <p:nvPr/>
        </p:nvSpPr>
        <p:spPr>
          <a:xfrm>
            <a:off x="6341744" y="1253822"/>
            <a:ext cx="2036373" cy="1077218"/>
          </a:xfrm>
          <a:prstGeom prst="rect">
            <a:avLst/>
          </a:prstGeom>
          <a:solidFill>
            <a:schemeClr val="bg1"/>
          </a:solidFill>
        </p:spPr>
        <p:txBody>
          <a:bodyPr wrap="square">
            <a:spAutoFit/>
          </a:bodyPr>
          <a:lstStyle/>
          <a:p>
            <a:r>
              <a:rPr lang="en-US" altLang="zh-CN" sz="1600" b="1" dirty="0">
                <a:latin typeface="微软雅黑" panose="020B0503020204020204" pitchFamily="34" charset="-122"/>
                <a:ea typeface="微软雅黑" panose="020B0503020204020204" pitchFamily="34" charset="-122"/>
              </a:rPr>
              <a:t>RIP2 </a:t>
            </a:r>
            <a:r>
              <a:rPr lang="zh-CN" altLang="en-US" sz="1600" b="1" dirty="0">
                <a:latin typeface="微软雅黑" panose="020B0503020204020204" pitchFamily="34" charset="-122"/>
                <a:ea typeface="微软雅黑" panose="020B0503020204020204" pitchFamily="34" charset="-122"/>
              </a:rPr>
              <a:t>支持无分类域间路由选择 </a:t>
            </a:r>
            <a:r>
              <a:rPr lang="en-US" altLang="zh-CN" sz="1600" b="1" dirty="0">
                <a:latin typeface="微软雅黑" panose="020B0503020204020204" pitchFamily="34" charset="-122"/>
                <a:ea typeface="微软雅黑" panose="020B0503020204020204" pitchFamily="34" charset="-122"/>
              </a:rPr>
              <a:t>CIDR</a:t>
            </a:r>
            <a:r>
              <a:rPr lang="zh-CN" altLang="en-US" sz="1600" b="1" dirty="0">
                <a:latin typeface="微软雅黑" panose="020B0503020204020204" pitchFamily="34" charset="-122"/>
                <a:ea typeface="微软雅黑" panose="020B0503020204020204" pitchFamily="34" charset="-122"/>
              </a:rPr>
              <a:t>，提供简单的鉴别，支持多播。</a:t>
            </a:r>
          </a:p>
        </p:txBody>
      </p:sp>
      <p:sp>
        <p:nvSpPr>
          <p:cNvPr id="3" name="矩形 2"/>
          <p:cNvSpPr/>
          <p:nvPr/>
        </p:nvSpPr>
        <p:spPr>
          <a:xfrm>
            <a:off x="2820559" y="4331211"/>
            <a:ext cx="3502882"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en-US" altLang="zh-CN" sz="1400" dirty="0">
                <a:latin typeface="Montserrat" panose="00000500000000000000" pitchFamily="2" charset="0"/>
                <a:ea typeface="微软雅黑 Light" panose="020B0502040204020203" pitchFamily="34" charset="-122"/>
              </a:rPr>
              <a:t>RIP2 </a:t>
            </a:r>
            <a:r>
              <a:rPr kumimoji="1" lang="zh-CN" altLang="en-US" sz="1400" dirty="0">
                <a:latin typeface="Montserrat" panose="00000500000000000000" pitchFamily="2" charset="0"/>
                <a:ea typeface="微软雅黑 Light" panose="020B0502040204020203" pitchFamily="34" charset="-122"/>
              </a:rPr>
              <a:t>的报文用使用 </a:t>
            </a:r>
            <a:r>
              <a:rPr kumimoji="1" lang="en-US" altLang="zh-CN" sz="1400" dirty="0">
                <a:latin typeface="Montserrat" panose="00000500000000000000" pitchFamily="2" charset="0"/>
                <a:ea typeface="微软雅黑 Light" panose="020B0502040204020203" pitchFamily="34" charset="-122"/>
              </a:rPr>
              <a:t>UDP </a:t>
            </a:r>
            <a:r>
              <a:rPr kumimoji="1" lang="zh-CN" altLang="en-US" sz="1400" dirty="0">
                <a:latin typeface="Montserrat" panose="00000500000000000000" pitchFamily="2" charset="0"/>
                <a:ea typeface="微软雅黑 Light" panose="020B0502040204020203" pitchFamily="34" charset="-122"/>
              </a:rPr>
              <a:t>传送；端口 </a:t>
            </a:r>
            <a:r>
              <a:rPr kumimoji="1" lang="en-US" altLang="zh-CN" sz="1400" dirty="0">
                <a:latin typeface="Montserrat" panose="00000500000000000000" pitchFamily="2" charset="0"/>
                <a:ea typeface="微软雅黑 Light" panose="020B0502040204020203" pitchFamily="34" charset="-122"/>
              </a:rPr>
              <a:t>520</a:t>
            </a:r>
            <a:endParaRPr kumimoji="1" lang="zh-CN" altLang="en-US" sz="1400" dirty="0">
              <a:latin typeface="Montserrat" panose="00000500000000000000" pitchFamily="2" charset="0"/>
              <a:ea typeface="微软雅黑 Light" panose="020B0502040204020203" pitchFamily="34" charset="-122"/>
            </a:endParaRPr>
          </a:p>
        </p:txBody>
      </p:sp>
      <p:sp>
        <p:nvSpPr>
          <p:cNvPr id="4" name="标题 3">
            <a:extLst>
              <a:ext uri="{FF2B5EF4-FFF2-40B4-BE49-F238E27FC236}">
                <a16:creationId xmlns:a16="http://schemas.microsoft.com/office/drawing/2014/main" id="{0CE638F9-5D69-78D0-3315-54C9A36676C4}"/>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Tree>
    <p:extLst>
      <p:ext uri="{BB962C8B-B14F-4D97-AF65-F5344CB8AC3E}">
        <p14:creationId xmlns:p14="http://schemas.microsoft.com/office/powerpoint/2010/main" val="180721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425714"/>
            <a:ext cx="184731" cy="400110"/>
          </a:xfrm>
          <a:prstGeom prst="rect">
            <a:avLst/>
          </a:prstGeom>
        </p:spPr>
        <p:txBody>
          <a:bodyPr wrap="none">
            <a:spAutoFit/>
          </a:bodyPr>
          <a:lstStyle/>
          <a:p>
            <a:endParaRPr lang="zh-CN" altLang="en-US" sz="2000" b="1" dirty="0">
              <a:latin typeface="微软雅黑" pitchFamily="34" charset="-122"/>
              <a:ea typeface="微软雅黑" pitchFamily="34" charset="-122"/>
            </a:endParaRPr>
          </a:p>
        </p:txBody>
      </p:sp>
      <p:sp>
        <p:nvSpPr>
          <p:cNvPr id="5" name="标题 4">
            <a:extLst>
              <a:ext uri="{FF2B5EF4-FFF2-40B4-BE49-F238E27FC236}">
                <a16:creationId xmlns:a16="http://schemas.microsoft.com/office/drawing/2014/main" id="{809C51C1-88F7-237E-F2F6-20CA5C906DE5}"/>
              </a:ext>
            </a:extLst>
          </p:cNvPr>
          <p:cNvSpPr>
            <a:spLocks noGrp="1"/>
          </p:cNvSpPr>
          <p:nvPr>
            <p:ph type="title"/>
          </p:nvPr>
        </p:nvSpPr>
        <p:spPr>
          <a:xfrm>
            <a:off x="486000" y="550723"/>
            <a:ext cx="8172000" cy="338554"/>
          </a:xfrm>
        </p:spPr>
        <p:txBody>
          <a:bodyPr/>
          <a:lstStyle/>
          <a:p>
            <a:r>
              <a:rPr lang="en-US" altLang="zh-CN" dirty="0"/>
              <a:t>RIP2 </a:t>
            </a:r>
            <a:r>
              <a:rPr lang="zh-CN" altLang="en-US" dirty="0"/>
              <a:t>报文</a:t>
            </a:r>
          </a:p>
        </p:txBody>
      </p:sp>
      <p:sp>
        <p:nvSpPr>
          <p:cNvPr id="6" name="内容占位符 5">
            <a:extLst>
              <a:ext uri="{FF2B5EF4-FFF2-40B4-BE49-F238E27FC236}">
                <a16:creationId xmlns:a16="http://schemas.microsoft.com/office/drawing/2014/main" id="{089D5042-00BA-928B-7848-15938DC37FD3}"/>
              </a:ext>
            </a:extLst>
          </p:cNvPr>
          <p:cNvSpPr>
            <a:spLocks noGrp="1"/>
          </p:cNvSpPr>
          <p:nvPr>
            <p:ph sz="quarter" idx="11"/>
          </p:nvPr>
        </p:nvSpPr>
        <p:spPr>
          <a:xfrm>
            <a:off x="486000" y="900000"/>
            <a:ext cx="8172000" cy="3703500"/>
          </a:xfrm>
        </p:spPr>
        <p:txBody>
          <a:bodyPr/>
          <a:lstStyle/>
          <a:p>
            <a:r>
              <a:rPr lang="zh-CN" altLang="en-US" dirty="0"/>
              <a:t>组成：首部和路由 </a:t>
            </a:r>
            <a:r>
              <a:rPr lang="en-US" altLang="zh-CN" dirty="0"/>
              <a:t>2 </a:t>
            </a:r>
            <a:r>
              <a:rPr lang="zh-CN" altLang="en-US" dirty="0"/>
              <a:t>个部分</a:t>
            </a:r>
          </a:p>
          <a:p>
            <a:r>
              <a:rPr lang="zh-CN" altLang="en-US" dirty="0"/>
              <a:t>路由部分：由若干个路由信息组成。每个路由信息共 </a:t>
            </a:r>
            <a:r>
              <a:rPr lang="en-US" altLang="zh-CN" dirty="0"/>
              <a:t>20 </a:t>
            </a:r>
            <a:r>
              <a:rPr lang="zh-CN" altLang="en-US" dirty="0"/>
              <a:t>个字节</a:t>
            </a:r>
            <a:endParaRPr lang="en-US" altLang="zh-CN" dirty="0"/>
          </a:p>
          <a:p>
            <a:pPr lvl="1"/>
            <a:r>
              <a:rPr lang="zh-CN" altLang="en-US" dirty="0"/>
              <a:t>地址族标识符（又称为地址类别）字段用来标志所使用的地址协议</a:t>
            </a:r>
          </a:p>
          <a:p>
            <a:pPr lvl="1"/>
            <a:r>
              <a:rPr lang="zh-CN" altLang="en-US" dirty="0"/>
              <a:t>路由标记填入自治系统的号码</a:t>
            </a:r>
          </a:p>
          <a:p>
            <a:pPr lvl="1"/>
            <a:r>
              <a:rPr lang="zh-CN" altLang="en-US" dirty="0"/>
              <a:t>后面为具体路由，指出某个网络地址、该网络的子网掩码、下一跳路由器地址以及到此网络的距离 </a:t>
            </a:r>
            <a:endParaRPr lang="en-US" altLang="zh-CN" dirty="0"/>
          </a:p>
          <a:p>
            <a:r>
              <a:rPr lang="zh-CN" altLang="en-US" dirty="0"/>
              <a:t>一个 </a:t>
            </a:r>
            <a:r>
              <a:rPr lang="en-US" altLang="zh-CN" dirty="0"/>
              <a:t>RIP </a:t>
            </a:r>
            <a:r>
              <a:rPr lang="zh-CN" altLang="en-US" dirty="0"/>
              <a:t>报文最多可包括 </a:t>
            </a:r>
            <a:r>
              <a:rPr lang="en-US" altLang="zh-CN" dirty="0"/>
              <a:t>25 </a:t>
            </a:r>
            <a:r>
              <a:rPr lang="zh-CN" altLang="en-US" dirty="0"/>
              <a:t>个路由，因而 </a:t>
            </a:r>
            <a:r>
              <a:rPr lang="en-US" altLang="zh-CN" dirty="0"/>
              <a:t>RIP </a:t>
            </a:r>
            <a:r>
              <a:rPr lang="zh-CN" altLang="en-US" dirty="0"/>
              <a:t>报文的最大长度是 </a:t>
            </a:r>
            <a:r>
              <a:rPr lang="en-US" altLang="zh-CN" dirty="0"/>
              <a:t>4+20 x25=504 </a:t>
            </a:r>
            <a:r>
              <a:rPr lang="zh-CN" altLang="en-US" dirty="0"/>
              <a:t>字节如超过，必须再用一个 </a:t>
            </a:r>
            <a:r>
              <a:rPr lang="en-US" altLang="zh-CN" dirty="0"/>
              <a:t>RIP </a:t>
            </a:r>
            <a:r>
              <a:rPr lang="zh-CN" altLang="en-US" dirty="0"/>
              <a:t>报文来传送</a:t>
            </a:r>
          </a:p>
          <a:p>
            <a:r>
              <a:rPr lang="en-US" altLang="zh-CN" dirty="0"/>
              <a:t>RIP2 </a:t>
            </a:r>
            <a:r>
              <a:rPr lang="zh-CN" altLang="en-US" dirty="0"/>
              <a:t>具有简单的鉴别功能</a:t>
            </a:r>
          </a:p>
          <a:p>
            <a:endParaRPr lang="zh-CN" altLang="en-US" dirty="0"/>
          </a:p>
        </p:txBody>
      </p:sp>
    </p:spTree>
    <p:extLst>
      <p:ext uri="{BB962C8B-B14F-4D97-AF65-F5344CB8AC3E}">
        <p14:creationId xmlns:p14="http://schemas.microsoft.com/office/powerpoint/2010/main" val="1447518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5D96CA47-40FD-825B-1CD7-FDF4A8F282CA}"/>
              </a:ext>
            </a:extLst>
          </p:cNvPr>
          <p:cNvSpPr>
            <a:spLocks noGrp="1"/>
          </p:cNvSpPr>
          <p:nvPr>
            <p:ph type="title"/>
          </p:nvPr>
        </p:nvSpPr>
        <p:spPr>
          <a:xfrm>
            <a:off x="486000" y="550723"/>
            <a:ext cx="8172000" cy="338554"/>
          </a:xfrm>
        </p:spPr>
        <p:txBody>
          <a:bodyPr/>
          <a:lstStyle/>
          <a:p>
            <a:r>
              <a:rPr lang="en-US" altLang="zh-CN" dirty="0"/>
              <a:t>3. </a:t>
            </a:r>
            <a:r>
              <a:rPr lang="zh-CN" altLang="en-US" dirty="0"/>
              <a:t>坏消息传播得慢</a:t>
            </a:r>
          </a:p>
        </p:txBody>
      </p:sp>
      <p:sp>
        <p:nvSpPr>
          <p:cNvPr id="6" name="内容占位符 5">
            <a:extLst>
              <a:ext uri="{FF2B5EF4-FFF2-40B4-BE49-F238E27FC236}">
                <a16:creationId xmlns:a16="http://schemas.microsoft.com/office/drawing/2014/main" id="{8A42E13A-2D72-6CF6-B62B-BD3F40DE78B1}"/>
              </a:ext>
            </a:extLst>
          </p:cNvPr>
          <p:cNvSpPr>
            <a:spLocks noGrp="1"/>
          </p:cNvSpPr>
          <p:nvPr>
            <p:ph sz="quarter" idx="11"/>
          </p:nvPr>
        </p:nvSpPr>
        <p:spPr>
          <a:xfrm>
            <a:off x="486000" y="900000"/>
            <a:ext cx="8172000" cy="3703500"/>
          </a:xfrm>
        </p:spPr>
        <p:txBody>
          <a:bodyPr/>
          <a:lstStyle/>
          <a:p>
            <a:r>
              <a:rPr lang="en-US" altLang="zh-CN" dirty="0"/>
              <a:t>RIP </a:t>
            </a:r>
            <a:r>
              <a:rPr lang="zh-CN" altLang="en-US" dirty="0"/>
              <a:t>协议特点：</a:t>
            </a:r>
            <a:endParaRPr lang="en-US" altLang="zh-CN" dirty="0"/>
          </a:p>
          <a:p>
            <a:pPr lvl="1"/>
            <a:r>
              <a:rPr lang="zh-CN" altLang="en-US" dirty="0"/>
              <a:t>好消息传播得快，坏消息传播得慢 </a:t>
            </a:r>
            <a:r>
              <a:rPr lang="en-US" altLang="zh-CN" dirty="0"/>
              <a:t>- </a:t>
            </a:r>
            <a:r>
              <a:rPr lang="zh-CN" altLang="en-US" dirty="0"/>
              <a:t>慢收敛</a:t>
            </a:r>
          </a:p>
          <a:p>
            <a:pPr lvl="1"/>
            <a:r>
              <a:rPr lang="zh-CN" altLang="en-US" dirty="0"/>
              <a:t>当网络出现故障时，要经过比较长的时间才能将此信息（坏消息）传送到所有的路由器</a:t>
            </a:r>
          </a:p>
          <a:p>
            <a:endParaRPr lang="zh-CN" altLang="en-US" dirty="0"/>
          </a:p>
        </p:txBody>
      </p:sp>
    </p:spTree>
    <p:extLst>
      <p:ext uri="{BB962C8B-B14F-4D97-AF65-F5344CB8AC3E}">
        <p14:creationId xmlns:p14="http://schemas.microsoft.com/office/powerpoint/2010/main" val="1801613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162496"/>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 name="Text Box 4"/>
          <p:cNvSpPr txBox="1">
            <a:spLocks noChangeArrowheads="1"/>
          </p:cNvSpPr>
          <p:nvPr/>
        </p:nvSpPr>
        <p:spPr bwMode="auto">
          <a:xfrm>
            <a:off x="5494037"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8" name="Text Box 5"/>
          <p:cNvSpPr txBox="1">
            <a:spLocks noChangeArrowheads="1"/>
          </p:cNvSpPr>
          <p:nvPr/>
        </p:nvSpPr>
        <p:spPr bwMode="auto">
          <a:xfrm>
            <a:off x="2983356"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9" name="Picture 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162496"/>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2" name="表格 1">
            <a:extLst>
              <a:ext uri="{FF2B5EF4-FFF2-40B4-BE49-F238E27FC236}">
                <a16:creationId xmlns:a16="http://schemas.microsoft.com/office/drawing/2014/main" id="{C26FBE48-E7D3-74FE-E2B4-A85378AC92BE}"/>
              </a:ext>
            </a:extLst>
          </p:cNvPr>
          <p:cNvGraphicFramePr>
            <a:graphicFrameLocks noGrp="1"/>
          </p:cNvGraphicFramePr>
          <p:nvPr>
            <p:extLst>
              <p:ext uri="{D42A27DB-BD31-4B8C-83A1-F6EECF244321}">
                <p14:modId xmlns:p14="http://schemas.microsoft.com/office/powerpoint/2010/main" val="649830595"/>
              </p:ext>
            </p:extLst>
          </p:nvPr>
        </p:nvGraphicFramePr>
        <p:xfrm>
          <a:off x="2435301" y="16582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 name="表格 2">
            <a:extLst>
              <a:ext uri="{FF2B5EF4-FFF2-40B4-BE49-F238E27FC236}">
                <a16:creationId xmlns:a16="http://schemas.microsoft.com/office/drawing/2014/main" id="{77202735-62C2-C7A6-39E0-F6BC8C707BB4}"/>
              </a:ext>
            </a:extLst>
          </p:cNvPr>
          <p:cNvGraphicFramePr>
            <a:graphicFrameLocks noGrp="1"/>
          </p:cNvGraphicFramePr>
          <p:nvPr>
            <p:extLst>
              <p:ext uri="{D42A27DB-BD31-4B8C-83A1-F6EECF244321}">
                <p14:modId xmlns:p14="http://schemas.microsoft.com/office/powerpoint/2010/main" val="2435594007"/>
              </p:ext>
            </p:extLst>
          </p:nvPr>
        </p:nvGraphicFramePr>
        <p:xfrm>
          <a:off x="4959608" y="165207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4" name="云形 3">
            <a:extLst>
              <a:ext uri="{FF2B5EF4-FFF2-40B4-BE49-F238E27FC236}">
                <a16:creationId xmlns:a16="http://schemas.microsoft.com/office/drawing/2014/main" id="{97C8CB96-5C77-F62B-56DD-408B260BB4A6}"/>
              </a:ext>
            </a:extLst>
          </p:cNvPr>
          <p:cNvSpPr/>
          <p:nvPr/>
        </p:nvSpPr>
        <p:spPr>
          <a:xfrm>
            <a:off x="1357474"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N1</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52" name="云形 51">
            <a:extLst>
              <a:ext uri="{FF2B5EF4-FFF2-40B4-BE49-F238E27FC236}">
                <a16:creationId xmlns:a16="http://schemas.microsoft.com/office/drawing/2014/main" id="{D8820B3A-CA46-F49E-645B-9E9C1176E83A}"/>
              </a:ext>
            </a:extLst>
          </p:cNvPr>
          <p:cNvSpPr/>
          <p:nvPr/>
        </p:nvSpPr>
        <p:spPr>
          <a:xfrm>
            <a:off x="3881780"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53" name="云形 52">
            <a:extLst>
              <a:ext uri="{FF2B5EF4-FFF2-40B4-BE49-F238E27FC236}">
                <a16:creationId xmlns:a16="http://schemas.microsoft.com/office/drawing/2014/main" id="{7BAC82BE-22D4-5197-E48E-D416DF6C279C}"/>
              </a:ext>
            </a:extLst>
          </p:cNvPr>
          <p:cNvSpPr/>
          <p:nvPr/>
        </p:nvSpPr>
        <p:spPr>
          <a:xfrm>
            <a:off x="6406086"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55" name="直接连接符 54">
            <a:extLst>
              <a:ext uri="{FF2B5EF4-FFF2-40B4-BE49-F238E27FC236}">
                <a16:creationId xmlns:a16="http://schemas.microsoft.com/office/drawing/2014/main" id="{A3162DE1-BA45-5C6B-1046-D536B5A66FDB}"/>
              </a:ext>
            </a:extLst>
          </p:cNvPr>
          <p:cNvCxnSpPr>
            <a:stCxn id="4" idx="0"/>
            <a:endCxn id="6" idx="1"/>
          </p:cNvCxnSpPr>
          <p:nvPr/>
        </p:nvCxnSpPr>
        <p:spPr>
          <a:xfrm>
            <a:off x="2427930" y="1266115"/>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1D4EEF64-B9B7-F2EB-6650-F88F75AA1F90}"/>
              </a:ext>
            </a:extLst>
          </p:cNvPr>
          <p:cNvCxnSpPr>
            <a:stCxn id="6" idx="3"/>
            <a:endCxn id="52" idx="2"/>
          </p:cNvCxnSpPr>
          <p:nvPr/>
        </p:nvCxnSpPr>
        <p:spPr>
          <a:xfrm>
            <a:off x="3396936" y="1266115"/>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B0A97094-EB52-73A1-21EB-8E4BE7F014C5}"/>
              </a:ext>
            </a:extLst>
          </p:cNvPr>
          <p:cNvCxnSpPr>
            <a:stCxn id="52" idx="0"/>
            <a:endCxn id="9" idx="1"/>
          </p:cNvCxnSpPr>
          <p:nvPr/>
        </p:nvCxnSpPr>
        <p:spPr>
          <a:xfrm>
            <a:off x="4952236" y="1266115"/>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73300B92-EA6D-F89A-286A-FE22530E9172}"/>
              </a:ext>
            </a:extLst>
          </p:cNvPr>
          <p:cNvCxnSpPr>
            <a:stCxn id="53" idx="2"/>
            <a:endCxn id="9" idx="3"/>
          </p:cNvCxnSpPr>
          <p:nvPr/>
        </p:nvCxnSpPr>
        <p:spPr>
          <a:xfrm flipH="1">
            <a:off x="5921769" y="1266115"/>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0046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4329254"/>
            <a:ext cx="7200000" cy="3600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 </a:t>
            </a:r>
            <a:r>
              <a:rPr lang="en-US" altLang="zh-CN" dirty="0"/>
              <a:t>R2</a:t>
            </a:r>
            <a:r>
              <a:rPr lang="zh-CN" altLang="en-US" dirty="0"/>
              <a:t>：在收到 </a:t>
            </a:r>
            <a:r>
              <a:rPr lang="en-US" altLang="zh-CN" dirty="0"/>
              <a:t>R1 </a:t>
            </a:r>
            <a:r>
              <a:rPr lang="zh-CN" altLang="en-US" dirty="0"/>
              <a:t>的更新报文之前，还发送原来的报文 </a:t>
            </a:r>
            <a:r>
              <a:rPr lang="en-US" altLang="zh-CN" dirty="0"/>
              <a:t>- </a:t>
            </a:r>
            <a:r>
              <a:rPr lang="zh-CN" altLang="en-US" dirty="0"/>
              <a:t>因为这时 </a:t>
            </a:r>
            <a:r>
              <a:rPr lang="en-US" altLang="zh-CN" dirty="0"/>
              <a:t>R2 </a:t>
            </a:r>
            <a:r>
              <a:rPr lang="zh-CN" altLang="en-US" dirty="0"/>
              <a:t>并不知道 </a:t>
            </a:r>
            <a:r>
              <a:rPr lang="en-US" altLang="zh-CN" dirty="0"/>
              <a:t>R1 </a:t>
            </a:r>
            <a:r>
              <a:rPr lang="zh-CN" altLang="en-US" dirty="0"/>
              <a:t>出了故障</a:t>
            </a:r>
          </a:p>
        </p:txBody>
      </p:sp>
      <p:pic>
        <p:nvPicPr>
          <p:cNvPr id="15" name="Picture 3">
            <a:extLst>
              <a:ext uri="{FF2B5EF4-FFF2-40B4-BE49-F238E27FC236}">
                <a16:creationId xmlns:a16="http://schemas.microsoft.com/office/drawing/2014/main" id="{095DACD3-50CF-8D86-D76C-7A9B1E68CEE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162496"/>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 name="Text Box 4">
            <a:extLst>
              <a:ext uri="{FF2B5EF4-FFF2-40B4-BE49-F238E27FC236}">
                <a16:creationId xmlns:a16="http://schemas.microsoft.com/office/drawing/2014/main" id="{6C410459-D8AF-4594-88AA-C8105427234F}"/>
              </a:ext>
            </a:extLst>
          </p:cNvPr>
          <p:cNvSpPr txBox="1">
            <a:spLocks noChangeArrowheads="1"/>
          </p:cNvSpPr>
          <p:nvPr/>
        </p:nvSpPr>
        <p:spPr bwMode="auto">
          <a:xfrm>
            <a:off x="5494037"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7" name="Text Box 5">
            <a:extLst>
              <a:ext uri="{FF2B5EF4-FFF2-40B4-BE49-F238E27FC236}">
                <a16:creationId xmlns:a16="http://schemas.microsoft.com/office/drawing/2014/main" id="{063914FB-6962-5832-6FCB-BC03976C43B5}"/>
              </a:ext>
            </a:extLst>
          </p:cNvPr>
          <p:cNvSpPr txBox="1">
            <a:spLocks noChangeArrowheads="1"/>
          </p:cNvSpPr>
          <p:nvPr/>
        </p:nvSpPr>
        <p:spPr bwMode="auto">
          <a:xfrm>
            <a:off x="2983356"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8" name="Picture 6">
            <a:extLst>
              <a:ext uri="{FF2B5EF4-FFF2-40B4-BE49-F238E27FC236}">
                <a16:creationId xmlns:a16="http://schemas.microsoft.com/office/drawing/2014/main" id="{0612E2BF-A862-D213-3FA2-7408D88589BD}"/>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162496"/>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云形 20">
            <a:extLst>
              <a:ext uri="{FF2B5EF4-FFF2-40B4-BE49-F238E27FC236}">
                <a16:creationId xmlns:a16="http://schemas.microsoft.com/office/drawing/2014/main" id="{93C01018-2652-C00B-D6DD-031CE2CD7359}"/>
              </a:ext>
            </a:extLst>
          </p:cNvPr>
          <p:cNvSpPr/>
          <p:nvPr/>
        </p:nvSpPr>
        <p:spPr>
          <a:xfrm>
            <a:off x="1357474"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N1</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22" name="云形 21">
            <a:extLst>
              <a:ext uri="{FF2B5EF4-FFF2-40B4-BE49-F238E27FC236}">
                <a16:creationId xmlns:a16="http://schemas.microsoft.com/office/drawing/2014/main" id="{3F1FE95B-5544-EF3F-2B80-E0628E38CC43}"/>
              </a:ext>
            </a:extLst>
          </p:cNvPr>
          <p:cNvSpPr/>
          <p:nvPr/>
        </p:nvSpPr>
        <p:spPr>
          <a:xfrm>
            <a:off x="3881780"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23" name="云形 22">
            <a:extLst>
              <a:ext uri="{FF2B5EF4-FFF2-40B4-BE49-F238E27FC236}">
                <a16:creationId xmlns:a16="http://schemas.microsoft.com/office/drawing/2014/main" id="{7DFB2D4B-5011-F10C-9AA9-00481E0851AB}"/>
              </a:ext>
            </a:extLst>
          </p:cNvPr>
          <p:cNvSpPr/>
          <p:nvPr/>
        </p:nvSpPr>
        <p:spPr>
          <a:xfrm>
            <a:off x="6406086"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24" name="直接连接符 23">
            <a:extLst>
              <a:ext uri="{FF2B5EF4-FFF2-40B4-BE49-F238E27FC236}">
                <a16:creationId xmlns:a16="http://schemas.microsoft.com/office/drawing/2014/main" id="{FD51359A-F44B-2DEC-FB16-30B5867A1614}"/>
              </a:ext>
            </a:extLst>
          </p:cNvPr>
          <p:cNvCxnSpPr>
            <a:stCxn id="21" idx="0"/>
            <a:endCxn id="15" idx="1"/>
          </p:cNvCxnSpPr>
          <p:nvPr/>
        </p:nvCxnSpPr>
        <p:spPr>
          <a:xfrm>
            <a:off x="2427930" y="1266115"/>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250ADA94-5C0B-8779-E390-04BBC05B3D0F}"/>
              </a:ext>
            </a:extLst>
          </p:cNvPr>
          <p:cNvCxnSpPr>
            <a:stCxn id="15" idx="3"/>
            <a:endCxn id="22" idx="2"/>
          </p:cNvCxnSpPr>
          <p:nvPr/>
        </p:nvCxnSpPr>
        <p:spPr>
          <a:xfrm>
            <a:off x="3396936" y="1266115"/>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712BC323-22A6-E459-E3F1-A8CBC49448B7}"/>
              </a:ext>
            </a:extLst>
          </p:cNvPr>
          <p:cNvCxnSpPr>
            <a:stCxn id="22" idx="0"/>
            <a:endCxn id="18" idx="1"/>
          </p:cNvCxnSpPr>
          <p:nvPr/>
        </p:nvCxnSpPr>
        <p:spPr>
          <a:xfrm>
            <a:off x="4952236" y="1266115"/>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E71E3A2F-6AFD-3D87-59A8-CF7FDE767E6F}"/>
              </a:ext>
            </a:extLst>
          </p:cNvPr>
          <p:cNvCxnSpPr>
            <a:stCxn id="23" idx="2"/>
            <a:endCxn id="18" idx="3"/>
          </p:cNvCxnSpPr>
          <p:nvPr/>
        </p:nvCxnSpPr>
        <p:spPr>
          <a:xfrm flipH="1">
            <a:off x="5921769" y="1266115"/>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pic>
        <p:nvPicPr>
          <p:cNvPr id="28" name="Picture 3">
            <a:extLst>
              <a:ext uri="{FF2B5EF4-FFF2-40B4-BE49-F238E27FC236}">
                <a16:creationId xmlns:a16="http://schemas.microsoft.com/office/drawing/2014/main" id="{8C7751AB-0C76-6136-8E6A-20DB7A38359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2714539"/>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9" name="Text Box 4">
            <a:extLst>
              <a:ext uri="{FF2B5EF4-FFF2-40B4-BE49-F238E27FC236}">
                <a16:creationId xmlns:a16="http://schemas.microsoft.com/office/drawing/2014/main" id="{6C8133D3-2EAE-E541-B860-A00791E330AD}"/>
              </a:ext>
            </a:extLst>
          </p:cNvPr>
          <p:cNvSpPr txBox="1">
            <a:spLocks noChangeArrowheads="1"/>
          </p:cNvSpPr>
          <p:nvPr/>
        </p:nvSpPr>
        <p:spPr bwMode="auto">
          <a:xfrm>
            <a:off x="5494037" y="2842667"/>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30" name="Text Box 5">
            <a:extLst>
              <a:ext uri="{FF2B5EF4-FFF2-40B4-BE49-F238E27FC236}">
                <a16:creationId xmlns:a16="http://schemas.microsoft.com/office/drawing/2014/main" id="{B1665850-441D-91BD-8DC0-71032E49BB30}"/>
              </a:ext>
            </a:extLst>
          </p:cNvPr>
          <p:cNvSpPr txBox="1">
            <a:spLocks noChangeArrowheads="1"/>
          </p:cNvSpPr>
          <p:nvPr/>
        </p:nvSpPr>
        <p:spPr bwMode="auto">
          <a:xfrm>
            <a:off x="2983356" y="2842667"/>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31" name="Picture 6">
            <a:extLst>
              <a:ext uri="{FF2B5EF4-FFF2-40B4-BE49-F238E27FC236}">
                <a16:creationId xmlns:a16="http://schemas.microsoft.com/office/drawing/2014/main" id="{FE385C5A-6AC3-ADDA-B35F-E2C8E7A349FC}"/>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2714539"/>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32" name="表格 31">
            <a:extLst>
              <a:ext uri="{FF2B5EF4-FFF2-40B4-BE49-F238E27FC236}">
                <a16:creationId xmlns:a16="http://schemas.microsoft.com/office/drawing/2014/main" id="{3CFBA5F1-35AD-47AE-F0DA-BA3CF933798B}"/>
              </a:ext>
            </a:extLst>
          </p:cNvPr>
          <p:cNvGraphicFramePr>
            <a:graphicFrameLocks noGrp="1"/>
          </p:cNvGraphicFramePr>
          <p:nvPr>
            <p:extLst>
              <p:ext uri="{D42A27DB-BD31-4B8C-83A1-F6EECF244321}">
                <p14:modId xmlns:p14="http://schemas.microsoft.com/office/powerpoint/2010/main" val="796641718"/>
              </p:ext>
            </p:extLst>
          </p:nvPr>
        </p:nvGraphicFramePr>
        <p:xfrm>
          <a:off x="2435301" y="321713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3" name="表格 32">
            <a:extLst>
              <a:ext uri="{FF2B5EF4-FFF2-40B4-BE49-F238E27FC236}">
                <a16:creationId xmlns:a16="http://schemas.microsoft.com/office/drawing/2014/main" id="{13D1222C-C1AE-E213-E7CF-D9E6A7906E18}"/>
              </a:ext>
            </a:extLst>
          </p:cNvPr>
          <p:cNvGraphicFramePr>
            <a:graphicFrameLocks noGrp="1"/>
          </p:cNvGraphicFramePr>
          <p:nvPr>
            <p:extLst>
              <p:ext uri="{D42A27DB-BD31-4B8C-83A1-F6EECF244321}">
                <p14:modId xmlns:p14="http://schemas.microsoft.com/office/powerpoint/2010/main" val="2493577661"/>
              </p:ext>
            </p:extLst>
          </p:nvPr>
        </p:nvGraphicFramePr>
        <p:xfrm>
          <a:off x="4959608" y="3210942"/>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34" name="云形 33">
            <a:extLst>
              <a:ext uri="{FF2B5EF4-FFF2-40B4-BE49-F238E27FC236}">
                <a16:creationId xmlns:a16="http://schemas.microsoft.com/office/drawing/2014/main" id="{4F676FB7-0589-B258-3F58-1269D55EA31D}"/>
              </a:ext>
            </a:extLst>
          </p:cNvPr>
          <p:cNvSpPr/>
          <p:nvPr/>
        </p:nvSpPr>
        <p:spPr>
          <a:xfrm>
            <a:off x="1357474" y="2418962"/>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35" name="云形 34">
            <a:extLst>
              <a:ext uri="{FF2B5EF4-FFF2-40B4-BE49-F238E27FC236}">
                <a16:creationId xmlns:a16="http://schemas.microsoft.com/office/drawing/2014/main" id="{9916285C-87CF-C51A-7AC2-81FC15C67139}"/>
              </a:ext>
            </a:extLst>
          </p:cNvPr>
          <p:cNvSpPr/>
          <p:nvPr/>
        </p:nvSpPr>
        <p:spPr>
          <a:xfrm>
            <a:off x="3881780" y="2418962"/>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36" name="云形 35">
            <a:extLst>
              <a:ext uri="{FF2B5EF4-FFF2-40B4-BE49-F238E27FC236}">
                <a16:creationId xmlns:a16="http://schemas.microsoft.com/office/drawing/2014/main" id="{250F636E-56B1-FD72-0B97-F1442F4863BC}"/>
              </a:ext>
            </a:extLst>
          </p:cNvPr>
          <p:cNvSpPr/>
          <p:nvPr/>
        </p:nvSpPr>
        <p:spPr>
          <a:xfrm>
            <a:off x="6406086" y="2418962"/>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37" name="直接连接符 36">
            <a:extLst>
              <a:ext uri="{FF2B5EF4-FFF2-40B4-BE49-F238E27FC236}">
                <a16:creationId xmlns:a16="http://schemas.microsoft.com/office/drawing/2014/main" id="{B1C0BAED-B66B-C9B2-A4EE-F3D5E3FD9348}"/>
              </a:ext>
            </a:extLst>
          </p:cNvPr>
          <p:cNvCxnSpPr>
            <a:stCxn id="34" idx="0"/>
            <a:endCxn id="28" idx="1"/>
          </p:cNvCxnSpPr>
          <p:nvPr/>
        </p:nvCxnSpPr>
        <p:spPr>
          <a:xfrm>
            <a:off x="2427930" y="2818158"/>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ADEFB774-9C9F-CEE3-2E6E-105529A94CAE}"/>
              </a:ext>
            </a:extLst>
          </p:cNvPr>
          <p:cNvCxnSpPr>
            <a:stCxn id="28" idx="3"/>
            <a:endCxn id="35" idx="2"/>
          </p:cNvCxnSpPr>
          <p:nvPr/>
        </p:nvCxnSpPr>
        <p:spPr>
          <a:xfrm>
            <a:off x="3396936" y="2818158"/>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EDCBF360-0852-C021-EB80-0407232C1031}"/>
              </a:ext>
            </a:extLst>
          </p:cNvPr>
          <p:cNvCxnSpPr>
            <a:stCxn id="35" idx="0"/>
            <a:endCxn id="31" idx="1"/>
          </p:cNvCxnSpPr>
          <p:nvPr/>
        </p:nvCxnSpPr>
        <p:spPr>
          <a:xfrm>
            <a:off x="4952236" y="2818158"/>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B3F22F87-A0FB-8088-DB2D-6B37AEE638D1}"/>
              </a:ext>
            </a:extLst>
          </p:cNvPr>
          <p:cNvCxnSpPr>
            <a:stCxn id="36" idx="2"/>
            <a:endCxn id="31" idx="3"/>
          </p:cNvCxnSpPr>
          <p:nvPr/>
        </p:nvCxnSpPr>
        <p:spPr>
          <a:xfrm flipH="1">
            <a:off x="5921769" y="2818158"/>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101" name="表格 100">
            <a:extLst>
              <a:ext uri="{FF2B5EF4-FFF2-40B4-BE49-F238E27FC236}">
                <a16:creationId xmlns:a16="http://schemas.microsoft.com/office/drawing/2014/main" id="{1479F180-F725-460B-23A0-54B1F36ACAF8}"/>
              </a:ext>
            </a:extLst>
          </p:cNvPr>
          <p:cNvGraphicFramePr>
            <a:graphicFrameLocks noGrp="1"/>
          </p:cNvGraphicFramePr>
          <p:nvPr>
            <p:extLst>
              <p:ext uri="{D42A27DB-BD31-4B8C-83A1-F6EECF244321}">
                <p14:modId xmlns:p14="http://schemas.microsoft.com/office/powerpoint/2010/main" val="4077933124"/>
              </p:ext>
            </p:extLst>
          </p:nvPr>
        </p:nvGraphicFramePr>
        <p:xfrm>
          <a:off x="2435301" y="16582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02" name="表格 101">
            <a:extLst>
              <a:ext uri="{FF2B5EF4-FFF2-40B4-BE49-F238E27FC236}">
                <a16:creationId xmlns:a16="http://schemas.microsoft.com/office/drawing/2014/main" id="{7774D4D5-2E80-379E-1174-6CBD5E702A9A}"/>
              </a:ext>
            </a:extLst>
          </p:cNvPr>
          <p:cNvGraphicFramePr>
            <a:graphicFrameLocks noGrp="1"/>
          </p:cNvGraphicFramePr>
          <p:nvPr>
            <p:extLst>
              <p:ext uri="{D42A27DB-BD31-4B8C-83A1-F6EECF244321}">
                <p14:modId xmlns:p14="http://schemas.microsoft.com/office/powerpoint/2010/main" val="1264466476"/>
              </p:ext>
            </p:extLst>
          </p:nvPr>
        </p:nvGraphicFramePr>
        <p:xfrm>
          <a:off x="4959608" y="165207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402430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4127252"/>
            <a:ext cx="720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en-US" altLang="zh-CN" dirty="0"/>
              <a:t>R1 </a:t>
            </a:r>
            <a:r>
              <a:rPr lang="zh-CN" altLang="en-US" dirty="0"/>
              <a:t>收到 </a:t>
            </a:r>
            <a:r>
              <a:rPr lang="en-US" altLang="zh-CN" dirty="0"/>
              <a:t>R2 </a:t>
            </a:r>
            <a:r>
              <a:rPr lang="zh-CN" altLang="en-US" dirty="0"/>
              <a:t>的更新报文后，误认为可经过 </a:t>
            </a:r>
            <a:r>
              <a:rPr lang="en-US" altLang="zh-CN" dirty="0"/>
              <a:t>R2 </a:t>
            </a:r>
            <a:r>
              <a:rPr lang="zh-CN" altLang="en-US" dirty="0"/>
              <a:t>到达网 </a:t>
            </a:r>
            <a:r>
              <a:rPr lang="en-US" altLang="zh-CN" dirty="0"/>
              <a:t>1</a:t>
            </a:r>
            <a:r>
              <a:rPr lang="zh-CN" altLang="en-US" dirty="0"/>
              <a:t>，于是更新自己的路由表，说：“我到网 </a:t>
            </a:r>
            <a:r>
              <a:rPr lang="en-US" altLang="zh-CN" dirty="0"/>
              <a:t>1 </a:t>
            </a:r>
            <a:r>
              <a:rPr lang="zh-CN" altLang="en-US" dirty="0"/>
              <a:t>的距离是 </a:t>
            </a:r>
            <a:r>
              <a:rPr lang="en-US" altLang="zh-CN" dirty="0"/>
              <a:t>3</a:t>
            </a:r>
            <a:r>
              <a:rPr lang="zh-CN" altLang="en-US" dirty="0"/>
              <a:t>，下一跳经过 </a:t>
            </a:r>
            <a:r>
              <a:rPr lang="en-US" altLang="zh-CN" dirty="0"/>
              <a:t>R2”</a:t>
            </a:r>
            <a:r>
              <a:rPr lang="zh-CN" altLang="en-US" dirty="0"/>
              <a:t>。然后将此更新信息发送给 </a:t>
            </a:r>
            <a:r>
              <a:rPr lang="en-US" altLang="zh-CN" dirty="0"/>
              <a:t>R2</a:t>
            </a:r>
            <a:endParaRPr lang="zh-CN" altLang="en-US" dirty="0"/>
          </a:p>
        </p:txBody>
      </p:sp>
      <p:graphicFrame>
        <p:nvGraphicFramePr>
          <p:cNvPr id="322" name="表格 321">
            <a:extLst>
              <a:ext uri="{FF2B5EF4-FFF2-40B4-BE49-F238E27FC236}">
                <a16:creationId xmlns:a16="http://schemas.microsoft.com/office/drawing/2014/main" id="{17489632-99BD-6A0B-BD7A-B4EF0F7D45E0}"/>
              </a:ext>
            </a:extLst>
          </p:cNvPr>
          <p:cNvGraphicFramePr>
            <a:graphicFrameLocks noGrp="1"/>
          </p:cNvGraphicFramePr>
          <p:nvPr>
            <p:extLst>
              <p:ext uri="{D42A27DB-BD31-4B8C-83A1-F6EECF244321}">
                <p14:modId xmlns:p14="http://schemas.microsoft.com/office/powerpoint/2010/main" val="2353337059"/>
              </p:ext>
            </p:extLst>
          </p:nvPr>
        </p:nvGraphicFramePr>
        <p:xfrm>
          <a:off x="2435301"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pic>
        <p:nvPicPr>
          <p:cNvPr id="15" name="Picture 3">
            <a:extLst>
              <a:ext uri="{FF2B5EF4-FFF2-40B4-BE49-F238E27FC236}">
                <a16:creationId xmlns:a16="http://schemas.microsoft.com/office/drawing/2014/main" id="{81B02CF3-872D-0609-EC5A-4EAD69A16A9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847905"/>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 name="Text Box 4">
            <a:extLst>
              <a:ext uri="{FF2B5EF4-FFF2-40B4-BE49-F238E27FC236}">
                <a16:creationId xmlns:a16="http://schemas.microsoft.com/office/drawing/2014/main" id="{733E5E03-E9D5-1259-803E-D2744DA9F160}"/>
              </a:ext>
            </a:extLst>
          </p:cNvPr>
          <p:cNvSpPr txBox="1">
            <a:spLocks noChangeArrowheads="1"/>
          </p:cNvSpPr>
          <p:nvPr/>
        </p:nvSpPr>
        <p:spPr bwMode="auto">
          <a:xfrm>
            <a:off x="5494037" y="1976033"/>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7" name="Text Box 5">
            <a:extLst>
              <a:ext uri="{FF2B5EF4-FFF2-40B4-BE49-F238E27FC236}">
                <a16:creationId xmlns:a16="http://schemas.microsoft.com/office/drawing/2014/main" id="{1D53B3C4-B8E1-EB57-5F35-AEDA216C976C}"/>
              </a:ext>
            </a:extLst>
          </p:cNvPr>
          <p:cNvSpPr txBox="1">
            <a:spLocks noChangeArrowheads="1"/>
          </p:cNvSpPr>
          <p:nvPr/>
        </p:nvSpPr>
        <p:spPr bwMode="auto">
          <a:xfrm>
            <a:off x="2983356" y="1976033"/>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8" name="Picture 6">
            <a:extLst>
              <a:ext uri="{FF2B5EF4-FFF2-40B4-BE49-F238E27FC236}">
                <a16:creationId xmlns:a16="http://schemas.microsoft.com/office/drawing/2014/main" id="{FBF98E4D-4B09-8A45-389F-A69C7EDDCEF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847905"/>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19" name="表格 18">
            <a:extLst>
              <a:ext uri="{FF2B5EF4-FFF2-40B4-BE49-F238E27FC236}">
                <a16:creationId xmlns:a16="http://schemas.microsoft.com/office/drawing/2014/main" id="{2EC832C3-B7FE-6568-0680-BBA6972BA25E}"/>
              </a:ext>
            </a:extLst>
          </p:cNvPr>
          <p:cNvGraphicFramePr>
            <a:graphicFrameLocks noGrp="1"/>
          </p:cNvGraphicFramePr>
          <p:nvPr>
            <p:extLst>
              <p:ext uri="{D42A27DB-BD31-4B8C-83A1-F6EECF244321}">
                <p14:modId xmlns:p14="http://schemas.microsoft.com/office/powerpoint/2010/main" val="848647282"/>
              </p:ext>
            </p:extLst>
          </p:nvPr>
        </p:nvGraphicFramePr>
        <p:xfrm>
          <a:off x="2435301" y="235049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0" name="表格 19">
            <a:extLst>
              <a:ext uri="{FF2B5EF4-FFF2-40B4-BE49-F238E27FC236}">
                <a16:creationId xmlns:a16="http://schemas.microsoft.com/office/drawing/2014/main" id="{4745D22A-E514-06D2-9E05-F49920749EDB}"/>
              </a:ext>
            </a:extLst>
          </p:cNvPr>
          <p:cNvGraphicFramePr>
            <a:graphicFrameLocks noGrp="1"/>
          </p:cNvGraphicFramePr>
          <p:nvPr>
            <p:extLst>
              <p:ext uri="{D42A27DB-BD31-4B8C-83A1-F6EECF244321}">
                <p14:modId xmlns:p14="http://schemas.microsoft.com/office/powerpoint/2010/main" val="126396451"/>
              </p:ext>
            </p:extLst>
          </p:nvPr>
        </p:nvGraphicFramePr>
        <p:xfrm>
          <a:off x="4959608" y="234430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21" name="云形 20">
            <a:extLst>
              <a:ext uri="{FF2B5EF4-FFF2-40B4-BE49-F238E27FC236}">
                <a16:creationId xmlns:a16="http://schemas.microsoft.com/office/drawing/2014/main" id="{B00EDA73-82C3-A7DC-B1ED-6424934A63E7}"/>
              </a:ext>
            </a:extLst>
          </p:cNvPr>
          <p:cNvSpPr/>
          <p:nvPr/>
        </p:nvSpPr>
        <p:spPr>
          <a:xfrm>
            <a:off x="1357474" y="1552328"/>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22" name="云形 21">
            <a:extLst>
              <a:ext uri="{FF2B5EF4-FFF2-40B4-BE49-F238E27FC236}">
                <a16:creationId xmlns:a16="http://schemas.microsoft.com/office/drawing/2014/main" id="{C05EDA8B-3904-EE00-20B0-FD559D3F1151}"/>
              </a:ext>
            </a:extLst>
          </p:cNvPr>
          <p:cNvSpPr/>
          <p:nvPr/>
        </p:nvSpPr>
        <p:spPr>
          <a:xfrm>
            <a:off x="3881780"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23" name="云形 22">
            <a:extLst>
              <a:ext uri="{FF2B5EF4-FFF2-40B4-BE49-F238E27FC236}">
                <a16:creationId xmlns:a16="http://schemas.microsoft.com/office/drawing/2014/main" id="{0B431E3D-19FF-F95E-DF10-C8E0C0940F99}"/>
              </a:ext>
            </a:extLst>
          </p:cNvPr>
          <p:cNvSpPr/>
          <p:nvPr/>
        </p:nvSpPr>
        <p:spPr>
          <a:xfrm>
            <a:off x="6406086"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24" name="直接连接符 23">
            <a:extLst>
              <a:ext uri="{FF2B5EF4-FFF2-40B4-BE49-F238E27FC236}">
                <a16:creationId xmlns:a16="http://schemas.microsoft.com/office/drawing/2014/main" id="{482CA3D2-A5C5-B30F-197A-6A067854E8EA}"/>
              </a:ext>
            </a:extLst>
          </p:cNvPr>
          <p:cNvCxnSpPr>
            <a:stCxn id="21" idx="0"/>
            <a:endCxn id="15" idx="1"/>
          </p:cNvCxnSpPr>
          <p:nvPr/>
        </p:nvCxnSpPr>
        <p:spPr>
          <a:xfrm>
            <a:off x="2427930" y="1951524"/>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6712CF49-0CEA-D260-A380-AFA18719042D}"/>
              </a:ext>
            </a:extLst>
          </p:cNvPr>
          <p:cNvCxnSpPr>
            <a:stCxn id="15" idx="3"/>
            <a:endCxn id="22" idx="2"/>
          </p:cNvCxnSpPr>
          <p:nvPr/>
        </p:nvCxnSpPr>
        <p:spPr>
          <a:xfrm>
            <a:off x="3396936" y="1951524"/>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D585437A-FAE8-A2B4-09F4-82BF8FB9ABE6}"/>
              </a:ext>
            </a:extLst>
          </p:cNvPr>
          <p:cNvCxnSpPr>
            <a:stCxn id="22" idx="0"/>
            <a:endCxn id="18" idx="1"/>
          </p:cNvCxnSpPr>
          <p:nvPr/>
        </p:nvCxnSpPr>
        <p:spPr>
          <a:xfrm>
            <a:off x="4952236" y="1951524"/>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5FC220A3-6F94-7C42-F22A-787034B4F0F6}"/>
              </a:ext>
            </a:extLst>
          </p:cNvPr>
          <p:cNvCxnSpPr>
            <a:stCxn id="23" idx="2"/>
            <a:endCxn id="18" idx="3"/>
          </p:cNvCxnSpPr>
          <p:nvPr/>
        </p:nvCxnSpPr>
        <p:spPr>
          <a:xfrm flipH="1">
            <a:off x="5921769" y="1951524"/>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箭头: 下 27">
            <a:extLst>
              <a:ext uri="{FF2B5EF4-FFF2-40B4-BE49-F238E27FC236}">
                <a16:creationId xmlns:a16="http://schemas.microsoft.com/office/drawing/2014/main" id="{60D8C2AB-BCDB-1B5D-895A-762727160538}"/>
              </a:ext>
            </a:extLst>
          </p:cNvPr>
          <p:cNvSpPr/>
          <p:nvPr/>
        </p:nvSpPr>
        <p:spPr>
          <a:xfrm>
            <a:off x="3093886"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12172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4098540"/>
            <a:ext cx="7200000" cy="324320"/>
          </a:xfrm>
          <a:prstGeom prst="rect">
            <a:avLst/>
          </a:prstGeom>
          <a:solidFill>
            <a:srgbClr val="00FF99"/>
          </a:solidFill>
          <a:ln w="9525">
            <a:noFill/>
            <a:miter lim="800000"/>
            <a:headEnd/>
            <a:tailEnd/>
          </a:ln>
          <a:effectLst/>
        </p:spPr>
        <p:txBody>
          <a:bodyPr wrap="square">
            <a:spAutoFit/>
          </a:bodyPr>
          <a:lstStyle/>
          <a:p>
            <a:pPr algn="just">
              <a:lnSpc>
                <a:spcPts val="2000"/>
              </a:lnSpc>
            </a:pP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2</a:t>
            </a:r>
            <a:r>
              <a:rPr kumimoji="1" lang="en-US" altLang="zh-CN" sz="1300" dirty="0">
                <a:latin typeface="Montserrat" panose="00000500000000000000" pitchFamily="2" charset="0"/>
                <a:ea typeface="微软雅黑" pitchFamily="34" charset="-122"/>
              </a:rPr>
              <a:t> </a:t>
            </a:r>
            <a:r>
              <a:rPr kumimoji="1" lang="zh-CN" altLang="en-US" sz="1300" dirty="0">
                <a:latin typeface="Montserrat" panose="00000500000000000000" pitchFamily="2" charset="0"/>
                <a:ea typeface="微软雅黑" pitchFamily="34" charset="-122"/>
              </a:rPr>
              <a:t>又更新自己的路由表为“</a:t>
            </a:r>
            <a:r>
              <a:rPr kumimoji="1" lang="en-US" altLang="zh-CN" sz="1300" dirty="0">
                <a:latin typeface="Montserrat" panose="00000500000000000000" pitchFamily="2" charset="0"/>
                <a:ea typeface="微软雅黑" pitchFamily="34" charset="-122"/>
              </a:rPr>
              <a:t>1, 4, 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，表明 “我到网 </a:t>
            </a:r>
            <a:r>
              <a:rPr kumimoji="1" lang="en-US" altLang="zh-CN" sz="1300" dirty="0">
                <a:latin typeface="Montserrat" panose="00000500000000000000" pitchFamily="2" charset="0"/>
                <a:ea typeface="微软雅黑" pitchFamily="34" charset="-122"/>
              </a:rPr>
              <a:t>1 </a:t>
            </a:r>
            <a:r>
              <a:rPr kumimoji="1" lang="zh-CN" altLang="en-US" sz="1300" dirty="0">
                <a:latin typeface="Montserrat" panose="00000500000000000000" pitchFamily="2" charset="0"/>
                <a:ea typeface="微软雅黑" pitchFamily="34" charset="-122"/>
              </a:rPr>
              <a:t>距离是 </a:t>
            </a:r>
            <a:r>
              <a:rPr kumimoji="1" lang="en-US" altLang="zh-CN" sz="1300" dirty="0">
                <a:latin typeface="Montserrat" panose="00000500000000000000" pitchFamily="2" charset="0"/>
                <a:ea typeface="微软雅黑" pitchFamily="34" charset="-122"/>
              </a:rPr>
              <a:t>4</a:t>
            </a:r>
            <a:r>
              <a:rPr kumimoji="1" lang="zh-CN" altLang="en-US" sz="1300" dirty="0">
                <a:latin typeface="Montserrat" panose="00000500000000000000" pitchFamily="2" charset="0"/>
                <a:ea typeface="微软雅黑" pitchFamily="34" charset="-122"/>
              </a:rPr>
              <a:t>，下一跳经过 </a:t>
            </a: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 </a:t>
            </a:r>
          </a:p>
        </p:txBody>
      </p:sp>
      <p:graphicFrame>
        <p:nvGraphicFramePr>
          <p:cNvPr id="231" name="表格 230">
            <a:extLst>
              <a:ext uri="{FF2B5EF4-FFF2-40B4-BE49-F238E27FC236}">
                <a16:creationId xmlns:a16="http://schemas.microsoft.com/office/drawing/2014/main" id="{A19CAE6B-DDD2-6DA7-89B2-00C48AB89AA3}"/>
              </a:ext>
            </a:extLst>
          </p:cNvPr>
          <p:cNvGraphicFramePr>
            <a:graphicFrameLocks noGrp="1"/>
          </p:cNvGraphicFramePr>
          <p:nvPr>
            <p:extLst>
              <p:ext uri="{D42A27DB-BD31-4B8C-83A1-F6EECF244321}">
                <p14:modId xmlns:p14="http://schemas.microsoft.com/office/powerpoint/2010/main" val="3146908869"/>
              </p:ext>
            </p:extLst>
          </p:nvPr>
        </p:nvGraphicFramePr>
        <p:xfrm>
          <a:off x="4959608"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 name="表格 2">
            <a:extLst>
              <a:ext uri="{FF2B5EF4-FFF2-40B4-BE49-F238E27FC236}">
                <a16:creationId xmlns:a16="http://schemas.microsoft.com/office/drawing/2014/main" id="{3EBF9939-5830-C048-F49C-9A1217E18D47}"/>
              </a:ext>
            </a:extLst>
          </p:cNvPr>
          <p:cNvGraphicFramePr>
            <a:graphicFrameLocks noGrp="1"/>
          </p:cNvGraphicFramePr>
          <p:nvPr>
            <p:extLst>
              <p:ext uri="{D42A27DB-BD31-4B8C-83A1-F6EECF244321}">
                <p14:modId xmlns:p14="http://schemas.microsoft.com/office/powerpoint/2010/main" val="1403688212"/>
              </p:ext>
            </p:extLst>
          </p:nvPr>
        </p:nvGraphicFramePr>
        <p:xfrm>
          <a:off x="2435301"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pic>
        <p:nvPicPr>
          <p:cNvPr id="4" name="Picture 3">
            <a:extLst>
              <a:ext uri="{FF2B5EF4-FFF2-40B4-BE49-F238E27FC236}">
                <a16:creationId xmlns:a16="http://schemas.microsoft.com/office/drawing/2014/main" id="{4FED6B82-3D9B-3205-BB5F-8A70166B4BD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847905"/>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 name="Text Box 4">
            <a:extLst>
              <a:ext uri="{FF2B5EF4-FFF2-40B4-BE49-F238E27FC236}">
                <a16:creationId xmlns:a16="http://schemas.microsoft.com/office/drawing/2014/main" id="{2C923FA6-2849-3EA9-1586-5A496FCAF244}"/>
              </a:ext>
            </a:extLst>
          </p:cNvPr>
          <p:cNvSpPr txBox="1">
            <a:spLocks noChangeArrowheads="1"/>
          </p:cNvSpPr>
          <p:nvPr/>
        </p:nvSpPr>
        <p:spPr bwMode="auto">
          <a:xfrm>
            <a:off x="5494037" y="1976033"/>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6" name="Text Box 5">
            <a:extLst>
              <a:ext uri="{FF2B5EF4-FFF2-40B4-BE49-F238E27FC236}">
                <a16:creationId xmlns:a16="http://schemas.microsoft.com/office/drawing/2014/main" id="{5D58C55F-268F-6A42-D01E-89C31C7EF52B}"/>
              </a:ext>
            </a:extLst>
          </p:cNvPr>
          <p:cNvSpPr txBox="1">
            <a:spLocks noChangeArrowheads="1"/>
          </p:cNvSpPr>
          <p:nvPr/>
        </p:nvSpPr>
        <p:spPr bwMode="auto">
          <a:xfrm>
            <a:off x="2983356" y="1976033"/>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7" name="Picture 6">
            <a:extLst>
              <a:ext uri="{FF2B5EF4-FFF2-40B4-BE49-F238E27FC236}">
                <a16:creationId xmlns:a16="http://schemas.microsoft.com/office/drawing/2014/main" id="{B9B4DB82-B2E0-A8D8-9B9D-7D2771E85D4D}"/>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847905"/>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8" name="表格 7">
            <a:extLst>
              <a:ext uri="{FF2B5EF4-FFF2-40B4-BE49-F238E27FC236}">
                <a16:creationId xmlns:a16="http://schemas.microsoft.com/office/drawing/2014/main" id="{2603E7D6-256C-1ADD-B192-351593B486B3}"/>
              </a:ext>
            </a:extLst>
          </p:cNvPr>
          <p:cNvGraphicFramePr>
            <a:graphicFrameLocks noGrp="1"/>
          </p:cNvGraphicFramePr>
          <p:nvPr>
            <p:extLst>
              <p:ext uri="{D42A27DB-BD31-4B8C-83A1-F6EECF244321}">
                <p14:modId xmlns:p14="http://schemas.microsoft.com/office/powerpoint/2010/main" val="3985991620"/>
              </p:ext>
            </p:extLst>
          </p:nvPr>
        </p:nvGraphicFramePr>
        <p:xfrm>
          <a:off x="2435301" y="235049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9" name="表格 8">
            <a:extLst>
              <a:ext uri="{FF2B5EF4-FFF2-40B4-BE49-F238E27FC236}">
                <a16:creationId xmlns:a16="http://schemas.microsoft.com/office/drawing/2014/main" id="{36550E3A-B3A6-5C8D-8207-82C0C6E3C774}"/>
              </a:ext>
            </a:extLst>
          </p:cNvPr>
          <p:cNvGraphicFramePr>
            <a:graphicFrameLocks noGrp="1"/>
          </p:cNvGraphicFramePr>
          <p:nvPr>
            <p:extLst>
              <p:ext uri="{D42A27DB-BD31-4B8C-83A1-F6EECF244321}">
                <p14:modId xmlns:p14="http://schemas.microsoft.com/office/powerpoint/2010/main" val="180328420"/>
              </p:ext>
            </p:extLst>
          </p:nvPr>
        </p:nvGraphicFramePr>
        <p:xfrm>
          <a:off x="4959608" y="234430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10" name="云形 9">
            <a:extLst>
              <a:ext uri="{FF2B5EF4-FFF2-40B4-BE49-F238E27FC236}">
                <a16:creationId xmlns:a16="http://schemas.microsoft.com/office/drawing/2014/main" id="{7D6D8D2E-0628-465D-167A-096765028DB6}"/>
              </a:ext>
            </a:extLst>
          </p:cNvPr>
          <p:cNvSpPr/>
          <p:nvPr/>
        </p:nvSpPr>
        <p:spPr>
          <a:xfrm>
            <a:off x="1357474" y="1552328"/>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11" name="云形 10">
            <a:extLst>
              <a:ext uri="{FF2B5EF4-FFF2-40B4-BE49-F238E27FC236}">
                <a16:creationId xmlns:a16="http://schemas.microsoft.com/office/drawing/2014/main" id="{5C088698-F7B3-6F09-3B60-74AC1C93243F}"/>
              </a:ext>
            </a:extLst>
          </p:cNvPr>
          <p:cNvSpPr/>
          <p:nvPr/>
        </p:nvSpPr>
        <p:spPr>
          <a:xfrm>
            <a:off x="3881780"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12" name="云形 11">
            <a:extLst>
              <a:ext uri="{FF2B5EF4-FFF2-40B4-BE49-F238E27FC236}">
                <a16:creationId xmlns:a16="http://schemas.microsoft.com/office/drawing/2014/main" id="{8A1568F7-217D-73F1-A051-EB22248651B7}"/>
              </a:ext>
            </a:extLst>
          </p:cNvPr>
          <p:cNvSpPr/>
          <p:nvPr/>
        </p:nvSpPr>
        <p:spPr>
          <a:xfrm>
            <a:off x="6406086"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13" name="直接连接符 12">
            <a:extLst>
              <a:ext uri="{FF2B5EF4-FFF2-40B4-BE49-F238E27FC236}">
                <a16:creationId xmlns:a16="http://schemas.microsoft.com/office/drawing/2014/main" id="{94712EC4-6CB3-DB69-A6E8-699534EBCE4C}"/>
              </a:ext>
            </a:extLst>
          </p:cNvPr>
          <p:cNvCxnSpPr>
            <a:stCxn id="10" idx="0"/>
            <a:endCxn id="4" idx="1"/>
          </p:cNvCxnSpPr>
          <p:nvPr/>
        </p:nvCxnSpPr>
        <p:spPr>
          <a:xfrm>
            <a:off x="2427930" y="1951524"/>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14DB5CA8-8F54-7EC2-ABFB-5EBB6F584A71}"/>
              </a:ext>
            </a:extLst>
          </p:cNvPr>
          <p:cNvCxnSpPr>
            <a:stCxn id="4" idx="3"/>
            <a:endCxn id="11" idx="2"/>
          </p:cNvCxnSpPr>
          <p:nvPr/>
        </p:nvCxnSpPr>
        <p:spPr>
          <a:xfrm>
            <a:off x="3396936" y="1951524"/>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a:extLst>
              <a:ext uri="{FF2B5EF4-FFF2-40B4-BE49-F238E27FC236}">
                <a16:creationId xmlns:a16="http://schemas.microsoft.com/office/drawing/2014/main" id="{A2953314-7BD8-BA40-85CA-A376E6377354}"/>
              </a:ext>
            </a:extLst>
          </p:cNvPr>
          <p:cNvCxnSpPr>
            <a:stCxn id="11" idx="0"/>
            <a:endCxn id="7" idx="1"/>
          </p:cNvCxnSpPr>
          <p:nvPr/>
        </p:nvCxnSpPr>
        <p:spPr>
          <a:xfrm>
            <a:off x="4952236" y="1951524"/>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a:extLst>
              <a:ext uri="{FF2B5EF4-FFF2-40B4-BE49-F238E27FC236}">
                <a16:creationId xmlns:a16="http://schemas.microsoft.com/office/drawing/2014/main" id="{AA0B7153-687B-91B2-D8BE-6BA4CE9402EB}"/>
              </a:ext>
            </a:extLst>
          </p:cNvPr>
          <p:cNvCxnSpPr>
            <a:stCxn id="12" idx="2"/>
            <a:endCxn id="7" idx="3"/>
          </p:cNvCxnSpPr>
          <p:nvPr/>
        </p:nvCxnSpPr>
        <p:spPr>
          <a:xfrm flipH="1">
            <a:off x="5921769" y="1951524"/>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箭头: 下 16">
            <a:extLst>
              <a:ext uri="{FF2B5EF4-FFF2-40B4-BE49-F238E27FC236}">
                <a16:creationId xmlns:a16="http://schemas.microsoft.com/office/drawing/2014/main" id="{8893747B-B552-6F83-1A82-36CB4D0FC1DC}"/>
              </a:ext>
            </a:extLst>
          </p:cNvPr>
          <p:cNvSpPr/>
          <p:nvPr/>
        </p:nvSpPr>
        <p:spPr>
          <a:xfrm>
            <a:off x="3093886"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18" name="箭头: 下 17">
            <a:extLst>
              <a:ext uri="{FF2B5EF4-FFF2-40B4-BE49-F238E27FC236}">
                <a16:creationId xmlns:a16="http://schemas.microsoft.com/office/drawing/2014/main" id="{CD90B235-DEB5-5C72-32BE-C0862D116850}"/>
              </a:ext>
            </a:extLst>
          </p:cNvPr>
          <p:cNvSpPr/>
          <p:nvPr/>
        </p:nvSpPr>
        <p:spPr>
          <a:xfrm>
            <a:off x="5618193"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615205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1512000" y="582499"/>
            <a:ext cx="612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这样不断更新下去</a:t>
            </a:r>
            <a:endParaRPr lang="en-US" altLang="zh-CN" dirty="0"/>
          </a:p>
          <a:p>
            <a:pPr algn="just"/>
            <a:r>
              <a:rPr lang="zh-CN" altLang="en-US" dirty="0"/>
              <a:t>直到 </a:t>
            </a:r>
            <a:r>
              <a:rPr lang="en-US" altLang="zh-CN" dirty="0"/>
              <a:t>R1 </a:t>
            </a:r>
            <a:r>
              <a:rPr lang="zh-CN" altLang="en-US" dirty="0"/>
              <a:t>和 </a:t>
            </a:r>
            <a:r>
              <a:rPr lang="en-US" altLang="zh-CN" dirty="0"/>
              <a:t>R2 </a:t>
            </a:r>
            <a:r>
              <a:rPr lang="zh-CN" altLang="en-US" dirty="0"/>
              <a:t>到网 </a:t>
            </a:r>
            <a:r>
              <a:rPr lang="en-US" altLang="zh-CN" dirty="0"/>
              <a:t>1 </a:t>
            </a:r>
            <a:r>
              <a:rPr lang="zh-CN" altLang="en-US" dirty="0"/>
              <a:t>的距离都增大到 </a:t>
            </a:r>
            <a:r>
              <a:rPr lang="en-US" altLang="zh-CN" dirty="0"/>
              <a:t>16 </a:t>
            </a:r>
            <a:r>
              <a:rPr lang="zh-CN" altLang="en-US" dirty="0"/>
              <a:t>时，</a:t>
            </a:r>
            <a:r>
              <a:rPr lang="en-US" altLang="zh-CN" dirty="0"/>
              <a:t> R1 </a:t>
            </a:r>
            <a:r>
              <a:rPr lang="zh-CN" altLang="en-US" dirty="0"/>
              <a:t>和 </a:t>
            </a:r>
            <a:r>
              <a:rPr lang="en-US" altLang="zh-CN" dirty="0"/>
              <a:t>R2 </a:t>
            </a:r>
            <a:r>
              <a:rPr lang="zh-CN" altLang="en-US" dirty="0"/>
              <a:t>才知道网 </a:t>
            </a:r>
            <a:r>
              <a:rPr lang="en-US" altLang="zh-CN" dirty="0"/>
              <a:t>1 </a:t>
            </a:r>
            <a:r>
              <a:rPr lang="zh-CN" altLang="en-US" dirty="0"/>
              <a:t>是不可达的</a:t>
            </a:r>
          </a:p>
        </p:txBody>
      </p:sp>
      <p:graphicFrame>
        <p:nvGraphicFramePr>
          <p:cNvPr id="250" name="表格 249">
            <a:extLst>
              <a:ext uri="{FF2B5EF4-FFF2-40B4-BE49-F238E27FC236}">
                <a16:creationId xmlns:a16="http://schemas.microsoft.com/office/drawing/2014/main" id="{D3DB74FA-E7C6-B11E-66FC-A1A8E1773CE9}"/>
              </a:ext>
            </a:extLst>
          </p:cNvPr>
          <p:cNvGraphicFramePr>
            <a:graphicFrameLocks noGrp="1"/>
          </p:cNvGraphicFramePr>
          <p:nvPr>
            <p:extLst>
              <p:ext uri="{D42A27DB-BD31-4B8C-83A1-F6EECF244321}">
                <p14:modId xmlns:p14="http://schemas.microsoft.com/office/powerpoint/2010/main" val="1571464867"/>
              </p:ext>
            </p:extLst>
          </p:nvPr>
        </p:nvGraphicFramePr>
        <p:xfrm>
          <a:off x="2435301" y="345072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5</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1" name="表格 250">
            <a:extLst>
              <a:ext uri="{FF2B5EF4-FFF2-40B4-BE49-F238E27FC236}">
                <a16:creationId xmlns:a16="http://schemas.microsoft.com/office/drawing/2014/main" id="{1498BE12-CDB6-AE3D-F3DF-850B13EBDD7F}"/>
              </a:ext>
            </a:extLst>
          </p:cNvPr>
          <p:cNvGraphicFramePr>
            <a:graphicFrameLocks noGrp="1"/>
          </p:cNvGraphicFramePr>
          <p:nvPr>
            <p:extLst>
              <p:ext uri="{D42A27DB-BD31-4B8C-83A1-F6EECF244321}">
                <p14:modId xmlns:p14="http://schemas.microsoft.com/office/powerpoint/2010/main" val="2053153838"/>
              </p:ext>
            </p:extLst>
          </p:nvPr>
        </p:nvGraphicFramePr>
        <p:xfrm>
          <a:off x="4959608" y="3450726"/>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2" name="表格 251">
            <a:extLst>
              <a:ext uri="{FF2B5EF4-FFF2-40B4-BE49-F238E27FC236}">
                <a16:creationId xmlns:a16="http://schemas.microsoft.com/office/drawing/2014/main" id="{50B95536-DFDD-4D34-4EDE-60D60B1B4303}"/>
              </a:ext>
            </a:extLst>
          </p:cNvPr>
          <p:cNvGraphicFramePr>
            <a:graphicFrameLocks noGrp="1"/>
          </p:cNvGraphicFramePr>
          <p:nvPr>
            <p:extLst>
              <p:ext uri="{D42A27DB-BD31-4B8C-83A1-F6EECF244321}">
                <p14:modId xmlns:p14="http://schemas.microsoft.com/office/powerpoint/2010/main" val="3327215587"/>
              </p:ext>
            </p:extLst>
          </p:nvPr>
        </p:nvGraphicFramePr>
        <p:xfrm>
          <a:off x="2435301" y="400084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3" name="表格 252">
            <a:extLst>
              <a:ext uri="{FF2B5EF4-FFF2-40B4-BE49-F238E27FC236}">
                <a16:creationId xmlns:a16="http://schemas.microsoft.com/office/drawing/2014/main" id="{6E572B80-BE9C-95BE-33BC-F78F253C2CE6}"/>
              </a:ext>
            </a:extLst>
          </p:cNvPr>
          <p:cNvGraphicFramePr>
            <a:graphicFrameLocks noGrp="1"/>
          </p:cNvGraphicFramePr>
          <p:nvPr>
            <p:extLst>
              <p:ext uri="{D42A27DB-BD31-4B8C-83A1-F6EECF244321}">
                <p14:modId xmlns:p14="http://schemas.microsoft.com/office/powerpoint/2010/main" val="3121030129"/>
              </p:ext>
            </p:extLst>
          </p:nvPr>
        </p:nvGraphicFramePr>
        <p:xfrm>
          <a:off x="4959608" y="400084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51" name="表格 50">
            <a:extLst>
              <a:ext uri="{FF2B5EF4-FFF2-40B4-BE49-F238E27FC236}">
                <a16:creationId xmlns:a16="http://schemas.microsoft.com/office/drawing/2014/main" id="{F3D3395C-A1BE-48EF-F8E1-DCEF8AE1DB8D}"/>
              </a:ext>
            </a:extLst>
          </p:cNvPr>
          <p:cNvGraphicFramePr>
            <a:graphicFrameLocks noGrp="1"/>
          </p:cNvGraphicFramePr>
          <p:nvPr>
            <p:extLst>
              <p:ext uri="{D42A27DB-BD31-4B8C-83A1-F6EECF244321}">
                <p14:modId xmlns:p14="http://schemas.microsoft.com/office/powerpoint/2010/main" val="1919060845"/>
              </p:ext>
            </p:extLst>
          </p:nvPr>
        </p:nvGraphicFramePr>
        <p:xfrm>
          <a:off x="4959608"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52" name="表格 51">
            <a:extLst>
              <a:ext uri="{FF2B5EF4-FFF2-40B4-BE49-F238E27FC236}">
                <a16:creationId xmlns:a16="http://schemas.microsoft.com/office/drawing/2014/main" id="{93180D09-716C-9C03-0B4A-6732A84971A9}"/>
              </a:ext>
            </a:extLst>
          </p:cNvPr>
          <p:cNvGraphicFramePr>
            <a:graphicFrameLocks noGrp="1"/>
          </p:cNvGraphicFramePr>
          <p:nvPr>
            <p:extLst>
              <p:ext uri="{D42A27DB-BD31-4B8C-83A1-F6EECF244321}">
                <p14:modId xmlns:p14="http://schemas.microsoft.com/office/powerpoint/2010/main" val="3700410273"/>
              </p:ext>
            </p:extLst>
          </p:nvPr>
        </p:nvGraphicFramePr>
        <p:xfrm>
          <a:off x="2435301"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pic>
        <p:nvPicPr>
          <p:cNvPr id="53" name="Picture 3">
            <a:extLst>
              <a:ext uri="{FF2B5EF4-FFF2-40B4-BE49-F238E27FC236}">
                <a16:creationId xmlns:a16="http://schemas.microsoft.com/office/drawing/2014/main" id="{92F8555D-5AB4-3802-60E6-62B54EBEB87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847905"/>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4" name="Text Box 4">
            <a:extLst>
              <a:ext uri="{FF2B5EF4-FFF2-40B4-BE49-F238E27FC236}">
                <a16:creationId xmlns:a16="http://schemas.microsoft.com/office/drawing/2014/main" id="{1C58F219-1AB6-8D4A-720D-7632016717CA}"/>
              </a:ext>
            </a:extLst>
          </p:cNvPr>
          <p:cNvSpPr txBox="1">
            <a:spLocks noChangeArrowheads="1"/>
          </p:cNvSpPr>
          <p:nvPr/>
        </p:nvSpPr>
        <p:spPr bwMode="auto">
          <a:xfrm>
            <a:off x="5494037" y="1976033"/>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55" name="Text Box 5">
            <a:extLst>
              <a:ext uri="{FF2B5EF4-FFF2-40B4-BE49-F238E27FC236}">
                <a16:creationId xmlns:a16="http://schemas.microsoft.com/office/drawing/2014/main" id="{7841794B-C1C7-F9F2-95DF-FE6C28B64926}"/>
              </a:ext>
            </a:extLst>
          </p:cNvPr>
          <p:cNvSpPr txBox="1">
            <a:spLocks noChangeArrowheads="1"/>
          </p:cNvSpPr>
          <p:nvPr/>
        </p:nvSpPr>
        <p:spPr bwMode="auto">
          <a:xfrm>
            <a:off x="2983356" y="1976033"/>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56" name="Picture 6">
            <a:extLst>
              <a:ext uri="{FF2B5EF4-FFF2-40B4-BE49-F238E27FC236}">
                <a16:creationId xmlns:a16="http://schemas.microsoft.com/office/drawing/2014/main" id="{B6BF332E-1E60-7DD8-D5CC-051B5D57AD6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847905"/>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57" name="表格 56">
            <a:extLst>
              <a:ext uri="{FF2B5EF4-FFF2-40B4-BE49-F238E27FC236}">
                <a16:creationId xmlns:a16="http://schemas.microsoft.com/office/drawing/2014/main" id="{58917232-26CD-C770-A376-FD05EB30AB28}"/>
              </a:ext>
            </a:extLst>
          </p:cNvPr>
          <p:cNvGraphicFramePr>
            <a:graphicFrameLocks noGrp="1"/>
          </p:cNvGraphicFramePr>
          <p:nvPr>
            <p:extLst>
              <p:ext uri="{D42A27DB-BD31-4B8C-83A1-F6EECF244321}">
                <p14:modId xmlns:p14="http://schemas.microsoft.com/office/powerpoint/2010/main" val="1765277280"/>
              </p:ext>
            </p:extLst>
          </p:nvPr>
        </p:nvGraphicFramePr>
        <p:xfrm>
          <a:off x="2435301" y="235049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58" name="表格 57">
            <a:extLst>
              <a:ext uri="{FF2B5EF4-FFF2-40B4-BE49-F238E27FC236}">
                <a16:creationId xmlns:a16="http://schemas.microsoft.com/office/drawing/2014/main" id="{3A2CEF91-5998-9203-1A7E-4ED422F26C78}"/>
              </a:ext>
            </a:extLst>
          </p:cNvPr>
          <p:cNvGraphicFramePr>
            <a:graphicFrameLocks noGrp="1"/>
          </p:cNvGraphicFramePr>
          <p:nvPr>
            <p:extLst>
              <p:ext uri="{D42A27DB-BD31-4B8C-83A1-F6EECF244321}">
                <p14:modId xmlns:p14="http://schemas.microsoft.com/office/powerpoint/2010/main" val="3770801955"/>
              </p:ext>
            </p:extLst>
          </p:nvPr>
        </p:nvGraphicFramePr>
        <p:xfrm>
          <a:off x="4959608" y="234430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59" name="云形 58">
            <a:extLst>
              <a:ext uri="{FF2B5EF4-FFF2-40B4-BE49-F238E27FC236}">
                <a16:creationId xmlns:a16="http://schemas.microsoft.com/office/drawing/2014/main" id="{B1DE2505-351C-36A8-5838-D87AC17C2AB4}"/>
              </a:ext>
            </a:extLst>
          </p:cNvPr>
          <p:cNvSpPr/>
          <p:nvPr/>
        </p:nvSpPr>
        <p:spPr>
          <a:xfrm>
            <a:off x="1357474" y="1552328"/>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60" name="云形 59">
            <a:extLst>
              <a:ext uri="{FF2B5EF4-FFF2-40B4-BE49-F238E27FC236}">
                <a16:creationId xmlns:a16="http://schemas.microsoft.com/office/drawing/2014/main" id="{49471CF1-5D01-AB40-8DB8-DDDD183A985B}"/>
              </a:ext>
            </a:extLst>
          </p:cNvPr>
          <p:cNvSpPr/>
          <p:nvPr/>
        </p:nvSpPr>
        <p:spPr>
          <a:xfrm>
            <a:off x="3881780"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1" name="云形 60">
            <a:extLst>
              <a:ext uri="{FF2B5EF4-FFF2-40B4-BE49-F238E27FC236}">
                <a16:creationId xmlns:a16="http://schemas.microsoft.com/office/drawing/2014/main" id="{DB802908-EED0-4B77-CB60-62875668F11F}"/>
              </a:ext>
            </a:extLst>
          </p:cNvPr>
          <p:cNvSpPr/>
          <p:nvPr/>
        </p:nvSpPr>
        <p:spPr>
          <a:xfrm>
            <a:off x="6406086"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62" name="直接连接符 61">
            <a:extLst>
              <a:ext uri="{FF2B5EF4-FFF2-40B4-BE49-F238E27FC236}">
                <a16:creationId xmlns:a16="http://schemas.microsoft.com/office/drawing/2014/main" id="{168A6FA0-477B-3966-B131-A00618875F83}"/>
              </a:ext>
            </a:extLst>
          </p:cNvPr>
          <p:cNvCxnSpPr>
            <a:stCxn id="59" idx="0"/>
            <a:endCxn id="53" idx="1"/>
          </p:cNvCxnSpPr>
          <p:nvPr/>
        </p:nvCxnSpPr>
        <p:spPr>
          <a:xfrm>
            <a:off x="2427930" y="1951524"/>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B90E5516-ABCA-ECFC-5880-48EFB74A63FB}"/>
              </a:ext>
            </a:extLst>
          </p:cNvPr>
          <p:cNvCxnSpPr>
            <a:stCxn id="53" idx="3"/>
            <a:endCxn id="60" idx="2"/>
          </p:cNvCxnSpPr>
          <p:nvPr/>
        </p:nvCxnSpPr>
        <p:spPr>
          <a:xfrm>
            <a:off x="3396936" y="1951524"/>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9E50BC4-DCD9-7CB3-FBEB-D57CD5DF7023}"/>
              </a:ext>
            </a:extLst>
          </p:cNvPr>
          <p:cNvCxnSpPr>
            <a:stCxn id="60" idx="0"/>
            <a:endCxn id="56" idx="1"/>
          </p:cNvCxnSpPr>
          <p:nvPr/>
        </p:nvCxnSpPr>
        <p:spPr>
          <a:xfrm>
            <a:off x="4952236" y="1951524"/>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CEE9B9C3-596E-8DC6-257B-D15615D5D153}"/>
              </a:ext>
            </a:extLst>
          </p:cNvPr>
          <p:cNvCxnSpPr>
            <a:stCxn id="61" idx="2"/>
            <a:endCxn id="56" idx="3"/>
          </p:cNvCxnSpPr>
          <p:nvPr/>
        </p:nvCxnSpPr>
        <p:spPr>
          <a:xfrm flipH="1">
            <a:off x="5921769" y="1951524"/>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箭头: 下 65">
            <a:extLst>
              <a:ext uri="{FF2B5EF4-FFF2-40B4-BE49-F238E27FC236}">
                <a16:creationId xmlns:a16="http://schemas.microsoft.com/office/drawing/2014/main" id="{BEA33C03-259D-9372-272E-EFA7B1DA61D5}"/>
              </a:ext>
            </a:extLst>
          </p:cNvPr>
          <p:cNvSpPr/>
          <p:nvPr/>
        </p:nvSpPr>
        <p:spPr>
          <a:xfrm>
            <a:off x="3093886"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7" name="箭头: 下 66">
            <a:extLst>
              <a:ext uri="{FF2B5EF4-FFF2-40B4-BE49-F238E27FC236}">
                <a16:creationId xmlns:a16="http://schemas.microsoft.com/office/drawing/2014/main" id="{6488F2C0-1693-4A57-E48B-358194A0218C}"/>
              </a:ext>
            </a:extLst>
          </p:cNvPr>
          <p:cNvSpPr/>
          <p:nvPr/>
        </p:nvSpPr>
        <p:spPr>
          <a:xfrm>
            <a:off x="5618193"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8" name="箭头: 下 67">
            <a:extLst>
              <a:ext uri="{FF2B5EF4-FFF2-40B4-BE49-F238E27FC236}">
                <a16:creationId xmlns:a16="http://schemas.microsoft.com/office/drawing/2014/main" id="{B6538B7C-13DC-8EF3-C1CD-8DE2741766FD}"/>
              </a:ext>
            </a:extLst>
          </p:cNvPr>
          <p:cNvSpPr/>
          <p:nvPr/>
        </p:nvSpPr>
        <p:spPr>
          <a:xfrm>
            <a:off x="3093886" y="3238015"/>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9" name="箭头: 下 68">
            <a:extLst>
              <a:ext uri="{FF2B5EF4-FFF2-40B4-BE49-F238E27FC236}">
                <a16:creationId xmlns:a16="http://schemas.microsoft.com/office/drawing/2014/main" id="{6FD2C035-75B6-00FA-15DD-B5814296DB0C}"/>
              </a:ext>
            </a:extLst>
          </p:cNvPr>
          <p:cNvSpPr/>
          <p:nvPr/>
        </p:nvSpPr>
        <p:spPr>
          <a:xfrm>
            <a:off x="3093623" y="379431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70" name="箭头: 下 69">
            <a:extLst>
              <a:ext uri="{FF2B5EF4-FFF2-40B4-BE49-F238E27FC236}">
                <a16:creationId xmlns:a16="http://schemas.microsoft.com/office/drawing/2014/main" id="{C6254E24-D5DA-536A-255B-8363D9A9252F}"/>
              </a:ext>
            </a:extLst>
          </p:cNvPr>
          <p:cNvSpPr/>
          <p:nvPr/>
        </p:nvSpPr>
        <p:spPr>
          <a:xfrm>
            <a:off x="5618193" y="3238015"/>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71" name="箭头: 下 70">
            <a:extLst>
              <a:ext uri="{FF2B5EF4-FFF2-40B4-BE49-F238E27FC236}">
                <a16:creationId xmlns:a16="http://schemas.microsoft.com/office/drawing/2014/main" id="{1CC1DB7C-0666-6353-DFD9-C767A8B092E6}"/>
              </a:ext>
            </a:extLst>
          </p:cNvPr>
          <p:cNvSpPr/>
          <p:nvPr/>
        </p:nvSpPr>
        <p:spPr>
          <a:xfrm>
            <a:off x="5618193" y="3788128"/>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9900723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998DA65-F12A-F1D6-AD0E-04C21FBB2341}"/>
              </a:ext>
            </a:extLst>
          </p:cNvPr>
          <p:cNvSpPr>
            <a:spLocks noGrp="1"/>
          </p:cNvSpPr>
          <p:nvPr>
            <p:ph type="title"/>
          </p:nvPr>
        </p:nvSpPr>
        <p:spPr>
          <a:xfrm>
            <a:off x="486000" y="550723"/>
            <a:ext cx="8172000" cy="338554"/>
          </a:xfrm>
        </p:spPr>
        <p:txBody>
          <a:bodyPr/>
          <a:lstStyle/>
          <a:p>
            <a:r>
              <a:rPr lang="en-US" altLang="zh-CN" dirty="0"/>
              <a:t>RIP </a:t>
            </a:r>
            <a:r>
              <a:rPr lang="zh-CN" altLang="en-US" dirty="0"/>
              <a:t>协议的优缺点</a:t>
            </a:r>
          </a:p>
        </p:txBody>
      </p:sp>
      <p:sp>
        <p:nvSpPr>
          <p:cNvPr id="6" name="内容占位符 5">
            <a:extLst>
              <a:ext uri="{FF2B5EF4-FFF2-40B4-BE49-F238E27FC236}">
                <a16:creationId xmlns:a16="http://schemas.microsoft.com/office/drawing/2014/main" id="{76D2C7DC-BA91-3575-3D7E-F7916537FEAD}"/>
              </a:ext>
            </a:extLst>
          </p:cNvPr>
          <p:cNvSpPr>
            <a:spLocks noGrp="1"/>
          </p:cNvSpPr>
          <p:nvPr>
            <p:ph sz="quarter" idx="11"/>
          </p:nvPr>
        </p:nvSpPr>
        <p:spPr>
          <a:xfrm>
            <a:off x="486000" y="900000"/>
            <a:ext cx="8172000" cy="3703500"/>
          </a:xfrm>
        </p:spPr>
        <p:txBody>
          <a:bodyPr/>
          <a:lstStyle/>
          <a:p>
            <a:r>
              <a:rPr lang="zh-CN" altLang="en-US" dirty="0"/>
              <a:t>优点：</a:t>
            </a:r>
          </a:p>
          <a:p>
            <a:pPr lvl="1"/>
            <a:r>
              <a:rPr lang="zh-CN" altLang="en-US" dirty="0"/>
              <a:t>实现简单，开销较小</a:t>
            </a:r>
          </a:p>
          <a:p>
            <a:r>
              <a:rPr lang="zh-CN" altLang="en-US" dirty="0"/>
              <a:t>缺点：</a:t>
            </a:r>
          </a:p>
          <a:p>
            <a:pPr lvl="1"/>
            <a:r>
              <a:rPr lang="zh-CN" altLang="en-US" dirty="0"/>
              <a:t>网络规模有限。最大距离为 </a:t>
            </a:r>
            <a:r>
              <a:rPr lang="en-US" altLang="zh-CN" dirty="0"/>
              <a:t>15</a:t>
            </a:r>
            <a:r>
              <a:rPr lang="zh-CN" altLang="en-US" dirty="0"/>
              <a:t>（</a:t>
            </a:r>
            <a:r>
              <a:rPr lang="en-US" altLang="zh-CN" dirty="0"/>
              <a:t>16 </a:t>
            </a:r>
            <a:r>
              <a:rPr lang="zh-CN" altLang="en-US" dirty="0"/>
              <a:t>表示不可达）</a:t>
            </a:r>
          </a:p>
          <a:p>
            <a:pPr lvl="1"/>
            <a:r>
              <a:rPr lang="zh-CN" altLang="en-US" dirty="0"/>
              <a:t>交换的路由信息为完整路由表，开销较大</a:t>
            </a:r>
          </a:p>
          <a:p>
            <a:pPr lvl="1"/>
            <a:r>
              <a:rPr lang="zh-CN" altLang="en-US" dirty="0"/>
              <a:t>坏消息传播得慢，收敛时间过长</a:t>
            </a:r>
          </a:p>
          <a:p>
            <a:endParaRPr lang="zh-CN" altLang="en-US" dirty="0"/>
          </a:p>
        </p:txBody>
      </p:sp>
    </p:spTree>
    <p:extLst>
      <p:ext uri="{BB962C8B-B14F-4D97-AF65-F5344CB8AC3E}">
        <p14:creationId xmlns:p14="http://schemas.microsoft.com/office/powerpoint/2010/main" val="11606837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442748" y="1587428"/>
            <a:ext cx="6258503" cy="2717359"/>
            <a:chOff x="1113847" y="1369650"/>
            <a:chExt cx="6258503" cy="2717359"/>
          </a:xfrm>
        </p:grpSpPr>
        <p:sp>
          <p:nvSpPr>
            <p:cNvPr id="6" name="矩形 5"/>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7" name="矩形 6"/>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8" name="矩形 7"/>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距离向量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(Distance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0" name="矩形 9"/>
            <p:cNvSpPr/>
            <p:nvPr/>
          </p:nvSpPr>
          <p:spPr>
            <a:xfrm>
              <a:off x="3220430" y="3109408"/>
              <a:ext cx="1802444" cy="670653"/>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链路状态</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(Link State)</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1" name="矩形 10"/>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12" name="直接连接符 11"/>
            <p:cNvCxnSpPr>
              <a:endCxn id="7"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a:endCxn id="8"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a:stCxn id="7"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a:stCxn id="7" idx="2"/>
              <a:endCxn id="10"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8" idx="2"/>
              <a:endCxn id="11"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矩形 16"/>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18" name="矩形 17"/>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19" name="矩形 18"/>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4" name="标题 3">
            <a:extLst>
              <a:ext uri="{FF2B5EF4-FFF2-40B4-BE49-F238E27FC236}">
                <a16:creationId xmlns:a16="http://schemas.microsoft.com/office/drawing/2014/main" id="{2BF913F9-C7D9-9EC1-BAE2-67197782863D}"/>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Tree>
    <p:extLst>
      <p:ext uri="{BB962C8B-B14F-4D97-AF65-F5344CB8AC3E}">
        <p14:creationId xmlns:p14="http://schemas.microsoft.com/office/powerpoint/2010/main" val="41608671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7E40E5B-510E-3AA8-E497-9DA51FA36EC7}"/>
              </a:ext>
            </a:extLst>
          </p:cNvPr>
          <p:cNvSpPr>
            <a:spLocks noGrp="1"/>
          </p:cNvSpPr>
          <p:nvPr>
            <p:ph type="title"/>
          </p:nvPr>
        </p:nvSpPr>
        <p:spPr>
          <a:xfrm>
            <a:off x="486000" y="550723"/>
            <a:ext cx="8172000" cy="338554"/>
          </a:xfrm>
        </p:spPr>
        <p:txBody>
          <a:bodyPr/>
          <a:lstStyle/>
          <a:p>
            <a:r>
              <a:rPr lang="en-US" altLang="zh-CN" dirty="0"/>
              <a:t>4.6.3  </a:t>
            </a:r>
            <a:r>
              <a:rPr lang="zh-CN" altLang="en-US" dirty="0"/>
              <a:t>内部网关协议 </a:t>
            </a:r>
            <a:r>
              <a:rPr lang="en-US" altLang="zh-CN" dirty="0"/>
              <a:t>OSPF</a:t>
            </a:r>
            <a:endParaRPr lang="zh-CN" altLang="en-US" dirty="0"/>
          </a:p>
        </p:txBody>
      </p:sp>
      <p:sp>
        <p:nvSpPr>
          <p:cNvPr id="6" name="内容占位符 5">
            <a:extLst>
              <a:ext uri="{FF2B5EF4-FFF2-40B4-BE49-F238E27FC236}">
                <a16:creationId xmlns:a16="http://schemas.microsoft.com/office/drawing/2014/main" id="{74E14C42-CBD2-594E-3580-B6A3176C5E0D}"/>
              </a:ext>
            </a:extLst>
          </p:cNvPr>
          <p:cNvSpPr>
            <a:spLocks noGrp="1"/>
          </p:cNvSpPr>
          <p:nvPr>
            <p:ph sz="quarter" idx="11"/>
          </p:nvPr>
        </p:nvSpPr>
        <p:spPr>
          <a:xfrm>
            <a:off x="486000" y="900000"/>
            <a:ext cx="8172000" cy="3703500"/>
          </a:xfrm>
        </p:spPr>
        <p:txBody>
          <a:bodyPr/>
          <a:lstStyle/>
          <a:p>
            <a:r>
              <a:rPr lang="zh-CN" altLang="en-US" dirty="0"/>
              <a:t>开放最短路径优先</a:t>
            </a:r>
            <a:endParaRPr lang="en-US" altLang="zh-CN" dirty="0"/>
          </a:p>
          <a:p>
            <a:pPr lvl="1"/>
            <a:r>
              <a:rPr lang="en-US" altLang="zh-CN" dirty="0"/>
              <a:t>OSPF - Open Shortest Path First</a:t>
            </a:r>
          </a:p>
          <a:p>
            <a:r>
              <a:rPr lang="zh-CN" altLang="en-US" dirty="0"/>
              <a:t>是为克服 </a:t>
            </a:r>
            <a:r>
              <a:rPr lang="en-US" altLang="zh-CN" dirty="0"/>
              <a:t>RIP </a:t>
            </a:r>
            <a:r>
              <a:rPr lang="zh-CN" altLang="en-US" dirty="0"/>
              <a:t>的缺点</a:t>
            </a:r>
            <a:endParaRPr lang="en-US" altLang="zh-CN" dirty="0"/>
          </a:p>
          <a:p>
            <a:pPr lvl="1"/>
            <a:r>
              <a:rPr lang="zh-CN" altLang="en-US" dirty="0"/>
              <a:t>坏消息传播得慢</a:t>
            </a:r>
            <a:endParaRPr lang="en-US" altLang="zh-CN" dirty="0"/>
          </a:p>
          <a:p>
            <a:pPr lvl="1"/>
            <a:r>
              <a:rPr lang="zh-CN" altLang="en-US" dirty="0"/>
              <a:t>小型网络</a:t>
            </a:r>
            <a:endParaRPr lang="en-US" altLang="zh-CN" dirty="0"/>
          </a:p>
          <a:p>
            <a:r>
              <a:rPr lang="en-US" altLang="zh-CN" dirty="0"/>
              <a:t>1989 </a:t>
            </a:r>
            <a:r>
              <a:rPr lang="zh-CN" altLang="en-US" dirty="0"/>
              <a:t>年开发出来的</a:t>
            </a:r>
          </a:p>
          <a:p>
            <a:r>
              <a:rPr lang="zh-CN" altLang="en-US" dirty="0"/>
              <a:t>原理很简单，但实现很复杂</a:t>
            </a:r>
            <a:endParaRPr lang="en-US" altLang="zh-CN" dirty="0"/>
          </a:p>
          <a:p>
            <a:r>
              <a:rPr lang="zh-CN" altLang="en-US" dirty="0"/>
              <a:t>使用了 </a:t>
            </a:r>
            <a:r>
              <a:rPr lang="en-US" altLang="zh-CN" dirty="0"/>
              <a:t>Dijkstra </a:t>
            </a:r>
            <a:r>
              <a:rPr lang="zh-CN" altLang="en-US" dirty="0"/>
              <a:t>提出的最短路径算法 </a:t>
            </a:r>
            <a:r>
              <a:rPr lang="en-US" altLang="zh-CN" dirty="0"/>
              <a:t>SPF</a:t>
            </a:r>
          </a:p>
          <a:p>
            <a:r>
              <a:rPr lang="zh-CN" altLang="en-US" dirty="0"/>
              <a:t>采用分布式的链路状态协议 </a:t>
            </a:r>
            <a:r>
              <a:rPr lang="en-US" altLang="zh-CN" dirty="0"/>
              <a:t>link state protocol</a:t>
            </a:r>
            <a:endParaRPr lang="zh-CN" altLang="en-US" dirty="0"/>
          </a:p>
          <a:p>
            <a:r>
              <a:rPr lang="zh-CN" altLang="en-US" dirty="0"/>
              <a:t>现在使用 </a:t>
            </a:r>
            <a:r>
              <a:rPr lang="en-US" altLang="zh-CN" dirty="0"/>
              <a:t>OSPF v2</a:t>
            </a:r>
            <a:endParaRPr lang="zh-CN" altLang="en-US" dirty="0"/>
          </a:p>
          <a:p>
            <a:endParaRPr lang="zh-CN" altLang="en-US" dirty="0"/>
          </a:p>
        </p:txBody>
      </p:sp>
    </p:spTree>
    <p:extLst>
      <p:ext uri="{BB962C8B-B14F-4D97-AF65-F5344CB8AC3E}">
        <p14:creationId xmlns:p14="http://schemas.microsoft.com/office/powerpoint/2010/main" val="36184603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351FAA3-79DE-1144-FADC-1A95B41C6084}"/>
              </a:ext>
            </a:extLst>
          </p:cNvPr>
          <p:cNvSpPr>
            <a:spLocks noGrp="1"/>
          </p:cNvSpPr>
          <p:nvPr>
            <p:ph type="title"/>
          </p:nvPr>
        </p:nvSpPr>
        <p:spPr>
          <a:xfrm>
            <a:off x="486000" y="550723"/>
            <a:ext cx="8172000" cy="338554"/>
          </a:xfrm>
        </p:spPr>
        <p:txBody>
          <a:bodyPr/>
          <a:lstStyle/>
          <a:p>
            <a:r>
              <a:rPr lang="zh-CN" altLang="en-US" dirty="0"/>
              <a:t>三个主要特点</a:t>
            </a:r>
          </a:p>
        </p:txBody>
      </p:sp>
      <p:sp>
        <p:nvSpPr>
          <p:cNvPr id="6" name="内容占位符 5">
            <a:extLst>
              <a:ext uri="{FF2B5EF4-FFF2-40B4-BE49-F238E27FC236}">
                <a16:creationId xmlns:a16="http://schemas.microsoft.com/office/drawing/2014/main" id="{94628B50-46E3-8911-7FDE-BB5DF06FC484}"/>
              </a:ext>
            </a:extLst>
          </p:cNvPr>
          <p:cNvSpPr>
            <a:spLocks noGrp="1"/>
          </p:cNvSpPr>
          <p:nvPr>
            <p:ph sz="quarter" idx="11"/>
          </p:nvPr>
        </p:nvSpPr>
        <p:spPr>
          <a:xfrm>
            <a:off x="486000" y="900000"/>
            <a:ext cx="8172000" cy="3703500"/>
          </a:xfrm>
        </p:spPr>
        <p:txBody>
          <a:bodyPr/>
          <a:lstStyle/>
          <a:p>
            <a:r>
              <a:rPr lang="zh-CN" altLang="en-US" dirty="0"/>
              <a:t>采用洪泛法 </a:t>
            </a:r>
            <a:r>
              <a:rPr lang="en-US" altLang="zh-CN" dirty="0"/>
              <a:t>flooding </a:t>
            </a:r>
            <a:r>
              <a:rPr lang="zh-CN" altLang="en-US" dirty="0"/>
              <a:t>向本自治系统中所有路由器发送信息</a:t>
            </a:r>
          </a:p>
          <a:p>
            <a:r>
              <a:rPr lang="zh-CN" altLang="en-US" dirty="0"/>
              <a:t>发送的信息是与本路由器相邻的所有路由器的链路状态</a:t>
            </a:r>
            <a:endParaRPr lang="en-US" altLang="zh-CN" dirty="0"/>
          </a:p>
          <a:p>
            <a:pPr lvl="1"/>
            <a:r>
              <a:rPr lang="zh-CN" altLang="en-US" dirty="0"/>
              <a:t>当前路由器所知道的部分信息</a:t>
            </a:r>
            <a:r>
              <a:rPr lang="en-US" altLang="zh-CN" dirty="0"/>
              <a:t>/</a:t>
            </a:r>
            <a:r>
              <a:rPr lang="zh-CN" altLang="en-US" dirty="0"/>
              <a:t>网络情况</a:t>
            </a:r>
          </a:p>
          <a:p>
            <a:pPr lvl="1"/>
            <a:r>
              <a:rPr lang="zh-CN" altLang="en-US" dirty="0"/>
              <a:t>链路状态：说明本路由器都和哪些路由器相邻，以及该链路的度量 </a:t>
            </a:r>
            <a:r>
              <a:rPr lang="en-US" altLang="zh-CN" dirty="0"/>
              <a:t>metric</a:t>
            </a:r>
            <a:endParaRPr lang="zh-CN" altLang="en-US" dirty="0"/>
          </a:p>
          <a:p>
            <a:r>
              <a:rPr lang="zh-CN" altLang="en-US" dirty="0"/>
              <a:t>当链路状态发生变化或每隔一段时间（如</a:t>
            </a:r>
            <a:r>
              <a:rPr lang="en-US" altLang="zh-CN" dirty="0"/>
              <a:t>30</a:t>
            </a:r>
            <a:r>
              <a:rPr lang="zh-CN" altLang="en-US" dirty="0"/>
              <a:t>分钟），路由器才用洪泛法向所有路由器发送此信息</a:t>
            </a:r>
          </a:p>
          <a:p>
            <a:endParaRPr lang="zh-CN" altLang="en-US" dirty="0"/>
          </a:p>
        </p:txBody>
      </p:sp>
    </p:spTree>
    <p:extLst>
      <p:ext uri="{BB962C8B-B14F-4D97-AF65-F5344CB8AC3E}">
        <p14:creationId xmlns:p14="http://schemas.microsoft.com/office/powerpoint/2010/main" val="14492843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C98B77A6-839D-CB18-E491-384990A8DDEA}"/>
              </a:ext>
            </a:extLst>
          </p:cNvPr>
          <p:cNvSpPr>
            <a:spLocks noGrp="1"/>
          </p:cNvSpPr>
          <p:nvPr>
            <p:ph type="title"/>
          </p:nvPr>
        </p:nvSpPr>
        <p:spPr>
          <a:xfrm>
            <a:off x="486000" y="550723"/>
            <a:ext cx="8172000" cy="338554"/>
          </a:xfrm>
        </p:spPr>
        <p:txBody>
          <a:bodyPr/>
          <a:lstStyle/>
          <a:p>
            <a:r>
              <a:rPr lang="zh-CN" altLang="en-US" dirty="0"/>
              <a:t>链路状态数据库 </a:t>
            </a:r>
            <a:r>
              <a:rPr lang="en-US" altLang="zh-CN" dirty="0"/>
              <a:t>link-state database</a:t>
            </a:r>
            <a:endParaRPr lang="zh-CN" altLang="en-US" dirty="0"/>
          </a:p>
        </p:txBody>
      </p:sp>
      <p:sp>
        <p:nvSpPr>
          <p:cNvPr id="8" name="内容占位符 7">
            <a:extLst>
              <a:ext uri="{FF2B5EF4-FFF2-40B4-BE49-F238E27FC236}">
                <a16:creationId xmlns:a16="http://schemas.microsoft.com/office/drawing/2014/main" id="{4E5646B2-4C85-E353-3393-9CAE1957BF4C}"/>
              </a:ext>
            </a:extLst>
          </p:cNvPr>
          <p:cNvSpPr>
            <a:spLocks noGrp="1"/>
          </p:cNvSpPr>
          <p:nvPr>
            <p:ph sz="quarter" idx="11"/>
          </p:nvPr>
        </p:nvSpPr>
        <p:spPr>
          <a:xfrm>
            <a:off x="486000" y="900000"/>
            <a:ext cx="8172000" cy="3703500"/>
          </a:xfrm>
        </p:spPr>
        <p:txBody>
          <a:bodyPr/>
          <a:lstStyle/>
          <a:p>
            <a:r>
              <a:rPr lang="zh-CN" altLang="en-US" dirty="0"/>
              <a:t>每个路由器最终都能建立全网的拓扑结构图</a:t>
            </a:r>
            <a:endParaRPr lang="en-US" altLang="zh-CN" dirty="0"/>
          </a:p>
          <a:p>
            <a:r>
              <a:rPr lang="zh-CN" altLang="en-US" dirty="0"/>
              <a:t>在全网范围内是一致的 </a:t>
            </a:r>
            <a:r>
              <a:rPr lang="en-US" altLang="zh-CN" dirty="0"/>
              <a:t>- </a:t>
            </a:r>
            <a:r>
              <a:rPr lang="zh-CN" altLang="en-US" dirty="0"/>
              <a:t>称为链路状态数据库的同步</a:t>
            </a:r>
          </a:p>
          <a:p>
            <a:r>
              <a:rPr lang="zh-CN" altLang="en-US" dirty="0"/>
              <a:t>每个路由器使用链路状态数据库中的数据构造自己的路由表（例如，使用</a:t>
            </a:r>
            <a:r>
              <a:rPr lang="en-US" altLang="zh-CN" dirty="0"/>
              <a:t>Dijkstra</a:t>
            </a:r>
            <a:r>
              <a:rPr lang="zh-CN" altLang="en-US" dirty="0"/>
              <a:t>的最短路径路由算法）</a:t>
            </a:r>
            <a:endParaRPr lang="en-US" altLang="zh-CN" dirty="0"/>
          </a:p>
          <a:p>
            <a:r>
              <a:rPr lang="zh-CN" altLang="en-US" dirty="0"/>
              <a:t>链路状态数据库能较快地进行更新，使各个路由器能及时更新其路由表</a:t>
            </a:r>
          </a:p>
          <a:p>
            <a:r>
              <a:rPr lang="zh-CN" altLang="en-US" dirty="0"/>
              <a:t>重要优点：</a:t>
            </a:r>
            <a:endParaRPr lang="en-US" altLang="zh-CN" dirty="0"/>
          </a:p>
          <a:p>
            <a:pPr lvl="1"/>
            <a:r>
              <a:rPr lang="zh-CN" altLang="en-US" dirty="0"/>
              <a:t>更新过程收敛速度快</a:t>
            </a:r>
          </a:p>
          <a:p>
            <a:endParaRPr lang="en-US" altLang="zh-CN" dirty="0"/>
          </a:p>
          <a:p>
            <a:endParaRPr lang="zh-CN" altLang="en-US" dirty="0"/>
          </a:p>
        </p:txBody>
      </p:sp>
    </p:spTree>
    <p:extLst>
      <p:ext uri="{BB962C8B-B14F-4D97-AF65-F5344CB8AC3E}">
        <p14:creationId xmlns:p14="http://schemas.microsoft.com/office/powerpoint/2010/main" val="27030776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9A941F-F5E4-50CA-FD2D-7A997FF5E84F}"/>
              </a:ext>
            </a:extLst>
          </p:cNvPr>
          <p:cNvSpPr>
            <a:spLocks noGrp="1"/>
          </p:cNvSpPr>
          <p:nvPr>
            <p:ph type="title"/>
          </p:nvPr>
        </p:nvSpPr>
        <p:spPr>
          <a:xfrm>
            <a:off x="486000" y="550723"/>
            <a:ext cx="8172000" cy="338554"/>
          </a:xfrm>
        </p:spPr>
        <p:txBody>
          <a:bodyPr/>
          <a:lstStyle/>
          <a:p>
            <a:r>
              <a:rPr lang="en-US" altLang="zh-CN" dirty="0"/>
              <a:t>OSPF </a:t>
            </a:r>
            <a:r>
              <a:rPr lang="zh-CN" altLang="en-US" dirty="0"/>
              <a:t>自治系统</a:t>
            </a:r>
          </a:p>
        </p:txBody>
      </p:sp>
      <p:sp>
        <p:nvSpPr>
          <p:cNvPr id="11" name="内容占位符 10">
            <a:extLst>
              <a:ext uri="{FF2B5EF4-FFF2-40B4-BE49-F238E27FC236}">
                <a16:creationId xmlns:a16="http://schemas.microsoft.com/office/drawing/2014/main" id="{9981C447-EF45-A04B-8CFC-F70B151209E8}"/>
              </a:ext>
            </a:extLst>
          </p:cNvPr>
          <p:cNvSpPr>
            <a:spLocks noGrp="1"/>
          </p:cNvSpPr>
          <p:nvPr>
            <p:ph sz="quarter" idx="11"/>
          </p:nvPr>
        </p:nvSpPr>
        <p:spPr>
          <a:xfrm>
            <a:off x="486000" y="900000"/>
            <a:ext cx="8172000" cy="3703500"/>
          </a:xfrm>
        </p:spPr>
        <p:txBody>
          <a:bodyPr/>
          <a:lstStyle/>
          <a:p>
            <a:r>
              <a:rPr lang="zh-CN" altLang="en-US" dirty="0"/>
              <a:t>自治系统边界路由器 </a:t>
            </a:r>
            <a:r>
              <a:rPr lang="en-US" altLang="zh-CN" dirty="0"/>
              <a:t>ASBR - AS Border Router</a:t>
            </a:r>
            <a:r>
              <a:rPr lang="zh-CN" altLang="en-US" dirty="0"/>
              <a:t>；</a:t>
            </a:r>
            <a:r>
              <a:rPr lang="en-US" altLang="zh-CN" dirty="0"/>
              <a:t>R6</a:t>
            </a:r>
          </a:p>
          <a:p>
            <a:r>
              <a:rPr lang="zh-CN" altLang="en-US" dirty="0"/>
              <a:t>主干路由器 </a:t>
            </a:r>
            <a:r>
              <a:rPr lang="en-US" altLang="zh-CN" dirty="0"/>
              <a:t>BR -Backbone Router</a:t>
            </a:r>
            <a:r>
              <a:rPr lang="zh-CN" altLang="en-US" dirty="0"/>
              <a:t>；</a:t>
            </a:r>
            <a:r>
              <a:rPr lang="en-US" altLang="zh-CN" dirty="0"/>
              <a:t>R3 R4 R5 R6 R7</a:t>
            </a:r>
          </a:p>
          <a:p>
            <a:r>
              <a:rPr lang="zh-CN" altLang="en-US" dirty="0"/>
              <a:t>区域边界路由器 </a:t>
            </a:r>
            <a:r>
              <a:rPr lang="en-US" altLang="zh-CN" dirty="0"/>
              <a:t>ABR  - Area Border Router</a:t>
            </a:r>
            <a:r>
              <a:rPr lang="zh-CN" altLang="en-US" dirty="0"/>
              <a:t>；</a:t>
            </a:r>
            <a:r>
              <a:rPr lang="en-US" altLang="zh-CN" dirty="0"/>
              <a:t>R3 R4 R7</a:t>
            </a:r>
          </a:p>
        </p:txBody>
      </p:sp>
      <p:sp>
        <p:nvSpPr>
          <p:cNvPr id="21" name="AutoShape 3"/>
          <p:cNvSpPr>
            <a:spLocks noChangeArrowheads="1"/>
          </p:cNvSpPr>
          <p:nvPr/>
        </p:nvSpPr>
        <p:spPr bwMode="auto">
          <a:xfrm>
            <a:off x="993058" y="2042247"/>
            <a:ext cx="7086532" cy="2764456"/>
          </a:xfrm>
          <a:prstGeom prst="roundRect">
            <a:avLst>
              <a:gd name="adj" fmla="val 3945"/>
            </a:avLst>
          </a:prstGeom>
          <a:noFill/>
          <a:ln w="12700">
            <a:solidFill>
              <a:schemeClr val="bg1">
                <a:lumMod val="75000"/>
              </a:schemeClr>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2" name="Text Box 4"/>
          <p:cNvSpPr txBox="1">
            <a:spLocks noChangeArrowheads="1"/>
          </p:cNvSpPr>
          <p:nvPr/>
        </p:nvSpPr>
        <p:spPr bwMode="auto">
          <a:xfrm>
            <a:off x="6877976" y="2052796"/>
            <a:ext cx="1197169" cy="308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自治系统 </a:t>
            </a:r>
            <a:r>
              <a:rPr kumimoji="1" lang="en-US" altLang="zh-CN" sz="1400" b="1" dirty="0">
                <a:latin typeface="微软雅黑" pitchFamily="34" charset="-122"/>
                <a:ea typeface="微软雅黑" pitchFamily="34" charset="-122"/>
              </a:rPr>
              <a:t>AS</a:t>
            </a:r>
          </a:p>
        </p:txBody>
      </p:sp>
      <p:sp>
        <p:nvSpPr>
          <p:cNvPr id="24" name="Oval 7"/>
          <p:cNvSpPr>
            <a:spLocks noChangeArrowheads="1"/>
          </p:cNvSpPr>
          <p:nvPr/>
        </p:nvSpPr>
        <p:spPr bwMode="auto">
          <a:xfrm>
            <a:off x="1075577" y="2412559"/>
            <a:ext cx="2532718"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6" name="Text Box 9"/>
          <p:cNvSpPr txBox="1">
            <a:spLocks noChangeArrowheads="1"/>
          </p:cNvSpPr>
          <p:nvPr/>
        </p:nvSpPr>
        <p:spPr bwMode="auto">
          <a:xfrm>
            <a:off x="1939050" y="4169202"/>
            <a:ext cx="88838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 </a:t>
            </a:r>
            <a:r>
              <a:rPr lang="en-US" altLang="zh-CN" dirty="0"/>
              <a:t>Area</a:t>
            </a:r>
          </a:p>
          <a:p>
            <a:r>
              <a:rPr lang="zh-CN" altLang="en-US" dirty="0"/>
              <a:t> </a:t>
            </a:r>
            <a:r>
              <a:rPr lang="en-US" altLang="zh-CN" dirty="0"/>
              <a:t>0.0.0.1</a:t>
            </a:r>
          </a:p>
        </p:txBody>
      </p:sp>
      <p:sp>
        <p:nvSpPr>
          <p:cNvPr id="25" name="Oval 8"/>
          <p:cNvSpPr>
            <a:spLocks noChangeArrowheads="1"/>
          </p:cNvSpPr>
          <p:nvPr/>
        </p:nvSpPr>
        <p:spPr bwMode="auto">
          <a:xfrm>
            <a:off x="6069919" y="2412559"/>
            <a:ext cx="1923343"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7" name="Text Box 10"/>
          <p:cNvSpPr txBox="1">
            <a:spLocks noChangeArrowheads="1"/>
          </p:cNvSpPr>
          <p:nvPr/>
        </p:nvSpPr>
        <p:spPr bwMode="auto">
          <a:xfrm>
            <a:off x="6643604" y="4221936"/>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0.0.0.3</a:t>
            </a:r>
          </a:p>
        </p:txBody>
      </p:sp>
      <p:sp>
        <p:nvSpPr>
          <p:cNvPr id="23" name="Oval 6"/>
          <p:cNvSpPr>
            <a:spLocks noChangeArrowheads="1"/>
          </p:cNvSpPr>
          <p:nvPr/>
        </p:nvSpPr>
        <p:spPr bwMode="auto">
          <a:xfrm>
            <a:off x="3694623" y="2464122"/>
            <a:ext cx="2314358" cy="1115626"/>
          </a:xfrm>
          <a:prstGeom prst="ellipse">
            <a:avLst/>
          </a:prstGeom>
          <a:solidFill>
            <a:srgbClr val="FFCCFF"/>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8" name="Text Box 11"/>
          <p:cNvSpPr txBox="1">
            <a:spLocks noChangeArrowheads="1"/>
          </p:cNvSpPr>
          <p:nvPr/>
        </p:nvSpPr>
        <p:spPr bwMode="auto">
          <a:xfrm>
            <a:off x="3707142" y="2008049"/>
            <a:ext cx="238558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just"/>
            <a:r>
              <a:rPr kumimoji="1" lang="zh-CN" altLang="en-US" sz="1200" dirty="0">
                <a:latin typeface="Montserrat" panose="00000500000000000000" pitchFamily="2" charset="0"/>
                <a:ea typeface="微软雅黑 Light" panose="020B0502040204020203" pitchFamily="34" charset="-122"/>
              </a:rPr>
              <a:t>主干区域 </a:t>
            </a:r>
            <a:r>
              <a:rPr kumimoji="1" lang="en-US" altLang="zh-CN" sz="1200" dirty="0">
                <a:latin typeface="Montserrat" panose="00000500000000000000" pitchFamily="2" charset="0"/>
                <a:ea typeface="微软雅黑 Light" panose="020B0502040204020203" pitchFamily="34" charset="-122"/>
              </a:rPr>
              <a:t>BA -</a:t>
            </a:r>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B</a:t>
            </a:r>
            <a:r>
              <a:rPr lang="en-US" altLang="zh-CN" sz="1200" dirty="0">
                <a:latin typeface="Montserrat" panose="00000500000000000000" pitchFamily="2" charset="0"/>
                <a:ea typeface="微软雅黑 Light" panose="020B0502040204020203" pitchFamily="34" charset="-122"/>
              </a:rPr>
              <a:t>ackbone Area</a:t>
            </a:r>
            <a:endParaRPr kumimoji="1" lang="en-US" altLang="zh-CN" sz="1200" dirty="0">
              <a:latin typeface="Montserrat" panose="00000500000000000000" pitchFamily="2" charset="0"/>
              <a:ea typeface="微软雅黑 Light" panose="020B0502040204020203" pitchFamily="34" charset="-122"/>
            </a:endParaRPr>
          </a:p>
          <a:p>
            <a:pPr algn="just"/>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0.0.0.0</a:t>
            </a:r>
          </a:p>
        </p:txBody>
      </p:sp>
      <p:sp>
        <p:nvSpPr>
          <p:cNvPr id="29" name="Line 12"/>
          <p:cNvSpPr>
            <a:spLocks noChangeShapeType="1"/>
          </p:cNvSpPr>
          <p:nvPr/>
        </p:nvSpPr>
        <p:spPr bwMode="auto">
          <a:xfrm flipV="1">
            <a:off x="5021108" y="1764852"/>
            <a:ext cx="1719123" cy="829348"/>
          </a:xfrm>
          <a:prstGeom prst="line">
            <a:avLst/>
          </a:prstGeom>
          <a:noFill/>
          <a:ln w="28575">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Text Box 13"/>
          <p:cNvSpPr txBox="1">
            <a:spLocks noChangeArrowheads="1"/>
          </p:cNvSpPr>
          <p:nvPr/>
        </p:nvSpPr>
        <p:spPr bwMode="auto">
          <a:xfrm>
            <a:off x="6633725" y="1616688"/>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至其他自治系统</a:t>
            </a:r>
          </a:p>
        </p:txBody>
      </p:sp>
      <p:sp>
        <p:nvSpPr>
          <p:cNvPr id="31" name="Line 14"/>
          <p:cNvSpPr>
            <a:spLocks noChangeShapeType="1"/>
          </p:cNvSpPr>
          <p:nvPr/>
        </p:nvSpPr>
        <p:spPr bwMode="auto">
          <a:xfrm>
            <a:off x="6069918" y="3072326"/>
            <a:ext cx="670313" cy="20156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5"/>
          <p:cNvSpPr>
            <a:spLocks noChangeShapeType="1"/>
          </p:cNvSpPr>
          <p:nvPr/>
        </p:nvSpPr>
        <p:spPr bwMode="auto">
          <a:xfrm flipV="1">
            <a:off x="6862107" y="3224671"/>
            <a:ext cx="608107" cy="100781"/>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16"/>
          <p:cNvSpPr>
            <a:spLocks noChangeShapeType="1"/>
          </p:cNvSpPr>
          <p:nvPr/>
        </p:nvSpPr>
        <p:spPr bwMode="auto">
          <a:xfrm>
            <a:off x="7166795" y="2717247"/>
            <a:ext cx="303419" cy="50742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7"/>
          <p:cNvSpPr>
            <a:spLocks noChangeShapeType="1"/>
          </p:cNvSpPr>
          <p:nvPr/>
        </p:nvSpPr>
        <p:spPr bwMode="auto">
          <a:xfrm flipH="1">
            <a:off x="7104588" y="3273890"/>
            <a:ext cx="365625"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8"/>
          <p:cNvSpPr>
            <a:spLocks noChangeShapeType="1"/>
          </p:cNvSpPr>
          <p:nvPr/>
        </p:nvSpPr>
        <p:spPr bwMode="auto">
          <a:xfrm flipV="1">
            <a:off x="5155855" y="3072326"/>
            <a:ext cx="790920"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9"/>
          <p:cNvSpPr>
            <a:spLocks noChangeShapeType="1"/>
          </p:cNvSpPr>
          <p:nvPr/>
        </p:nvSpPr>
        <p:spPr bwMode="auto">
          <a:xfrm>
            <a:off x="4913375" y="2666857"/>
            <a:ext cx="120605" cy="455860"/>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Line 20"/>
          <p:cNvSpPr>
            <a:spLocks noChangeShapeType="1"/>
          </p:cNvSpPr>
          <p:nvPr/>
        </p:nvSpPr>
        <p:spPr bwMode="auto">
          <a:xfrm flipH="1">
            <a:off x="4852437" y="3224670"/>
            <a:ext cx="181543" cy="355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8" name="Line 21"/>
          <p:cNvSpPr>
            <a:spLocks noChangeShapeType="1"/>
          </p:cNvSpPr>
          <p:nvPr/>
        </p:nvSpPr>
        <p:spPr bwMode="auto">
          <a:xfrm>
            <a:off x="3572748" y="2971545"/>
            <a:ext cx="1279689" cy="202734"/>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22"/>
          <p:cNvSpPr>
            <a:spLocks noChangeShapeType="1"/>
          </p:cNvSpPr>
          <p:nvPr/>
        </p:nvSpPr>
        <p:spPr bwMode="auto">
          <a:xfrm flipV="1">
            <a:off x="3633686" y="2717247"/>
            <a:ext cx="1157814"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3"/>
          <p:cNvSpPr>
            <a:spLocks noChangeShapeType="1"/>
          </p:cNvSpPr>
          <p:nvPr/>
        </p:nvSpPr>
        <p:spPr bwMode="auto">
          <a:xfrm flipH="1">
            <a:off x="1684952" y="2717247"/>
            <a:ext cx="912795"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Line 24"/>
          <p:cNvSpPr>
            <a:spLocks noChangeShapeType="1"/>
          </p:cNvSpPr>
          <p:nvPr/>
        </p:nvSpPr>
        <p:spPr bwMode="auto">
          <a:xfrm>
            <a:off x="2597747" y="2766466"/>
            <a:ext cx="366894"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Line 25"/>
          <p:cNvSpPr>
            <a:spLocks noChangeShapeType="1"/>
          </p:cNvSpPr>
          <p:nvPr/>
        </p:nvSpPr>
        <p:spPr bwMode="auto">
          <a:xfrm flipV="1">
            <a:off x="3024310" y="3020764"/>
            <a:ext cx="548438"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3" name="Line 26"/>
          <p:cNvSpPr>
            <a:spLocks noChangeShapeType="1"/>
          </p:cNvSpPr>
          <p:nvPr/>
        </p:nvSpPr>
        <p:spPr bwMode="auto">
          <a:xfrm flipH="1">
            <a:off x="2110246" y="3377014"/>
            <a:ext cx="793457"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Line 27"/>
          <p:cNvSpPr>
            <a:spLocks noChangeShapeType="1"/>
          </p:cNvSpPr>
          <p:nvPr/>
        </p:nvSpPr>
        <p:spPr bwMode="auto">
          <a:xfrm>
            <a:off x="2110246" y="3528186"/>
            <a:ext cx="305957"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45" name="Group 28"/>
          <p:cNvGrpSpPr>
            <a:grpSpLocks/>
          </p:cNvGrpSpPr>
          <p:nvPr/>
        </p:nvGrpSpPr>
        <p:grpSpPr bwMode="auto">
          <a:xfrm>
            <a:off x="2719622" y="3174280"/>
            <a:ext cx="548438" cy="353907"/>
            <a:chOff x="2949" y="196"/>
            <a:chExt cx="941" cy="598"/>
          </a:xfrm>
          <a:solidFill>
            <a:srgbClr val="00FFFF"/>
          </a:solidFill>
        </p:grpSpPr>
        <p:sp>
          <p:nvSpPr>
            <p:cNvPr id="46" name="Oval 2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7" name="Oval 3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8" name="Oval 3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9" name="Oval 3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0" name="Oval 3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1" name="Oval 3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2" name="Oval 3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3" name="Oval 3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4" name="Freeform 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5" name="Freeform 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6" name="Freeform 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57" name="Picture 4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6827" y="3377015"/>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4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55266" y="2615294"/>
            <a:ext cx="416407" cy="233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89935" y="2869591"/>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2564904"/>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4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2437" y="3072326"/>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4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88670" y="3122717"/>
            <a:ext cx="415137" cy="233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26169" y="2971545"/>
            <a:ext cx="415137" cy="230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64" name="Group 47"/>
          <p:cNvGrpSpPr>
            <a:grpSpLocks/>
          </p:cNvGrpSpPr>
          <p:nvPr/>
        </p:nvGrpSpPr>
        <p:grpSpPr bwMode="auto">
          <a:xfrm>
            <a:off x="2171184" y="3681703"/>
            <a:ext cx="548438" cy="353907"/>
            <a:chOff x="2949" y="196"/>
            <a:chExt cx="941" cy="598"/>
          </a:xfrm>
          <a:solidFill>
            <a:srgbClr val="00FFFF"/>
          </a:solidFill>
        </p:grpSpPr>
        <p:sp>
          <p:nvSpPr>
            <p:cNvPr id="65" name="Oval 4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Oval 4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Oval 5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8" name="Oval 5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9" name="Oval 5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0" name="Oval 5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Oval 5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2" name="Oval 5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Freeform 5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4" name="Freeform 5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Freeform 5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6" name="Group 59"/>
          <p:cNvGrpSpPr>
            <a:grpSpLocks/>
          </p:cNvGrpSpPr>
          <p:nvPr/>
        </p:nvGrpSpPr>
        <p:grpSpPr bwMode="auto">
          <a:xfrm>
            <a:off x="1441202" y="2818029"/>
            <a:ext cx="548438" cy="356250"/>
            <a:chOff x="2949" y="196"/>
            <a:chExt cx="941" cy="598"/>
          </a:xfrm>
          <a:solidFill>
            <a:srgbClr val="00FFFF"/>
          </a:solidFill>
        </p:grpSpPr>
        <p:sp>
          <p:nvSpPr>
            <p:cNvPr id="77" name="Oval 6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8" name="Oval 6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Oval 6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Oval 6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Oval 6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2" name="Oval 6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3" name="Oval 6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4" name="Oval 6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5" name="Freeform 6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Freeform 6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7" name="Freeform 7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8" name="Group 71"/>
          <p:cNvGrpSpPr>
            <a:grpSpLocks/>
          </p:cNvGrpSpPr>
          <p:nvPr/>
        </p:nvGrpSpPr>
        <p:grpSpPr bwMode="auto">
          <a:xfrm>
            <a:off x="6862107" y="2514513"/>
            <a:ext cx="547169" cy="355078"/>
            <a:chOff x="2949" y="196"/>
            <a:chExt cx="941" cy="598"/>
          </a:xfrm>
          <a:solidFill>
            <a:srgbClr val="00FFFF"/>
          </a:solidFill>
        </p:grpSpPr>
        <p:sp>
          <p:nvSpPr>
            <p:cNvPr id="89" name="Oval 7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Oval 7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1" name="Oval 7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2" name="Oval 7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3" name="Oval 7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4" name="Oval 7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5" name="Oval 7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6" name="Oval 7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7" name="Freeform 8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8" name="Freeform 8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9" name="Freeform 8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00" name="Group 83"/>
          <p:cNvGrpSpPr>
            <a:grpSpLocks/>
          </p:cNvGrpSpPr>
          <p:nvPr/>
        </p:nvGrpSpPr>
        <p:grpSpPr bwMode="auto">
          <a:xfrm>
            <a:off x="6801169" y="3681703"/>
            <a:ext cx="548438" cy="353907"/>
            <a:chOff x="2949" y="196"/>
            <a:chExt cx="941" cy="598"/>
          </a:xfrm>
          <a:solidFill>
            <a:srgbClr val="00FFFF"/>
          </a:solidFill>
        </p:grpSpPr>
        <p:sp>
          <p:nvSpPr>
            <p:cNvPr id="101" name="Oval 8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Oval 8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3" name="Oval 8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4" name="Oval 8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5" name="Oval 8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6" name="Oval 8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7" name="Oval 9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8" name="Oval 9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9" name="Freeform 9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0" name="Freeform 9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1" name="Freeform 9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12" name="Group 95"/>
          <p:cNvGrpSpPr>
            <a:grpSpLocks/>
          </p:cNvGrpSpPr>
          <p:nvPr/>
        </p:nvGrpSpPr>
        <p:grpSpPr bwMode="auto">
          <a:xfrm>
            <a:off x="6495212" y="3122716"/>
            <a:ext cx="548438" cy="356250"/>
            <a:chOff x="2949" y="196"/>
            <a:chExt cx="941" cy="598"/>
          </a:xfrm>
          <a:solidFill>
            <a:srgbClr val="00FFFF"/>
          </a:solidFill>
        </p:grpSpPr>
        <p:sp>
          <p:nvSpPr>
            <p:cNvPr id="113" name="Oval 9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4" name="Oval 9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5" name="Oval 9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6" name="Oval 9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7" name="Oval 10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8" name="Oval 10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9" name="Oval 10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0" name="Oval 10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1" name="Freeform 10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Freeform 10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Freeform 10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24" name="Text Box 107"/>
          <p:cNvSpPr txBox="1">
            <a:spLocks noChangeArrowheads="1"/>
          </p:cNvSpPr>
          <p:nvPr/>
        </p:nvSpPr>
        <p:spPr bwMode="auto">
          <a:xfrm>
            <a:off x="7501952" y="285201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9</a:t>
            </a:r>
          </a:p>
        </p:txBody>
      </p:sp>
      <p:sp>
        <p:nvSpPr>
          <p:cNvPr id="125" name="Text Box 108"/>
          <p:cNvSpPr txBox="1">
            <a:spLocks noChangeArrowheads="1"/>
          </p:cNvSpPr>
          <p:nvPr/>
        </p:nvSpPr>
        <p:spPr bwMode="auto">
          <a:xfrm>
            <a:off x="5901012" y="263414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7</a:t>
            </a:r>
          </a:p>
        </p:txBody>
      </p:sp>
      <p:sp>
        <p:nvSpPr>
          <p:cNvPr id="126" name="Text Box 109"/>
          <p:cNvSpPr txBox="1">
            <a:spLocks noChangeArrowheads="1"/>
          </p:cNvSpPr>
          <p:nvPr/>
        </p:nvSpPr>
        <p:spPr bwMode="auto">
          <a:xfrm>
            <a:off x="5131529" y="251904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6</a:t>
            </a:r>
          </a:p>
        </p:txBody>
      </p:sp>
      <p:sp>
        <p:nvSpPr>
          <p:cNvPr id="127" name="Text Box 110"/>
          <p:cNvSpPr txBox="1">
            <a:spLocks noChangeArrowheads="1"/>
          </p:cNvSpPr>
          <p:nvPr/>
        </p:nvSpPr>
        <p:spPr bwMode="auto">
          <a:xfrm>
            <a:off x="4617573" y="2807483"/>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5</a:t>
            </a:r>
          </a:p>
        </p:txBody>
      </p:sp>
      <p:sp>
        <p:nvSpPr>
          <p:cNvPr id="128" name="Text Box 111"/>
          <p:cNvSpPr txBox="1">
            <a:spLocks noChangeArrowheads="1"/>
          </p:cNvSpPr>
          <p:nvPr/>
        </p:nvSpPr>
        <p:spPr bwMode="auto">
          <a:xfrm>
            <a:off x="4120270" y="341611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4</a:t>
            </a:r>
          </a:p>
        </p:txBody>
      </p:sp>
      <p:sp>
        <p:nvSpPr>
          <p:cNvPr id="129" name="Text Box 112"/>
          <p:cNvSpPr txBox="1">
            <a:spLocks noChangeArrowheads="1"/>
          </p:cNvSpPr>
          <p:nvPr/>
        </p:nvSpPr>
        <p:spPr bwMode="auto">
          <a:xfrm>
            <a:off x="3396283" y="25731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3</a:t>
            </a:r>
          </a:p>
        </p:txBody>
      </p:sp>
      <p:sp>
        <p:nvSpPr>
          <p:cNvPr id="130" name="Text Box 113"/>
          <p:cNvSpPr txBox="1">
            <a:spLocks noChangeArrowheads="1"/>
          </p:cNvSpPr>
          <p:nvPr/>
        </p:nvSpPr>
        <p:spPr bwMode="auto">
          <a:xfrm>
            <a:off x="1499601" y="328795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p>
        </p:txBody>
      </p:sp>
      <p:sp>
        <p:nvSpPr>
          <p:cNvPr id="131" name="Text Box 114"/>
          <p:cNvSpPr txBox="1">
            <a:spLocks noChangeArrowheads="1"/>
          </p:cNvSpPr>
          <p:nvPr/>
        </p:nvSpPr>
        <p:spPr bwMode="auto">
          <a:xfrm>
            <a:off x="2082317" y="2403185"/>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p>
        </p:txBody>
      </p:sp>
      <p:sp>
        <p:nvSpPr>
          <p:cNvPr id="138" name="Oval 121"/>
          <p:cNvSpPr>
            <a:spLocks noChangeArrowheads="1"/>
          </p:cNvSpPr>
          <p:nvPr/>
        </p:nvSpPr>
        <p:spPr bwMode="auto">
          <a:xfrm>
            <a:off x="3572748" y="3643030"/>
            <a:ext cx="2497171" cy="767579"/>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39" name="Text Box 122"/>
          <p:cNvSpPr txBox="1">
            <a:spLocks noChangeArrowheads="1"/>
          </p:cNvSpPr>
          <p:nvPr/>
        </p:nvSpPr>
        <p:spPr bwMode="auto">
          <a:xfrm>
            <a:off x="4452230" y="4381312"/>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0.0.0.2</a:t>
            </a:r>
          </a:p>
        </p:txBody>
      </p:sp>
      <p:sp>
        <p:nvSpPr>
          <p:cNvPr id="140" name="Line 123"/>
          <p:cNvSpPr>
            <a:spLocks noChangeShapeType="1"/>
          </p:cNvSpPr>
          <p:nvPr/>
        </p:nvSpPr>
        <p:spPr bwMode="auto">
          <a:xfrm>
            <a:off x="4791500" y="3579748"/>
            <a:ext cx="729981" cy="38437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1" name="Line 124"/>
          <p:cNvSpPr>
            <a:spLocks noChangeShapeType="1"/>
          </p:cNvSpPr>
          <p:nvPr/>
        </p:nvSpPr>
        <p:spPr bwMode="auto">
          <a:xfrm flipV="1">
            <a:off x="4913375" y="4027405"/>
            <a:ext cx="669044" cy="1921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42" name="Group 125"/>
          <p:cNvGrpSpPr>
            <a:grpSpLocks/>
          </p:cNvGrpSpPr>
          <p:nvPr/>
        </p:nvGrpSpPr>
        <p:grpSpPr bwMode="auto">
          <a:xfrm>
            <a:off x="5339938" y="3770764"/>
            <a:ext cx="547168" cy="448828"/>
            <a:chOff x="2949" y="196"/>
            <a:chExt cx="941" cy="598"/>
          </a:xfrm>
          <a:solidFill>
            <a:srgbClr val="00FFFF"/>
          </a:solidFill>
        </p:grpSpPr>
        <p:sp>
          <p:nvSpPr>
            <p:cNvPr id="143" name="Oval 12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4" name="Oval 12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5" name="Oval 12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6" name="Oval 12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7" name="Oval 13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8" name="Oval 13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9" name="Oval 13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0" name="Oval 13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1" name="Freeform 13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2" name="Freeform 13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3" name="Freeform 13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55" name="Line 138"/>
          <p:cNvSpPr>
            <a:spLocks noChangeShapeType="1"/>
          </p:cNvSpPr>
          <p:nvPr/>
        </p:nvSpPr>
        <p:spPr bwMode="auto">
          <a:xfrm>
            <a:off x="4058979" y="4089515"/>
            <a:ext cx="732521" cy="130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56" name="Group 139"/>
          <p:cNvGrpSpPr>
            <a:grpSpLocks/>
          </p:cNvGrpSpPr>
          <p:nvPr/>
        </p:nvGrpSpPr>
        <p:grpSpPr bwMode="auto">
          <a:xfrm>
            <a:off x="3816498" y="3834046"/>
            <a:ext cx="548438" cy="448828"/>
            <a:chOff x="2949" y="196"/>
            <a:chExt cx="941" cy="598"/>
          </a:xfrm>
          <a:solidFill>
            <a:srgbClr val="00FFFF"/>
          </a:solidFill>
        </p:grpSpPr>
        <p:sp>
          <p:nvSpPr>
            <p:cNvPr id="157" name="Oval 14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8" name="Oval 14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9" name="Oval 14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0" name="Oval 14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1" name="Oval 14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2" name="Oval 14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3" name="Oval 14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4" name="Oval 14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5" name="Freeform 14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6" name="Freeform 14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7" name="Freeform 15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169" name="Picture 1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4054358"/>
            <a:ext cx="416407" cy="2941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0" name="Text Box 153"/>
          <p:cNvSpPr txBox="1">
            <a:spLocks noChangeArrowheads="1"/>
          </p:cNvSpPr>
          <p:nvPr/>
        </p:nvSpPr>
        <p:spPr bwMode="auto">
          <a:xfrm>
            <a:off x="4433492" y="382349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8</a:t>
            </a:r>
          </a:p>
        </p:txBody>
      </p:sp>
      <p:pic>
        <p:nvPicPr>
          <p:cNvPr id="171" name="Picture 1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17573" y="3481311"/>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3" name="Text Box 115"/>
          <p:cNvSpPr txBox="1">
            <a:spLocks noChangeArrowheads="1"/>
          </p:cNvSpPr>
          <p:nvPr/>
        </p:nvSpPr>
        <p:spPr bwMode="auto">
          <a:xfrm>
            <a:off x="6836234" y="370748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8</a:t>
            </a:r>
          </a:p>
        </p:txBody>
      </p:sp>
      <p:sp>
        <p:nvSpPr>
          <p:cNvPr id="174" name="Text Box 116"/>
          <p:cNvSpPr txBox="1">
            <a:spLocks noChangeArrowheads="1"/>
          </p:cNvSpPr>
          <p:nvPr/>
        </p:nvSpPr>
        <p:spPr bwMode="auto">
          <a:xfrm>
            <a:off x="6889650" y="254381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6</a:t>
            </a:r>
          </a:p>
        </p:txBody>
      </p:sp>
      <p:sp>
        <p:nvSpPr>
          <p:cNvPr id="175" name="Text Box 117"/>
          <p:cNvSpPr txBox="1">
            <a:spLocks noChangeArrowheads="1"/>
          </p:cNvSpPr>
          <p:nvPr/>
        </p:nvSpPr>
        <p:spPr bwMode="auto">
          <a:xfrm>
            <a:off x="2212406" y="371685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3</a:t>
            </a:r>
          </a:p>
        </p:txBody>
      </p:sp>
      <p:sp>
        <p:nvSpPr>
          <p:cNvPr id="176" name="Text Box 118"/>
          <p:cNvSpPr txBox="1">
            <a:spLocks noChangeArrowheads="1"/>
          </p:cNvSpPr>
          <p:nvPr/>
        </p:nvSpPr>
        <p:spPr bwMode="auto">
          <a:xfrm>
            <a:off x="2763573" y="319419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2</a:t>
            </a:r>
          </a:p>
        </p:txBody>
      </p:sp>
      <p:sp>
        <p:nvSpPr>
          <p:cNvPr id="177" name="Text Box 119"/>
          <p:cNvSpPr txBox="1">
            <a:spLocks noChangeArrowheads="1"/>
          </p:cNvSpPr>
          <p:nvPr/>
        </p:nvSpPr>
        <p:spPr bwMode="auto">
          <a:xfrm>
            <a:off x="1480169" y="28402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1</a:t>
            </a:r>
          </a:p>
        </p:txBody>
      </p:sp>
      <p:sp>
        <p:nvSpPr>
          <p:cNvPr id="178" name="Text Box 120"/>
          <p:cNvSpPr txBox="1">
            <a:spLocks noChangeArrowheads="1"/>
          </p:cNvSpPr>
          <p:nvPr/>
        </p:nvSpPr>
        <p:spPr bwMode="auto">
          <a:xfrm>
            <a:off x="6524820" y="31613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7</a:t>
            </a:r>
          </a:p>
        </p:txBody>
      </p:sp>
      <p:sp>
        <p:nvSpPr>
          <p:cNvPr id="179" name="Text Box 137"/>
          <p:cNvSpPr txBox="1">
            <a:spLocks noChangeArrowheads="1"/>
          </p:cNvSpPr>
          <p:nvPr/>
        </p:nvSpPr>
        <p:spPr bwMode="auto">
          <a:xfrm>
            <a:off x="5382335" y="3857501"/>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4</a:t>
            </a:r>
          </a:p>
        </p:txBody>
      </p:sp>
      <p:sp>
        <p:nvSpPr>
          <p:cNvPr id="180" name="Text Box 151"/>
          <p:cNvSpPr txBox="1">
            <a:spLocks noChangeArrowheads="1"/>
          </p:cNvSpPr>
          <p:nvPr/>
        </p:nvSpPr>
        <p:spPr bwMode="auto">
          <a:xfrm>
            <a:off x="3847280" y="391724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5</a:t>
            </a:r>
          </a:p>
        </p:txBody>
      </p:sp>
    </p:spTree>
    <p:extLst>
      <p:ext uri="{BB962C8B-B14F-4D97-AF65-F5344CB8AC3E}">
        <p14:creationId xmlns:p14="http://schemas.microsoft.com/office/powerpoint/2010/main" val="932777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2C4EA3-28E7-F7C8-627C-A917DA95FC28}"/>
              </a:ext>
            </a:extLst>
          </p:cNvPr>
          <p:cNvSpPr>
            <a:spLocks noGrp="1"/>
          </p:cNvSpPr>
          <p:nvPr>
            <p:ph type="title"/>
          </p:nvPr>
        </p:nvSpPr>
        <p:spPr>
          <a:xfrm>
            <a:off x="486000" y="550723"/>
            <a:ext cx="8172000" cy="338554"/>
          </a:xfrm>
        </p:spPr>
        <p:txBody>
          <a:bodyPr/>
          <a:lstStyle/>
          <a:p>
            <a:r>
              <a:rPr lang="zh-CN" altLang="en-US" dirty="0"/>
              <a:t>划分区域优点和缺点</a:t>
            </a:r>
          </a:p>
        </p:txBody>
      </p:sp>
      <p:sp>
        <p:nvSpPr>
          <p:cNvPr id="7" name="内容占位符 6">
            <a:extLst>
              <a:ext uri="{FF2B5EF4-FFF2-40B4-BE49-F238E27FC236}">
                <a16:creationId xmlns:a16="http://schemas.microsoft.com/office/drawing/2014/main" id="{D371B39F-3077-6706-43FB-231CA7BC2BD5}"/>
              </a:ext>
            </a:extLst>
          </p:cNvPr>
          <p:cNvSpPr>
            <a:spLocks noGrp="1"/>
          </p:cNvSpPr>
          <p:nvPr>
            <p:ph sz="quarter" idx="11"/>
          </p:nvPr>
        </p:nvSpPr>
        <p:spPr>
          <a:xfrm>
            <a:off x="486000" y="900000"/>
            <a:ext cx="8172000" cy="3703500"/>
          </a:xfrm>
        </p:spPr>
        <p:txBody>
          <a:bodyPr/>
          <a:lstStyle/>
          <a:p>
            <a:r>
              <a:rPr lang="zh-CN" altLang="en-US" dirty="0"/>
              <a:t>分层次划分区域使每一个区域内部交换路由信息的通信量大大减小，因而使 </a:t>
            </a:r>
            <a:r>
              <a:rPr lang="en-US" altLang="zh-CN" dirty="0"/>
              <a:t>OSPF </a:t>
            </a:r>
            <a:r>
              <a:rPr lang="zh-CN" altLang="en-US" dirty="0"/>
              <a:t>协议能够用于规模很大的自治系统中</a:t>
            </a:r>
          </a:p>
          <a:p>
            <a:r>
              <a:rPr lang="zh-CN" altLang="en-US" dirty="0"/>
              <a:t>优点：</a:t>
            </a:r>
            <a:endParaRPr lang="en-US" altLang="zh-CN" dirty="0"/>
          </a:p>
          <a:p>
            <a:pPr lvl="1"/>
            <a:r>
              <a:rPr lang="zh-CN" altLang="en-US" dirty="0"/>
              <a:t>减少了整个网络上的通信量</a:t>
            </a:r>
          </a:p>
          <a:p>
            <a:pPr lvl="1"/>
            <a:r>
              <a:rPr lang="zh-CN" altLang="en-US" dirty="0"/>
              <a:t>减少了需要维护的状态数量</a:t>
            </a:r>
          </a:p>
          <a:p>
            <a:r>
              <a:rPr lang="zh-CN" altLang="en-US" dirty="0"/>
              <a:t>缺点：</a:t>
            </a:r>
            <a:endParaRPr lang="en-US" altLang="zh-CN" dirty="0"/>
          </a:p>
          <a:p>
            <a:pPr lvl="1"/>
            <a:r>
              <a:rPr lang="zh-CN" altLang="en-US" dirty="0"/>
              <a:t>交换信息的种类增多了</a:t>
            </a:r>
            <a:endParaRPr lang="en-US" altLang="zh-CN" dirty="0"/>
          </a:p>
          <a:p>
            <a:pPr lvl="1"/>
            <a:r>
              <a:rPr lang="zh-CN" altLang="en-US" dirty="0"/>
              <a:t>使 </a:t>
            </a:r>
            <a:r>
              <a:rPr lang="en-US" altLang="zh-CN" dirty="0"/>
              <a:t>OSPF </a:t>
            </a:r>
            <a:r>
              <a:rPr lang="zh-CN" altLang="en-US" dirty="0"/>
              <a:t>协议更加复杂了</a:t>
            </a:r>
            <a:endParaRPr lang="en-US" altLang="zh-CN" dirty="0"/>
          </a:p>
          <a:p>
            <a:pPr lvl="1"/>
            <a:endParaRPr lang="en-US" altLang="zh-CN" dirty="0"/>
          </a:p>
          <a:p>
            <a:endParaRPr lang="zh-CN" altLang="en-US" dirty="0"/>
          </a:p>
        </p:txBody>
      </p:sp>
    </p:spTree>
    <p:extLst>
      <p:ext uri="{BB962C8B-B14F-4D97-AF65-F5344CB8AC3E}">
        <p14:creationId xmlns:p14="http://schemas.microsoft.com/office/powerpoint/2010/main" val="24613690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64B2448-299C-4771-C302-F21A91CAE546}"/>
              </a:ext>
            </a:extLst>
          </p:cNvPr>
          <p:cNvSpPr>
            <a:spLocks noGrp="1"/>
          </p:cNvSpPr>
          <p:nvPr>
            <p:ph type="title"/>
          </p:nvPr>
        </p:nvSpPr>
        <p:spPr>
          <a:xfrm>
            <a:off x="486000" y="550723"/>
            <a:ext cx="8172000" cy="338554"/>
          </a:xfrm>
        </p:spPr>
        <p:txBody>
          <a:bodyPr/>
          <a:lstStyle/>
          <a:p>
            <a:r>
              <a:rPr lang="zh-CN" altLang="en-US" dirty="0"/>
              <a:t>其他特点</a:t>
            </a:r>
          </a:p>
        </p:txBody>
      </p:sp>
      <p:sp>
        <p:nvSpPr>
          <p:cNvPr id="6" name="内容占位符 5">
            <a:extLst>
              <a:ext uri="{FF2B5EF4-FFF2-40B4-BE49-F238E27FC236}">
                <a16:creationId xmlns:a16="http://schemas.microsoft.com/office/drawing/2014/main" id="{2801FFA5-77A5-8FAF-C9FC-04BFD19963B2}"/>
              </a:ext>
            </a:extLst>
          </p:cNvPr>
          <p:cNvSpPr>
            <a:spLocks noGrp="1"/>
          </p:cNvSpPr>
          <p:nvPr>
            <p:ph sz="quarter" idx="11"/>
          </p:nvPr>
        </p:nvSpPr>
        <p:spPr>
          <a:xfrm>
            <a:off x="486000" y="900000"/>
            <a:ext cx="8172000" cy="3703500"/>
          </a:xfrm>
        </p:spPr>
        <p:txBody>
          <a:bodyPr/>
          <a:lstStyle/>
          <a:p>
            <a:r>
              <a:rPr lang="zh-CN" altLang="en-US" dirty="0"/>
              <a:t>对于不同类型的业务可计算出不同的路由</a:t>
            </a:r>
          </a:p>
          <a:p>
            <a:r>
              <a:rPr lang="zh-CN" altLang="en-US" dirty="0"/>
              <a:t>可实现多路径间的负载均衡（</a:t>
            </a:r>
            <a:r>
              <a:rPr lang="en-US" altLang="zh-CN" dirty="0"/>
              <a:t>load balancing</a:t>
            </a:r>
            <a:r>
              <a:rPr lang="zh-CN" altLang="en-US" dirty="0"/>
              <a:t>）</a:t>
            </a:r>
            <a:endParaRPr lang="en-US" altLang="zh-CN" dirty="0"/>
          </a:p>
          <a:p>
            <a:r>
              <a:rPr lang="zh-CN" altLang="en-US" dirty="0"/>
              <a:t>所有在 </a:t>
            </a:r>
            <a:r>
              <a:rPr lang="en-US" altLang="zh-CN" dirty="0"/>
              <a:t>OSPF </a:t>
            </a:r>
            <a:r>
              <a:rPr lang="zh-CN" altLang="en-US" dirty="0"/>
              <a:t>路由器之间交换的分组都具有鉴别的功能</a:t>
            </a:r>
          </a:p>
          <a:p>
            <a:r>
              <a:rPr lang="zh-CN" altLang="en-US" dirty="0"/>
              <a:t>支持可变长度的子网划分和无分类编址 </a:t>
            </a:r>
            <a:r>
              <a:rPr lang="en-US" altLang="zh-CN" dirty="0"/>
              <a:t>CIDR</a:t>
            </a:r>
            <a:endParaRPr lang="zh-CN" altLang="en-US" dirty="0"/>
          </a:p>
          <a:p>
            <a:r>
              <a:rPr lang="en-US" altLang="zh-CN" dirty="0"/>
              <a:t>32 </a:t>
            </a:r>
            <a:r>
              <a:rPr lang="zh-CN" altLang="en-US" dirty="0"/>
              <a:t>位的序号，序号越大状态就越新。全部序号空间在 </a:t>
            </a:r>
            <a:r>
              <a:rPr lang="en-US" altLang="zh-CN" dirty="0"/>
              <a:t>600 </a:t>
            </a:r>
            <a:r>
              <a:rPr lang="zh-CN" altLang="en-US" dirty="0"/>
              <a:t>年内不会产生重复号</a:t>
            </a:r>
          </a:p>
          <a:p>
            <a:endParaRPr lang="zh-CN" altLang="en-US" dirty="0"/>
          </a:p>
        </p:txBody>
      </p:sp>
    </p:spTree>
    <p:extLst>
      <p:ext uri="{BB962C8B-B14F-4D97-AF65-F5344CB8AC3E}">
        <p14:creationId xmlns:p14="http://schemas.microsoft.com/office/powerpoint/2010/main" val="3637492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E192401-7CA2-9BE5-1590-CFFEBAF2E441}"/>
              </a:ext>
            </a:extLst>
          </p:cNvPr>
          <p:cNvSpPr>
            <a:spLocks noGrp="1"/>
          </p:cNvSpPr>
          <p:nvPr>
            <p:ph type="title"/>
          </p:nvPr>
        </p:nvSpPr>
        <p:spPr>
          <a:xfrm>
            <a:off x="486000" y="550723"/>
            <a:ext cx="8172000" cy="338554"/>
          </a:xfrm>
        </p:spPr>
        <p:txBody>
          <a:bodyPr/>
          <a:lstStyle/>
          <a:p>
            <a:r>
              <a:rPr lang="en-US" altLang="zh-CN" dirty="0"/>
              <a:t>2. OSPF </a:t>
            </a:r>
            <a:r>
              <a:rPr lang="zh-CN" altLang="en-US" dirty="0"/>
              <a:t>的五种分组类型</a:t>
            </a:r>
          </a:p>
        </p:txBody>
      </p:sp>
      <p:sp>
        <p:nvSpPr>
          <p:cNvPr id="6" name="内容占位符 5">
            <a:extLst>
              <a:ext uri="{FF2B5EF4-FFF2-40B4-BE49-F238E27FC236}">
                <a16:creationId xmlns:a16="http://schemas.microsoft.com/office/drawing/2014/main" id="{7D9589C9-4B47-86B1-C6B4-2046AD0747BF}"/>
              </a:ext>
            </a:extLst>
          </p:cNvPr>
          <p:cNvSpPr>
            <a:spLocks noGrp="1"/>
          </p:cNvSpPr>
          <p:nvPr>
            <p:ph sz="quarter" idx="11"/>
          </p:nvPr>
        </p:nvSpPr>
        <p:spPr>
          <a:xfrm>
            <a:off x="486000" y="900000"/>
            <a:ext cx="8172000" cy="3703500"/>
          </a:xfrm>
        </p:spPr>
        <p:txBody>
          <a:bodyPr/>
          <a:lstStyle/>
          <a:p>
            <a:r>
              <a:rPr lang="zh-CN" altLang="en-US" dirty="0"/>
              <a:t>问候分组</a:t>
            </a:r>
            <a:endParaRPr lang="en-US" altLang="zh-CN" dirty="0"/>
          </a:p>
          <a:p>
            <a:pPr lvl="1"/>
            <a:r>
              <a:rPr lang="en-US" altLang="zh-CN" dirty="0"/>
              <a:t>Hello</a:t>
            </a:r>
            <a:endParaRPr lang="zh-CN" altLang="en-US" dirty="0"/>
          </a:p>
          <a:p>
            <a:r>
              <a:rPr lang="zh-CN" altLang="en-US" dirty="0"/>
              <a:t>数据库描述分组</a:t>
            </a:r>
            <a:endParaRPr lang="en-US" altLang="zh-CN" dirty="0"/>
          </a:p>
          <a:p>
            <a:pPr lvl="1"/>
            <a:r>
              <a:rPr lang="en-US" altLang="zh-CN" dirty="0"/>
              <a:t>Database Description</a:t>
            </a:r>
            <a:endParaRPr lang="zh-CN" altLang="en-US" dirty="0"/>
          </a:p>
          <a:p>
            <a:r>
              <a:rPr lang="zh-CN" altLang="en-US" dirty="0"/>
              <a:t>链路状态请求分组</a:t>
            </a:r>
            <a:endParaRPr lang="en-US" altLang="zh-CN" dirty="0"/>
          </a:p>
          <a:p>
            <a:pPr lvl="1"/>
            <a:r>
              <a:rPr lang="en-US" altLang="zh-CN" dirty="0"/>
              <a:t>Link State Request</a:t>
            </a:r>
            <a:endParaRPr lang="zh-CN" altLang="en-US" dirty="0"/>
          </a:p>
          <a:p>
            <a:r>
              <a:rPr lang="zh-CN" altLang="en-US" dirty="0"/>
              <a:t>链路状态更新分组</a:t>
            </a:r>
            <a:endParaRPr lang="en-US" altLang="zh-CN" dirty="0"/>
          </a:p>
          <a:p>
            <a:pPr lvl="1"/>
            <a:r>
              <a:rPr lang="en-US" altLang="zh-CN" dirty="0"/>
              <a:t>Link State Update</a:t>
            </a:r>
            <a:endParaRPr lang="zh-CN" altLang="en-US" dirty="0"/>
          </a:p>
          <a:p>
            <a:r>
              <a:rPr lang="zh-CN" altLang="en-US" dirty="0"/>
              <a:t>链路状态确认分组</a:t>
            </a:r>
            <a:endParaRPr lang="en-US" altLang="zh-CN" dirty="0"/>
          </a:p>
          <a:p>
            <a:pPr lvl="1"/>
            <a:r>
              <a:rPr lang="en-US" altLang="zh-CN" dirty="0"/>
              <a:t>Link State Acknowledgment</a:t>
            </a:r>
            <a:r>
              <a:rPr lang="zh-CN" altLang="en-US" dirty="0"/>
              <a:t> </a:t>
            </a:r>
          </a:p>
          <a:p>
            <a:endParaRPr lang="zh-CN" altLang="en-US" dirty="0"/>
          </a:p>
        </p:txBody>
      </p:sp>
    </p:spTree>
    <p:extLst>
      <p:ext uri="{BB962C8B-B14F-4D97-AF65-F5344CB8AC3E}">
        <p14:creationId xmlns:p14="http://schemas.microsoft.com/office/powerpoint/2010/main" val="10704058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AutoShape 47"/>
          <p:cNvSpPr>
            <a:spLocks noChangeArrowheads="1"/>
          </p:cNvSpPr>
          <p:nvPr/>
        </p:nvSpPr>
        <p:spPr bwMode="auto">
          <a:xfrm>
            <a:off x="2607443" y="3484571"/>
            <a:ext cx="402414" cy="120451"/>
          </a:xfrm>
          <a:prstGeom prst="leftArrow">
            <a:avLst>
              <a:gd name="adj1" fmla="val 50000"/>
              <a:gd name="adj2" fmla="val 77098"/>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1" name="Line 2"/>
          <p:cNvSpPr>
            <a:spLocks noChangeShapeType="1"/>
          </p:cNvSpPr>
          <p:nvPr/>
        </p:nvSpPr>
        <p:spPr bwMode="auto">
          <a:xfrm>
            <a:off x="3031265" y="3857293"/>
            <a:ext cx="3296871" cy="0"/>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2" name="Text Box 3"/>
          <p:cNvSpPr txBox="1">
            <a:spLocks noChangeArrowheads="1"/>
          </p:cNvSpPr>
          <p:nvPr/>
        </p:nvSpPr>
        <p:spPr bwMode="auto">
          <a:xfrm>
            <a:off x="4316069" y="3722525"/>
            <a:ext cx="845103" cy="276999"/>
          </a:xfrm>
          <a:prstGeom prst="rect">
            <a:avLst/>
          </a:prstGeom>
          <a:solidFill>
            <a:schemeClr val="bg1"/>
          </a:solidFill>
          <a:ln>
            <a:noFill/>
          </a:ln>
          <a:effectLst/>
        </p:spPr>
        <p:txBody>
          <a:bodyPr wrap="none">
            <a:spAutoFit/>
          </a:bodyPr>
          <a:lstStyle/>
          <a:p>
            <a:r>
              <a:rPr kumimoji="1" lang="en-US" altLang="zh-CN" sz="1200">
                <a:latin typeface="微软雅黑 Light" panose="020B0502040204020203" pitchFamily="34" charset="-122"/>
                <a:ea typeface="微软雅黑 Light" panose="020B0502040204020203" pitchFamily="34" charset="-122"/>
              </a:rPr>
              <a:t>IP </a:t>
            </a:r>
            <a:r>
              <a:rPr kumimoji="1" lang="zh-CN" altLang="en-US" sz="1200">
                <a:latin typeface="微软雅黑 Light" panose="020B0502040204020203" pitchFamily="34" charset="-122"/>
                <a:ea typeface="微软雅黑 Light" panose="020B0502040204020203" pitchFamily="34" charset="-122"/>
              </a:rPr>
              <a:t>数据报</a:t>
            </a:r>
          </a:p>
        </p:txBody>
      </p:sp>
      <p:sp>
        <p:nvSpPr>
          <p:cNvPr id="163" name="Freeform 5"/>
          <p:cNvSpPr>
            <a:spLocks/>
          </p:cNvSpPr>
          <p:nvPr/>
        </p:nvSpPr>
        <p:spPr bwMode="auto">
          <a:xfrm>
            <a:off x="2208189" y="2511448"/>
            <a:ext cx="4652849" cy="339972"/>
          </a:xfrm>
          <a:custGeom>
            <a:avLst/>
            <a:gdLst>
              <a:gd name="T0" fmla="*/ 48 w 4608"/>
              <a:gd name="T1" fmla="*/ 0 h 576"/>
              <a:gd name="T2" fmla="*/ 4608 w 4608"/>
              <a:gd name="T3" fmla="*/ 0 h 576"/>
              <a:gd name="T4" fmla="*/ 2208 w 4608"/>
              <a:gd name="T5" fmla="*/ 576 h 576"/>
              <a:gd name="T6" fmla="*/ 1152 w 4608"/>
              <a:gd name="T7" fmla="*/ 576 h 576"/>
              <a:gd name="T8" fmla="*/ 0 w 4608"/>
              <a:gd name="T9" fmla="*/ 0 h 576"/>
            </a:gdLst>
            <a:ahLst/>
            <a:cxnLst>
              <a:cxn ang="0">
                <a:pos x="T0" y="T1"/>
              </a:cxn>
              <a:cxn ang="0">
                <a:pos x="T2" y="T3"/>
              </a:cxn>
              <a:cxn ang="0">
                <a:pos x="T4" y="T5"/>
              </a:cxn>
              <a:cxn ang="0">
                <a:pos x="T6" y="T7"/>
              </a:cxn>
              <a:cxn ang="0">
                <a:pos x="T8" y="T9"/>
              </a:cxn>
            </a:cxnLst>
            <a:rect l="0" t="0" r="r" b="b"/>
            <a:pathLst>
              <a:path w="4608" h="576">
                <a:moveTo>
                  <a:pt x="48" y="0"/>
                </a:moveTo>
                <a:lnTo>
                  <a:pt x="4608" y="0"/>
                </a:lnTo>
                <a:lnTo>
                  <a:pt x="2208" y="576"/>
                </a:lnTo>
                <a:lnTo>
                  <a:pt x="1152" y="576"/>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4" name="Freeform 6"/>
          <p:cNvSpPr>
            <a:spLocks/>
          </p:cNvSpPr>
          <p:nvPr/>
        </p:nvSpPr>
        <p:spPr bwMode="auto">
          <a:xfrm>
            <a:off x="3396266" y="3171497"/>
            <a:ext cx="3464768" cy="216631"/>
          </a:xfrm>
          <a:custGeom>
            <a:avLst/>
            <a:gdLst>
              <a:gd name="T0" fmla="*/ 0 w 3240"/>
              <a:gd name="T1" fmla="*/ 0 h 369"/>
              <a:gd name="T2" fmla="*/ 564 w 3240"/>
              <a:gd name="T3" fmla="*/ 369 h 369"/>
              <a:gd name="T4" fmla="*/ 2922 w 3240"/>
              <a:gd name="T5" fmla="*/ 363 h 369"/>
              <a:gd name="T6" fmla="*/ 3240 w 3240"/>
              <a:gd name="T7" fmla="*/ 9 h 369"/>
              <a:gd name="T8" fmla="*/ 0 w 3240"/>
              <a:gd name="T9" fmla="*/ 3 h 369"/>
            </a:gdLst>
            <a:ahLst/>
            <a:cxnLst>
              <a:cxn ang="0">
                <a:pos x="T0" y="T1"/>
              </a:cxn>
              <a:cxn ang="0">
                <a:pos x="T2" y="T3"/>
              </a:cxn>
              <a:cxn ang="0">
                <a:pos x="T4" y="T5"/>
              </a:cxn>
              <a:cxn ang="0">
                <a:pos x="T6" y="T7"/>
              </a:cxn>
              <a:cxn ang="0">
                <a:pos x="T8" y="T9"/>
              </a:cxn>
            </a:cxnLst>
            <a:rect l="0" t="0" r="r" b="b"/>
            <a:pathLst>
              <a:path w="3240" h="369">
                <a:moveTo>
                  <a:pt x="0" y="0"/>
                </a:moveTo>
                <a:lnTo>
                  <a:pt x="564" y="369"/>
                </a:lnTo>
                <a:lnTo>
                  <a:pt x="2922" y="363"/>
                </a:lnTo>
                <a:lnTo>
                  <a:pt x="3240" y="9"/>
                </a:lnTo>
                <a:lnTo>
                  <a:pt x="0" y="3"/>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5" name="Rectangle 7"/>
          <p:cNvSpPr>
            <a:spLocks noChangeArrowheads="1"/>
          </p:cNvSpPr>
          <p:nvPr/>
        </p:nvSpPr>
        <p:spPr bwMode="auto">
          <a:xfrm>
            <a:off x="3031265" y="3388127"/>
            <a:ext cx="3464766"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7" name="Line 9"/>
          <p:cNvSpPr>
            <a:spLocks noChangeShapeType="1"/>
          </p:cNvSpPr>
          <p:nvPr/>
        </p:nvSpPr>
        <p:spPr bwMode="auto">
          <a:xfrm>
            <a:off x="4060048" y="3388127"/>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8" name="Text Box 10"/>
          <p:cNvSpPr txBox="1">
            <a:spLocks noChangeArrowheads="1"/>
          </p:cNvSpPr>
          <p:nvPr/>
        </p:nvSpPr>
        <p:spPr bwMode="auto">
          <a:xfrm>
            <a:off x="2976378" y="3417214"/>
            <a:ext cx="11272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IP </a:t>
            </a:r>
            <a:r>
              <a:rPr kumimoji="1" lang="zh-CN" altLang="zh-CN" sz="1200" dirty="0">
                <a:solidFill>
                  <a:sysClr val="windowText" lastClr="000000"/>
                </a:solidFill>
                <a:latin typeface="微软雅黑 Light" panose="020B0502040204020203" pitchFamily="34" charset="-122"/>
                <a:ea typeface="微软雅黑 Light" panose="020B0502040204020203" pitchFamily="34" charset="-122"/>
              </a:rPr>
              <a:t>数据报首部</a:t>
            </a:r>
            <a:endParaRPr kumimoji="1" lang="zh-CN" altLang="en-US" sz="1200" dirty="0">
              <a:solidFill>
                <a:sysClr val="windowText" lastClr="000000"/>
              </a:solidFill>
              <a:latin typeface="微软雅黑 Light" panose="020B0502040204020203" pitchFamily="34" charset="-122"/>
              <a:ea typeface="微软雅黑 Light" panose="020B0502040204020203" pitchFamily="34" charset="-122"/>
            </a:endParaRPr>
          </a:p>
        </p:txBody>
      </p:sp>
      <p:sp>
        <p:nvSpPr>
          <p:cNvPr id="169" name="Text Box 11"/>
          <p:cNvSpPr txBox="1">
            <a:spLocks noChangeArrowheads="1"/>
          </p:cNvSpPr>
          <p:nvPr/>
        </p:nvSpPr>
        <p:spPr bwMode="auto">
          <a:xfrm>
            <a:off x="4602054" y="3414388"/>
            <a:ext cx="94609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20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170" name="Rectangle 12"/>
          <p:cNvSpPr>
            <a:spLocks noChangeArrowheads="1"/>
          </p:cNvSpPr>
          <p:nvPr/>
        </p:nvSpPr>
        <p:spPr bwMode="auto">
          <a:xfrm>
            <a:off x="3371629" y="2851418"/>
            <a:ext cx="3489408"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1" name="Line 13"/>
          <p:cNvSpPr>
            <a:spLocks noChangeShapeType="1"/>
          </p:cNvSpPr>
          <p:nvPr/>
        </p:nvSpPr>
        <p:spPr bwMode="auto">
          <a:xfrm>
            <a:off x="6328136" y="3701467"/>
            <a:ext cx="0" cy="19625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3" name="Line 15"/>
          <p:cNvSpPr>
            <a:spLocks noChangeShapeType="1"/>
          </p:cNvSpPr>
          <p:nvPr/>
        </p:nvSpPr>
        <p:spPr bwMode="auto">
          <a:xfrm>
            <a:off x="4438344" y="2851418"/>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4" name="Text Box 16"/>
          <p:cNvSpPr txBox="1">
            <a:spLocks noChangeArrowheads="1"/>
          </p:cNvSpPr>
          <p:nvPr/>
        </p:nvSpPr>
        <p:spPr bwMode="auto">
          <a:xfrm>
            <a:off x="3327695" y="2877282"/>
            <a:ext cx="116249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100" dirty="0">
                <a:solidFill>
                  <a:sysClr val="windowText" lastClr="000000"/>
                </a:solidFill>
                <a:latin typeface="微软雅黑 Light" panose="020B0502040204020203" pitchFamily="34" charset="-122"/>
                <a:ea typeface="微软雅黑 Light" panose="020B0502040204020203" pitchFamily="34" charset="-122"/>
              </a:rPr>
              <a:t>分组首部</a:t>
            </a:r>
          </a:p>
        </p:txBody>
      </p:sp>
      <p:sp>
        <p:nvSpPr>
          <p:cNvPr id="176" name="Line 18"/>
          <p:cNvSpPr>
            <a:spLocks noChangeShapeType="1"/>
          </p:cNvSpPr>
          <p:nvPr/>
        </p:nvSpPr>
        <p:spPr bwMode="auto">
          <a:xfrm>
            <a:off x="3031265" y="3740213"/>
            <a:ext cx="0" cy="15751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7" name="Line 19"/>
          <p:cNvSpPr>
            <a:spLocks noChangeShapeType="1"/>
          </p:cNvSpPr>
          <p:nvPr/>
        </p:nvSpPr>
        <p:spPr bwMode="auto">
          <a:xfrm>
            <a:off x="3371629"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8" name="Line 20"/>
          <p:cNvSpPr>
            <a:spLocks noChangeShapeType="1"/>
          </p:cNvSpPr>
          <p:nvPr/>
        </p:nvSpPr>
        <p:spPr bwMode="auto">
          <a:xfrm>
            <a:off x="4438344"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9" name="Line 21"/>
          <p:cNvSpPr>
            <a:spLocks noChangeShapeType="1"/>
          </p:cNvSpPr>
          <p:nvPr/>
        </p:nvSpPr>
        <p:spPr bwMode="auto">
          <a:xfrm flipV="1">
            <a:off x="4146343" y="2751183"/>
            <a:ext cx="288351" cy="0"/>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0" name="Text Box 22"/>
          <p:cNvSpPr txBox="1">
            <a:spLocks noChangeArrowheads="1"/>
          </p:cNvSpPr>
          <p:nvPr/>
        </p:nvSpPr>
        <p:spPr bwMode="auto">
          <a:xfrm>
            <a:off x="3728059" y="2623994"/>
            <a:ext cx="413896" cy="276999"/>
          </a:xfrm>
          <a:prstGeom prst="rect">
            <a:avLst/>
          </a:prstGeom>
          <a:noFill/>
          <a:ln>
            <a:noFill/>
          </a:ln>
          <a:effectLst/>
          <a:extLst>
            <a:ext uri="{909E8E84-426E-40DD-AFC4-6F175D3DCCD1}">
              <a14:hiddenFill xmlns:a14="http://schemas.microsoft.com/office/drawing/2010/main">
                <a:gradFill rotWithShape="0">
                  <a:gsLst>
                    <a:gs pos="0">
                      <a:srgbClr val="EAEAEA">
                        <a:gamma/>
                        <a:tint val="69804"/>
                        <a:invGamma/>
                      </a:srgbClr>
                    </a:gs>
                    <a:gs pos="100000">
                      <a:srgbClr val="EAEAEA"/>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cs typeface="Mongolian Baiti" panose="03000500000000000000" pitchFamily="66" charset="0"/>
              </a:rPr>
              <a:t>24 </a:t>
            </a:r>
            <a:endParaRPr kumimoji="1" lang="zh-CN" altLang="en-US" sz="1200" dirty="0">
              <a:latin typeface="Montserrat" panose="00000500000000000000" pitchFamily="2" charset="0"/>
              <a:ea typeface="微软雅黑 Light" panose="020B0502040204020203" pitchFamily="34" charset="-122"/>
              <a:cs typeface="Mongolian Baiti" panose="03000500000000000000" pitchFamily="66" charset="0"/>
            </a:endParaRPr>
          </a:p>
        </p:txBody>
      </p:sp>
      <p:sp>
        <p:nvSpPr>
          <p:cNvPr id="181" name="Rectangle 23"/>
          <p:cNvSpPr>
            <a:spLocks noChangeArrowheads="1"/>
          </p:cNvSpPr>
          <p:nvPr/>
        </p:nvSpPr>
        <p:spPr bwMode="auto">
          <a:xfrm>
            <a:off x="2217313" y="1327160"/>
            <a:ext cx="4643724" cy="1184287"/>
          </a:xfrm>
          <a:prstGeom prst="rect">
            <a:avLst/>
          </a:prstGeom>
          <a:noFill/>
          <a:ln w="9525">
            <a:solidFill>
              <a:schemeClr val="tx1"/>
            </a:solidFill>
            <a:miter lim="800000"/>
            <a:headEnd/>
            <a:tailEnd/>
          </a:ln>
          <a:effectLst/>
        </p:spPr>
        <p:txBody>
          <a:bodyPr wrap="none" anchor="ctr"/>
          <a:lstStyle/>
          <a:p>
            <a:endParaRPr lang="zh-CN" altLang="en-US" sz="1000" dirty="0">
              <a:latin typeface="微软雅黑 Light" panose="020B0502040204020203" pitchFamily="34" charset="-122"/>
              <a:ea typeface="微软雅黑 Light" panose="020B0502040204020203" pitchFamily="34" charset="-122"/>
            </a:endParaRPr>
          </a:p>
        </p:txBody>
      </p:sp>
      <p:sp>
        <p:nvSpPr>
          <p:cNvPr id="182" name="Line 24"/>
          <p:cNvSpPr>
            <a:spLocks noChangeShapeType="1"/>
          </p:cNvSpPr>
          <p:nvPr/>
        </p:nvSpPr>
        <p:spPr bwMode="auto">
          <a:xfrm>
            <a:off x="2212751" y="1557374"/>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3" name="Line 25"/>
          <p:cNvSpPr>
            <a:spLocks noChangeShapeType="1"/>
          </p:cNvSpPr>
          <p:nvPr/>
        </p:nvSpPr>
        <p:spPr bwMode="auto">
          <a:xfrm>
            <a:off x="2212751" y="17527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4" name="Line 26"/>
          <p:cNvSpPr>
            <a:spLocks noChangeShapeType="1"/>
          </p:cNvSpPr>
          <p:nvPr/>
        </p:nvSpPr>
        <p:spPr bwMode="auto">
          <a:xfrm>
            <a:off x="2212751" y="19498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5" name="Line 27"/>
          <p:cNvSpPr>
            <a:spLocks noChangeShapeType="1"/>
          </p:cNvSpPr>
          <p:nvPr/>
        </p:nvSpPr>
        <p:spPr bwMode="auto">
          <a:xfrm>
            <a:off x="2212751" y="2145306"/>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6" name="Line 28"/>
          <p:cNvSpPr>
            <a:spLocks noChangeShapeType="1"/>
          </p:cNvSpPr>
          <p:nvPr/>
        </p:nvSpPr>
        <p:spPr bwMode="auto">
          <a:xfrm>
            <a:off x="2212751" y="2342407"/>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7" name="Line 29"/>
          <p:cNvSpPr>
            <a:spLocks noChangeShapeType="1"/>
          </p:cNvSpPr>
          <p:nvPr/>
        </p:nvSpPr>
        <p:spPr bwMode="auto">
          <a:xfrm>
            <a:off x="3371629" y="1327160"/>
            <a:ext cx="0" cy="23021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8" name="Line 30"/>
          <p:cNvSpPr>
            <a:spLocks noChangeShapeType="1"/>
          </p:cNvSpPr>
          <p:nvPr/>
        </p:nvSpPr>
        <p:spPr bwMode="auto">
          <a:xfrm>
            <a:off x="4535069" y="1326317"/>
            <a:ext cx="0" cy="23105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9" name="Rectangle 31"/>
          <p:cNvSpPr>
            <a:spLocks noChangeArrowheads="1"/>
          </p:cNvSpPr>
          <p:nvPr/>
        </p:nvSpPr>
        <p:spPr bwMode="auto">
          <a:xfrm>
            <a:off x="2105335" y="1141273"/>
            <a:ext cx="27571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0</a:t>
            </a:r>
          </a:p>
        </p:txBody>
      </p:sp>
      <p:sp>
        <p:nvSpPr>
          <p:cNvPr id="190" name="Rectangle 32"/>
          <p:cNvSpPr>
            <a:spLocks noChangeArrowheads="1"/>
          </p:cNvSpPr>
          <p:nvPr/>
        </p:nvSpPr>
        <p:spPr bwMode="auto">
          <a:xfrm>
            <a:off x="3244138" y="1141273"/>
            <a:ext cx="27251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8</a:t>
            </a:r>
          </a:p>
        </p:txBody>
      </p:sp>
      <p:sp>
        <p:nvSpPr>
          <p:cNvPr id="191" name="Rectangle 33"/>
          <p:cNvSpPr>
            <a:spLocks noChangeArrowheads="1"/>
          </p:cNvSpPr>
          <p:nvPr/>
        </p:nvSpPr>
        <p:spPr bwMode="auto">
          <a:xfrm>
            <a:off x="4394804" y="1141273"/>
            <a:ext cx="32060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a:latin typeface="Montserrat" panose="00000500000000000000" pitchFamily="2" charset="0"/>
                <a:ea typeface="微软雅黑" pitchFamily="34" charset="-122"/>
              </a:rPr>
              <a:t>16</a:t>
            </a:r>
          </a:p>
        </p:txBody>
      </p:sp>
      <p:sp>
        <p:nvSpPr>
          <p:cNvPr id="192" name="Rectangle 34"/>
          <p:cNvSpPr>
            <a:spLocks noChangeArrowheads="1"/>
          </p:cNvSpPr>
          <p:nvPr/>
        </p:nvSpPr>
        <p:spPr bwMode="auto">
          <a:xfrm>
            <a:off x="6630840" y="1141273"/>
            <a:ext cx="31419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31</a:t>
            </a:r>
          </a:p>
        </p:txBody>
      </p:sp>
      <p:sp>
        <p:nvSpPr>
          <p:cNvPr id="193" name="Rectangle 35"/>
          <p:cNvSpPr>
            <a:spLocks noChangeArrowheads="1"/>
          </p:cNvSpPr>
          <p:nvPr/>
        </p:nvSpPr>
        <p:spPr bwMode="auto">
          <a:xfrm>
            <a:off x="2545815" y="1352693"/>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版    本</a:t>
            </a:r>
          </a:p>
        </p:txBody>
      </p:sp>
      <p:sp>
        <p:nvSpPr>
          <p:cNvPr id="194" name="Rectangle 36"/>
          <p:cNvSpPr>
            <a:spLocks noChangeArrowheads="1"/>
          </p:cNvSpPr>
          <p:nvPr/>
        </p:nvSpPr>
        <p:spPr bwMode="auto">
          <a:xfrm>
            <a:off x="3662717" y="1540264"/>
            <a:ext cx="172162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路    由    器    标    识    符</a:t>
            </a:r>
          </a:p>
        </p:txBody>
      </p:sp>
      <p:sp>
        <p:nvSpPr>
          <p:cNvPr id="195" name="Rectangle 37"/>
          <p:cNvSpPr>
            <a:spLocks noChangeArrowheads="1"/>
          </p:cNvSpPr>
          <p:nvPr/>
        </p:nvSpPr>
        <p:spPr bwMode="auto">
          <a:xfrm>
            <a:off x="3728417" y="1326317"/>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类    型</a:t>
            </a:r>
          </a:p>
        </p:txBody>
      </p:sp>
      <p:sp>
        <p:nvSpPr>
          <p:cNvPr id="196" name="Rectangle 38"/>
          <p:cNvSpPr>
            <a:spLocks noChangeArrowheads="1"/>
          </p:cNvSpPr>
          <p:nvPr/>
        </p:nvSpPr>
        <p:spPr bwMode="auto">
          <a:xfrm>
            <a:off x="5133671" y="1326317"/>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分    组    长    度</a:t>
            </a:r>
          </a:p>
        </p:txBody>
      </p:sp>
      <p:sp>
        <p:nvSpPr>
          <p:cNvPr id="197" name="Rectangle 39"/>
          <p:cNvSpPr>
            <a:spLocks noChangeArrowheads="1"/>
          </p:cNvSpPr>
          <p:nvPr/>
        </p:nvSpPr>
        <p:spPr bwMode="auto">
          <a:xfrm>
            <a:off x="2990203" y="1932780"/>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检   验   和</a:t>
            </a:r>
          </a:p>
        </p:txBody>
      </p:sp>
      <p:sp>
        <p:nvSpPr>
          <p:cNvPr id="198" name="Rectangle 40"/>
          <p:cNvSpPr>
            <a:spLocks noChangeArrowheads="1"/>
          </p:cNvSpPr>
          <p:nvPr/>
        </p:nvSpPr>
        <p:spPr bwMode="auto">
          <a:xfrm>
            <a:off x="4129006" y="2119773"/>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a:t>
            </a:r>
          </a:p>
        </p:txBody>
      </p:sp>
      <p:sp>
        <p:nvSpPr>
          <p:cNvPr id="200" name="Rectangle 42"/>
          <p:cNvSpPr>
            <a:spLocks noChangeArrowheads="1"/>
          </p:cNvSpPr>
          <p:nvPr/>
        </p:nvSpPr>
        <p:spPr bwMode="auto">
          <a:xfrm>
            <a:off x="4129006" y="2316031"/>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鉴            别</a:t>
            </a:r>
          </a:p>
        </p:txBody>
      </p:sp>
      <p:sp>
        <p:nvSpPr>
          <p:cNvPr id="201" name="Rectangle 43"/>
          <p:cNvSpPr>
            <a:spLocks noChangeArrowheads="1"/>
          </p:cNvSpPr>
          <p:nvPr/>
        </p:nvSpPr>
        <p:spPr bwMode="auto">
          <a:xfrm>
            <a:off x="3838831" y="1735679"/>
            <a:ext cx="14394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区    域    标    识    符</a:t>
            </a:r>
          </a:p>
        </p:txBody>
      </p:sp>
      <p:sp>
        <p:nvSpPr>
          <p:cNvPr id="202" name="Rectangle 44"/>
          <p:cNvSpPr>
            <a:spLocks noChangeArrowheads="1"/>
          </p:cNvSpPr>
          <p:nvPr/>
        </p:nvSpPr>
        <p:spPr bwMode="auto">
          <a:xfrm>
            <a:off x="5146446" y="1932780"/>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    类    型</a:t>
            </a:r>
          </a:p>
        </p:txBody>
      </p:sp>
      <p:sp>
        <p:nvSpPr>
          <p:cNvPr id="203" name="Line 45"/>
          <p:cNvSpPr>
            <a:spLocks noChangeShapeType="1"/>
          </p:cNvSpPr>
          <p:nvPr/>
        </p:nvSpPr>
        <p:spPr bwMode="auto">
          <a:xfrm flipH="1">
            <a:off x="4537807" y="1949890"/>
            <a:ext cx="0" cy="1954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204" name="Line 46"/>
          <p:cNvSpPr>
            <a:spLocks noChangeShapeType="1"/>
          </p:cNvSpPr>
          <p:nvPr/>
        </p:nvSpPr>
        <p:spPr bwMode="auto">
          <a:xfrm flipH="1" flipV="1">
            <a:off x="3371629" y="2757079"/>
            <a:ext cx="287438" cy="843"/>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Text Box 17"/>
          <p:cNvSpPr txBox="1">
            <a:spLocks noChangeArrowheads="1"/>
          </p:cNvSpPr>
          <p:nvPr/>
        </p:nvSpPr>
        <p:spPr bwMode="auto">
          <a:xfrm>
            <a:off x="4526454" y="2869588"/>
            <a:ext cx="2207622" cy="276999"/>
          </a:xfrm>
          <a:prstGeom prst="rect">
            <a:avLst/>
          </a:prstGeom>
          <a:noFill/>
          <a:ln w="9525">
            <a:noFill/>
            <a:miter lim="800000"/>
            <a:headEnd/>
            <a:tailEnd/>
          </a:ln>
          <a:effectLst/>
        </p:spPr>
        <p:txBody>
          <a:bodyPr wrap="none" anchor="ctr"/>
          <a:lstStyle>
            <a:defPPr>
              <a:defRPr lang="zh-CN"/>
            </a:defPPr>
            <a:lvl1pPr>
              <a:defRPr sz="1200" b="1">
                <a:latin typeface="微软雅黑" pitchFamily="34" charset="-122"/>
                <a:ea typeface="微软雅黑" pitchFamily="34" charset="-122"/>
              </a:defRPr>
            </a:lvl1pPr>
          </a:lstStyle>
          <a:p>
            <a:r>
              <a:rPr lang="zh-CN" altLang="en-US" b="0" dirty="0">
                <a:solidFill>
                  <a:sysClr val="windowText" lastClr="000000"/>
                </a:solidFill>
                <a:latin typeface="微软雅黑 Light" panose="020B0502040204020203" pitchFamily="34" charset="-122"/>
                <a:ea typeface="微软雅黑 Light" panose="020B0502040204020203" pitchFamily="34" charset="-122"/>
              </a:rPr>
              <a:t>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1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至类型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5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的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OSPF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5" name="矩形 4"/>
          <p:cNvSpPr/>
          <p:nvPr/>
        </p:nvSpPr>
        <p:spPr>
          <a:xfrm>
            <a:off x="942579" y="2638755"/>
            <a:ext cx="1390796" cy="738664"/>
          </a:xfrm>
          <a:prstGeom prst="rect">
            <a:avLst/>
          </a:prstGeom>
          <a:solidFill>
            <a:schemeClr val="bg1"/>
          </a:solidFill>
        </p:spPr>
        <p:txBody>
          <a:bodyPr wrap="square">
            <a:spAutoFit/>
          </a:bodyPr>
          <a:lstStyle/>
          <a:p>
            <a:r>
              <a:rPr lang="zh-CN" altLang="en-US" sz="1400" dirty="0">
                <a:latin typeface="微软雅黑" panose="020B0503020204020204" pitchFamily="34" charset="-122"/>
                <a:ea typeface="微软雅黑" panose="020B0503020204020204" pitchFamily="34" charset="-122"/>
              </a:rPr>
              <a:t>其 </a:t>
            </a:r>
            <a:r>
              <a:rPr lang="en-US" altLang="zh-CN" sz="1400" dirty="0">
                <a:latin typeface="微软雅黑" panose="020B0503020204020204" pitchFamily="34" charset="-122"/>
                <a:ea typeface="微软雅黑" panose="020B0503020204020204" pitchFamily="34" charset="-122"/>
              </a:rPr>
              <a:t>IP </a:t>
            </a:r>
            <a:r>
              <a:rPr lang="zh-CN" altLang="en-US" sz="1400" dirty="0">
                <a:latin typeface="微软雅黑" panose="020B0503020204020204" pitchFamily="34" charset="-122"/>
                <a:ea typeface="微软雅黑" panose="020B0503020204020204" pitchFamily="34" charset="-122"/>
              </a:rPr>
              <a:t>数据报首部的协议字段值为 </a:t>
            </a:r>
            <a:r>
              <a:rPr lang="en-US" altLang="zh-CN" sz="1400" dirty="0">
                <a:latin typeface="微软雅黑" panose="020B0503020204020204" pitchFamily="34" charset="-122"/>
                <a:ea typeface="微软雅黑" panose="020B0503020204020204" pitchFamily="34" charset="-122"/>
              </a:rPr>
              <a:t>89</a:t>
            </a:r>
            <a:endParaRPr lang="zh-CN" altLang="en-US" sz="1400" dirty="0">
              <a:latin typeface="微软雅黑" panose="020B0503020204020204" pitchFamily="34" charset="-122"/>
              <a:ea typeface="微软雅黑" panose="020B0503020204020204" pitchFamily="34" charset="-122"/>
            </a:endParaRPr>
          </a:p>
        </p:txBody>
      </p:sp>
      <p:cxnSp>
        <p:nvCxnSpPr>
          <p:cNvPr id="7" name="直接箭头连接符 6"/>
          <p:cNvCxnSpPr/>
          <p:nvPr/>
        </p:nvCxnSpPr>
        <p:spPr>
          <a:xfrm flipH="1" flipV="1">
            <a:off x="2138994" y="3029226"/>
            <a:ext cx="1614240" cy="406167"/>
          </a:xfrm>
          <a:prstGeom prst="straightConnector1">
            <a:avLst/>
          </a:prstGeom>
          <a:ln w="19050">
            <a:solidFill>
              <a:srgbClr val="990099"/>
            </a:solidFill>
            <a:tailEnd type="triangle"/>
          </a:ln>
        </p:spPr>
        <p:style>
          <a:lnRef idx="1">
            <a:schemeClr val="accent1"/>
          </a:lnRef>
          <a:fillRef idx="0">
            <a:schemeClr val="accent1"/>
          </a:fillRef>
          <a:effectRef idx="0">
            <a:schemeClr val="accent1"/>
          </a:effectRef>
          <a:fontRef idx="minor">
            <a:schemeClr val="tx1"/>
          </a:fontRef>
        </p:style>
      </p:cxnSp>
      <p:sp>
        <p:nvSpPr>
          <p:cNvPr id="6" name="标题 5">
            <a:extLst>
              <a:ext uri="{FF2B5EF4-FFF2-40B4-BE49-F238E27FC236}">
                <a16:creationId xmlns:a16="http://schemas.microsoft.com/office/drawing/2014/main" id="{BA8FBD6D-D031-96BE-B20E-E9507606D631}"/>
              </a:ext>
            </a:extLst>
          </p:cNvPr>
          <p:cNvSpPr>
            <a:spLocks noGrp="1"/>
          </p:cNvSpPr>
          <p:nvPr>
            <p:ph type="title"/>
          </p:nvPr>
        </p:nvSpPr>
        <p:spPr>
          <a:xfrm>
            <a:off x="486000" y="550723"/>
            <a:ext cx="8172000" cy="338554"/>
          </a:xfrm>
        </p:spPr>
        <p:txBody>
          <a:bodyPr/>
          <a:lstStyle/>
          <a:p>
            <a:r>
              <a:rPr lang="en-US" altLang="zh-CN" dirty="0"/>
              <a:t>OSPF </a:t>
            </a:r>
            <a:r>
              <a:rPr lang="zh-CN" altLang="en-US" dirty="0"/>
              <a:t>分组用 </a:t>
            </a:r>
            <a:r>
              <a:rPr lang="en-US" altLang="zh-CN" dirty="0"/>
              <a:t>IP </a:t>
            </a:r>
            <a:r>
              <a:rPr lang="zh-CN" altLang="en-US" dirty="0"/>
              <a:t>数据报传送</a:t>
            </a:r>
          </a:p>
        </p:txBody>
      </p:sp>
    </p:spTree>
    <p:extLst>
      <p:ext uri="{BB962C8B-B14F-4D97-AF65-F5344CB8AC3E}">
        <p14:creationId xmlns:p14="http://schemas.microsoft.com/office/powerpoint/2010/main" val="639269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F3DE3C1-32C9-C3ED-68E1-0A884DA881F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
        <p:nvSpPr>
          <p:cNvPr id="5" name="内容占位符 4">
            <a:extLst>
              <a:ext uri="{FF2B5EF4-FFF2-40B4-BE49-F238E27FC236}">
                <a16:creationId xmlns:a16="http://schemas.microsoft.com/office/drawing/2014/main" id="{42CFBF53-1807-4EEB-6AD7-5E421BE114DB}"/>
              </a:ext>
            </a:extLst>
          </p:cNvPr>
          <p:cNvSpPr>
            <a:spLocks noGrp="1"/>
          </p:cNvSpPr>
          <p:nvPr>
            <p:ph sz="quarter" idx="11"/>
          </p:nvPr>
        </p:nvSpPr>
        <p:spPr>
          <a:xfrm>
            <a:off x="486000" y="900000"/>
            <a:ext cx="8172000" cy="3703500"/>
          </a:xfrm>
        </p:spPr>
        <p:txBody>
          <a:bodyPr/>
          <a:lstStyle/>
          <a:p>
            <a:r>
              <a:rPr lang="zh-CN" altLang="en-US" dirty="0"/>
              <a:t>确定邻站可达</a:t>
            </a:r>
            <a:endParaRPr lang="en-US" altLang="zh-CN" dirty="0"/>
          </a:p>
          <a:p>
            <a:pPr lvl="1"/>
            <a:r>
              <a:rPr lang="zh-CN" altLang="en-US" dirty="0"/>
              <a:t>相邻路由器每隔 </a:t>
            </a:r>
            <a:r>
              <a:rPr lang="en-US" altLang="zh-CN" dirty="0"/>
              <a:t>10 </a:t>
            </a:r>
            <a:r>
              <a:rPr lang="zh-CN" altLang="en-US" dirty="0"/>
              <a:t>秒钟要交换一次问候分组</a:t>
            </a:r>
            <a:endParaRPr lang="en-US" altLang="zh-CN" dirty="0"/>
          </a:p>
          <a:p>
            <a:pPr lvl="1"/>
            <a:r>
              <a:rPr lang="zh-CN" altLang="en-US" dirty="0"/>
              <a:t>若有 </a:t>
            </a:r>
            <a:r>
              <a:rPr lang="en-US" altLang="zh-CN" dirty="0"/>
              <a:t>40 </a:t>
            </a:r>
            <a:r>
              <a:rPr lang="zh-CN" altLang="en-US" dirty="0"/>
              <a:t>秒钟没有收到某个相邻路由器发来的问候分组，则可认为该相邻路由器是不可达的</a:t>
            </a:r>
            <a:endParaRPr lang="en-US" altLang="zh-CN" dirty="0"/>
          </a:p>
          <a:p>
            <a:r>
              <a:rPr lang="zh-CN" altLang="en-US" dirty="0"/>
              <a:t>同步链路状态数据库</a:t>
            </a:r>
            <a:endParaRPr lang="en-US" altLang="zh-CN" dirty="0"/>
          </a:p>
          <a:p>
            <a:pPr lvl="1"/>
            <a:r>
              <a:rPr lang="zh-CN" altLang="en-US" dirty="0"/>
              <a:t>同步：指不同路由器的链路状态数据库的内容是一样的</a:t>
            </a:r>
            <a:endParaRPr lang="en-US" altLang="zh-CN" dirty="0"/>
          </a:p>
          <a:p>
            <a:pPr lvl="1"/>
            <a:r>
              <a:rPr lang="zh-CN" altLang="en-US" dirty="0"/>
              <a:t>两个同步的路由器叫做完全邻接的 </a:t>
            </a:r>
            <a:r>
              <a:rPr lang="en-US" altLang="zh-CN" dirty="0"/>
              <a:t>(fully adjacent) </a:t>
            </a:r>
            <a:r>
              <a:rPr lang="zh-CN" altLang="en-US" dirty="0"/>
              <a:t>路由器</a:t>
            </a:r>
            <a:endParaRPr lang="en-US" altLang="zh-CN" dirty="0"/>
          </a:p>
          <a:p>
            <a:pPr lvl="1"/>
            <a:r>
              <a:rPr lang="zh-CN" altLang="en-US" dirty="0"/>
              <a:t>不是完全邻接的路由器：它们虽然在物理上是相邻的，但其链路状态数据库并没有达到一致</a:t>
            </a:r>
            <a:endParaRPr lang="en-US" altLang="zh-CN" dirty="0"/>
          </a:p>
          <a:p>
            <a:pPr lvl="1"/>
            <a:r>
              <a:rPr lang="zh-CN" altLang="en-US" dirty="0"/>
              <a:t>链路状态只涉及相邻路由器，与整个互联网的规模并无直接关系，因此当互联网规模很大时，</a:t>
            </a:r>
            <a:r>
              <a:rPr lang="en-US" altLang="zh-CN" dirty="0"/>
              <a:t>OSPF </a:t>
            </a:r>
            <a:r>
              <a:rPr lang="zh-CN" altLang="en-US" dirty="0"/>
              <a:t>协议要比距离向量协议 </a:t>
            </a:r>
            <a:r>
              <a:rPr lang="en-US" altLang="zh-CN" dirty="0"/>
              <a:t>RIP </a:t>
            </a:r>
            <a:r>
              <a:rPr lang="zh-CN" altLang="en-US" dirty="0"/>
              <a:t>好得多</a:t>
            </a:r>
            <a:endParaRPr lang="en-US" altLang="zh-CN" dirty="0"/>
          </a:p>
          <a:p>
            <a:r>
              <a:rPr lang="zh-CN" altLang="en-US" dirty="0"/>
              <a:t>更新链路状态</a:t>
            </a:r>
            <a:endParaRPr lang="en-US" altLang="zh-CN" dirty="0"/>
          </a:p>
          <a:p>
            <a:pPr lvl="1"/>
            <a:r>
              <a:rPr lang="zh-CN" altLang="en-US" dirty="0"/>
              <a:t>只要链路状态发生变化，路由器就使用链路状态更新分组，采用可靠的洪泛法向全网更新链路状态</a:t>
            </a:r>
            <a:endParaRPr lang="en-US" altLang="zh-CN" dirty="0"/>
          </a:p>
          <a:p>
            <a:pPr lvl="1"/>
            <a:r>
              <a:rPr lang="zh-CN" altLang="en-US" dirty="0"/>
              <a:t>为确保链路状态数据库与全网的状态保持一致，</a:t>
            </a:r>
            <a:r>
              <a:rPr lang="en-US" altLang="zh-CN" dirty="0"/>
              <a:t>OSPF </a:t>
            </a:r>
            <a:r>
              <a:rPr lang="zh-CN" altLang="en-US" dirty="0"/>
              <a:t>还规定：每隔一段时间，如 </a:t>
            </a:r>
            <a:r>
              <a:rPr lang="en-US" altLang="zh-CN" dirty="0"/>
              <a:t>30 </a:t>
            </a:r>
            <a:r>
              <a:rPr lang="zh-CN" altLang="en-US" dirty="0"/>
              <a:t>分钟，要刷新一次数据库中的链路状态</a:t>
            </a:r>
          </a:p>
        </p:txBody>
      </p:sp>
    </p:spTree>
    <p:extLst>
      <p:ext uri="{BB962C8B-B14F-4D97-AF65-F5344CB8AC3E}">
        <p14:creationId xmlns:p14="http://schemas.microsoft.com/office/powerpoint/2010/main" val="2025306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2"/>
          <p:cNvSpPr>
            <a:spLocks noChangeArrowheads="1"/>
          </p:cNvSpPr>
          <p:nvPr/>
        </p:nvSpPr>
        <p:spPr bwMode="auto">
          <a:xfrm>
            <a:off x="1345098" y="2013851"/>
            <a:ext cx="6644146" cy="1209846"/>
          </a:xfrm>
          <a:prstGeom prst="rect">
            <a:avLst/>
          </a:prstGeom>
          <a:solidFill>
            <a:schemeClr val="accent6">
              <a:lumMod val="40000"/>
              <a:lumOff val="60000"/>
            </a:schemeClr>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AutoShape 6"/>
          <p:cNvSpPr>
            <a:spLocks noChangeArrowheads="1"/>
          </p:cNvSpPr>
          <p:nvPr/>
        </p:nvSpPr>
        <p:spPr bwMode="auto">
          <a:xfrm rot="16200000">
            <a:off x="5132802" y="-147017"/>
            <a:ext cx="66788" cy="2904817"/>
          </a:xfrm>
          <a:prstGeom prst="can">
            <a:avLst>
              <a:gd name="adj" fmla="val 105945"/>
            </a:avLst>
          </a:prstGeom>
          <a:solidFill>
            <a:srgbClr val="CC00CC"/>
          </a:solidFill>
          <a:ln w="9525">
            <a:no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pic>
        <p:nvPicPr>
          <p:cNvPr id="9"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29117" y="1153273"/>
            <a:ext cx="568153"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 name="Picture 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6270" y="1153273"/>
            <a:ext cx="566967"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 name="Group 9"/>
          <p:cNvGrpSpPr>
            <a:grpSpLocks/>
          </p:cNvGrpSpPr>
          <p:nvPr/>
        </p:nvGrpSpPr>
        <p:grpSpPr bwMode="auto">
          <a:xfrm>
            <a:off x="3783768" y="1371158"/>
            <a:ext cx="2906003" cy="307663"/>
            <a:chOff x="2056" y="1482"/>
            <a:chExt cx="2450" cy="281"/>
          </a:xfrm>
        </p:grpSpPr>
        <p:sp>
          <p:nvSpPr>
            <p:cNvPr id="12" name="Text Box 10"/>
            <p:cNvSpPr txBox="1">
              <a:spLocks noChangeArrowheads="1"/>
            </p:cNvSpPr>
            <p:nvPr/>
          </p:nvSpPr>
          <p:spPr bwMode="auto">
            <a:xfrm>
              <a:off x="2991" y="1482"/>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sp>
          <p:nvSpPr>
            <p:cNvPr id="13" name="Line 11"/>
            <p:cNvSpPr>
              <a:spLocks noChangeShapeType="1"/>
            </p:cNvSpPr>
            <p:nvPr/>
          </p:nvSpPr>
          <p:spPr bwMode="auto">
            <a:xfrm>
              <a:off x="2056" y="1731"/>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14" name="Group 12"/>
          <p:cNvGrpSpPr>
            <a:grpSpLocks/>
          </p:cNvGrpSpPr>
          <p:nvPr/>
        </p:nvGrpSpPr>
        <p:grpSpPr bwMode="auto">
          <a:xfrm>
            <a:off x="3783768" y="1635022"/>
            <a:ext cx="2906003" cy="307662"/>
            <a:chOff x="2056" y="1723"/>
            <a:chExt cx="2450" cy="281"/>
          </a:xfrm>
        </p:grpSpPr>
        <p:sp>
          <p:nvSpPr>
            <p:cNvPr id="15" name="Line 13"/>
            <p:cNvSpPr>
              <a:spLocks noChangeShapeType="1"/>
            </p:cNvSpPr>
            <p:nvPr/>
          </p:nvSpPr>
          <p:spPr bwMode="auto">
            <a:xfrm flipH="1">
              <a:off x="2056" y="198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Text Box 14"/>
            <p:cNvSpPr txBox="1">
              <a:spLocks noChangeArrowheads="1"/>
            </p:cNvSpPr>
            <p:nvPr/>
          </p:nvSpPr>
          <p:spPr bwMode="auto">
            <a:xfrm>
              <a:off x="2987" y="1723"/>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grpSp>
      <p:grpSp>
        <p:nvGrpSpPr>
          <p:cNvPr id="17" name="Group 15"/>
          <p:cNvGrpSpPr>
            <a:grpSpLocks/>
          </p:cNvGrpSpPr>
          <p:nvPr/>
        </p:nvGrpSpPr>
        <p:grpSpPr bwMode="auto">
          <a:xfrm>
            <a:off x="3783768" y="2023708"/>
            <a:ext cx="2906003" cy="307663"/>
            <a:chOff x="2056" y="2078"/>
            <a:chExt cx="2450" cy="281"/>
          </a:xfrm>
        </p:grpSpPr>
        <p:sp>
          <p:nvSpPr>
            <p:cNvPr id="18" name="Line 16"/>
            <p:cNvSpPr>
              <a:spLocks noChangeShapeType="1"/>
            </p:cNvSpPr>
            <p:nvPr/>
          </p:nvSpPr>
          <p:spPr bwMode="auto">
            <a:xfrm>
              <a:off x="2056" y="2328"/>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Text Box 17"/>
            <p:cNvSpPr txBox="1">
              <a:spLocks noChangeArrowheads="1"/>
            </p:cNvSpPr>
            <p:nvPr/>
          </p:nvSpPr>
          <p:spPr bwMode="auto">
            <a:xfrm>
              <a:off x="2713" y="2078"/>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数据库描述</a:t>
              </a:r>
            </a:p>
          </p:txBody>
        </p:sp>
      </p:grpSp>
      <p:grpSp>
        <p:nvGrpSpPr>
          <p:cNvPr id="20" name="Group 18"/>
          <p:cNvGrpSpPr>
            <a:grpSpLocks/>
          </p:cNvGrpSpPr>
          <p:nvPr/>
        </p:nvGrpSpPr>
        <p:grpSpPr bwMode="auto">
          <a:xfrm>
            <a:off x="3783768" y="2288666"/>
            <a:ext cx="2906003" cy="307663"/>
            <a:chOff x="2056" y="2320"/>
            <a:chExt cx="2450" cy="281"/>
          </a:xfrm>
        </p:grpSpPr>
        <p:sp>
          <p:nvSpPr>
            <p:cNvPr id="21" name="Line 19"/>
            <p:cNvSpPr>
              <a:spLocks noChangeShapeType="1"/>
            </p:cNvSpPr>
            <p:nvPr/>
          </p:nvSpPr>
          <p:spPr bwMode="auto">
            <a:xfrm flipH="1">
              <a:off x="2056" y="2577"/>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20"/>
            <p:cNvSpPr txBox="1">
              <a:spLocks noChangeArrowheads="1"/>
            </p:cNvSpPr>
            <p:nvPr/>
          </p:nvSpPr>
          <p:spPr bwMode="auto">
            <a:xfrm>
              <a:off x="2713" y="2320"/>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3" name="Group 21"/>
          <p:cNvGrpSpPr>
            <a:grpSpLocks/>
          </p:cNvGrpSpPr>
          <p:nvPr/>
        </p:nvGrpSpPr>
        <p:grpSpPr bwMode="auto">
          <a:xfrm>
            <a:off x="3783768" y="2561296"/>
            <a:ext cx="2906003" cy="307663"/>
            <a:chOff x="2056" y="2569"/>
            <a:chExt cx="2450" cy="281"/>
          </a:xfrm>
        </p:grpSpPr>
        <p:sp>
          <p:nvSpPr>
            <p:cNvPr id="24" name="Line 22"/>
            <p:cNvSpPr>
              <a:spLocks noChangeShapeType="1"/>
            </p:cNvSpPr>
            <p:nvPr/>
          </p:nvSpPr>
          <p:spPr bwMode="auto">
            <a:xfrm>
              <a:off x="2056" y="282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Text Box 23"/>
            <p:cNvSpPr txBox="1">
              <a:spLocks noChangeArrowheads="1"/>
            </p:cNvSpPr>
            <p:nvPr/>
          </p:nvSpPr>
          <p:spPr bwMode="auto">
            <a:xfrm>
              <a:off x="2713" y="2569"/>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6" name="Group 24"/>
          <p:cNvGrpSpPr>
            <a:grpSpLocks/>
          </p:cNvGrpSpPr>
          <p:nvPr/>
        </p:nvGrpSpPr>
        <p:grpSpPr bwMode="auto">
          <a:xfrm>
            <a:off x="3783768" y="2827349"/>
            <a:ext cx="2906003" cy="307663"/>
            <a:chOff x="2056" y="2812"/>
            <a:chExt cx="2450" cy="281"/>
          </a:xfrm>
        </p:grpSpPr>
        <p:sp>
          <p:nvSpPr>
            <p:cNvPr id="27" name="Line 25"/>
            <p:cNvSpPr>
              <a:spLocks noChangeShapeType="1"/>
            </p:cNvSpPr>
            <p:nvPr/>
          </p:nvSpPr>
          <p:spPr bwMode="auto">
            <a:xfrm flipH="1">
              <a:off x="2056" y="307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Text Box 26"/>
            <p:cNvSpPr txBox="1">
              <a:spLocks noChangeArrowheads="1"/>
            </p:cNvSpPr>
            <p:nvPr/>
          </p:nvSpPr>
          <p:spPr bwMode="auto">
            <a:xfrm>
              <a:off x="2713" y="2812"/>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9" name="Group 27"/>
          <p:cNvGrpSpPr>
            <a:grpSpLocks/>
          </p:cNvGrpSpPr>
          <p:nvPr/>
        </p:nvGrpSpPr>
        <p:grpSpPr bwMode="auto">
          <a:xfrm>
            <a:off x="3783768" y="3232459"/>
            <a:ext cx="2906003" cy="307663"/>
            <a:chOff x="2056" y="3182"/>
            <a:chExt cx="2450" cy="281"/>
          </a:xfrm>
        </p:grpSpPr>
        <p:sp>
          <p:nvSpPr>
            <p:cNvPr id="30" name="Line 28"/>
            <p:cNvSpPr>
              <a:spLocks noChangeShapeType="1"/>
            </p:cNvSpPr>
            <p:nvPr/>
          </p:nvSpPr>
          <p:spPr bwMode="auto">
            <a:xfrm>
              <a:off x="2056" y="3423"/>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Text Box 29"/>
            <p:cNvSpPr txBox="1">
              <a:spLocks noChangeArrowheads="1"/>
            </p:cNvSpPr>
            <p:nvPr/>
          </p:nvSpPr>
          <p:spPr bwMode="auto">
            <a:xfrm>
              <a:off x="2624" y="318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链路状态请求</a:t>
              </a:r>
            </a:p>
          </p:txBody>
        </p:sp>
      </p:grpSp>
      <p:grpSp>
        <p:nvGrpSpPr>
          <p:cNvPr id="32" name="Group 30"/>
          <p:cNvGrpSpPr>
            <a:grpSpLocks/>
          </p:cNvGrpSpPr>
          <p:nvPr/>
        </p:nvGrpSpPr>
        <p:grpSpPr bwMode="auto">
          <a:xfrm>
            <a:off x="3783768" y="3506184"/>
            <a:ext cx="2906003" cy="307663"/>
            <a:chOff x="2056" y="3432"/>
            <a:chExt cx="2450" cy="281"/>
          </a:xfrm>
        </p:grpSpPr>
        <p:sp>
          <p:nvSpPr>
            <p:cNvPr id="33" name="Line 31"/>
            <p:cNvSpPr>
              <a:spLocks noChangeShapeType="1"/>
            </p:cNvSpPr>
            <p:nvPr/>
          </p:nvSpPr>
          <p:spPr bwMode="auto">
            <a:xfrm flipH="1">
              <a:off x="2056" y="3672"/>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Text Box 32"/>
            <p:cNvSpPr txBox="1">
              <a:spLocks noChangeArrowheads="1"/>
            </p:cNvSpPr>
            <p:nvPr/>
          </p:nvSpPr>
          <p:spPr bwMode="auto">
            <a:xfrm>
              <a:off x="2629" y="343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链路状态更新</a:t>
              </a:r>
            </a:p>
          </p:txBody>
        </p:sp>
      </p:grpSp>
      <p:sp>
        <p:nvSpPr>
          <p:cNvPr id="35" name="Line 33"/>
          <p:cNvSpPr>
            <a:spLocks noChangeShapeType="1"/>
          </p:cNvSpPr>
          <p:nvPr/>
        </p:nvSpPr>
        <p:spPr bwMode="auto">
          <a:xfrm>
            <a:off x="1633326" y="3232455"/>
            <a:ext cx="5764562"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34"/>
          <p:cNvSpPr>
            <a:spLocks noChangeShapeType="1"/>
          </p:cNvSpPr>
          <p:nvPr/>
        </p:nvSpPr>
        <p:spPr bwMode="auto">
          <a:xfrm>
            <a:off x="1657048" y="2025894"/>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37" name="Group 35"/>
          <p:cNvGrpSpPr>
            <a:grpSpLocks/>
          </p:cNvGrpSpPr>
          <p:nvPr/>
        </p:nvGrpSpPr>
        <p:grpSpPr bwMode="auto">
          <a:xfrm>
            <a:off x="3783768" y="3777716"/>
            <a:ext cx="2906003" cy="307663"/>
            <a:chOff x="2056" y="3680"/>
            <a:chExt cx="2450" cy="281"/>
          </a:xfrm>
        </p:grpSpPr>
        <p:sp>
          <p:nvSpPr>
            <p:cNvPr id="38" name="Line 36"/>
            <p:cNvSpPr>
              <a:spLocks noChangeShapeType="1"/>
            </p:cNvSpPr>
            <p:nvPr/>
          </p:nvSpPr>
          <p:spPr bwMode="auto">
            <a:xfrm>
              <a:off x="2056" y="392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37"/>
            <p:cNvSpPr txBox="1">
              <a:spLocks noChangeArrowheads="1"/>
            </p:cNvSpPr>
            <p:nvPr/>
          </p:nvSpPr>
          <p:spPr bwMode="auto">
            <a:xfrm>
              <a:off x="2629" y="3680"/>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链路状态确认</a:t>
              </a:r>
            </a:p>
          </p:txBody>
        </p:sp>
      </p:grpSp>
      <p:grpSp>
        <p:nvGrpSpPr>
          <p:cNvPr id="52" name="组合 51"/>
          <p:cNvGrpSpPr/>
          <p:nvPr/>
        </p:nvGrpSpPr>
        <p:grpSpPr>
          <a:xfrm>
            <a:off x="1899017" y="1317505"/>
            <a:ext cx="1087676" cy="708389"/>
            <a:chOff x="1899017" y="1317505"/>
            <a:chExt cx="1087676" cy="708389"/>
          </a:xfrm>
          <a:noFill/>
        </p:grpSpPr>
        <p:sp>
          <p:nvSpPr>
            <p:cNvPr id="6" name="Line 4"/>
            <p:cNvSpPr>
              <a:spLocks noChangeShapeType="1"/>
            </p:cNvSpPr>
            <p:nvPr/>
          </p:nvSpPr>
          <p:spPr bwMode="auto">
            <a:xfrm>
              <a:off x="2437518" y="1317505"/>
              <a:ext cx="0" cy="708389"/>
            </a:xfrm>
            <a:prstGeom prst="line">
              <a:avLst/>
            </a:prstGeom>
            <a:grpFill/>
            <a:ln w="28575">
              <a:solidFill>
                <a:srgbClr val="333399"/>
              </a:solidFill>
              <a:round/>
              <a:headEnd type="triangle" w="med" len="lg"/>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 name="Rectangle 5"/>
            <p:cNvSpPr>
              <a:spLocks noChangeArrowheads="1"/>
            </p:cNvSpPr>
            <p:nvPr/>
          </p:nvSpPr>
          <p:spPr bwMode="auto">
            <a:xfrm>
              <a:off x="1919181" y="1527723"/>
              <a:ext cx="1067512" cy="224451"/>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0" name="Text Box 38"/>
            <p:cNvSpPr txBox="1">
              <a:spLocks noChangeArrowheads="1"/>
            </p:cNvSpPr>
            <p:nvPr/>
          </p:nvSpPr>
          <p:spPr bwMode="auto">
            <a:xfrm>
              <a:off x="1899017" y="1490496"/>
              <a:ext cx="1082348"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确定可达性</a:t>
              </a:r>
            </a:p>
          </p:txBody>
        </p:sp>
      </p:grpSp>
      <p:grpSp>
        <p:nvGrpSpPr>
          <p:cNvPr id="41" name="Group 39"/>
          <p:cNvGrpSpPr>
            <a:grpSpLocks/>
          </p:cNvGrpSpPr>
          <p:nvPr/>
        </p:nvGrpSpPr>
        <p:grpSpPr bwMode="auto">
          <a:xfrm>
            <a:off x="1600114" y="2025895"/>
            <a:ext cx="1800536" cy="1198897"/>
            <a:chOff x="215" y="2080"/>
            <a:chExt cx="1518" cy="1095"/>
          </a:xfrm>
        </p:grpSpPr>
        <p:sp>
          <p:nvSpPr>
            <p:cNvPr id="42" name="Line 40"/>
            <p:cNvSpPr>
              <a:spLocks noChangeShapeType="1"/>
            </p:cNvSpPr>
            <p:nvPr/>
          </p:nvSpPr>
          <p:spPr bwMode="auto">
            <a:xfrm>
              <a:off x="921" y="2080"/>
              <a:ext cx="0" cy="109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215" y="2469"/>
              <a:ext cx="1518" cy="281"/>
            </a:xfrm>
            <a:prstGeom prst="rect">
              <a:avLst/>
            </a:prstGeom>
            <a:solidFill>
              <a:schemeClr val="accent6">
                <a:lumMod val="40000"/>
                <a:lumOff val="6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同步链路状态数据库</a:t>
              </a:r>
            </a:p>
          </p:txBody>
        </p:sp>
      </p:grpSp>
      <p:sp>
        <p:nvSpPr>
          <p:cNvPr id="44" name="Line 42"/>
          <p:cNvSpPr>
            <a:spLocks noChangeShapeType="1"/>
          </p:cNvSpPr>
          <p:nvPr/>
        </p:nvSpPr>
        <p:spPr bwMode="auto">
          <a:xfrm>
            <a:off x="1657048" y="4149967"/>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43"/>
          <p:cNvSpPr>
            <a:spLocks noChangeShapeType="1"/>
          </p:cNvSpPr>
          <p:nvPr/>
        </p:nvSpPr>
        <p:spPr bwMode="auto">
          <a:xfrm>
            <a:off x="1657048" y="1326741"/>
            <a:ext cx="1702088"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6" name="Group 44"/>
          <p:cNvGrpSpPr>
            <a:grpSpLocks/>
          </p:cNvGrpSpPr>
          <p:nvPr/>
        </p:nvGrpSpPr>
        <p:grpSpPr bwMode="auto">
          <a:xfrm>
            <a:off x="1736519" y="3224792"/>
            <a:ext cx="1262035" cy="925176"/>
            <a:chOff x="330" y="3175"/>
            <a:chExt cx="1064" cy="845"/>
          </a:xfrm>
        </p:grpSpPr>
        <p:sp>
          <p:nvSpPr>
            <p:cNvPr id="47" name="Line 45"/>
            <p:cNvSpPr>
              <a:spLocks noChangeShapeType="1"/>
            </p:cNvSpPr>
            <p:nvPr/>
          </p:nvSpPr>
          <p:spPr bwMode="auto">
            <a:xfrm>
              <a:off x="921" y="3175"/>
              <a:ext cx="0" cy="84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Text Box 46"/>
            <p:cNvSpPr txBox="1">
              <a:spLocks noChangeArrowheads="1"/>
            </p:cNvSpPr>
            <p:nvPr/>
          </p:nvSpPr>
          <p:spPr bwMode="auto">
            <a:xfrm>
              <a:off x="330" y="3414"/>
              <a:ext cx="1064" cy="2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更新链路状态</a:t>
              </a:r>
            </a:p>
          </p:txBody>
        </p:sp>
      </p:grpSp>
      <p:sp>
        <p:nvSpPr>
          <p:cNvPr id="49" name="标题 48">
            <a:extLst>
              <a:ext uri="{FF2B5EF4-FFF2-40B4-BE49-F238E27FC236}">
                <a16:creationId xmlns:a16="http://schemas.microsoft.com/office/drawing/2014/main" id="{247F0B10-1A99-6E48-C25F-26FCA8B3BADD}"/>
              </a:ext>
            </a:extLst>
          </p:cNvPr>
          <p:cNvSpPr>
            <a:spLocks noGrp="1"/>
          </p:cNvSpPr>
          <p:nvPr>
            <p:ph type="title"/>
          </p:nvPr>
        </p:nvSpPr>
        <p:spPr>
          <a:xfrm>
            <a:off x="486000" y="550723"/>
            <a:ext cx="8172000" cy="338554"/>
          </a:xfrm>
        </p:spPr>
        <p:txBody>
          <a:bodyPr/>
          <a:lstStyle/>
          <a:p>
            <a:r>
              <a:rPr lang="en-US" altLang="zh-CN" dirty="0"/>
              <a:t>OSPF </a:t>
            </a:r>
            <a:r>
              <a:rPr lang="zh-CN" altLang="en-US" dirty="0"/>
              <a:t>工作过程</a:t>
            </a:r>
          </a:p>
        </p:txBody>
      </p:sp>
    </p:spTree>
    <p:extLst>
      <p:ext uri="{BB962C8B-B14F-4D97-AF65-F5344CB8AC3E}">
        <p14:creationId xmlns:p14="http://schemas.microsoft.com/office/powerpoint/2010/main" val="113004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2000"/>
                                        <p:tgtEl>
                                          <p:spTgt spid="11"/>
                                        </p:tgtEl>
                                      </p:cBhvr>
                                    </p:animEffect>
                                  </p:childTnLst>
                                </p:cTn>
                              </p:par>
                            </p:childTnLst>
                          </p:cTn>
                        </p:par>
                        <p:par>
                          <p:cTn id="8" fill="hold">
                            <p:stCondLst>
                              <p:cond delay="2000"/>
                            </p:stCondLst>
                            <p:childTnLst>
                              <p:par>
                                <p:cTn id="9" presetID="22" presetClass="entr" presetSubtype="2" fill="hold"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wipe(right)">
                                      <p:cBhvr>
                                        <p:cTn id="11" dur="2000"/>
                                        <p:tgtEl>
                                          <p:spTgt spid="1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left)">
                                      <p:cBhvr>
                                        <p:cTn id="16" dur="2000"/>
                                        <p:tgtEl>
                                          <p:spTgt spid="17"/>
                                        </p:tgtEl>
                                      </p:cBhvr>
                                    </p:animEffect>
                                  </p:childTnLst>
                                </p:cTn>
                              </p:par>
                            </p:childTnLst>
                          </p:cTn>
                        </p:par>
                        <p:par>
                          <p:cTn id="17" fill="hold">
                            <p:stCondLst>
                              <p:cond delay="2000"/>
                            </p:stCondLst>
                            <p:childTnLst>
                              <p:par>
                                <p:cTn id="18" presetID="22" presetClass="entr" presetSubtype="2" fill="hold" nodeType="afterEffect">
                                  <p:stCondLst>
                                    <p:cond delay="0"/>
                                  </p:stCondLst>
                                  <p:childTnLst>
                                    <p:set>
                                      <p:cBhvr>
                                        <p:cTn id="19" dur="1" fill="hold">
                                          <p:stCondLst>
                                            <p:cond delay="0"/>
                                          </p:stCondLst>
                                        </p:cTn>
                                        <p:tgtEl>
                                          <p:spTgt spid="20"/>
                                        </p:tgtEl>
                                        <p:attrNameLst>
                                          <p:attrName>style.visibility</p:attrName>
                                        </p:attrNameLst>
                                      </p:cBhvr>
                                      <p:to>
                                        <p:strVal val="visible"/>
                                      </p:to>
                                    </p:set>
                                    <p:animEffect transition="in" filter="wipe(right)">
                                      <p:cBhvr>
                                        <p:cTn id="20" dur="2000"/>
                                        <p:tgtEl>
                                          <p:spTgt spid="20"/>
                                        </p:tgtEl>
                                      </p:cBhvr>
                                    </p:animEffect>
                                  </p:childTnLst>
                                </p:cTn>
                              </p:par>
                            </p:childTnLst>
                          </p:cTn>
                        </p:par>
                        <p:par>
                          <p:cTn id="21" fill="hold">
                            <p:stCondLst>
                              <p:cond delay="4000"/>
                            </p:stCondLst>
                            <p:childTnLst>
                              <p:par>
                                <p:cTn id="22" presetID="22" presetClass="entr" presetSubtype="8" fill="hold" nodeType="after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wipe(left)">
                                      <p:cBhvr>
                                        <p:cTn id="24" dur="2000"/>
                                        <p:tgtEl>
                                          <p:spTgt spid="23"/>
                                        </p:tgtEl>
                                      </p:cBhvr>
                                    </p:animEffect>
                                  </p:childTnLst>
                                </p:cTn>
                              </p:par>
                            </p:childTnLst>
                          </p:cTn>
                        </p:par>
                        <p:par>
                          <p:cTn id="25" fill="hold">
                            <p:stCondLst>
                              <p:cond delay="6000"/>
                            </p:stCondLst>
                            <p:childTnLst>
                              <p:par>
                                <p:cTn id="26" presetID="22" presetClass="entr" presetSubtype="2" fill="hold" nodeType="after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wipe(right)">
                                      <p:cBhvr>
                                        <p:cTn id="28" dur="2000"/>
                                        <p:tgtEl>
                                          <p:spTgt spid="26"/>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3" dur="2000"/>
                                        <p:tgtEl>
                                          <p:spTgt spid="29"/>
                                        </p:tgtEl>
                                      </p:cBhvr>
                                    </p:animEffect>
                                  </p:childTnLst>
                                </p:cTn>
                              </p:par>
                            </p:childTnLst>
                          </p:cTn>
                        </p:par>
                        <p:par>
                          <p:cTn id="34" fill="hold">
                            <p:stCondLst>
                              <p:cond delay="2000"/>
                            </p:stCondLst>
                            <p:childTnLst>
                              <p:par>
                                <p:cTn id="35" presetID="22" presetClass="entr" presetSubtype="2" fill="hold" nodeType="after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wipe(right)">
                                      <p:cBhvr>
                                        <p:cTn id="37" dur="2000"/>
                                        <p:tgtEl>
                                          <p:spTgt spid="32"/>
                                        </p:tgtEl>
                                      </p:cBhvr>
                                    </p:animEffect>
                                  </p:childTnLst>
                                </p:cTn>
                              </p:par>
                            </p:childTnLst>
                          </p:cTn>
                        </p:par>
                        <p:par>
                          <p:cTn id="38" fill="hold">
                            <p:stCondLst>
                              <p:cond delay="4000"/>
                            </p:stCondLst>
                            <p:childTnLst>
                              <p:par>
                                <p:cTn id="39" presetID="22" presetClass="entr" presetSubtype="8" fill="hold" nodeType="after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wipe(left)">
                                      <p:cBhvr>
                                        <p:cTn id="41" dur="20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Line 37"/>
          <p:cNvSpPr>
            <a:spLocks noChangeShapeType="1"/>
          </p:cNvSpPr>
          <p:nvPr/>
        </p:nvSpPr>
        <p:spPr bwMode="auto">
          <a:xfrm>
            <a:off x="2498611" y="903919"/>
            <a:ext cx="0" cy="3149801"/>
          </a:xfrm>
          <a:prstGeom prst="line">
            <a:avLst/>
          </a:prstGeom>
          <a:noFill/>
          <a:ln w="1270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3" name="Text Box 38"/>
          <p:cNvSpPr txBox="1">
            <a:spLocks noChangeArrowheads="1"/>
          </p:cNvSpPr>
          <p:nvPr/>
        </p:nvSpPr>
        <p:spPr bwMode="auto">
          <a:xfrm>
            <a:off x="2406423" y="4005239"/>
            <a:ext cx="2568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t</a:t>
            </a:r>
          </a:p>
        </p:txBody>
      </p:sp>
      <p:grpSp>
        <p:nvGrpSpPr>
          <p:cNvPr id="77" name="组合 76">
            <a:extLst>
              <a:ext uri="{FF2B5EF4-FFF2-40B4-BE49-F238E27FC236}">
                <a16:creationId xmlns:a16="http://schemas.microsoft.com/office/drawing/2014/main" id="{AE9D463F-3105-B368-CA30-C6E1C19E4DF3}"/>
              </a:ext>
            </a:extLst>
          </p:cNvPr>
          <p:cNvGrpSpPr/>
          <p:nvPr/>
        </p:nvGrpSpPr>
        <p:grpSpPr>
          <a:xfrm>
            <a:off x="3470795" y="3576113"/>
            <a:ext cx="3531856" cy="828639"/>
            <a:chOff x="3470795" y="3480863"/>
            <a:chExt cx="3531856" cy="828639"/>
          </a:xfrm>
        </p:grpSpPr>
        <p:sp>
          <p:nvSpPr>
            <p:cNvPr id="24" name="Line 24"/>
            <p:cNvSpPr>
              <a:spLocks noChangeShapeType="1"/>
            </p:cNvSpPr>
            <p:nvPr/>
          </p:nvSpPr>
          <p:spPr bwMode="auto">
            <a:xfrm>
              <a:off x="3627919" y="3603096"/>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5" name="Freeform 25"/>
            <p:cNvSpPr>
              <a:spLocks/>
            </p:cNvSpPr>
            <p:nvPr/>
          </p:nvSpPr>
          <p:spPr bwMode="auto">
            <a:xfrm>
              <a:off x="3620014" y="3603097"/>
              <a:ext cx="3218594" cy="566471"/>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6" name="Line 26"/>
            <p:cNvSpPr>
              <a:spLocks noChangeShapeType="1"/>
            </p:cNvSpPr>
            <p:nvPr/>
          </p:nvSpPr>
          <p:spPr bwMode="auto">
            <a:xfrm>
              <a:off x="4640833"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7" name="Line 27"/>
            <p:cNvSpPr>
              <a:spLocks noChangeShapeType="1"/>
            </p:cNvSpPr>
            <p:nvPr/>
          </p:nvSpPr>
          <p:spPr bwMode="auto">
            <a:xfrm>
              <a:off x="5832612"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36" name="Group 73"/>
            <p:cNvGrpSpPr>
              <a:grpSpLocks/>
            </p:cNvGrpSpPr>
            <p:nvPr/>
          </p:nvGrpSpPr>
          <p:grpSpPr bwMode="auto">
            <a:xfrm>
              <a:off x="4089413" y="3712560"/>
              <a:ext cx="2344030" cy="410487"/>
              <a:chOff x="1803" y="3719"/>
              <a:chExt cx="2372" cy="450"/>
            </a:xfrm>
            <a:solidFill>
              <a:schemeClr val="bg1">
                <a:lumMod val="65000"/>
              </a:schemeClr>
            </a:solidFill>
          </p:grpSpPr>
          <p:sp>
            <p:nvSpPr>
              <p:cNvPr id="37" name="AutoShape 32"/>
              <p:cNvSpPr>
                <a:spLocks noChangeArrowheads="1"/>
              </p:cNvSpPr>
              <p:nvPr/>
            </p:nvSpPr>
            <p:spPr bwMode="auto">
              <a:xfrm>
                <a:off x="2399" y="3726"/>
                <a:ext cx="120" cy="292"/>
              </a:xfrm>
              <a:prstGeom prst="downArrow">
                <a:avLst>
                  <a:gd name="adj1" fmla="val 50000"/>
                  <a:gd name="adj2" fmla="val 80458"/>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8" name="AutoShape 33"/>
              <p:cNvSpPr>
                <a:spLocks noChangeArrowheads="1"/>
              </p:cNvSpPr>
              <p:nvPr/>
            </p:nvSpPr>
            <p:spPr bwMode="auto">
              <a:xfrm>
                <a:off x="3627" y="3719"/>
                <a:ext cx="121" cy="292"/>
              </a:xfrm>
              <a:prstGeom prst="downArrow">
                <a:avLst>
                  <a:gd name="adj1" fmla="val 50000"/>
                  <a:gd name="adj2" fmla="val 79793"/>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9" name="AutoShape 34"/>
              <p:cNvSpPr>
                <a:spLocks noChangeArrowheads="1"/>
              </p:cNvSpPr>
              <p:nvPr/>
            </p:nvSpPr>
            <p:spPr bwMode="auto">
              <a:xfrm rot="5400000">
                <a:off x="2862" y="3957"/>
                <a:ext cx="113" cy="312"/>
              </a:xfrm>
              <a:prstGeom prst="downArrow">
                <a:avLst>
                  <a:gd name="adj1" fmla="val 50000"/>
                  <a:gd name="adj2" fmla="val 91294"/>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0" name="AutoShape 35"/>
              <p:cNvSpPr>
                <a:spLocks noChangeArrowheads="1"/>
              </p:cNvSpPr>
              <p:nvPr/>
            </p:nvSpPr>
            <p:spPr bwMode="auto">
              <a:xfrm rot="3308442">
                <a:off x="3963" y="3674"/>
                <a:ext cx="113" cy="311"/>
              </a:xfrm>
              <a:prstGeom prst="downArrow">
                <a:avLst>
                  <a:gd name="adj1" fmla="val 50000"/>
                  <a:gd name="adj2" fmla="val 91001"/>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1" name="AutoShape 36"/>
              <p:cNvSpPr>
                <a:spLocks noChangeArrowheads="1"/>
              </p:cNvSpPr>
              <p:nvPr/>
            </p:nvSpPr>
            <p:spPr bwMode="auto">
              <a:xfrm rot="-3458995">
                <a:off x="1902" y="3702"/>
                <a:ext cx="113" cy="312"/>
              </a:xfrm>
              <a:prstGeom prst="downArrow">
                <a:avLst>
                  <a:gd name="adj1" fmla="val 50000"/>
                  <a:gd name="adj2" fmla="val 91294"/>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44" name="Text Box 40"/>
            <p:cNvSpPr txBox="1">
              <a:spLocks noChangeArrowheads="1"/>
            </p:cNvSpPr>
            <p:nvPr/>
          </p:nvSpPr>
          <p:spPr bwMode="auto">
            <a:xfrm>
              <a:off x="4811793" y="3733539"/>
              <a:ext cx="93006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ACK</a:t>
              </a:r>
              <a:r>
                <a:rPr kumimoji="1" lang="zh-CN" altLang="en-US" sz="1400">
                  <a:latin typeface="Montserrat" panose="00000500000000000000" pitchFamily="2" charset="0"/>
                  <a:ea typeface="微软雅黑 Light" panose="020B0502040204020203" pitchFamily="34" charset="-122"/>
                </a:rPr>
                <a:t>报文</a:t>
              </a:r>
            </a:p>
          </p:txBody>
        </p:sp>
        <p:pic>
          <p:nvPicPr>
            <p:cNvPr id="4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5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5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5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70795"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8" name="Picture 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0" name="Text Box 66"/>
            <p:cNvSpPr txBox="1">
              <a:spLocks noChangeArrowheads="1"/>
            </p:cNvSpPr>
            <p:nvPr/>
          </p:nvSpPr>
          <p:spPr bwMode="auto">
            <a:xfrm>
              <a:off x="4199512" y="4001725"/>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6" name="组合 75">
            <a:extLst>
              <a:ext uri="{FF2B5EF4-FFF2-40B4-BE49-F238E27FC236}">
                <a16:creationId xmlns:a16="http://schemas.microsoft.com/office/drawing/2014/main" id="{0F489BEF-7577-DA1B-9D68-592E23482F55}"/>
              </a:ext>
            </a:extLst>
          </p:cNvPr>
          <p:cNvGrpSpPr/>
          <p:nvPr/>
        </p:nvGrpSpPr>
        <p:grpSpPr>
          <a:xfrm>
            <a:off x="3489571" y="2624244"/>
            <a:ext cx="3494305" cy="809483"/>
            <a:chOff x="3508346" y="2604245"/>
            <a:chExt cx="3494305" cy="809483"/>
          </a:xfrm>
        </p:grpSpPr>
        <p:sp>
          <p:nvSpPr>
            <p:cNvPr id="20" name="Line 19"/>
            <p:cNvSpPr>
              <a:spLocks noChangeShapeType="1"/>
            </p:cNvSpPr>
            <p:nvPr/>
          </p:nvSpPr>
          <p:spPr bwMode="auto">
            <a:xfrm>
              <a:off x="3627920" y="2720095"/>
              <a:ext cx="3207724" cy="912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1" name="Freeform 20"/>
            <p:cNvSpPr>
              <a:spLocks/>
            </p:cNvSpPr>
            <p:nvPr/>
          </p:nvSpPr>
          <p:spPr bwMode="auto">
            <a:xfrm>
              <a:off x="3627919" y="2720095"/>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2" name="Line 21"/>
            <p:cNvSpPr>
              <a:spLocks noChangeShapeType="1"/>
            </p:cNvSpPr>
            <p:nvPr/>
          </p:nvSpPr>
          <p:spPr bwMode="auto">
            <a:xfrm>
              <a:off x="4640833"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3" name="Line 22"/>
            <p:cNvSpPr>
              <a:spLocks noChangeShapeType="1"/>
            </p:cNvSpPr>
            <p:nvPr/>
          </p:nvSpPr>
          <p:spPr bwMode="auto">
            <a:xfrm>
              <a:off x="5832612"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32" name="Group 72"/>
            <p:cNvGrpSpPr>
              <a:grpSpLocks/>
            </p:cNvGrpSpPr>
            <p:nvPr/>
          </p:nvGrpSpPr>
          <p:grpSpPr bwMode="auto">
            <a:xfrm>
              <a:off x="5057857" y="2656241"/>
              <a:ext cx="1340998" cy="0"/>
              <a:chOff x="2783" y="2561"/>
              <a:chExt cx="1357" cy="0"/>
            </a:xfrm>
          </p:grpSpPr>
          <p:sp>
            <p:nvSpPr>
              <p:cNvPr id="33" name="Line 23"/>
              <p:cNvSpPr>
                <a:spLocks noChangeShapeType="1"/>
              </p:cNvSpPr>
              <p:nvPr/>
            </p:nvSpPr>
            <p:spPr bwMode="auto">
              <a:xfrm flipH="1">
                <a:off x="2783"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4" name="Line 30"/>
              <p:cNvSpPr>
                <a:spLocks noChangeShapeType="1"/>
              </p:cNvSpPr>
              <p:nvPr/>
            </p:nvSpPr>
            <p:spPr bwMode="auto">
              <a:xfrm>
                <a:off x="3838"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35" name="Line 31"/>
            <p:cNvSpPr>
              <a:spLocks noChangeShapeType="1"/>
            </p:cNvSpPr>
            <p:nvPr/>
          </p:nvSpPr>
          <p:spPr bwMode="auto">
            <a:xfrm flipH="1">
              <a:off x="6131052" y="2793070"/>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46" name="Picture 4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7" name="Picture 4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8346" y="2604245"/>
              <a:ext cx="335002"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4" name="Picture 6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5" name="Picture 6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6" name="Picture 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2604245"/>
              <a:ext cx="335991"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7" name="Picture 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1" name="Text Box 67"/>
            <p:cNvSpPr txBox="1">
              <a:spLocks noChangeArrowheads="1"/>
            </p:cNvSpPr>
            <p:nvPr/>
          </p:nvSpPr>
          <p:spPr bwMode="auto">
            <a:xfrm>
              <a:off x="4188641" y="3105951"/>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8" name="组合 77">
            <a:extLst>
              <a:ext uri="{FF2B5EF4-FFF2-40B4-BE49-F238E27FC236}">
                <a16:creationId xmlns:a16="http://schemas.microsoft.com/office/drawing/2014/main" id="{2C0733DE-482C-06F1-C17C-3DEC5DD89444}"/>
              </a:ext>
            </a:extLst>
          </p:cNvPr>
          <p:cNvGrpSpPr/>
          <p:nvPr/>
        </p:nvGrpSpPr>
        <p:grpSpPr>
          <a:xfrm>
            <a:off x="3500936" y="699524"/>
            <a:ext cx="3471575" cy="821341"/>
            <a:chOff x="3500936" y="851924"/>
            <a:chExt cx="3471575" cy="821341"/>
          </a:xfrm>
        </p:grpSpPr>
        <p:sp>
          <p:nvSpPr>
            <p:cNvPr id="5" name="Text Box 39"/>
            <p:cNvSpPr txBox="1">
              <a:spLocks noChangeArrowheads="1"/>
            </p:cNvSpPr>
            <p:nvPr/>
          </p:nvSpPr>
          <p:spPr bwMode="auto">
            <a:xfrm>
              <a:off x="4720385" y="113561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Montserrat" panose="00000500000000000000" pitchFamily="2" charset="0"/>
                  <a:ea typeface="微软雅黑 Light" panose="020B0502040204020203" pitchFamily="34" charset="-122"/>
                </a:rPr>
                <a:t>更新报文</a:t>
              </a:r>
            </a:p>
          </p:txBody>
        </p:sp>
        <p:sp>
          <p:nvSpPr>
            <p:cNvPr id="6" name="Line 5"/>
            <p:cNvSpPr>
              <a:spLocks noChangeShapeType="1"/>
            </p:cNvSpPr>
            <p:nvPr/>
          </p:nvSpPr>
          <p:spPr bwMode="auto">
            <a:xfrm>
              <a:off x="3597779" y="955002"/>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7" name="Freeform 6"/>
            <p:cNvSpPr>
              <a:spLocks/>
            </p:cNvSpPr>
            <p:nvPr/>
          </p:nvSpPr>
          <p:spPr bwMode="auto">
            <a:xfrm>
              <a:off x="3597779" y="955002"/>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8" name="Line 7"/>
            <p:cNvSpPr>
              <a:spLocks noChangeShapeType="1"/>
            </p:cNvSpPr>
            <p:nvPr/>
          </p:nvSpPr>
          <p:spPr bwMode="auto">
            <a:xfrm>
              <a:off x="4610693"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9" name="Line 8"/>
            <p:cNvSpPr>
              <a:spLocks noChangeShapeType="1"/>
            </p:cNvSpPr>
            <p:nvPr/>
          </p:nvSpPr>
          <p:spPr bwMode="auto">
            <a:xfrm>
              <a:off x="5802472"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0" name="Line 9"/>
            <p:cNvSpPr>
              <a:spLocks noChangeShapeType="1"/>
            </p:cNvSpPr>
            <p:nvPr/>
          </p:nvSpPr>
          <p:spPr bwMode="auto">
            <a:xfrm>
              <a:off x="4809323" y="1462181"/>
              <a:ext cx="298439"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rot="12726376">
              <a:off x="4157106" y="1256938"/>
              <a:ext cx="298439" cy="912"/>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2" name="Line 11"/>
            <p:cNvSpPr>
              <a:spLocks noChangeShapeType="1"/>
            </p:cNvSpPr>
            <p:nvPr/>
          </p:nvSpPr>
          <p:spPr bwMode="auto">
            <a:xfrm rot="16200000">
              <a:off x="4564095" y="1219538"/>
              <a:ext cx="257238"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54" name="Picture 5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182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5"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360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6" name="Picture 5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6520" y="851924"/>
              <a:ext cx="335991"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7" name="Picture 5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360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182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0936"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65"/>
            <p:cNvSpPr txBox="1">
              <a:spLocks noChangeArrowheads="1"/>
            </p:cNvSpPr>
            <p:nvPr/>
          </p:nvSpPr>
          <p:spPr bwMode="auto">
            <a:xfrm>
              <a:off x="4188148" y="1365488"/>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9" name="组合 78">
            <a:extLst>
              <a:ext uri="{FF2B5EF4-FFF2-40B4-BE49-F238E27FC236}">
                <a16:creationId xmlns:a16="http://schemas.microsoft.com/office/drawing/2014/main" id="{6B33FFCE-630B-4A37-ECB3-D041F3B9E888}"/>
              </a:ext>
            </a:extLst>
          </p:cNvPr>
          <p:cNvGrpSpPr/>
          <p:nvPr/>
        </p:nvGrpSpPr>
        <p:grpSpPr>
          <a:xfrm>
            <a:off x="3519712" y="1663252"/>
            <a:ext cx="3434023" cy="818605"/>
            <a:chOff x="3519712" y="1728541"/>
            <a:chExt cx="3434023" cy="818605"/>
          </a:xfrm>
        </p:grpSpPr>
        <p:sp>
          <p:nvSpPr>
            <p:cNvPr id="13" name="Line 12"/>
            <p:cNvSpPr>
              <a:spLocks noChangeShapeType="1"/>
            </p:cNvSpPr>
            <p:nvPr/>
          </p:nvSpPr>
          <p:spPr bwMode="auto">
            <a:xfrm>
              <a:off x="3616555" y="1838004"/>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4" name="Freeform 13"/>
            <p:cNvSpPr>
              <a:spLocks/>
            </p:cNvSpPr>
            <p:nvPr/>
          </p:nvSpPr>
          <p:spPr bwMode="auto">
            <a:xfrm>
              <a:off x="3616555" y="1838004"/>
              <a:ext cx="3217606" cy="566472"/>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5" name="Line 14"/>
            <p:cNvSpPr>
              <a:spLocks noChangeShapeType="1"/>
            </p:cNvSpPr>
            <p:nvPr/>
          </p:nvSpPr>
          <p:spPr bwMode="auto">
            <a:xfrm>
              <a:off x="4629469"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6" name="Line 15"/>
            <p:cNvSpPr>
              <a:spLocks noChangeShapeType="1"/>
            </p:cNvSpPr>
            <p:nvPr/>
          </p:nvSpPr>
          <p:spPr bwMode="auto">
            <a:xfrm>
              <a:off x="5821248"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17" name="Group 71"/>
            <p:cNvGrpSpPr>
              <a:grpSpLocks/>
            </p:cNvGrpSpPr>
            <p:nvPr/>
          </p:nvGrpSpPr>
          <p:grpSpPr bwMode="auto">
            <a:xfrm>
              <a:off x="5901293" y="1960238"/>
              <a:ext cx="666053" cy="258151"/>
              <a:chOff x="3648" y="1798"/>
              <a:chExt cx="674" cy="283"/>
            </a:xfrm>
          </p:grpSpPr>
          <p:sp>
            <p:nvSpPr>
              <p:cNvPr id="18" name="Line 17"/>
              <p:cNvSpPr>
                <a:spLocks noChangeShapeType="1"/>
              </p:cNvSpPr>
              <p:nvPr/>
            </p:nvSpPr>
            <p:spPr bwMode="auto">
              <a:xfrm rot="-2260875">
                <a:off x="4021" y="2023"/>
                <a:ext cx="301" cy="1"/>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9" name="Line 18"/>
              <p:cNvSpPr>
                <a:spLocks noChangeShapeType="1"/>
              </p:cNvSpPr>
              <p:nvPr/>
            </p:nvSpPr>
            <p:spPr bwMode="auto">
              <a:xfrm rot="-5400000">
                <a:off x="3506" y="1940"/>
                <a:ext cx="283"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grpSp>
          <p:nvGrpSpPr>
            <p:cNvPr id="28" name="Group 70"/>
            <p:cNvGrpSpPr>
              <a:grpSpLocks/>
            </p:cNvGrpSpPr>
            <p:nvPr/>
          </p:nvGrpSpPr>
          <p:grpSpPr bwMode="auto">
            <a:xfrm>
              <a:off x="3963417" y="1771414"/>
              <a:ext cx="1361751" cy="137741"/>
              <a:chOff x="1687" y="1591"/>
              <a:chExt cx="1378" cy="151"/>
            </a:xfrm>
          </p:grpSpPr>
          <p:sp>
            <p:nvSpPr>
              <p:cNvPr id="29" name="Line 16"/>
              <p:cNvSpPr>
                <a:spLocks noChangeShapeType="1"/>
              </p:cNvSpPr>
              <p:nvPr/>
            </p:nvSpPr>
            <p:spPr bwMode="auto">
              <a:xfrm flipH="1">
                <a:off x="1687" y="159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0" name="Line 28"/>
              <p:cNvSpPr>
                <a:spLocks noChangeShapeType="1"/>
              </p:cNvSpPr>
              <p:nvPr/>
            </p:nvSpPr>
            <p:spPr bwMode="auto">
              <a:xfrm>
                <a:off x="2763" y="1742"/>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31" name="Line 29"/>
            <p:cNvSpPr>
              <a:spLocks noChangeShapeType="1"/>
            </p:cNvSpPr>
            <p:nvPr/>
          </p:nvSpPr>
          <p:spPr bwMode="auto">
            <a:xfrm>
              <a:off x="3994051" y="1909155"/>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48" name="Picture 4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42383"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9" name="Picture 4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50603"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0" name="Picture 4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18732"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4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42383"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4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50603"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3" name="Picture 4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19712"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2" name="Text Box 68"/>
            <p:cNvSpPr txBox="1">
              <a:spLocks noChangeArrowheads="1"/>
            </p:cNvSpPr>
            <p:nvPr/>
          </p:nvSpPr>
          <p:spPr bwMode="auto">
            <a:xfrm>
              <a:off x="4188148" y="2239369"/>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R</a:t>
              </a:r>
            </a:p>
          </p:txBody>
        </p:sp>
      </p:grpSp>
      <p:sp>
        <p:nvSpPr>
          <p:cNvPr id="73" name="Text Box 69"/>
          <p:cNvSpPr txBox="1">
            <a:spLocks noChangeArrowheads="1"/>
          </p:cNvSpPr>
          <p:nvPr/>
        </p:nvSpPr>
        <p:spPr bwMode="auto">
          <a:xfrm>
            <a:off x="2801656" y="1051695"/>
            <a:ext cx="335348" cy="30209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1</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2</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3</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4</a:t>
            </a:r>
            <a:endParaRPr kumimoji="1" lang="en-US" altLang="zh-CN" sz="1400" dirty="0">
              <a:latin typeface="Montserrat" panose="00000500000000000000" pitchFamily="2" charset="0"/>
              <a:ea typeface="微软雅黑 Light" panose="020B0502040204020203" pitchFamily="34" charset="-122"/>
            </a:endParaRPr>
          </a:p>
        </p:txBody>
      </p:sp>
      <p:sp>
        <p:nvSpPr>
          <p:cNvPr id="75" name="Text Box 155"/>
          <p:cNvSpPr txBox="1">
            <a:spLocks noChangeArrowheads="1"/>
          </p:cNvSpPr>
          <p:nvPr/>
        </p:nvSpPr>
        <p:spPr bwMode="auto">
          <a:xfrm>
            <a:off x="2817188" y="4479707"/>
            <a:ext cx="3509624" cy="314381"/>
          </a:xfrm>
          <a:prstGeom prst="rect">
            <a:avLst/>
          </a:prstGeom>
          <a:solidFill>
            <a:schemeClr val="bg1"/>
          </a:solidFill>
          <a:ln w="9525">
            <a:noFill/>
            <a:miter lim="800000"/>
            <a:headEnd/>
            <a:tailEnd/>
          </a:ln>
          <a:effectLst/>
        </p:spPr>
        <p:txBody>
          <a:bodyPr wrap="square">
            <a:spAutoFit/>
          </a:bodyPr>
          <a:lstStyle/>
          <a:p>
            <a:pPr algn="ctr">
              <a:lnSpc>
                <a:spcPct val="110000"/>
              </a:lnSpc>
            </a:pPr>
            <a:r>
              <a:rPr lang="en-US" altLang="zh-CN" sz="1400" dirty="0">
                <a:latin typeface="Montserrat" panose="00000500000000000000" pitchFamily="2" charset="0"/>
                <a:ea typeface="微软雅黑 Light" panose="020B0502040204020203" pitchFamily="34" charset="-122"/>
              </a:rPr>
              <a:t>OSPF </a:t>
            </a:r>
            <a:r>
              <a:rPr lang="zh-CN" altLang="en-US" sz="1400" dirty="0">
                <a:latin typeface="Montserrat" panose="00000500000000000000" pitchFamily="2" charset="0"/>
                <a:ea typeface="微软雅黑 Light" panose="020B0502040204020203" pitchFamily="34" charset="-122"/>
              </a:rPr>
              <a:t>使用</a:t>
            </a:r>
            <a:r>
              <a:rPr lang="zh-CN" altLang="en-US" sz="1400" dirty="0">
                <a:solidFill>
                  <a:srgbClr val="C00000"/>
                </a:solidFill>
                <a:latin typeface="Montserrat" panose="00000500000000000000" pitchFamily="2" charset="0"/>
                <a:ea typeface="微软雅黑 Light" panose="020B0502040204020203" pitchFamily="34" charset="-122"/>
              </a:rPr>
              <a:t>可靠的洪泛法</a:t>
            </a:r>
            <a:r>
              <a:rPr lang="zh-CN" altLang="en-US" sz="1400" dirty="0">
                <a:latin typeface="Montserrat" panose="00000500000000000000" pitchFamily="2" charset="0"/>
                <a:ea typeface="微软雅黑 Light" panose="020B0502040204020203" pitchFamily="34" charset="-122"/>
              </a:rPr>
              <a:t>发送更新分组 </a:t>
            </a:r>
          </a:p>
        </p:txBody>
      </p:sp>
    </p:spTree>
    <p:extLst>
      <p:ext uri="{BB962C8B-B14F-4D97-AF65-F5344CB8AC3E}">
        <p14:creationId xmlns:p14="http://schemas.microsoft.com/office/powerpoint/2010/main" val="4228372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16C559A-3F0C-17C1-D641-2F4A4A29613D}"/>
              </a:ext>
            </a:extLst>
          </p:cNvPr>
          <p:cNvSpPr>
            <a:spLocks noGrp="1"/>
          </p:cNvSpPr>
          <p:nvPr>
            <p:ph type="title"/>
          </p:nvPr>
        </p:nvSpPr>
        <p:spPr>
          <a:xfrm>
            <a:off x="486000" y="550723"/>
            <a:ext cx="8172000" cy="338554"/>
          </a:xfrm>
        </p:spPr>
        <p:txBody>
          <a:bodyPr/>
          <a:lstStyle/>
          <a:p>
            <a:r>
              <a:rPr lang="zh-CN" altLang="en-US" dirty="0"/>
              <a:t>指定路由器 </a:t>
            </a:r>
            <a:r>
              <a:rPr lang="en-US" altLang="zh-CN" dirty="0"/>
              <a:t>DR </a:t>
            </a:r>
            <a:endParaRPr lang="zh-CN" altLang="en-US" dirty="0"/>
          </a:p>
        </p:txBody>
      </p:sp>
      <p:sp>
        <p:nvSpPr>
          <p:cNvPr id="6" name="内容占位符 5">
            <a:extLst>
              <a:ext uri="{FF2B5EF4-FFF2-40B4-BE49-F238E27FC236}">
                <a16:creationId xmlns:a16="http://schemas.microsoft.com/office/drawing/2014/main" id="{999BF953-B2DA-5601-8212-8EACCF665848}"/>
              </a:ext>
            </a:extLst>
          </p:cNvPr>
          <p:cNvSpPr>
            <a:spLocks noGrp="1"/>
          </p:cNvSpPr>
          <p:nvPr>
            <p:ph sz="quarter" idx="11"/>
          </p:nvPr>
        </p:nvSpPr>
        <p:spPr>
          <a:xfrm>
            <a:off x="486000" y="900000"/>
            <a:ext cx="8172000" cy="3703500"/>
          </a:xfrm>
        </p:spPr>
        <p:txBody>
          <a:bodyPr/>
          <a:lstStyle/>
          <a:p>
            <a:r>
              <a:rPr lang="zh-CN" altLang="en-US" dirty="0"/>
              <a:t>多点接入的局域网采用了指定路由器 </a:t>
            </a:r>
            <a:r>
              <a:rPr lang="en-US" altLang="zh-CN" dirty="0"/>
              <a:t>DR </a:t>
            </a:r>
            <a:r>
              <a:rPr lang="zh-CN" altLang="en-US" dirty="0"/>
              <a:t>的方法，使广播的信息量大大减少</a:t>
            </a:r>
            <a:endParaRPr lang="en-US" altLang="zh-CN" dirty="0"/>
          </a:p>
          <a:p>
            <a:pPr lvl="1"/>
            <a:r>
              <a:rPr lang="en-US" altLang="zh-CN" dirty="0"/>
              <a:t>DR - designated router</a:t>
            </a:r>
            <a:endParaRPr lang="zh-CN" altLang="en-US" dirty="0"/>
          </a:p>
          <a:p>
            <a:r>
              <a:rPr lang="zh-CN" altLang="en-US" dirty="0"/>
              <a:t>指定路由器 </a:t>
            </a:r>
            <a:r>
              <a:rPr lang="en-US" altLang="zh-CN" dirty="0"/>
              <a:t>DR </a:t>
            </a:r>
            <a:r>
              <a:rPr lang="zh-CN" altLang="en-US" dirty="0"/>
              <a:t>代表该局域网上所有的链路向连接到该网络上的各路由器发送状态信息</a:t>
            </a:r>
          </a:p>
        </p:txBody>
      </p:sp>
    </p:spTree>
    <p:extLst>
      <p:ext uri="{BB962C8B-B14F-4D97-AF65-F5344CB8AC3E}">
        <p14:creationId xmlns:p14="http://schemas.microsoft.com/office/powerpoint/2010/main" val="2194348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AB4DA2B-A54E-4D13-7AF4-0B533D793097}"/>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grpSp>
        <p:nvGrpSpPr>
          <p:cNvPr id="2" name="组合 1">
            <a:extLst>
              <a:ext uri="{FF2B5EF4-FFF2-40B4-BE49-F238E27FC236}">
                <a16:creationId xmlns:a16="http://schemas.microsoft.com/office/drawing/2014/main" id="{8D42F90F-047F-F713-93D5-4A26C57DB339}"/>
              </a:ext>
            </a:extLst>
          </p:cNvPr>
          <p:cNvGrpSpPr/>
          <p:nvPr/>
        </p:nvGrpSpPr>
        <p:grpSpPr>
          <a:xfrm>
            <a:off x="1442748" y="1587428"/>
            <a:ext cx="6258503" cy="2717359"/>
            <a:chOff x="1113847" y="1369650"/>
            <a:chExt cx="6258503" cy="2717359"/>
          </a:xfrm>
        </p:grpSpPr>
        <p:sp>
          <p:nvSpPr>
            <p:cNvPr id="3" name="矩形 2">
              <a:extLst>
                <a:ext uri="{FF2B5EF4-FFF2-40B4-BE49-F238E27FC236}">
                  <a16:creationId xmlns:a16="http://schemas.microsoft.com/office/drawing/2014/main" id="{C25ED8E8-5C62-A394-397F-1254F80A55A3}"/>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互联网路由选择协议</a:t>
              </a:r>
            </a:p>
          </p:txBody>
        </p:sp>
        <p:sp>
          <p:nvSpPr>
            <p:cNvPr id="20" name="矩形 19">
              <a:extLst>
                <a:ext uri="{FF2B5EF4-FFF2-40B4-BE49-F238E27FC236}">
                  <a16:creationId xmlns:a16="http://schemas.microsoft.com/office/drawing/2014/main" id="{D6D95636-3E8B-0B13-DAC7-427B3C1ADCFC}"/>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域内路由选择 </a:t>
              </a:r>
              <a:r>
                <a:rPr lang="en-US" altLang="zh-CN" sz="1400" dirty="0">
                  <a:solidFill>
                    <a:schemeClr val="tx1"/>
                  </a:solidFill>
                  <a:latin typeface="Montserrat" panose="00000500000000000000" pitchFamily="2" charset="0"/>
                  <a:ea typeface="微软雅黑" panose="020B0503020204020204" pitchFamily="34" charset="-122"/>
                </a:rPr>
                <a:t>IGP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1" name="矩形 20">
              <a:extLst>
                <a:ext uri="{FF2B5EF4-FFF2-40B4-BE49-F238E27FC236}">
                  <a16:creationId xmlns:a16="http://schemas.microsoft.com/office/drawing/2014/main" id="{2E85D120-6E93-18B1-A449-0FA63F1E2E65}"/>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域间路由选择 </a:t>
              </a:r>
              <a:r>
                <a:rPr lang="en-US" altLang="zh-CN" sz="1400" dirty="0">
                  <a:solidFill>
                    <a:schemeClr val="tx1"/>
                  </a:solidFill>
                  <a:latin typeface="Montserrat" panose="00000500000000000000" pitchFamily="2" charset="0"/>
                  <a:ea typeface="微软雅黑" panose="020B0503020204020204" pitchFamily="34" charset="-122"/>
                </a:rPr>
                <a:t>EGP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2" name="矩形 21">
              <a:extLst>
                <a:ext uri="{FF2B5EF4-FFF2-40B4-BE49-F238E27FC236}">
                  <a16:creationId xmlns:a16="http://schemas.microsoft.com/office/drawing/2014/main" id="{5BA4D49D-3952-D666-DCE3-E4FDDCBCC756}"/>
                </a:ext>
              </a:extLst>
            </p:cNvPr>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距离向量</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(Distance Vector)</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3" name="矩形 22">
              <a:extLst>
                <a:ext uri="{FF2B5EF4-FFF2-40B4-BE49-F238E27FC236}">
                  <a16:creationId xmlns:a16="http://schemas.microsoft.com/office/drawing/2014/main" id="{953185BB-A10C-0DEF-5B39-DDB8401B47C8}"/>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链路状态</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(Link State)</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4" name="矩形 23">
              <a:extLst>
                <a:ext uri="{FF2B5EF4-FFF2-40B4-BE49-F238E27FC236}">
                  <a16:creationId xmlns:a16="http://schemas.microsoft.com/office/drawing/2014/main" id="{BCE7F5AC-4380-AE4F-B30F-D9256A7F63F5}"/>
                </a:ext>
              </a:extLst>
            </p:cNvPr>
            <p:cNvSpPr/>
            <p:nvPr/>
          </p:nvSpPr>
          <p:spPr>
            <a:xfrm>
              <a:off x="5569907" y="3109408"/>
              <a:ext cx="1802443" cy="671608"/>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Montserrat" panose="00000500000000000000" pitchFamily="2" charset="0"/>
                  <a:ea typeface="微软雅黑" panose="020B0503020204020204" pitchFamily="34" charset="-122"/>
                </a:rPr>
                <a:t>路径向量</a:t>
              </a:r>
              <a:endParaRPr lang="en-US" altLang="zh-CN" sz="1400" dirty="0">
                <a:solidFill>
                  <a:schemeClr val="bg1"/>
                </a:solidFill>
                <a:latin typeface="Montserrat" panose="00000500000000000000" pitchFamily="2" charset="0"/>
                <a:ea typeface="微软雅黑" panose="020B0503020204020204" pitchFamily="34" charset="-122"/>
              </a:endParaRPr>
            </a:p>
            <a:p>
              <a:pPr algn="ctr"/>
              <a:r>
                <a:rPr lang="en-US" altLang="zh-CN" sz="1400" dirty="0">
                  <a:solidFill>
                    <a:schemeClr val="bg1"/>
                  </a:solidFill>
                  <a:latin typeface="Montserrat" panose="00000500000000000000" pitchFamily="2" charset="0"/>
                  <a:ea typeface="微软雅黑" panose="020B0503020204020204" pitchFamily="34" charset="-122"/>
                </a:rPr>
                <a:t>(Path Vector)</a:t>
              </a:r>
              <a:endParaRPr lang="zh-CN" altLang="en-US" sz="1400" dirty="0">
                <a:solidFill>
                  <a:schemeClr val="bg1"/>
                </a:solidFill>
                <a:latin typeface="Montserrat" panose="00000500000000000000" pitchFamily="2" charset="0"/>
                <a:ea typeface="微软雅黑" panose="020B0503020204020204" pitchFamily="34" charset="-122"/>
              </a:endParaRPr>
            </a:p>
          </p:txBody>
        </p:sp>
        <p:cxnSp>
          <p:nvCxnSpPr>
            <p:cNvPr id="25" name="直接连接符 24">
              <a:extLst>
                <a:ext uri="{FF2B5EF4-FFF2-40B4-BE49-F238E27FC236}">
                  <a16:creationId xmlns:a16="http://schemas.microsoft.com/office/drawing/2014/main" id="{A85F00AB-C671-B80F-B772-5D97A1E74440}"/>
                </a:ext>
              </a:extLst>
            </p:cNvPr>
            <p:cNvCxnSpPr>
              <a:endCxn id="20"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75937C7B-FCEE-7787-B14B-4931D1FC435A}"/>
                </a:ext>
              </a:extLst>
            </p:cNvPr>
            <p:cNvCxnSpPr>
              <a:endCxn id="21"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35AC1431-AA84-F510-8435-F930AE687EB4}"/>
                </a:ext>
              </a:extLst>
            </p:cNvPr>
            <p:cNvCxnSpPr>
              <a:stCxn id="20" idx="2"/>
              <a:endCxn id="22"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99D3B2F2-5B34-F66F-BFBF-F4F22E289223}"/>
                </a:ext>
              </a:extLst>
            </p:cNvPr>
            <p:cNvCxnSpPr>
              <a:stCxn id="20" idx="2"/>
              <a:endCxn id="23"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7A2190EB-1A1F-C965-E033-B6A004A3C48E}"/>
                </a:ext>
              </a:extLst>
            </p:cNvPr>
            <p:cNvCxnSpPr>
              <a:stCxn id="21" idx="2"/>
              <a:endCxn id="24"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矩形 29">
              <a:extLst>
                <a:ext uri="{FF2B5EF4-FFF2-40B4-BE49-F238E27FC236}">
                  <a16:creationId xmlns:a16="http://schemas.microsoft.com/office/drawing/2014/main" id="{B4DBB890-CFB3-6911-FEC4-38759CBE609A}"/>
                </a:ext>
              </a:extLst>
            </p:cNvPr>
            <p:cNvSpPr/>
            <p:nvPr/>
          </p:nvSpPr>
          <p:spPr>
            <a:xfrm>
              <a:off x="1727169" y="3779232"/>
              <a:ext cx="497252"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RIP</a:t>
              </a:r>
              <a:endParaRPr lang="zh-CN" altLang="en-US" sz="1400" dirty="0">
                <a:latin typeface="Montserrat" panose="00000500000000000000" pitchFamily="2" charset="0"/>
              </a:endParaRPr>
            </a:p>
          </p:txBody>
        </p:sp>
        <p:sp>
          <p:nvSpPr>
            <p:cNvPr id="31" name="矩形 30">
              <a:extLst>
                <a:ext uri="{FF2B5EF4-FFF2-40B4-BE49-F238E27FC236}">
                  <a16:creationId xmlns:a16="http://schemas.microsoft.com/office/drawing/2014/main" id="{45C82B71-35A2-6EF6-86C2-525F0608EFB0}"/>
                </a:ext>
              </a:extLst>
            </p:cNvPr>
            <p:cNvSpPr/>
            <p:nvPr/>
          </p:nvSpPr>
          <p:spPr>
            <a:xfrm>
              <a:off x="3691886" y="3779232"/>
              <a:ext cx="688009"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OSPF</a:t>
              </a:r>
              <a:endParaRPr lang="zh-CN" altLang="en-US" sz="1400" dirty="0">
                <a:latin typeface="Montserrat" panose="00000500000000000000" pitchFamily="2" charset="0"/>
              </a:endParaRPr>
            </a:p>
          </p:txBody>
        </p:sp>
        <p:sp>
          <p:nvSpPr>
            <p:cNvPr id="32" name="矩形 31">
              <a:extLst>
                <a:ext uri="{FF2B5EF4-FFF2-40B4-BE49-F238E27FC236}">
                  <a16:creationId xmlns:a16="http://schemas.microsoft.com/office/drawing/2014/main" id="{3489A2D7-EF89-F196-D525-2EDADE72EE50}"/>
                </a:ext>
              </a:extLst>
            </p:cNvPr>
            <p:cNvSpPr/>
            <p:nvPr/>
          </p:nvSpPr>
          <p:spPr>
            <a:xfrm>
              <a:off x="5974036" y="3779232"/>
              <a:ext cx="774571"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BGP-4</a:t>
              </a:r>
              <a:endParaRPr lang="zh-CN" altLang="en-US" sz="1400" dirty="0">
                <a:latin typeface="Montserrat" panose="00000500000000000000" pitchFamily="2" charset="0"/>
              </a:endParaRPr>
            </a:p>
          </p:txBody>
        </p:sp>
      </p:grpSp>
    </p:spTree>
    <p:extLst>
      <p:ext uri="{BB962C8B-B14F-4D97-AF65-F5344CB8AC3E}">
        <p14:creationId xmlns:p14="http://schemas.microsoft.com/office/powerpoint/2010/main" val="965133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2677AB6-894C-F765-7171-1A6CB0D4A414}"/>
              </a:ext>
            </a:extLst>
          </p:cNvPr>
          <p:cNvSpPr>
            <a:spLocks noGrp="1"/>
          </p:cNvSpPr>
          <p:nvPr>
            <p:ph type="title"/>
          </p:nvPr>
        </p:nvSpPr>
        <p:spPr>
          <a:xfrm>
            <a:off x="486000" y="550723"/>
            <a:ext cx="8172000" cy="338554"/>
          </a:xfrm>
        </p:spPr>
        <p:txBody>
          <a:bodyPr/>
          <a:lstStyle/>
          <a:p>
            <a:r>
              <a:rPr lang="en-US" altLang="zh-CN" dirty="0"/>
              <a:t>4.6.4  </a:t>
            </a:r>
            <a:r>
              <a:rPr lang="zh-CN" altLang="en-US" dirty="0"/>
              <a:t>外部网关协议 </a:t>
            </a:r>
            <a:r>
              <a:rPr lang="en-US" altLang="zh-CN" dirty="0"/>
              <a:t>BGP</a:t>
            </a:r>
            <a:endParaRPr lang="zh-CN" altLang="en-US" dirty="0"/>
          </a:p>
        </p:txBody>
      </p:sp>
      <p:sp>
        <p:nvSpPr>
          <p:cNvPr id="6" name="内容占位符 5">
            <a:extLst>
              <a:ext uri="{FF2B5EF4-FFF2-40B4-BE49-F238E27FC236}">
                <a16:creationId xmlns:a16="http://schemas.microsoft.com/office/drawing/2014/main" id="{7F1EEB5B-A6B4-9CE2-C1FB-4669420B7276}"/>
              </a:ext>
            </a:extLst>
          </p:cNvPr>
          <p:cNvSpPr>
            <a:spLocks noGrp="1"/>
          </p:cNvSpPr>
          <p:nvPr>
            <p:ph sz="quarter" idx="11"/>
          </p:nvPr>
        </p:nvSpPr>
        <p:spPr>
          <a:xfrm>
            <a:off x="486000" y="900000"/>
            <a:ext cx="8172000" cy="3703500"/>
          </a:xfrm>
        </p:spPr>
        <p:txBody>
          <a:bodyPr/>
          <a:lstStyle/>
          <a:p>
            <a:r>
              <a:rPr lang="zh-CN" altLang="en-US" dirty="0"/>
              <a:t>互联网的规模太大，使得自治系统</a:t>
            </a:r>
            <a:r>
              <a:rPr lang="en-US" altLang="zh-CN" dirty="0"/>
              <a:t>AS</a:t>
            </a:r>
            <a:r>
              <a:rPr lang="zh-CN" altLang="en-US" dirty="0"/>
              <a:t>之间路由选择非常困难</a:t>
            </a:r>
            <a:endParaRPr lang="en-US" altLang="zh-CN" dirty="0"/>
          </a:p>
          <a:p>
            <a:pPr lvl="1"/>
            <a:r>
              <a:rPr lang="zh-CN" altLang="en-US" dirty="0"/>
              <a:t>自治系统</a:t>
            </a:r>
            <a:r>
              <a:rPr lang="en-US" altLang="zh-CN" dirty="0"/>
              <a:t>AS</a:t>
            </a:r>
            <a:r>
              <a:rPr lang="zh-CN" altLang="en-US" dirty="0"/>
              <a:t>之间的路由选择必须考虑有关策略</a:t>
            </a:r>
            <a:endParaRPr lang="en-US" altLang="zh-CN" dirty="0"/>
          </a:p>
          <a:p>
            <a:r>
              <a:rPr lang="zh-CN" altLang="en-US" dirty="0"/>
              <a:t>不同自治系统</a:t>
            </a:r>
            <a:r>
              <a:rPr lang="en-US" altLang="zh-CN" dirty="0"/>
              <a:t>AS</a:t>
            </a:r>
            <a:r>
              <a:rPr lang="zh-CN" altLang="en-US" dirty="0"/>
              <a:t>的路由器之间交换路由信息的协议</a:t>
            </a:r>
            <a:endParaRPr lang="en-US" altLang="zh-CN" dirty="0"/>
          </a:p>
          <a:p>
            <a:pPr lvl="1"/>
            <a:r>
              <a:rPr lang="zh-CN" altLang="en-US" dirty="0"/>
              <a:t>力求选择出一条能够到达目的网络且比较好的路由，而并非要计算出一条最佳路由</a:t>
            </a:r>
            <a:endParaRPr lang="en-US" altLang="zh-CN" dirty="0"/>
          </a:p>
          <a:p>
            <a:pPr lvl="1"/>
            <a:r>
              <a:rPr lang="zh-CN" altLang="en-US" dirty="0"/>
              <a:t>不能兜圈子</a:t>
            </a:r>
            <a:endParaRPr lang="en-US" altLang="zh-CN" dirty="0"/>
          </a:p>
          <a:p>
            <a:pPr lvl="1"/>
            <a:r>
              <a:rPr lang="zh-CN" altLang="en-US" dirty="0"/>
              <a:t>采用了</a:t>
            </a:r>
            <a:r>
              <a:rPr lang="zh-CN" altLang="en-US" dirty="0">
                <a:solidFill>
                  <a:srgbClr val="C00000"/>
                </a:solidFill>
              </a:rPr>
              <a:t>路径向量 </a:t>
            </a:r>
            <a:r>
              <a:rPr lang="en-US" altLang="zh-CN" dirty="0"/>
              <a:t>Path Vector </a:t>
            </a:r>
            <a:r>
              <a:rPr lang="zh-CN" altLang="en-US" dirty="0"/>
              <a:t>路由选择协议</a:t>
            </a:r>
            <a:endParaRPr lang="en-US" altLang="zh-CN" dirty="0"/>
          </a:p>
          <a:p>
            <a:r>
              <a:rPr lang="zh-CN" altLang="en-US" dirty="0"/>
              <a:t>新版本是</a:t>
            </a:r>
            <a:r>
              <a:rPr lang="en-US" altLang="zh-CN" dirty="0"/>
              <a:t>BGP </a:t>
            </a:r>
            <a:r>
              <a:rPr lang="zh-CN" altLang="en-US" dirty="0"/>
              <a:t>第 </a:t>
            </a:r>
            <a:r>
              <a:rPr lang="en-US" altLang="zh-CN" dirty="0"/>
              <a:t>4 </a:t>
            </a:r>
            <a:r>
              <a:rPr lang="zh-CN" altLang="en-US" dirty="0"/>
              <a:t>个版本的 </a:t>
            </a:r>
            <a:r>
              <a:rPr lang="en-US" altLang="zh-CN" dirty="0"/>
              <a:t>BGP-4</a:t>
            </a:r>
          </a:p>
          <a:p>
            <a:pPr lvl="1"/>
            <a:r>
              <a:rPr lang="en-US" altLang="zh-CN" dirty="0"/>
              <a:t>RFC 4271 ~ 4278</a:t>
            </a:r>
            <a:endParaRPr lang="zh-CN" altLang="en-US" dirty="0"/>
          </a:p>
          <a:p>
            <a:pPr lvl="1"/>
            <a:r>
              <a:rPr lang="en-US" altLang="zh-CN" dirty="0"/>
              <a:t>BGP-4 </a:t>
            </a:r>
            <a:r>
              <a:rPr lang="zh-CN" altLang="en-US" dirty="0"/>
              <a:t>简写为 </a:t>
            </a:r>
            <a:r>
              <a:rPr lang="en-US" altLang="zh-CN" dirty="0"/>
              <a:t>BGP</a:t>
            </a:r>
          </a:p>
          <a:p>
            <a:pPr lvl="1"/>
            <a:r>
              <a:rPr lang="en-US" altLang="zh-CN" dirty="0"/>
              <a:t>2006 </a:t>
            </a:r>
            <a:r>
              <a:rPr lang="zh-CN" altLang="en-US" dirty="0"/>
              <a:t>年 </a:t>
            </a:r>
            <a:r>
              <a:rPr lang="en-US" altLang="zh-CN" dirty="0"/>
              <a:t>1 </a:t>
            </a:r>
            <a:r>
              <a:rPr lang="zh-CN" altLang="en-US" dirty="0"/>
              <a:t>月发布</a:t>
            </a:r>
          </a:p>
          <a:p>
            <a:endParaRPr lang="zh-CN" altLang="en-US" dirty="0"/>
          </a:p>
        </p:txBody>
      </p:sp>
    </p:spTree>
    <p:extLst>
      <p:ext uri="{BB962C8B-B14F-4D97-AF65-F5344CB8AC3E}">
        <p14:creationId xmlns:p14="http://schemas.microsoft.com/office/powerpoint/2010/main" val="25450228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 name="Text Box 173"/>
          <p:cNvSpPr txBox="1">
            <a:spLocks noChangeArrowheads="1"/>
          </p:cNvSpPr>
          <p:nvPr/>
        </p:nvSpPr>
        <p:spPr bwMode="auto">
          <a:xfrm>
            <a:off x="2360497" y="4187334"/>
            <a:ext cx="4423006"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对等 </a:t>
            </a:r>
            <a:r>
              <a:rPr lang="en-US" altLang="zh-CN" dirty="0"/>
              <a:t>BGP </a:t>
            </a:r>
            <a:r>
              <a:rPr lang="zh-CN" altLang="en-US" dirty="0"/>
              <a:t>发言者（边界路由器）在 </a:t>
            </a:r>
            <a:r>
              <a:rPr lang="en-US" altLang="zh-CN" dirty="0"/>
              <a:t>AS </a:t>
            </a:r>
            <a:r>
              <a:rPr lang="zh-CN" altLang="en-US" dirty="0"/>
              <a:t>之间交换信息</a:t>
            </a:r>
            <a:endParaRPr lang="en-US" altLang="zh-CN" dirty="0"/>
          </a:p>
        </p:txBody>
      </p:sp>
      <p:grpSp>
        <p:nvGrpSpPr>
          <p:cNvPr id="191" name="Group 206"/>
          <p:cNvGrpSpPr>
            <a:grpSpLocks/>
          </p:cNvGrpSpPr>
          <p:nvPr/>
        </p:nvGrpSpPr>
        <p:grpSpPr bwMode="auto">
          <a:xfrm>
            <a:off x="1088578" y="2015050"/>
            <a:ext cx="1591238" cy="82430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2" name="Oval 207"/>
            <p:cNvSpPr>
              <a:spLocks noChangeArrowheads="1"/>
            </p:cNvSpPr>
            <p:nvPr/>
          </p:nvSpPr>
          <p:spPr bwMode="auto">
            <a:xfrm>
              <a:off x="1751" y="799"/>
              <a:ext cx="1026" cy="628"/>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3" name="Oval 208"/>
            <p:cNvSpPr>
              <a:spLocks noChangeArrowheads="1"/>
            </p:cNvSpPr>
            <p:nvPr/>
          </p:nvSpPr>
          <p:spPr bwMode="auto">
            <a:xfrm>
              <a:off x="1172" y="972"/>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4" name="Oval 209"/>
            <p:cNvSpPr>
              <a:spLocks noChangeArrowheads="1"/>
            </p:cNvSpPr>
            <p:nvPr/>
          </p:nvSpPr>
          <p:spPr bwMode="auto">
            <a:xfrm>
              <a:off x="926" y="1364"/>
              <a:ext cx="521" cy="502"/>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5" name="Oval 210"/>
            <p:cNvSpPr>
              <a:spLocks noChangeArrowheads="1"/>
            </p:cNvSpPr>
            <p:nvPr/>
          </p:nvSpPr>
          <p:spPr bwMode="auto">
            <a:xfrm>
              <a:off x="1085" y="1599"/>
              <a:ext cx="796"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6" name="Oval 211"/>
            <p:cNvSpPr>
              <a:spLocks noChangeArrowheads="1"/>
            </p:cNvSpPr>
            <p:nvPr/>
          </p:nvSpPr>
          <p:spPr bwMode="auto">
            <a:xfrm>
              <a:off x="1664" y="1693"/>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7" name="Oval 212"/>
            <p:cNvSpPr>
              <a:spLocks noChangeArrowheads="1"/>
            </p:cNvSpPr>
            <p:nvPr/>
          </p:nvSpPr>
          <p:spPr bwMode="auto">
            <a:xfrm>
              <a:off x="2445" y="988"/>
              <a:ext cx="751"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8" name="Oval 213"/>
            <p:cNvSpPr>
              <a:spLocks noChangeArrowheads="1"/>
            </p:cNvSpPr>
            <p:nvPr/>
          </p:nvSpPr>
          <p:spPr bwMode="auto">
            <a:xfrm>
              <a:off x="2560" y="1317"/>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9" name="Oval 214"/>
            <p:cNvSpPr>
              <a:spLocks noChangeArrowheads="1"/>
            </p:cNvSpPr>
            <p:nvPr/>
          </p:nvSpPr>
          <p:spPr bwMode="auto">
            <a:xfrm>
              <a:off x="2488" y="1427"/>
              <a:ext cx="752"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0" name="Oval 215"/>
            <p:cNvSpPr>
              <a:spLocks noChangeArrowheads="1"/>
            </p:cNvSpPr>
            <p:nvPr/>
          </p:nvSpPr>
          <p:spPr bwMode="auto">
            <a:xfrm>
              <a:off x="1360" y="1176"/>
              <a:ext cx="1547"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01" name="Group 216"/>
            <p:cNvGrpSpPr>
              <a:grpSpLocks/>
            </p:cNvGrpSpPr>
            <p:nvPr/>
          </p:nvGrpSpPr>
          <p:grpSpPr bwMode="auto">
            <a:xfrm>
              <a:off x="912" y="768"/>
              <a:ext cx="2386" cy="1553"/>
              <a:chOff x="912" y="768"/>
              <a:chExt cx="2386" cy="1553"/>
            </a:xfrm>
            <a:grpFill/>
          </p:grpSpPr>
          <p:sp>
            <p:nvSpPr>
              <p:cNvPr id="202" name="Oval 217"/>
              <p:cNvSpPr>
                <a:spLocks noChangeArrowheads="1"/>
              </p:cNvSpPr>
              <p:nvPr/>
            </p:nvSpPr>
            <p:spPr bwMode="auto">
              <a:xfrm>
                <a:off x="1736" y="768"/>
                <a:ext cx="1027"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3" name="Oval 218"/>
              <p:cNvSpPr>
                <a:spLocks noChangeArrowheads="1"/>
              </p:cNvSpPr>
              <p:nvPr/>
            </p:nvSpPr>
            <p:spPr bwMode="auto">
              <a:xfrm>
                <a:off x="1158" y="941"/>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4" name="Oval 219"/>
              <p:cNvSpPr>
                <a:spLocks noChangeArrowheads="1"/>
              </p:cNvSpPr>
              <p:nvPr/>
            </p:nvSpPr>
            <p:spPr bwMode="auto">
              <a:xfrm>
                <a:off x="912" y="1333"/>
                <a:ext cx="520" cy="501"/>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5" name="Oval 220"/>
              <p:cNvSpPr>
                <a:spLocks noChangeArrowheads="1"/>
              </p:cNvSpPr>
              <p:nvPr/>
            </p:nvSpPr>
            <p:spPr bwMode="auto">
              <a:xfrm>
                <a:off x="1071" y="1568"/>
                <a:ext cx="795"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6" name="Oval 221"/>
              <p:cNvSpPr>
                <a:spLocks noChangeArrowheads="1"/>
              </p:cNvSpPr>
              <p:nvPr/>
            </p:nvSpPr>
            <p:spPr bwMode="auto">
              <a:xfrm>
                <a:off x="1649" y="1662"/>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7" name="Oval 222"/>
              <p:cNvSpPr>
                <a:spLocks noChangeArrowheads="1"/>
              </p:cNvSpPr>
              <p:nvPr/>
            </p:nvSpPr>
            <p:spPr bwMode="auto">
              <a:xfrm>
                <a:off x="2430" y="95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8" name="Oval 223"/>
              <p:cNvSpPr>
                <a:spLocks noChangeArrowheads="1"/>
              </p:cNvSpPr>
              <p:nvPr/>
            </p:nvSpPr>
            <p:spPr bwMode="auto">
              <a:xfrm>
                <a:off x="2546" y="128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9" name="Oval 224"/>
              <p:cNvSpPr>
                <a:spLocks noChangeArrowheads="1"/>
              </p:cNvSpPr>
              <p:nvPr/>
            </p:nvSpPr>
            <p:spPr bwMode="auto">
              <a:xfrm>
                <a:off x="2473" y="1395"/>
                <a:ext cx="752"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0" name="Oval 225"/>
              <p:cNvSpPr>
                <a:spLocks noChangeArrowheads="1"/>
              </p:cNvSpPr>
              <p:nvPr/>
            </p:nvSpPr>
            <p:spPr bwMode="auto">
              <a:xfrm>
                <a:off x="1346" y="1144"/>
                <a:ext cx="1547"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11" name="Group 206"/>
          <p:cNvGrpSpPr>
            <a:grpSpLocks/>
          </p:cNvGrpSpPr>
          <p:nvPr/>
        </p:nvGrpSpPr>
        <p:grpSpPr bwMode="auto">
          <a:xfrm>
            <a:off x="3370927" y="1540954"/>
            <a:ext cx="1868903"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21" name="Group 216"/>
            <p:cNvGrpSpPr>
              <a:grpSpLocks/>
            </p:cNvGrpSpPr>
            <p:nvPr/>
          </p:nvGrpSpPr>
          <p:grpSpPr bwMode="auto">
            <a:xfrm>
              <a:off x="912" y="768"/>
              <a:ext cx="2386" cy="1553"/>
              <a:chOff x="912" y="768"/>
              <a:chExt cx="2386" cy="1553"/>
            </a:xfrm>
            <a:grpFill/>
          </p:grpSpPr>
          <p:sp>
            <p:nvSpPr>
              <p:cNvPr id="22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31" name="Group 206"/>
          <p:cNvGrpSpPr>
            <a:grpSpLocks/>
          </p:cNvGrpSpPr>
          <p:nvPr/>
        </p:nvGrpSpPr>
        <p:grpSpPr bwMode="auto">
          <a:xfrm>
            <a:off x="5793636" y="2089387"/>
            <a:ext cx="1867377"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41" name="Group 216"/>
            <p:cNvGrpSpPr>
              <a:grpSpLocks/>
            </p:cNvGrpSpPr>
            <p:nvPr/>
          </p:nvGrpSpPr>
          <p:grpSpPr bwMode="auto">
            <a:xfrm>
              <a:off x="912" y="768"/>
              <a:ext cx="2386" cy="1553"/>
              <a:chOff x="912" y="768"/>
              <a:chExt cx="2386" cy="1553"/>
            </a:xfrm>
            <a:grpFill/>
          </p:grpSpPr>
          <p:sp>
            <p:nvSpPr>
              <p:cNvPr id="24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251" name="Line 208"/>
          <p:cNvSpPr>
            <a:spLocks noChangeShapeType="1"/>
          </p:cNvSpPr>
          <p:nvPr/>
        </p:nvSpPr>
        <p:spPr bwMode="auto">
          <a:xfrm>
            <a:off x="6069776" y="2689028"/>
            <a:ext cx="622459" cy="15032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2" name="Line 152"/>
          <p:cNvSpPr>
            <a:spLocks noChangeShapeType="1"/>
          </p:cNvSpPr>
          <p:nvPr/>
        </p:nvSpPr>
        <p:spPr bwMode="auto">
          <a:xfrm flipH="1">
            <a:off x="6831067" y="2390033"/>
            <a:ext cx="691113" cy="44931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3" name="Line 154"/>
          <p:cNvSpPr>
            <a:spLocks noChangeShapeType="1"/>
          </p:cNvSpPr>
          <p:nvPr/>
        </p:nvSpPr>
        <p:spPr bwMode="auto">
          <a:xfrm flipV="1">
            <a:off x="2609636" y="1939063"/>
            <a:ext cx="831471" cy="599642"/>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4" name="Line 155"/>
          <p:cNvSpPr>
            <a:spLocks noChangeShapeType="1"/>
          </p:cNvSpPr>
          <p:nvPr/>
        </p:nvSpPr>
        <p:spPr bwMode="auto">
          <a:xfrm>
            <a:off x="5238304" y="1939063"/>
            <a:ext cx="762817" cy="675630"/>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5" name="Line 158"/>
          <p:cNvSpPr>
            <a:spLocks noChangeShapeType="1"/>
          </p:cNvSpPr>
          <p:nvPr/>
        </p:nvSpPr>
        <p:spPr bwMode="auto">
          <a:xfrm flipH="1">
            <a:off x="4409885" y="1915936"/>
            <a:ext cx="759766"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6" name="Line 159"/>
          <p:cNvSpPr>
            <a:spLocks noChangeShapeType="1"/>
          </p:cNvSpPr>
          <p:nvPr/>
        </p:nvSpPr>
        <p:spPr bwMode="auto">
          <a:xfrm>
            <a:off x="4617372" y="1540954"/>
            <a:ext cx="483626"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7" name="Line 163"/>
          <p:cNvSpPr>
            <a:spLocks noChangeShapeType="1"/>
          </p:cNvSpPr>
          <p:nvPr/>
        </p:nvSpPr>
        <p:spPr bwMode="auto">
          <a:xfrm>
            <a:off x="6762414" y="2165374"/>
            <a:ext cx="761291" cy="2246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8" name="Line 165"/>
          <p:cNvSpPr>
            <a:spLocks noChangeShapeType="1"/>
          </p:cNvSpPr>
          <p:nvPr/>
        </p:nvSpPr>
        <p:spPr bwMode="auto">
          <a:xfrm>
            <a:off x="1848344" y="2165374"/>
            <a:ext cx="750612" cy="39480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57232" y="2165374"/>
            <a:ext cx="692638" cy="29899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225885" y="2538705"/>
            <a:ext cx="761292"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8398" y="2390033"/>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2" name="Text Box 173"/>
          <p:cNvSpPr txBox="1">
            <a:spLocks noChangeArrowheads="1"/>
          </p:cNvSpPr>
          <p:nvPr/>
        </p:nvSpPr>
        <p:spPr bwMode="auto">
          <a:xfrm>
            <a:off x="87956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263" name="Text Box 174"/>
          <p:cNvSpPr txBox="1">
            <a:spLocks noChangeArrowheads="1"/>
          </p:cNvSpPr>
          <p:nvPr/>
        </p:nvSpPr>
        <p:spPr bwMode="auto">
          <a:xfrm>
            <a:off x="606977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264" name="Text Box 175"/>
          <p:cNvSpPr txBox="1">
            <a:spLocks noChangeArrowheads="1"/>
          </p:cNvSpPr>
          <p:nvPr/>
        </p:nvSpPr>
        <p:spPr bwMode="auto">
          <a:xfrm>
            <a:off x="3985759" y="1265085"/>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26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1037"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6" name="Line 194"/>
          <p:cNvSpPr>
            <a:spLocks noChangeShapeType="1"/>
          </p:cNvSpPr>
          <p:nvPr/>
        </p:nvSpPr>
        <p:spPr bwMode="auto">
          <a:xfrm flipH="1">
            <a:off x="3496029" y="1540954"/>
            <a:ext cx="1121342" cy="3518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7"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763364"/>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8"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84873" y="2314046"/>
            <a:ext cx="286819"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9"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78538" y="1466618"/>
            <a:ext cx="285294" cy="1701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71" name="Line 153"/>
          <p:cNvSpPr>
            <a:spLocks noChangeShapeType="1"/>
          </p:cNvSpPr>
          <p:nvPr/>
        </p:nvSpPr>
        <p:spPr bwMode="auto">
          <a:xfrm>
            <a:off x="3578414" y="1915936"/>
            <a:ext cx="692638"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00873" y="2165374"/>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3"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9870" y="274188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17" name="组合 316"/>
          <p:cNvGrpSpPr/>
          <p:nvPr/>
        </p:nvGrpSpPr>
        <p:grpSpPr>
          <a:xfrm>
            <a:off x="7199673" y="2544678"/>
            <a:ext cx="485152" cy="374983"/>
            <a:chOff x="7142297" y="3911572"/>
            <a:chExt cx="485152" cy="374983"/>
          </a:xfrm>
        </p:grpSpPr>
        <p:sp>
          <p:nvSpPr>
            <p:cNvPr id="277" name="AutoShape 229"/>
            <p:cNvSpPr>
              <a:spLocks noChangeAspect="1" noChangeArrowheads="1" noTextEdit="1"/>
            </p:cNvSpPr>
            <p:nvPr/>
          </p:nvSpPr>
          <p:spPr bwMode="auto">
            <a:xfrm>
              <a:off x="7142297" y="3911572"/>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78" name="Oval 231"/>
            <p:cNvSpPr>
              <a:spLocks noChangeArrowheads="1"/>
            </p:cNvSpPr>
            <p:nvPr/>
          </p:nvSpPr>
          <p:spPr bwMode="auto">
            <a:xfrm>
              <a:off x="7308329" y="3916021"/>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79" name="Oval 232"/>
            <p:cNvSpPr>
              <a:spLocks noChangeArrowheads="1"/>
            </p:cNvSpPr>
            <p:nvPr/>
          </p:nvSpPr>
          <p:spPr bwMode="auto">
            <a:xfrm>
              <a:off x="7193514" y="3955426"/>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0" name="Oval 233"/>
            <p:cNvSpPr>
              <a:spLocks noChangeArrowheads="1"/>
            </p:cNvSpPr>
            <p:nvPr/>
          </p:nvSpPr>
          <p:spPr bwMode="auto">
            <a:xfrm>
              <a:off x="7144548" y="4046947"/>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1" name="Oval 234"/>
            <p:cNvSpPr>
              <a:spLocks noChangeArrowheads="1"/>
            </p:cNvSpPr>
            <p:nvPr/>
          </p:nvSpPr>
          <p:spPr bwMode="auto">
            <a:xfrm>
              <a:off x="7177192" y="4100970"/>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2" name="Oval 235"/>
            <p:cNvSpPr>
              <a:spLocks noChangeArrowheads="1"/>
            </p:cNvSpPr>
            <p:nvPr/>
          </p:nvSpPr>
          <p:spPr bwMode="auto">
            <a:xfrm>
              <a:off x="7292007" y="4123215"/>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3" name="Oval 236"/>
            <p:cNvSpPr>
              <a:spLocks noChangeArrowheads="1"/>
            </p:cNvSpPr>
            <p:nvPr/>
          </p:nvSpPr>
          <p:spPr bwMode="auto">
            <a:xfrm>
              <a:off x="7446221" y="3959875"/>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4" name="Oval 237"/>
            <p:cNvSpPr>
              <a:spLocks noChangeArrowheads="1"/>
            </p:cNvSpPr>
            <p:nvPr/>
          </p:nvSpPr>
          <p:spPr bwMode="auto">
            <a:xfrm>
              <a:off x="7469859" y="4036778"/>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5" name="Oval 238"/>
            <p:cNvSpPr>
              <a:spLocks noChangeArrowheads="1"/>
            </p:cNvSpPr>
            <p:nvPr/>
          </p:nvSpPr>
          <p:spPr bwMode="auto">
            <a:xfrm>
              <a:off x="7455788" y="4061565"/>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6" name="Oval 239"/>
            <p:cNvSpPr>
              <a:spLocks noChangeArrowheads="1"/>
            </p:cNvSpPr>
            <p:nvPr/>
          </p:nvSpPr>
          <p:spPr bwMode="auto">
            <a:xfrm>
              <a:off x="7231786" y="4002458"/>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87" name="Group 257"/>
            <p:cNvGrpSpPr>
              <a:grpSpLocks/>
            </p:cNvGrpSpPr>
            <p:nvPr/>
          </p:nvGrpSpPr>
          <p:grpSpPr bwMode="auto">
            <a:xfrm>
              <a:off x="7143423" y="3912843"/>
              <a:ext cx="481775" cy="369898"/>
              <a:chOff x="3063" y="302"/>
              <a:chExt cx="856" cy="582"/>
            </a:xfrm>
            <a:solidFill>
              <a:schemeClr val="bg1"/>
            </a:solidFill>
          </p:grpSpPr>
          <p:sp>
            <p:nvSpPr>
              <p:cNvPr id="28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8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grpSp>
      <p:sp>
        <p:nvSpPr>
          <p:cNvPr id="276"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305" name="Text Box 42"/>
          <p:cNvSpPr txBox="1">
            <a:spLocks noChangeArrowheads="1"/>
          </p:cNvSpPr>
          <p:nvPr/>
        </p:nvSpPr>
        <p:spPr bwMode="auto">
          <a:xfrm>
            <a:off x="1364718"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sp>
        <p:nvSpPr>
          <p:cNvPr id="306" name="Text Box 42"/>
          <p:cNvSpPr txBox="1">
            <a:spLocks noChangeArrowheads="1"/>
          </p:cNvSpPr>
          <p:nvPr/>
        </p:nvSpPr>
        <p:spPr bwMode="auto">
          <a:xfrm>
            <a:off x="5308484"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cxnSp>
        <p:nvCxnSpPr>
          <p:cNvPr id="307" name="直接箭头连接符 331"/>
          <p:cNvCxnSpPr>
            <a:cxnSpLocks noChangeShapeType="1"/>
          </p:cNvCxnSpPr>
          <p:nvPr/>
        </p:nvCxnSpPr>
        <p:spPr bwMode="auto">
          <a:xfrm>
            <a:off x="2739314" y="1565732"/>
            <a:ext cx="562960" cy="33698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8" name="直接箭头连接符 331"/>
          <p:cNvCxnSpPr>
            <a:cxnSpLocks noChangeShapeType="1"/>
          </p:cNvCxnSpPr>
          <p:nvPr/>
        </p:nvCxnSpPr>
        <p:spPr bwMode="auto">
          <a:xfrm>
            <a:off x="2609636" y="1565732"/>
            <a:ext cx="24410" cy="898637"/>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9" name="直接箭头连接符 331"/>
          <p:cNvCxnSpPr>
            <a:cxnSpLocks noChangeShapeType="1"/>
          </p:cNvCxnSpPr>
          <p:nvPr/>
        </p:nvCxnSpPr>
        <p:spPr bwMode="auto">
          <a:xfrm flipH="1">
            <a:off x="5320689" y="1582251"/>
            <a:ext cx="512613" cy="264305"/>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10" name="直接箭头连接符 331"/>
          <p:cNvCxnSpPr>
            <a:cxnSpLocks noChangeShapeType="1"/>
          </p:cNvCxnSpPr>
          <p:nvPr/>
        </p:nvCxnSpPr>
        <p:spPr bwMode="auto">
          <a:xfrm>
            <a:off x="5930943" y="1565732"/>
            <a:ext cx="120526" cy="97297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1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2329" y="246436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20582" y="1825082"/>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6921" y="1800303"/>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65341" y="2565136"/>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5"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316"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5" name="标题 4">
            <a:extLst>
              <a:ext uri="{FF2B5EF4-FFF2-40B4-BE49-F238E27FC236}">
                <a16:creationId xmlns:a16="http://schemas.microsoft.com/office/drawing/2014/main" id="{630B8D04-9B0D-A5CA-59E6-7A57A205A2C5}"/>
              </a:ext>
            </a:extLst>
          </p:cNvPr>
          <p:cNvSpPr>
            <a:spLocks noGrp="1"/>
          </p:cNvSpPr>
          <p:nvPr>
            <p:ph type="title"/>
          </p:nvPr>
        </p:nvSpPr>
        <p:spPr>
          <a:xfrm>
            <a:off x="486000" y="550723"/>
            <a:ext cx="8172000" cy="338554"/>
          </a:xfrm>
        </p:spPr>
        <p:txBody>
          <a:bodyPr/>
          <a:lstStyle/>
          <a:p>
            <a:r>
              <a:rPr lang="en-US" altLang="zh-CN" dirty="0"/>
              <a:t>BGP </a:t>
            </a:r>
            <a:r>
              <a:rPr lang="zh-CN" altLang="en-US" dirty="0"/>
              <a:t>发言者 </a:t>
            </a:r>
            <a:r>
              <a:rPr lang="en-US" altLang="zh-CN" dirty="0"/>
              <a:t>(BGP speaker)</a:t>
            </a:r>
            <a:endParaRPr lang="zh-CN" altLang="en-US" dirty="0"/>
          </a:p>
        </p:txBody>
      </p:sp>
    </p:spTree>
    <p:extLst>
      <p:ext uri="{BB962C8B-B14F-4D97-AF65-F5344CB8AC3E}">
        <p14:creationId xmlns:p14="http://schemas.microsoft.com/office/powerpoint/2010/main" val="226995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0" name="Group 206"/>
          <p:cNvGrpSpPr>
            <a:grpSpLocks/>
          </p:cNvGrpSpPr>
          <p:nvPr/>
        </p:nvGrpSpPr>
        <p:grpSpPr bwMode="auto">
          <a:xfrm>
            <a:off x="835242" y="3689902"/>
            <a:ext cx="1597041" cy="832398"/>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3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40" name="Group 216"/>
            <p:cNvGrpSpPr>
              <a:grpSpLocks/>
            </p:cNvGrpSpPr>
            <p:nvPr/>
          </p:nvGrpSpPr>
          <p:grpSpPr bwMode="auto">
            <a:xfrm>
              <a:off x="912" y="768"/>
              <a:ext cx="2386" cy="1553"/>
              <a:chOff x="912" y="768"/>
              <a:chExt cx="2386" cy="1553"/>
            </a:xfrm>
            <a:grpFill/>
          </p:grpSpPr>
          <p:sp>
            <p:nvSpPr>
              <p:cNvPr id="14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50" name="Group 206"/>
          <p:cNvGrpSpPr>
            <a:grpSpLocks/>
          </p:cNvGrpSpPr>
          <p:nvPr/>
        </p:nvGrpSpPr>
        <p:grpSpPr bwMode="auto">
          <a:xfrm>
            <a:off x="3125915" y="3211148"/>
            <a:ext cx="1875719"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5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0" name="Group 216"/>
            <p:cNvGrpSpPr>
              <a:grpSpLocks/>
            </p:cNvGrpSpPr>
            <p:nvPr/>
          </p:nvGrpSpPr>
          <p:grpSpPr bwMode="auto">
            <a:xfrm>
              <a:off x="912" y="768"/>
              <a:ext cx="2386" cy="1553"/>
              <a:chOff x="912" y="768"/>
              <a:chExt cx="2386" cy="1553"/>
            </a:xfrm>
            <a:grpFill/>
          </p:grpSpPr>
          <p:sp>
            <p:nvSpPr>
              <p:cNvPr id="16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70" name="Group 206"/>
          <p:cNvGrpSpPr>
            <a:grpSpLocks/>
          </p:cNvGrpSpPr>
          <p:nvPr/>
        </p:nvGrpSpPr>
        <p:grpSpPr bwMode="auto">
          <a:xfrm>
            <a:off x="5557459" y="3764968"/>
            <a:ext cx="1874187"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7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80" name="Group 216"/>
            <p:cNvGrpSpPr>
              <a:grpSpLocks/>
            </p:cNvGrpSpPr>
            <p:nvPr/>
          </p:nvGrpSpPr>
          <p:grpSpPr bwMode="auto">
            <a:xfrm>
              <a:off x="912" y="768"/>
              <a:ext cx="2386" cy="1553"/>
              <a:chOff x="912" y="768"/>
              <a:chExt cx="2386" cy="1553"/>
            </a:xfrm>
            <a:grpFill/>
          </p:grpSpPr>
          <p:sp>
            <p:nvSpPr>
              <p:cNvPr id="18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190" name="Line 208"/>
          <p:cNvSpPr>
            <a:spLocks noChangeShapeType="1"/>
          </p:cNvSpPr>
          <p:nvPr/>
        </p:nvSpPr>
        <p:spPr bwMode="auto">
          <a:xfrm>
            <a:off x="5834606" y="4370500"/>
            <a:ext cx="624729" cy="15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74" name="Text Box 42"/>
          <p:cNvSpPr txBox="1">
            <a:spLocks noChangeArrowheads="1"/>
          </p:cNvSpPr>
          <p:nvPr/>
        </p:nvSpPr>
        <p:spPr bwMode="auto">
          <a:xfrm>
            <a:off x="1778460" y="3017644"/>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eBGP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sp>
        <p:nvSpPr>
          <p:cNvPr id="275" name="Line 152"/>
          <p:cNvSpPr>
            <a:spLocks noChangeShapeType="1"/>
          </p:cNvSpPr>
          <p:nvPr/>
        </p:nvSpPr>
        <p:spPr bwMode="auto">
          <a:xfrm flipH="1">
            <a:off x="6598674" y="4068567"/>
            <a:ext cx="693634"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8" name="Line 154"/>
          <p:cNvSpPr>
            <a:spLocks noChangeShapeType="1"/>
          </p:cNvSpPr>
          <p:nvPr/>
        </p:nvSpPr>
        <p:spPr bwMode="auto">
          <a:xfrm flipV="1">
            <a:off x="2361847" y="3614836"/>
            <a:ext cx="834503" cy="605532"/>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9" name="Line 155"/>
          <p:cNvSpPr>
            <a:spLocks noChangeShapeType="1"/>
          </p:cNvSpPr>
          <p:nvPr/>
        </p:nvSpPr>
        <p:spPr bwMode="auto">
          <a:xfrm>
            <a:off x="5000102" y="3614836"/>
            <a:ext cx="765599" cy="680598"/>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0" name="Line 158"/>
          <p:cNvSpPr>
            <a:spLocks noChangeShapeType="1"/>
          </p:cNvSpPr>
          <p:nvPr/>
        </p:nvSpPr>
        <p:spPr bwMode="auto">
          <a:xfrm flipH="1">
            <a:off x="4168662" y="3589814"/>
            <a:ext cx="762537" cy="32695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1" name="Line 159"/>
          <p:cNvSpPr>
            <a:spLocks noChangeShapeType="1"/>
          </p:cNvSpPr>
          <p:nvPr/>
        </p:nvSpPr>
        <p:spPr bwMode="auto">
          <a:xfrm>
            <a:off x="4376905" y="3211148"/>
            <a:ext cx="48539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2" name="Line 163"/>
          <p:cNvSpPr>
            <a:spLocks noChangeShapeType="1"/>
          </p:cNvSpPr>
          <p:nvPr/>
        </p:nvSpPr>
        <p:spPr bwMode="auto">
          <a:xfrm>
            <a:off x="6529770" y="3841701"/>
            <a:ext cx="76406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3" name="Line 165"/>
          <p:cNvSpPr>
            <a:spLocks noChangeShapeType="1"/>
          </p:cNvSpPr>
          <p:nvPr/>
        </p:nvSpPr>
        <p:spPr bwMode="auto">
          <a:xfrm flipV="1">
            <a:off x="1738649" y="4295434"/>
            <a:ext cx="62319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4" name="Line 167"/>
          <p:cNvSpPr>
            <a:spLocks noChangeShapeType="1"/>
          </p:cNvSpPr>
          <p:nvPr/>
        </p:nvSpPr>
        <p:spPr bwMode="auto">
          <a:xfrm>
            <a:off x="924052" y="4183669"/>
            <a:ext cx="813067" cy="33863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5" name="Line 169"/>
          <p:cNvSpPr>
            <a:spLocks noChangeShapeType="1"/>
          </p:cNvSpPr>
          <p:nvPr/>
        </p:nvSpPr>
        <p:spPr bwMode="auto">
          <a:xfrm flipV="1">
            <a:off x="904146" y="3841701"/>
            <a:ext cx="695164" cy="30193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6" name="Line 170"/>
          <p:cNvSpPr>
            <a:spLocks noChangeShapeType="1"/>
          </p:cNvSpPr>
          <p:nvPr/>
        </p:nvSpPr>
        <p:spPr bwMode="auto">
          <a:xfrm>
            <a:off x="1599311" y="3841701"/>
            <a:ext cx="762537" cy="3786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7" name="Text Box 173"/>
          <p:cNvSpPr txBox="1">
            <a:spLocks noChangeArrowheads="1"/>
          </p:cNvSpPr>
          <p:nvPr/>
        </p:nvSpPr>
        <p:spPr bwMode="auto">
          <a:xfrm>
            <a:off x="625468" y="3591482"/>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328" name="Text Box 174"/>
          <p:cNvSpPr txBox="1">
            <a:spLocks noChangeArrowheads="1"/>
          </p:cNvSpPr>
          <p:nvPr/>
        </p:nvSpPr>
        <p:spPr bwMode="auto">
          <a:xfrm>
            <a:off x="5695266" y="3514748"/>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329" name="Text Box 175"/>
          <p:cNvSpPr txBox="1">
            <a:spLocks noChangeArrowheads="1"/>
          </p:cNvSpPr>
          <p:nvPr/>
        </p:nvSpPr>
        <p:spPr bwMode="auto">
          <a:xfrm>
            <a:off x="3674084" y="2910884"/>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sp>
        <p:nvSpPr>
          <p:cNvPr id="330" name="Line 194"/>
          <p:cNvSpPr>
            <a:spLocks noChangeShapeType="1"/>
          </p:cNvSpPr>
          <p:nvPr/>
        </p:nvSpPr>
        <p:spPr bwMode="auto">
          <a:xfrm flipH="1">
            <a:off x="3265255" y="3211148"/>
            <a:ext cx="111165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1" name="Line 209"/>
          <p:cNvSpPr>
            <a:spLocks noChangeShapeType="1"/>
          </p:cNvSpPr>
          <p:nvPr/>
        </p:nvSpPr>
        <p:spPr bwMode="auto">
          <a:xfrm flipV="1">
            <a:off x="5834606" y="3841701"/>
            <a:ext cx="624729"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2" name="Line 153"/>
          <p:cNvSpPr>
            <a:spLocks noChangeShapeType="1"/>
          </p:cNvSpPr>
          <p:nvPr/>
        </p:nvSpPr>
        <p:spPr bwMode="auto">
          <a:xfrm>
            <a:off x="3300472" y="3649866"/>
            <a:ext cx="728850" cy="266901"/>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3" name="Text Box 42"/>
          <p:cNvSpPr txBox="1">
            <a:spLocks noChangeArrowheads="1"/>
          </p:cNvSpPr>
          <p:nvPr/>
        </p:nvSpPr>
        <p:spPr bwMode="auto">
          <a:xfrm>
            <a:off x="6941662" y="3104388"/>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pic>
        <p:nvPicPr>
          <p:cNvPr id="33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99311" y="4423881"/>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6" name="Line 169"/>
          <p:cNvSpPr>
            <a:spLocks noChangeShapeType="1"/>
          </p:cNvSpPr>
          <p:nvPr/>
        </p:nvSpPr>
        <p:spPr bwMode="auto">
          <a:xfrm>
            <a:off x="948551" y="4170324"/>
            <a:ext cx="1413296" cy="10175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6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807" y="4068567"/>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8"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59971"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9" name="Line 169"/>
          <p:cNvSpPr>
            <a:spLocks noChangeShapeType="1"/>
          </p:cNvSpPr>
          <p:nvPr/>
        </p:nvSpPr>
        <p:spPr bwMode="auto">
          <a:xfrm flipH="1" flipV="1">
            <a:off x="1597778" y="3895081"/>
            <a:ext cx="139340" cy="60386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0" name="Line 194"/>
          <p:cNvSpPr>
            <a:spLocks noChangeShapeType="1"/>
          </p:cNvSpPr>
          <p:nvPr/>
        </p:nvSpPr>
        <p:spPr bwMode="auto">
          <a:xfrm flipH="1">
            <a:off x="4098227" y="3212817"/>
            <a:ext cx="278678" cy="6822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1" name="Line 194"/>
          <p:cNvSpPr>
            <a:spLocks noChangeShapeType="1"/>
          </p:cNvSpPr>
          <p:nvPr/>
        </p:nvSpPr>
        <p:spPr bwMode="auto">
          <a:xfrm flipH="1">
            <a:off x="3334158" y="3591482"/>
            <a:ext cx="1598571"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37565" y="3136083"/>
            <a:ext cx="286335" cy="1718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58887" y="3841701"/>
            <a:ext cx="286335"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74" name="Line 209"/>
          <p:cNvSpPr>
            <a:spLocks noChangeShapeType="1"/>
          </p:cNvSpPr>
          <p:nvPr/>
        </p:nvSpPr>
        <p:spPr bwMode="auto">
          <a:xfrm flipV="1">
            <a:off x="6459335" y="3916768"/>
            <a:ext cx="32155" cy="65891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5" name="Line 209"/>
          <p:cNvSpPr>
            <a:spLocks noChangeShapeType="1"/>
          </p:cNvSpPr>
          <p:nvPr/>
        </p:nvSpPr>
        <p:spPr bwMode="auto">
          <a:xfrm flipV="1">
            <a:off x="5834606" y="4045213"/>
            <a:ext cx="1459232"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6"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4445566"/>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7"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54500" y="3991833"/>
            <a:ext cx="28786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8"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379" name="直接箭头连接符 328"/>
          <p:cNvCxnSpPr>
            <a:cxnSpLocks noChangeShapeType="1"/>
          </p:cNvCxnSpPr>
          <p:nvPr/>
        </p:nvCxnSpPr>
        <p:spPr bwMode="auto">
          <a:xfrm flipH="1">
            <a:off x="6852852" y="3439682"/>
            <a:ext cx="509890"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80" name="直接箭头连接符 329"/>
          <p:cNvCxnSpPr>
            <a:cxnSpLocks noChangeShapeType="1"/>
          </p:cNvCxnSpPr>
          <p:nvPr/>
        </p:nvCxnSpPr>
        <p:spPr bwMode="auto">
          <a:xfrm flipH="1">
            <a:off x="5258875" y="3317908"/>
            <a:ext cx="509889"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1" name="Text Box 42"/>
          <p:cNvSpPr txBox="1">
            <a:spLocks noChangeArrowheads="1"/>
          </p:cNvSpPr>
          <p:nvPr/>
        </p:nvSpPr>
        <p:spPr bwMode="auto">
          <a:xfrm>
            <a:off x="5487023" y="2985951"/>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cxnSp>
        <p:nvCxnSpPr>
          <p:cNvPr id="382" name="直接箭头连接符 331"/>
          <p:cNvCxnSpPr>
            <a:cxnSpLocks noChangeShapeType="1"/>
          </p:cNvCxnSpPr>
          <p:nvPr/>
        </p:nvCxnSpPr>
        <p:spPr bwMode="auto">
          <a:xfrm>
            <a:off x="2345004" y="3369621"/>
            <a:ext cx="379737" cy="58050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3" name="Text Box 42"/>
          <p:cNvSpPr txBox="1">
            <a:spLocks noChangeArrowheads="1"/>
          </p:cNvSpPr>
          <p:nvPr/>
        </p:nvSpPr>
        <p:spPr bwMode="auto">
          <a:xfrm>
            <a:off x="3057012" y="4272080"/>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iBGP </a:t>
            </a:r>
            <a:r>
              <a:rPr lang="zh-CN" altLang="en-US" sz="1600" b="1">
                <a:latin typeface="微软雅黑" panose="020B0503020204020204" pitchFamily="34" charset="-122"/>
                <a:ea typeface="微软雅黑" panose="020B0503020204020204" pitchFamily="34" charset="-122"/>
              </a:rPr>
              <a:t>连接</a:t>
            </a:r>
          </a:p>
        </p:txBody>
      </p:sp>
      <p:cxnSp>
        <p:nvCxnSpPr>
          <p:cNvPr id="384" name="直接箭头连接符 335"/>
          <p:cNvCxnSpPr>
            <a:cxnSpLocks noChangeShapeType="1"/>
          </p:cNvCxnSpPr>
          <p:nvPr/>
        </p:nvCxnSpPr>
        <p:spPr bwMode="auto">
          <a:xfrm flipV="1">
            <a:off x="3497997" y="3816680"/>
            <a:ext cx="237336" cy="532134"/>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5" name="Text Box 42"/>
          <p:cNvSpPr txBox="1">
            <a:spLocks noChangeArrowheads="1"/>
          </p:cNvSpPr>
          <p:nvPr/>
        </p:nvSpPr>
        <p:spPr bwMode="auto">
          <a:xfrm>
            <a:off x="513690" y="3051007"/>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386" name="直接箭头连接符 339"/>
          <p:cNvCxnSpPr>
            <a:cxnSpLocks noChangeShapeType="1"/>
          </p:cNvCxnSpPr>
          <p:nvPr/>
        </p:nvCxnSpPr>
        <p:spPr bwMode="auto">
          <a:xfrm>
            <a:off x="1181292" y="3364616"/>
            <a:ext cx="139340" cy="60553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8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18260" y="3493062"/>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14852" y="4175328"/>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4639" y="349473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9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63" y="427208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1" name="组合 10"/>
          <p:cNvGrpSpPr/>
          <p:nvPr/>
        </p:nvGrpSpPr>
        <p:grpSpPr>
          <a:xfrm>
            <a:off x="6937503" y="4236360"/>
            <a:ext cx="1223891" cy="519766"/>
            <a:chOff x="7199673" y="2544678"/>
            <a:chExt cx="1223891" cy="519766"/>
          </a:xfrm>
        </p:grpSpPr>
        <p:sp>
          <p:nvSpPr>
            <p:cNvPr id="426"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27"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8"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9"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36" name="Group 257"/>
            <p:cNvGrpSpPr>
              <a:grpSpLocks/>
            </p:cNvGrpSpPr>
            <p:nvPr/>
          </p:nvGrpSpPr>
          <p:grpSpPr bwMode="auto">
            <a:xfrm>
              <a:off x="7200799" y="2545949"/>
              <a:ext cx="481775" cy="369898"/>
              <a:chOff x="3063" y="302"/>
              <a:chExt cx="856" cy="582"/>
            </a:xfrm>
            <a:solidFill>
              <a:schemeClr val="bg1"/>
            </a:solidFill>
          </p:grpSpPr>
          <p:sp>
            <p:nvSpPr>
              <p:cNvPr id="437"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8"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5"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6"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7"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8"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9"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0"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51"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2"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sp>
          <p:nvSpPr>
            <p:cNvPr id="453"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454"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455"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5" name="标题 4">
            <a:extLst>
              <a:ext uri="{FF2B5EF4-FFF2-40B4-BE49-F238E27FC236}">
                <a16:creationId xmlns:a16="http://schemas.microsoft.com/office/drawing/2014/main" id="{ACA7CE5F-FA4D-28F2-3766-15FA2575BCEE}"/>
              </a:ext>
            </a:extLst>
          </p:cNvPr>
          <p:cNvSpPr>
            <a:spLocks noGrp="1"/>
          </p:cNvSpPr>
          <p:nvPr>
            <p:ph type="title"/>
          </p:nvPr>
        </p:nvSpPr>
        <p:spPr>
          <a:xfrm>
            <a:off x="486000" y="550723"/>
            <a:ext cx="8172000" cy="338554"/>
          </a:xfrm>
        </p:spPr>
        <p:txBody>
          <a:bodyPr/>
          <a:lstStyle/>
          <a:p>
            <a:r>
              <a:rPr lang="en-US" altLang="zh-CN" dirty="0"/>
              <a:t>eBGP </a:t>
            </a:r>
            <a:r>
              <a:rPr lang="zh-CN" altLang="en-US" dirty="0"/>
              <a:t>连接和 </a:t>
            </a:r>
            <a:r>
              <a:rPr lang="en-US" altLang="zh-CN" dirty="0"/>
              <a:t>iBGP </a:t>
            </a:r>
            <a:r>
              <a:rPr lang="zh-CN" altLang="en-US" dirty="0"/>
              <a:t>连接</a:t>
            </a:r>
          </a:p>
        </p:txBody>
      </p:sp>
      <p:sp>
        <p:nvSpPr>
          <p:cNvPr id="7" name="内容占位符 6">
            <a:extLst>
              <a:ext uri="{FF2B5EF4-FFF2-40B4-BE49-F238E27FC236}">
                <a16:creationId xmlns:a16="http://schemas.microsoft.com/office/drawing/2014/main" id="{2AC88470-EF00-F195-E018-E18A0B4142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之间， </a:t>
            </a:r>
            <a:r>
              <a:rPr lang="en-US" altLang="zh-CN" dirty="0"/>
              <a:t>BGP </a:t>
            </a:r>
            <a:r>
              <a:rPr lang="zh-CN" altLang="en-US" dirty="0"/>
              <a:t>发言者在半永久性 </a:t>
            </a:r>
            <a:r>
              <a:rPr lang="en-US" altLang="zh-CN" dirty="0"/>
              <a:t>TCP </a:t>
            </a:r>
            <a:r>
              <a:rPr lang="zh-CN" altLang="en-US" dirty="0"/>
              <a:t>连接（端口号为</a:t>
            </a:r>
            <a:r>
              <a:rPr lang="en-US" altLang="zh-CN" dirty="0"/>
              <a:t>179</a:t>
            </a:r>
            <a:r>
              <a:rPr lang="zh-CN" altLang="en-US" dirty="0"/>
              <a:t>）上建立 </a:t>
            </a:r>
            <a:r>
              <a:rPr lang="en-US" altLang="zh-CN" dirty="0"/>
              <a:t>BGP </a:t>
            </a:r>
            <a:r>
              <a:rPr lang="zh-CN" altLang="en-US" dirty="0"/>
              <a:t>会话</a:t>
            </a:r>
            <a:r>
              <a:rPr lang="en-US" altLang="zh-CN" dirty="0"/>
              <a:t>(session)</a:t>
            </a:r>
            <a:r>
              <a:rPr lang="zh-CN" altLang="en-US" dirty="0"/>
              <a:t>。这种连接又称为 </a:t>
            </a:r>
            <a:r>
              <a:rPr lang="en-US" altLang="zh-CN" dirty="0"/>
              <a:t>eBGP </a:t>
            </a:r>
            <a:r>
              <a:rPr lang="zh-CN" altLang="en-US" dirty="0"/>
              <a:t>连接。</a:t>
            </a:r>
            <a:endParaRPr lang="en-US" altLang="zh-CN" dirty="0"/>
          </a:p>
          <a:p>
            <a:r>
              <a:rPr lang="zh-CN" altLang="en-US" dirty="0"/>
              <a:t>在 </a:t>
            </a:r>
            <a:r>
              <a:rPr lang="en-US" altLang="zh-CN" dirty="0"/>
              <a:t>AS </a:t>
            </a:r>
            <a:r>
              <a:rPr lang="zh-CN" altLang="en-US" dirty="0"/>
              <a:t>内部，任何相互通信的两个路由器之间必须有一个逻辑连接（也使用 </a:t>
            </a:r>
            <a:r>
              <a:rPr lang="en-US" altLang="zh-CN" dirty="0"/>
              <a:t>TCP </a:t>
            </a:r>
            <a:r>
              <a:rPr lang="zh-CN" altLang="en-US" dirty="0"/>
              <a:t>连接）</a:t>
            </a:r>
            <a:endParaRPr lang="en-US" altLang="zh-CN" dirty="0"/>
          </a:p>
          <a:p>
            <a:r>
              <a:rPr lang="en-US" altLang="zh-CN" dirty="0"/>
              <a:t>AS </a:t>
            </a:r>
            <a:r>
              <a:rPr lang="zh-CN" altLang="en-US" dirty="0"/>
              <a:t>内部所有的路由器之间的通信是全连通的。这种连接常称为 </a:t>
            </a:r>
            <a:r>
              <a:rPr lang="en-US" altLang="zh-CN" dirty="0"/>
              <a:t>iBGP </a:t>
            </a:r>
            <a:r>
              <a:rPr lang="zh-CN" altLang="en-US" dirty="0"/>
              <a:t>连接</a:t>
            </a:r>
            <a:endParaRPr lang="en-US" altLang="zh-CN" dirty="0"/>
          </a:p>
          <a:p>
            <a:pPr lvl="1"/>
            <a:r>
              <a:rPr lang="en-US" altLang="zh-CN" dirty="0"/>
              <a:t>eBGP (external BGP) </a:t>
            </a:r>
            <a:r>
              <a:rPr lang="zh-CN" altLang="en-US" dirty="0"/>
              <a:t>连接：运行 </a:t>
            </a:r>
            <a:r>
              <a:rPr lang="en-US" altLang="zh-CN" dirty="0"/>
              <a:t>eBGP </a:t>
            </a:r>
            <a:r>
              <a:rPr lang="zh-CN" altLang="en-US" dirty="0"/>
              <a:t>协议，在不同 </a:t>
            </a:r>
            <a:r>
              <a:rPr lang="en-US" altLang="zh-CN" dirty="0"/>
              <a:t>AS </a:t>
            </a:r>
            <a:r>
              <a:rPr lang="zh-CN" altLang="en-US" dirty="0"/>
              <a:t>之间交换路由信息。</a:t>
            </a:r>
            <a:endParaRPr lang="en-US" altLang="zh-CN" dirty="0"/>
          </a:p>
          <a:p>
            <a:pPr lvl="1"/>
            <a:r>
              <a:rPr lang="en-US" altLang="zh-CN" dirty="0"/>
              <a:t>iBGP (internal BGP) </a:t>
            </a:r>
            <a:r>
              <a:rPr lang="zh-CN" altLang="en-US" dirty="0"/>
              <a:t>连接：运行 </a:t>
            </a:r>
            <a:r>
              <a:rPr lang="en-US" altLang="zh-CN" dirty="0"/>
              <a:t>iBGP </a:t>
            </a:r>
            <a:r>
              <a:rPr lang="zh-CN" altLang="en-US" dirty="0"/>
              <a:t>协议， 在 </a:t>
            </a:r>
            <a:r>
              <a:rPr lang="en-US" altLang="zh-CN" dirty="0"/>
              <a:t>AS </a:t>
            </a:r>
            <a:r>
              <a:rPr lang="zh-CN" altLang="en-US" dirty="0"/>
              <a:t>内部的路由器之间交换 </a:t>
            </a:r>
            <a:r>
              <a:rPr lang="en-US" altLang="zh-CN" dirty="0"/>
              <a:t>BGP </a:t>
            </a:r>
            <a:r>
              <a:rPr lang="zh-CN" altLang="en-US" dirty="0"/>
              <a:t>路由信息。</a:t>
            </a:r>
            <a:endParaRPr lang="en-US" altLang="zh-CN" dirty="0"/>
          </a:p>
          <a:p>
            <a:endParaRPr lang="zh-CN" altLang="en-US" dirty="0"/>
          </a:p>
        </p:txBody>
      </p:sp>
    </p:spTree>
    <p:extLst>
      <p:ext uri="{BB962C8B-B14F-4D97-AF65-F5344CB8AC3E}">
        <p14:creationId xmlns:p14="http://schemas.microsoft.com/office/powerpoint/2010/main" val="3404024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64955-B2A9-682B-8075-A831E22C9DFB}"/>
              </a:ext>
            </a:extLst>
          </p:cNvPr>
          <p:cNvSpPr>
            <a:spLocks noGrp="1"/>
          </p:cNvSpPr>
          <p:nvPr>
            <p:ph type="title"/>
          </p:nvPr>
        </p:nvSpPr>
        <p:spPr>
          <a:xfrm>
            <a:off x="486000" y="550723"/>
            <a:ext cx="8172000" cy="338554"/>
          </a:xfrm>
        </p:spPr>
        <p:txBody>
          <a:bodyPr/>
          <a:lstStyle/>
          <a:p>
            <a:r>
              <a:rPr lang="en-US" altLang="zh-CN" dirty="0"/>
              <a:t>IGP vs iBGP vs</a:t>
            </a:r>
            <a:r>
              <a:rPr lang="zh-CN" altLang="en-US" dirty="0"/>
              <a:t> </a:t>
            </a:r>
            <a:r>
              <a:rPr lang="en-US" altLang="zh-CN" dirty="0"/>
              <a:t>eBGP</a:t>
            </a:r>
            <a:endParaRPr lang="zh-CN" altLang="en-US" dirty="0"/>
          </a:p>
        </p:txBody>
      </p:sp>
      <p:sp>
        <p:nvSpPr>
          <p:cNvPr id="8" name="内容占位符 7">
            <a:extLst>
              <a:ext uri="{FF2B5EF4-FFF2-40B4-BE49-F238E27FC236}">
                <a16:creationId xmlns:a16="http://schemas.microsoft.com/office/drawing/2014/main" id="{EE514790-3D86-D633-5002-46C40C83E80E}"/>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AS </a:t>
            </a:r>
            <a:r>
              <a:rPr lang="zh-CN" altLang="en-US" dirty="0"/>
              <a:t>内部运行：</a:t>
            </a:r>
            <a:endParaRPr lang="en-US" altLang="zh-CN" dirty="0"/>
          </a:p>
          <a:p>
            <a:pPr lvl="1"/>
            <a:r>
              <a:rPr lang="zh-CN" altLang="en-US" dirty="0"/>
              <a:t>内部网关协议 </a:t>
            </a:r>
            <a:r>
              <a:rPr lang="en-US" altLang="zh-CN" dirty="0"/>
              <a:t>IGP -</a:t>
            </a:r>
            <a:r>
              <a:rPr lang="zh-CN" altLang="en-US" dirty="0"/>
              <a:t> </a:t>
            </a:r>
            <a:r>
              <a:rPr lang="en-US" altLang="zh-CN" dirty="0"/>
              <a:t>OSPF </a:t>
            </a:r>
            <a:r>
              <a:rPr lang="zh-CN" altLang="en-US" dirty="0"/>
              <a:t>或 </a:t>
            </a:r>
            <a:r>
              <a:rPr lang="en-US" altLang="zh-CN" dirty="0"/>
              <a:t>RIP</a:t>
            </a:r>
          </a:p>
          <a:p>
            <a:pPr lvl="1"/>
            <a:r>
              <a:rPr lang="zh-CN" altLang="en-US" dirty="0"/>
              <a:t>协议 </a:t>
            </a:r>
            <a:r>
              <a:rPr lang="en-US" altLang="zh-CN" dirty="0"/>
              <a:t>iBGP</a:t>
            </a:r>
          </a:p>
          <a:p>
            <a:r>
              <a:rPr lang="zh-CN" altLang="en-US" dirty="0"/>
              <a:t>在 </a:t>
            </a:r>
            <a:r>
              <a:rPr lang="en-US" altLang="zh-CN" dirty="0"/>
              <a:t>AS </a:t>
            </a:r>
            <a:r>
              <a:rPr lang="zh-CN" altLang="en-US" dirty="0"/>
              <a:t>之间运行：</a:t>
            </a:r>
            <a:endParaRPr lang="en-US" altLang="zh-CN" dirty="0"/>
          </a:p>
          <a:p>
            <a:pPr lvl="1"/>
            <a:r>
              <a:rPr lang="zh-CN" altLang="en-US" dirty="0"/>
              <a:t>协议 </a:t>
            </a:r>
            <a:r>
              <a:rPr lang="en-US" altLang="zh-CN" dirty="0"/>
              <a:t>eBGP</a:t>
            </a:r>
          </a:p>
        </p:txBody>
      </p:sp>
      <p:sp>
        <p:nvSpPr>
          <p:cNvPr id="191" name="矩形 190"/>
          <p:cNvSpPr/>
          <p:nvPr/>
        </p:nvSpPr>
        <p:spPr>
          <a:xfrm>
            <a:off x="2973150" y="3344515"/>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2" name="矩形 191"/>
          <p:cNvSpPr/>
          <p:nvPr/>
        </p:nvSpPr>
        <p:spPr>
          <a:xfrm>
            <a:off x="4725750" y="3337162"/>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3" name="矩形 192"/>
          <p:cNvSpPr/>
          <p:nvPr/>
        </p:nvSpPr>
        <p:spPr>
          <a:xfrm>
            <a:off x="6478350" y="3340538"/>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4" name="矩形 193"/>
          <p:cNvSpPr/>
          <p:nvPr/>
        </p:nvSpPr>
        <p:spPr>
          <a:xfrm>
            <a:off x="1211171" y="3325116"/>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5" name="Line 6"/>
          <p:cNvSpPr>
            <a:spLocks noChangeShapeType="1"/>
          </p:cNvSpPr>
          <p:nvPr/>
        </p:nvSpPr>
        <p:spPr bwMode="auto">
          <a:xfrm>
            <a:off x="12076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6" name="Text Box 9"/>
          <p:cNvSpPr txBox="1">
            <a:spLocks noChangeArrowheads="1"/>
          </p:cNvSpPr>
          <p:nvPr/>
        </p:nvSpPr>
        <p:spPr bwMode="auto">
          <a:xfrm>
            <a:off x="1735543"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dirty="0">
                <a:latin typeface="Montserrat" panose="00000500000000000000" pitchFamily="2" charset="0"/>
                <a:ea typeface="微软雅黑" panose="020B0503020204020204" pitchFamily="34" charset="-122"/>
                <a:cs typeface="Times New Roman" pitchFamily="18" charset="0"/>
              </a:rPr>
              <a:t>IGP</a:t>
            </a:r>
            <a:endParaRPr lang="en-GB" altLang="zh-CN" sz="1200" dirty="0">
              <a:latin typeface="Montserrat" panose="00000500000000000000" pitchFamily="2" charset="0"/>
              <a:ea typeface="微软雅黑" panose="020B0503020204020204" pitchFamily="34" charset="-122"/>
              <a:cs typeface="Times New Roman" pitchFamily="18" charset="0"/>
            </a:endParaRPr>
          </a:p>
        </p:txBody>
      </p:sp>
      <p:sp>
        <p:nvSpPr>
          <p:cNvPr id="197" name="Text Box 11"/>
          <p:cNvSpPr txBox="1">
            <a:spLocks noChangeArrowheads="1"/>
          </p:cNvSpPr>
          <p:nvPr/>
        </p:nvSpPr>
        <p:spPr bwMode="auto">
          <a:xfrm>
            <a:off x="1680239"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198" name="Line 14"/>
          <p:cNvSpPr>
            <a:spLocks noChangeShapeType="1"/>
          </p:cNvSpPr>
          <p:nvPr/>
        </p:nvSpPr>
        <p:spPr bwMode="auto">
          <a:xfrm>
            <a:off x="29602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9" name="Text Box 17"/>
          <p:cNvSpPr txBox="1">
            <a:spLocks noChangeArrowheads="1"/>
          </p:cNvSpPr>
          <p:nvPr/>
        </p:nvSpPr>
        <p:spPr bwMode="auto">
          <a:xfrm>
            <a:off x="34975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0" name="Text Box 19"/>
          <p:cNvSpPr txBox="1">
            <a:spLocks noChangeArrowheads="1"/>
          </p:cNvSpPr>
          <p:nvPr/>
        </p:nvSpPr>
        <p:spPr bwMode="auto">
          <a:xfrm>
            <a:off x="34422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1" name="Line 22"/>
          <p:cNvSpPr>
            <a:spLocks noChangeShapeType="1"/>
          </p:cNvSpPr>
          <p:nvPr/>
        </p:nvSpPr>
        <p:spPr bwMode="auto">
          <a:xfrm>
            <a:off x="47128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2" name="Text Box 25"/>
          <p:cNvSpPr txBox="1">
            <a:spLocks noChangeArrowheads="1"/>
          </p:cNvSpPr>
          <p:nvPr/>
        </p:nvSpPr>
        <p:spPr bwMode="auto">
          <a:xfrm>
            <a:off x="52501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3" name="Text Box 27"/>
          <p:cNvSpPr txBox="1">
            <a:spLocks noChangeArrowheads="1"/>
          </p:cNvSpPr>
          <p:nvPr/>
        </p:nvSpPr>
        <p:spPr bwMode="auto">
          <a:xfrm>
            <a:off x="51948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4" name="Line 30"/>
          <p:cNvSpPr>
            <a:spLocks noChangeShapeType="1"/>
          </p:cNvSpPr>
          <p:nvPr/>
        </p:nvSpPr>
        <p:spPr bwMode="auto">
          <a:xfrm>
            <a:off x="64654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nvGrpSpPr>
          <p:cNvPr id="205" name="组合 204"/>
          <p:cNvGrpSpPr/>
          <p:nvPr/>
        </p:nvGrpSpPr>
        <p:grpSpPr>
          <a:xfrm>
            <a:off x="1207654" y="3325116"/>
            <a:ext cx="6781800" cy="994048"/>
            <a:chOff x="1143000" y="4038600"/>
            <a:chExt cx="6781800" cy="1752600"/>
          </a:xfrm>
        </p:grpSpPr>
        <p:sp>
          <p:nvSpPr>
            <p:cNvPr id="206" name="Line 5"/>
            <p:cNvSpPr>
              <a:spLocks noChangeShapeType="1"/>
            </p:cNvSpPr>
            <p:nvPr/>
          </p:nvSpPr>
          <p:spPr bwMode="auto">
            <a:xfrm>
              <a:off x="1143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7" name="Line 8"/>
            <p:cNvSpPr>
              <a:spLocks noChangeShapeType="1"/>
            </p:cNvSpPr>
            <p:nvPr/>
          </p:nvSpPr>
          <p:spPr bwMode="auto">
            <a:xfrm>
              <a:off x="2667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8" name="Line 13"/>
            <p:cNvSpPr>
              <a:spLocks noChangeShapeType="1"/>
            </p:cNvSpPr>
            <p:nvPr/>
          </p:nvSpPr>
          <p:spPr bwMode="auto">
            <a:xfrm>
              <a:off x="2895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9" name="Line 16"/>
            <p:cNvSpPr>
              <a:spLocks noChangeShapeType="1"/>
            </p:cNvSpPr>
            <p:nvPr/>
          </p:nvSpPr>
          <p:spPr bwMode="auto">
            <a:xfrm>
              <a:off x="4419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0" name="Line 21"/>
            <p:cNvSpPr>
              <a:spLocks noChangeShapeType="1"/>
            </p:cNvSpPr>
            <p:nvPr/>
          </p:nvSpPr>
          <p:spPr bwMode="auto">
            <a:xfrm>
              <a:off x="4648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1" name="Line 24"/>
            <p:cNvSpPr>
              <a:spLocks noChangeShapeType="1"/>
            </p:cNvSpPr>
            <p:nvPr/>
          </p:nvSpPr>
          <p:spPr bwMode="auto">
            <a:xfrm>
              <a:off x="6172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2" name="Line 29"/>
            <p:cNvSpPr>
              <a:spLocks noChangeShapeType="1"/>
            </p:cNvSpPr>
            <p:nvPr/>
          </p:nvSpPr>
          <p:spPr bwMode="auto">
            <a:xfrm>
              <a:off x="6400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3" name="Line 32"/>
            <p:cNvSpPr>
              <a:spLocks noChangeShapeType="1"/>
            </p:cNvSpPr>
            <p:nvPr/>
          </p:nvSpPr>
          <p:spPr bwMode="auto">
            <a:xfrm>
              <a:off x="7924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sp>
        <p:nvSpPr>
          <p:cNvPr id="214" name="Text Box 33"/>
          <p:cNvSpPr txBox="1">
            <a:spLocks noChangeArrowheads="1"/>
          </p:cNvSpPr>
          <p:nvPr/>
        </p:nvSpPr>
        <p:spPr bwMode="auto">
          <a:xfrm>
            <a:off x="70027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5" name="Text Box 35"/>
          <p:cNvSpPr txBox="1">
            <a:spLocks noChangeArrowheads="1"/>
          </p:cNvSpPr>
          <p:nvPr/>
        </p:nvSpPr>
        <p:spPr bwMode="auto">
          <a:xfrm>
            <a:off x="69474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6" name="Text Box 39"/>
          <p:cNvSpPr txBox="1">
            <a:spLocks noChangeArrowheads="1"/>
          </p:cNvSpPr>
          <p:nvPr/>
        </p:nvSpPr>
        <p:spPr bwMode="auto">
          <a:xfrm>
            <a:off x="24764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dirty="0" err="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17" name="Text Box 42"/>
          <p:cNvSpPr txBox="1">
            <a:spLocks noChangeArrowheads="1"/>
          </p:cNvSpPr>
          <p:nvPr/>
        </p:nvSpPr>
        <p:spPr bwMode="auto">
          <a:xfrm>
            <a:off x="42290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grpSp>
        <p:nvGrpSpPr>
          <p:cNvPr id="218" name="组合 217"/>
          <p:cNvGrpSpPr/>
          <p:nvPr/>
        </p:nvGrpSpPr>
        <p:grpSpPr>
          <a:xfrm>
            <a:off x="2503054" y="3037084"/>
            <a:ext cx="4191000" cy="432048"/>
            <a:chOff x="2438400" y="4255368"/>
            <a:chExt cx="4191000" cy="685800"/>
          </a:xfrm>
        </p:grpSpPr>
        <p:sp>
          <p:nvSpPr>
            <p:cNvPr id="219" name="Freeform 38"/>
            <p:cNvSpPr>
              <a:spLocks/>
            </p:cNvSpPr>
            <p:nvPr/>
          </p:nvSpPr>
          <p:spPr bwMode="auto">
            <a:xfrm>
              <a:off x="24384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0" name="Freeform 41"/>
            <p:cNvSpPr>
              <a:spLocks/>
            </p:cNvSpPr>
            <p:nvPr/>
          </p:nvSpPr>
          <p:spPr bwMode="auto">
            <a:xfrm>
              <a:off x="41910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1" name="Freeform 44"/>
            <p:cNvSpPr>
              <a:spLocks/>
            </p:cNvSpPr>
            <p:nvPr/>
          </p:nvSpPr>
          <p:spPr bwMode="auto">
            <a:xfrm>
              <a:off x="59436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grpSp>
      <p:sp>
        <p:nvSpPr>
          <p:cNvPr id="222" name="Text Box 45"/>
          <p:cNvSpPr txBox="1">
            <a:spLocks noChangeArrowheads="1"/>
          </p:cNvSpPr>
          <p:nvPr/>
        </p:nvSpPr>
        <p:spPr bwMode="auto">
          <a:xfrm>
            <a:off x="59816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23" name="Text Box 46"/>
          <p:cNvSpPr txBox="1">
            <a:spLocks noChangeArrowheads="1"/>
          </p:cNvSpPr>
          <p:nvPr/>
        </p:nvSpPr>
        <p:spPr bwMode="auto">
          <a:xfrm>
            <a:off x="1638013"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1</a:t>
            </a:r>
          </a:p>
        </p:txBody>
      </p:sp>
      <p:sp>
        <p:nvSpPr>
          <p:cNvPr id="224" name="Text Box 47"/>
          <p:cNvSpPr txBox="1">
            <a:spLocks noChangeArrowheads="1"/>
          </p:cNvSpPr>
          <p:nvPr/>
        </p:nvSpPr>
        <p:spPr bwMode="auto">
          <a:xfrm>
            <a:off x="33999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2</a:t>
            </a:r>
          </a:p>
        </p:txBody>
      </p:sp>
      <p:sp>
        <p:nvSpPr>
          <p:cNvPr id="225" name="Text Box 48"/>
          <p:cNvSpPr txBox="1">
            <a:spLocks noChangeArrowheads="1"/>
          </p:cNvSpPr>
          <p:nvPr/>
        </p:nvSpPr>
        <p:spPr bwMode="auto">
          <a:xfrm>
            <a:off x="51525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3</a:t>
            </a:r>
          </a:p>
        </p:txBody>
      </p:sp>
      <p:sp>
        <p:nvSpPr>
          <p:cNvPr id="226" name="Text Box 49"/>
          <p:cNvSpPr txBox="1">
            <a:spLocks noChangeArrowheads="1"/>
          </p:cNvSpPr>
          <p:nvPr/>
        </p:nvSpPr>
        <p:spPr bwMode="auto">
          <a:xfrm>
            <a:off x="69051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4</a:t>
            </a:r>
          </a:p>
        </p:txBody>
      </p:sp>
      <p:cxnSp>
        <p:nvCxnSpPr>
          <p:cNvPr id="227" name="直接箭头连接符 226"/>
          <p:cNvCxnSpPr>
            <a:cxnSpLocks/>
          </p:cNvCxnSpPr>
          <p:nvPr/>
        </p:nvCxnSpPr>
        <p:spPr>
          <a:xfrm>
            <a:off x="1240195"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8" name="直接箭头连接符 227"/>
          <p:cNvCxnSpPr>
            <a:cxnSpLocks/>
          </p:cNvCxnSpPr>
          <p:nvPr/>
        </p:nvCxnSpPr>
        <p:spPr>
          <a:xfrm>
            <a:off x="6507374" y="404912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9" name="直接箭头连接符 228"/>
          <p:cNvCxnSpPr>
            <a:cxnSpLocks/>
          </p:cNvCxnSpPr>
          <p:nvPr/>
        </p:nvCxnSpPr>
        <p:spPr>
          <a:xfrm>
            <a:off x="47547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0" name="直接箭头连接符 229"/>
          <p:cNvCxnSpPr>
            <a:cxnSpLocks/>
          </p:cNvCxnSpPr>
          <p:nvPr/>
        </p:nvCxnSpPr>
        <p:spPr>
          <a:xfrm>
            <a:off x="30021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1" name="直接箭头连接符 230"/>
          <p:cNvCxnSpPr>
            <a:cxnSpLocks/>
          </p:cNvCxnSpPr>
          <p:nvPr/>
        </p:nvCxnSpPr>
        <p:spPr>
          <a:xfrm>
            <a:off x="1240195"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2" name="直接箭头连接符 231"/>
          <p:cNvCxnSpPr>
            <a:cxnSpLocks/>
          </p:cNvCxnSpPr>
          <p:nvPr/>
        </p:nvCxnSpPr>
        <p:spPr>
          <a:xfrm>
            <a:off x="6507374" y="368908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3" name="直接箭头连接符 232"/>
          <p:cNvCxnSpPr>
            <a:cxnSpLocks/>
          </p:cNvCxnSpPr>
          <p:nvPr/>
        </p:nvCxnSpPr>
        <p:spPr>
          <a:xfrm>
            <a:off x="47547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4" name="直接箭头连接符 233"/>
          <p:cNvCxnSpPr>
            <a:cxnSpLocks/>
          </p:cNvCxnSpPr>
          <p:nvPr/>
        </p:nvCxnSpPr>
        <p:spPr>
          <a:xfrm>
            <a:off x="30021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220974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6B921522-19A3-9F0E-23CE-737338A5FC27}"/>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1A71437D-2219-04BE-4F39-76C61A881068}"/>
              </a:ext>
            </a:extLst>
          </p:cNvPr>
          <p:cNvSpPr>
            <a:spLocks noGrp="1"/>
          </p:cNvSpPr>
          <p:nvPr>
            <p:ph sz="quarter" idx="11"/>
          </p:nvPr>
        </p:nvSpPr>
        <p:spPr>
          <a:xfrm>
            <a:off x="486000" y="900000"/>
            <a:ext cx="8172000" cy="3703500"/>
          </a:xfrm>
        </p:spPr>
        <p:txBody>
          <a:bodyPr/>
          <a:lstStyle/>
          <a:p>
            <a:r>
              <a:rPr lang="zh-CN" altLang="en-US" dirty="0"/>
              <a:t>同一个协议 </a:t>
            </a:r>
            <a:r>
              <a:rPr lang="en-US" altLang="zh-CN" dirty="0"/>
              <a:t>BGP</a:t>
            </a:r>
          </a:p>
          <a:p>
            <a:pPr lvl="1"/>
            <a:r>
              <a:rPr lang="zh-CN" altLang="en-US" dirty="0"/>
              <a:t>报文类型相同</a:t>
            </a:r>
            <a:endParaRPr lang="en-US" altLang="zh-CN" dirty="0"/>
          </a:p>
          <a:p>
            <a:pPr lvl="1"/>
            <a:r>
              <a:rPr lang="zh-CN" altLang="en-US" dirty="0"/>
              <a:t>属性相同</a:t>
            </a:r>
            <a:endParaRPr lang="en-US" altLang="zh-CN" dirty="0"/>
          </a:p>
          <a:p>
            <a:pPr lvl="1"/>
            <a:r>
              <a:rPr lang="zh-CN" altLang="en-US" dirty="0"/>
              <a:t>状态机相同</a:t>
            </a:r>
            <a:endParaRPr lang="en-US" altLang="zh-CN" dirty="0"/>
          </a:p>
          <a:p>
            <a:r>
              <a:rPr lang="zh-CN" altLang="en-US" dirty="0"/>
              <a:t>但它们在通报前缀时采用的规则不同：</a:t>
            </a:r>
            <a:endParaRPr lang="en-US" altLang="zh-CN" dirty="0"/>
          </a:p>
          <a:p>
            <a:pPr lvl="1"/>
            <a:r>
              <a:rPr lang="zh-CN" altLang="en-US" dirty="0"/>
              <a:t>在 </a:t>
            </a:r>
            <a:r>
              <a:rPr lang="en-US" altLang="zh-CN" dirty="0"/>
              <a:t>eBGP </a:t>
            </a:r>
            <a:r>
              <a:rPr lang="zh-CN" altLang="en-US" dirty="0"/>
              <a:t>连接的对等端得知的前缀信息，可以通报给一个 </a:t>
            </a:r>
            <a:r>
              <a:rPr lang="en-US" altLang="zh-CN" dirty="0"/>
              <a:t>iBGP </a:t>
            </a:r>
            <a:r>
              <a:rPr lang="zh-CN" altLang="en-US" dirty="0"/>
              <a:t>连接的对等端。反过来也是可以的</a:t>
            </a:r>
            <a:endParaRPr lang="en-US" altLang="zh-CN" dirty="0"/>
          </a:p>
          <a:p>
            <a:pPr lvl="1"/>
            <a:r>
              <a:rPr lang="zh-CN" altLang="en-US" dirty="0"/>
              <a:t>但从 </a:t>
            </a:r>
            <a:r>
              <a:rPr lang="en-US" altLang="zh-CN" dirty="0"/>
              <a:t>iBGP </a:t>
            </a:r>
            <a:r>
              <a:rPr lang="zh-CN" altLang="en-US" dirty="0"/>
              <a:t>连接的对等端得知的前缀信息，则不能够通报给另一个 </a:t>
            </a:r>
            <a:r>
              <a:rPr lang="en-US" altLang="zh-CN" dirty="0"/>
              <a:t>iBGP </a:t>
            </a:r>
            <a:r>
              <a:rPr lang="zh-CN" altLang="en-US" dirty="0"/>
              <a:t>连接的对等端</a:t>
            </a:r>
          </a:p>
          <a:p>
            <a:endParaRPr lang="zh-CN" altLang="en-US" dirty="0"/>
          </a:p>
        </p:txBody>
      </p:sp>
    </p:spTree>
    <p:extLst>
      <p:ext uri="{BB962C8B-B14F-4D97-AF65-F5344CB8AC3E}">
        <p14:creationId xmlns:p14="http://schemas.microsoft.com/office/powerpoint/2010/main" val="2506961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DE46C-4480-CEE7-6350-363A8F8C3E13}"/>
              </a:ext>
            </a:extLst>
          </p:cNvPr>
          <p:cNvSpPr>
            <a:spLocks noGrp="1"/>
          </p:cNvSpPr>
          <p:nvPr>
            <p:ph type="title"/>
          </p:nvPr>
        </p:nvSpPr>
        <p:spPr>
          <a:xfrm>
            <a:off x="486000" y="550723"/>
            <a:ext cx="8172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713C8776-5ED8-6FD1-3A0A-D3D8C4FE8640}"/>
              </a:ext>
            </a:extLst>
          </p:cNvPr>
          <p:cNvSpPr>
            <a:spLocks noGrp="1"/>
          </p:cNvSpPr>
          <p:nvPr>
            <p:ph sz="quarter" idx="11"/>
          </p:nvPr>
        </p:nvSpPr>
        <p:spPr>
          <a:xfrm>
            <a:off x="486000" y="900000"/>
            <a:ext cx="8172000" cy="3703500"/>
          </a:xfrm>
        </p:spPr>
        <p:txBody>
          <a:bodyPr/>
          <a:lstStyle/>
          <a:p>
            <a:r>
              <a:rPr lang="en-US" altLang="zh-CN" dirty="0"/>
              <a:t>R3 </a:t>
            </a:r>
            <a:r>
              <a:rPr lang="zh-CN" altLang="en-US" dirty="0"/>
              <a:t>从 </a:t>
            </a:r>
            <a:r>
              <a:rPr lang="en-US" altLang="zh-CN" dirty="0"/>
              <a:t>eBGP </a:t>
            </a:r>
            <a:r>
              <a:rPr lang="zh-CN" altLang="en-US" dirty="0"/>
              <a:t>连接的对等端 </a:t>
            </a:r>
            <a:r>
              <a:rPr lang="en-US" altLang="zh-CN" dirty="0"/>
              <a:t>R4 </a:t>
            </a:r>
            <a:r>
              <a:rPr lang="zh-CN" altLang="en-US" dirty="0"/>
              <a:t>得到的前缀信息可以通报给 </a:t>
            </a:r>
            <a:r>
              <a:rPr lang="en-US" altLang="zh-CN" dirty="0"/>
              <a:t>iBGP </a:t>
            </a:r>
            <a:r>
              <a:rPr lang="zh-CN" altLang="en-US" dirty="0"/>
              <a:t>连接的对等端 </a:t>
            </a:r>
            <a:r>
              <a:rPr lang="en-US" altLang="zh-CN" dirty="0"/>
              <a:t>R1 </a:t>
            </a:r>
            <a:r>
              <a:rPr lang="zh-CN" altLang="en-US" dirty="0"/>
              <a:t>或 </a:t>
            </a:r>
            <a:r>
              <a:rPr lang="en-US" altLang="zh-CN" dirty="0"/>
              <a:t>R2</a:t>
            </a:r>
          </a:p>
          <a:p>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和 </a:t>
            </a:r>
            <a:r>
              <a:rPr lang="en-US" altLang="zh-CN" dirty="0"/>
              <a:t>R2 </a:t>
            </a:r>
            <a:r>
              <a:rPr lang="zh-CN" altLang="en-US" dirty="0"/>
              <a:t>得到的前缀信息可以通报给 </a:t>
            </a:r>
            <a:r>
              <a:rPr lang="en-US" altLang="zh-CN" dirty="0"/>
              <a:t>eBGP </a:t>
            </a:r>
            <a:r>
              <a:rPr lang="zh-CN" altLang="en-US" dirty="0"/>
              <a:t>连接的对等端 </a:t>
            </a:r>
            <a:r>
              <a:rPr lang="en-US" altLang="zh-CN" dirty="0"/>
              <a:t>R4</a:t>
            </a:r>
          </a:p>
          <a:p>
            <a:r>
              <a:rPr lang="zh-CN" altLang="en-US" dirty="0"/>
              <a:t>但 </a:t>
            </a:r>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得到的前缀信息不允许再通报给另一个 </a:t>
            </a:r>
            <a:r>
              <a:rPr lang="en-US" altLang="zh-CN" dirty="0"/>
              <a:t>iBGP </a:t>
            </a:r>
            <a:r>
              <a:rPr lang="zh-CN" altLang="en-US" dirty="0"/>
              <a:t>连接的对等端 </a:t>
            </a:r>
            <a:r>
              <a:rPr lang="en-US" altLang="zh-CN" dirty="0"/>
              <a:t>R2</a:t>
            </a:r>
          </a:p>
          <a:p>
            <a:endParaRPr lang="zh-CN" altLang="en-US" dirty="0"/>
          </a:p>
        </p:txBody>
      </p:sp>
      <p:grpSp>
        <p:nvGrpSpPr>
          <p:cNvPr id="6" name="Group 206"/>
          <p:cNvGrpSpPr>
            <a:grpSpLocks/>
          </p:cNvGrpSpPr>
          <p:nvPr/>
        </p:nvGrpSpPr>
        <p:grpSpPr bwMode="auto">
          <a:xfrm>
            <a:off x="2191907" y="2964110"/>
            <a:ext cx="1655763"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 name="Group 216"/>
            <p:cNvGrpSpPr>
              <a:grpSpLocks/>
            </p:cNvGrpSpPr>
            <p:nvPr/>
          </p:nvGrpSpPr>
          <p:grpSpPr bwMode="auto">
            <a:xfrm>
              <a:off x="912" y="768"/>
              <a:ext cx="2386" cy="1553"/>
              <a:chOff x="912" y="768"/>
              <a:chExt cx="2386" cy="1553"/>
            </a:xfrm>
            <a:grpFill/>
          </p:grpSpPr>
          <p:sp>
            <p:nvSpPr>
              <p:cNvPr id="1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6" name="Group 206"/>
          <p:cNvGrpSpPr>
            <a:grpSpLocks/>
          </p:cNvGrpSpPr>
          <p:nvPr/>
        </p:nvGrpSpPr>
        <p:grpSpPr bwMode="auto">
          <a:xfrm>
            <a:off x="5043057" y="3156198"/>
            <a:ext cx="1944688"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6" name="Group 216"/>
            <p:cNvGrpSpPr>
              <a:grpSpLocks/>
            </p:cNvGrpSpPr>
            <p:nvPr/>
          </p:nvGrpSpPr>
          <p:grpSpPr bwMode="auto">
            <a:xfrm>
              <a:off x="912" y="768"/>
              <a:ext cx="2386" cy="1553"/>
              <a:chOff x="912" y="768"/>
              <a:chExt cx="2386" cy="1553"/>
            </a:xfrm>
            <a:grpFill/>
          </p:grpSpPr>
          <p:sp>
            <p:nvSpPr>
              <p:cNvPr id="3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6" name="Line 154"/>
          <p:cNvSpPr>
            <a:spLocks noChangeShapeType="1"/>
          </p:cNvSpPr>
          <p:nvPr/>
        </p:nvSpPr>
        <p:spPr bwMode="auto">
          <a:xfrm flipV="1">
            <a:off x="3774645" y="3518148"/>
            <a:ext cx="1368425" cy="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7" name="Line 165"/>
          <p:cNvSpPr>
            <a:spLocks noChangeShapeType="1"/>
          </p:cNvSpPr>
          <p:nvPr/>
        </p:nvSpPr>
        <p:spPr bwMode="auto">
          <a:xfrm flipV="1">
            <a:off x="3126945" y="3540373"/>
            <a:ext cx="647700" cy="193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8" name="Line 170"/>
          <p:cNvSpPr>
            <a:spLocks noChangeShapeType="1"/>
          </p:cNvSpPr>
          <p:nvPr/>
        </p:nvSpPr>
        <p:spPr bwMode="auto">
          <a:xfrm>
            <a:off x="2984070" y="3108573"/>
            <a:ext cx="790575" cy="3603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9" name="Text Box 173"/>
          <p:cNvSpPr txBox="1">
            <a:spLocks noChangeArrowheads="1"/>
          </p:cNvSpPr>
          <p:nvPr/>
        </p:nvSpPr>
        <p:spPr bwMode="auto">
          <a:xfrm>
            <a:off x="3323795" y="2756148"/>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50" name="Text Box 175"/>
          <p:cNvSpPr txBox="1">
            <a:spLocks noChangeArrowheads="1"/>
          </p:cNvSpPr>
          <p:nvPr/>
        </p:nvSpPr>
        <p:spPr bwMode="auto">
          <a:xfrm>
            <a:off x="5690757" y="2799010"/>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5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84070" y="3662610"/>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2" name="Text Box 173"/>
          <p:cNvSpPr txBox="1">
            <a:spLocks noChangeArrowheads="1"/>
          </p:cNvSpPr>
          <p:nvPr/>
        </p:nvSpPr>
        <p:spPr bwMode="auto">
          <a:xfrm>
            <a:off x="3703207" y="30863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3</a:t>
            </a:r>
          </a:p>
        </p:txBody>
      </p:sp>
      <p:sp>
        <p:nvSpPr>
          <p:cNvPr id="53" name="Text Box 173"/>
          <p:cNvSpPr txBox="1">
            <a:spLocks noChangeArrowheads="1"/>
          </p:cNvSpPr>
          <p:nvPr/>
        </p:nvSpPr>
        <p:spPr bwMode="auto">
          <a:xfrm>
            <a:off x="4827157" y="310857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4</a:t>
            </a:r>
          </a:p>
        </p:txBody>
      </p:sp>
      <p:pic>
        <p:nvPicPr>
          <p:cNvPr id="5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39607" y="3035548"/>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5120" y="3424485"/>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22245" y="3426073"/>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7" name="Text Box 173"/>
          <p:cNvSpPr txBox="1">
            <a:spLocks noChangeArrowheads="1"/>
          </p:cNvSpPr>
          <p:nvPr/>
        </p:nvSpPr>
        <p:spPr bwMode="auto">
          <a:xfrm>
            <a:off x="2982482" y="37340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2</a:t>
            </a:r>
          </a:p>
        </p:txBody>
      </p:sp>
      <p:sp>
        <p:nvSpPr>
          <p:cNvPr id="58" name="Text Box 173"/>
          <p:cNvSpPr txBox="1">
            <a:spLocks noChangeArrowheads="1"/>
          </p:cNvSpPr>
          <p:nvPr/>
        </p:nvSpPr>
        <p:spPr bwMode="auto">
          <a:xfrm>
            <a:off x="2766582" y="2725985"/>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1</a:t>
            </a:r>
          </a:p>
        </p:txBody>
      </p:sp>
      <p:cxnSp>
        <p:nvCxnSpPr>
          <p:cNvPr id="59" name="直接箭头连接符 329"/>
          <p:cNvCxnSpPr>
            <a:cxnSpLocks noChangeShapeType="1"/>
          </p:cNvCxnSpPr>
          <p:nvPr/>
        </p:nvCxnSpPr>
        <p:spPr bwMode="auto">
          <a:xfrm flipH="1">
            <a:off x="4409645" y="2932360"/>
            <a:ext cx="363537" cy="57943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60" name="Text Box 42"/>
          <p:cNvSpPr txBox="1">
            <a:spLocks noChangeArrowheads="1"/>
          </p:cNvSpPr>
          <p:nvPr/>
        </p:nvSpPr>
        <p:spPr bwMode="auto">
          <a:xfrm>
            <a:off x="4376307" y="2641848"/>
            <a:ext cx="12089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sp>
        <p:nvSpPr>
          <p:cNvPr id="61" name="Text Box 42"/>
          <p:cNvSpPr txBox="1">
            <a:spLocks noChangeArrowheads="1"/>
          </p:cNvSpPr>
          <p:nvPr/>
        </p:nvSpPr>
        <p:spPr bwMode="auto">
          <a:xfrm>
            <a:off x="1090719" y="2914139"/>
            <a:ext cx="11496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62" name="直接箭头连接符 339"/>
          <p:cNvCxnSpPr>
            <a:cxnSpLocks noChangeShapeType="1"/>
            <a:stCxn id="61" idx="3"/>
          </p:cNvCxnSpPr>
          <p:nvPr/>
        </p:nvCxnSpPr>
        <p:spPr bwMode="auto">
          <a:xfrm>
            <a:off x="2240393" y="3083416"/>
            <a:ext cx="1083665" cy="22342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63" name="直接箭头连接符 339"/>
          <p:cNvCxnSpPr>
            <a:cxnSpLocks noChangeShapeType="1"/>
          </p:cNvCxnSpPr>
          <p:nvPr/>
        </p:nvCxnSpPr>
        <p:spPr bwMode="auto">
          <a:xfrm>
            <a:off x="2181119" y="3178537"/>
            <a:ext cx="1169663" cy="452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2602256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B63924C1-6948-1557-D278-EDAB4590C670}"/>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
        <p:nvSpPr>
          <p:cNvPr id="11" name="内容占位符 10">
            <a:extLst>
              <a:ext uri="{FF2B5EF4-FFF2-40B4-BE49-F238E27FC236}">
                <a16:creationId xmlns:a16="http://schemas.microsoft.com/office/drawing/2014/main" id="{E6231B1D-2232-F74A-E2DC-E0181DC18A5B}"/>
              </a:ext>
            </a:extLst>
          </p:cNvPr>
          <p:cNvSpPr>
            <a:spLocks noGrp="1"/>
          </p:cNvSpPr>
          <p:nvPr>
            <p:ph sz="quarter" idx="11"/>
          </p:nvPr>
        </p:nvSpPr>
        <p:spPr>
          <a:xfrm>
            <a:off x="486000" y="900000"/>
            <a:ext cx="8172000" cy="3703500"/>
          </a:xfrm>
        </p:spPr>
        <p:txBody>
          <a:bodyPr/>
          <a:lstStyle/>
          <a:p>
            <a:r>
              <a:rPr lang="en-US" altLang="zh-CN" dirty="0"/>
              <a:t>BGP </a:t>
            </a:r>
            <a:r>
              <a:rPr lang="zh-CN" altLang="en-US" dirty="0"/>
              <a:t>路由 </a:t>
            </a:r>
            <a:r>
              <a:rPr lang="en-US" altLang="zh-CN" dirty="0"/>
              <a:t>= [ </a:t>
            </a:r>
            <a:r>
              <a:rPr lang="zh-CN" altLang="en-US" dirty="0"/>
              <a:t>前缀</a:t>
            </a:r>
            <a:r>
              <a:rPr lang="en-US" altLang="zh-CN" dirty="0"/>
              <a:t>, BGP</a:t>
            </a:r>
            <a:r>
              <a:rPr lang="zh-CN" altLang="en-US" dirty="0"/>
              <a:t>属性 </a:t>
            </a:r>
            <a:r>
              <a:rPr lang="en-US" altLang="zh-CN" dirty="0"/>
              <a:t>] = [ </a:t>
            </a:r>
            <a:r>
              <a:rPr lang="zh-CN" altLang="en-US" dirty="0"/>
              <a:t>前缀</a:t>
            </a:r>
            <a:r>
              <a:rPr lang="en-US" altLang="zh-CN" dirty="0"/>
              <a:t>, AS-PATH, NEXT-HOP ]</a:t>
            </a:r>
            <a:endParaRPr lang="zh-CN" altLang="en-US" dirty="0"/>
          </a:p>
          <a:p>
            <a:r>
              <a:rPr lang="zh-CN" altLang="en-US" dirty="0"/>
              <a:t>前缀：指明到哪一个子网；用 </a:t>
            </a:r>
            <a:r>
              <a:rPr lang="en-US" altLang="zh-CN" dirty="0"/>
              <a:t>CIDR </a:t>
            </a:r>
            <a:r>
              <a:rPr lang="zh-CN" altLang="en-US" dirty="0"/>
              <a:t>记法表示</a:t>
            </a:r>
          </a:p>
          <a:p>
            <a:r>
              <a:rPr lang="en-US" altLang="zh-CN" dirty="0"/>
              <a:t>BGP </a:t>
            </a:r>
            <a:r>
              <a:rPr lang="zh-CN" altLang="en-US" dirty="0"/>
              <a:t>属性：最重要的两个属性是</a:t>
            </a:r>
            <a:endParaRPr lang="en-US" altLang="zh-CN" dirty="0"/>
          </a:p>
          <a:p>
            <a:pPr lvl="1"/>
            <a:r>
              <a:rPr lang="zh-CN" altLang="en-US" dirty="0"/>
              <a:t>自治系统路径 </a:t>
            </a:r>
            <a:r>
              <a:rPr lang="en-US" altLang="zh-CN" dirty="0"/>
              <a:t>AS-PATH </a:t>
            </a:r>
          </a:p>
          <a:p>
            <a:pPr lvl="1"/>
            <a:r>
              <a:rPr lang="zh-CN" altLang="en-US" dirty="0"/>
              <a:t>下一跳 </a:t>
            </a:r>
            <a:r>
              <a:rPr lang="en-US" altLang="zh-CN" dirty="0"/>
              <a:t>NEXT-HOP</a:t>
            </a:r>
            <a:r>
              <a:rPr lang="zh-CN" altLang="en-US" dirty="0"/>
              <a:t>。</a:t>
            </a:r>
          </a:p>
          <a:p>
            <a:endParaRPr lang="zh-CN" altLang="en-US" dirty="0"/>
          </a:p>
        </p:txBody>
      </p:sp>
      <p:sp>
        <p:nvSpPr>
          <p:cNvPr id="3" name="Line 155">
            <a:extLst>
              <a:ext uri="{FF2B5EF4-FFF2-40B4-BE49-F238E27FC236}">
                <a16:creationId xmlns:a16="http://schemas.microsoft.com/office/drawing/2014/main" id="{4C18F1E2-CC4E-8C71-4022-19C16990B14C}"/>
              </a:ext>
            </a:extLst>
          </p:cNvPr>
          <p:cNvSpPr>
            <a:spLocks noChangeShapeType="1"/>
          </p:cNvSpPr>
          <p:nvPr/>
        </p:nvSpPr>
        <p:spPr bwMode="auto">
          <a:xfrm flipV="1">
            <a:off x="3705815" y="2982247"/>
            <a:ext cx="1732370" cy="18145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4" name="Group 206">
            <a:extLst>
              <a:ext uri="{FF2B5EF4-FFF2-40B4-BE49-F238E27FC236}">
                <a16:creationId xmlns:a16="http://schemas.microsoft.com/office/drawing/2014/main" id="{B48ADB22-F3D4-053C-08EB-62AA75D3D2D1}"/>
              </a:ext>
            </a:extLst>
          </p:cNvPr>
          <p:cNvGrpSpPr>
            <a:grpSpLocks/>
          </p:cNvGrpSpPr>
          <p:nvPr/>
        </p:nvGrpSpPr>
        <p:grpSpPr bwMode="auto">
          <a:xfrm>
            <a:off x="5243380" y="2770359"/>
            <a:ext cx="1157263" cy="714104"/>
            <a:chOff x="912" y="768"/>
            <a:chExt cx="2400" cy="1584"/>
          </a:xfrm>
          <a:solidFill>
            <a:schemeClr val="bg2"/>
          </a:solidFill>
          <a:effectLst>
            <a:outerShdw blurRad="50800" dist="38100" dir="2700000" algn="tl" rotWithShape="0">
              <a:prstClr val="black">
                <a:alpha val="40000"/>
              </a:prstClr>
            </a:outerShdw>
          </a:effectLst>
        </p:grpSpPr>
        <p:sp>
          <p:nvSpPr>
            <p:cNvPr id="5" name="Oval 207">
              <a:extLst>
                <a:ext uri="{FF2B5EF4-FFF2-40B4-BE49-F238E27FC236}">
                  <a16:creationId xmlns:a16="http://schemas.microsoft.com/office/drawing/2014/main" id="{E7A36D97-B1C1-DD34-A96B-27DCB189245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 name="Oval 208">
              <a:extLst>
                <a:ext uri="{FF2B5EF4-FFF2-40B4-BE49-F238E27FC236}">
                  <a16:creationId xmlns:a16="http://schemas.microsoft.com/office/drawing/2014/main" id="{88BA768B-934A-D104-FE97-A298CF986590}"/>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Oval 209">
              <a:extLst>
                <a:ext uri="{FF2B5EF4-FFF2-40B4-BE49-F238E27FC236}">
                  <a16:creationId xmlns:a16="http://schemas.microsoft.com/office/drawing/2014/main" id="{5E432B62-77D6-0EAF-5FC6-393C744AD22A}"/>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 name="Oval 210">
              <a:extLst>
                <a:ext uri="{FF2B5EF4-FFF2-40B4-BE49-F238E27FC236}">
                  <a16:creationId xmlns:a16="http://schemas.microsoft.com/office/drawing/2014/main" id="{56CC1E02-AFA3-FD80-D18A-FB2220254CD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 name="Oval 211">
              <a:extLst>
                <a:ext uri="{FF2B5EF4-FFF2-40B4-BE49-F238E27FC236}">
                  <a16:creationId xmlns:a16="http://schemas.microsoft.com/office/drawing/2014/main" id="{34162DE1-1E03-51FC-A17E-6A52DEB951C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Oval 212">
              <a:extLst>
                <a:ext uri="{FF2B5EF4-FFF2-40B4-BE49-F238E27FC236}">
                  <a16:creationId xmlns:a16="http://schemas.microsoft.com/office/drawing/2014/main" id="{49637663-01BE-387E-876F-9CB060BC847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Oval 213">
              <a:extLst>
                <a:ext uri="{FF2B5EF4-FFF2-40B4-BE49-F238E27FC236}">
                  <a16:creationId xmlns:a16="http://schemas.microsoft.com/office/drawing/2014/main" id="{5C117F7D-2427-31E1-99B6-A4F5BB8EF79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214">
              <a:extLst>
                <a:ext uri="{FF2B5EF4-FFF2-40B4-BE49-F238E27FC236}">
                  <a16:creationId xmlns:a16="http://schemas.microsoft.com/office/drawing/2014/main" id="{4F8C2AEC-F97F-647F-DE36-10EDCF113FB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5" name="Oval 215">
              <a:extLst>
                <a:ext uri="{FF2B5EF4-FFF2-40B4-BE49-F238E27FC236}">
                  <a16:creationId xmlns:a16="http://schemas.microsoft.com/office/drawing/2014/main" id="{03348136-42DD-5092-1400-574D3FD6E57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6" name="Group 216">
              <a:extLst>
                <a:ext uri="{FF2B5EF4-FFF2-40B4-BE49-F238E27FC236}">
                  <a16:creationId xmlns:a16="http://schemas.microsoft.com/office/drawing/2014/main" id="{D6D4EB4D-C71F-41E2-C9EE-2832CED7FE7C}"/>
                </a:ext>
              </a:extLst>
            </p:cNvPr>
            <p:cNvGrpSpPr>
              <a:grpSpLocks/>
            </p:cNvGrpSpPr>
            <p:nvPr/>
          </p:nvGrpSpPr>
          <p:grpSpPr bwMode="auto">
            <a:xfrm>
              <a:off x="912" y="768"/>
              <a:ext cx="2386" cy="1553"/>
              <a:chOff x="912" y="768"/>
              <a:chExt cx="2386" cy="1553"/>
            </a:xfrm>
            <a:grpFill/>
          </p:grpSpPr>
          <p:sp>
            <p:nvSpPr>
              <p:cNvPr id="17" name="Oval 217">
                <a:extLst>
                  <a:ext uri="{FF2B5EF4-FFF2-40B4-BE49-F238E27FC236}">
                    <a16:creationId xmlns:a16="http://schemas.microsoft.com/office/drawing/2014/main" id="{36ABEEE3-7D60-6708-0138-4A7F161FFCCC}"/>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8" name="Oval 218">
                <a:extLst>
                  <a:ext uri="{FF2B5EF4-FFF2-40B4-BE49-F238E27FC236}">
                    <a16:creationId xmlns:a16="http://schemas.microsoft.com/office/drawing/2014/main" id="{1C864DC4-4E7F-E75B-BCD8-4DE5F4188A59}"/>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 name="Oval 219">
                <a:extLst>
                  <a:ext uri="{FF2B5EF4-FFF2-40B4-BE49-F238E27FC236}">
                    <a16:creationId xmlns:a16="http://schemas.microsoft.com/office/drawing/2014/main" id="{6DF607AB-0E93-29CB-99C3-CC247A292EC5}"/>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 name="Oval 220">
                <a:extLst>
                  <a:ext uri="{FF2B5EF4-FFF2-40B4-BE49-F238E27FC236}">
                    <a16:creationId xmlns:a16="http://schemas.microsoft.com/office/drawing/2014/main" id="{00F5F373-23A9-2800-E61A-CB3B5576C5D5}"/>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 name="Oval 221">
                <a:extLst>
                  <a:ext uri="{FF2B5EF4-FFF2-40B4-BE49-F238E27FC236}">
                    <a16:creationId xmlns:a16="http://schemas.microsoft.com/office/drawing/2014/main" id="{3E3AAD03-DDD1-1BC8-FA35-0C7625AD937E}"/>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 name="Oval 222">
                <a:extLst>
                  <a:ext uri="{FF2B5EF4-FFF2-40B4-BE49-F238E27FC236}">
                    <a16:creationId xmlns:a16="http://schemas.microsoft.com/office/drawing/2014/main" id="{F921A229-906F-2E93-8230-C7A151B4984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 name="Oval 223">
                <a:extLst>
                  <a:ext uri="{FF2B5EF4-FFF2-40B4-BE49-F238E27FC236}">
                    <a16:creationId xmlns:a16="http://schemas.microsoft.com/office/drawing/2014/main" id="{F15C1981-E949-1B99-91DA-D5F49EDB76B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 name="Oval 224">
                <a:extLst>
                  <a:ext uri="{FF2B5EF4-FFF2-40B4-BE49-F238E27FC236}">
                    <a16:creationId xmlns:a16="http://schemas.microsoft.com/office/drawing/2014/main" id="{C0AD020C-8212-A312-D7EF-12222EC05BC5}"/>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 name="Oval 225">
                <a:extLst>
                  <a:ext uri="{FF2B5EF4-FFF2-40B4-BE49-F238E27FC236}">
                    <a16:creationId xmlns:a16="http://schemas.microsoft.com/office/drawing/2014/main" id="{C0AE5282-8991-5DC6-144C-F981214F833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7" name="Text Box 175">
            <a:extLst>
              <a:ext uri="{FF2B5EF4-FFF2-40B4-BE49-F238E27FC236}">
                <a16:creationId xmlns:a16="http://schemas.microsoft.com/office/drawing/2014/main" id="{B353FB37-97AC-1F7C-1BB3-7D0B7C2C3787}"/>
              </a:ext>
            </a:extLst>
          </p:cNvPr>
          <p:cNvSpPr txBox="1">
            <a:spLocks noChangeArrowheads="1"/>
          </p:cNvSpPr>
          <p:nvPr/>
        </p:nvSpPr>
        <p:spPr bwMode="auto">
          <a:xfrm>
            <a:off x="5552068" y="312947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50" name="任意多边形: 形状 49">
            <a:extLst>
              <a:ext uri="{FF2B5EF4-FFF2-40B4-BE49-F238E27FC236}">
                <a16:creationId xmlns:a16="http://schemas.microsoft.com/office/drawing/2014/main" id="{62B7A8A0-5C2F-A914-21E6-A66577337C61}"/>
              </a:ext>
            </a:extLst>
          </p:cNvPr>
          <p:cNvSpPr>
            <a:spLocks noChangeArrowheads="1"/>
          </p:cNvSpPr>
          <p:nvPr/>
        </p:nvSpPr>
        <p:spPr bwMode="auto">
          <a:xfrm>
            <a:off x="1911487" y="2973411"/>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 name="Text Box 173">
            <a:extLst>
              <a:ext uri="{FF2B5EF4-FFF2-40B4-BE49-F238E27FC236}">
                <a16:creationId xmlns:a16="http://schemas.microsoft.com/office/drawing/2014/main" id="{513A538C-AAB7-CCD9-FB01-4ED369D23628}"/>
              </a:ext>
            </a:extLst>
          </p:cNvPr>
          <p:cNvSpPr txBox="1">
            <a:spLocks noChangeArrowheads="1"/>
          </p:cNvSpPr>
          <p:nvPr/>
        </p:nvSpPr>
        <p:spPr bwMode="auto">
          <a:xfrm>
            <a:off x="2544671" y="4035299"/>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54" name="云形 53">
            <a:extLst>
              <a:ext uri="{FF2B5EF4-FFF2-40B4-BE49-F238E27FC236}">
                <a16:creationId xmlns:a16="http://schemas.microsoft.com/office/drawing/2014/main" id="{D9818E91-3D52-B35B-F267-A488D1C6DFA6}"/>
              </a:ext>
            </a:extLst>
          </p:cNvPr>
          <p:cNvSpPr/>
          <p:nvPr/>
        </p:nvSpPr>
        <p:spPr>
          <a:xfrm>
            <a:off x="6003360" y="3039140"/>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sp>
        <p:nvSpPr>
          <p:cNvPr id="56" name="Text Box 173">
            <a:extLst>
              <a:ext uri="{FF2B5EF4-FFF2-40B4-BE49-F238E27FC236}">
                <a16:creationId xmlns:a16="http://schemas.microsoft.com/office/drawing/2014/main" id="{0D40B8E1-EECE-C158-3FC2-2678985577AB}"/>
              </a:ext>
            </a:extLst>
          </p:cNvPr>
          <p:cNvSpPr txBox="1">
            <a:spLocks noChangeArrowheads="1"/>
          </p:cNvSpPr>
          <p:nvPr/>
        </p:nvSpPr>
        <p:spPr bwMode="auto">
          <a:xfrm>
            <a:off x="2912101" y="418245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7" name="Text Box 173">
            <a:extLst>
              <a:ext uri="{FF2B5EF4-FFF2-40B4-BE49-F238E27FC236}">
                <a16:creationId xmlns:a16="http://schemas.microsoft.com/office/drawing/2014/main" id="{2E76D123-1003-372D-DD8F-01CEA32DA218}"/>
              </a:ext>
            </a:extLst>
          </p:cNvPr>
          <p:cNvSpPr txBox="1">
            <a:spLocks noChangeArrowheads="1"/>
          </p:cNvSpPr>
          <p:nvPr/>
        </p:nvSpPr>
        <p:spPr bwMode="auto">
          <a:xfrm>
            <a:off x="3256504" y="282753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8" name="Text Box 173">
            <a:extLst>
              <a:ext uri="{FF2B5EF4-FFF2-40B4-BE49-F238E27FC236}">
                <a16:creationId xmlns:a16="http://schemas.microsoft.com/office/drawing/2014/main" id="{6E5B2AC9-B1D1-D2D8-29EC-243F779D9299}"/>
              </a:ext>
            </a:extLst>
          </p:cNvPr>
          <p:cNvSpPr txBox="1">
            <a:spLocks noChangeArrowheads="1"/>
          </p:cNvSpPr>
          <p:nvPr/>
        </p:nvSpPr>
        <p:spPr bwMode="auto">
          <a:xfrm>
            <a:off x="1849063" y="360001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59" name="Text Box 173">
            <a:extLst>
              <a:ext uri="{FF2B5EF4-FFF2-40B4-BE49-F238E27FC236}">
                <a16:creationId xmlns:a16="http://schemas.microsoft.com/office/drawing/2014/main" id="{D8660EE5-6BFE-484B-0235-26ADD65E432A}"/>
              </a:ext>
            </a:extLst>
          </p:cNvPr>
          <p:cNvSpPr txBox="1">
            <a:spLocks noChangeArrowheads="1"/>
          </p:cNvSpPr>
          <p:nvPr/>
        </p:nvSpPr>
        <p:spPr bwMode="auto">
          <a:xfrm>
            <a:off x="2442342" y="289159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81" name="Line 154">
            <a:extLst>
              <a:ext uri="{FF2B5EF4-FFF2-40B4-BE49-F238E27FC236}">
                <a16:creationId xmlns:a16="http://schemas.microsoft.com/office/drawing/2014/main" id="{DCB66E13-9837-FFB2-8B95-1C81FEC2484B}"/>
              </a:ext>
            </a:extLst>
          </p:cNvPr>
          <p:cNvSpPr>
            <a:spLocks noChangeShapeType="1"/>
          </p:cNvSpPr>
          <p:nvPr/>
        </p:nvSpPr>
        <p:spPr bwMode="auto">
          <a:xfrm flipV="1">
            <a:off x="2181702" y="3279921"/>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82" name="Line 154">
            <a:extLst>
              <a:ext uri="{FF2B5EF4-FFF2-40B4-BE49-F238E27FC236}">
                <a16:creationId xmlns:a16="http://schemas.microsoft.com/office/drawing/2014/main" id="{1C2746E4-5AA4-9EF0-74E7-2033B0F3953B}"/>
              </a:ext>
            </a:extLst>
          </p:cNvPr>
          <p:cNvSpPr>
            <a:spLocks noChangeShapeType="1"/>
          </p:cNvSpPr>
          <p:nvPr/>
        </p:nvSpPr>
        <p:spPr bwMode="auto">
          <a:xfrm>
            <a:off x="2311901" y="3983463"/>
            <a:ext cx="704254" cy="863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83" name="Line 154">
            <a:extLst>
              <a:ext uri="{FF2B5EF4-FFF2-40B4-BE49-F238E27FC236}">
                <a16:creationId xmlns:a16="http://schemas.microsoft.com/office/drawing/2014/main" id="{AF34721C-495D-D988-1D45-52C3C2F6A76E}"/>
              </a:ext>
            </a:extLst>
          </p:cNvPr>
          <p:cNvSpPr>
            <a:spLocks noChangeShapeType="1"/>
          </p:cNvSpPr>
          <p:nvPr/>
        </p:nvSpPr>
        <p:spPr bwMode="auto">
          <a:xfrm flipV="1">
            <a:off x="2627671" y="3163705"/>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84" name="Picture 52">
            <a:extLst>
              <a:ext uri="{FF2B5EF4-FFF2-40B4-BE49-F238E27FC236}">
                <a16:creationId xmlns:a16="http://schemas.microsoft.com/office/drawing/2014/main" id="{32E8576D-9346-B5FE-B19F-5F12C201E45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89898" y="314972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6" name="Picture 46">
            <a:extLst>
              <a:ext uri="{FF2B5EF4-FFF2-40B4-BE49-F238E27FC236}">
                <a16:creationId xmlns:a16="http://schemas.microsoft.com/office/drawing/2014/main" id="{906E3461-D119-E5B1-BE7D-C1913428C2B2}"/>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32230" y="286232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7" name="Text Box 173">
            <a:extLst>
              <a:ext uri="{FF2B5EF4-FFF2-40B4-BE49-F238E27FC236}">
                <a16:creationId xmlns:a16="http://schemas.microsoft.com/office/drawing/2014/main" id="{EFF78654-85CE-0E77-F855-59A69FFFC555}"/>
              </a:ext>
            </a:extLst>
          </p:cNvPr>
          <p:cNvSpPr txBox="1">
            <a:spLocks noChangeArrowheads="1"/>
          </p:cNvSpPr>
          <p:nvPr/>
        </p:nvSpPr>
        <p:spPr bwMode="auto">
          <a:xfrm>
            <a:off x="5198630" y="257175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55" name="Picture 52">
            <a:extLst>
              <a:ext uri="{FF2B5EF4-FFF2-40B4-BE49-F238E27FC236}">
                <a16:creationId xmlns:a16="http://schemas.microsoft.com/office/drawing/2014/main" id="{2DC7A4AD-77C6-7602-8517-827041817714}"/>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49646" y="397940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3" name="Picture 52">
            <a:extLst>
              <a:ext uri="{FF2B5EF4-FFF2-40B4-BE49-F238E27FC236}">
                <a16:creationId xmlns:a16="http://schemas.microsoft.com/office/drawing/2014/main" id="{167CE67A-9568-26C9-6C72-5ED286905252}"/>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31402" y="306392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5" name="Picture 52">
            <a:extLst>
              <a:ext uri="{FF2B5EF4-FFF2-40B4-BE49-F238E27FC236}">
                <a16:creationId xmlns:a16="http://schemas.microsoft.com/office/drawing/2014/main" id="{9F05E02A-1B3A-4B96-B51F-05A60402FA7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9669" y="385480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5" name="箭头: 下 94">
            <a:extLst>
              <a:ext uri="{FF2B5EF4-FFF2-40B4-BE49-F238E27FC236}">
                <a16:creationId xmlns:a16="http://schemas.microsoft.com/office/drawing/2014/main" id="{3790E83D-80F0-3574-82EC-A7BA46B9251D}"/>
              </a:ext>
            </a:extLst>
          </p:cNvPr>
          <p:cNvSpPr/>
          <p:nvPr/>
        </p:nvSpPr>
        <p:spPr>
          <a:xfrm rot="5037174">
            <a:off x="4438595" y="2673814"/>
            <a:ext cx="150014" cy="560961"/>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6" name="Text Box 173">
            <a:extLst>
              <a:ext uri="{FF2B5EF4-FFF2-40B4-BE49-F238E27FC236}">
                <a16:creationId xmlns:a16="http://schemas.microsoft.com/office/drawing/2014/main" id="{CE3A6145-3045-664E-EC58-0A7F0C3B3F38}"/>
              </a:ext>
            </a:extLst>
          </p:cNvPr>
          <p:cNvSpPr txBox="1">
            <a:spLocks noChangeArrowheads="1"/>
          </p:cNvSpPr>
          <p:nvPr/>
        </p:nvSpPr>
        <p:spPr bwMode="auto">
          <a:xfrm rot="21201464">
            <a:off x="4213560" y="2638881"/>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eBGP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12" name="Text Box 173">
            <a:extLst>
              <a:ext uri="{FF2B5EF4-FFF2-40B4-BE49-F238E27FC236}">
                <a16:creationId xmlns:a16="http://schemas.microsoft.com/office/drawing/2014/main" id="{A950BC91-1854-BC43-CA92-72EC48AD6228}"/>
              </a:ext>
            </a:extLst>
          </p:cNvPr>
          <p:cNvSpPr txBox="1">
            <a:spLocks noChangeArrowheads="1"/>
          </p:cNvSpPr>
          <p:nvPr/>
        </p:nvSpPr>
        <p:spPr bwMode="auto">
          <a:xfrm>
            <a:off x="2878681" y="3292678"/>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3" name="直接箭头连接符 112">
            <a:extLst>
              <a:ext uri="{FF2B5EF4-FFF2-40B4-BE49-F238E27FC236}">
                <a16:creationId xmlns:a16="http://schemas.microsoft.com/office/drawing/2014/main" id="{24D0A8B8-57D8-D320-7384-724505792074}"/>
              </a:ext>
            </a:extLst>
          </p:cNvPr>
          <p:cNvCxnSpPr>
            <a:cxnSpLocks/>
          </p:cNvCxnSpPr>
          <p:nvPr/>
        </p:nvCxnSpPr>
        <p:spPr>
          <a:xfrm flipH="1">
            <a:off x="2791374" y="3295728"/>
            <a:ext cx="612069" cy="36758"/>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4" name="Text Box 173">
            <a:extLst>
              <a:ext uri="{FF2B5EF4-FFF2-40B4-BE49-F238E27FC236}">
                <a16:creationId xmlns:a16="http://schemas.microsoft.com/office/drawing/2014/main" id="{1538CD34-72EA-868A-3D12-AF8F08EB96A7}"/>
              </a:ext>
            </a:extLst>
          </p:cNvPr>
          <p:cNvSpPr txBox="1">
            <a:spLocks noChangeArrowheads="1"/>
          </p:cNvSpPr>
          <p:nvPr/>
        </p:nvSpPr>
        <p:spPr bwMode="auto">
          <a:xfrm rot="18317965">
            <a:off x="3205046" y="3584824"/>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5" name="直接箭头连接符 114">
            <a:extLst>
              <a:ext uri="{FF2B5EF4-FFF2-40B4-BE49-F238E27FC236}">
                <a16:creationId xmlns:a16="http://schemas.microsoft.com/office/drawing/2014/main" id="{56564E67-F38B-E0E2-304C-9049061E2A02}"/>
              </a:ext>
            </a:extLst>
          </p:cNvPr>
          <p:cNvCxnSpPr>
            <a:cxnSpLocks/>
          </p:cNvCxnSpPr>
          <p:nvPr/>
        </p:nvCxnSpPr>
        <p:spPr>
          <a:xfrm flipH="1">
            <a:off x="3218284" y="3452458"/>
            <a:ext cx="306225" cy="424552"/>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6" name="Text Box 173">
            <a:extLst>
              <a:ext uri="{FF2B5EF4-FFF2-40B4-BE49-F238E27FC236}">
                <a16:creationId xmlns:a16="http://schemas.microsoft.com/office/drawing/2014/main" id="{B47A9BA5-FBE0-A882-B2B9-B3E903529495}"/>
              </a:ext>
            </a:extLst>
          </p:cNvPr>
          <p:cNvSpPr txBox="1">
            <a:spLocks noChangeArrowheads="1"/>
          </p:cNvSpPr>
          <p:nvPr/>
        </p:nvSpPr>
        <p:spPr bwMode="auto">
          <a:xfrm rot="20579599">
            <a:off x="2479349" y="3673222"/>
            <a:ext cx="5565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iBGP</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cxnSp>
        <p:nvCxnSpPr>
          <p:cNvPr id="117" name="直接箭头连接符 116">
            <a:extLst>
              <a:ext uri="{FF2B5EF4-FFF2-40B4-BE49-F238E27FC236}">
                <a16:creationId xmlns:a16="http://schemas.microsoft.com/office/drawing/2014/main" id="{039F1E30-1C03-2FBD-12F6-CD129E7292ED}"/>
              </a:ext>
            </a:extLst>
          </p:cNvPr>
          <p:cNvCxnSpPr>
            <a:cxnSpLocks/>
          </p:cNvCxnSpPr>
          <p:nvPr/>
        </p:nvCxnSpPr>
        <p:spPr>
          <a:xfrm flipH="1">
            <a:off x="2413009" y="3436031"/>
            <a:ext cx="1024839" cy="405742"/>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99053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1241601" y="3122318"/>
            <a:ext cx="6660798"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8" name="左箭头 7"/>
          <p:cNvSpPr/>
          <p:nvPr/>
        </p:nvSpPr>
        <p:spPr>
          <a:xfrm rot="2560597">
            <a:off x="5542504" y="2178632"/>
            <a:ext cx="345677" cy="165457"/>
          </a:xfrm>
          <a:prstGeom prst="leftArrow">
            <a:avLst/>
          </a:prstGeom>
          <a:solidFill>
            <a:srgbClr val="000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AACB3BA6-5279-7206-4C0D-930FE823E7BE}"/>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15320085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right)">
                                      <p:cBhvr>
                                        <p:cTn id="7" dur="1000"/>
                                        <p:tgtEl>
                                          <p:spTgt spid="8"/>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8" grpId="0" animBg="1"/>
    </p:bldLst>
  </p:timing>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416460"/>
            <a:ext cx="7662674"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19785818">
            <a:off x="3131269" y="2152137"/>
            <a:ext cx="345677" cy="165457"/>
          </a:xfrm>
          <a:prstGeom prst="lef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E5AB4279-02A7-EAF7-8A62-91B84021AC13}"/>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9076616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a:off x="4302002" y="2614169"/>
            <a:ext cx="345677" cy="165457"/>
          </a:xfrm>
          <a:prstGeom prst="leftArrow">
            <a:avLst/>
          </a:prstGeom>
          <a:solidFill>
            <a:srgbClr val="CC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2A8E5CCC-BC0B-7D18-E199-DF7D5E5C91AC}"/>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862552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14767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a:p>
            <a:r>
              <a:rPr lang="zh-CN" altLang="zh-CN" dirty="0"/>
              <a:t>路由器</a:t>
            </a:r>
            <a:r>
              <a:rPr lang="en-US" altLang="zh-CN" dirty="0"/>
              <a:t> R1a </a:t>
            </a:r>
            <a:r>
              <a:rPr lang="zh-CN" altLang="zh-CN" dirty="0"/>
              <a:t>的转发表中，沿</a:t>
            </a:r>
            <a:r>
              <a:rPr lang="en-US" altLang="zh-CN" dirty="0"/>
              <a:t> BGP </a:t>
            </a:r>
            <a:r>
              <a:rPr lang="zh-CN" altLang="zh-CN" dirty="0"/>
              <a:t>路由</a:t>
            </a:r>
            <a:r>
              <a:rPr lang="en-US" altLang="zh-CN" dirty="0"/>
              <a:t> 1 </a:t>
            </a:r>
            <a:r>
              <a:rPr lang="zh-CN" altLang="zh-CN" dirty="0"/>
              <a:t>到达前缀</a:t>
            </a:r>
            <a:r>
              <a:rPr lang="en-US" altLang="zh-CN" dirty="0"/>
              <a:t> X </a:t>
            </a:r>
            <a:r>
              <a:rPr lang="zh-CN" altLang="zh-CN" dirty="0"/>
              <a:t>的项目是：</a:t>
            </a:r>
            <a:endParaRPr lang="en-US" altLang="zh-CN" dirty="0"/>
          </a:p>
          <a:p>
            <a:r>
              <a:rPr lang="en-US" altLang="zh-CN" dirty="0"/>
              <a:t>           </a:t>
            </a:r>
            <a:r>
              <a:rPr lang="zh-CN" altLang="zh-CN" dirty="0"/>
              <a:t>（匹配前缀</a:t>
            </a:r>
            <a:r>
              <a:rPr lang="en-US" altLang="zh-CN" dirty="0"/>
              <a:t>X</a:t>
            </a:r>
            <a:r>
              <a:rPr lang="zh-CN" altLang="zh-CN" dirty="0"/>
              <a:t>，下一跳路由器</a:t>
            </a:r>
            <a:r>
              <a:rPr lang="en-US" altLang="zh-CN" dirty="0"/>
              <a:t> R1b</a:t>
            </a:r>
            <a:r>
              <a:rPr lang="zh-CN" altLang="zh-CN" dirty="0"/>
              <a:t>）或（匹配前缀</a:t>
            </a:r>
            <a:r>
              <a:rPr lang="en-US" altLang="zh-CN" dirty="0"/>
              <a:t>X</a:t>
            </a:r>
            <a:r>
              <a:rPr lang="zh-CN" altLang="zh-CN" dirty="0"/>
              <a:t>，转发接口</a:t>
            </a:r>
            <a:r>
              <a:rPr lang="en-US" altLang="zh-CN" dirty="0"/>
              <a:t> 0</a:t>
            </a:r>
            <a:r>
              <a:rPr lang="zh-CN" altLang="zh-CN" dirty="0"/>
              <a:t>）</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21414281">
            <a:off x="2214874" y="2288219"/>
            <a:ext cx="235520" cy="94651"/>
          </a:xfrm>
          <a:prstGeom prst="leftArrow">
            <a:avLst/>
          </a:prstGeom>
          <a:solidFill>
            <a:srgbClr val="99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C8F2FC2F-66C1-14A1-39A2-EA5180DCA439}"/>
              </a:ext>
            </a:extLst>
          </p:cNvPr>
          <p:cNvSpPr>
            <a:spLocks noGrp="1"/>
          </p:cNvSpPr>
          <p:nvPr>
            <p:ph type="title"/>
          </p:nvPr>
        </p:nvSpPr>
        <p:spPr>
          <a:xfrm>
            <a:off x="486000" y="550723"/>
            <a:ext cx="8172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621919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0954CEB-2D20-9374-1189-AE10B6F99C6E}"/>
              </a:ext>
            </a:extLst>
          </p:cNvPr>
          <p:cNvSpPr>
            <a:spLocks noGrp="1"/>
          </p:cNvSpPr>
          <p:nvPr>
            <p:ph type="title"/>
          </p:nvPr>
        </p:nvSpPr>
        <p:spPr>
          <a:xfrm>
            <a:off x="486000" y="550723"/>
            <a:ext cx="8172000" cy="338554"/>
          </a:xfrm>
        </p:spPr>
        <p:txBody>
          <a:bodyPr/>
          <a:lstStyle/>
          <a:p>
            <a:r>
              <a:rPr lang="en-US" altLang="zh-CN" dirty="0"/>
              <a:t>3. </a:t>
            </a:r>
            <a:r>
              <a:rPr lang="zh-CN" altLang="en-US" dirty="0"/>
              <a:t>三种不同的自治系统 </a:t>
            </a:r>
            <a:r>
              <a:rPr lang="en-US" altLang="zh-CN" dirty="0"/>
              <a:t>AS</a:t>
            </a:r>
            <a:endParaRPr lang="zh-CN" altLang="en-US" dirty="0"/>
          </a:p>
        </p:txBody>
      </p:sp>
      <p:sp>
        <p:nvSpPr>
          <p:cNvPr id="7" name="内容占位符 6">
            <a:extLst>
              <a:ext uri="{FF2B5EF4-FFF2-40B4-BE49-F238E27FC236}">
                <a16:creationId xmlns:a16="http://schemas.microsoft.com/office/drawing/2014/main" id="{EB14CAF2-835D-87DD-A898-A491BC1CC335}"/>
              </a:ext>
            </a:extLst>
          </p:cNvPr>
          <p:cNvSpPr>
            <a:spLocks noGrp="1"/>
          </p:cNvSpPr>
          <p:nvPr>
            <p:ph sz="quarter" idx="11"/>
          </p:nvPr>
        </p:nvSpPr>
        <p:spPr>
          <a:xfrm>
            <a:off x="486000" y="900000"/>
            <a:ext cx="8172000" cy="3703500"/>
          </a:xfrm>
        </p:spPr>
        <p:txBody>
          <a:bodyPr/>
          <a:lstStyle/>
          <a:p>
            <a:r>
              <a:rPr lang="zh-CN" altLang="en-US" dirty="0"/>
              <a:t>末梢 </a:t>
            </a:r>
            <a:r>
              <a:rPr lang="en-US" altLang="zh-CN" dirty="0"/>
              <a:t>AS</a:t>
            </a:r>
            <a:r>
              <a:rPr lang="zh-CN" altLang="en-US" dirty="0"/>
              <a:t>：不会把来自其他 </a:t>
            </a:r>
            <a:r>
              <a:rPr lang="en-US" altLang="zh-CN" dirty="0"/>
              <a:t>AS </a:t>
            </a:r>
            <a:r>
              <a:rPr lang="zh-CN" altLang="en-US" dirty="0"/>
              <a:t>的分组再转发到另一个 </a:t>
            </a:r>
            <a:r>
              <a:rPr lang="en-US" altLang="zh-CN" dirty="0"/>
              <a:t>AS</a:t>
            </a:r>
            <a:r>
              <a:rPr lang="zh-CN" altLang="en-US" dirty="0"/>
              <a:t>。必须向所连接的 </a:t>
            </a:r>
            <a:r>
              <a:rPr lang="en-US" altLang="zh-CN" dirty="0"/>
              <a:t>AS </a:t>
            </a:r>
            <a:r>
              <a:rPr lang="zh-CN" altLang="en-US" dirty="0"/>
              <a:t>付费</a:t>
            </a:r>
            <a:endParaRPr lang="en-US" altLang="zh-CN" dirty="0"/>
          </a:p>
          <a:p>
            <a:r>
              <a:rPr lang="zh-CN" altLang="en-US" dirty="0"/>
              <a:t>多归属 </a:t>
            </a:r>
            <a:r>
              <a:rPr lang="en-US" altLang="zh-CN" dirty="0"/>
              <a:t>AS (multihomed AS)</a:t>
            </a:r>
            <a:r>
              <a:rPr lang="zh-CN" altLang="en-US" dirty="0"/>
              <a:t>：同时连接到两个或两个以上的 </a:t>
            </a:r>
            <a:r>
              <a:rPr lang="en-US" altLang="zh-CN" dirty="0"/>
              <a:t>AS</a:t>
            </a:r>
            <a:r>
              <a:rPr lang="zh-CN" altLang="en-US" dirty="0"/>
              <a:t>。增加连接的可靠性</a:t>
            </a:r>
            <a:endParaRPr lang="en-US" altLang="zh-CN" dirty="0"/>
          </a:p>
          <a:p>
            <a:r>
              <a:rPr lang="zh-CN" altLang="en-US" dirty="0"/>
              <a:t>穿越 </a:t>
            </a:r>
            <a:r>
              <a:rPr lang="en-US" altLang="zh-CN" dirty="0"/>
              <a:t>AS</a:t>
            </a:r>
            <a:r>
              <a:rPr lang="zh-CN" altLang="en-US" dirty="0"/>
              <a:t>：为其他 </a:t>
            </a:r>
            <a:r>
              <a:rPr lang="en-US" altLang="zh-CN" dirty="0"/>
              <a:t>AS </a:t>
            </a:r>
            <a:r>
              <a:rPr lang="zh-CN" altLang="en-US" dirty="0"/>
              <a:t>有偿转发分组</a:t>
            </a:r>
            <a:endParaRPr lang="en-US" altLang="zh-CN" dirty="0"/>
          </a:p>
          <a:p>
            <a:r>
              <a:rPr lang="zh-CN" altLang="en-US" dirty="0"/>
              <a:t>对等 </a:t>
            </a:r>
            <a:r>
              <a:rPr lang="en-US" altLang="zh-CN" dirty="0"/>
              <a:t>AS</a:t>
            </a:r>
            <a:r>
              <a:rPr lang="zh-CN" altLang="en-US" dirty="0"/>
              <a:t>：经过事先协商的两个 </a:t>
            </a:r>
            <a:r>
              <a:rPr lang="en-US" altLang="zh-CN" dirty="0"/>
              <a:t>AS</a:t>
            </a:r>
            <a:r>
              <a:rPr lang="zh-CN" altLang="en-US" dirty="0"/>
              <a:t>，彼此之间的发送或接收分组都不收费</a:t>
            </a:r>
            <a:endParaRPr lang="en-US" altLang="zh-CN" dirty="0"/>
          </a:p>
          <a:p>
            <a:endParaRPr lang="zh-CN" altLang="en-US" dirty="0"/>
          </a:p>
        </p:txBody>
      </p:sp>
      <p:grpSp>
        <p:nvGrpSpPr>
          <p:cNvPr id="200" name="组合 199"/>
          <p:cNvGrpSpPr/>
          <p:nvPr/>
        </p:nvGrpSpPr>
        <p:grpSpPr>
          <a:xfrm>
            <a:off x="1125758" y="2634309"/>
            <a:ext cx="6892484" cy="1955886"/>
            <a:chOff x="1115438" y="1127761"/>
            <a:chExt cx="6892484" cy="1955886"/>
          </a:xfrm>
        </p:grpSpPr>
        <p:sp>
          <p:nvSpPr>
            <p:cNvPr id="5" name="Line 154"/>
            <p:cNvSpPr>
              <a:spLocks noChangeShapeType="1"/>
            </p:cNvSpPr>
            <p:nvPr/>
          </p:nvSpPr>
          <p:spPr bwMode="auto">
            <a:xfrm flipV="1">
              <a:off x="4635971" y="1495571"/>
              <a:ext cx="1237138" cy="543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 name="Line 154"/>
            <p:cNvSpPr>
              <a:spLocks noChangeShapeType="1"/>
            </p:cNvSpPr>
            <p:nvPr/>
          </p:nvSpPr>
          <p:spPr bwMode="auto">
            <a:xfrm>
              <a:off x="2553503" y="1440011"/>
              <a:ext cx="1106535" cy="10991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3" name="Line 154"/>
            <p:cNvSpPr>
              <a:spLocks noChangeShapeType="1"/>
            </p:cNvSpPr>
            <p:nvPr/>
          </p:nvSpPr>
          <p:spPr bwMode="auto">
            <a:xfrm>
              <a:off x="2682671" y="2316896"/>
              <a:ext cx="1367740"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4" name="Line 154"/>
            <p:cNvSpPr>
              <a:spLocks noChangeShapeType="1"/>
            </p:cNvSpPr>
            <p:nvPr/>
          </p:nvSpPr>
          <p:spPr bwMode="auto">
            <a:xfrm flipV="1">
              <a:off x="2292298" y="2316896"/>
              <a:ext cx="66019" cy="49279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p:cNvSpPr>
              <a:spLocks noChangeShapeType="1"/>
            </p:cNvSpPr>
            <p:nvPr/>
          </p:nvSpPr>
          <p:spPr bwMode="auto">
            <a:xfrm flipH="1" flipV="1">
              <a:off x="5937693" y="2372456"/>
              <a:ext cx="66019" cy="4372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p:cNvSpPr>
              <a:spLocks noChangeShapeType="1"/>
            </p:cNvSpPr>
            <p:nvPr/>
          </p:nvSpPr>
          <p:spPr bwMode="auto">
            <a:xfrm flipV="1">
              <a:off x="4310182" y="2316896"/>
              <a:ext cx="1432325"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7" name="Line 155"/>
            <p:cNvSpPr>
              <a:spLocks noChangeShapeType="1"/>
            </p:cNvSpPr>
            <p:nvPr/>
          </p:nvSpPr>
          <p:spPr bwMode="auto">
            <a:xfrm>
              <a:off x="4716342" y="1607131"/>
              <a:ext cx="961581" cy="4911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8" name="Line 154"/>
            <p:cNvSpPr>
              <a:spLocks noChangeShapeType="1"/>
            </p:cNvSpPr>
            <p:nvPr/>
          </p:nvSpPr>
          <p:spPr bwMode="auto">
            <a:xfrm flipV="1">
              <a:off x="2553503" y="1604276"/>
              <a:ext cx="1040516" cy="49400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40" name="Group 206"/>
            <p:cNvGrpSpPr>
              <a:grpSpLocks/>
            </p:cNvGrpSpPr>
            <p:nvPr/>
          </p:nvGrpSpPr>
          <p:grpSpPr bwMode="auto">
            <a:xfrm>
              <a:off x="3203646" y="1274539"/>
              <a:ext cx="1758114" cy="60270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 name="Group 216"/>
              <p:cNvGrpSpPr>
                <a:grpSpLocks/>
              </p:cNvGrpSpPr>
              <p:nvPr/>
            </p:nvGrpSpPr>
            <p:grpSpPr bwMode="auto">
              <a:xfrm>
                <a:off x="912" y="768"/>
                <a:ext cx="2386" cy="1553"/>
                <a:chOff x="912" y="768"/>
                <a:chExt cx="2386" cy="1553"/>
              </a:xfrm>
              <a:grpFill/>
            </p:grpSpPr>
            <p:sp>
              <p:nvSpPr>
                <p:cNvPr id="5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0" name="Text Box 173"/>
            <p:cNvSpPr txBox="1">
              <a:spLocks noChangeArrowheads="1"/>
            </p:cNvSpPr>
            <p:nvPr/>
          </p:nvSpPr>
          <p:spPr bwMode="auto">
            <a:xfrm>
              <a:off x="3912602" y="136076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cxnSp>
          <p:nvCxnSpPr>
            <p:cNvPr id="83" name="直接箭头连接符 329"/>
            <p:cNvCxnSpPr>
              <a:cxnSpLocks noChangeShapeType="1"/>
            </p:cNvCxnSpPr>
            <p:nvPr/>
          </p:nvCxnSpPr>
          <p:spPr bwMode="auto">
            <a:xfrm flipV="1">
              <a:off x="2928089" y="2093802"/>
              <a:ext cx="2419739" cy="7247"/>
            </a:xfrm>
            <a:prstGeom prst="straightConnector1">
              <a:avLst/>
            </a:prstGeom>
            <a:noFill/>
            <a:ln w="9525" algn="ctr">
              <a:solidFill>
                <a:schemeClr val="tx1"/>
              </a:solidFill>
              <a:round/>
              <a:headEnd type="triangle" w="sm" len="lg"/>
              <a:tailEnd type="triangle" w="sm" len="lg"/>
            </a:ln>
            <a:extLst>
              <a:ext uri="{909E8E84-426E-40DD-AFC4-6F175D3DCCD1}">
                <a14:hiddenFill xmlns:a14="http://schemas.microsoft.com/office/drawing/2010/main">
                  <a:noFill/>
                </a14:hiddenFill>
              </a:ext>
            </a:extLst>
          </p:spPr>
        </p:cxnSp>
        <p:grpSp>
          <p:nvGrpSpPr>
            <p:cNvPr id="84" name="Group 206"/>
            <p:cNvGrpSpPr>
              <a:grpSpLocks/>
            </p:cNvGrpSpPr>
            <p:nvPr/>
          </p:nvGrpSpPr>
          <p:grpSpPr bwMode="auto">
            <a:xfrm>
              <a:off x="1901925" y="2700986"/>
              <a:ext cx="650143"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8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94" name="Group 216"/>
              <p:cNvGrpSpPr>
                <a:grpSpLocks/>
              </p:cNvGrpSpPr>
              <p:nvPr/>
            </p:nvGrpSpPr>
            <p:grpSpPr bwMode="auto">
              <a:xfrm>
                <a:off x="912" y="768"/>
                <a:ext cx="2386" cy="1553"/>
                <a:chOff x="912" y="768"/>
                <a:chExt cx="2386" cy="1553"/>
              </a:xfrm>
              <a:grpFill/>
            </p:grpSpPr>
            <p:sp>
              <p:nvSpPr>
                <p:cNvPr id="9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4" name="Group 206"/>
            <p:cNvGrpSpPr>
              <a:grpSpLocks/>
            </p:cNvGrpSpPr>
            <p:nvPr/>
          </p:nvGrpSpPr>
          <p:grpSpPr bwMode="auto">
            <a:xfrm>
              <a:off x="3789206" y="2700986"/>
              <a:ext cx="651579"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0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14" name="Group 216"/>
              <p:cNvGrpSpPr>
                <a:grpSpLocks/>
              </p:cNvGrpSpPr>
              <p:nvPr/>
            </p:nvGrpSpPr>
            <p:grpSpPr bwMode="auto">
              <a:xfrm>
                <a:off x="912" y="768"/>
                <a:ext cx="2386" cy="1553"/>
                <a:chOff x="912" y="768"/>
                <a:chExt cx="2386" cy="1553"/>
              </a:xfrm>
              <a:grpFill/>
            </p:grpSpPr>
            <p:sp>
              <p:nvSpPr>
                <p:cNvPr id="11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24" name="Group 206"/>
            <p:cNvGrpSpPr>
              <a:grpSpLocks/>
            </p:cNvGrpSpPr>
            <p:nvPr/>
          </p:nvGrpSpPr>
          <p:grpSpPr bwMode="auto">
            <a:xfrm>
              <a:off x="5677923" y="2700986"/>
              <a:ext cx="650144"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2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34" name="Group 216"/>
              <p:cNvGrpSpPr>
                <a:grpSpLocks/>
              </p:cNvGrpSpPr>
              <p:nvPr/>
            </p:nvGrpSpPr>
            <p:grpSpPr bwMode="auto">
              <a:xfrm>
                <a:off x="912" y="768"/>
                <a:ext cx="2386" cy="1553"/>
                <a:chOff x="912" y="768"/>
                <a:chExt cx="2386" cy="1553"/>
              </a:xfrm>
              <a:grpFill/>
            </p:grpSpPr>
            <p:sp>
              <p:nvSpPr>
                <p:cNvPr id="13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144" name="Text Box 174"/>
            <p:cNvSpPr txBox="1">
              <a:spLocks noChangeArrowheads="1"/>
            </p:cNvSpPr>
            <p:nvPr/>
          </p:nvSpPr>
          <p:spPr bwMode="auto">
            <a:xfrm>
              <a:off x="5792738" y="2695445"/>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6</a:t>
              </a:r>
            </a:p>
          </p:txBody>
        </p:sp>
        <p:sp>
          <p:nvSpPr>
            <p:cNvPr id="145" name="Text Box 174"/>
            <p:cNvSpPr txBox="1">
              <a:spLocks noChangeArrowheads="1"/>
            </p:cNvSpPr>
            <p:nvPr/>
          </p:nvSpPr>
          <p:spPr bwMode="auto">
            <a:xfrm>
              <a:off x="3885921" y="2711857"/>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146" name="Text Box 174"/>
            <p:cNvSpPr txBox="1">
              <a:spLocks noChangeArrowheads="1"/>
            </p:cNvSpPr>
            <p:nvPr/>
          </p:nvSpPr>
          <p:spPr bwMode="auto">
            <a:xfrm>
              <a:off x="1992899" y="271633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sp>
          <p:nvSpPr>
            <p:cNvPr id="147" name="Text Box 173"/>
            <p:cNvSpPr txBox="1">
              <a:spLocks noChangeArrowheads="1"/>
            </p:cNvSpPr>
            <p:nvPr/>
          </p:nvSpPr>
          <p:spPr bwMode="auto">
            <a:xfrm>
              <a:off x="3247748" y="1929035"/>
              <a:ext cx="1846074" cy="294793"/>
            </a:xfrm>
            <a:prstGeom prst="rect">
              <a:avLst/>
            </a:prstGeom>
            <a:solidFill>
              <a:srgbClr val="C3E3F9"/>
            </a:solid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solidFill>
                    <a:srgbClr val="C00000"/>
                  </a:solidFill>
                  <a:latin typeface="微软雅黑" panose="020B0503020204020204" pitchFamily="34" charset="-122"/>
                  <a:ea typeface="微软雅黑" panose="020B0503020204020204" pitchFamily="34" charset="-122"/>
                </a:rPr>
                <a:t>对等 </a:t>
              </a:r>
              <a:r>
                <a:rPr lang="en-US" altLang="zh-CN" sz="1200" b="1" dirty="0">
                  <a:solidFill>
                    <a:srgbClr val="C00000"/>
                  </a:solidFill>
                  <a:latin typeface="微软雅黑" panose="020B0503020204020204" pitchFamily="34" charset="-122"/>
                  <a:ea typeface="微软雅黑" panose="020B0503020204020204" pitchFamily="34" charset="-122"/>
                </a:rPr>
                <a:t>AS</a:t>
              </a:r>
              <a:r>
                <a:rPr lang="en-US" altLang="zh-CN" sz="1200" b="1" dirty="0">
                  <a:latin typeface="微软雅黑" panose="020B0503020204020204" pitchFamily="34" charset="-122"/>
                  <a:ea typeface="微软雅黑" panose="020B0503020204020204" pitchFamily="34" charset="-122"/>
                </a:rPr>
                <a:t> (Peering AS)</a:t>
              </a:r>
            </a:p>
          </p:txBody>
        </p:sp>
        <p:sp>
          <p:nvSpPr>
            <p:cNvPr id="148" name="Text Box 173"/>
            <p:cNvSpPr txBox="1">
              <a:spLocks noChangeArrowheads="1"/>
            </p:cNvSpPr>
            <p:nvPr/>
          </p:nvSpPr>
          <p:spPr bwMode="auto">
            <a:xfrm>
              <a:off x="4352328" y="1127761"/>
              <a:ext cx="2124745"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0000FF"/>
                  </a:solidFill>
                  <a:latin typeface="微软雅黑" panose="020B0503020204020204" pitchFamily="34" charset="-122"/>
                  <a:ea typeface="微软雅黑" panose="020B0503020204020204" pitchFamily="34" charset="-122"/>
                </a:rPr>
                <a:t>穿越 </a:t>
              </a:r>
              <a:r>
                <a:rPr lang="en-US" altLang="zh-CN" sz="1400" b="1" dirty="0">
                  <a:solidFill>
                    <a:srgbClr val="0000FF"/>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(transit AS)</a:t>
              </a:r>
            </a:p>
          </p:txBody>
        </p:sp>
        <p:sp>
          <p:nvSpPr>
            <p:cNvPr id="149" name="Text Box 173"/>
            <p:cNvSpPr txBox="1">
              <a:spLocks noChangeArrowheads="1"/>
            </p:cNvSpPr>
            <p:nvPr/>
          </p:nvSpPr>
          <p:spPr bwMode="auto">
            <a:xfrm>
              <a:off x="1115438" y="2740845"/>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0" name="Text Box 173"/>
            <p:cNvSpPr txBox="1">
              <a:spLocks noChangeArrowheads="1"/>
            </p:cNvSpPr>
            <p:nvPr/>
          </p:nvSpPr>
          <p:spPr bwMode="auto">
            <a:xfrm>
              <a:off x="6274779" y="2727557"/>
              <a:ext cx="1733143"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(stub AS)</a:t>
              </a:r>
            </a:p>
          </p:txBody>
        </p:sp>
        <p:sp>
          <p:nvSpPr>
            <p:cNvPr id="151" name="Text Box 173"/>
            <p:cNvSpPr txBox="1">
              <a:spLocks noChangeArrowheads="1"/>
            </p:cNvSpPr>
            <p:nvPr/>
          </p:nvSpPr>
          <p:spPr bwMode="auto">
            <a:xfrm>
              <a:off x="3016030" y="2775870"/>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2" name="Text Box 173"/>
            <p:cNvSpPr txBox="1">
              <a:spLocks noChangeArrowheads="1"/>
            </p:cNvSpPr>
            <p:nvPr/>
          </p:nvSpPr>
          <p:spPr bwMode="auto">
            <a:xfrm>
              <a:off x="4367590" y="2772248"/>
              <a:ext cx="111514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660033"/>
                  </a:solidFill>
                  <a:latin typeface="微软雅黑" panose="020B0503020204020204" pitchFamily="34" charset="-122"/>
                  <a:ea typeface="微软雅黑" panose="020B0503020204020204" pitchFamily="34" charset="-122"/>
                </a:rPr>
                <a:t>多归属 </a:t>
              </a:r>
              <a:r>
                <a:rPr lang="en-US" altLang="zh-CN" sz="1400" b="1" dirty="0">
                  <a:solidFill>
                    <a:srgbClr val="660033"/>
                  </a:solidFill>
                  <a:latin typeface="微软雅黑" panose="020B0503020204020204" pitchFamily="34" charset="-122"/>
                  <a:ea typeface="微软雅黑" panose="020B0503020204020204" pitchFamily="34" charset="-122"/>
                </a:rPr>
                <a:t>AS</a:t>
              </a:r>
            </a:p>
          </p:txBody>
        </p:sp>
        <p:sp>
          <p:nvSpPr>
            <p:cNvPr id="153" name="Text Box 173"/>
            <p:cNvSpPr txBox="1">
              <a:spLocks noChangeArrowheads="1"/>
            </p:cNvSpPr>
            <p:nvPr/>
          </p:nvSpPr>
          <p:spPr bwMode="auto">
            <a:xfrm>
              <a:off x="3497535" y="2258638"/>
              <a:ext cx="1174443" cy="294793"/>
            </a:xfrm>
            <a:prstGeom prst="rect">
              <a:avLst/>
            </a:prstGeom>
            <a:no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latin typeface="微软雅黑" panose="020B0503020204020204" pitchFamily="34" charset="-122"/>
                  <a:ea typeface="微软雅黑" panose="020B0503020204020204" pitchFamily="34" charset="-122"/>
                </a:rPr>
                <a:t>（免费）</a:t>
              </a:r>
              <a:endParaRPr lang="en-US" altLang="zh-CN" sz="1200" b="1" dirty="0">
                <a:latin typeface="微软雅黑" panose="020B0503020204020204" pitchFamily="34" charset="-122"/>
                <a:ea typeface="微软雅黑" panose="020B0503020204020204" pitchFamily="34" charset="-122"/>
              </a:endParaRPr>
            </a:p>
          </p:txBody>
        </p:sp>
        <p:sp>
          <p:nvSpPr>
            <p:cNvPr id="155" name="文本框 154"/>
            <p:cNvSpPr txBox="1"/>
            <p:nvPr/>
          </p:nvSpPr>
          <p:spPr>
            <a:xfrm>
              <a:off x="2283944" y="243623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6" name="文本框 155"/>
            <p:cNvSpPr txBox="1"/>
            <p:nvPr/>
          </p:nvSpPr>
          <p:spPr>
            <a:xfrm>
              <a:off x="3219464" y="2344823"/>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7" name="文本框 156"/>
            <p:cNvSpPr txBox="1"/>
            <p:nvPr/>
          </p:nvSpPr>
          <p:spPr>
            <a:xfrm>
              <a:off x="4795729" y="235405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8" name="文本框 157"/>
            <p:cNvSpPr txBox="1"/>
            <p:nvPr/>
          </p:nvSpPr>
          <p:spPr>
            <a:xfrm>
              <a:off x="5690560" y="2480222"/>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9" name="文本框 158"/>
            <p:cNvSpPr txBox="1"/>
            <p:nvPr/>
          </p:nvSpPr>
          <p:spPr>
            <a:xfrm>
              <a:off x="2765103" y="1666394"/>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60" name="文本框 159"/>
            <p:cNvSpPr txBox="1"/>
            <p:nvPr/>
          </p:nvSpPr>
          <p:spPr>
            <a:xfrm>
              <a:off x="5132852" y="1638686"/>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cxnSp>
          <p:nvCxnSpPr>
            <p:cNvPr id="163" name="直接箭头连接符 162"/>
            <p:cNvCxnSpPr/>
            <p:nvPr/>
          </p:nvCxnSpPr>
          <p:spPr>
            <a:xfrm flipV="1">
              <a:off x="2228440" y="2463591"/>
              <a:ext cx="40164" cy="19684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4" name="直接箭头连接符 163"/>
            <p:cNvCxnSpPr/>
            <p:nvPr/>
          </p:nvCxnSpPr>
          <p:spPr>
            <a:xfrm flipH="1" flipV="1">
              <a:off x="6032702" y="2494276"/>
              <a:ext cx="44868" cy="18021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7" name="直接箭头连接符 166"/>
            <p:cNvCxnSpPr/>
            <p:nvPr/>
          </p:nvCxnSpPr>
          <p:spPr>
            <a:xfrm flipV="1">
              <a:off x="3039429" y="1844484"/>
              <a:ext cx="179045" cy="9887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9" name="直接箭头连接符 168"/>
            <p:cNvCxnSpPr/>
            <p:nvPr/>
          </p:nvCxnSpPr>
          <p:spPr>
            <a:xfrm flipH="1" flipV="1">
              <a:off x="5078788" y="1862922"/>
              <a:ext cx="186144" cy="10249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1" name="直接箭头连接符 170"/>
            <p:cNvCxnSpPr/>
            <p:nvPr/>
          </p:nvCxnSpPr>
          <p:spPr>
            <a:xfrm flipV="1">
              <a:off x="4909018" y="2617688"/>
              <a:ext cx="202049" cy="8329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2" name="直接箭头连接符 171"/>
            <p:cNvCxnSpPr/>
            <p:nvPr/>
          </p:nvCxnSpPr>
          <p:spPr>
            <a:xfrm flipH="1" flipV="1">
              <a:off x="3219614" y="2607983"/>
              <a:ext cx="205944" cy="8996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193" name="任意多边形 192"/>
            <p:cNvSpPr/>
            <p:nvPr/>
          </p:nvSpPr>
          <p:spPr>
            <a:xfrm>
              <a:off x="3385758" y="1618819"/>
              <a:ext cx="1469785" cy="94945"/>
            </a:xfrm>
            <a:custGeom>
              <a:avLst/>
              <a:gdLst>
                <a:gd name="connsiteX0" fmla="*/ 0 w 1727200"/>
                <a:gd name="connsiteY0" fmla="*/ 123185 h 123185"/>
                <a:gd name="connsiteX1" fmla="*/ 369454 w 1727200"/>
                <a:gd name="connsiteY1" fmla="*/ 40057 h 123185"/>
                <a:gd name="connsiteX2" fmla="*/ 683491 w 1727200"/>
                <a:gd name="connsiteY2" fmla="*/ 3112 h 123185"/>
                <a:gd name="connsiteX3" fmla="*/ 942109 w 1727200"/>
                <a:gd name="connsiteY3" fmla="*/ 3112 h 123185"/>
                <a:gd name="connsiteX4" fmla="*/ 1191491 w 1727200"/>
                <a:gd name="connsiteY4" fmla="*/ 12348 h 123185"/>
                <a:gd name="connsiteX5" fmla="*/ 1514763 w 1727200"/>
                <a:gd name="connsiteY5" fmla="*/ 30821 h 123185"/>
                <a:gd name="connsiteX6" fmla="*/ 1727200 w 1727200"/>
                <a:gd name="connsiteY6" fmla="*/ 86239 h 12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27200" h="123185">
                  <a:moveTo>
                    <a:pt x="0" y="123185"/>
                  </a:moveTo>
                  <a:cubicBezTo>
                    <a:pt x="127769" y="91627"/>
                    <a:pt x="255539" y="60069"/>
                    <a:pt x="369454" y="40057"/>
                  </a:cubicBezTo>
                  <a:cubicBezTo>
                    <a:pt x="483369" y="20045"/>
                    <a:pt x="588049" y="9269"/>
                    <a:pt x="683491" y="3112"/>
                  </a:cubicBezTo>
                  <a:cubicBezTo>
                    <a:pt x="778934" y="-3046"/>
                    <a:pt x="857442" y="1573"/>
                    <a:pt x="942109" y="3112"/>
                  </a:cubicBezTo>
                  <a:cubicBezTo>
                    <a:pt x="1026776" y="4651"/>
                    <a:pt x="1191491" y="12348"/>
                    <a:pt x="1191491" y="12348"/>
                  </a:cubicBezTo>
                  <a:cubicBezTo>
                    <a:pt x="1286933" y="16966"/>
                    <a:pt x="1425478" y="18506"/>
                    <a:pt x="1514763" y="30821"/>
                  </a:cubicBezTo>
                  <a:cubicBezTo>
                    <a:pt x="1604048" y="43136"/>
                    <a:pt x="1665624" y="64687"/>
                    <a:pt x="1727200" y="86239"/>
                  </a:cubicBezTo>
                </a:path>
              </a:pathLst>
            </a:custGeom>
            <a:ln w="19050">
              <a:solidFill>
                <a:srgbClr val="0000FF"/>
              </a:solidFill>
              <a:prstDash val="sysDot"/>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600"/>
            </a:p>
          </p:txBody>
        </p:sp>
        <p:cxnSp>
          <p:nvCxnSpPr>
            <p:cNvPr id="194" name="直接箭头连接符 193"/>
            <p:cNvCxnSpPr/>
            <p:nvPr/>
          </p:nvCxnSpPr>
          <p:spPr>
            <a:xfrm flipH="1">
              <a:off x="3661833" y="2284406"/>
              <a:ext cx="844924" cy="0"/>
            </a:xfrm>
            <a:prstGeom prst="straightConnector1">
              <a:avLst/>
            </a:prstGeom>
            <a:ln w="38100">
              <a:solidFill>
                <a:srgbClr val="000066"/>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Line 154"/>
            <p:cNvSpPr>
              <a:spLocks noChangeShapeType="1"/>
            </p:cNvSpPr>
            <p:nvPr/>
          </p:nvSpPr>
          <p:spPr bwMode="auto">
            <a:xfrm flipV="1">
              <a:off x="2682671" y="2206984"/>
              <a:ext cx="2864649"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0" name="Group 206"/>
            <p:cNvGrpSpPr>
              <a:grpSpLocks/>
            </p:cNvGrpSpPr>
            <p:nvPr/>
          </p:nvGrpSpPr>
          <p:grpSpPr bwMode="auto">
            <a:xfrm>
              <a:off x="1771322" y="1934014"/>
              <a:ext cx="1107971" cy="508496"/>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0" name="Group 216"/>
              <p:cNvGrpSpPr>
                <a:grpSpLocks/>
              </p:cNvGrpSpPr>
              <p:nvPr/>
            </p:nvGrpSpPr>
            <p:grpSpPr bwMode="auto">
              <a:xfrm>
                <a:off x="912" y="768"/>
                <a:ext cx="2386" cy="1553"/>
                <a:chOff x="912" y="768"/>
                <a:chExt cx="2386" cy="1553"/>
              </a:xfrm>
              <a:grpFill/>
            </p:grpSpPr>
            <p:sp>
              <p:nvSpPr>
                <p:cNvPr id="3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60" name="Group 206"/>
            <p:cNvGrpSpPr>
              <a:grpSpLocks/>
            </p:cNvGrpSpPr>
            <p:nvPr/>
          </p:nvGrpSpPr>
          <p:grpSpPr bwMode="auto">
            <a:xfrm>
              <a:off x="5287550" y="1934014"/>
              <a:ext cx="1235703" cy="54714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6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70" name="Group 216"/>
              <p:cNvGrpSpPr>
                <a:grpSpLocks/>
              </p:cNvGrpSpPr>
              <p:nvPr/>
            </p:nvGrpSpPr>
            <p:grpSpPr bwMode="auto">
              <a:xfrm>
                <a:off x="912" y="768"/>
                <a:ext cx="2386" cy="1553"/>
                <a:chOff x="912" y="768"/>
                <a:chExt cx="2386" cy="1553"/>
              </a:xfrm>
              <a:grpFill/>
            </p:grpSpPr>
            <p:sp>
              <p:nvSpPr>
                <p:cNvPr id="7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1" name="Text Box 174"/>
            <p:cNvSpPr txBox="1">
              <a:spLocks noChangeArrowheads="1"/>
            </p:cNvSpPr>
            <p:nvPr/>
          </p:nvSpPr>
          <p:spPr bwMode="auto">
            <a:xfrm>
              <a:off x="5742507"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3</a:t>
              </a:r>
            </a:p>
          </p:txBody>
        </p:sp>
        <p:sp>
          <p:nvSpPr>
            <p:cNvPr id="82" name="Text Box 175"/>
            <p:cNvSpPr txBox="1">
              <a:spLocks noChangeArrowheads="1"/>
            </p:cNvSpPr>
            <p:nvPr/>
          </p:nvSpPr>
          <p:spPr bwMode="auto">
            <a:xfrm>
              <a:off x="2097111"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2</a:t>
              </a:r>
            </a:p>
          </p:txBody>
        </p:sp>
      </p:grpSp>
    </p:spTree>
    <p:extLst>
      <p:ext uri="{BB962C8B-B14F-4D97-AF65-F5344CB8AC3E}">
        <p14:creationId xmlns:p14="http://schemas.microsoft.com/office/powerpoint/2010/main" val="28789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C09EE14-8E0A-DE6D-8F4F-074498AD3996}"/>
              </a:ext>
            </a:extLst>
          </p:cNvPr>
          <p:cNvSpPr>
            <a:spLocks noGrp="1"/>
          </p:cNvSpPr>
          <p:nvPr>
            <p:ph type="title"/>
          </p:nvPr>
        </p:nvSpPr>
        <p:spPr>
          <a:xfrm>
            <a:off x="486000" y="550723"/>
            <a:ext cx="8172000" cy="338554"/>
          </a:xfrm>
        </p:spPr>
        <p:txBody>
          <a:bodyPr/>
          <a:lstStyle/>
          <a:p>
            <a:r>
              <a:rPr lang="en-US" altLang="zh-CN" dirty="0"/>
              <a:t>BGP </a:t>
            </a:r>
            <a:r>
              <a:rPr lang="zh-CN" altLang="en-US" dirty="0"/>
              <a:t>路由如何避免兜圈子？</a:t>
            </a:r>
          </a:p>
        </p:txBody>
      </p:sp>
      <p:sp>
        <p:nvSpPr>
          <p:cNvPr id="6" name="内容占位符 5">
            <a:extLst>
              <a:ext uri="{FF2B5EF4-FFF2-40B4-BE49-F238E27FC236}">
                <a16:creationId xmlns:a16="http://schemas.microsoft.com/office/drawing/2014/main" id="{0B663AC2-E8AD-3772-4308-BC36D205FCF9}"/>
              </a:ext>
            </a:extLst>
          </p:cNvPr>
          <p:cNvSpPr>
            <a:spLocks noGrp="1"/>
          </p:cNvSpPr>
          <p:nvPr>
            <p:ph sz="quarter" idx="11"/>
          </p:nvPr>
        </p:nvSpPr>
        <p:spPr>
          <a:xfrm>
            <a:off x="486000" y="900000"/>
            <a:ext cx="8172000" cy="3703500"/>
          </a:xfrm>
        </p:spPr>
        <p:txBody>
          <a:bodyPr/>
          <a:lstStyle/>
          <a:p>
            <a:r>
              <a:rPr lang="en-US" altLang="zh-CN" dirty="0"/>
              <a:t>AS3 </a:t>
            </a:r>
            <a:r>
              <a:rPr lang="zh-CN" altLang="en-US" dirty="0"/>
              <a:t>检查收到的 </a:t>
            </a:r>
            <a:r>
              <a:rPr lang="en-US" altLang="zh-CN" dirty="0"/>
              <a:t>BGP </a:t>
            </a:r>
            <a:r>
              <a:rPr lang="zh-CN" altLang="en-US" dirty="0"/>
              <a:t>路由的 </a:t>
            </a:r>
            <a:r>
              <a:rPr lang="en-US" altLang="zh-CN" dirty="0"/>
              <a:t>AS-PATH </a:t>
            </a:r>
            <a:r>
              <a:rPr lang="zh-CN" altLang="en-US" dirty="0"/>
              <a:t>中已经有了自己，立即删除掉这条路由，从而避免兜圈子路由的出现</a:t>
            </a:r>
            <a:endParaRPr lang="en-US" altLang="zh-CN" dirty="0"/>
          </a:p>
          <a:p>
            <a:endParaRPr lang="zh-CN" altLang="en-US" dirty="0"/>
          </a:p>
        </p:txBody>
      </p:sp>
      <p:grpSp>
        <p:nvGrpSpPr>
          <p:cNvPr id="68" name="组合 67"/>
          <p:cNvGrpSpPr/>
          <p:nvPr/>
        </p:nvGrpSpPr>
        <p:grpSpPr>
          <a:xfrm>
            <a:off x="2829539" y="1677230"/>
            <a:ext cx="3789242" cy="2378424"/>
            <a:chOff x="1772261" y="1277177"/>
            <a:chExt cx="3789242" cy="2378424"/>
          </a:xfrm>
        </p:grpSpPr>
        <p:sp>
          <p:nvSpPr>
            <p:cNvPr id="9" name="Line 22"/>
            <p:cNvSpPr>
              <a:spLocks noChangeShapeType="1"/>
            </p:cNvSpPr>
            <p:nvPr/>
          </p:nvSpPr>
          <p:spPr bwMode="auto">
            <a:xfrm flipV="1">
              <a:off x="2014741" y="2515534"/>
              <a:ext cx="3342358" cy="0"/>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23"/>
            <p:cNvSpPr>
              <a:spLocks noChangeShapeType="1"/>
            </p:cNvSpPr>
            <p:nvPr/>
          </p:nvSpPr>
          <p:spPr bwMode="auto">
            <a:xfrm flipH="1" flipV="1">
              <a:off x="3500590" y="1447411"/>
              <a:ext cx="1671782" cy="931893"/>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24"/>
            <p:cNvSpPr>
              <a:spLocks noChangeShapeType="1"/>
            </p:cNvSpPr>
            <p:nvPr/>
          </p:nvSpPr>
          <p:spPr bwMode="auto">
            <a:xfrm flipV="1">
              <a:off x="2087426" y="1476735"/>
              <a:ext cx="1413164" cy="925152"/>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26"/>
            <p:cNvSpPr>
              <a:spLocks noChangeShapeType="1"/>
            </p:cNvSpPr>
            <p:nvPr/>
          </p:nvSpPr>
          <p:spPr bwMode="auto">
            <a:xfrm flipH="1">
              <a:off x="5292444" y="2505478"/>
              <a:ext cx="0" cy="994675"/>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Oval 28"/>
            <p:cNvSpPr>
              <a:spLocks noChangeArrowheads="1"/>
            </p:cNvSpPr>
            <p:nvPr/>
          </p:nvSpPr>
          <p:spPr bwMode="auto">
            <a:xfrm>
              <a:off x="3294877" y="1277177"/>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a:latin typeface="微软雅黑" pitchFamily="34" charset="-122"/>
                  <a:ea typeface="微软雅黑" pitchFamily="34" charset="-122"/>
                </a:rPr>
                <a:t>AS</a:t>
              </a:r>
              <a:r>
                <a:rPr kumimoji="1" lang="en-US" altLang="zh-CN" sz="1400" b="1" baseline="-25000">
                  <a:latin typeface="微软雅黑" pitchFamily="34" charset="-122"/>
                  <a:ea typeface="微软雅黑" pitchFamily="34" charset="-122"/>
                </a:rPr>
                <a:t>1</a:t>
              </a:r>
            </a:p>
          </p:txBody>
        </p:sp>
        <p:sp>
          <p:nvSpPr>
            <p:cNvPr id="16" name="Oval 29"/>
            <p:cNvSpPr>
              <a:spLocks noChangeArrowheads="1"/>
            </p:cNvSpPr>
            <p:nvPr/>
          </p:nvSpPr>
          <p:spPr bwMode="auto">
            <a:xfrm>
              <a:off x="5020612" y="2243495"/>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3</a:t>
              </a:r>
            </a:p>
          </p:txBody>
        </p:sp>
        <p:sp>
          <p:nvSpPr>
            <p:cNvPr id="17" name="Oval 30"/>
            <p:cNvSpPr>
              <a:spLocks noChangeArrowheads="1"/>
            </p:cNvSpPr>
            <p:nvPr/>
          </p:nvSpPr>
          <p:spPr bwMode="auto">
            <a:xfrm>
              <a:off x="1772261" y="2243496"/>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2</a:t>
              </a:r>
            </a:p>
          </p:txBody>
        </p:sp>
        <p:sp>
          <p:nvSpPr>
            <p:cNvPr id="19" name="Oval 32"/>
            <p:cNvSpPr>
              <a:spLocks noChangeArrowheads="1"/>
            </p:cNvSpPr>
            <p:nvPr/>
          </p:nvSpPr>
          <p:spPr bwMode="auto">
            <a:xfrm>
              <a:off x="5031462" y="3072172"/>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6</a:t>
              </a:r>
            </a:p>
          </p:txBody>
        </p:sp>
        <p:grpSp>
          <p:nvGrpSpPr>
            <p:cNvPr id="52" name="组合 51"/>
            <p:cNvGrpSpPr/>
            <p:nvPr/>
          </p:nvGrpSpPr>
          <p:grpSpPr>
            <a:xfrm>
              <a:off x="4722965" y="3347824"/>
              <a:ext cx="504825" cy="307777"/>
              <a:chOff x="5609648" y="3394004"/>
              <a:chExt cx="504825" cy="307777"/>
            </a:xfrm>
          </p:grpSpPr>
          <p:grpSp>
            <p:nvGrpSpPr>
              <p:cNvPr id="23" name="组合 22"/>
              <p:cNvGrpSpPr/>
              <p:nvPr/>
            </p:nvGrpSpPr>
            <p:grpSpPr>
              <a:xfrm>
                <a:off x="5609648" y="3395474"/>
                <a:ext cx="504825" cy="286663"/>
                <a:chOff x="8075758" y="2677682"/>
                <a:chExt cx="504825" cy="360363"/>
              </a:xfrm>
            </p:grpSpPr>
            <p:sp>
              <p:nvSpPr>
                <p:cNvPr id="25"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grpSp>
              <p:nvGrpSpPr>
                <p:cNvPr id="35" name="Group 257"/>
                <p:cNvGrpSpPr>
                  <a:grpSpLocks/>
                </p:cNvGrpSpPr>
                <p:nvPr/>
              </p:nvGrpSpPr>
              <p:grpSpPr bwMode="auto">
                <a:xfrm>
                  <a:off x="8076929" y="2678904"/>
                  <a:ext cx="501311" cy="355477"/>
                  <a:chOff x="3063" y="302"/>
                  <a:chExt cx="856" cy="582"/>
                </a:xfrm>
                <a:solidFill>
                  <a:schemeClr val="bg1"/>
                </a:solidFill>
              </p:grpSpPr>
              <p:sp>
                <p:nvSpPr>
                  <p:cNvPr id="3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grpSp>
          </p:grpSp>
          <p:sp>
            <p:nvSpPr>
              <p:cNvPr id="24" name="Text Box 173"/>
              <p:cNvSpPr txBox="1">
                <a:spLocks noChangeArrowheads="1"/>
              </p:cNvSpPr>
              <p:nvPr/>
            </p:nvSpPr>
            <p:spPr bwMode="auto">
              <a:xfrm>
                <a:off x="5723276" y="3394004"/>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grpSp>
      <p:grpSp>
        <p:nvGrpSpPr>
          <p:cNvPr id="63" name="组合 62"/>
          <p:cNvGrpSpPr/>
          <p:nvPr/>
        </p:nvGrpSpPr>
        <p:grpSpPr>
          <a:xfrm>
            <a:off x="5277024" y="1931414"/>
            <a:ext cx="1628215" cy="536724"/>
            <a:chOff x="5106429" y="1577541"/>
            <a:chExt cx="1628215" cy="536724"/>
          </a:xfrm>
        </p:grpSpPr>
        <p:cxnSp>
          <p:nvCxnSpPr>
            <p:cNvPr id="53" name="直接箭头连接符 52"/>
            <p:cNvCxnSpPr/>
            <p:nvPr/>
          </p:nvCxnSpPr>
          <p:spPr>
            <a:xfrm flipH="1" flipV="1">
              <a:off x="5106429" y="1746809"/>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5333298" y="1577541"/>
              <a:ext cx="1401346" cy="372025"/>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4" name="组合 63"/>
          <p:cNvGrpSpPr/>
          <p:nvPr/>
        </p:nvGrpSpPr>
        <p:grpSpPr>
          <a:xfrm>
            <a:off x="2036538" y="1934092"/>
            <a:ext cx="2031647" cy="541863"/>
            <a:chOff x="1921359" y="1534039"/>
            <a:chExt cx="2031647" cy="541863"/>
          </a:xfrm>
        </p:grpSpPr>
        <p:cxnSp>
          <p:nvCxnSpPr>
            <p:cNvPr id="58" name="直接箭头连接符 57"/>
            <p:cNvCxnSpPr/>
            <p:nvPr/>
          </p:nvCxnSpPr>
          <p:spPr>
            <a:xfrm flipH="1">
              <a:off x="3346753" y="1708446"/>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9" name="矩形 58"/>
            <p:cNvSpPr/>
            <p:nvPr/>
          </p:nvSpPr>
          <p:spPr>
            <a:xfrm>
              <a:off x="1921359" y="1534039"/>
              <a:ext cx="1824538"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5" name="组合 64"/>
          <p:cNvGrpSpPr/>
          <p:nvPr/>
        </p:nvGrpSpPr>
        <p:grpSpPr>
          <a:xfrm>
            <a:off x="3550725" y="3004956"/>
            <a:ext cx="2247731" cy="400110"/>
            <a:chOff x="3333950" y="2651083"/>
            <a:chExt cx="2247731" cy="400110"/>
          </a:xfrm>
        </p:grpSpPr>
        <p:cxnSp>
          <p:nvCxnSpPr>
            <p:cNvPr id="60" name="直接箭头连接符 59"/>
            <p:cNvCxnSpPr/>
            <p:nvPr/>
          </p:nvCxnSpPr>
          <p:spPr>
            <a:xfrm flipV="1">
              <a:off x="3838224" y="2670542"/>
              <a:ext cx="1085411" cy="274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2" name="矩形 61"/>
            <p:cNvSpPr/>
            <p:nvPr/>
          </p:nvSpPr>
          <p:spPr>
            <a:xfrm>
              <a:off x="3333950" y="2651083"/>
              <a:ext cx="2247731"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2</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sp>
        <p:nvSpPr>
          <p:cNvPr id="67" name="矩形 66"/>
          <p:cNvSpPr/>
          <p:nvPr/>
        </p:nvSpPr>
        <p:spPr>
          <a:xfrm>
            <a:off x="2155313" y="4431150"/>
            <a:ext cx="483337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solidFill>
                  <a:schemeClr val="tx1"/>
                </a:solidFill>
                <a:latin typeface="Montserrat" panose="00000500000000000000" pitchFamily="2" charset="0"/>
                <a:ea typeface="微软雅黑 Light" panose="020B0502040204020203" pitchFamily="34" charset="-122"/>
              </a:rPr>
              <a:t>请记住：在属性 </a:t>
            </a:r>
            <a:r>
              <a:rPr kumimoji="1" lang="en-US" altLang="zh-CN" sz="1400" dirty="0">
                <a:solidFill>
                  <a:schemeClr val="tx1"/>
                </a:solidFill>
                <a:latin typeface="Montserrat" panose="00000500000000000000" pitchFamily="2" charset="0"/>
                <a:ea typeface="微软雅黑 Light" panose="020B0502040204020203" pitchFamily="34" charset="-122"/>
              </a:rPr>
              <a:t>AS-PATH </a:t>
            </a:r>
            <a:r>
              <a:rPr kumimoji="1" lang="zh-CN" altLang="en-US" sz="1400" dirty="0">
                <a:solidFill>
                  <a:schemeClr val="tx1"/>
                </a:solidFill>
                <a:latin typeface="Montserrat" panose="00000500000000000000" pitchFamily="2" charset="0"/>
                <a:ea typeface="微软雅黑 Light" panose="020B0502040204020203" pitchFamily="34" charset="-122"/>
              </a:rPr>
              <a:t>中，不允许出现相同的 </a:t>
            </a:r>
            <a:r>
              <a:rPr kumimoji="1" lang="en-US" altLang="zh-CN" sz="1400" dirty="0">
                <a:solidFill>
                  <a:schemeClr val="tx1"/>
                </a:solidFill>
                <a:latin typeface="Montserrat" panose="00000500000000000000" pitchFamily="2" charset="0"/>
                <a:ea typeface="微软雅黑 Light" panose="020B0502040204020203" pitchFamily="34" charset="-122"/>
              </a:rPr>
              <a:t>AS </a:t>
            </a:r>
            <a:r>
              <a:rPr kumimoji="1" lang="zh-CN" altLang="en-US" sz="1400" dirty="0">
                <a:solidFill>
                  <a:schemeClr val="tx1"/>
                </a:solidFill>
                <a:latin typeface="Montserrat" panose="00000500000000000000" pitchFamily="2" charset="0"/>
                <a:ea typeface="微软雅黑 Light" panose="020B0502040204020203" pitchFamily="34" charset="-122"/>
              </a:rPr>
              <a:t>号</a:t>
            </a:r>
          </a:p>
        </p:txBody>
      </p:sp>
    </p:spTree>
    <p:extLst>
      <p:ext uri="{BB962C8B-B14F-4D97-AF65-F5344CB8AC3E}">
        <p14:creationId xmlns:p14="http://schemas.microsoft.com/office/powerpoint/2010/main" val="3974141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wipe(down)">
                                      <p:cBhvr>
                                        <p:cTn id="7" dur="1000"/>
                                        <p:tgtEl>
                                          <p:spTgt spid="6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2" fill="hold" nodeType="clickEffect">
                                  <p:stCondLst>
                                    <p:cond delay="0"/>
                                  </p:stCondLst>
                                  <p:childTnLst>
                                    <p:set>
                                      <p:cBhvr>
                                        <p:cTn id="11" dur="1" fill="hold">
                                          <p:stCondLst>
                                            <p:cond delay="0"/>
                                          </p:stCondLst>
                                        </p:cTn>
                                        <p:tgtEl>
                                          <p:spTgt spid="64"/>
                                        </p:tgtEl>
                                        <p:attrNameLst>
                                          <p:attrName>style.visibility</p:attrName>
                                        </p:attrNameLst>
                                      </p:cBhvr>
                                      <p:to>
                                        <p:strVal val="visible"/>
                                      </p:to>
                                    </p:set>
                                    <p:animEffect transition="in" filter="wipe(right)">
                                      <p:cBhvr>
                                        <p:cTn id="12" dur="1000"/>
                                        <p:tgtEl>
                                          <p:spTgt spid="6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wipe(up)">
                                      <p:cBhvr>
                                        <p:cTn id="17" dur="1000"/>
                                        <p:tgtEl>
                                          <p:spTgt spid="6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7"/>
                                        </p:tgtEl>
                                        <p:attrNameLst>
                                          <p:attrName>style.visibility</p:attrName>
                                        </p:attrNameLst>
                                      </p:cBhvr>
                                      <p:to>
                                        <p:strVal val="visible"/>
                                      </p:to>
                                    </p:set>
                                    <p:animEffect transition="in" filter="fade">
                                      <p:cBhvr>
                                        <p:cTn id="22" dur="10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animBg="1"/>
    </p:bldLst>
  </p:timing>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909366172"/>
              </p:ext>
            </p:extLst>
          </p:nvPr>
        </p:nvGraphicFramePr>
        <p:xfrm>
          <a:off x="1228436" y="1145306"/>
          <a:ext cx="6862618" cy="32696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标题 4">
            <a:extLst>
              <a:ext uri="{FF2B5EF4-FFF2-40B4-BE49-F238E27FC236}">
                <a16:creationId xmlns:a16="http://schemas.microsoft.com/office/drawing/2014/main" id="{5E216312-D15A-180C-C417-C5E7CD047CA5}"/>
              </a:ext>
            </a:extLst>
          </p:cNvPr>
          <p:cNvSpPr>
            <a:spLocks noGrp="1"/>
          </p:cNvSpPr>
          <p:nvPr>
            <p:ph type="title"/>
          </p:nvPr>
        </p:nvSpPr>
        <p:spPr>
          <a:xfrm>
            <a:off x="486000" y="550723"/>
            <a:ext cx="8172000" cy="338554"/>
          </a:xfrm>
        </p:spPr>
        <p:txBody>
          <a:bodyPr/>
          <a:lstStyle/>
          <a:p>
            <a:r>
              <a:rPr lang="en-US" altLang="zh-CN" dirty="0"/>
              <a:t>4. BGP </a:t>
            </a:r>
            <a:r>
              <a:rPr lang="zh-CN" altLang="en-US" dirty="0"/>
              <a:t>的路由选择</a:t>
            </a:r>
          </a:p>
        </p:txBody>
      </p:sp>
    </p:spTree>
    <p:extLst>
      <p:ext uri="{BB962C8B-B14F-4D97-AF65-F5344CB8AC3E}">
        <p14:creationId xmlns:p14="http://schemas.microsoft.com/office/powerpoint/2010/main" val="4001469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670678" y="4116301"/>
            <a:ext cx="380264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R1d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401" name="Text Box 173"/>
          <p:cNvSpPr txBox="1">
            <a:spLocks noChangeArrowheads="1"/>
          </p:cNvSpPr>
          <p:nvPr/>
        </p:nvSpPr>
        <p:spPr bwMode="auto">
          <a:xfrm>
            <a:off x="877725" y="3014631"/>
            <a:ext cx="35058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100 , IP</a:t>
            </a:r>
            <a:r>
              <a:rPr lang="en-US" altLang="zh-CN" sz="1400" baseline="-25000" dirty="0">
                <a:solidFill>
                  <a:srgbClr val="C00000"/>
                </a:solidFill>
                <a:latin typeface="Montserrat" panose="00000500000000000000" pitchFamily="2" charset="0"/>
                <a:ea typeface="微软雅黑" panose="020B0503020204020204" pitchFamily="34" charset="-122"/>
              </a:rPr>
              <a:t>4a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p:cNvSpPr txBox="1">
            <a:spLocks noChangeArrowheads="1"/>
          </p:cNvSpPr>
          <p:nvPr/>
        </p:nvSpPr>
        <p:spPr bwMode="auto">
          <a:xfrm>
            <a:off x="877725" y="1126614"/>
            <a:ext cx="386035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200, IP</a:t>
            </a:r>
            <a:r>
              <a:rPr lang="en-US" altLang="zh-CN" sz="1400" baseline="-25000" dirty="0">
                <a:solidFill>
                  <a:srgbClr val="C00000"/>
                </a:solidFill>
                <a:latin typeface="Montserrat" panose="00000500000000000000" pitchFamily="2" charset="0"/>
                <a:ea typeface="微软雅黑" panose="020B0503020204020204" pitchFamily="34" charset="-122"/>
              </a:rPr>
              <a:t>2a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770FD601-2E13-CC4C-A114-E13C4CFB90FB}"/>
              </a:ext>
            </a:extLst>
          </p:cNvPr>
          <p:cNvSpPr>
            <a:spLocks noGrp="1"/>
          </p:cNvSpPr>
          <p:nvPr>
            <p:ph type="title"/>
          </p:nvPr>
        </p:nvSpPr>
        <p:spPr>
          <a:xfrm>
            <a:off x="486000" y="550723"/>
            <a:ext cx="8172000" cy="338554"/>
          </a:xfrm>
        </p:spPr>
        <p:txBody>
          <a:bodyPr/>
          <a:lstStyle/>
          <a:p>
            <a:r>
              <a:rPr lang="zh-CN" altLang="en-US" dirty="0"/>
              <a:t>本地偏好 </a:t>
            </a:r>
            <a:r>
              <a:rPr lang="en-US" altLang="zh-CN" dirty="0"/>
              <a:t>(local preference) </a:t>
            </a:r>
            <a:r>
              <a:rPr lang="zh-CN" altLang="en-US" dirty="0"/>
              <a:t>值最高</a:t>
            </a:r>
          </a:p>
        </p:txBody>
      </p:sp>
    </p:spTree>
    <p:extLst>
      <p:ext uri="{BB962C8B-B14F-4D97-AF65-F5344CB8AC3E}">
        <p14:creationId xmlns:p14="http://schemas.microsoft.com/office/powerpoint/2010/main" val="2851117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7388D-02D2-6E47-45D5-56373E427207}"/>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588285C2-7691-89DE-F1B4-C0E38C14B4BA}"/>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9AFA72E7-3E22-A886-0DE7-7C9F5191A491}"/>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75F1D99-E55B-AB20-C3C7-6BFA318A54AD}"/>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9D81CDCF-987E-2E1C-496E-9EA56C37353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D0D4B835-F1D7-32EA-55AF-3F60C04A6B3E}"/>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542C5840-74D4-DF03-E5F5-3A252135B307}"/>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8DAA8EE4-6C1E-4F50-7B54-9882FB4D7DFF}"/>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F16BAA78-0EC9-43E3-6202-311B31756C4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04F4E1A3-A0A9-4BA5-69B8-585347381D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2459B40B-9F30-1D21-40F2-111552E61585}"/>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4F8101C2-F1A5-099C-64F2-4404A04DF16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337EF59F-85A3-59EC-A00E-4B55C1F45AA4}"/>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0D5AFBB9-D8C9-8CBE-A6A5-5CDE5C70EA73}"/>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5445AE41-969D-9AE7-E4CC-4AC148EBE47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1111759-7A45-97A6-93FD-A9764742621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F1FC4FE9-77DE-DE9A-CDA2-A6C7CE11A0CF}"/>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5B2F522-22BB-5C73-59C7-99AE53ADA33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A9AA67CF-8F63-9C27-4BC8-80971AB99287}"/>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8BE953DA-7F6A-AABB-FD6C-2A955C95D939}"/>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3D9F0D6B-F651-5F62-A62B-A00C119B109F}"/>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D2B3C98F-2660-8BD2-2819-F6737B55BAF3}"/>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A66C04C2-ED6E-E249-3071-63EA78B7E949}"/>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8A832793-3E09-DA1E-C757-6BCD4C603863}"/>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F89BB258-0921-4FEE-951C-FE09E7B618D0}"/>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D46BA665-C169-6B04-A133-B3CE92F3421C}"/>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020B7C20-AA49-1C7B-E00E-E1A232F42970}"/>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7C59FEBC-4343-B59D-9032-7217D4023C1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1AB0E536-543C-2EC6-34E2-E8E04AA9078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2633A7F5-1C54-5B3C-B5A4-A7CF7FF54E95}"/>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F29B73F8-CB06-1D75-4E7F-FA70F264094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156E35B6-2AB8-96AA-9341-83E7D1322398}"/>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64BF7403-6E51-E70F-A3A7-7C13E89973F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E25B7698-4073-65BB-F0C8-326CF0CA33DF}"/>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C9837D68-FEC6-2E6B-3320-6E760D20BE2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5F3B7DAF-CBBD-0B51-96E6-3F11B017587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63F7E124-EFD3-1205-6CA3-77A64ABD769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DC6D5266-584F-64E4-D562-DDCB87878813}"/>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09C1AE12-C7BE-FA1E-D2D8-B740A6966AC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35F309A9-0645-1083-2B72-6C3CDAFEE26C}"/>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E2055C40-CD30-7F13-8DAF-05356757FAF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5A52A325-1481-102B-621F-3DC154A4674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4DD40094-4F41-990F-03F4-BC05CBD78AD0}"/>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FFC70637-3B9D-35C1-4B09-3187459D6925}"/>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85D2FCF6-51A7-C6EA-00A2-153E0BA8BAD6}"/>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4101E173-5014-1F16-1472-73F0880AC952}"/>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739D8B2-8F03-FC84-939D-81C206BB211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4D8AC693-035D-EA17-FC14-243FB525BCB7}"/>
              </a:ext>
            </a:extLst>
          </p:cNvPr>
          <p:cNvGrpSpPr>
            <a:grpSpLocks/>
          </p:cNvGrpSpPr>
          <p:nvPr/>
        </p:nvGrpSpPr>
        <p:grpSpPr bwMode="auto">
          <a:xfrm>
            <a:off x="4653602" y="2551068"/>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A6DE387E-B419-7B86-7757-FB34D21BCBEC}"/>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326B2443-C006-52C2-93A0-407D31397ECD}"/>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6C7D2BAE-C0B3-EB64-9EB4-6D660484924D}"/>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9B767317-EB13-AB04-84E1-E7DBB62DB43B}"/>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BAF66359-2331-A11C-AF87-4D934BE4E85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4B1F431-6560-AB5F-39C7-95CBD88FCC4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856B73AA-2629-30F8-B7DA-DF511B8D1476}"/>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7C5FC47C-978D-3A89-D98E-FBDC59886D2C}"/>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E283CB81-FDDD-7B42-F9A9-07D31F08990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E08B6015-2C11-EC4C-517B-EF95BCCEEE28}"/>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D9237FD4-4603-B2AA-CE2C-00B738ADC211}"/>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1559CB33-9CD8-89B4-FD0F-65DA32F04D2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DC5CD113-8132-C263-B32C-4B8F38243B12}"/>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83230A13-32BA-9AA2-A8EA-F9FCBF8CA9A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CDFD72CA-8C17-00A7-95E9-5CAE0D7FE435}"/>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C628D044-1D08-F943-EA15-059ACB973BB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F2B2DFA2-7DEC-0873-6E24-67C009624A3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DE3A5278-8D52-FD9B-3EE8-DE1BE4A1BA9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2AB466AD-11D3-8D9D-DAC7-B4BFBA44B05A}"/>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D9D9CB82-A1C2-0E6F-3385-51D8F1E24FEE}"/>
              </a:ext>
            </a:extLst>
          </p:cNvPr>
          <p:cNvSpPr txBox="1">
            <a:spLocks noChangeArrowheads="1"/>
          </p:cNvSpPr>
          <p:nvPr/>
        </p:nvSpPr>
        <p:spPr bwMode="auto">
          <a:xfrm>
            <a:off x="5122904" y="2691373"/>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357E0560-BCC7-D5F2-46DE-344849F6A98B}"/>
              </a:ext>
            </a:extLst>
          </p:cNvPr>
          <p:cNvSpPr txBox="1">
            <a:spLocks noChangeArrowheads="1"/>
          </p:cNvSpPr>
          <p:nvPr/>
        </p:nvSpPr>
        <p:spPr bwMode="auto">
          <a:xfrm>
            <a:off x="1321709" y="3683318"/>
            <a:ext cx="30524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R5, LOCAL-PREF = 200 ]</a:t>
            </a:r>
          </a:p>
        </p:txBody>
      </p:sp>
      <p:sp>
        <p:nvSpPr>
          <p:cNvPr id="402" name="Text Box 173">
            <a:extLst>
              <a:ext uri="{FF2B5EF4-FFF2-40B4-BE49-F238E27FC236}">
                <a16:creationId xmlns:a16="http://schemas.microsoft.com/office/drawing/2014/main" id="{62811A8B-B067-2699-BA01-10845A4F735B}"/>
              </a:ext>
            </a:extLst>
          </p:cNvPr>
          <p:cNvSpPr txBox="1">
            <a:spLocks noChangeArrowheads="1"/>
          </p:cNvSpPr>
          <p:nvPr/>
        </p:nvSpPr>
        <p:spPr bwMode="auto">
          <a:xfrm>
            <a:off x="1321709" y="512687"/>
            <a:ext cx="300595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R3, LOCAL-PREF = 300]</a:t>
            </a:r>
          </a:p>
        </p:txBody>
      </p:sp>
      <p:sp>
        <p:nvSpPr>
          <p:cNvPr id="2" name="任意多边形: 形状 1">
            <a:extLst>
              <a:ext uri="{FF2B5EF4-FFF2-40B4-BE49-F238E27FC236}">
                <a16:creationId xmlns:a16="http://schemas.microsoft.com/office/drawing/2014/main" id="{1FCB6922-2D97-4C2C-B216-B5B40CA918C1}"/>
              </a:ext>
            </a:extLst>
          </p:cNvPr>
          <p:cNvSpPr>
            <a:spLocks noChangeArrowheads="1"/>
          </p:cNvSpPr>
          <p:nvPr/>
        </p:nvSpPr>
        <p:spPr bwMode="auto">
          <a:xfrm>
            <a:off x="1321709" y="1300066"/>
            <a:ext cx="1937125" cy="18160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dirty="0">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FA11AC0-3DEC-34C5-C6B1-C483A44581F4}"/>
              </a:ext>
            </a:extLst>
          </p:cNvPr>
          <p:cNvSpPr txBox="1">
            <a:spLocks noChangeArrowheads="1"/>
          </p:cNvSpPr>
          <p:nvPr/>
        </p:nvSpPr>
        <p:spPr bwMode="auto">
          <a:xfrm>
            <a:off x="1988974" y="215192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5C8BE4E7-FE0E-0B65-5FA5-324EF0852B58}"/>
              </a:ext>
            </a:extLst>
          </p:cNvPr>
          <p:cNvSpPr>
            <a:spLocks noChangeShapeType="1"/>
          </p:cNvSpPr>
          <p:nvPr/>
        </p:nvSpPr>
        <p:spPr bwMode="auto">
          <a:xfrm>
            <a:off x="3201624" y="2820184"/>
            <a:ext cx="1456672" cy="3044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24C92D9-E9A3-0857-35C3-006DBA1BB18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96608BC8-139A-DB2A-F5FA-3188658FE8D5}"/>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09ABCB11-C20A-437F-296F-51D8D63CEFB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D99DF86E-8D18-ED06-E2FE-511D4E2A560A}"/>
              </a:ext>
            </a:extLst>
          </p:cNvPr>
          <p:cNvSpPr txBox="1">
            <a:spLocks noChangeArrowheads="1"/>
          </p:cNvSpPr>
          <p:nvPr/>
        </p:nvSpPr>
        <p:spPr bwMode="auto">
          <a:xfrm>
            <a:off x="2524170" y="261929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663F9F01-76DF-2A12-A532-B3B4423CFA1B}"/>
              </a:ext>
            </a:extLst>
          </p:cNvPr>
          <p:cNvSpPr txBox="1">
            <a:spLocks noChangeArrowheads="1"/>
          </p:cNvSpPr>
          <p:nvPr/>
        </p:nvSpPr>
        <p:spPr bwMode="auto">
          <a:xfrm>
            <a:off x="2524170" y="159066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8" name="Text Box 173">
            <a:extLst>
              <a:ext uri="{FF2B5EF4-FFF2-40B4-BE49-F238E27FC236}">
                <a16:creationId xmlns:a16="http://schemas.microsoft.com/office/drawing/2014/main" id="{9D7B125A-280E-C6D4-644B-C720E06D3FC2}"/>
              </a:ext>
            </a:extLst>
          </p:cNvPr>
          <p:cNvSpPr txBox="1">
            <a:spLocks noChangeArrowheads="1"/>
          </p:cNvSpPr>
          <p:nvPr/>
        </p:nvSpPr>
        <p:spPr bwMode="auto">
          <a:xfrm>
            <a:off x="3187805" y="2920427"/>
            <a:ext cx="102143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low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9" name="Text Box 173">
            <a:extLst>
              <a:ext uri="{FF2B5EF4-FFF2-40B4-BE49-F238E27FC236}">
                <a16:creationId xmlns:a16="http://schemas.microsoft.com/office/drawing/2014/main" id="{7E76D7F0-3963-5110-EB29-DE1A379E81FF}"/>
              </a:ext>
            </a:extLst>
          </p:cNvPr>
          <p:cNvSpPr txBox="1">
            <a:spLocks noChangeArrowheads="1"/>
          </p:cNvSpPr>
          <p:nvPr/>
        </p:nvSpPr>
        <p:spPr bwMode="auto">
          <a:xfrm>
            <a:off x="3196914" y="1474081"/>
            <a:ext cx="1114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high speed</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204558CD-4BFB-E527-756E-E84511A1FDDD}"/>
              </a:ext>
            </a:extLst>
          </p:cNvPr>
          <p:cNvSpPr txBox="1">
            <a:spLocks noChangeArrowheads="1"/>
          </p:cNvSpPr>
          <p:nvPr/>
        </p:nvSpPr>
        <p:spPr bwMode="auto">
          <a:xfrm>
            <a:off x="6235186" y="184531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0" name="Picture 46">
            <a:extLst>
              <a:ext uri="{FF2B5EF4-FFF2-40B4-BE49-F238E27FC236}">
                <a16:creationId xmlns:a16="http://schemas.microsoft.com/office/drawing/2014/main" id="{0D62C29E-4BD1-90D5-861E-D4C768D3E66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2188" y="158992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1" name="Text Box 173">
            <a:extLst>
              <a:ext uri="{FF2B5EF4-FFF2-40B4-BE49-F238E27FC236}">
                <a16:creationId xmlns:a16="http://schemas.microsoft.com/office/drawing/2014/main" id="{AFFF1725-EB22-68F2-20F1-61CA908DCA6B}"/>
              </a:ext>
            </a:extLst>
          </p:cNvPr>
          <p:cNvSpPr txBox="1">
            <a:spLocks noChangeArrowheads="1"/>
          </p:cNvSpPr>
          <p:nvPr/>
        </p:nvSpPr>
        <p:spPr bwMode="auto">
          <a:xfrm>
            <a:off x="4605119" y="133362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2" name="Picture 46">
            <a:extLst>
              <a:ext uri="{FF2B5EF4-FFF2-40B4-BE49-F238E27FC236}">
                <a16:creationId xmlns:a16="http://schemas.microsoft.com/office/drawing/2014/main" id="{B8675846-F7CA-6B1F-DB9A-6C36C35B5CD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98566" y="270634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 name="Text Box 173">
            <a:extLst>
              <a:ext uri="{FF2B5EF4-FFF2-40B4-BE49-F238E27FC236}">
                <a16:creationId xmlns:a16="http://schemas.microsoft.com/office/drawing/2014/main" id="{51C26441-62D2-DE4F-D42D-F5C252554944}"/>
              </a:ext>
            </a:extLst>
          </p:cNvPr>
          <p:cNvSpPr txBox="1">
            <a:spLocks noChangeArrowheads="1"/>
          </p:cNvSpPr>
          <p:nvPr/>
        </p:nvSpPr>
        <p:spPr bwMode="auto">
          <a:xfrm>
            <a:off x="4571497" y="245004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4" name="Picture 46">
            <a:extLst>
              <a:ext uri="{FF2B5EF4-FFF2-40B4-BE49-F238E27FC236}">
                <a16:creationId xmlns:a16="http://schemas.microsoft.com/office/drawing/2014/main" id="{3FE90344-B914-E18E-63AE-8DEC73FAC7C1}"/>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52903" y="258031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5" name="Text Box 173">
            <a:extLst>
              <a:ext uri="{FF2B5EF4-FFF2-40B4-BE49-F238E27FC236}">
                <a16:creationId xmlns:a16="http://schemas.microsoft.com/office/drawing/2014/main" id="{D7084750-5815-3F9F-EE04-629A8609EB23}"/>
              </a:ext>
            </a:extLst>
          </p:cNvPr>
          <p:cNvSpPr txBox="1">
            <a:spLocks noChangeArrowheads="1"/>
          </p:cNvSpPr>
          <p:nvPr/>
        </p:nvSpPr>
        <p:spPr bwMode="auto">
          <a:xfrm>
            <a:off x="5625834" y="232401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6" name="Picture 46">
            <a:extLst>
              <a:ext uri="{FF2B5EF4-FFF2-40B4-BE49-F238E27FC236}">
                <a16:creationId xmlns:a16="http://schemas.microsoft.com/office/drawing/2014/main" id="{C76F9532-0B6B-722C-FF1C-B8EAAE1EB8F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59314" y="1710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 name="Text Box 173">
            <a:extLst>
              <a:ext uri="{FF2B5EF4-FFF2-40B4-BE49-F238E27FC236}">
                <a16:creationId xmlns:a16="http://schemas.microsoft.com/office/drawing/2014/main" id="{BCB98C01-94CC-E172-96E3-4E98AC599CED}"/>
              </a:ext>
            </a:extLst>
          </p:cNvPr>
          <p:cNvSpPr txBox="1">
            <a:spLocks noChangeArrowheads="1"/>
          </p:cNvSpPr>
          <p:nvPr/>
        </p:nvSpPr>
        <p:spPr bwMode="auto">
          <a:xfrm>
            <a:off x="5532245" y="145393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846449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 name="Text Box 173"/>
          <p:cNvSpPr txBox="1">
            <a:spLocks noChangeArrowheads="1"/>
          </p:cNvSpPr>
          <p:nvPr/>
        </p:nvSpPr>
        <p:spPr bwMode="auto">
          <a:xfrm>
            <a:off x="882387" y="2968451"/>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369314" y="3762028"/>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389" name="Text Box 173"/>
          <p:cNvSpPr txBox="1">
            <a:spLocks noChangeArrowheads="1"/>
          </p:cNvSpPr>
          <p:nvPr/>
        </p:nvSpPr>
        <p:spPr bwMode="auto">
          <a:xfrm>
            <a:off x="877725" y="1126614"/>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14979" y="2637020"/>
            <a:ext cx="185549" cy="331431"/>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2" name="标题 1">
            <a:extLst>
              <a:ext uri="{FF2B5EF4-FFF2-40B4-BE49-F238E27FC236}">
                <a16:creationId xmlns:a16="http://schemas.microsoft.com/office/drawing/2014/main" id="{1207A25C-E9D0-D701-B2BF-447EEBD40A5F}"/>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
        <p:nvSpPr>
          <p:cNvPr id="3" name="文本框 2">
            <a:extLst>
              <a:ext uri="{FF2B5EF4-FFF2-40B4-BE49-F238E27FC236}">
                <a16:creationId xmlns:a16="http://schemas.microsoft.com/office/drawing/2014/main" id="{C8667C06-CC7E-CC3E-E7B7-9A657F2811EB}"/>
              </a:ext>
            </a:extLst>
          </p:cNvPr>
          <p:cNvSpPr txBox="1"/>
          <p:nvPr/>
        </p:nvSpPr>
        <p:spPr>
          <a:xfrm>
            <a:off x="7829550" y="3276228"/>
            <a:ext cx="304892" cy="369332"/>
          </a:xfrm>
          <a:prstGeom prst="rect">
            <a:avLst/>
          </a:prstGeom>
          <a:noFill/>
        </p:spPr>
        <p:txBody>
          <a:bodyPr wrap="none" rtlCol="0">
            <a:spAutoFit/>
          </a:bodyPr>
          <a:lstStyle/>
          <a:p>
            <a:r>
              <a:rPr lang="en-US" altLang="zh-CN" dirty="0"/>
              <a:t>X</a:t>
            </a:r>
            <a:endParaRPr lang="zh-CN" altLang="en-US" dirty="0"/>
          </a:p>
        </p:txBody>
      </p:sp>
    </p:spTree>
    <p:extLst>
      <p:ext uri="{BB962C8B-B14F-4D97-AF65-F5344CB8AC3E}">
        <p14:creationId xmlns:p14="http://schemas.microsoft.com/office/powerpoint/2010/main" val="24501872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2369314" y="3682454"/>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6"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492"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2" name="Group 216"/>
            <p:cNvGrpSpPr>
              <a:grpSpLocks/>
            </p:cNvGrpSpPr>
            <p:nvPr/>
          </p:nvGrpSpPr>
          <p:grpSpPr bwMode="auto">
            <a:xfrm>
              <a:off x="912" y="768"/>
              <a:ext cx="2386" cy="1553"/>
              <a:chOff x="912" y="768"/>
              <a:chExt cx="2386" cy="1553"/>
            </a:xfrm>
            <a:grpFill/>
          </p:grpSpPr>
          <p:sp>
            <p:nvSpPr>
              <p:cNvPr id="5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512"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513" name="Text Box 173"/>
          <p:cNvSpPr txBox="1">
            <a:spLocks noChangeArrowheads="1"/>
          </p:cNvSpPr>
          <p:nvPr/>
        </p:nvSpPr>
        <p:spPr bwMode="auto">
          <a:xfrm>
            <a:off x="877725"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514" name="Text Box 173"/>
          <p:cNvSpPr txBox="1">
            <a:spLocks noChangeArrowheads="1"/>
          </p:cNvSpPr>
          <p:nvPr/>
        </p:nvSpPr>
        <p:spPr bwMode="auto">
          <a:xfrm>
            <a:off x="877725" y="1126614"/>
            <a:ext cx="40341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AS5 , LOCAL-PREF = 100, IP2a ]</a:t>
            </a:r>
          </a:p>
        </p:txBody>
      </p:sp>
      <p:sp>
        <p:nvSpPr>
          <p:cNvPr id="2" name="标题 1">
            <a:extLst>
              <a:ext uri="{FF2B5EF4-FFF2-40B4-BE49-F238E27FC236}">
                <a16:creationId xmlns:a16="http://schemas.microsoft.com/office/drawing/2014/main" id="{32583D21-68B1-94E9-23EB-9C8FF2E00C77}"/>
              </a:ext>
            </a:extLst>
          </p:cNvPr>
          <p:cNvSpPr>
            <a:spLocks noGrp="1"/>
          </p:cNvSpPr>
          <p:nvPr>
            <p:ph type="title"/>
          </p:nvPr>
        </p:nvSpPr>
        <p:spPr>
          <a:xfrm>
            <a:off x="486000" y="550723"/>
            <a:ext cx="8172000" cy="338554"/>
          </a:xfrm>
        </p:spPr>
        <p:txBody>
          <a:bodyPr/>
          <a:lstStyle/>
          <a:p>
            <a:r>
              <a:rPr lang="en-US" altLang="zh-CN" dirty="0"/>
              <a:t>AS </a:t>
            </a:r>
            <a:r>
              <a:rPr lang="zh-CN" altLang="en-US" dirty="0"/>
              <a:t>跳数最小</a:t>
            </a:r>
          </a:p>
        </p:txBody>
      </p:sp>
    </p:spTree>
    <p:extLst>
      <p:ext uri="{BB962C8B-B14F-4D97-AF65-F5344CB8AC3E}">
        <p14:creationId xmlns:p14="http://schemas.microsoft.com/office/powerpoint/2010/main" val="39880558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8E562-5CDC-5D1A-B71C-3AAA9995436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C7BAF33F-4144-7F70-429F-2D1818E12D9C}"/>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70BB8B13-C355-038C-9F3B-F3E4C3302AE7}"/>
              </a:ext>
            </a:extLst>
          </p:cNvPr>
          <p:cNvSpPr>
            <a:spLocks noChangeShapeType="1"/>
          </p:cNvSpPr>
          <p:nvPr/>
        </p:nvSpPr>
        <p:spPr bwMode="auto">
          <a:xfrm>
            <a:off x="3952711" y="1669599"/>
            <a:ext cx="1100449" cy="35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92773C05-B6F3-230C-5C68-6D4397A452AF}"/>
              </a:ext>
            </a:extLst>
          </p:cNvPr>
          <p:cNvGrpSpPr>
            <a:grpSpLocks/>
          </p:cNvGrpSpPr>
          <p:nvPr/>
        </p:nvGrpSpPr>
        <p:grpSpPr bwMode="auto">
          <a:xfrm>
            <a:off x="2983987"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71E8ADF7-A595-7600-B1DE-9C105F1EA03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A6466785-5CD8-BA93-1617-F4A6D9D7304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7FAF7D59-420F-7CD7-C1A3-0709CEE83848}"/>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DF5B212F-7DA2-9324-7557-58B46AFFDA06}"/>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86FB5970-FD1E-A060-D0FD-7CFB3A0B1154}"/>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6FF19455-219B-BF9C-C920-97074F18495A}"/>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C57F31D6-B558-A080-E2A6-C9B077A6BA9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DD4B6527-A2C8-8BEC-B0D8-F20873633AE7}"/>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5FCF571D-A84D-9AF0-E511-BBFD02272FA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18EC02E6-4A96-5229-AEA2-B5D8F193C1D6}"/>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95C6A5A8-CEA1-5AE4-49D9-8FFE0F5F57FF}"/>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742B1C38-5083-1F8E-B66D-672CAFF3104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E9577A07-8C94-5A8B-F22B-8892E7B2D90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A834B11F-90E6-3D85-725A-AB0A99F97056}"/>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dirty="0">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48C11AAF-071E-B98B-340D-91FD7C2BA40B}"/>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62E73EE2-1255-DFAC-6620-4C65602043E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E9456E2A-5E5B-DA4D-B2EB-9C97C0E3B4B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4A60D51E-3410-D318-E02F-00F556668B92}"/>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0D86A336-9077-975F-3271-6275DF15C382}"/>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568D59A9-A874-735E-2767-F68F89F84D4F}"/>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080C02B9-285A-D8C0-8D63-115E1B80B11F}"/>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E2FAEC07-AE63-DA78-69CF-6E220C17BA8A}"/>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288DB8EB-C885-CF9F-EADA-425CCF7AC5E5}"/>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F41BA155-94E3-6A12-D746-1DDC2DE70F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B407FBA9-087C-254F-CF26-9DE23A1143F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EDF84AC6-DD03-D8C8-227E-BC964F98E0F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DC567F66-7666-A159-E90B-15E99C68CF9F}"/>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E434AD7F-60AA-8622-B132-ED0CB84A8BA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81F25DCD-6844-AC98-432E-D3B40A1CC52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8CECC4B3-30A9-BB1A-2E53-CD34B226B3AB}"/>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3894B156-21AC-FFA6-AB47-EEA326FA2CE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298F289B-36D9-3319-8141-043545B30E5B}"/>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30172F7E-CC09-956D-BA91-AFD8ECFA52A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2A29891B-D219-3A35-1098-CD8CF66D3C1A}"/>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DCA0E9FD-0542-5897-B39D-69E5E62AA38D}"/>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AA1B8D05-D420-21DB-36A8-855D99634920}"/>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79F9F59F-7F08-B16B-10C3-C069D3BAF853}"/>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48013D22-B916-1FAC-190A-3573C9A9017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7EB19CA4-3A00-16E1-9AAE-7D76772B887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a:extLst>
              <a:ext uri="{FF2B5EF4-FFF2-40B4-BE49-F238E27FC236}">
                <a16:creationId xmlns:a16="http://schemas.microsoft.com/office/drawing/2014/main" id="{76FBFF4B-02DE-6CC1-C9B9-1C185A9C8400}"/>
              </a:ext>
            </a:extLst>
          </p:cNvPr>
          <p:cNvSpPr>
            <a:spLocks noChangeShapeType="1"/>
          </p:cNvSpPr>
          <p:nvPr/>
        </p:nvSpPr>
        <p:spPr bwMode="auto">
          <a:xfrm flipV="1">
            <a:off x="2465347" y="1758876"/>
            <a:ext cx="537655" cy="30777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2" name="Text Box 174">
            <a:extLst>
              <a:ext uri="{FF2B5EF4-FFF2-40B4-BE49-F238E27FC236}">
                <a16:creationId xmlns:a16="http://schemas.microsoft.com/office/drawing/2014/main" id="{3ABE11A1-B038-B68C-6E94-C389E868B676}"/>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5</a:t>
            </a:r>
          </a:p>
        </p:txBody>
      </p:sp>
      <p:sp>
        <p:nvSpPr>
          <p:cNvPr id="263" name="Text Box 175">
            <a:extLst>
              <a:ext uri="{FF2B5EF4-FFF2-40B4-BE49-F238E27FC236}">
                <a16:creationId xmlns:a16="http://schemas.microsoft.com/office/drawing/2014/main" id="{B5291AB7-CB76-2D3D-0588-CA9940CFF078}"/>
              </a:ext>
            </a:extLst>
          </p:cNvPr>
          <p:cNvSpPr txBox="1">
            <a:spLocks noChangeArrowheads="1"/>
          </p:cNvSpPr>
          <p:nvPr/>
        </p:nvSpPr>
        <p:spPr bwMode="auto">
          <a:xfrm>
            <a:off x="3332129" y="15229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grpSp>
        <p:nvGrpSpPr>
          <p:cNvPr id="332" name="Group 206">
            <a:extLst>
              <a:ext uri="{FF2B5EF4-FFF2-40B4-BE49-F238E27FC236}">
                <a16:creationId xmlns:a16="http://schemas.microsoft.com/office/drawing/2014/main" id="{01411C18-DEBE-9471-BA57-E5D7E2725F32}"/>
              </a:ext>
            </a:extLst>
          </p:cNvPr>
          <p:cNvGrpSpPr>
            <a:grpSpLocks/>
          </p:cNvGrpSpPr>
          <p:nvPr/>
        </p:nvGrpSpPr>
        <p:grpSpPr bwMode="auto">
          <a:xfrm>
            <a:off x="2912774" y="2117278"/>
            <a:ext cx="2951162" cy="935037"/>
            <a:chOff x="912" y="768"/>
            <a:chExt cx="2400" cy="1584"/>
          </a:xfrm>
          <a:solidFill>
            <a:schemeClr val="bg2"/>
          </a:solidFill>
          <a:effectLst>
            <a:outerShdw blurRad="50800" dist="38100" dir="2700000" algn="tl" rotWithShape="0">
              <a:prstClr val="black">
                <a:alpha val="40000"/>
              </a:prstClr>
            </a:outerShdw>
          </a:effectLst>
        </p:grpSpPr>
        <p:sp>
          <p:nvSpPr>
            <p:cNvPr id="333" name="Oval 207">
              <a:extLst>
                <a:ext uri="{FF2B5EF4-FFF2-40B4-BE49-F238E27FC236}">
                  <a16:creationId xmlns:a16="http://schemas.microsoft.com/office/drawing/2014/main" id="{F7C9EB07-F800-296A-8515-E7DA1C239085}"/>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a:extLst>
                <a:ext uri="{FF2B5EF4-FFF2-40B4-BE49-F238E27FC236}">
                  <a16:creationId xmlns:a16="http://schemas.microsoft.com/office/drawing/2014/main" id="{C929320C-8ECA-4F85-B5E7-1146AB8951C3}"/>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a:extLst>
                <a:ext uri="{FF2B5EF4-FFF2-40B4-BE49-F238E27FC236}">
                  <a16:creationId xmlns:a16="http://schemas.microsoft.com/office/drawing/2014/main" id="{B671A2A6-78C3-8D6A-3D10-F6F1089EC336}"/>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a:extLst>
                <a:ext uri="{FF2B5EF4-FFF2-40B4-BE49-F238E27FC236}">
                  <a16:creationId xmlns:a16="http://schemas.microsoft.com/office/drawing/2014/main" id="{33764A9C-9705-4883-6193-0AC1B9DDB1B0}"/>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a:extLst>
                <a:ext uri="{FF2B5EF4-FFF2-40B4-BE49-F238E27FC236}">
                  <a16:creationId xmlns:a16="http://schemas.microsoft.com/office/drawing/2014/main" id="{B19370FC-8F39-B7C5-5793-DE94EDB7AB0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a:extLst>
                <a:ext uri="{FF2B5EF4-FFF2-40B4-BE49-F238E27FC236}">
                  <a16:creationId xmlns:a16="http://schemas.microsoft.com/office/drawing/2014/main" id="{2B9D2C3D-843F-E7F7-0F42-6472E3AB276F}"/>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a:extLst>
                <a:ext uri="{FF2B5EF4-FFF2-40B4-BE49-F238E27FC236}">
                  <a16:creationId xmlns:a16="http://schemas.microsoft.com/office/drawing/2014/main" id="{C6C90B9F-7C1A-BC83-FC7C-F799AC5E450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a:extLst>
                <a:ext uri="{FF2B5EF4-FFF2-40B4-BE49-F238E27FC236}">
                  <a16:creationId xmlns:a16="http://schemas.microsoft.com/office/drawing/2014/main" id="{04EF7848-8063-A434-784E-C51090E7FD7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a:extLst>
                <a:ext uri="{FF2B5EF4-FFF2-40B4-BE49-F238E27FC236}">
                  <a16:creationId xmlns:a16="http://schemas.microsoft.com/office/drawing/2014/main" id="{236154F8-E622-406E-25CF-797D54E19183}"/>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a:extLst>
                <a:ext uri="{FF2B5EF4-FFF2-40B4-BE49-F238E27FC236}">
                  <a16:creationId xmlns:a16="http://schemas.microsoft.com/office/drawing/2014/main" id="{9D045B59-D61F-6C92-712D-633964B2E40D}"/>
                </a:ext>
              </a:extLst>
            </p:cNvPr>
            <p:cNvGrpSpPr>
              <a:grpSpLocks/>
            </p:cNvGrpSpPr>
            <p:nvPr/>
          </p:nvGrpSpPr>
          <p:grpSpPr bwMode="auto">
            <a:xfrm>
              <a:off x="912" y="768"/>
              <a:ext cx="2386" cy="1553"/>
              <a:chOff x="912" y="768"/>
              <a:chExt cx="2386" cy="1553"/>
            </a:xfrm>
            <a:grpFill/>
          </p:grpSpPr>
          <p:sp>
            <p:nvSpPr>
              <p:cNvPr id="343" name="Oval 217">
                <a:extLst>
                  <a:ext uri="{FF2B5EF4-FFF2-40B4-BE49-F238E27FC236}">
                    <a16:creationId xmlns:a16="http://schemas.microsoft.com/office/drawing/2014/main" id="{F58D92AF-315C-F1E0-3B07-AAEC30F9F3F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a:extLst>
                  <a:ext uri="{FF2B5EF4-FFF2-40B4-BE49-F238E27FC236}">
                    <a16:creationId xmlns:a16="http://schemas.microsoft.com/office/drawing/2014/main" id="{76CD80C8-1663-B1D6-C612-FE0E29C11C5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a:extLst>
                  <a:ext uri="{FF2B5EF4-FFF2-40B4-BE49-F238E27FC236}">
                    <a16:creationId xmlns:a16="http://schemas.microsoft.com/office/drawing/2014/main" id="{B3541248-5D35-85D8-0067-611C055BC55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a:extLst>
                  <a:ext uri="{FF2B5EF4-FFF2-40B4-BE49-F238E27FC236}">
                    <a16:creationId xmlns:a16="http://schemas.microsoft.com/office/drawing/2014/main" id="{D915899D-FB3A-B071-A2A7-13ACF72D08DE}"/>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a:extLst>
                  <a:ext uri="{FF2B5EF4-FFF2-40B4-BE49-F238E27FC236}">
                    <a16:creationId xmlns:a16="http://schemas.microsoft.com/office/drawing/2014/main" id="{7D9E64F2-3A64-10DE-C54E-DE9DA039FAF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a:extLst>
                  <a:ext uri="{FF2B5EF4-FFF2-40B4-BE49-F238E27FC236}">
                    <a16:creationId xmlns:a16="http://schemas.microsoft.com/office/drawing/2014/main" id="{6F21F29F-CFB5-AE60-D5F7-DD3BB061676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a:extLst>
                  <a:ext uri="{FF2B5EF4-FFF2-40B4-BE49-F238E27FC236}">
                    <a16:creationId xmlns:a16="http://schemas.microsoft.com/office/drawing/2014/main" id="{44060C3C-942E-0155-C1E1-6C2C9C6B6C3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a:extLst>
                  <a:ext uri="{FF2B5EF4-FFF2-40B4-BE49-F238E27FC236}">
                    <a16:creationId xmlns:a16="http://schemas.microsoft.com/office/drawing/2014/main" id="{44C9F9D9-AC1E-343B-9CD4-4C1343735E7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a:extLst>
                  <a:ext uri="{FF2B5EF4-FFF2-40B4-BE49-F238E27FC236}">
                    <a16:creationId xmlns:a16="http://schemas.microsoft.com/office/drawing/2014/main" id="{948C8DFC-D81C-58CE-DA6F-68A447AA35A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a:extLst>
              <a:ext uri="{FF2B5EF4-FFF2-40B4-BE49-F238E27FC236}">
                <a16:creationId xmlns:a16="http://schemas.microsoft.com/office/drawing/2014/main" id="{325F63FC-CB11-83FE-CF93-ECD5DFFA0AA6}"/>
              </a:ext>
            </a:extLst>
          </p:cNvPr>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a:extLst>
              <a:ext uri="{FF2B5EF4-FFF2-40B4-BE49-F238E27FC236}">
                <a16:creationId xmlns:a16="http://schemas.microsoft.com/office/drawing/2014/main" id="{0C10A878-C502-05E8-C1AB-907F1EEAAAA8}"/>
              </a:ext>
            </a:extLst>
          </p:cNvPr>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a:extLst>
              <a:ext uri="{FF2B5EF4-FFF2-40B4-BE49-F238E27FC236}">
                <a16:creationId xmlns:a16="http://schemas.microsoft.com/office/drawing/2014/main" id="{F35C38F3-4477-9535-085B-6FDF7E010E93}"/>
              </a:ext>
            </a:extLst>
          </p:cNvPr>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a:extLst>
              <a:ext uri="{FF2B5EF4-FFF2-40B4-BE49-F238E27FC236}">
                <a16:creationId xmlns:a16="http://schemas.microsoft.com/office/drawing/2014/main" id="{D3F78A02-A150-4AE8-71A0-75468EF148CB}"/>
              </a:ext>
            </a:extLst>
          </p:cNvPr>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a:extLst>
              <a:ext uri="{FF2B5EF4-FFF2-40B4-BE49-F238E27FC236}">
                <a16:creationId xmlns:a16="http://schemas.microsoft.com/office/drawing/2014/main" id="{CDFCD593-3B1F-ADCF-4DD7-C6F702F9D152}"/>
              </a:ext>
            </a:extLst>
          </p:cNvPr>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a:extLst>
              <a:ext uri="{FF2B5EF4-FFF2-40B4-BE49-F238E27FC236}">
                <a16:creationId xmlns:a16="http://schemas.microsoft.com/office/drawing/2014/main" id="{2B44C9B6-8F29-6BCD-AFCE-F603D6E63288}"/>
              </a:ext>
            </a:extLst>
          </p:cNvPr>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a:extLst>
              <a:ext uri="{FF2B5EF4-FFF2-40B4-BE49-F238E27FC236}">
                <a16:creationId xmlns:a16="http://schemas.microsoft.com/office/drawing/2014/main" id="{DFAAE722-D047-E3F1-20A5-3DFE28250F31}"/>
              </a:ext>
            </a:extLst>
          </p:cNvPr>
          <p:cNvSpPr txBox="1">
            <a:spLocks noChangeArrowheads="1"/>
          </p:cNvSpPr>
          <p:nvPr/>
        </p:nvSpPr>
        <p:spPr bwMode="auto">
          <a:xfrm>
            <a:off x="4330641" y="2769365"/>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pic>
        <p:nvPicPr>
          <p:cNvPr id="360" name="Picture 46">
            <a:extLst>
              <a:ext uri="{FF2B5EF4-FFF2-40B4-BE49-F238E27FC236}">
                <a16:creationId xmlns:a16="http://schemas.microsoft.com/office/drawing/2014/main" id="{08E3AC5D-8851-73EC-28D6-2070DCE0DA9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a:extLst>
              <a:ext uri="{FF2B5EF4-FFF2-40B4-BE49-F238E27FC236}">
                <a16:creationId xmlns:a16="http://schemas.microsoft.com/office/drawing/2014/main" id="{53705126-7420-9221-04D0-90B577B1607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a:extLst>
              <a:ext uri="{FF2B5EF4-FFF2-40B4-BE49-F238E27FC236}">
                <a16:creationId xmlns:a16="http://schemas.microsoft.com/office/drawing/2014/main" id="{7DDC0483-D717-2DA3-941A-7226542355D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5" y="226015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a:extLst>
              <a:ext uri="{FF2B5EF4-FFF2-40B4-BE49-F238E27FC236}">
                <a16:creationId xmlns:a16="http://schemas.microsoft.com/office/drawing/2014/main" id="{972FE1FC-EB74-1C36-83D0-551B24A3E1A8}"/>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a:extLst>
              <a:ext uri="{FF2B5EF4-FFF2-40B4-BE49-F238E27FC236}">
                <a16:creationId xmlns:a16="http://schemas.microsoft.com/office/drawing/2014/main" id="{80871C5E-3D1D-ABEF-F644-C2C7257C9F4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5" y="262051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a:extLst>
              <a:ext uri="{FF2B5EF4-FFF2-40B4-BE49-F238E27FC236}">
                <a16:creationId xmlns:a16="http://schemas.microsoft.com/office/drawing/2014/main" id="{9A5E7F47-4BFB-0B6B-8F19-284FB9281E24}"/>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a:extLst>
              <a:ext uri="{FF2B5EF4-FFF2-40B4-BE49-F238E27FC236}">
                <a16:creationId xmlns:a16="http://schemas.microsoft.com/office/drawing/2014/main" id="{B6F15B90-94FF-F3E2-53B8-CE5493F7977C}"/>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1B798DBA-5C63-719D-7B0A-42BCDA302FD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E546788A-C97B-8C23-5567-A79764DAA7B1}"/>
              </a:ext>
            </a:extLst>
          </p:cNvPr>
          <p:cNvGrpSpPr>
            <a:grpSpLocks/>
          </p:cNvGrpSpPr>
          <p:nvPr/>
        </p:nvGrpSpPr>
        <p:grpSpPr bwMode="auto">
          <a:xfrm>
            <a:off x="4690551"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2D9D9E69-5F5B-5FF6-B341-1541010F1572}"/>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08153885-4D60-7051-AA59-6D6FF4A63BD9}"/>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5B83AD88-5EB2-8F85-2188-845F64E7B29E}"/>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3050D7D8-7528-B0A6-FB3D-B0EEB18314F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6CC27B3E-29AE-5CCB-6A74-B522E47860B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D125257A-3C5D-04E6-5A44-4D36C577840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A5993FC8-410F-4F38-7992-CC19FB07B20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8019EAA6-3D32-EF7E-054D-1B711FBB25EB}"/>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3DA286B1-6922-FB73-7064-4C853C80978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0ED8DD65-CBE6-D838-2BD6-B98F1D7E5A96}"/>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5880221E-DBC8-99B1-A049-ADDD631E028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7149B65E-8090-378B-5F42-848BD2D35F1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6D17B907-29A3-AE02-C5D2-E72D939E3D9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ED2E911B-DEDC-40CA-3659-0ACF7F33707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A27ECC5F-ECF4-3B01-75A1-4CE819A02FB8}"/>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985E681C-D12D-6883-837B-B4B958A301C8}"/>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518859E8-0A82-9566-9395-F98DEB2B61BA}"/>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0B59CB1B-822D-C8A7-C088-F9833532B83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800E06FC-31E8-96DF-6C2F-E2D17675619E}"/>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334C8B37-589B-6CBF-A7FC-37676C88E078}"/>
              </a:ext>
            </a:extLst>
          </p:cNvPr>
          <p:cNvSpPr txBox="1">
            <a:spLocks noChangeArrowheads="1"/>
          </p:cNvSpPr>
          <p:nvPr/>
        </p:nvSpPr>
        <p:spPr bwMode="auto">
          <a:xfrm>
            <a:off x="5132604" y="1550966"/>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D9DC2B77-90F5-69D2-F479-44DF29046DB3}"/>
              </a:ext>
            </a:extLst>
          </p:cNvPr>
          <p:cNvSpPr txBox="1">
            <a:spLocks noChangeArrowheads="1"/>
          </p:cNvSpPr>
          <p:nvPr/>
        </p:nvSpPr>
        <p:spPr bwMode="auto">
          <a:xfrm>
            <a:off x="877725" y="3385505"/>
            <a:ext cx="343715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R6,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a:extLst>
              <a:ext uri="{FF2B5EF4-FFF2-40B4-BE49-F238E27FC236}">
                <a16:creationId xmlns:a16="http://schemas.microsoft.com/office/drawing/2014/main" id="{BF0333C6-9DEB-04E2-BA1E-19BAA7D9E0FF}"/>
              </a:ext>
            </a:extLst>
          </p:cNvPr>
          <p:cNvSpPr txBox="1">
            <a:spLocks noChangeArrowheads="1"/>
          </p:cNvSpPr>
          <p:nvPr/>
        </p:nvSpPr>
        <p:spPr bwMode="auto">
          <a:xfrm>
            <a:off x="877725" y="794106"/>
            <a:ext cx="391004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R2,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任意多边形: 形状 1">
            <a:extLst>
              <a:ext uri="{FF2B5EF4-FFF2-40B4-BE49-F238E27FC236}">
                <a16:creationId xmlns:a16="http://schemas.microsoft.com/office/drawing/2014/main" id="{C8DE29F7-BB87-F495-8B81-040A1C21BA4C}"/>
              </a:ext>
            </a:extLst>
          </p:cNvPr>
          <p:cNvSpPr>
            <a:spLocks noChangeArrowheads="1"/>
          </p:cNvSpPr>
          <p:nvPr/>
        </p:nvSpPr>
        <p:spPr bwMode="auto">
          <a:xfrm>
            <a:off x="1127190" y="1813268"/>
            <a:ext cx="1261489" cy="591058"/>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FE6D3EC8-0584-6FC3-261D-5749A97E2B89}"/>
              </a:ext>
            </a:extLst>
          </p:cNvPr>
          <p:cNvSpPr txBox="1">
            <a:spLocks noChangeArrowheads="1"/>
          </p:cNvSpPr>
          <p:nvPr/>
        </p:nvSpPr>
        <p:spPr bwMode="auto">
          <a:xfrm>
            <a:off x="1623514" y="197015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1A58BFF5-316A-6D4D-1880-7E0099883210}"/>
              </a:ext>
            </a:extLst>
          </p:cNvPr>
          <p:cNvSpPr>
            <a:spLocks noChangeShapeType="1"/>
          </p:cNvSpPr>
          <p:nvPr/>
        </p:nvSpPr>
        <p:spPr bwMode="auto">
          <a:xfrm>
            <a:off x="2366040" y="2147013"/>
            <a:ext cx="710991" cy="49191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8EC5E5FC-FE27-C34F-6102-D265E1C14F8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7" y="201877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0" name="Picture 47">
            <a:extLst>
              <a:ext uri="{FF2B5EF4-FFF2-40B4-BE49-F238E27FC236}">
                <a16:creationId xmlns:a16="http://schemas.microsoft.com/office/drawing/2014/main" id="{A2F32AAF-1242-19F1-1B9E-9F7263CCFB9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3CB912E8-687C-C797-5409-9240564B6228}"/>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4" name="Picture 46">
            <a:extLst>
              <a:ext uri="{FF2B5EF4-FFF2-40B4-BE49-F238E27FC236}">
                <a16:creationId xmlns:a16="http://schemas.microsoft.com/office/drawing/2014/main" id="{84122827-87E5-8A97-072F-D90EF7598B5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333" y="160238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E053A3D4-4332-5214-A731-E29193D77BC9}"/>
              </a:ext>
            </a:extLst>
          </p:cNvPr>
          <p:cNvSpPr txBox="1">
            <a:spLocks noChangeArrowheads="1"/>
          </p:cNvSpPr>
          <p:nvPr/>
        </p:nvSpPr>
        <p:spPr bwMode="auto">
          <a:xfrm>
            <a:off x="2885264" y="134608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7" name="Picture 46">
            <a:extLst>
              <a:ext uri="{FF2B5EF4-FFF2-40B4-BE49-F238E27FC236}">
                <a16:creationId xmlns:a16="http://schemas.microsoft.com/office/drawing/2014/main" id="{53C330BB-7A2D-42A2-EFC8-EE4033CCA53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7705"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 name="Text Box 173">
            <a:extLst>
              <a:ext uri="{FF2B5EF4-FFF2-40B4-BE49-F238E27FC236}">
                <a16:creationId xmlns:a16="http://schemas.microsoft.com/office/drawing/2014/main" id="{F33A1A26-DFB8-3269-6FFC-F07C3A398FB2}"/>
              </a:ext>
            </a:extLst>
          </p:cNvPr>
          <p:cNvSpPr txBox="1">
            <a:spLocks noChangeArrowheads="1"/>
          </p:cNvSpPr>
          <p:nvPr/>
        </p:nvSpPr>
        <p:spPr bwMode="auto">
          <a:xfrm>
            <a:off x="3770636"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9" name="Picture 46">
            <a:extLst>
              <a:ext uri="{FF2B5EF4-FFF2-40B4-BE49-F238E27FC236}">
                <a16:creationId xmlns:a16="http://schemas.microsoft.com/office/drawing/2014/main" id="{A73183F8-3FD4-28C0-5276-01E15D77F3F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0" name="Text Box 173">
            <a:extLst>
              <a:ext uri="{FF2B5EF4-FFF2-40B4-BE49-F238E27FC236}">
                <a16:creationId xmlns:a16="http://schemas.microsoft.com/office/drawing/2014/main" id="{522032AC-2E47-D458-B7C8-A2F1C635222F}"/>
              </a:ext>
            </a:extLst>
          </p:cNvPr>
          <p:cNvSpPr txBox="1">
            <a:spLocks noChangeArrowheads="1"/>
          </p:cNvSpPr>
          <p:nvPr/>
        </p:nvSpPr>
        <p:spPr bwMode="auto">
          <a:xfrm>
            <a:off x="4608852"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1" name="Picture 46">
            <a:extLst>
              <a:ext uri="{FF2B5EF4-FFF2-40B4-BE49-F238E27FC236}">
                <a16:creationId xmlns:a16="http://schemas.microsoft.com/office/drawing/2014/main" id="{45CE8796-6EC9-0CC6-6931-849CB916A8E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864" y="167635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2" name="Text Box 173">
            <a:extLst>
              <a:ext uri="{FF2B5EF4-FFF2-40B4-BE49-F238E27FC236}">
                <a16:creationId xmlns:a16="http://schemas.microsoft.com/office/drawing/2014/main" id="{108ED48D-CBD5-EADC-9E84-FC5F0D55363D}"/>
              </a:ext>
            </a:extLst>
          </p:cNvPr>
          <p:cNvSpPr txBox="1">
            <a:spLocks noChangeArrowheads="1"/>
          </p:cNvSpPr>
          <p:nvPr/>
        </p:nvSpPr>
        <p:spPr bwMode="auto">
          <a:xfrm>
            <a:off x="5781859" y="142958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979EEDD4-563C-E71E-831D-6A1F81064C05}"/>
              </a:ext>
            </a:extLst>
          </p:cNvPr>
          <p:cNvSpPr txBox="1">
            <a:spLocks noChangeArrowheads="1"/>
          </p:cNvSpPr>
          <p:nvPr/>
        </p:nvSpPr>
        <p:spPr bwMode="auto">
          <a:xfrm>
            <a:off x="2246992" y="1735931"/>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4" name="Text Box 173">
            <a:extLst>
              <a:ext uri="{FF2B5EF4-FFF2-40B4-BE49-F238E27FC236}">
                <a16:creationId xmlns:a16="http://schemas.microsoft.com/office/drawing/2014/main" id="{68DD7B70-1CC4-9F13-2848-93245D4591C0}"/>
              </a:ext>
            </a:extLst>
          </p:cNvPr>
          <p:cNvSpPr txBox="1">
            <a:spLocks noChangeArrowheads="1"/>
          </p:cNvSpPr>
          <p:nvPr/>
        </p:nvSpPr>
        <p:spPr bwMode="auto">
          <a:xfrm>
            <a:off x="6227094" y="190545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R8</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5" name="Text Box 173">
            <a:extLst>
              <a:ext uri="{FF2B5EF4-FFF2-40B4-BE49-F238E27FC236}">
                <a16:creationId xmlns:a16="http://schemas.microsoft.com/office/drawing/2014/main" id="{87A75086-36C9-E54C-7BCF-235BACD83233}"/>
              </a:ext>
            </a:extLst>
          </p:cNvPr>
          <p:cNvSpPr txBox="1">
            <a:spLocks noChangeArrowheads="1"/>
          </p:cNvSpPr>
          <p:nvPr/>
        </p:nvSpPr>
        <p:spPr bwMode="auto">
          <a:xfrm>
            <a:off x="2712610" y="264078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6" name="Text Box 173">
            <a:extLst>
              <a:ext uri="{FF2B5EF4-FFF2-40B4-BE49-F238E27FC236}">
                <a16:creationId xmlns:a16="http://schemas.microsoft.com/office/drawing/2014/main" id="{5CFE95DF-5D3A-DE38-F2FE-C8DF946EBB13}"/>
              </a:ext>
            </a:extLst>
          </p:cNvPr>
          <p:cNvSpPr txBox="1">
            <a:spLocks noChangeArrowheads="1"/>
          </p:cNvSpPr>
          <p:nvPr/>
        </p:nvSpPr>
        <p:spPr bwMode="auto">
          <a:xfrm>
            <a:off x="5758400" y="278449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4111562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1299309" y="3778369"/>
            <a:ext cx="6545382"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R1a </a:t>
            </a:r>
            <a:r>
              <a:rPr lang="zh-CN" altLang="en-US" dirty="0"/>
              <a:t>选择 </a:t>
            </a:r>
            <a:r>
              <a:rPr lang="en-US" altLang="zh-CN" dirty="0"/>
              <a:t>R1c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R1c</a:t>
            </a:r>
            <a:r>
              <a:rPr lang="zh-CN" altLang="en-US" dirty="0"/>
              <a:t>）</a:t>
            </a:r>
          </a:p>
          <a:p>
            <a:r>
              <a:rPr lang="en-US" altLang="zh-CN" dirty="0"/>
              <a:t>R1b </a:t>
            </a:r>
            <a:r>
              <a:rPr lang="zh-CN" altLang="en-US" dirty="0"/>
              <a:t>选择 </a:t>
            </a:r>
            <a:r>
              <a:rPr lang="en-US" altLang="zh-CN" dirty="0"/>
              <a:t>R1d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R1d</a:t>
            </a:r>
            <a:r>
              <a:rPr lang="zh-CN" altLang="en-US" dirty="0"/>
              <a:t>）</a:t>
            </a:r>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2400528" cy="5280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80" name="Text Box 173"/>
          <p:cNvSpPr txBox="1">
            <a:spLocks noChangeArrowheads="1"/>
          </p:cNvSpPr>
          <p:nvPr/>
        </p:nvSpPr>
        <p:spPr bwMode="auto">
          <a:xfrm>
            <a:off x="882387"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181" name="Text Box 173"/>
          <p:cNvSpPr txBox="1">
            <a:spLocks noChangeArrowheads="1"/>
          </p:cNvSpPr>
          <p:nvPr/>
        </p:nvSpPr>
        <p:spPr bwMode="auto">
          <a:xfrm>
            <a:off x="877725" y="1126614"/>
            <a:ext cx="367985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AS5 , LOCAL-PREF = 200, IP2a ]</a:t>
            </a:r>
          </a:p>
        </p:txBody>
      </p:sp>
      <p:sp>
        <p:nvSpPr>
          <p:cNvPr id="2" name="标题 1">
            <a:extLst>
              <a:ext uri="{FF2B5EF4-FFF2-40B4-BE49-F238E27FC236}">
                <a16:creationId xmlns:a16="http://schemas.microsoft.com/office/drawing/2014/main" id="{37473CCE-9C49-A873-6410-AF15D085FF1F}"/>
              </a:ext>
            </a:extLst>
          </p:cNvPr>
          <p:cNvSpPr>
            <a:spLocks noGrp="1"/>
          </p:cNvSpPr>
          <p:nvPr>
            <p:ph type="title"/>
          </p:nvPr>
        </p:nvSpPr>
        <p:spPr>
          <a:xfrm>
            <a:off x="486000" y="550723"/>
            <a:ext cx="8172000" cy="338554"/>
          </a:xfrm>
        </p:spPr>
        <p:txBody>
          <a:bodyPr/>
          <a:lstStyle/>
          <a:p>
            <a:r>
              <a:rPr lang="zh-CN" altLang="en-US" dirty="0"/>
              <a:t>热土豆路由选择算法</a:t>
            </a:r>
          </a:p>
        </p:txBody>
      </p:sp>
    </p:spTree>
    <p:extLst>
      <p:ext uri="{BB962C8B-B14F-4D97-AF65-F5344CB8AC3E}">
        <p14:creationId xmlns:p14="http://schemas.microsoft.com/office/powerpoint/2010/main" val="33679814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B387C-0DD2-CC1E-5CEE-4F34E982451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2F6C3191-72EB-94E0-A454-165CC4406111}"/>
              </a:ext>
            </a:extLst>
          </p:cNvPr>
          <p:cNvSpPr>
            <a:spLocks noChangeShapeType="1"/>
          </p:cNvSpPr>
          <p:nvPr/>
        </p:nvSpPr>
        <p:spPr bwMode="auto">
          <a:xfrm flipV="1">
            <a:off x="5013494" y="2219397"/>
            <a:ext cx="1375711" cy="63043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a:extLst>
              <a:ext uri="{FF2B5EF4-FFF2-40B4-BE49-F238E27FC236}">
                <a16:creationId xmlns:a16="http://schemas.microsoft.com/office/drawing/2014/main" id="{46DB3CC7-F46F-1119-725D-1BFDC7EB9F32}"/>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17" name="Group 206">
            <a:extLst>
              <a:ext uri="{FF2B5EF4-FFF2-40B4-BE49-F238E27FC236}">
                <a16:creationId xmlns:a16="http://schemas.microsoft.com/office/drawing/2014/main" id="{3E381288-32F1-7A7D-022F-BE7196EB9F14}"/>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43E9C5D2-8799-066A-CD10-5B6AE3D079EE}"/>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a:extLst>
                <a:ext uri="{FF2B5EF4-FFF2-40B4-BE49-F238E27FC236}">
                  <a16:creationId xmlns:a16="http://schemas.microsoft.com/office/drawing/2014/main" id="{EB6FEADA-0A51-6C32-E9C9-31102249890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a:extLst>
                <a:ext uri="{FF2B5EF4-FFF2-40B4-BE49-F238E27FC236}">
                  <a16:creationId xmlns:a16="http://schemas.microsoft.com/office/drawing/2014/main" id="{4FA6D9FF-79FD-8710-F3AF-D67F24E8183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a:extLst>
                <a:ext uri="{FF2B5EF4-FFF2-40B4-BE49-F238E27FC236}">
                  <a16:creationId xmlns:a16="http://schemas.microsoft.com/office/drawing/2014/main" id="{ED9AFB12-7A0B-27F5-3771-F2A51F45EA7E}"/>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a:extLst>
                <a:ext uri="{FF2B5EF4-FFF2-40B4-BE49-F238E27FC236}">
                  <a16:creationId xmlns:a16="http://schemas.microsoft.com/office/drawing/2014/main" id="{66620B41-383F-7E01-96FA-6398DA2DE5EB}"/>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a:extLst>
                <a:ext uri="{FF2B5EF4-FFF2-40B4-BE49-F238E27FC236}">
                  <a16:creationId xmlns:a16="http://schemas.microsoft.com/office/drawing/2014/main" id="{5FDA0235-939C-E519-1F92-15BEB5F297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a:extLst>
                <a:ext uri="{FF2B5EF4-FFF2-40B4-BE49-F238E27FC236}">
                  <a16:creationId xmlns:a16="http://schemas.microsoft.com/office/drawing/2014/main" id="{BCA736F4-7B7D-103F-587E-8B30B4A27F22}"/>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a:extLst>
                <a:ext uri="{FF2B5EF4-FFF2-40B4-BE49-F238E27FC236}">
                  <a16:creationId xmlns:a16="http://schemas.microsoft.com/office/drawing/2014/main" id="{EF9468DA-C62F-F947-4DAA-CD25626FA94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a:extLst>
                <a:ext uri="{FF2B5EF4-FFF2-40B4-BE49-F238E27FC236}">
                  <a16:creationId xmlns:a16="http://schemas.microsoft.com/office/drawing/2014/main" id="{FBF1512C-C564-F3FA-5F04-E0CF7D25321D}"/>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a:extLst>
                <a:ext uri="{FF2B5EF4-FFF2-40B4-BE49-F238E27FC236}">
                  <a16:creationId xmlns:a16="http://schemas.microsoft.com/office/drawing/2014/main" id="{20AA038F-7F32-E217-C04E-3E4B0A07BBBB}"/>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E5B87577-D52E-3588-6402-3DAF25AF6DC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a:extLst>
                  <a:ext uri="{FF2B5EF4-FFF2-40B4-BE49-F238E27FC236}">
                    <a16:creationId xmlns:a16="http://schemas.microsoft.com/office/drawing/2014/main" id="{A2897535-BDDC-CC0E-50BD-9E4DEC4AA8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a:extLst>
                  <a:ext uri="{FF2B5EF4-FFF2-40B4-BE49-F238E27FC236}">
                    <a16:creationId xmlns:a16="http://schemas.microsoft.com/office/drawing/2014/main" id="{BF4B1240-070E-11F3-2022-8D751752F38B}"/>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a:extLst>
                  <a:ext uri="{FF2B5EF4-FFF2-40B4-BE49-F238E27FC236}">
                    <a16:creationId xmlns:a16="http://schemas.microsoft.com/office/drawing/2014/main" id="{F74003A4-9B18-8E86-CDF8-0DA4E0E668C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a:extLst>
                  <a:ext uri="{FF2B5EF4-FFF2-40B4-BE49-F238E27FC236}">
                    <a16:creationId xmlns:a16="http://schemas.microsoft.com/office/drawing/2014/main" id="{3194281A-0F62-65A5-6243-F20C8CFCBFFC}"/>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a:extLst>
                  <a:ext uri="{FF2B5EF4-FFF2-40B4-BE49-F238E27FC236}">
                    <a16:creationId xmlns:a16="http://schemas.microsoft.com/office/drawing/2014/main" id="{E02A5370-E6B7-8E6E-1BB2-D933BA734265}"/>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a:extLst>
                  <a:ext uri="{FF2B5EF4-FFF2-40B4-BE49-F238E27FC236}">
                    <a16:creationId xmlns:a16="http://schemas.microsoft.com/office/drawing/2014/main" id="{230973CD-DE0A-C3AB-0311-70BB50E1720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a:extLst>
                  <a:ext uri="{FF2B5EF4-FFF2-40B4-BE49-F238E27FC236}">
                    <a16:creationId xmlns:a16="http://schemas.microsoft.com/office/drawing/2014/main" id="{05B15676-29BD-F92D-F577-D145DCF8DD9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a:extLst>
                  <a:ext uri="{FF2B5EF4-FFF2-40B4-BE49-F238E27FC236}">
                    <a16:creationId xmlns:a16="http://schemas.microsoft.com/office/drawing/2014/main" id="{6ACC9EB8-4420-F4CC-3A35-C3A65DB40484}"/>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AD92F79D-93FC-53B3-05CD-9154DE5A9128}"/>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7AADBA17-4CF7-D2DC-B668-A5C645909B9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a:extLst>
                <a:ext uri="{FF2B5EF4-FFF2-40B4-BE49-F238E27FC236}">
                  <a16:creationId xmlns:a16="http://schemas.microsoft.com/office/drawing/2014/main" id="{28F8F4AE-3122-9E32-24D1-D4F6BC6388D1}"/>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a:extLst>
                <a:ext uri="{FF2B5EF4-FFF2-40B4-BE49-F238E27FC236}">
                  <a16:creationId xmlns:a16="http://schemas.microsoft.com/office/drawing/2014/main" id="{F38A5643-82AD-FB17-5640-119AFBA3457B}"/>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a:extLst>
                <a:ext uri="{FF2B5EF4-FFF2-40B4-BE49-F238E27FC236}">
                  <a16:creationId xmlns:a16="http://schemas.microsoft.com/office/drawing/2014/main" id="{4B73C508-C07D-3A86-EAE0-E165C5988D4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a:extLst>
                <a:ext uri="{FF2B5EF4-FFF2-40B4-BE49-F238E27FC236}">
                  <a16:creationId xmlns:a16="http://schemas.microsoft.com/office/drawing/2014/main" id="{F1793206-EA07-C00B-7FE7-14B0704135F0}"/>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a:extLst>
                <a:ext uri="{FF2B5EF4-FFF2-40B4-BE49-F238E27FC236}">
                  <a16:creationId xmlns:a16="http://schemas.microsoft.com/office/drawing/2014/main" id="{AF05E44A-D006-1D7B-5A2A-BF128CA63E7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a:extLst>
                <a:ext uri="{FF2B5EF4-FFF2-40B4-BE49-F238E27FC236}">
                  <a16:creationId xmlns:a16="http://schemas.microsoft.com/office/drawing/2014/main" id="{85755600-48CB-9E3D-7954-60A2E77F1843}"/>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a:extLst>
                <a:ext uri="{FF2B5EF4-FFF2-40B4-BE49-F238E27FC236}">
                  <a16:creationId xmlns:a16="http://schemas.microsoft.com/office/drawing/2014/main" id="{2156E309-D2AB-31C4-744E-EC68496D50FA}"/>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a:extLst>
                <a:ext uri="{FF2B5EF4-FFF2-40B4-BE49-F238E27FC236}">
                  <a16:creationId xmlns:a16="http://schemas.microsoft.com/office/drawing/2014/main" id="{F668C8F2-F446-8008-6872-1F57D6093942}"/>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a:extLst>
                <a:ext uri="{FF2B5EF4-FFF2-40B4-BE49-F238E27FC236}">
                  <a16:creationId xmlns:a16="http://schemas.microsoft.com/office/drawing/2014/main" id="{3F30D6C0-122D-6332-70D5-FD13C9B88E72}"/>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7311B8B1-4B09-C3ED-D14E-65017AB795F4}"/>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a:extLst>
                  <a:ext uri="{FF2B5EF4-FFF2-40B4-BE49-F238E27FC236}">
                    <a16:creationId xmlns:a16="http://schemas.microsoft.com/office/drawing/2014/main" id="{B6B6401D-3409-C938-9711-1B8A97248B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a:extLst>
                  <a:ext uri="{FF2B5EF4-FFF2-40B4-BE49-F238E27FC236}">
                    <a16:creationId xmlns:a16="http://schemas.microsoft.com/office/drawing/2014/main" id="{0D5785E4-A6FC-88BE-7707-A4FA2BE025AE}"/>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a:extLst>
                  <a:ext uri="{FF2B5EF4-FFF2-40B4-BE49-F238E27FC236}">
                    <a16:creationId xmlns:a16="http://schemas.microsoft.com/office/drawing/2014/main" id="{A5FD863C-55F5-F447-DD74-AB51980E2D7C}"/>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a:extLst>
                  <a:ext uri="{FF2B5EF4-FFF2-40B4-BE49-F238E27FC236}">
                    <a16:creationId xmlns:a16="http://schemas.microsoft.com/office/drawing/2014/main" id="{5B754981-C94B-CF43-2D5D-DBB1D25DD06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a:extLst>
                  <a:ext uri="{FF2B5EF4-FFF2-40B4-BE49-F238E27FC236}">
                    <a16:creationId xmlns:a16="http://schemas.microsoft.com/office/drawing/2014/main" id="{6A21110F-BE37-A1E0-6187-B04971ED1396}"/>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a:extLst>
                  <a:ext uri="{FF2B5EF4-FFF2-40B4-BE49-F238E27FC236}">
                    <a16:creationId xmlns:a16="http://schemas.microsoft.com/office/drawing/2014/main" id="{F996865D-9AA5-CB1C-0950-A02ABA32355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a:extLst>
                  <a:ext uri="{FF2B5EF4-FFF2-40B4-BE49-F238E27FC236}">
                    <a16:creationId xmlns:a16="http://schemas.microsoft.com/office/drawing/2014/main" id="{079F96FF-25E4-FA66-73DC-EED5C2E35E4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a:extLst>
                  <a:ext uri="{FF2B5EF4-FFF2-40B4-BE49-F238E27FC236}">
                    <a16:creationId xmlns:a16="http://schemas.microsoft.com/office/drawing/2014/main" id="{1CF8ACDF-9167-8B11-E55A-90D98D1A70B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62" name="Text Box 174">
            <a:extLst>
              <a:ext uri="{FF2B5EF4-FFF2-40B4-BE49-F238E27FC236}">
                <a16:creationId xmlns:a16="http://schemas.microsoft.com/office/drawing/2014/main" id="{42EF20A2-7A4A-6352-29B5-5A43B7E64C6B}"/>
              </a:ext>
            </a:extLst>
          </p:cNvPr>
          <p:cNvSpPr txBox="1">
            <a:spLocks noChangeArrowheads="1"/>
          </p:cNvSpPr>
          <p:nvPr/>
        </p:nvSpPr>
        <p:spPr bwMode="auto">
          <a:xfrm>
            <a:off x="6723498" y="201633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B4017B90-33E9-614E-C225-D6AC0CF0A9E4}"/>
              </a:ext>
            </a:extLst>
          </p:cNvPr>
          <p:cNvSpPr txBox="1">
            <a:spLocks noChangeArrowheads="1"/>
          </p:cNvSpPr>
          <p:nvPr/>
        </p:nvSpPr>
        <p:spPr bwMode="auto">
          <a:xfrm>
            <a:off x="5001744" y="1541227"/>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539831DE-BFDF-B45C-5394-F1D383FDE63E}"/>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a:extLst>
              <a:ext uri="{FF2B5EF4-FFF2-40B4-BE49-F238E27FC236}">
                <a16:creationId xmlns:a16="http://schemas.microsoft.com/office/drawing/2014/main" id="{959C5AEB-1AFF-56B7-1677-2A79E50FEAD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01" name="Text Box 173">
            <a:extLst>
              <a:ext uri="{FF2B5EF4-FFF2-40B4-BE49-F238E27FC236}">
                <a16:creationId xmlns:a16="http://schemas.microsoft.com/office/drawing/2014/main" id="{CE056CEE-0FE6-44F0-832C-3E528D234A53}"/>
              </a:ext>
            </a:extLst>
          </p:cNvPr>
          <p:cNvSpPr txBox="1">
            <a:spLocks noChangeArrowheads="1"/>
          </p:cNvSpPr>
          <p:nvPr/>
        </p:nvSpPr>
        <p:spPr bwMode="auto">
          <a:xfrm>
            <a:off x="877725" y="3642680"/>
            <a:ext cx="35157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AS4 , R7, LOCAL-PREF = 200 ]</a:t>
            </a:r>
          </a:p>
        </p:txBody>
      </p:sp>
      <p:sp>
        <p:nvSpPr>
          <p:cNvPr id="402" name="Text Box 173">
            <a:extLst>
              <a:ext uri="{FF2B5EF4-FFF2-40B4-BE49-F238E27FC236}">
                <a16:creationId xmlns:a16="http://schemas.microsoft.com/office/drawing/2014/main" id="{76C04CB4-9960-B1DD-1CDD-ECC1F8D91627}"/>
              </a:ext>
            </a:extLst>
          </p:cNvPr>
          <p:cNvSpPr txBox="1">
            <a:spLocks noChangeArrowheads="1"/>
          </p:cNvSpPr>
          <p:nvPr/>
        </p:nvSpPr>
        <p:spPr bwMode="auto">
          <a:xfrm>
            <a:off x="877725" y="613131"/>
            <a:ext cx="389080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AS4 , R5,</a:t>
            </a:r>
            <a:r>
              <a:rPr lang="zh-CN" altLang="en-US" dirty="0"/>
              <a:t> </a:t>
            </a:r>
            <a:r>
              <a:rPr lang="en-US" altLang="zh-CN" dirty="0"/>
              <a:t>LOCAL-PREF = 200 ]</a:t>
            </a:r>
          </a:p>
        </p:txBody>
      </p:sp>
      <p:sp>
        <p:nvSpPr>
          <p:cNvPr id="2" name="任意多边形: 形状 1">
            <a:extLst>
              <a:ext uri="{FF2B5EF4-FFF2-40B4-BE49-F238E27FC236}">
                <a16:creationId xmlns:a16="http://schemas.microsoft.com/office/drawing/2014/main" id="{E5E3C0B2-B331-201B-A112-162704B18996}"/>
              </a:ext>
            </a:extLst>
          </p:cNvPr>
          <p:cNvSpPr>
            <a:spLocks noChangeArrowheads="1"/>
          </p:cNvSpPr>
          <p:nvPr/>
        </p:nvSpPr>
        <p:spPr bwMode="auto">
          <a:xfrm>
            <a:off x="1321709" y="1641909"/>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1" name="Text Box 173">
            <a:extLst>
              <a:ext uri="{FF2B5EF4-FFF2-40B4-BE49-F238E27FC236}">
                <a16:creationId xmlns:a16="http://schemas.microsoft.com/office/drawing/2014/main" id="{539739F1-A806-1F58-E03A-FDE8A3B6D8A6}"/>
              </a:ext>
            </a:extLst>
          </p:cNvPr>
          <p:cNvSpPr txBox="1">
            <a:spLocks noChangeArrowheads="1"/>
          </p:cNvSpPr>
          <p:nvPr/>
        </p:nvSpPr>
        <p:spPr bwMode="auto">
          <a:xfrm>
            <a:off x="2217773" y="215296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67E89455-8DC0-7D5D-502A-E81391A497A4}"/>
              </a:ext>
            </a:extLst>
          </p:cNvPr>
          <p:cNvSpPr>
            <a:spLocks noChangeShapeType="1"/>
          </p:cNvSpPr>
          <p:nvPr/>
        </p:nvSpPr>
        <p:spPr bwMode="auto">
          <a:xfrm>
            <a:off x="3201624" y="2820184"/>
            <a:ext cx="1459336" cy="5705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299" name="Picture 52">
            <a:extLst>
              <a:ext uri="{FF2B5EF4-FFF2-40B4-BE49-F238E27FC236}">
                <a16:creationId xmlns:a16="http://schemas.microsoft.com/office/drawing/2014/main" id="{5C5C9D54-F425-CA27-BBD3-B62E33B8354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4162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D8AFA444-B6A7-C271-7C8D-BBAFEF2A89D3}"/>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FF0000"/>
                </a:solidFill>
                <a:latin typeface="Courier New" panose="02070309020205020404" pitchFamily="49" charset="0"/>
                <a:cs typeface="Courier New" panose="02070309020205020404" pitchFamily="49" charset="0"/>
              </a:rPr>
              <a:t>X</a:t>
            </a:r>
            <a:endParaRPr lang="zh-CN" altLang="en-US" sz="1200" b="1" dirty="0">
              <a:solidFill>
                <a:srgbClr val="FF0000"/>
              </a:solidFill>
              <a:latin typeface="Courier New" panose="02070309020205020404" pitchFamily="49" charset="0"/>
              <a:cs typeface="Courier New" panose="02070309020205020404" pitchFamily="49" charset="0"/>
            </a:endParaRPr>
          </a:p>
        </p:txBody>
      </p:sp>
      <p:pic>
        <p:nvPicPr>
          <p:cNvPr id="3" name="Picture 52">
            <a:extLst>
              <a:ext uri="{FF2B5EF4-FFF2-40B4-BE49-F238E27FC236}">
                <a16:creationId xmlns:a16="http://schemas.microsoft.com/office/drawing/2014/main" id="{F69E04DD-A66D-6D9B-8A4F-8A02289DF3F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76573"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02B93C6E-16BA-0FF8-41C4-1E471F4732B1}"/>
              </a:ext>
            </a:extLst>
          </p:cNvPr>
          <p:cNvSpPr txBox="1">
            <a:spLocks noChangeArrowheads="1"/>
          </p:cNvSpPr>
          <p:nvPr/>
        </p:nvSpPr>
        <p:spPr bwMode="auto">
          <a:xfrm>
            <a:off x="2657419" y="247741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R4</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754BAB43-AB90-4848-9D11-31C6C81D1F8F}"/>
              </a:ext>
            </a:extLst>
          </p:cNvPr>
          <p:cNvSpPr txBox="1">
            <a:spLocks noChangeArrowheads="1"/>
          </p:cNvSpPr>
          <p:nvPr/>
        </p:nvSpPr>
        <p:spPr bwMode="auto">
          <a:xfrm>
            <a:off x="2666726" y="1496030"/>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R3</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EA6985D4-4E44-B184-BCCC-5B634C83BF1E}"/>
              </a:ext>
            </a:extLst>
          </p:cNvPr>
          <p:cNvSpPr txBox="1">
            <a:spLocks noChangeArrowheads="1"/>
          </p:cNvSpPr>
          <p:nvPr/>
        </p:nvSpPr>
        <p:spPr bwMode="auto">
          <a:xfrm>
            <a:off x="1259285" y="2268509"/>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R1</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461D4202-21A6-B73A-3075-D59DCE89EA33}"/>
              </a:ext>
            </a:extLst>
          </p:cNvPr>
          <p:cNvSpPr txBox="1">
            <a:spLocks noChangeArrowheads="1"/>
          </p:cNvSpPr>
          <p:nvPr/>
        </p:nvSpPr>
        <p:spPr bwMode="auto">
          <a:xfrm>
            <a:off x="1852564" y="1560094"/>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R2</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grpSp>
        <p:nvGrpSpPr>
          <p:cNvPr id="366" name="Group 206">
            <a:extLst>
              <a:ext uri="{FF2B5EF4-FFF2-40B4-BE49-F238E27FC236}">
                <a16:creationId xmlns:a16="http://schemas.microsoft.com/office/drawing/2014/main" id="{7F477235-6308-50C2-0EF3-71B6D4A16727}"/>
              </a:ext>
            </a:extLst>
          </p:cNvPr>
          <p:cNvGrpSpPr>
            <a:grpSpLocks/>
          </p:cNvGrpSpPr>
          <p:nvPr/>
        </p:nvGrpSpPr>
        <p:grpSpPr bwMode="auto">
          <a:xfrm>
            <a:off x="3939650" y="2580715"/>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178FEC7E-6E78-AB95-979F-9659414BF221}"/>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a:extLst>
                <a:ext uri="{FF2B5EF4-FFF2-40B4-BE49-F238E27FC236}">
                  <a16:creationId xmlns:a16="http://schemas.microsoft.com/office/drawing/2014/main" id="{E27E746F-509F-E1E7-FD76-1B74314634BF}"/>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a:extLst>
                <a:ext uri="{FF2B5EF4-FFF2-40B4-BE49-F238E27FC236}">
                  <a16:creationId xmlns:a16="http://schemas.microsoft.com/office/drawing/2014/main" id="{4DC93FA0-6A4A-4684-F76A-33F2C550A1B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a:extLst>
                <a:ext uri="{FF2B5EF4-FFF2-40B4-BE49-F238E27FC236}">
                  <a16:creationId xmlns:a16="http://schemas.microsoft.com/office/drawing/2014/main" id="{D3CF3C66-3965-7C43-CAA2-FC9CC40350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a:extLst>
                <a:ext uri="{FF2B5EF4-FFF2-40B4-BE49-F238E27FC236}">
                  <a16:creationId xmlns:a16="http://schemas.microsoft.com/office/drawing/2014/main" id="{D5D25C51-43B8-C3BE-E45A-F479B4AD9A0F}"/>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a:extLst>
                <a:ext uri="{FF2B5EF4-FFF2-40B4-BE49-F238E27FC236}">
                  <a16:creationId xmlns:a16="http://schemas.microsoft.com/office/drawing/2014/main" id="{4EEBA3AC-489F-104B-C0F7-8DCA8636E15D}"/>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a:extLst>
                <a:ext uri="{FF2B5EF4-FFF2-40B4-BE49-F238E27FC236}">
                  <a16:creationId xmlns:a16="http://schemas.microsoft.com/office/drawing/2014/main" id="{2BA5CF68-8CB3-4A04-0690-FB8A553A724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a:extLst>
                <a:ext uri="{FF2B5EF4-FFF2-40B4-BE49-F238E27FC236}">
                  <a16:creationId xmlns:a16="http://schemas.microsoft.com/office/drawing/2014/main" id="{161EA331-5196-87A8-809A-8339525A013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a:extLst>
                <a:ext uri="{FF2B5EF4-FFF2-40B4-BE49-F238E27FC236}">
                  <a16:creationId xmlns:a16="http://schemas.microsoft.com/office/drawing/2014/main" id="{88AF05B2-B80D-46DA-F11C-2124EE7B7E58}"/>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a:extLst>
                <a:ext uri="{FF2B5EF4-FFF2-40B4-BE49-F238E27FC236}">
                  <a16:creationId xmlns:a16="http://schemas.microsoft.com/office/drawing/2014/main" id="{B3222B07-D89A-A531-192A-442E2EF5FF10}"/>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748440EA-B377-D843-D15E-1779F6D59876}"/>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a:extLst>
                  <a:ext uri="{FF2B5EF4-FFF2-40B4-BE49-F238E27FC236}">
                    <a16:creationId xmlns:a16="http://schemas.microsoft.com/office/drawing/2014/main" id="{A97EC9DF-975F-E8D9-97A8-BFF9451EB88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a:extLst>
                  <a:ext uri="{FF2B5EF4-FFF2-40B4-BE49-F238E27FC236}">
                    <a16:creationId xmlns:a16="http://schemas.microsoft.com/office/drawing/2014/main" id="{84BD4553-668E-CB65-06B2-35253AE3EAF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a:extLst>
                  <a:ext uri="{FF2B5EF4-FFF2-40B4-BE49-F238E27FC236}">
                    <a16:creationId xmlns:a16="http://schemas.microsoft.com/office/drawing/2014/main" id="{F85F632B-2B4E-477C-87D4-AF4369BFEEE4}"/>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a:extLst>
                  <a:ext uri="{FF2B5EF4-FFF2-40B4-BE49-F238E27FC236}">
                    <a16:creationId xmlns:a16="http://schemas.microsoft.com/office/drawing/2014/main" id="{76E01998-F3F3-5533-08E4-8857F44AC0E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a:extLst>
                  <a:ext uri="{FF2B5EF4-FFF2-40B4-BE49-F238E27FC236}">
                    <a16:creationId xmlns:a16="http://schemas.microsoft.com/office/drawing/2014/main" id="{DE4D3FD5-00DE-6D55-889A-3CB3F4B1588A}"/>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a:extLst>
                  <a:ext uri="{FF2B5EF4-FFF2-40B4-BE49-F238E27FC236}">
                    <a16:creationId xmlns:a16="http://schemas.microsoft.com/office/drawing/2014/main" id="{476214D8-295A-3D11-2313-8C5CD1292311}"/>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a:extLst>
                  <a:ext uri="{FF2B5EF4-FFF2-40B4-BE49-F238E27FC236}">
                    <a16:creationId xmlns:a16="http://schemas.microsoft.com/office/drawing/2014/main" id="{E9DAC305-1DC8-EB9C-F05A-DB77470A2B2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a:extLst>
                  <a:ext uri="{FF2B5EF4-FFF2-40B4-BE49-F238E27FC236}">
                    <a16:creationId xmlns:a16="http://schemas.microsoft.com/office/drawing/2014/main" id="{18580FBD-B3C2-37FD-DA1B-0E012A2B82E7}"/>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a:extLst>
              <a:ext uri="{FF2B5EF4-FFF2-40B4-BE49-F238E27FC236}">
                <a16:creationId xmlns:a16="http://schemas.microsoft.com/office/drawing/2014/main" id="{A47384F1-01D5-C2AE-26DF-1A442591E82B}"/>
              </a:ext>
            </a:extLst>
          </p:cNvPr>
          <p:cNvSpPr txBox="1">
            <a:spLocks noChangeArrowheads="1"/>
          </p:cNvSpPr>
          <p:nvPr/>
        </p:nvSpPr>
        <p:spPr bwMode="auto">
          <a:xfrm>
            <a:off x="4503779" y="2719948"/>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AS</a:t>
            </a:r>
            <a:r>
              <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rPr>
              <a:t>3</a:t>
            </a:r>
          </a:p>
        </p:txBody>
      </p:sp>
      <p:sp>
        <p:nvSpPr>
          <p:cNvPr id="14" name="Line 154">
            <a:extLst>
              <a:ext uri="{FF2B5EF4-FFF2-40B4-BE49-F238E27FC236}">
                <a16:creationId xmlns:a16="http://schemas.microsoft.com/office/drawing/2014/main" id="{ABD747ED-987F-679F-1DF5-B04F4CC47FFD}"/>
              </a:ext>
            </a:extLst>
          </p:cNvPr>
          <p:cNvSpPr>
            <a:spLocks noChangeShapeType="1"/>
          </p:cNvSpPr>
          <p:nvPr/>
        </p:nvSpPr>
        <p:spPr bwMode="auto">
          <a:xfrm flipV="1">
            <a:off x="1591924" y="1948419"/>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a:extLst>
              <a:ext uri="{FF2B5EF4-FFF2-40B4-BE49-F238E27FC236}">
                <a16:creationId xmlns:a16="http://schemas.microsoft.com/office/drawing/2014/main" id="{C0F09BE0-FEED-0B43-C1F7-53C0FB250162}"/>
              </a:ext>
            </a:extLst>
          </p:cNvPr>
          <p:cNvSpPr>
            <a:spLocks noChangeShapeType="1"/>
          </p:cNvSpPr>
          <p:nvPr/>
        </p:nvSpPr>
        <p:spPr bwMode="auto">
          <a:xfrm>
            <a:off x="1769890" y="2651961"/>
            <a:ext cx="1146275" cy="16822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a:extLst>
              <a:ext uri="{FF2B5EF4-FFF2-40B4-BE49-F238E27FC236}">
                <a16:creationId xmlns:a16="http://schemas.microsoft.com/office/drawing/2014/main" id="{02D63B9B-DAB1-8D04-B567-893DE20F4104}"/>
              </a:ext>
            </a:extLst>
          </p:cNvPr>
          <p:cNvSpPr>
            <a:spLocks noChangeShapeType="1"/>
          </p:cNvSpPr>
          <p:nvPr/>
        </p:nvSpPr>
        <p:spPr bwMode="auto">
          <a:xfrm flipV="1">
            <a:off x="2037893" y="1832203"/>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pic>
        <p:nvPicPr>
          <p:cNvPr id="10" name="Picture 52">
            <a:extLst>
              <a:ext uri="{FF2B5EF4-FFF2-40B4-BE49-F238E27FC236}">
                <a16:creationId xmlns:a16="http://schemas.microsoft.com/office/drawing/2014/main" id="{4476C66F-8178-93B7-8E34-3F42380A6B1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0120" y="1818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 name="Picture 52">
            <a:extLst>
              <a:ext uri="{FF2B5EF4-FFF2-40B4-BE49-F238E27FC236}">
                <a16:creationId xmlns:a16="http://schemas.microsoft.com/office/drawing/2014/main" id="{4DCDC15D-2BB6-BA49-CF55-D39C08FDDC30}"/>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09891" y="25233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7" name="Picture 46">
            <a:extLst>
              <a:ext uri="{FF2B5EF4-FFF2-40B4-BE49-F238E27FC236}">
                <a16:creationId xmlns:a16="http://schemas.microsoft.com/office/drawing/2014/main" id="{723CDB76-C522-40E0-6ED4-96BDA9D1816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8" name="Text Box 173">
            <a:extLst>
              <a:ext uri="{FF2B5EF4-FFF2-40B4-BE49-F238E27FC236}">
                <a16:creationId xmlns:a16="http://schemas.microsoft.com/office/drawing/2014/main" id="{3A5EC2E5-B7CB-EDB3-FDF1-C475B19682ED}"/>
              </a:ext>
            </a:extLst>
          </p:cNvPr>
          <p:cNvSpPr txBox="1">
            <a:spLocks noChangeArrowheads="1"/>
          </p:cNvSpPr>
          <p:nvPr/>
        </p:nvSpPr>
        <p:spPr bwMode="auto">
          <a:xfrm>
            <a:off x="4608852" y="1240248"/>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R5</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19" name="Picture 46">
            <a:extLst>
              <a:ext uri="{FF2B5EF4-FFF2-40B4-BE49-F238E27FC236}">
                <a16:creationId xmlns:a16="http://schemas.microsoft.com/office/drawing/2014/main" id="{BF21E560-D471-27A0-3E13-60CA4C81451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46" y="163941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0" name="Text Box 173">
            <a:extLst>
              <a:ext uri="{FF2B5EF4-FFF2-40B4-BE49-F238E27FC236}">
                <a16:creationId xmlns:a16="http://schemas.microsoft.com/office/drawing/2014/main" id="{F6AB9206-CF5A-EADA-593A-59A500A76515}"/>
              </a:ext>
            </a:extLst>
          </p:cNvPr>
          <p:cNvSpPr txBox="1">
            <a:spLocks noChangeArrowheads="1"/>
          </p:cNvSpPr>
          <p:nvPr/>
        </p:nvSpPr>
        <p:spPr bwMode="auto">
          <a:xfrm>
            <a:off x="5599277" y="1383122"/>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R6</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21" name="Picture 46">
            <a:extLst>
              <a:ext uri="{FF2B5EF4-FFF2-40B4-BE49-F238E27FC236}">
                <a16:creationId xmlns:a16="http://schemas.microsoft.com/office/drawing/2014/main" id="{3DCD0AE4-B38B-40A6-DB72-EB33337B34C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1975" y="272710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2" name="Text Box 173">
            <a:extLst>
              <a:ext uri="{FF2B5EF4-FFF2-40B4-BE49-F238E27FC236}">
                <a16:creationId xmlns:a16="http://schemas.microsoft.com/office/drawing/2014/main" id="{3FE67324-DA70-92ED-A41B-95A9974BF9B8}"/>
              </a:ext>
            </a:extLst>
          </p:cNvPr>
          <p:cNvSpPr txBox="1">
            <a:spLocks noChangeArrowheads="1"/>
          </p:cNvSpPr>
          <p:nvPr/>
        </p:nvSpPr>
        <p:spPr bwMode="auto">
          <a:xfrm>
            <a:off x="3864906" y="2470806"/>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R7</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pic>
        <p:nvPicPr>
          <p:cNvPr id="23" name="Picture 46">
            <a:extLst>
              <a:ext uri="{FF2B5EF4-FFF2-40B4-BE49-F238E27FC236}">
                <a16:creationId xmlns:a16="http://schemas.microsoft.com/office/drawing/2014/main" id="{499C4E85-D817-A8BB-D5C4-9EF12553BEC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77775" y="268613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4" name="Text Box 173">
            <a:extLst>
              <a:ext uri="{FF2B5EF4-FFF2-40B4-BE49-F238E27FC236}">
                <a16:creationId xmlns:a16="http://schemas.microsoft.com/office/drawing/2014/main" id="{BE6832DB-FBFD-5344-E27D-432B22B5DE6E}"/>
              </a:ext>
            </a:extLst>
          </p:cNvPr>
          <p:cNvSpPr txBox="1">
            <a:spLocks noChangeArrowheads="1"/>
          </p:cNvSpPr>
          <p:nvPr/>
        </p:nvSpPr>
        <p:spPr bwMode="auto">
          <a:xfrm>
            <a:off x="4950706" y="2429835"/>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R8</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
        <p:nvSpPr>
          <p:cNvPr id="25" name="Text Box 173">
            <a:extLst>
              <a:ext uri="{FF2B5EF4-FFF2-40B4-BE49-F238E27FC236}">
                <a16:creationId xmlns:a16="http://schemas.microsoft.com/office/drawing/2014/main" id="{6154DE0B-183A-124E-9C91-4979D28D81C4}"/>
              </a:ext>
            </a:extLst>
          </p:cNvPr>
          <p:cNvSpPr txBox="1">
            <a:spLocks noChangeArrowheads="1"/>
          </p:cNvSpPr>
          <p:nvPr/>
        </p:nvSpPr>
        <p:spPr bwMode="auto">
          <a:xfrm>
            <a:off x="6183576" y="1829584"/>
            <a:ext cx="37061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Courier New" panose="02070309020205020404" pitchFamily="49" charset="0"/>
                <a:ea typeface="微软雅黑" panose="020B0503020204020204" pitchFamily="34" charset="-122"/>
                <a:cs typeface="Courier New" panose="02070309020205020404" pitchFamily="49" charset="0"/>
              </a:rPr>
              <a:t>R9</a:t>
            </a:r>
            <a:endParaRPr lang="en-US" altLang="zh-CN" sz="1200" b="1" baseline="-25000" dirty="0">
              <a:latin typeface="Courier New" panose="02070309020205020404" pitchFamily="49"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2535839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任意多边形: 形状 7">
            <a:extLst>
              <a:ext uri="{FF2B5EF4-FFF2-40B4-BE49-F238E27FC236}">
                <a16:creationId xmlns:a16="http://schemas.microsoft.com/office/drawing/2014/main" id="{EC7E59E6-241D-8A30-BE71-62E5799CA454}"/>
              </a:ext>
            </a:extLst>
          </p:cNvPr>
          <p:cNvSpPr/>
          <p:nvPr/>
        </p:nvSpPr>
        <p:spPr>
          <a:xfrm>
            <a:off x="3115923" y="121301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用来与相邻的另一个 </a:t>
            </a:r>
            <a:r>
              <a:rPr lang="en-US" altLang="en-US" sz="1400" b="0" kern="1200" dirty="0">
                <a:latin typeface="微软雅黑" panose="020B0503020204020204" pitchFamily="34" charset="-122"/>
                <a:ea typeface="微软雅黑" panose="020B0503020204020204" pitchFamily="34" charset="-122"/>
              </a:rPr>
              <a:t>BGP </a:t>
            </a:r>
            <a:r>
              <a:rPr lang="zh-CN" altLang="en-US" sz="1400" b="0" kern="1200" dirty="0">
                <a:latin typeface="微软雅黑" panose="020B0503020204020204" pitchFamily="34" charset="-122"/>
                <a:ea typeface="微软雅黑" panose="020B0503020204020204" pitchFamily="34" charset="-122"/>
              </a:rPr>
              <a:t>发言者建立关系，使通信初始化</a:t>
            </a:r>
          </a:p>
        </p:txBody>
      </p:sp>
      <p:sp>
        <p:nvSpPr>
          <p:cNvPr id="9" name="任意多边形: 形状 8">
            <a:extLst>
              <a:ext uri="{FF2B5EF4-FFF2-40B4-BE49-F238E27FC236}">
                <a16:creationId xmlns:a16="http://schemas.microsoft.com/office/drawing/2014/main" id="{395A428C-771A-78A7-3F49-4A077D27D088}"/>
              </a:ext>
            </a:extLst>
          </p:cNvPr>
          <p:cNvSpPr/>
          <p:nvPr/>
        </p:nvSpPr>
        <p:spPr>
          <a:xfrm>
            <a:off x="485775" y="113763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OPEN (</a:t>
            </a:r>
            <a:r>
              <a:rPr lang="zh-CN" altLang="en-US" sz="1400" b="0" kern="1200" dirty="0">
                <a:latin typeface="微软雅黑" panose="020B0503020204020204" pitchFamily="34" charset="-122"/>
                <a:ea typeface="微软雅黑" panose="020B0503020204020204" pitchFamily="34" charset="-122"/>
              </a:rPr>
              <a:t>打开</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0" name="任意多边形: 形状 9">
            <a:extLst>
              <a:ext uri="{FF2B5EF4-FFF2-40B4-BE49-F238E27FC236}">
                <a16:creationId xmlns:a16="http://schemas.microsoft.com/office/drawing/2014/main" id="{CFF9D064-9A53-F3B1-D015-FA87B97C22F5}"/>
              </a:ext>
            </a:extLst>
          </p:cNvPr>
          <p:cNvSpPr/>
          <p:nvPr/>
        </p:nvSpPr>
        <p:spPr>
          <a:xfrm>
            <a:off x="3115923" y="200443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1315237"/>
              <a:satOff val="7386"/>
              <a:lumOff val="469"/>
              <a:alphaOff val="0"/>
            </a:schemeClr>
          </a:lnRef>
          <a:fillRef idx="1">
            <a:schemeClr val="accent4">
              <a:tint val="40000"/>
              <a:alpha val="90000"/>
              <a:hueOff val="-1315237"/>
              <a:satOff val="7386"/>
              <a:lumOff val="469"/>
              <a:alphaOff val="0"/>
            </a:schemeClr>
          </a:fillRef>
          <a:effectRef idx="0">
            <a:schemeClr val="accent4">
              <a:tint val="40000"/>
              <a:alpha val="90000"/>
              <a:hueOff val="-1315237"/>
              <a:satOff val="7386"/>
              <a:lumOff val="46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用来通告某一路由的信息，以及列出要撤销的多条路由</a:t>
            </a:r>
          </a:p>
        </p:txBody>
      </p:sp>
      <p:sp>
        <p:nvSpPr>
          <p:cNvPr id="11" name="任意多边形: 形状 10">
            <a:extLst>
              <a:ext uri="{FF2B5EF4-FFF2-40B4-BE49-F238E27FC236}">
                <a16:creationId xmlns:a16="http://schemas.microsoft.com/office/drawing/2014/main" id="{B88E3742-AFC5-245C-8021-02B80592EBB6}"/>
              </a:ext>
            </a:extLst>
          </p:cNvPr>
          <p:cNvSpPr/>
          <p:nvPr/>
        </p:nvSpPr>
        <p:spPr>
          <a:xfrm>
            <a:off x="485775" y="192905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1488257"/>
              <a:satOff val="8966"/>
              <a:lumOff val="719"/>
              <a:alphaOff val="0"/>
            </a:schemeClr>
          </a:fillRef>
          <a:effectRef idx="2">
            <a:schemeClr val="accent4">
              <a:hueOff val="-1488257"/>
              <a:satOff val="8966"/>
              <a:lumOff val="719"/>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UPDATE (</a:t>
            </a:r>
            <a:r>
              <a:rPr lang="zh-CN" altLang="en-US" sz="1400" b="0" kern="1200" dirty="0">
                <a:latin typeface="微软雅黑" panose="020B0503020204020204" pitchFamily="34" charset="-122"/>
                <a:ea typeface="微软雅黑" panose="020B0503020204020204" pitchFamily="34" charset="-122"/>
              </a:rPr>
              <a:t>更新</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2" name="任意多边形: 形状 11">
            <a:extLst>
              <a:ext uri="{FF2B5EF4-FFF2-40B4-BE49-F238E27FC236}">
                <a16:creationId xmlns:a16="http://schemas.microsoft.com/office/drawing/2014/main" id="{65BF0FFF-6C75-608E-4952-BC6C488882BF}"/>
              </a:ext>
            </a:extLst>
          </p:cNvPr>
          <p:cNvSpPr/>
          <p:nvPr/>
        </p:nvSpPr>
        <p:spPr>
          <a:xfrm>
            <a:off x="3115923" y="279585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2630473"/>
              <a:satOff val="14771"/>
              <a:lumOff val="939"/>
              <a:alphaOff val="0"/>
            </a:schemeClr>
          </a:lnRef>
          <a:fillRef idx="1">
            <a:schemeClr val="accent4">
              <a:tint val="40000"/>
              <a:alpha val="90000"/>
              <a:hueOff val="-2630473"/>
              <a:satOff val="14771"/>
              <a:lumOff val="939"/>
              <a:alphaOff val="0"/>
            </a:schemeClr>
          </a:fillRef>
          <a:effectRef idx="0">
            <a:schemeClr val="accent4">
              <a:tint val="40000"/>
              <a:alpha val="90000"/>
              <a:hueOff val="-2630473"/>
              <a:satOff val="14771"/>
              <a:lumOff val="93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用来周期性地证实邻站的连通性</a:t>
            </a:r>
          </a:p>
        </p:txBody>
      </p:sp>
      <p:sp>
        <p:nvSpPr>
          <p:cNvPr id="13" name="任意多边形: 形状 12">
            <a:extLst>
              <a:ext uri="{FF2B5EF4-FFF2-40B4-BE49-F238E27FC236}">
                <a16:creationId xmlns:a16="http://schemas.microsoft.com/office/drawing/2014/main" id="{CA6F9ADC-6F47-A23C-F190-C3990BBBC990}"/>
              </a:ext>
            </a:extLst>
          </p:cNvPr>
          <p:cNvSpPr/>
          <p:nvPr/>
        </p:nvSpPr>
        <p:spPr>
          <a:xfrm>
            <a:off x="485775" y="272047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2976513"/>
              <a:satOff val="17933"/>
              <a:lumOff val="1437"/>
              <a:alphaOff val="0"/>
            </a:schemeClr>
          </a:fillRef>
          <a:effectRef idx="2">
            <a:schemeClr val="accent4">
              <a:hueOff val="-2976513"/>
              <a:satOff val="17933"/>
              <a:lumOff val="1437"/>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KEEPALIVE (</a:t>
            </a:r>
            <a:r>
              <a:rPr lang="zh-CN" altLang="en-US" sz="1400" b="0" kern="1200" dirty="0">
                <a:latin typeface="微软雅黑" panose="020B0503020204020204" pitchFamily="34" charset="-122"/>
                <a:ea typeface="微软雅黑" panose="020B0503020204020204" pitchFamily="34" charset="-122"/>
              </a:rPr>
              <a:t>保活</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4" name="任意多边形: 形状 13">
            <a:extLst>
              <a:ext uri="{FF2B5EF4-FFF2-40B4-BE49-F238E27FC236}">
                <a16:creationId xmlns:a16="http://schemas.microsoft.com/office/drawing/2014/main" id="{25A47934-1CA4-E95C-17F6-1E14336B8282}"/>
              </a:ext>
            </a:extLst>
          </p:cNvPr>
          <p:cNvSpPr/>
          <p:nvPr/>
        </p:nvSpPr>
        <p:spPr>
          <a:xfrm>
            <a:off x="3115923" y="3587272"/>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247651" tIns="153260" rIns="277084" bIns="153260"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用来发送检测到的差错</a:t>
            </a:r>
          </a:p>
        </p:txBody>
      </p:sp>
      <p:sp>
        <p:nvSpPr>
          <p:cNvPr id="15" name="任意多边形: 形状 14">
            <a:extLst>
              <a:ext uri="{FF2B5EF4-FFF2-40B4-BE49-F238E27FC236}">
                <a16:creationId xmlns:a16="http://schemas.microsoft.com/office/drawing/2014/main" id="{28A3E49D-30DF-3308-9A66-7452E432BCA2}"/>
              </a:ext>
            </a:extLst>
          </p:cNvPr>
          <p:cNvSpPr/>
          <p:nvPr/>
        </p:nvSpPr>
        <p:spPr>
          <a:xfrm>
            <a:off x="485775" y="351189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4464770"/>
              <a:satOff val="26899"/>
              <a:lumOff val="2156"/>
              <a:alphaOff val="0"/>
            </a:schemeClr>
          </a:fillRef>
          <a:effectRef idx="2">
            <a:schemeClr val="accent4">
              <a:hueOff val="-4464770"/>
              <a:satOff val="26899"/>
              <a:lumOff val="2156"/>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NOTIFICATION (</a:t>
            </a:r>
            <a:r>
              <a:rPr lang="zh-CN" altLang="en-US" sz="1400" b="0" kern="1200" dirty="0">
                <a:latin typeface="微软雅黑" panose="020B0503020204020204" pitchFamily="34" charset="-122"/>
                <a:ea typeface="微软雅黑" panose="020B0503020204020204" pitchFamily="34" charset="-122"/>
              </a:rPr>
              <a:t>通知</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8EC6ED83-CC7F-0BE5-82B9-4C50F89595FC}"/>
              </a:ext>
            </a:extLst>
          </p:cNvPr>
          <p:cNvSpPr>
            <a:spLocks noGrp="1"/>
          </p:cNvSpPr>
          <p:nvPr>
            <p:ph type="title"/>
          </p:nvPr>
        </p:nvSpPr>
        <p:spPr>
          <a:xfrm>
            <a:off x="486000" y="550723"/>
            <a:ext cx="8172000" cy="338554"/>
          </a:xfrm>
        </p:spPr>
        <p:txBody>
          <a:bodyPr/>
          <a:lstStyle/>
          <a:p>
            <a:r>
              <a:rPr lang="en-US" altLang="zh-CN" dirty="0"/>
              <a:t>5.  BGP-4 </a:t>
            </a:r>
            <a:r>
              <a:rPr lang="zh-CN" altLang="en-US" dirty="0"/>
              <a:t>的四种报文</a:t>
            </a:r>
          </a:p>
        </p:txBody>
      </p:sp>
    </p:spTree>
    <p:extLst>
      <p:ext uri="{BB962C8B-B14F-4D97-AF65-F5344CB8AC3E}">
        <p14:creationId xmlns:p14="http://schemas.microsoft.com/office/powerpoint/2010/main" val="14137447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40"/>
          <p:cNvSpPr>
            <a:spLocks noChangeArrowheads="1"/>
          </p:cNvSpPr>
          <p:nvPr/>
        </p:nvSpPr>
        <p:spPr bwMode="auto">
          <a:xfrm>
            <a:off x="3294529" y="2292248"/>
            <a:ext cx="4211169" cy="335667"/>
          </a:xfrm>
          <a:prstGeom prst="rect">
            <a:avLst/>
          </a:prstGeom>
          <a:noFill/>
          <a:ln w="9525">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5" name="AutoShape 37"/>
          <p:cNvSpPr>
            <a:spLocks noChangeArrowheads="1"/>
          </p:cNvSpPr>
          <p:nvPr/>
        </p:nvSpPr>
        <p:spPr bwMode="auto">
          <a:xfrm rot="5400000">
            <a:off x="1369244" y="3579607"/>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6" name="Freeform 38"/>
          <p:cNvSpPr>
            <a:spLocks/>
          </p:cNvSpPr>
          <p:nvPr/>
        </p:nvSpPr>
        <p:spPr bwMode="auto">
          <a:xfrm>
            <a:off x="2612115" y="1885742"/>
            <a:ext cx="3162955" cy="404327"/>
          </a:xfrm>
          <a:custGeom>
            <a:avLst/>
            <a:gdLst>
              <a:gd name="T0" fmla="*/ 45 w 2313"/>
              <a:gd name="T1" fmla="*/ 0 h 272"/>
              <a:gd name="T2" fmla="*/ 2313 w 2313"/>
              <a:gd name="T3" fmla="*/ 0 h 272"/>
              <a:gd name="T4" fmla="*/ 1723 w 2313"/>
              <a:gd name="T5" fmla="*/ 272 h 272"/>
              <a:gd name="T6" fmla="*/ 499 w 2313"/>
              <a:gd name="T7" fmla="*/ 272 h 272"/>
              <a:gd name="T8" fmla="*/ 0 w 2313"/>
              <a:gd name="T9" fmla="*/ 0 h 272"/>
            </a:gdLst>
            <a:ahLst/>
            <a:cxnLst>
              <a:cxn ang="0">
                <a:pos x="T0" y="T1"/>
              </a:cxn>
              <a:cxn ang="0">
                <a:pos x="T2" y="T3"/>
              </a:cxn>
              <a:cxn ang="0">
                <a:pos x="T4" y="T5"/>
              </a:cxn>
              <a:cxn ang="0">
                <a:pos x="T6" y="T7"/>
              </a:cxn>
              <a:cxn ang="0">
                <a:pos x="T8" y="T9"/>
              </a:cxn>
            </a:cxnLst>
            <a:rect l="0" t="0" r="r" b="b"/>
            <a:pathLst>
              <a:path w="2313" h="272">
                <a:moveTo>
                  <a:pt x="45" y="0"/>
                </a:moveTo>
                <a:lnTo>
                  <a:pt x="2313" y="0"/>
                </a:lnTo>
                <a:lnTo>
                  <a:pt x="1723" y="272"/>
                </a:lnTo>
                <a:lnTo>
                  <a:pt x="499" y="272"/>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7" name="Rectangle 39"/>
          <p:cNvSpPr>
            <a:spLocks noChangeArrowheads="1"/>
          </p:cNvSpPr>
          <p:nvPr/>
        </p:nvSpPr>
        <p:spPr bwMode="auto">
          <a:xfrm>
            <a:off x="2885298" y="1241286"/>
            <a:ext cx="268022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just" defTabSz="762000" eaLnBrk="0" hangingPunct="0"/>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16                      2                1</a:t>
            </a:r>
          </a:p>
        </p:txBody>
      </p:sp>
      <p:sp>
        <p:nvSpPr>
          <p:cNvPr id="39" name="Rectangle 43"/>
          <p:cNvSpPr>
            <a:spLocks noChangeArrowheads="1"/>
          </p:cNvSpPr>
          <p:nvPr/>
        </p:nvSpPr>
        <p:spPr bwMode="auto">
          <a:xfrm>
            <a:off x="5426779"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报文主体部分</a:t>
            </a:r>
          </a:p>
        </p:txBody>
      </p:sp>
      <p:sp>
        <p:nvSpPr>
          <p:cNvPr id="40" name="Line 44"/>
          <p:cNvSpPr>
            <a:spLocks noChangeShapeType="1"/>
          </p:cNvSpPr>
          <p:nvPr/>
        </p:nvSpPr>
        <p:spPr bwMode="auto">
          <a:xfrm>
            <a:off x="4907295" y="2290069"/>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1" name="Rectangle 45"/>
          <p:cNvSpPr>
            <a:spLocks noChangeArrowheads="1"/>
          </p:cNvSpPr>
          <p:nvPr/>
        </p:nvSpPr>
        <p:spPr bwMode="auto">
          <a:xfrm>
            <a:off x="2612115" y="1547895"/>
            <a:ext cx="3162955" cy="336757"/>
          </a:xfrm>
          <a:prstGeom prst="rect">
            <a:avLst/>
          </a:prstGeom>
          <a:noFill/>
          <a:ln w="9525">
            <a:solidFill>
              <a:srgbClr val="C00000"/>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2" name="Rectangle 46"/>
          <p:cNvSpPr>
            <a:spLocks noChangeArrowheads="1"/>
          </p:cNvSpPr>
          <p:nvPr/>
        </p:nvSpPr>
        <p:spPr bwMode="auto">
          <a:xfrm>
            <a:off x="5200221" y="1579056"/>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类 型</a:t>
            </a:r>
          </a:p>
        </p:txBody>
      </p:sp>
      <p:sp>
        <p:nvSpPr>
          <p:cNvPr id="43" name="Rectangle 47"/>
          <p:cNvSpPr>
            <a:spLocks noChangeArrowheads="1"/>
          </p:cNvSpPr>
          <p:nvPr/>
        </p:nvSpPr>
        <p:spPr bwMode="auto">
          <a:xfrm>
            <a:off x="4383866" y="1579056"/>
            <a:ext cx="5834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solidFill>
                  <a:srgbClr val="C00000"/>
                </a:solidFill>
                <a:latin typeface="Montserrat" panose="00000500000000000000" pitchFamily="2" charset="0"/>
                <a:ea typeface="微软雅黑 Light" panose="020B0502040204020203" pitchFamily="34" charset="-122"/>
              </a:rPr>
              <a:t>长  度</a:t>
            </a:r>
          </a:p>
        </p:txBody>
      </p:sp>
      <p:sp>
        <p:nvSpPr>
          <p:cNvPr id="44" name="Line 48"/>
          <p:cNvSpPr>
            <a:spLocks noChangeShapeType="1"/>
          </p:cNvSpPr>
          <p:nvPr/>
        </p:nvSpPr>
        <p:spPr bwMode="auto">
          <a:xfrm>
            <a:off x="5217805"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5" name="Line 49"/>
          <p:cNvSpPr>
            <a:spLocks noChangeShapeType="1"/>
          </p:cNvSpPr>
          <p:nvPr/>
        </p:nvSpPr>
        <p:spPr bwMode="auto">
          <a:xfrm>
            <a:off x="4224880"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6" name="Rectangle 50"/>
          <p:cNvSpPr>
            <a:spLocks noChangeArrowheads="1"/>
          </p:cNvSpPr>
          <p:nvPr/>
        </p:nvSpPr>
        <p:spPr bwMode="auto">
          <a:xfrm>
            <a:off x="2994588" y="1579056"/>
            <a:ext cx="77104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标       记</a:t>
            </a:r>
          </a:p>
        </p:txBody>
      </p:sp>
      <p:sp>
        <p:nvSpPr>
          <p:cNvPr id="57" name="Rectangle 63"/>
          <p:cNvSpPr>
            <a:spLocks noChangeArrowheads="1"/>
          </p:cNvSpPr>
          <p:nvPr/>
        </p:nvSpPr>
        <p:spPr bwMode="auto">
          <a:xfrm>
            <a:off x="2486966" y="2965763"/>
            <a:ext cx="5018728" cy="336757"/>
          </a:xfrm>
          <a:prstGeom prst="rect">
            <a:avLst/>
          </a:prstGeom>
          <a:noFill/>
          <a:ln w="9525">
            <a:solidFill>
              <a:schemeClr val="tx1"/>
            </a:solidFill>
            <a:miter lim="800000"/>
            <a:headEnd/>
            <a:tailEnd/>
          </a:ln>
          <a:effectLst/>
        </p:spPr>
        <p:txBody>
          <a:bodyPr wrap="none" anchor="ctr"/>
          <a:lstStyle/>
          <a:p>
            <a:pPr algn="r"/>
            <a:endParaRPr lang="zh-CN" altLang="en-US" sz="1200" dirty="0">
              <a:latin typeface="Montserrat" panose="00000500000000000000" pitchFamily="2" charset="0"/>
              <a:ea typeface="微软雅黑 Light" panose="020B0502040204020203" pitchFamily="34" charset="-122"/>
            </a:endParaRPr>
          </a:p>
        </p:txBody>
      </p:sp>
      <p:sp>
        <p:nvSpPr>
          <p:cNvPr id="58" name="Line 64"/>
          <p:cNvSpPr>
            <a:spLocks noChangeShapeType="1"/>
          </p:cNvSpPr>
          <p:nvPr/>
        </p:nvSpPr>
        <p:spPr bwMode="auto">
          <a:xfrm>
            <a:off x="3294530" y="2964672"/>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9" name="Rectangle 65"/>
          <p:cNvSpPr>
            <a:spLocks noChangeArrowheads="1"/>
          </p:cNvSpPr>
          <p:nvPr/>
        </p:nvSpPr>
        <p:spPr bwMode="auto">
          <a:xfrm>
            <a:off x="2481181" y="2996924"/>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首部</a:t>
            </a:r>
          </a:p>
        </p:txBody>
      </p:sp>
      <p:sp>
        <p:nvSpPr>
          <p:cNvPr id="60" name="AutoShape 66"/>
          <p:cNvSpPr>
            <a:spLocks noChangeArrowheads="1"/>
          </p:cNvSpPr>
          <p:nvPr/>
        </p:nvSpPr>
        <p:spPr bwMode="auto">
          <a:xfrm>
            <a:off x="5279198" y="2560346"/>
            <a:ext cx="185362" cy="472986"/>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1" name="Rectangle 67"/>
          <p:cNvSpPr>
            <a:spLocks noChangeArrowheads="1"/>
          </p:cNvSpPr>
          <p:nvPr/>
        </p:nvSpPr>
        <p:spPr bwMode="auto">
          <a:xfrm>
            <a:off x="1680583" y="3641456"/>
            <a:ext cx="5825101" cy="336757"/>
          </a:xfrm>
          <a:prstGeom prst="rect">
            <a:avLst/>
          </a:prstGeom>
          <a:noFill/>
          <a:ln w="9525">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3" name="Line 69"/>
          <p:cNvSpPr>
            <a:spLocks noChangeShapeType="1"/>
          </p:cNvSpPr>
          <p:nvPr/>
        </p:nvSpPr>
        <p:spPr bwMode="auto">
          <a:xfrm>
            <a:off x="2486966" y="3640366"/>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5" name="Rectangle 71"/>
          <p:cNvSpPr>
            <a:spLocks noChangeArrowheads="1"/>
          </p:cNvSpPr>
          <p:nvPr/>
        </p:nvSpPr>
        <p:spPr bwMode="auto">
          <a:xfrm>
            <a:off x="4947437" y="2996924"/>
            <a:ext cx="8704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a:t>
            </a:r>
          </a:p>
        </p:txBody>
      </p:sp>
      <p:sp>
        <p:nvSpPr>
          <p:cNvPr id="73" name="Rectangle 42"/>
          <p:cNvSpPr>
            <a:spLocks noChangeArrowheads="1"/>
          </p:cNvSpPr>
          <p:nvPr/>
        </p:nvSpPr>
        <p:spPr bwMode="auto">
          <a:xfrm>
            <a:off x="3347196"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BGP </a:t>
            </a:r>
            <a:r>
              <a:rPr kumimoji="1" lang="zh-CN" altLang="en-US" sz="1200" dirty="0">
                <a:latin typeface="Montserrat" panose="00000500000000000000" pitchFamily="2" charset="0"/>
                <a:ea typeface="微软雅黑 Light" panose="020B0502040204020203" pitchFamily="34" charset="-122"/>
              </a:rPr>
              <a:t>报文通用首部</a:t>
            </a:r>
          </a:p>
        </p:txBody>
      </p:sp>
      <p:sp>
        <p:nvSpPr>
          <p:cNvPr id="62" name="Rectangle 68"/>
          <p:cNvSpPr>
            <a:spLocks noChangeArrowheads="1"/>
          </p:cNvSpPr>
          <p:nvPr/>
        </p:nvSpPr>
        <p:spPr bwMode="auto">
          <a:xfrm>
            <a:off x="1744394" y="3671638"/>
            <a:ext cx="68929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首部</a:t>
            </a:r>
          </a:p>
        </p:txBody>
      </p:sp>
      <p:sp>
        <p:nvSpPr>
          <p:cNvPr id="64" name="AutoShape 70"/>
          <p:cNvSpPr>
            <a:spLocks noChangeArrowheads="1"/>
          </p:cNvSpPr>
          <p:nvPr/>
        </p:nvSpPr>
        <p:spPr bwMode="auto">
          <a:xfrm>
            <a:off x="5031262" y="3236040"/>
            <a:ext cx="186542" cy="472986"/>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6" name="Rectangle 72"/>
          <p:cNvSpPr>
            <a:spLocks noChangeArrowheads="1"/>
          </p:cNvSpPr>
          <p:nvPr/>
        </p:nvSpPr>
        <p:spPr bwMode="auto">
          <a:xfrm>
            <a:off x="4720752" y="3671638"/>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报文</a:t>
            </a:r>
          </a:p>
        </p:txBody>
      </p:sp>
      <p:sp>
        <p:nvSpPr>
          <p:cNvPr id="6" name="标题 5">
            <a:extLst>
              <a:ext uri="{FF2B5EF4-FFF2-40B4-BE49-F238E27FC236}">
                <a16:creationId xmlns:a16="http://schemas.microsoft.com/office/drawing/2014/main" id="{B3407B2C-4B34-ADF7-A96F-1F3FAC8E0ACE}"/>
              </a:ext>
            </a:extLst>
          </p:cNvPr>
          <p:cNvSpPr>
            <a:spLocks noGrp="1"/>
          </p:cNvSpPr>
          <p:nvPr>
            <p:ph type="title"/>
          </p:nvPr>
        </p:nvSpPr>
        <p:spPr>
          <a:xfrm>
            <a:off x="486000" y="550723"/>
            <a:ext cx="8172000" cy="338554"/>
          </a:xfrm>
        </p:spPr>
        <p:txBody>
          <a:bodyPr/>
          <a:lstStyle/>
          <a:p>
            <a:r>
              <a:rPr lang="en-US" altLang="zh-CN" dirty="0"/>
              <a:t>BGP </a:t>
            </a:r>
            <a:r>
              <a:rPr lang="zh-CN" altLang="en-US" dirty="0"/>
              <a:t>报文具有通用首部</a:t>
            </a:r>
          </a:p>
        </p:txBody>
      </p:sp>
    </p:spTree>
    <p:extLst>
      <p:ext uri="{BB962C8B-B14F-4D97-AF65-F5344CB8AC3E}">
        <p14:creationId xmlns:p14="http://schemas.microsoft.com/office/powerpoint/2010/main" val="10916274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E6F7A13D-46BA-D6BB-FA93-BF8DF76C6633}"/>
              </a:ext>
            </a:extLst>
          </p:cNvPr>
          <p:cNvSpPr>
            <a:spLocks noGrp="1"/>
          </p:cNvSpPr>
          <p:nvPr>
            <p:ph type="title"/>
          </p:nvPr>
        </p:nvSpPr>
        <p:spPr>
          <a:xfrm>
            <a:off x="486000" y="550723"/>
            <a:ext cx="8172000" cy="338554"/>
          </a:xfrm>
        </p:spPr>
        <p:txBody>
          <a:bodyPr/>
          <a:lstStyle/>
          <a:p>
            <a:r>
              <a:rPr lang="en-US" altLang="zh-CN" dirty="0"/>
              <a:t>4.6.5  </a:t>
            </a:r>
            <a:r>
              <a:rPr lang="zh-CN" altLang="en-US" dirty="0"/>
              <a:t>路由器的构成</a:t>
            </a:r>
          </a:p>
        </p:txBody>
      </p:sp>
      <p:sp>
        <p:nvSpPr>
          <p:cNvPr id="7" name="内容占位符 6">
            <a:extLst>
              <a:ext uri="{FF2B5EF4-FFF2-40B4-BE49-F238E27FC236}">
                <a16:creationId xmlns:a16="http://schemas.microsoft.com/office/drawing/2014/main" id="{42CB0AB6-6D65-86BB-A688-EADB542891E0}"/>
              </a:ext>
            </a:extLst>
          </p:cNvPr>
          <p:cNvSpPr>
            <a:spLocks noGrp="1"/>
          </p:cNvSpPr>
          <p:nvPr>
            <p:ph sz="quarter" idx="11"/>
          </p:nvPr>
        </p:nvSpPr>
        <p:spPr>
          <a:xfrm>
            <a:off x="486000" y="900000"/>
            <a:ext cx="8172000" cy="3703500"/>
          </a:xfrm>
        </p:spPr>
        <p:txBody>
          <a:bodyPr/>
          <a:lstStyle/>
          <a:p>
            <a:r>
              <a:rPr lang="zh-CN" altLang="en-US" dirty="0"/>
              <a:t>路由器工作在网络层，用于互连网络</a:t>
            </a:r>
            <a:endParaRPr lang="en-US" altLang="zh-CN" dirty="0"/>
          </a:p>
          <a:p>
            <a:r>
              <a:rPr lang="zh-CN" altLang="en-US" dirty="0"/>
              <a:t>是互联网中的关键设备</a:t>
            </a:r>
            <a:endParaRPr lang="en-US" altLang="zh-CN" dirty="0"/>
          </a:p>
          <a:p>
            <a:r>
              <a:rPr lang="zh-CN" altLang="en-US" dirty="0"/>
              <a:t>路由器的主要工作：转发分组</a:t>
            </a:r>
          </a:p>
          <a:p>
            <a:r>
              <a:rPr lang="zh-CN" altLang="en-US" dirty="0"/>
              <a:t>把从某个输入端口收到的分组，按照分组要去的目的地（即目的网络），把该分组从路由器的某个合适的输出端口转发给下一跳路由器</a:t>
            </a:r>
          </a:p>
          <a:p>
            <a:endParaRPr lang="zh-CN" altLang="en-US" dirty="0"/>
          </a:p>
        </p:txBody>
      </p:sp>
    </p:spTree>
    <p:extLst>
      <p:ext uri="{BB962C8B-B14F-4D97-AF65-F5344CB8AC3E}">
        <p14:creationId xmlns:p14="http://schemas.microsoft.com/office/powerpoint/2010/main" val="28606629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3"/>
          <p:cNvSpPr>
            <a:spLocks noChangeArrowheads="1"/>
          </p:cNvSpPr>
          <p:nvPr/>
        </p:nvSpPr>
        <p:spPr bwMode="auto">
          <a:xfrm>
            <a:off x="3185386" y="1162175"/>
            <a:ext cx="1612970" cy="991284"/>
          </a:xfrm>
          <a:prstGeom prst="rect">
            <a:avLst/>
          </a:prstGeom>
          <a:noFill/>
          <a:ln w="19050">
            <a:solidFill>
              <a:schemeClr val="tx1"/>
            </a:solidFill>
            <a:miter lim="800000"/>
            <a:headEnd/>
            <a:tailEnd/>
          </a:ln>
          <a:effectLst/>
        </p:spPr>
        <p:txBody>
          <a:bodyPr wrap="none" anchor="ctr"/>
          <a:lstStyle/>
          <a:p>
            <a:pPr algn="ctr"/>
            <a:endParaRPr kumimoji="1" lang="zh-CN" altLang="zh-CN" sz="1200">
              <a:solidFill>
                <a:srgbClr val="0000CC"/>
              </a:solidFill>
              <a:latin typeface="Montserrat" panose="00000500000000000000" pitchFamily="2" charset="0"/>
              <a:ea typeface="微软雅黑" pitchFamily="34" charset="-122"/>
            </a:endParaRPr>
          </a:p>
        </p:txBody>
      </p:sp>
      <p:sp>
        <p:nvSpPr>
          <p:cNvPr id="10" name="Line 5"/>
          <p:cNvSpPr>
            <a:spLocks noChangeShapeType="1"/>
          </p:cNvSpPr>
          <p:nvPr/>
        </p:nvSpPr>
        <p:spPr bwMode="auto">
          <a:xfrm>
            <a:off x="6953145" y="1124731"/>
            <a:ext cx="0" cy="1212993"/>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11" name="Text Box 6"/>
          <p:cNvSpPr txBox="1">
            <a:spLocks noChangeArrowheads="1"/>
          </p:cNvSpPr>
          <p:nvPr/>
        </p:nvSpPr>
        <p:spPr bwMode="auto">
          <a:xfrm>
            <a:off x="6716608" y="1603739"/>
            <a:ext cx="1350698"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Montserrat" panose="00000500000000000000" pitchFamily="2" charset="0"/>
                <a:ea typeface="微软雅黑" pitchFamily="34" charset="-122"/>
              </a:rPr>
              <a:t>路由选择、管理</a:t>
            </a:r>
            <a:endParaRPr kumimoji="1" lang="en-US" altLang="zh-CN" sz="1200" dirty="0">
              <a:solidFill>
                <a:srgbClr val="0000CC"/>
              </a:solidFill>
              <a:latin typeface="Montserrat" panose="00000500000000000000" pitchFamily="2" charset="0"/>
              <a:ea typeface="微软雅黑" pitchFamily="34" charset="-122"/>
            </a:endParaRPr>
          </a:p>
          <a:p>
            <a:pPr>
              <a:lnSpc>
                <a:spcPct val="90000"/>
              </a:lnSpc>
            </a:pPr>
            <a:r>
              <a:rPr kumimoji="1" lang="zh-CN" altLang="en-US" sz="1200" dirty="0">
                <a:solidFill>
                  <a:srgbClr val="C00000"/>
                </a:solidFill>
                <a:latin typeface="Montserrat" panose="00000500000000000000" pitchFamily="2" charset="0"/>
                <a:ea typeface="微软雅黑" pitchFamily="34" charset="-122"/>
              </a:rPr>
              <a:t>控制层面</a:t>
            </a:r>
            <a:r>
              <a:rPr kumimoji="1" lang="zh-CN" altLang="en-US" sz="1200" dirty="0">
                <a:solidFill>
                  <a:srgbClr val="0000CC"/>
                </a:solidFill>
                <a:latin typeface="Montserrat" panose="00000500000000000000" pitchFamily="2" charset="0"/>
                <a:ea typeface="微软雅黑" pitchFamily="34" charset="-122"/>
              </a:rPr>
              <a:t>（软件）</a:t>
            </a:r>
          </a:p>
        </p:txBody>
      </p:sp>
      <p:sp>
        <p:nvSpPr>
          <p:cNvPr id="12" name="Text Box 7"/>
          <p:cNvSpPr txBox="1">
            <a:spLocks noChangeArrowheads="1"/>
          </p:cNvSpPr>
          <p:nvPr/>
        </p:nvSpPr>
        <p:spPr bwMode="auto">
          <a:xfrm>
            <a:off x="3221680" y="1130643"/>
            <a:ext cx="15073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dirty="0">
                <a:latin typeface="Montserrat" panose="00000500000000000000" pitchFamily="2" charset="0"/>
                <a:ea typeface="微软雅黑" pitchFamily="34" charset="-122"/>
              </a:rPr>
              <a:t>路由选择处理机</a:t>
            </a:r>
          </a:p>
        </p:txBody>
      </p:sp>
      <p:sp>
        <p:nvSpPr>
          <p:cNvPr id="13" name="Line 8"/>
          <p:cNvSpPr>
            <a:spLocks noChangeShapeType="1"/>
          </p:cNvSpPr>
          <p:nvPr/>
        </p:nvSpPr>
        <p:spPr bwMode="auto">
          <a:xfrm>
            <a:off x="3991337" y="1638110"/>
            <a:ext cx="0" cy="14682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14" name="Rectangle 9"/>
          <p:cNvSpPr>
            <a:spLocks noChangeArrowheads="1"/>
          </p:cNvSpPr>
          <p:nvPr/>
        </p:nvSpPr>
        <p:spPr bwMode="auto">
          <a:xfrm>
            <a:off x="3419165" y="1455816"/>
            <a:ext cx="1144345" cy="242401"/>
          </a:xfrm>
          <a:prstGeom prst="rect">
            <a:avLst/>
          </a:prstGeom>
          <a:noFill/>
          <a:ln w="9525">
            <a:solidFill>
              <a:schemeClr val="tx1"/>
            </a:solidFill>
            <a:miter lim="800000"/>
            <a:headEnd/>
            <a:tailEnd/>
          </a:ln>
          <a:effectLst/>
        </p:spPr>
        <p:txBody>
          <a:bodyPr wrap="none" anchor="ctr"/>
          <a:lstStyle/>
          <a:p>
            <a:pPr algn="ctr"/>
            <a:r>
              <a:rPr kumimoji="1" lang="zh-CN" altLang="en-US" sz="1200" dirty="0">
                <a:latin typeface="Montserrat" panose="00000500000000000000" pitchFamily="2" charset="0"/>
                <a:ea typeface="微软雅黑" pitchFamily="34" charset="-122"/>
              </a:rPr>
              <a:t>路由选择协议</a:t>
            </a:r>
          </a:p>
        </p:txBody>
      </p:sp>
      <p:sp>
        <p:nvSpPr>
          <p:cNvPr id="15" name="Rectangle 10"/>
          <p:cNvSpPr>
            <a:spLocks noChangeArrowheads="1"/>
          </p:cNvSpPr>
          <p:nvPr/>
        </p:nvSpPr>
        <p:spPr bwMode="auto">
          <a:xfrm>
            <a:off x="3601705" y="1786900"/>
            <a:ext cx="780331" cy="256197"/>
          </a:xfrm>
          <a:prstGeom prst="rect">
            <a:avLst/>
          </a:prstGeom>
          <a:noFill/>
          <a:ln w="9525">
            <a:solidFill>
              <a:schemeClr val="tx1"/>
            </a:solidFill>
            <a:miter lim="800000"/>
            <a:headEnd/>
            <a:tailEnd/>
          </a:ln>
          <a:effectLst/>
        </p:spPr>
        <p:txBody>
          <a:bodyPr wrap="none" anchor="ctr"/>
          <a:lstStyle/>
          <a:p>
            <a:pPr algn="ctr"/>
            <a:r>
              <a:rPr kumimoji="1" lang="zh-CN" altLang="en-US" sz="1200">
                <a:latin typeface="Montserrat" panose="00000500000000000000" pitchFamily="2" charset="0"/>
                <a:ea typeface="微软雅黑" pitchFamily="34" charset="-122"/>
              </a:rPr>
              <a:t>路由表</a:t>
            </a:r>
          </a:p>
        </p:txBody>
      </p:sp>
      <p:sp>
        <p:nvSpPr>
          <p:cNvPr id="16" name="Rectangle 11"/>
          <p:cNvSpPr>
            <a:spLocks noChangeArrowheads="1"/>
          </p:cNvSpPr>
          <p:nvPr/>
        </p:nvSpPr>
        <p:spPr bwMode="auto">
          <a:xfrm>
            <a:off x="1520109" y="2600726"/>
            <a:ext cx="1560664" cy="450314"/>
          </a:xfrm>
          <a:prstGeom prst="rect">
            <a:avLst/>
          </a:prstGeom>
          <a:noFill/>
          <a:ln w="6350" cmpd="sng">
            <a:solidFill>
              <a:schemeClr val="tx1"/>
            </a:solidFill>
            <a:prstDash val="solid"/>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17" name="Rectangle 12"/>
          <p:cNvSpPr>
            <a:spLocks noChangeArrowheads="1"/>
          </p:cNvSpPr>
          <p:nvPr/>
        </p:nvSpPr>
        <p:spPr bwMode="auto">
          <a:xfrm>
            <a:off x="2664453" y="2702218"/>
            <a:ext cx="313841" cy="245358"/>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18" name="Line 13"/>
          <p:cNvSpPr>
            <a:spLocks noChangeShapeType="1"/>
          </p:cNvSpPr>
          <p:nvPr/>
        </p:nvSpPr>
        <p:spPr bwMode="auto">
          <a:xfrm flipV="1">
            <a:off x="1417630" y="2825390"/>
            <a:ext cx="23911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19" name="Line 14"/>
          <p:cNvSpPr>
            <a:spLocks noChangeShapeType="1"/>
          </p:cNvSpPr>
          <p:nvPr/>
        </p:nvSpPr>
        <p:spPr bwMode="auto">
          <a:xfrm>
            <a:off x="1954900" y="2825390"/>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0" name="Line 15"/>
          <p:cNvSpPr>
            <a:spLocks noChangeShapeType="1"/>
          </p:cNvSpPr>
          <p:nvPr/>
        </p:nvSpPr>
        <p:spPr bwMode="auto">
          <a:xfrm>
            <a:off x="2466597" y="2825390"/>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1" name="Line 16"/>
          <p:cNvSpPr>
            <a:spLocks noChangeShapeType="1"/>
          </p:cNvSpPr>
          <p:nvPr/>
        </p:nvSpPr>
        <p:spPr bwMode="auto">
          <a:xfrm>
            <a:off x="2978294" y="2825390"/>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2" name="Text Box 17"/>
          <p:cNvSpPr txBox="1">
            <a:spLocks noChangeArrowheads="1"/>
          </p:cNvSpPr>
          <p:nvPr/>
        </p:nvSpPr>
        <p:spPr bwMode="auto">
          <a:xfrm>
            <a:off x="1908719"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输入端口</a:t>
            </a:r>
          </a:p>
        </p:txBody>
      </p:sp>
      <p:sp>
        <p:nvSpPr>
          <p:cNvPr id="23" name="Rectangle 18"/>
          <p:cNvSpPr>
            <a:spLocks noChangeArrowheads="1"/>
          </p:cNvSpPr>
          <p:nvPr/>
        </p:nvSpPr>
        <p:spPr bwMode="auto">
          <a:xfrm>
            <a:off x="1520109" y="3577228"/>
            <a:ext cx="1560664" cy="450315"/>
          </a:xfrm>
          <a:prstGeom prst="rect">
            <a:avLst/>
          </a:prstGeom>
          <a:noFill/>
          <a:ln w="63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24" name="Rectangle 19"/>
          <p:cNvSpPr>
            <a:spLocks noChangeArrowheads="1"/>
          </p:cNvSpPr>
          <p:nvPr/>
        </p:nvSpPr>
        <p:spPr bwMode="auto">
          <a:xfrm>
            <a:off x="2664453" y="3678722"/>
            <a:ext cx="313841" cy="246343"/>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25" name="Line 20"/>
          <p:cNvSpPr>
            <a:spLocks noChangeShapeType="1"/>
          </p:cNvSpPr>
          <p:nvPr/>
        </p:nvSpPr>
        <p:spPr bwMode="auto">
          <a:xfrm flipV="1">
            <a:off x="1417630" y="3801893"/>
            <a:ext cx="23911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6" name="Line 21"/>
          <p:cNvSpPr>
            <a:spLocks noChangeShapeType="1"/>
          </p:cNvSpPr>
          <p:nvPr/>
        </p:nvSpPr>
        <p:spPr bwMode="auto">
          <a:xfrm>
            <a:off x="1954900" y="3801893"/>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7" name="Line 22"/>
          <p:cNvSpPr>
            <a:spLocks noChangeShapeType="1"/>
          </p:cNvSpPr>
          <p:nvPr/>
        </p:nvSpPr>
        <p:spPr bwMode="auto">
          <a:xfrm>
            <a:off x="2466597" y="3801893"/>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8" name="Line 23"/>
          <p:cNvSpPr>
            <a:spLocks noChangeShapeType="1"/>
          </p:cNvSpPr>
          <p:nvPr/>
        </p:nvSpPr>
        <p:spPr bwMode="auto">
          <a:xfrm>
            <a:off x="2978294" y="3801893"/>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9" name="Rectangle 24"/>
          <p:cNvSpPr>
            <a:spLocks noChangeArrowheads="1"/>
          </p:cNvSpPr>
          <p:nvPr/>
        </p:nvSpPr>
        <p:spPr bwMode="auto">
          <a:xfrm>
            <a:off x="3185386" y="2600725"/>
            <a:ext cx="1612970" cy="1434701"/>
          </a:xfrm>
          <a:prstGeom prst="rect">
            <a:avLst/>
          </a:prstGeom>
          <a:noFill/>
          <a:ln w="190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kumimoji="1" lang="zh-CN" altLang="en-US" sz="1200" dirty="0">
                <a:latin typeface="微软雅黑 Light" panose="020B0502040204020203" pitchFamily="34" charset="-122"/>
                <a:ea typeface="微软雅黑 Light" panose="020B0502040204020203" pitchFamily="34" charset="-122"/>
              </a:rPr>
              <a:t>交换结构</a:t>
            </a:r>
          </a:p>
        </p:txBody>
      </p:sp>
      <p:sp>
        <p:nvSpPr>
          <p:cNvPr id="30" name="Rectangle 25"/>
          <p:cNvSpPr>
            <a:spLocks noChangeArrowheads="1"/>
          </p:cNvSpPr>
          <p:nvPr/>
        </p:nvSpPr>
        <p:spPr bwMode="auto">
          <a:xfrm flipH="1">
            <a:off x="4902969" y="2600726"/>
            <a:ext cx="1558529" cy="450314"/>
          </a:xfrm>
          <a:prstGeom prst="rect">
            <a:avLst/>
          </a:prstGeom>
          <a:noFill/>
          <a:ln w="63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31" name="Line 26"/>
          <p:cNvSpPr>
            <a:spLocks noChangeShapeType="1"/>
          </p:cNvSpPr>
          <p:nvPr/>
        </p:nvSpPr>
        <p:spPr bwMode="auto">
          <a:xfrm flipV="1">
            <a:off x="6351548" y="2825390"/>
            <a:ext cx="21456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2" name="Line 27"/>
          <p:cNvSpPr>
            <a:spLocks noChangeShapeType="1"/>
          </p:cNvSpPr>
          <p:nvPr/>
        </p:nvSpPr>
        <p:spPr bwMode="auto">
          <a:xfrm rot="10800000" flipH="1">
            <a:off x="5838087" y="2825390"/>
            <a:ext cx="208160"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3" name="Line 28"/>
          <p:cNvSpPr>
            <a:spLocks noChangeShapeType="1"/>
          </p:cNvSpPr>
          <p:nvPr/>
        </p:nvSpPr>
        <p:spPr bwMode="auto">
          <a:xfrm>
            <a:off x="5335626" y="2825390"/>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4" name="Line 29"/>
          <p:cNvSpPr>
            <a:spLocks noChangeShapeType="1"/>
          </p:cNvSpPr>
          <p:nvPr/>
        </p:nvSpPr>
        <p:spPr bwMode="auto">
          <a:xfrm>
            <a:off x="4798356" y="2825390"/>
            <a:ext cx="24872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5" name="Rectangle 30"/>
          <p:cNvSpPr>
            <a:spLocks noChangeArrowheads="1"/>
          </p:cNvSpPr>
          <p:nvPr/>
        </p:nvSpPr>
        <p:spPr bwMode="auto">
          <a:xfrm flipH="1">
            <a:off x="4902969" y="3577228"/>
            <a:ext cx="1558529" cy="450315"/>
          </a:xfrm>
          <a:prstGeom prst="rect">
            <a:avLst/>
          </a:prstGeom>
          <a:noFill/>
          <a:ln w="63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36" name="Line 31"/>
          <p:cNvSpPr>
            <a:spLocks noChangeShapeType="1"/>
          </p:cNvSpPr>
          <p:nvPr/>
        </p:nvSpPr>
        <p:spPr bwMode="auto">
          <a:xfrm flipV="1">
            <a:off x="6351548" y="3801893"/>
            <a:ext cx="21456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7" name="Line 32"/>
          <p:cNvSpPr>
            <a:spLocks noChangeShapeType="1"/>
          </p:cNvSpPr>
          <p:nvPr/>
        </p:nvSpPr>
        <p:spPr bwMode="auto">
          <a:xfrm>
            <a:off x="5838087" y="3801893"/>
            <a:ext cx="208160"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8" name="Line 33"/>
          <p:cNvSpPr>
            <a:spLocks noChangeShapeType="1"/>
          </p:cNvSpPr>
          <p:nvPr/>
        </p:nvSpPr>
        <p:spPr bwMode="auto">
          <a:xfrm>
            <a:off x="5335626" y="3801893"/>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9" name="Line 34"/>
          <p:cNvSpPr>
            <a:spLocks noChangeShapeType="1"/>
          </p:cNvSpPr>
          <p:nvPr/>
        </p:nvSpPr>
        <p:spPr bwMode="auto">
          <a:xfrm flipV="1">
            <a:off x="4798356" y="3801893"/>
            <a:ext cx="24018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41" name="Text Box 36"/>
          <p:cNvSpPr txBox="1">
            <a:spLocks noChangeArrowheads="1"/>
          </p:cNvSpPr>
          <p:nvPr/>
        </p:nvSpPr>
        <p:spPr bwMode="auto">
          <a:xfrm>
            <a:off x="1908719"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ysClr val="windowText" lastClr="000000"/>
                </a:solidFill>
                <a:latin typeface="Montserrat" panose="00000500000000000000" pitchFamily="2" charset="0"/>
                <a:ea typeface="微软雅黑 Light" panose="020B0502040204020203" pitchFamily="34" charset="-122"/>
              </a:rPr>
              <a:t>输入端口</a:t>
            </a:r>
          </a:p>
        </p:txBody>
      </p:sp>
      <p:sp>
        <p:nvSpPr>
          <p:cNvPr id="42" name="Text Box 37"/>
          <p:cNvSpPr txBox="1">
            <a:spLocks noChangeArrowheads="1"/>
          </p:cNvSpPr>
          <p:nvPr/>
        </p:nvSpPr>
        <p:spPr bwMode="auto">
          <a:xfrm>
            <a:off x="5317154"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输出端口</a:t>
            </a:r>
          </a:p>
        </p:txBody>
      </p:sp>
      <p:sp>
        <p:nvSpPr>
          <p:cNvPr id="43" name="Line 38"/>
          <p:cNvSpPr>
            <a:spLocks noChangeShapeType="1"/>
          </p:cNvSpPr>
          <p:nvPr/>
        </p:nvSpPr>
        <p:spPr bwMode="auto">
          <a:xfrm>
            <a:off x="1025236" y="2345606"/>
            <a:ext cx="7305964" cy="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44" name="Line 39"/>
          <p:cNvSpPr>
            <a:spLocks noChangeShapeType="1"/>
          </p:cNvSpPr>
          <p:nvPr/>
        </p:nvSpPr>
        <p:spPr bwMode="auto">
          <a:xfrm>
            <a:off x="6953145" y="2345606"/>
            <a:ext cx="0" cy="1890928"/>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45" name="Text Box 40"/>
          <p:cNvSpPr txBox="1">
            <a:spLocks noChangeArrowheads="1"/>
          </p:cNvSpPr>
          <p:nvPr/>
        </p:nvSpPr>
        <p:spPr bwMode="auto">
          <a:xfrm>
            <a:off x="6716608" y="3113945"/>
            <a:ext cx="1305865"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Montserrat" panose="00000500000000000000" pitchFamily="2" charset="0"/>
                <a:ea typeface="微软雅黑" pitchFamily="34" charset="-122"/>
              </a:rPr>
              <a:t>分组转发</a:t>
            </a:r>
            <a:endParaRPr kumimoji="1" lang="en-US" altLang="zh-CN" sz="1200" dirty="0">
              <a:solidFill>
                <a:srgbClr val="0000CC"/>
              </a:solidFill>
              <a:latin typeface="Montserrat" panose="00000500000000000000" pitchFamily="2" charset="0"/>
              <a:ea typeface="微软雅黑" pitchFamily="34" charset="-122"/>
            </a:endParaRPr>
          </a:p>
          <a:p>
            <a:pPr>
              <a:lnSpc>
                <a:spcPct val="90000"/>
              </a:lnSpc>
            </a:pPr>
            <a:r>
              <a:rPr kumimoji="1" lang="zh-CN" altLang="en-US" sz="1200" dirty="0">
                <a:solidFill>
                  <a:srgbClr val="C00000"/>
                </a:solidFill>
                <a:latin typeface="Montserrat" panose="00000500000000000000" pitchFamily="2" charset="0"/>
                <a:ea typeface="微软雅黑" pitchFamily="34" charset="-122"/>
              </a:rPr>
              <a:t>数据层面</a:t>
            </a:r>
            <a:r>
              <a:rPr kumimoji="1" lang="zh-CN" altLang="en-US" sz="1200" dirty="0">
                <a:solidFill>
                  <a:srgbClr val="0000CC"/>
                </a:solidFill>
                <a:latin typeface="Montserrat" panose="00000500000000000000" pitchFamily="2" charset="0"/>
                <a:ea typeface="微软雅黑" pitchFamily="34" charset="-122"/>
              </a:rPr>
              <a:t>（硬件）</a:t>
            </a:r>
          </a:p>
        </p:txBody>
      </p:sp>
      <p:sp>
        <p:nvSpPr>
          <p:cNvPr id="49" name="Text Box 44"/>
          <p:cNvSpPr txBox="1">
            <a:spLocks noChangeArrowheads="1"/>
          </p:cNvSpPr>
          <p:nvPr/>
        </p:nvSpPr>
        <p:spPr bwMode="auto">
          <a:xfrm>
            <a:off x="5317154"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ysClr val="windowText" lastClr="000000"/>
                </a:solidFill>
                <a:latin typeface="Montserrat" panose="00000500000000000000" pitchFamily="2" charset="0"/>
                <a:ea typeface="微软雅黑 Light" panose="020B0502040204020203" pitchFamily="34" charset="-122"/>
              </a:rPr>
              <a:t>输出端口</a:t>
            </a:r>
          </a:p>
        </p:txBody>
      </p:sp>
      <p:sp>
        <p:nvSpPr>
          <p:cNvPr id="50" name="Text Box 45"/>
          <p:cNvSpPr txBox="1">
            <a:spLocks noChangeArrowheads="1"/>
          </p:cNvSpPr>
          <p:nvPr/>
        </p:nvSpPr>
        <p:spPr bwMode="auto">
          <a:xfrm rot="5400000">
            <a:off x="2166802" y="3092371"/>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a:t>
            </a:r>
          </a:p>
        </p:txBody>
      </p:sp>
      <p:sp>
        <p:nvSpPr>
          <p:cNvPr id="51" name="Text Box 46"/>
          <p:cNvSpPr txBox="1">
            <a:spLocks noChangeArrowheads="1"/>
          </p:cNvSpPr>
          <p:nvPr/>
        </p:nvSpPr>
        <p:spPr bwMode="auto">
          <a:xfrm rot="5400000">
            <a:off x="5575237" y="3092371"/>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solidFill>
                  <a:sysClr val="windowText" lastClr="000000"/>
                </a:solidFill>
                <a:latin typeface="Montserrat" panose="00000500000000000000" pitchFamily="2" charset="0"/>
                <a:ea typeface="微软雅黑 Light" panose="020B0502040204020203" pitchFamily="34" charset="-122"/>
              </a:rPr>
              <a:t>…</a:t>
            </a:r>
          </a:p>
        </p:txBody>
      </p:sp>
      <p:sp>
        <p:nvSpPr>
          <p:cNvPr id="54" name="Rectangle 49"/>
          <p:cNvSpPr>
            <a:spLocks noChangeArrowheads="1"/>
          </p:cNvSpPr>
          <p:nvPr/>
        </p:nvSpPr>
        <p:spPr bwMode="auto">
          <a:xfrm>
            <a:off x="6043044" y="2744590"/>
            <a:ext cx="311706" cy="175396"/>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1</a:t>
            </a:r>
          </a:p>
        </p:txBody>
      </p:sp>
      <p:sp>
        <p:nvSpPr>
          <p:cNvPr id="55" name="Rectangle 50"/>
          <p:cNvSpPr>
            <a:spLocks noChangeArrowheads="1"/>
          </p:cNvSpPr>
          <p:nvPr/>
        </p:nvSpPr>
        <p:spPr bwMode="auto">
          <a:xfrm>
            <a:off x="6059057" y="3712224"/>
            <a:ext cx="311706" cy="17736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1</a:t>
            </a:r>
          </a:p>
        </p:txBody>
      </p:sp>
      <p:sp>
        <p:nvSpPr>
          <p:cNvPr id="56" name="Rectangle 51"/>
          <p:cNvSpPr>
            <a:spLocks noChangeArrowheads="1"/>
          </p:cNvSpPr>
          <p:nvPr/>
        </p:nvSpPr>
        <p:spPr bwMode="auto">
          <a:xfrm>
            <a:off x="1673826" y="3712224"/>
            <a:ext cx="311706" cy="17736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1</a:t>
            </a:r>
          </a:p>
        </p:txBody>
      </p:sp>
      <p:sp>
        <p:nvSpPr>
          <p:cNvPr id="57" name="Rectangle 52"/>
          <p:cNvSpPr>
            <a:spLocks noChangeArrowheads="1"/>
          </p:cNvSpPr>
          <p:nvPr/>
        </p:nvSpPr>
        <p:spPr bwMode="auto">
          <a:xfrm flipH="1">
            <a:off x="5037473" y="2702218"/>
            <a:ext cx="311706" cy="245358"/>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58" name="Rectangle 53"/>
          <p:cNvSpPr>
            <a:spLocks noChangeArrowheads="1"/>
          </p:cNvSpPr>
          <p:nvPr/>
        </p:nvSpPr>
        <p:spPr bwMode="auto">
          <a:xfrm flipH="1">
            <a:off x="5037473" y="3678722"/>
            <a:ext cx="311706" cy="246343"/>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59" name="Rectangle 54"/>
          <p:cNvSpPr>
            <a:spLocks noChangeArrowheads="1"/>
          </p:cNvSpPr>
          <p:nvPr/>
        </p:nvSpPr>
        <p:spPr bwMode="auto">
          <a:xfrm>
            <a:off x="1673826" y="2744590"/>
            <a:ext cx="311706" cy="175396"/>
          </a:xfrm>
          <a:prstGeom prst="rect">
            <a:avLst/>
          </a:prstGeom>
          <a:noFill/>
          <a:ln w="12700">
            <a:solidFill>
              <a:schemeClr val="tx1"/>
            </a:solidFill>
            <a:miter lim="800000"/>
            <a:headEnd/>
            <a:tailEnd/>
          </a:ln>
          <a:effectLst/>
        </p:spPr>
        <p:txBody>
          <a:bodyPr wrap="none" anchor="ctr"/>
          <a:lstStyle/>
          <a:p>
            <a:pPr algn="ctr"/>
            <a:r>
              <a:rPr kumimoji="1" lang="en-US" altLang="zh-CN" sz="1100" dirty="0">
                <a:latin typeface="Montserrat" panose="00000500000000000000" pitchFamily="2" charset="0"/>
                <a:ea typeface="微软雅黑" pitchFamily="34" charset="-122"/>
              </a:rPr>
              <a:t>1</a:t>
            </a:r>
          </a:p>
        </p:txBody>
      </p:sp>
      <p:sp>
        <p:nvSpPr>
          <p:cNvPr id="60" name="Rectangle 55"/>
          <p:cNvSpPr>
            <a:spLocks noChangeArrowheads="1"/>
          </p:cNvSpPr>
          <p:nvPr/>
        </p:nvSpPr>
        <p:spPr bwMode="auto">
          <a:xfrm>
            <a:off x="2169139" y="2723896"/>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1" name="Rectangle 56"/>
          <p:cNvSpPr>
            <a:spLocks noChangeArrowheads="1"/>
          </p:cNvSpPr>
          <p:nvPr/>
        </p:nvSpPr>
        <p:spPr bwMode="auto">
          <a:xfrm>
            <a:off x="2169139" y="3699414"/>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2" name="Rectangle 57"/>
          <p:cNvSpPr>
            <a:spLocks noChangeArrowheads="1"/>
          </p:cNvSpPr>
          <p:nvPr/>
        </p:nvSpPr>
        <p:spPr bwMode="auto">
          <a:xfrm flipH="1">
            <a:off x="5540259" y="2723896"/>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3" name="Rectangle 58"/>
          <p:cNvSpPr>
            <a:spLocks noChangeArrowheads="1"/>
          </p:cNvSpPr>
          <p:nvPr/>
        </p:nvSpPr>
        <p:spPr bwMode="auto">
          <a:xfrm flipH="1">
            <a:off x="5547731" y="3699414"/>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4" name="AutoShape 4"/>
          <p:cNvSpPr>
            <a:spLocks noChangeArrowheads="1"/>
          </p:cNvSpPr>
          <p:nvPr/>
        </p:nvSpPr>
        <p:spPr bwMode="auto">
          <a:xfrm>
            <a:off x="3883871" y="2197648"/>
            <a:ext cx="216000" cy="360000"/>
          </a:xfrm>
          <a:prstGeom prst="upDownArrow">
            <a:avLst>
              <a:gd name="adj1" fmla="val 50000"/>
              <a:gd name="adj2" fmla="val 34178"/>
            </a:avLst>
          </a:prstGeom>
          <a:solidFill>
            <a:srgbClr val="00B2FD"/>
          </a:solidFill>
          <a:ln w="28575">
            <a:no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cxnSp>
        <p:nvCxnSpPr>
          <p:cNvPr id="67" name="肘形连接符 66"/>
          <p:cNvCxnSpPr>
            <a:stCxn id="9" idx="1"/>
            <a:endCxn id="17" idx="0"/>
          </p:cNvCxnSpPr>
          <p:nvPr/>
        </p:nvCxnSpPr>
        <p:spPr>
          <a:xfrm rot="10800000" flipV="1">
            <a:off x="2821374" y="1657816"/>
            <a:ext cx="364012" cy="1044401"/>
          </a:xfrm>
          <a:prstGeom prst="bentConnector2">
            <a:avLst/>
          </a:prstGeom>
          <a:ln w="12700">
            <a:prstDash val="sysDash"/>
            <a:tailEnd type="triangle" w="med" len="lg"/>
          </a:ln>
        </p:spPr>
        <p:style>
          <a:lnRef idx="1">
            <a:schemeClr val="dk1"/>
          </a:lnRef>
          <a:fillRef idx="0">
            <a:schemeClr val="dk1"/>
          </a:fillRef>
          <a:effectRef idx="0">
            <a:schemeClr val="dk1"/>
          </a:effectRef>
          <a:fontRef idx="minor">
            <a:schemeClr val="tx1"/>
          </a:fontRef>
        </p:style>
      </p:cxnSp>
      <p:sp>
        <p:nvSpPr>
          <p:cNvPr id="68" name="矩形 67"/>
          <p:cNvSpPr/>
          <p:nvPr/>
        </p:nvSpPr>
        <p:spPr>
          <a:xfrm>
            <a:off x="7013806" y="1269142"/>
            <a:ext cx="1107996" cy="276999"/>
          </a:xfrm>
          <a:prstGeom prst="rect">
            <a:avLst/>
          </a:prstGeom>
        </p:spPr>
        <p:txBody>
          <a:bodyPr wrap="none">
            <a:spAutoFit/>
          </a:bodyPr>
          <a:lstStyle/>
          <a:p>
            <a:r>
              <a:rPr lang="zh-CN" altLang="en-US" sz="1200" dirty="0">
                <a:latin typeface="Montserrat" panose="00000500000000000000" pitchFamily="2" charset="0"/>
                <a:ea typeface="微软雅黑" panose="020B0503020204020204" pitchFamily="34" charset="-122"/>
              </a:rPr>
              <a:t>路由选择部分</a:t>
            </a:r>
            <a:endParaRPr lang="en-US" altLang="zh-CN" sz="1200" dirty="0">
              <a:latin typeface="Montserrat" panose="00000500000000000000" pitchFamily="2" charset="0"/>
              <a:ea typeface="微软雅黑" panose="020B0503020204020204" pitchFamily="34" charset="-122"/>
            </a:endParaRPr>
          </a:p>
        </p:txBody>
      </p:sp>
      <p:sp>
        <p:nvSpPr>
          <p:cNvPr id="69" name="矩形 68"/>
          <p:cNvSpPr/>
          <p:nvPr/>
        </p:nvSpPr>
        <p:spPr>
          <a:xfrm>
            <a:off x="7013806" y="2501155"/>
            <a:ext cx="1107996" cy="276999"/>
          </a:xfrm>
          <a:prstGeom prst="rect">
            <a:avLst/>
          </a:prstGeom>
        </p:spPr>
        <p:txBody>
          <a:bodyPr wrap="none">
            <a:spAutoFit/>
          </a:bodyPr>
          <a:lstStyle/>
          <a:p>
            <a:r>
              <a:rPr lang="zh-CN" altLang="en-US" sz="1200" dirty="0">
                <a:latin typeface="Montserrat" panose="00000500000000000000" pitchFamily="2" charset="0"/>
                <a:ea typeface="微软雅黑" panose="020B0503020204020204" pitchFamily="34" charset="-122"/>
              </a:rPr>
              <a:t>分组转发部分</a:t>
            </a:r>
          </a:p>
        </p:txBody>
      </p:sp>
      <p:cxnSp>
        <p:nvCxnSpPr>
          <p:cNvPr id="71" name="直接箭头连接符 70"/>
          <p:cNvCxnSpPr/>
          <p:nvPr/>
        </p:nvCxnSpPr>
        <p:spPr>
          <a:xfrm>
            <a:off x="2821373" y="2947576"/>
            <a:ext cx="0" cy="731146"/>
          </a:xfrm>
          <a:prstGeom prst="straightConnector1">
            <a:avLst/>
          </a:prstGeom>
          <a:ln w="12700">
            <a:solidFill>
              <a:schemeClr val="tx1"/>
            </a:solidFill>
            <a:prstDash val="sysDash"/>
            <a:tailEnd type="triangle" w="med" len="lg"/>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5FEF60FA-4A08-73C1-464B-EBDE0E9D8114}"/>
              </a:ext>
            </a:extLst>
          </p:cNvPr>
          <p:cNvSpPr>
            <a:spLocks noGrp="1"/>
          </p:cNvSpPr>
          <p:nvPr>
            <p:ph type="title"/>
          </p:nvPr>
        </p:nvSpPr>
        <p:spPr>
          <a:xfrm>
            <a:off x="486000" y="550723"/>
            <a:ext cx="8172000" cy="338554"/>
          </a:xfrm>
        </p:spPr>
        <p:txBody>
          <a:bodyPr/>
          <a:lstStyle/>
          <a:p>
            <a:r>
              <a:rPr lang="en-US" altLang="zh-CN" dirty="0"/>
              <a:t>1. </a:t>
            </a:r>
            <a:r>
              <a:rPr lang="zh-CN" altLang="en-US" dirty="0"/>
              <a:t>路由器的结构</a:t>
            </a:r>
          </a:p>
        </p:txBody>
      </p:sp>
    </p:spTree>
    <p:extLst>
      <p:ext uri="{BB962C8B-B14F-4D97-AF65-F5344CB8AC3E}">
        <p14:creationId xmlns:p14="http://schemas.microsoft.com/office/powerpoint/2010/main" val="543701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5"/>
          <p:cNvSpPr/>
          <p:nvPr/>
        </p:nvSpPr>
        <p:spPr>
          <a:xfrm>
            <a:off x="485776" y="1039603"/>
            <a:ext cx="3773516"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转发</a:t>
            </a:r>
          </a:p>
        </p:txBody>
      </p:sp>
      <p:sp>
        <p:nvSpPr>
          <p:cNvPr id="7" name="任意多边形 6"/>
          <p:cNvSpPr/>
          <p:nvPr/>
        </p:nvSpPr>
        <p:spPr>
          <a:xfrm>
            <a:off x="485776" y="1615602"/>
            <a:ext cx="3773516"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根据转发表将用户的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数据报从合适的端口转发出去</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仅涉及到一个路由器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转发表是从路由表得出的</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转发表必须包含完成转发功能所必需的信息，每一行必须包含从要到达的目的网络到输出端口和某些 </a:t>
            </a:r>
            <a:r>
              <a:rPr lang="en-US" altLang="en-US" sz="1400" kern="1200" dirty="0">
                <a:latin typeface="微软雅黑" panose="020B0503020204020204" pitchFamily="34" charset="-122"/>
                <a:ea typeface="微软雅黑" panose="020B0503020204020204" pitchFamily="34" charset="-122"/>
              </a:rPr>
              <a:t>MAC </a:t>
            </a:r>
            <a:r>
              <a:rPr lang="zh-CN" altLang="en-US" sz="1400" kern="1200" dirty="0">
                <a:latin typeface="微软雅黑" panose="020B0503020204020204" pitchFamily="34" charset="-122"/>
                <a:ea typeface="微软雅黑" panose="020B0503020204020204" pitchFamily="34" charset="-122"/>
              </a:rPr>
              <a:t>地址信息（如下一跳的以太网地址）的映射</a:t>
            </a:r>
          </a:p>
          <a:p>
            <a:pPr marL="114300" lvl="1" indent="-114300" algn="l" defTabSz="622300">
              <a:lnSpc>
                <a:spcPts val="2400"/>
              </a:lnSpc>
              <a:spcBef>
                <a:spcPct val="0"/>
              </a:spcBef>
              <a:spcAft>
                <a:spcPct val="15000"/>
              </a:spcAft>
              <a:buChar char="••"/>
            </a:pPr>
            <a:endParaRPr lang="zh-CN" altLang="en-US" sz="1400" kern="1200" dirty="0">
              <a:latin typeface="微软雅黑" panose="020B0503020204020204" pitchFamily="34" charset="-122"/>
              <a:ea typeface="微软雅黑" panose="020B0503020204020204" pitchFamily="34" charset="-122"/>
            </a:endParaRPr>
          </a:p>
        </p:txBody>
      </p:sp>
      <p:sp>
        <p:nvSpPr>
          <p:cNvPr id="8" name="任意多边形 7"/>
          <p:cNvSpPr/>
          <p:nvPr/>
        </p:nvSpPr>
        <p:spPr>
          <a:xfrm>
            <a:off x="4737800" y="1039603"/>
            <a:ext cx="3920424"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4464770"/>
              <a:satOff val="26899"/>
              <a:lumOff val="2156"/>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路由选择</a:t>
            </a:r>
          </a:p>
        </p:txBody>
      </p:sp>
      <p:sp>
        <p:nvSpPr>
          <p:cNvPr id="9" name="任意多边形 8"/>
          <p:cNvSpPr/>
          <p:nvPr/>
        </p:nvSpPr>
        <p:spPr>
          <a:xfrm>
            <a:off x="4737800" y="1615602"/>
            <a:ext cx="3920424"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按照路由选择算法，根据网络拓扑的变化情况，动态地改变所选择的路由，并由此构造出整个的路由表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涉及到很多路由器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路由表一般仅包含从目的网络到下一跳（用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地址表示）的映射</a:t>
            </a:r>
          </a:p>
        </p:txBody>
      </p:sp>
      <p:sp>
        <p:nvSpPr>
          <p:cNvPr id="5" name="标题 4">
            <a:extLst>
              <a:ext uri="{FF2B5EF4-FFF2-40B4-BE49-F238E27FC236}">
                <a16:creationId xmlns:a16="http://schemas.microsoft.com/office/drawing/2014/main" id="{724BF971-2839-8F08-BB8B-71891226FB34}"/>
              </a:ext>
            </a:extLst>
          </p:cNvPr>
          <p:cNvSpPr>
            <a:spLocks noGrp="1"/>
          </p:cNvSpPr>
          <p:nvPr>
            <p:ph type="title"/>
          </p:nvPr>
        </p:nvSpPr>
        <p:spPr>
          <a:xfrm>
            <a:off x="486000" y="550723"/>
            <a:ext cx="8172000" cy="338554"/>
          </a:xfrm>
        </p:spPr>
        <p:txBody>
          <a:bodyPr/>
          <a:lstStyle/>
          <a:p>
            <a:r>
              <a:rPr lang="zh-CN" altLang="en-US" dirty="0"/>
              <a:t>转发和路由选择</a:t>
            </a:r>
          </a:p>
        </p:txBody>
      </p:sp>
    </p:spTree>
    <p:extLst>
      <p:ext uri="{BB962C8B-B14F-4D97-AF65-F5344CB8AC3E}">
        <p14:creationId xmlns:p14="http://schemas.microsoft.com/office/powerpoint/2010/main" val="2742098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1425510" y="1021794"/>
            <a:ext cx="6290279" cy="2445310"/>
            <a:chOff x="1064568" y="1661804"/>
            <a:chExt cx="8347806" cy="3245159"/>
          </a:xfrm>
        </p:grpSpPr>
        <p:sp>
          <p:nvSpPr>
            <p:cNvPr id="6" name="Rectangle 4"/>
            <p:cNvSpPr>
              <a:spLocks noChangeArrowheads="1"/>
            </p:cNvSpPr>
            <p:nvPr/>
          </p:nvSpPr>
          <p:spPr bwMode="auto">
            <a:xfrm>
              <a:off x="1723381" y="2073275"/>
              <a:ext cx="6691312" cy="266223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latin typeface="微软雅黑" pitchFamily="34" charset="-122"/>
                <a:ea typeface="微软雅黑" pitchFamily="34" charset="-122"/>
              </a:endParaRPr>
            </a:p>
          </p:txBody>
        </p:sp>
        <p:sp>
          <p:nvSpPr>
            <p:cNvPr id="7" name="Rectangle 5"/>
            <p:cNvSpPr>
              <a:spLocks noChangeArrowheads="1"/>
            </p:cNvSpPr>
            <p:nvPr/>
          </p:nvSpPr>
          <p:spPr bwMode="auto">
            <a:xfrm>
              <a:off x="2167881" y="3133725"/>
              <a:ext cx="1339850" cy="798513"/>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物理层处理</a:t>
              </a:r>
            </a:p>
          </p:txBody>
        </p:sp>
        <p:sp>
          <p:nvSpPr>
            <p:cNvPr id="8" name="Rectangle 6"/>
            <p:cNvSpPr>
              <a:spLocks noChangeArrowheads="1"/>
            </p:cNvSpPr>
            <p:nvPr/>
          </p:nvSpPr>
          <p:spPr bwMode="auto">
            <a:xfrm>
              <a:off x="4069706" y="2870200"/>
              <a:ext cx="1338262" cy="1327150"/>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数据链路层</a:t>
              </a:r>
            </a:p>
            <a:p>
              <a:pPr algn="ctr"/>
              <a:r>
                <a:rPr kumimoji="1" lang="zh-CN" altLang="en-US" sz="1400" dirty="0">
                  <a:latin typeface="微软雅黑" pitchFamily="34" charset="-122"/>
                  <a:ea typeface="微软雅黑" pitchFamily="34" charset="-122"/>
                </a:rPr>
                <a:t>处理</a:t>
              </a:r>
            </a:p>
          </p:txBody>
        </p:sp>
        <p:sp>
          <p:nvSpPr>
            <p:cNvPr id="9" name="Rectangle 7"/>
            <p:cNvSpPr>
              <a:spLocks noChangeArrowheads="1"/>
            </p:cNvSpPr>
            <p:nvPr/>
          </p:nvSpPr>
          <p:spPr bwMode="auto">
            <a:xfrm>
              <a:off x="6066781" y="2330450"/>
              <a:ext cx="1901825" cy="2060575"/>
            </a:xfrm>
            <a:prstGeom prst="rect">
              <a:avLst/>
            </a:prstGeom>
            <a:noFill/>
            <a:ln w="19050">
              <a:solidFill>
                <a:schemeClr val="tx1"/>
              </a:solidFill>
              <a:miter lim="800000"/>
              <a:headEnd/>
              <a:tailEnd/>
            </a:ln>
            <a:effectLst/>
          </p:spPr>
          <p:txBody>
            <a:bodyPr wrap="none" anchor="ctr"/>
            <a:lstStyle/>
            <a:p>
              <a:endParaRPr lang="zh-CN" altLang="en-US" sz="1400">
                <a:latin typeface="微软雅黑" pitchFamily="34" charset="-122"/>
                <a:ea typeface="微软雅黑" pitchFamily="34" charset="-122"/>
              </a:endParaRPr>
            </a:p>
          </p:txBody>
        </p:sp>
        <p:sp>
          <p:nvSpPr>
            <p:cNvPr id="10" name="Line 8"/>
            <p:cNvSpPr>
              <a:spLocks noChangeShapeType="1"/>
            </p:cNvSpPr>
            <p:nvPr/>
          </p:nvSpPr>
          <p:spPr bwMode="auto">
            <a:xfrm flipV="1">
              <a:off x="1482081" y="3533775"/>
              <a:ext cx="712787" cy="4763"/>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9"/>
            <p:cNvSpPr>
              <a:spLocks noChangeShapeType="1"/>
            </p:cNvSpPr>
            <p:nvPr/>
          </p:nvSpPr>
          <p:spPr bwMode="auto">
            <a:xfrm>
              <a:off x="3507731" y="3533775"/>
              <a:ext cx="5619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10"/>
            <p:cNvSpPr>
              <a:spLocks noChangeShapeType="1"/>
            </p:cNvSpPr>
            <p:nvPr/>
          </p:nvSpPr>
          <p:spPr bwMode="auto">
            <a:xfrm>
              <a:off x="5428606" y="3533775"/>
              <a:ext cx="647700"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7968606" y="3533775"/>
              <a:ext cx="8921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8860781" y="1901825"/>
              <a:ext cx="0" cy="3005138"/>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Freeform 13"/>
            <p:cNvSpPr>
              <a:spLocks/>
            </p:cNvSpPr>
            <p:nvPr/>
          </p:nvSpPr>
          <p:spPr bwMode="auto">
            <a:xfrm>
              <a:off x="6384281" y="3189288"/>
              <a:ext cx="1358900" cy="687387"/>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a:off x="758284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a:off x="742409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72621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7"/>
            <p:cNvSpPr>
              <a:spLocks noChangeShapeType="1"/>
            </p:cNvSpPr>
            <p:nvPr/>
          </p:nvSpPr>
          <p:spPr bwMode="auto">
            <a:xfrm>
              <a:off x="710341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8"/>
            <p:cNvSpPr>
              <a:spLocks noChangeShapeType="1"/>
            </p:cNvSpPr>
            <p:nvPr/>
          </p:nvSpPr>
          <p:spPr bwMode="auto">
            <a:xfrm>
              <a:off x="69446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9"/>
            <p:cNvSpPr>
              <a:spLocks noChangeShapeType="1"/>
            </p:cNvSpPr>
            <p:nvPr/>
          </p:nvSpPr>
          <p:spPr bwMode="auto">
            <a:xfrm>
              <a:off x="6784331"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2" name="Text Box 20"/>
            <p:cNvSpPr txBox="1">
              <a:spLocks noChangeArrowheads="1"/>
            </p:cNvSpPr>
            <p:nvPr/>
          </p:nvSpPr>
          <p:spPr bwMode="auto">
            <a:xfrm>
              <a:off x="6346182" y="2405062"/>
              <a:ext cx="1436380" cy="6943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网络层处理</a:t>
              </a:r>
            </a:p>
            <a:p>
              <a:r>
                <a:rPr kumimoji="1" lang="zh-CN" altLang="en-US" sz="1400" dirty="0">
                  <a:latin typeface="微软雅黑" pitchFamily="34" charset="-122"/>
                  <a:ea typeface="微软雅黑" pitchFamily="34" charset="-122"/>
                </a:rPr>
                <a:t>  分组排队</a:t>
              </a:r>
            </a:p>
          </p:txBody>
        </p:sp>
        <p:sp>
          <p:nvSpPr>
            <p:cNvPr id="23" name="Text Box 21"/>
            <p:cNvSpPr txBox="1">
              <a:spLocks noChangeArrowheads="1"/>
            </p:cNvSpPr>
            <p:nvPr/>
          </p:nvSpPr>
          <p:spPr bwMode="auto">
            <a:xfrm>
              <a:off x="6465243" y="3870325"/>
              <a:ext cx="385474"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  </a:t>
              </a:r>
            </a:p>
          </p:txBody>
        </p:sp>
        <p:sp>
          <p:nvSpPr>
            <p:cNvPr id="24" name="Text Box 22"/>
            <p:cNvSpPr txBox="1">
              <a:spLocks noChangeArrowheads="1"/>
            </p:cNvSpPr>
            <p:nvPr/>
          </p:nvSpPr>
          <p:spPr bwMode="auto">
            <a:xfrm>
              <a:off x="8929043" y="2825640"/>
              <a:ext cx="483331" cy="1266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sp>
          <p:nvSpPr>
            <p:cNvPr id="25" name="Text Box 23"/>
            <p:cNvSpPr txBox="1">
              <a:spLocks noChangeArrowheads="1"/>
            </p:cNvSpPr>
            <p:nvPr/>
          </p:nvSpPr>
          <p:spPr bwMode="auto">
            <a:xfrm>
              <a:off x="3938885" y="1661804"/>
              <a:ext cx="2053307" cy="408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输入端口的处理</a:t>
              </a:r>
            </a:p>
          </p:txBody>
        </p:sp>
        <p:sp>
          <p:nvSpPr>
            <p:cNvPr id="26" name="Text Box 24"/>
            <p:cNvSpPr txBox="1">
              <a:spLocks noChangeArrowheads="1"/>
            </p:cNvSpPr>
            <p:nvPr/>
          </p:nvSpPr>
          <p:spPr bwMode="auto">
            <a:xfrm>
              <a:off x="1064568" y="2549802"/>
              <a:ext cx="483331" cy="19237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从</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接</a:t>
              </a:r>
            </a:p>
            <a:p>
              <a:pPr>
                <a:lnSpc>
                  <a:spcPct val="90000"/>
                </a:lnSpc>
              </a:pPr>
              <a:r>
                <a:rPr kumimoji="1" lang="zh-CN" altLang="en-US" sz="1400" b="1" dirty="0">
                  <a:latin typeface="微软雅黑" pitchFamily="34" charset="-122"/>
                  <a:ea typeface="微软雅黑" pitchFamily="34" charset="-122"/>
                </a:rPr>
                <a:t>收</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27" name="Text Box 25"/>
            <p:cNvSpPr txBox="1">
              <a:spLocks noChangeArrowheads="1"/>
            </p:cNvSpPr>
            <p:nvPr/>
          </p:nvSpPr>
          <p:spPr bwMode="auto">
            <a:xfrm>
              <a:off x="6396982" y="3898900"/>
              <a:ext cx="1436380"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查表和转发</a:t>
              </a:r>
            </a:p>
          </p:txBody>
        </p:sp>
      </p:grpSp>
      <p:grpSp>
        <p:nvGrpSpPr>
          <p:cNvPr id="51" name="组合 50"/>
          <p:cNvGrpSpPr/>
          <p:nvPr/>
        </p:nvGrpSpPr>
        <p:grpSpPr>
          <a:xfrm>
            <a:off x="850357" y="2742176"/>
            <a:ext cx="1711052" cy="1489636"/>
            <a:chOff x="850357" y="2742176"/>
            <a:chExt cx="1711052" cy="1489636"/>
          </a:xfrm>
        </p:grpSpPr>
        <p:sp>
          <p:nvSpPr>
            <p:cNvPr id="31" name="矩形 30"/>
            <p:cNvSpPr/>
            <p:nvPr/>
          </p:nvSpPr>
          <p:spPr>
            <a:xfrm>
              <a:off x="850357"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从输入端口接收比特</a:t>
              </a:r>
            </a:p>
          </p:txBody>
        </p:sp>
        <p:cxnSp>
          <p:nvCxnSpPr>
            <p:cNvPr id="36" name="直接箭头连接符 35"/>
            <p:cNvCxnSpPr/>
            <p:nvPr/>
          </p:nvCxnSpPr>
          <p:spPr>
            <a:xfrm flipH="1">
              <a:off x="1485301" y="2742176"/>
              <a:ext cx="1076108" cy="1003019"/>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2" name="组合 51"/>
          <p:cNvGrpSpPr/>
          <p:nvPr/>
        </p:nvGrpSpPr>
        <p:grpSpPr>
          <a:xfrm>
            <a:off x="2077670" y="2760742"/>
            <a:ext cx="1612286" cy="1474367"/>
            <a:chOff x="2077670" y="2760742"/>
            <a:chExt cx="1612286" cy="1474367"/>
          </a:xfrm>
        </p:grpSpPr>
        <p:sp>
          <p:nvSpPr>
            <p:cNvPr id="32" name="矩形 31"/>
            <p:cNvSpPr/>
            <p:nvPr/>
          </p:nvSpPr>
          <p:spPr>
            <a:xfrm>
              <a:off x="2077670" y="3741649"/>
              <a:ext cx="1207296"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剥去帧的</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首部和尾部</a:t>
              </a:r>
            </a:p>
          </p:txBody>
        </p:sp>
        <p:cxnSp>
          <p:nvCxnSpPr>
            <p:cNvPr id="40" name="直接箭头连接符 39"/>
            <p:cNvCxnSpPr/>
            <p:nvPr/>
          </p:nvCxnSpPr>
          <p:spPr>
            <a:xfrm flipH="1">
              <a:off x="2719279" y="2760742"/>
              <a:ext cx="970677" cy="970726"/>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3680497" y="3076509"/>
            <a:ext cx="1763119" cy="1590103"/>
            <a:chOff x="3680497" y="3076509"/>
            <a:chExt cx="1763119" cy="1590103"/>
          </a:xfrm>
        </p:grpSpPr>
        <p:sp>
          <p:nvSpPr>
            <p:cNvPr id="33" name="矩形 32"/>
            <p:cNvSpPr/>
            <p:nvPr/>
          </p:nvSpPr>
          <p:spPr>
            <a:xfrm>
              <a:off x="3680497" y="3646399"/>
              <a:ext cx="1558061" cy="102021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若收到的分组是交换</a:t>
              </a:r>
              <a:r>
                <a:rPr lang="zh-CN" altLang="en-US" sz="1400" dirty="0">
                  <a:solidFill>
                    <a:srgbClr val="C00000"/>
                  </a:solidFill>
                  <a:latin typeface="微软雅黑" panose="020B0503020204020204" pitchFamily="34" charset="-122"/>
                  <a:ea typeface="微软雅黑" panose="020B0503020204020204" pitchFamily="34" charset="-122"/>
                </a:rPr>
                <a:t>路由信息的分组，</a:t>
              </a:r>
              <a:r>
                <a:rPr lang="zh-CN" altLang="en-US" sz="1400" dirty="0">
                  <a:solidFill>
                    <a:schemeClr val="tx1"/>
                  </a:solidFill>
                  <a:latin typeface="微软雅黑" panose="020B0503020204020204" pitchFamily="34" charset="-122"/>
                  <a:ea typeface="微软雅黑" panose="020B0503020204020204" pitchFamily="34" charset="-122"/>
                </a:rPr>
                <a:t>送交</a:t>
              </a:r>
              <a:r>
                <a:rPr lang="zh-CN" altLang="en-US" sz="1400" dirty="0">
                  <a:solidFill>
                    <a:srgbClr val="C00000"/>
                  </a:solidFill>
                  <a:latin typeface="微软雅黑" panose="020B0503020204020204" pitchFamily="34" charset="-122"/>
                  <a:ea typeface="微软雅黑" panose="020B0503020204020204" pitchFamily="34" charset="-122"/>
                </a:rPr>
                <a:t>路由选择处理机。</a:t>
              </a:r>
            </a:p>
          </p:txBody>
        </p:sp>
        <p:cxnSp>
          <p:nvCxnSpPr>
            <p:cNvPr id="43" name="直接箭头连接符 42"/>
            <p:cNvCxnSpPr/>
            <p:nvPr/>
          </p:nvCxnSpPr>
          <p:spPr>
            <a:xfrm flipH="1">
              <a:off x="4918866" y="3076509"/>
              <a:ext cx="524750" cy="571457"/>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4" name="组合 53"/>
          <p:cNvGrpSpPr/>
          <p:nvPr/>
        </p:nvGrpSpPr>
        <p:grpSpPr>
          <a:xfrm>
            <a:off x="5124259" y="3076509"/>
            <a:ext cx="3174326" cy="1577244"/>
            <a:chOff x="5124259" y="3076509"/>
            <a:chExt cx="3174326" cy="1577244"/>
          </a:xfrm>
        </p:grpSpPr>
        <p:sp>
          <p:nvSpPr>
            <p:cNvPr id="34" name="矩形 33"/>
            <p:cNvSpPr/>
            <p:nvPr/>
          </p:nvSpPr>
          <p:spPr>
            <a:xfrm>
              <a:off x="5124259" y="3646399"/>
              <a:ext cx="3174326" cy="100735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若收到的是</a:t>
              </a:r>
              <a:r>
                <a:rPr lang="zh-CN" altLang="en-US" sz="1400" dirty="0">
                  <a:solidFill>
                    <a:srgbClr val="C00000"/>
                  </a:solidFill>
                  <a:latin typeface="微软雅黑" panose="020B0503020204020204" pitchFamily="34" charset="-122"/>
                  <a:ea typeface="微软雅黑" panose="020B0503020204020204" pitchFamily="34" charset="-122"/>
                </a:rPr>
                <a:t>数据分组，</a:t>
              </a:r>
              <a:r>
                <a:rPr lang="zh-CN" altLang="en-US" sz="1400" dirty="0">
                  <a:solidFill>
                    <a:schemeClr val="tx1"/>
                  </a:solidFill>
                  <a:latin typeface="微软雅黑" panose="020B0503020204020204" pitchFamily="34" charset="-122"/>
                  <a:ea typeface="微软雅黑" panose="020B0503020204020204" pitchFamily="34" charset="-122"/>
                </a:rPr>
                <a:t>按目的地址查找转发表，根据得出的结果，经</a:t>
              </a:r>
              <a:r>
                <a:rPr lang="zh-CN" altLang="en-US" sz="1400" dirty="0">
                  <a:solidFill>
                    <a:srgbClr val="C00000"/>
                  </a:solidFill>
                  <a:latin typeface="微软雅黑" panose="020B0503020204020204" pitchFamily="34" charset="-122"/>
                  <a:ea typeface="微软雅黑" panose="020B0503020204020204" pitchFamily="34" charset="-122"/>
                </a:rPr>
                <a:t>交换结构</a:t>
              </a:r>
              <a:r>
                <a:rPr lang="zh-CN" altLang="en-US" sz="1400" dirty="0">
                  <a:solidFill>
                    <a:schemeClr val="tx1"/>
                  </a:solidFill>
                  <a:latin typeface="微软雅黑" panose="020B0503020204020204" pitchFamily="34" charset="-122"/>
                  <a:ea typeface="微软雅黑" panose="020B0503020204020204" pitchFamily="34" charset="-122"/>
                </a:rPr>
                <a:t>到达合适的输出端口。若某分组正在查找转发表，该分组排队等待。</a:t>
              </a:r>
            </a:p>
          </p:txBody>
        </p:sp>
        <p:cxnSp>
          <p:nvCxnSpPr>
            <p:cNvPr id="45" name="直接箭头连接符 44"/>
            <p:cNvCxnSpPr>
              <a:endCxn id="34" idx="0"/>
            </p:cNvCxnSpPr>
            <p:nvPr/>
          </p:nvCxnSpPr>
          <p:spPr>
            <a:xfrm>
              <a:off x="6217570" y="3076509"/>
              <a:ext cx="493852" cy="569890"/>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05D16D35-18AE-CD17-6538-1C61D96737AD}"/>
              </a:ext>
            </a:extLst>
          </p:cNvPr>
          <p:cNvSpPr>
            <a:spLocks noGrp="1"/>
          </p:cNvSpPr>
          <p:nvPr>
            <p:ph type="title"/>
          </p:nvPr>
        </p:nvSpPr>
        <p:spPr>
          <a:xfrm>
            <a:off x="486000" y="550723"/>
            <a:ext cx="8172000" cy="338554"/>
          </a:xfrm>
        </p:spPr>
        <p:txBody>
          <a:bodyPr/>
          <a:lstStyle/>
          <a:p>
            <a:r>
              <a:rPr lang="zh-CN" altLang="en-US" dirty="0"/>
              <a:t>输入端口对线路上收到的分组的处理 </a:t>
            </a:r>
          </a:p>
        </p:txBody>
      </p:sp>
    </p:spTree>
    <p:extLst>
      <p:ext uri="{BB962C8B-B14F-4D97-AF65-F5344CB8AC3E}">
        <p14:creationId xmlns:p14="http://schemas.microsoft.com/office/powerpoint/2010/main" val="28459486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1"/>
                                        </p:tgtEl>
                                        <p:attrNameLst>
                                          <p:attrName>style.visibility</p:attrName>
                                        </p:attrNameLst>
                                      </p:cBhvr>
                                      <p:to>
                                        <p:strVal val="visible"/>
                                      </p:to>
                                    </p:set>
                                    <p:animEffect transition="in" filter="wipe(up)">
                                      <p:cBhvr>
                                        <p:cTn id="7" dur="1000"/>
                                        <p:tgtEl>
                                          <p:spTgt spid="5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wipe(up)">
                                      <p:cBhvr>
                                        <p:cTn id="12" dur="1000"/>
                                        <p:tgtEl>
                                          <p:spTgt spid="5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wipe(up)">
                                      <p:cBhvr>
                                        <p:cTn id="22" dur="10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ectangle 4"/>
          <p:cNvSpPr>
            <a:spLocks noChangeArrowheads="1"/>
          </p:cNvSpPr>
          <p:nvPr/>
        </p:nvSpPr>
        <p:spPr bwMode="auto">
          <a:xfrm>
            <a:off x="1981858" y="1356850"/>
            <a:ext cx="5227810" cy="192751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solidFill>
                <a:schemeClr val="dk1"/>
              </a:solidFill>
              <a:latin typeface="微软雅黑" pitchFamily="34" charset="-122"/>
              <a:ea typeface="微软雅黑" pitchFamily="34" charset="-122"/>
            </a:endParaRPr>
          </a:p>
        </p:txBody>
      </p:sp>
      <p:sp>
        <p:nvSpPr>
          <p:cNvPr id="29" name="Rectangle 5"/>
          <p:cNvSpPr>
            <a:spLocks noChangeArrowheads="1"/>
          </p:cNvSpPr>
          <p:nvPr/>
        </p:nvSpPr>
        <p:spPr bwMode="auto">
          <a:xfrm>
            <a:off x="5816744" y="2124647"/>
            <a:ext cx="1044072" cy="577568"/>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物理层处理</a:t>
            </a:r>
          </a:p>
        </p:txBody>
      </p:sp>
      <p:sp>
        <p:nvSpPr>
          <p:cNvPr id="30" name="Rectangle 6"/>
          <p:cNvSpPr>
            <a:spLocks noChangeArrowheads="1"/>
          </p:cNvSpPr>
          <p:nvPr/>
        </p:nvSpPr>
        <p:spPr bwMode="auto">
          <a:xfrm>
            <a:off x="4331952" y="1934417"/>
            <a:ext cx="1044072" cy="960321"/>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数据链路层</a:t>
            </a:r>
          </a:p>
          <a:p>
            <a:pPr algn="ctr"/>
            <a:r>
              <a:rPr kumimoji="1" lang="zh-CN" altLang="en-US" sz="1400">
                <a:latin typeface="微软雅黑" pitchFamily="34" charset="-122"/>
                <a:ea typeface="微软雅黑" pitchFamily="34" charset="-122"/>
              </a:rPr>
              <a:t>处理</a:t>
            </a:r>
          </a:p>
        </p:txBody>
      </p:sp>
      <p:sp>
        <p:nvSpPr>
          <p:cNvPr id="31" name="Rectangle 7"/>
          <p:cNvSpPr>
            <a:spLocks noChangeArrowheads="1"/>
          </p:cNvSpPr>
          <p:nvPr/>
        </p:nvSpPr>
        <p:spPr bwMode="auto">
          <a:xfrm>
            <a:off x="2330710" y="1542497"/>
            <a:ext cx="1486033" cy="1492050"/>
          </a:xfrm>
          <a:prstGeom prst="rect">
            <a:avLst/>
          </a:prstGeom>
          <a:noFill/>
          <a:ln w="19050">
            <a:solidFill>
              <a:schemeClr val="tx1"/>
            </a:solidFill>
            <a:miter lim="800000"/>
            <a:headEnd/>
            <a:tailEnd/>
          </a:ln>
          <a:effectLst/>
        </p:spPr>
        <p:txBody>
          <a:bodyPr wrap="none" anchor="ctr"/>
          <a:lstStyle/>
          <a:p>
            <a:pPr algn="ctr"/>
            <a:endParaRPr kumimoji="1" lang="zh-CN" altLang="en-US" sz="1400" b="1">
              <a:latin typeface="微软雅黑" pitchFamily="34" charset="-122"/>
              <a:ea typeface="微软雅黑" pitchFamily="34" charset="-122"/>
            </a:endParaRPr>
          </a:p>
        </p:txBody>
      </p:sp>
      <p:sp>
        <p:nvSpPr>
          <p:cNvPr id="32" name="Line 8"/>
          <p:cNvSpPr>
            <a:spLocks noChangeShapeType="1"/>
          </p:cNvSpPr>
          <p:nvPr/>
        </p:nvSpPr>
        <p:spPr bwMode="auto">
          <a:xfrm flipV="1">
            <a:off x="6857295" y="2414578"/>
            <a:ext cx="531347"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9"/>
          <p:cNvSpPr>
            <a:spLocks noChangeShapeType="1"/>
          </p:cNvSpPr>
          <p:nvPr/>
        </p:nvSpPr>
        <p:spPr bwMode="auto">
          <a:xfrm>
            <a:off x="5376024" y="2414578"/>
            <a:ext cx="440721"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0"/>
          <p:cNvSpPr>
            <a:spLocks noChangeShapeType="1"/>
          </p:cNvSpPr>
          <p:nvPr/>
        </p:nvSpPr>
        <p:spPr bwMode="auto">
          <a:xfrm>
            <a:off x="3809294" y="2414578"/>
            <a:ext cx="506518"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1"/>
          <p:cNvSpPr>
            <a:spLocks noChangeShapeType="1"/>
          </p:cNvSpPr>
          <p:nvPr/>
        </p:nvSpPr>
        <p:spPr bwMode="auto">
          <a:xfrm>
            <a:off x="1634247" y="2414578"/>
            <a:ext cx="696463"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2"/>
          <p:cNvSpPr>
            <a:spLocks noChangeShapeType="1"/>
          </p:cNvSpPr>
          <p:nvPr/>
        </p:nvSpPr>
        <p:spPr bwMode="auto">
          <a:xfrm>
            <a:off x="1634247" y="1233085"/>
            <a:ext cx="0" cy="2175047"/>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Freeform 13"/>
          <p:cNvSpPr>
            <a:spLocks/>
          </p:cNvSpPr>
          <p:nvPr/>
        </p:nvSpPr>
        <p:spPr bwMode="auto">
          <a:xfrm>
            <a:off x="2506998" y="2164757"/>
            <a:ext cx="1060211" cy="497350"/>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14"/>
          <p:cNvSpPr>
            <a:spLocks noChangeShapeType="1"/>
          </p:cNvSpPr>
          <p:nvPr/>
        </p:nvSpPr>
        <p:spPr bwMode="auto">
          <a:xfrm>
            <a:off x="2824813"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15"/>
          <p:cNvSpPr>
            <a:spLocks noChangeShapeType="1"/>
          </p:cNvSpPr>
          <p:nvPr/>
        </p:nvSpPr>
        <p:spPr bwMode="auto">
          <a:xfrm>
            <a:off x="2948959"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16"/>
          <p:cNvSpPr>
            <a:spLocks noChangeShapeType="1"/>
          </p:cNvSpPr>
          <p:nvPr/>
        </p:nvSpPr>
        <p:spPr bwMode="auto">
          <a:xfrm>
            <a:off x="3074347"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17"/>
          <p:cNvSpPr>
            <a:spLocks noChangeShapeType="1"/>
          </p:cNvSpPr>
          <p:nvPr/>
        </p:nvSpPr>
        <p:spPr bwMode="auto">
          <a:xfrm>
            <a:off x="3199735"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18"/>
          <p:cNvSpPr>
            <a:spLocks noChangeShapeType="1"/>
          </p:cNvSpPr>
          <p:nvPr/>
        </p:nvSpPr>
        <p:spPr bwMode="auto">
          <a:xfrm>
            <a:off x="3322640"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Line 19"/>
          <p:cNvSpPr>
            <a:spLocks noChangeShapeType="1"/>
          </p:cNvSpPr>
          <p:nvPr/>
        </p:nvSpPr>
        <p:spPr bwMode="auto">
          <a:xfrm>
            <a:off x="3448028"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Text Box 20"/>
          <p:cNvSpPr txBox="1">
            <a:spLocks noChangeArrowheads="1"/>
          </p:cNvSpPr>
          <p:nvPr/>
        </p:nvSpPr>
        <p:spPr bwMode="auto">
          <a:xfrm>
            <a:off x="2499549" y="1625006"/>
            <a:ext cx="1082348"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dirty="0">
                <a:latin typeface="微软雅黑" pitchFamily="34" charset="-122"/>
                <a:ea typeface="微软雅黑" pitchFamily="34" charset="-122"/>
              </a:rPr>
              <a:t>网络层处理</a:t>
            </a:r>
          </a:p>
          <a:p>
            <a:pPr>
              <a:lnSpc>
                <a:spcPct val="95000"/>
              </a:lnSpc>
            </a:pPr>
            <a:r>
              <a:rPr kumimoji="1" lang="zh-CN" altLang="en-US" sz="1400" dirty="0">
                <a:latin typeface="微软雅黑" pitchFamily="34" charset="-122"/>
                <a:ea typeface="微软雅黑" pitchFamily="34" charset="-122"/>
              </a:rPr>
              <a:t>  分组排队 </a:t>
            </a:r>
          </a:p>
        </p:txBody>
      </p:sp>
      <p:sp>
        <p:nvSpPr>
          <p:cNvPr id="45" name="Text Box 21"/>
          <p:cNvSpPr txBox="1">
            <a:spLocks noChangeArrowheads="1"/>
          </p:cNvSpPr>
          <p:nvPr/>
        </p:nvSpPr>
        <p:spPr bwMode="auto">
          <a:xfrm>
            <a:off x="3738531" y="1051086"/>
            <a:ext cx="1547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输出端口的处理</a:t>
            </a:r>
          </a:p>
        </p:txBody>
      </p:sp>
      <p:sp>
        <p:nvSpPr>
          <p:cNvPr id="46" name="Text Box 22"/>
          <p:cNvSpPr txBox="1">
            <a:spLocks noChangeArrowheads="1"/>
          </p:cNvSpPr>
          <p:nvPr/>
        </p:nvSpPr>
        <p:spPr bwMode="auto">
          <a:xfrm>
            <a:off x="7371058" y="1681879"/>
            <a:ext cx="364202" cy="144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向</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发</a:t>
            </a:r>
          </a:p>
          <a:p>
            <a:pPr>
              <a:lnSpc>
                <a:spcPct val="90000"/>
              </a:lnSpc>
            </a:pPr>
            <a:r>
              <a:rPr kumimoji="1" lang="zh-CN" altLang="en-US" sz="1400" b="1" dirty="0">
                <a:latin typeface="微软雅黑" pitchFamily="34" charset="-122"/>
                <a:ea typeface="微软雅黑" pitchFamily="34" charset="-122"/>
              </a:rPr>
              <a:t>送</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47" name="Text Box 23"/>
          <p:cNvSpPr txBox="1">
            <a:spLocks noChangeArrowheads="1"/>
          </p:cNvSpPr>
          <p:nvPr/>
        </p:nvSpPr>
        <p:spPr bwMode="auto">
          <a:xfrm>
            <a:off x="2632385" y="265752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缓存管理</a:t>
            </a:r>
          </a:p>
        </p:txBody>
      </p:sp>
      <p:sp>
        <p:nvSpPr>
          <p:cNvPr id="48" name="Text Box 24"/>
          <p:cNvSpPr txBox="1">
            <a:spLocks noChangeArrowheads="1"/>
          </p:cNvSpPr>
          <p:nvPr/>
        </p:nvSpPr>
        <p:spPr bwMode="auto">
          <a:xfrm>
            <a:off x="1260566" y="1932978"/>
            <a:ext cx="364202"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grpSp>
        <p:nvGrpSpPr>
          <p:cNvPr id="26" name="组合 25"/>
          <p:cNvGrpSpPr/>
          <p:nvPr/>
        </p:nvGrpSpPr>
        <p:grpSpPr>
          <a:xfrm>
            <a:off x="6338780" y="2702215"/>
            <a:ext cx="1804986" cy="1515755"/>
            <a:chOff x="462266" y="2716057"/>
            <a:chExt cx="1804986" cy="1515755"/>
          </a:xfrm>
        </p:grpSpPr>
        <p:sp>
          <p:nvSpPr>
            <p:cNvPr id="27" name="矩形 26"/>
            <p:cNvSpPr/>
            <p:nvPr/>
          </p:nvSpPr>
          <p:spPr>
            <a:xfrm>
              <a:off x="1044314"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发送到输出线路上。</a:t>
              </a:r>
            </a:p>
          </p:txBody>
        </p:sp>
        <p:cxnSp>
          <p:nvCxnSpPr>
            <p:cNvPr id="49" name="直接箭头连接符 48"/>
            <p:cNvCxnSpPr/>
            <p:nvPr/>
          </p:nvCxnSpPr>
          <p:spPr>
            <a:xfrm>
              <a:off x="462266" y="2716057"/>
              <a:ext cx="1023035" cy="1029138"/>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0" name="组合 49"/>
          <p:cNvGrpSpPr/>
          <p:nvPr/>
        </p:nvGrpSpPr>
        <p:grpSpPr>
          <a:xfrm>
            <a:off x="5059184" y="2894738"/>
            <a:ext cx="1775713" cy="1340371"/>
            <a:chOff x="2400931" y="2894738"/>
            <a:chExt cx="1775713" cy="1340371"/>
          </a:xfrm>
        </p:grpSpPr>
        <p:sp>
          <p:nvSpPr>
            <p:cNvPr id="51" name="矩形 50"/>
            <p:cNvSpPr/>
            <p:nvPr/>
          </p:nvSpPr>
          <p:spPr>
            <a:xfrm>
              <a:off x="2400931" y="3741649"/>
              <a:ext cx="1775713"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给分组加上链路层的首部和尾部。</a:t>
              </a:r>
            </a:p>
          </p:txBody>
        </p:sp>
        <p:cxnSp>
          <p:nvCxnSpPr>
            <p:cNvPr id="52" name="直接箭头连接符 51"/>
            <p:cNvCxnSpPr>
              <a:endCxn id="51" idx="0"/>
            </p:cNvCxnSpPr>
            <p:nvPr/>
          </p:nvCxnSpPr>
          <p:spPr>
            <a:xfrm>
              <a:off x="2520217" y="2894738"/>
              <a:ext cx="768571" cy="846911"/>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1260566" y="3034547"/>
            <a:ext cx="3789375" cy="1662964"/>
            <a:chOff x="3288556" y="3034547"/>
            <a:chExt cx="3789375" cy="1662964"/>
          </a:xfrm>
        </p:grpSpPr>
        <p:sp>
          <p:nvSpPr>
            <p:cNvPr id="54" name="矩形 53"/>
            <p:cNvSpPr/>
            <p:nvPr/>
          </p:nvSpPr>
          <p:spPr>
            <a:xfrm>
              <a:off x="3288556" y="3600219"/>
              <a:ext cx="3789375" cy="1097292"/>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从交换结构接收分组。当交换结构传送的分组的速率</a:t>
              </a:r>
              <a:r>
                <a:rPr lang="zh-CN" altLang="en-US" sz="1400" dirty="0">
                  <a:solidFill>
                    <a:srgbClr val="0000FF"/>
                  </a:solidFill>
                  <a:latin typeface="微软雅黑" panose="020B0503020204020204" pitchFamily="34" charset="-122"/>
                  <a:ea typeface="微软雅黑" panose="020B0503020204020204" pitchFamily="34" charset="-122"/>
                </a:rPr>
                <a:t>超过</a:t>
              </a:r>
              <a:r>
                <a:rPr lang="zh-CN" altLang="en-US" sz="1400" dirty="0">
                  <a:solidFill>
                    <a:schemeClr val="tx1"/>
                  </a:solidFill>
                  <a:latin typeface="微软雅黑" panose="020B0503020204020204" pitchFamily="34" charset="-122"/>
                  <a:ea typeface="微软雅黑" panose="020B0503020204020204" pitchFamily="34" charset="-122"/>
                </a:rPr>
                <a:t>输出链路的发送速率时，来不及发送的分组就必须</a:t>
              </a:r>
              <a:r>
                <a:rPr lang="zh-CN" altLang="en-US" sz="1400" dirty="0">
                  <a:solidFill>
                    <a:srgbClr val="C00000"/>
                  </a:solidFill>
                  <a:latin typeface="微软雅黑" panose="020B0503020204020204" pitchFamily="34" charset="-122"/>
                  <a:ea typeface="微软雅黑" panose="020B0503020204020204" pitchFamily="34" charset="-122"/>
                </a:rPr>
                <a:t>缓存</a:t>
              </a:r>
              <a:r>
                <a:rPr lang="zh-CN" altLang="en-US" sz="1400" dirty="0">
                  <a:solidFill>
                    <a:schemeClr val="tx1"/>
                  </a:solidFill>
                  <a:latin typeface="微软雅黑" panose="020B0503020204020204" pitchFamily="34" charset="-122"/>
                  <a:ea typeface="微软雅黑" panose="020B0503020204020204" pitchFamily="34" charset="-122"/>
                </a:rPr>
                <a:t>在队列中。若分组处理的速率</a:t>
              </a:r>
              <a:r>
                <a:rPr lang="zh-CN" altLang="en-US" sz="1400" dirty="0">
                  <a:solidFill>
                    <a:srgbClr val="0000FF"/>
                  </a:solidFill>
                  <a:latin typeface="微软雅黑" panose="020B0503020204020204" pitchFamily="34" charset="-122"/>
                  <a:ea typeface="微软雅黑" panose="020B0503020204020204" pitchFamily="34" charset="-122"/>
                </a:rPr>
                <a:t>赶不上</a:t>
              </a:r>
              <a:r>
                <a:rPr lang="zh-CN" altLang="en-US" sz="1400" dirty="0">
                  <a:solidFill>
                    <a:schemeClr val="tx1"/>
                  </a:solidFill>
                  <a:latin typeface="微软雅黑" panose="020B0503020204020204" pitchFamily="34" charset="-122"/>
                  <a:ea typeface="微软雅黑" panose="020B0503020204020204" pitchFamily="34" charset="-122"/>
                </a:rPr>
                <a:t>分组进入队列的速率，队列满时，</a:t>
              </a:r>
              <a:r>
                <a:rPr lang="zh-CN" altLang="en-US" sz="1400" dirty="0">
                  <a:solidFill>
                    <a:srgbClr val="C00000"/>
                  </a:solidFill>
                  <a:latin typeface="微软雅黑" panose="020B0503020204020204" pitchFamily="34" charset="-122"/>
                  <a:ea typeface="微软雅黑" panose="020B0503020204020204" pitchFamily="34" charset="-122"/>
                </a:rPr>
                <a:t>丢弃</a:t>
              </a:r>
              <a:r>
                <a:rPr lang="zh-CN" altLang="en-US" sz="1400" dirty="0">
                  <a:solidFill>
                    <a:schemeClr val="tx1"/>
                  </a:solidFill>
                  <a:latin typeface="微软雅黑" panose="020B0503020204020204" pitchFamily="34" charset="-122"/>
                  <a:ea typeface="微软雅黑" panose="020B0503020204020204" pitchFamily="34" charset="-122"/>
                </a:rPr>
                <a:t>后面进入的分组。</a:t>
              </a:r>
              <a:endParaRPr lang="en-US" altLang="zh-CN" sz="1400" dirty="0">
                <a:solidFill>
                  <a:schemeClr val="tx1"/>
                </a:solidFill>
                <a:latin typeface="微软雅黑" panose="020B0503020204020204" pitchFamily="34" charset="-122"/>
                <a:ea typeface="微软雅黑" panose="020B0503020204020204" pitchFamily="34" charset="-122"/>
              </a:endParaRPr>
            </a:p>
          </p:txBody>
        </p:sp>
        <p:cxnSp>
          <p:nvCxnSpPr>
            <p:cNvPr id="55" name="直接箭头连接符 54"/>
            <p:cNvCxnSpPr>
              <a:endCxn id="54" idx="0"/>
            </p:cNvCxnSpPr>
            <p:nvPr/>
          </p:nvCxnSpPr>
          <p:spPr>
            <a:xfrm>
              <a:off x="4866953" y="3034547"/>
              <a:ext cx="316291" cy="565672"/>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469C4B4E-BCF7-C8F9-B857-C3302B78EA21}"/>
              </a:ext>
            </a:extLst>
          </p:cNvPr>
          <p:cNvSpPr>
            <a:spLocks noGrp="1"/>
          </p:cNvSpPr>
          <p:nvPr>
            <p:ph type="title"/>
          </p:nvPr>
        </p:nvSpPr>
        <p:spPr>
          <a:xfrm>
            <a:off x="486000" y="550723"/>
            <a:ext cx="8172000" cy="338554"/>
          </a:xfrm>
        </p:spPr>
        <p:txBody>
          <a:bodyPr/>
          <a:lstStyle/>
          <a:p>
            <a:r>
              <a:rPr lang="zh-CN" altLang="en-US" dirty="0"/>
              <a:t>输出端口将交换结构传送来的分组发送到线路 </a:t>
            </a:r>
          </a:p>
        </p:txBody>
      </p:sp>
    </p:spTree>
    <p:extLst>
      <p:ext uri="{BB962C8B-B14F-4D97-AF65-F5344CB8AC3E}">
        <p14:creationId xmlns:p14="http://schemas.microsoft.com/office/powerpoint/2010/main" val="1646380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10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0"/>
                                        </p:tgtEl>
                                        <p:attrNameLst>
                                          <p:attrName>style.visibility</p:attrName>
                                        </p:attrNameLst>
                                      </p:cBhvr>
                                      <p:to>
                                        <p:strVal val="visible"/>
                                      </p:to>
                                    </p:set>
                                    <p:animEffect transition="in" filter="wipe(up)">
                                      <p:cBhvr>
                                        <p:cTn id="12" dur="1000"/>
                                        <p:tgtEl>
                                          <p:spTgt spid="5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408148" y="1700147"/>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Rectangle 4"/>
          <p:cNvSpPr>
            <a:spLocks noChangeArrowheads="1"/>
          </p:cNvSpPr>
          <p:nvPr/>
        </p:nvSpPr>
        <p:spPr bwMode="auto">
          <a:xfrm>
            <a:off x="1712955" y="1671822"/>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
          <p:cNvSpPr>
            <a:spLocks noChangeArrowheads="1"/>
          </p:cNvSpPr>
          <p:nvPr/>
        </p:nvSpPr>
        <p:spPr bwMode="auto">
          <a:xfrm>
            <a:off x="2019808" y="1658603"/>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Line 6"/>
          <p:cNvSpPr>
            <a:spLocks noChangeShapeType="1"/>
          </p:cNvSpPr>
          <p:nvPr/>
        </p:nvSpPr>
        <p:spPr bwMode="auto">
          <a:xfrm flipV="1">
            <a:off x="1284384"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 name="Line 7"/>
          <p:cNvSpPr>
            <a:spLocks noChangeShapeType="1"/>
          </p:cNvSpPr>
          <p:nvPr/>
        </p:nvSpPr>
        <p:spPr bwMode="auto">
          <a:xfrm>
            <a:off x="1591237" y="174357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a:off x="189706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a:off x="220289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Rectangle 10"/>
          <p:cNvSpPr>
            <a:spLocks noChangeArrowheads="1"/>
          </p:cNvSpPr>
          <p:nvPr/>
        </p:nvSpPr>
        <p:spPr bwMode="auto">
          <a:xfrm>
            <a:off x="1408148" y="2395050"/>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 name="Rectangle 11"/>
          <p:cNvSpPr>
            <a:spLocks noChangeArrowheads="1"/>
          </p:cNvSpPr>
          <p:nvPr/>
        </p:nvSpPr>
        <p:spPr bwMode="auto">
          <a:xfrm>
            <a:off x="1712955" y="2366725"/>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2"/>
          <p:cNvSpPr>
            <a:spLocks noChangeArrowheads="1"/>
          </p:cNvSpPr>
          <p:nvPr/>
        </p:nvSpPr>
        <p:spPr bwMode="auto">
          <a:xfrm>
            <a:off x="2019808" y="2351618"/>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13"/>
          <p:cNvSpPr>
            <a:spLocks noChangeShapeType="1"/>
          </p:cNvSpPr>
          <p:nvPr/>
        </p:nvSpPr>
        <p:spPr bwMode="auto">
          <a:xfrm flipV="1">
            <a:off x="1284384"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Line 14"/>
          <p:cNvSpPr>
            <a:spLocks noChangeShapeType="1"/>
          </p:cNvSpPr>
          <p:nvPr/>
        </p:nvSpPr>
        <p:spPr bwMode="auto">
          <a:xfrm>
            <a:off x="1591237" y="243753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5"/>
          <p:cNvSpPr>
            <a:spLocks noChangeShapeType="1"/>
          </p:cNvSpPr>
          <p:nvPr/>
        </p:nvSpPr>
        <p:spPr bwMode="auto">
          <a:xfrm>
            <a:off x="189706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20289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Rectangle 17"/>
          <p:cNvSpPr>
            <a:spLocks noChangeArrowheads="1"/>
          </p:cNvSpPr>
          <p:nvPr/>
        </p:nvSpPr>
        <p:spPr bwMode="auto">
          <a:xfrm>
            <a:off x="2325637" y="1572684"/>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Rectangle 18"/>
          <p:cNvSpPr>
            <a:spLocks noChangeArrowheads="1"/>
          </p:cNvSpPr>
          <p:nvPr/>
        </p:nvSpPr>
        <p:spPr bwMode="auto">
          <a:xfrm flipH="1">
            <a:off x="3501907" y="1700147"/>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9"/>
          <p:cNvSpPr>
            <a:spLocks noChangeArrowheads="1"/>
          </p:cNvSpPr>
          <p:nvPr/>
        </p:nvSpPr>
        <p:spPr bwMode="auto">
          <a:xfrm flipH="1">
            <a:off x="3197099" y="1671822"/>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20"/>
          <p:cNvSpPr>
            <a:spLocks noChangeArrowheads="1"/>
          </p:cNvSpPr>
          <p:nvPr/>
        </p:nvSpPr>
        <p:spPr bwMode="auto">
          <a:xfrm flipH="1">
            <a:off x="2889223" y="165860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1"/>
          <p:cNvSpPr>
            <a:spLocks noChangeShapeType="1"/>
          </p:cNvSpPr>
          <p:nvPr/>
        </p:nvSpPr>
        <p:spPr bwMode="auto">
          <a:xfrm flipV="1">
            <a:off x="3681926"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22"/>
          <p:cNvSpPr>
            <a:spLocks noChangeShapeType="1"/>
          </p:cNvSpPr>
          <p:nvPr/>
        </p:nvSpPr>
        <p:spPr bwMode="auto">
          <a:xfrm rot="10800000" flipH="1">
            <a:off x="3380188" y="174357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3"/>
          <p:cNvSpPr>
            <a:spLocks noChangeShapeType="1"/>
          </p:cNvSpPr>
          <p:nvPr/>
        </p:nvSpPr>
        <p:spPr bwMode="auto">
          <a:xfrm>
            <a:off x="3073336" y="174357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4"/>
          <p:cNvSpPr>
            <a:spLocks noChangeShapeType="1"/>
          </p:cNvSpPr>
          <p:nvPr/>
        </p:nvSpPr>
        <p:spPr bwMode="auto">
          <a:xfrm>
            <a:off x="2768529" y="174357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25"/>
          <p:cNvSpPr>
            <a:spLocks noChangeArrowheads="1"/>
          </p:cNvSpPr>
          <p:nvPr/>
        </p:nvSpPr>
        <p:spPr bwMode="auto">
          <a:xfrm flipH="1">
            <a:off x="3501907" y="2395050"/>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26"/>
          <p:cNvSpPr>
            <a:spLocks noChangeArrowheads="1"/>
          </p:cNvSpPr>
          <p:nvPr/>
        </p:nvSpPr>
        <p:spPr bwMode="auto">
          <a:xfrm flipH="1">
            <a:off x="3197099" y="2366725"/>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7"/>
          <p:cNvSpPr>
            <a:spLocks noChangeArrowheads="1"/>
          </p:cNvSpPr>
          <p:nvPr/>
        </p:nvSpPr>
        <p:spPr bwMode="auto">
          <a:xfrm flipH="1">
            <a:off x="2889223" y="2351618"/>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28"/>
          <p:cNvSpPr>
            <a:spLocks noChangeShapeType="1"/>
          </p:cNvSpPr>
          <p:nvPr/>
        </p:nvSpPr>
        <p:spPr bwMode="auto">
          <a:xfrm flipV="1">
            <a:off x="3681926"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29"/>
          <p:cNvSpPr>
            <a:spLocks noChangeShapeType="1"/>
          </p:cNvSpPr>
          <p:nvPr/>
        </p:nvSpPr>
        <p:spPr bwMode="auto">
          <a:xfrm>
            <a:off x="3380188" y="243753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30"/>
          <p:cNvSpPr>
            <a:spLocks noChangeShapeType="1"/>
          </p:cNvSpPr>
          <p:nvPr/>
        </p:nvSpPr>
        <p:spPr bwMode="auto">
          <a:xfrm>
            <a:off x="3073336" y="243753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1"/>
          <p:cNvSpPr>
            <a:spLocks noChangeShapeType="1"/>
          </p:cNvSpPr>
          <p:nvPr/>
        </p:nvSpPr>
        <p:spPr bwMode="auto">
          <a:xfrm>
            <a:off x="2768529" y="243753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32"/>
          <p:cNvSpPr>
            <a:spLocks noChangeArrowheads="1"/>
          </p:cNvSpPr>
          <p:nvPr/>
        </p:nvSpPr>
        <p:spPr bwMode="auto">
          <a:xfrm>
            <a:off x="1408148" y="2040045"/>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33"/>
          <p:cNvSpPr>
            <a:spLocks noChangeArrowheads="1"/>
          </p:cNvSpPr>
          <p:nvPr/>
        </p:nvSpPr>
        <p:spPr bwMode="auto">
          <a:xfrm>
            <a:off x="1712955" y="2011720"/>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4"/>
          <p:cNvSpPr>
            <a:spLocks noChangeArrowheads="1"/>
          </p:cNvSpPr>
          <p:nvPr/>
        </p:nvSpPr>
        <p:spPr bwMode="auto">
          <a:xfrm>
            <a:off x="2019808" y="1998501"/>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35"/>
          <p:cNvSpPr>
            <a:spLocks noChangeShapeType="1"/>
          </p:cNvSpPr>
          <p:nvPr/>
        </p:nvSpPr>
        <p:spPr bwMode="auto">
          <a:xfrm flipV="1">
            <a:off x="1284384"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36"/>
          <p:cNvSpPr>
            <a:spLocks noChangeShapeType="1"/>
          </p:cNvSpPr>
          <p:nvPr/>
        </p:nvSpPr>
        <p:spPr bwMode="auto">
          <a:xfrm>
            <a:off x="1591237" y="208347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7"/>
          <p:cNvSpPr>
            <a:spLocks noChangeShapeType="1"/>
          </p:cNvSpPr>
          <p:nvPr/>
        </p:nvSpPr>
        <p:spPr bwMode="auto">
          <a:xfrm>
            <a:off x="189706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8"/>
          <p:cNvSpPr>
            <a:spLocks noChangeShapeType="1"/>
          </p:cNvSpPr>
          <p:nvPr/>
        </p:nvSpPr>
        <p:spPr bwMode="auto">
          <a:xfrm>
            <a:off x="220289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39"/>
          <p:cNvSpPr>
            <a:spLocks noChangeArrowheads="1"/>
          </p:cNvSpPr>
          <p:nvPr/>
        </p:nvSpPr>
        <p:spPr bwMode="auto">
          <a:xfrm flipH="1">
            <a:off x="3501907" y="2040045"/>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flipH="1">
            <a:off x="3197099" y="2011720"/>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1"/>
          <p:cNvSpPr>
            <a:spLocks noChangeArrowheads="1"/>
          </p:cNvSpPr>
          <p:nvPr/>
        </p:nvSpPr>
        <p:spPr bwMode="auto">
          <a:xfrm flipH="1">
            <a:off x="2889223" y="1998501"/>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42"/>
          <p:cNvSpPr>
            <a:spLocks noChangeShapeType="1"/>
          </p:cNvSpPr>
          <p:nvPr/>
        </p:nvSpPr>
        <p:spPr bwMode="auto">
          <a:xfrm flipV="1">
            <a:off x="3681926"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43"/>
          <p:cNvSpPr>
            <a:spLocks noChangeShapeType="1"/>
          </p:cNvSpPr>
          <p:nvPr/>
        </p:nvSpPr>
        <p:spPr bwMode="auto">
          <a:xfrm rot="10800000" flipH="1">
            <a:off x="3380188" y="208347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4"/>
          <p:cNvSpPr>
            <a:spLocks noChangeShapeType="1"/>
          </p:cNvSpPr>
          <p:nvPr/>
        </p:nvSpPr>
        <p:spPr bwMode="auto">
          <a:xfrm>
            <a:off x="3073336" y="208347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5"/>
          <p:cNvSpPr>
            <a:spLocks noChangeShapeType="1"/>
          </p:cNvSpPr>
          <p:nvPr/>
        </p:nvSpPr>
        <p:spPr bwMode="auto">
          <a:xfrm>
            <a:off x="2768529" y="208347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46"/>
          <p:cNvSpPr txBox="1">
            <a:spLocks noChangeArrowheads="1"/>
          </p:cNvSpPr>
          <p:nvPr/>
        </p:nvSpPr>
        <p:spPr bwMode="auto">
          <a:xfrm>
            <a:off x="1147416" y="1415266"/>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0" name="Text Box 47"/>
          <p:cNvSpPr txBox="1">
            <a:spLocks noChangeArrowheads="1"/>
          </p:cNvSpPr>
          <p:nvPr/>
        </p:nvSpPr>
        <p:spPr bwMode="auto">
          <a:xfrm>
            <a:off x="1146392" y="210450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48"/>
          <p:cNvSpPr txBox="1">
            <a:spLocks noChangeArrowheads="1"/>
          </p:cNvSpPr>
          <p:nvPr/>
        </p:nvSpPr>
        <p:spPr bwMode="auto">
          <a:xfrm>
            <a:off x="1146392" y="17457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49"/>
          <p:cNvSpPr txBox="1">
            <a:spLocks noChangeArrowheads="1"/>
          </p:cNvSpPr>
          <p:nvPr/>
        </p:nvSpPr>
        <p:spPr bwMode="auto">
          <a:xfrm>
            <a:off x="3700958" y="1474739"/>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3" name="Text Box 50"/>
          <p:cNvSpPr txBox="1">
            <a:spLocks noChangeArrowheads="1"/>
          </p:cNvSpPr>
          <p:nvPr/>
        </p:nvSpPr>
        <p:spPr bwMode="auto">
          <a:xfrm>
            <a:off x="3700958" y="183446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Text Box 52"/>
          <p:cNvSpPr txBox="1">
            <a:spLocks noChangeArrowheads="1"/>
          </p:cNvSpPr>
          <p:nvPr/>
        </p:nvSpPr>
        <p:spPr bwMode="auto">
          <a:xfrm>
            <a:off x="2367355" y="1715519"/>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5" name="Rectangle 53"/>
          <p:cNvSpPr>
            <a:spLocks noChangeArrowheads="1"/>
          </p:cNvSpPr>
          <p:nvPr/>
        </p:nvSpPr>
        <p:spPr bwMode="auto">
          <a:xfrm>
            <a:off x="1475656" y="3352138"/>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6" name="Rectangle 54"/>
          <p:cNvSpPr>
            <a:spLocks noChangeArrowheads="1"/>
          </p:cNvSpPr>
          <p:nvPr/>
        </p:nvSpPr>
        <p:spPr bwMode="auto">
          <a:xfrm>
            <a:off x="1780463" y="3323813"/>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Rectangle 55"/>
          <p:cNvSpPr>
            <a:spLocks noChangeArrowheads="1"/>
          </p:cNvSpPr>
          <p:nvPr/>
        </p:nvSpPr>
        <p:spPr bwMode="auto">
          <a:xfrm>
            <a:off x="2087316" y="3310594"/>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Line 56"/>
          <p:cNvSpPr>
            <a:spLocks noChangeShapeType="1"/>
          </p:cNvSpPr>
          <p:nvPr/>
        </p:nvSpPr>
        <p:spPr bwMode="auto">
          <a:xfrm flipV="1">
            <a:off x="1351892"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57"/>
          <p:cNvSpPr>
            <a:spLocks noChangeShapeType="1"/>
          </p:cNvSpPr>
          <p:nvPr/>
        </p:nvSpPr>
        <p:spPr bwMode="auto">
          <a:xfrm>
            <a:off x="1658745"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58"/>
          <p:cNvSpPr>
            <a:spLocks noChangeShapeType="1"/>
          </p:cNvSpPr>
          <p:nvPr/>
        </p:nvSpPr>
        <p:spPr bwMode="auto">
          <a:xfrm>
            <a:off x="1964574"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59"/>
          <p:cNvSpPr>
            <a:spLocks noChangeShapeType="1"/>
          </p:cNvSpPr>
          <p:nvPr/>
        </p:nvSpPr>
        <p:spPr bwMode="auto">
          <a:xfrm>
            <a:off x="2270404"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1475656" y="4047041"/>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3" name="Rectangle 61"/>
          <p:cNvSpPr>
            <a:spLocks noChangeArrowheads="1"/>
          </p:cNvSpPr>
          <p:nvPr/>
        </p:nvSpPr>
        <p:spPr bwMode="auto">
          <a:xfrm>
            <a:off x="1780463" y="40187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Rectangle 62"/>
          <p:cNvSpPr>
            <a:spLocks noChangeArrowheads="1"/>
          </p:cNvSpPr>
          <p:nvPr/>
        </p:nvSpPr>
        <p:spPr bwMode="auto">
          <a:xfrm>
            <a:off x="2087316" y="4003609"/>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Line 63"/>
          <p:cNvSpPr>
            <a:spLocks noChangeShapeType="1"/>
          </p:cNvSpPr>
          <p:nvPr/>
        </p:nvSpPr>
        <p:spPr bwMode="auto">
          <a:xfrm flipV="1">
            <a:off x="1351892"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64"/>
          <p:cNvSpPr>
            <a:spLocks noChangeShapeType="1"/>
          </p:cNvSpPr>
          <p:nvPr/>
        </p:nvSpPr>
        <p:spPr bwMode="auto">
          <a:xfrm>
            <a:off x="1658745"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Line 65"/>
          <p:cNvSpPr>
            <a:spLocks noChangeShapeType="1"/>
          </p:cNvSpPr>
          <p:nvPr/>
        </p:nvSpPr>
        <p:spPr bwMode="auto">
          <a:xfrm>
            <a:off x="1964574"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8" name="Line 66"/>
          <p:cNvSpPr>
            <a:spLocks noChangeShapeType="1"/>
          </p:cNvSpPr>
          <p:nvPr/>
        </p:nvSpPr>
        <p:spPr bwMode="auto">
          <a:xfrm>
            <a:off x="2270404"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9" name="Rectangle 67"/>
          <p:cNvSpPr>
            <a:spLocks noChangeArrowheads="1"/>
          </p:cNvSpPr>
          <p:nvPr/>
        </p:nvSpPr>
        <p:spPr bwMode="auto">
          <a:xfrm flipH="1">
            <a:off x="3204260" y="3352138"/>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68"/>
          <p:cNvSpPr>
            <a:spLocks noChangeArrowheads="1"/>
          </p:cNvSpPr>
          <p:nvPr/>
        </p:nvSpPr>
        <p:spPr bwMode="auto">
          <a:xfrm flipH="1">
            <a:off x="2899453" y="3323813"/>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Rectangle 69"/>
          <p:cNvSpPr>
            <a:spLocks noChangeArrowheads="1"/>
          </p:cNvSpPr>
          <p:nvPr/>
        </p:nvSpPr>
        <p:spPr bwMode="auto">
          <a:xfrm flipH="1">
            <a:off x="2591578" y="3310594"/>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Line 70"/>
          <p:cNvSpPr>
            <a:spLocks noChangeShapeType="1"/>
          </p:cNvSpPr>
          <p:nvPr/>
        </p:nvSpPr>
        <p:spPr bwMode="auto">
          <a:xfrm flipV="1">
            <a:off x="3384280"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71"/>
          <p:cNvSpPr>
            <a:spLocks noChangeShapeType="1"/>
          </p:cNvSpPr>
          <p:nvPr/>
        </p:nvSpPr>
        <p:spPr bwMode="auto">
          <a:xfrm rot="10800000" flipH="1">
            <a:off x="3082541"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72"/>
          <p:cNvSpPr>
            <a:spLocks noChangeShapeType="1"/>
          </p:cNvSpPr>
          <p:nvPr/>
        </p:nvSpPr>
        <p:spPr bwMode="auto">
          <a:xfrm>
            <a:off x="2776711"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Line 73"/>
          <p:cNvSpPr>
            <a:spLocks noChangeShapeType="1"/>
          </p:cNvSpPr>
          <p:nvPr/>
        </p:nvSpPr>
        <p:spPr bwMode="auto">
          <a:xfrm>
            <a:off x="2470882" y="3395569"/>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6" name="Rectangle 74"/>
          <p:cNvSpPr>
            <a:spLocks noChangeArrowheads="1"/>
          </p:cNvSpPr>
          <p:nvPr/>
        </p:nvSpPr>
        <p:spPr bwMode="auto">
          <a:xfrm flipH="1">
            <a:off x="3204260" y="4047041"/>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7" name="Rectangle 75"/>
          <p:cNvSpPr>
            <a:spLocks noChangeArrowheads="1"/>
          </p:cNvSpPr>
          <p:nvPr/>
        </p:nvSpPr>
        <p:spPr bwMode="auto">
          <a:xfrm flipH="1">
            <a:off x="2899453" y="40187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8" name="Rectangle 76"/>
          <p:cNvSpPr>
            <a:spLocks noChangeArrowheads="1"/>
          </p:cNvSpPr>
          <p:nvPr/>
        </p:nvSpPr>
        <p:spPr bwMode="auto">
          <a:xfrm flipH="1">
            <a:off x="2591578" y="4003609"/>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77"/>
          <p:cNvSpPr>
            <a:spLocks noChangeShapeType="1"/>
          </p:cNvSpPr>
          <p:nvPr/>
        </p:nvSpPr>
        <p:spPr bwMode="auto">
          <a:xfrm flipV="1">
            <a:off x="3384280"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0" name="Line 78"/>
          <p:cNvSpPr>
            <a:spLocks noChangeShapeType="1"/>
          </p:cNvSpPr>
          <p:nvPr/>
        </p:nvSpPr>
        <p:spPr bwMode="auto">
          <a:xfrm>
            <a:off x="3082541"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9"/>
          <p:cNvSpPr>
            <a:spLocks noChangeShapeType="1"/>
          </p:cNvSpPr>
          <p:nvPr/>
        </p:nvSpPr>
        <p:spPr bwMode="auto">
          <a:xfrm>
            <a:off x="2776711"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Line 80"/>
          <p:cNvSpPr>
            <a:spLocks noChangeShapeType="1"/>
          </p:cNvSpPr>
          <p:nvPr/>
        </p:nvSpPr>
        <p:spPr bwMode="auto">
          <a:xfrm>
            <a:off x="2470882" y="4089528"/>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3" name="Rectangle 81"/>
          <p:cNvSpPr>
            <a:spLocks noChangeArrowheads="1"/>
          </p:cNvSpPr>
          <p:nvPr/>
        </p:nvSpPr>
        <p:spPr bwMode="auto">
          <a:xfrm>
            <a:off x="1475656" y="3692036"/>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4" name="Rectangle 82"/>
          <p:cNvSpPr>
            <a:spLocks noChangeArrowheads="1"/>
          </p:cNvSpPr>
          <p:nvPr/>
        </p:nvSpPr>
        <p:spPr bwMode="auto">
          <a:xfrm>
            <a:off x="1780463" y="366371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5" name="Rectangle 83"/>
          <p:cNvSpPr>
            <a:spLocks noChangeArrowheads="1"/>
          </p:cNvSpPr>
          <p:nvPr/>
        </p:nvSpPr>
        <p:spPr bwMode="auto">
          <a:xfrm>
            <a:off x="2087316" y="3650492"/>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6" name="Line 84"/>
          <p:cNvSpPr>
            <a:spLocks noChangeShapeType="1"/>
          </p:cNvSpPr>
          <p:nvPr/>
        </p:nvSpPr>
        <p:spPr bwMode="auto">
          <a:xfrm flipV="1">
            <a:off x="1351892"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Line 85"/>
          <p:cNvSpPr>
            <a:spLocks noChangeShapeType="1"/>
          </p:cNvSpPr>
          <p:nvPr/>
        </p:nvSpPr>
        <p:spPr bwMode="auto">
          <a:xfrm>
            <a:off x="1658745"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Line 86"/>
          <p:cNvSpPr>
            <a:spLocks noChangeShapeType="1"/>
          </p:cNvSpPr>
          <p:nvPr/>
        </p:nvSpPr>
        <p:spPr bwMode="auto">
          <a:xfrm>
            <a:off x="1964574"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Line 87"/>
          <p:cNvSpPr>
            <a:spLocks noChangeShapeType="1"/>
          </p:cNvSpPr>
          <p:nvPr/>
        </p:nvSpPr>
        <p:spPr bwMode="auto">
          <a:xfrm>
            <a:off x="2270404"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Rectangle 88"/>
          <p:cNvSpPr>
            <a:spLocks noChangeArrowheads="1"/>
          </p:cNvSpPr>
          <p:nvPr/>
        </p:nvSpPr>
        <p:spPr bwMode="auto">
          <a:xfrm flipH="1">
            <a:off x="3204260" y="3692036"/>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1" name="Rectangle 89"/>
          <p:cNvSpPr>
            <a:spLocks noChangeArrowheads="1"/>
          </p:cNvSpPr>
          <p:nvPr/>
        </p:nvSpPr>
        <p:spPr bwMode="auto">
          <a:xfrm flipH="1">
            <a:off x="2899453" y="366371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2" name="Rectangle 90"/>
          <p:cNvSpPr>
            <a:spLocks noChangeArrowheads="1"/>
          </p:cNvSpPr>
          <p:nvPr/>
        </p:nvSpPr>
        <p:spPr bwMode="auto">
          <a:xfrm flipH="1">
            <a:off x="2591578" y="3650492"/>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3" name="Line 91"/>
          <p:cNvSpPr>
            <a:spLocks noChangeShapeType="1"/>
          </p:cNvSpPr>
          <p:nvPr/>
        </p:nvSpPr>
        <p:spPr bwMode="auto">
          <a:xfrm flipV="1">
            <a:off x="3384280"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Line 92"/>
          <p:cNvSpPr>
            <a:spLocks noChangeShapeType="1"/>
          </p:cNvSpPr>
          <p:nvPr/>
        </p:nvSpPr>
        <p:spPr bwMode="auto">
          <a:xfrm rot="10800000" flipH="1">
            <a:off x="3082541"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5" name="Line 93"/>
          <p:cNvSpPr>
            <a:spLocks noChangeShapeType="1"/>
          </p:cNvSpPr>
          <p:nvPr/>
        </p:nvSpPr>
        <p:spPr bwMode="auto">
          <a:xfrm>
            <a:off x="2776711"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Line 94"/>
          <p:cNvSpPr>
            <a:spLocks noChangeShapeType="1"/>
          </p:cNvSpPr>
          <p:nvPr/>
        </p:nvSpPr>
        <p:spPr bwMode="auto">
          <a:xfrm>
            <a:off x="2470882" y="373546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Text Box 95"/>
          <p:cNvSpPr txBox="1">
            <a:spLocks noChangeArrowheads="1"/>
          </p:cNvSpPr>
          <p:nvPr/>
        </p:nvSpPr>
        <p:spPr bwMode="auto">
          <a:xfrm>
            <a:off x="1207763" y="308519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98" name="Text Box 96"/>
          <p:cNvSpPr txBox="1">
            <a:spLocks noChangeArrowheads="1"/>
          </p:cNvSpPr>
          <p:nvPr/>
        </p:nvSpPr>
        <p:spPr bwMode="auto">
          <a:xfrm>
            <a:off x="1206740" y="377349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99" name="Text Box 97"/>
          <p:cNvSpPr txBox="1">
            <a:spLocks noChangeArrowheads="1"/>
          </p:cNvSpPr>
          <p:nvPr/>
        </p:nvSpPr>
        <p:spPr bwMode="auto">
          <a:xfrm>
            <a:off x="1206740" y="341470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100" name="Text Box 98"/>
          <p:cNvSpPr txBox="1">
            <a:spLocks noChangeArrowheads="1"/>
          </p:cNvSpPr>
          <p:nvPr/>
        </p:nvSpPr>
        <p:spPr bwMode="auto">
          <a:xfrm>
            <a:off x="3385923" y="312673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101" name="Text Box 99"/>
          <p:cNvSpPr txBox="1">
            <a:spLocks noChangeArrowheads="1"/>
          </p:cNvSpPr>
          <p:nvPr/>
        </p:nvSpPr>
        <p:spPr bwMode="auto">
          <a:xfrm>
            <a:off x="3386946" y="348645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102" name="AutoShape 100"/>
          <p:cNvSpPr>
            <a:spLocks noChangeArrowheads="1"/>
          </p:cNvSpPr>
          <p:nvPr/>
        </p:nvSpPr>
        <p:spPr bwMode="auto">
          <a:xfrm>
            <a:off x="2310296" y="3097213"/>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103" name="Rectangle 102"/>
          <p:cNvSpPr>
            <a:spLocks noChangeArrowheads="1"/>
          </p:cNvSpPr>
          <p:nvPr/>
        </p:nvSpPr>
        <p:spPr bwMode="auto">
          <a:xfrm>
            <a:off x="4916434" y="198200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4" name="Rectangle 103"/>
          <p:cNvSpPr>
            <a:spLocks noChangeArrowheads="1"/>
          </p:cNvSpPr>
          <p:nvPr/>
        </p:nvSpPr>
        <p:spPr bwMode="auto">
          <a:xfrm>
            <a:off x="5222264" y="1954629"/>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5" name="Rectangle 104"/>
          <p:cNvSpPr>
            <a:spLocks noChangeArrowheads="1"/>
          </p:cNvSpPr>
          <p:nvPr/>
        </p:nvSpPr>
        <p:spPr bwMode="auto">
          <a:xfrm>
            <a:off x="5528093" y="194046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6" name="Line 105"/>
          <p:cNvSpPr>
            <a:spLocks noChangeShapeType="1"/>
          </p:cNvSpPr>
          <p:nvPr/>
        </p:nvSpPr>
        <p:spPr bwMode="auto">
          <a:xfrm flipV="1">
            <a:off x="4793693" y="2025441"/>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7" name="Line 106"/>
          <p:cNvSpPr>
            <a:spLocks noChangeShapeType="1"/>
          </p:cNvSpPr>
          <p:nvPr/>
        </p:nvSpPr>
        <p:spPr bwMode="auto">
          <a:xfrm>
            <a:off x="5099523"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8" name="Line 107"/>
          <p:cNvSpPr>
            <a:spLocks noChangeShapeType="1"/>
          </p:cNvSpPr>
          <p:nvPr/>
        </p:nvSpPr>
        <p:spPr bwMode="auto">
          <a:xfrm>
            <a:off x="5405352"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9" name="Line 108"/>
          <p:cNvSpPr>
            <a:spLocks noChangeShapeType="1"/>
          </p:cNvSpPr>
          <p:nvPr/>
        </p:nvSpPr>
        <p:spPr bwMode="auto">
          <a:xfrm>
            <a:off x="5712205" y="202544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Text Box 109"/>
          <p:cNvSpPr txBox="1">
            <a:spLocks noChangeArrowheads="1"/>
          </p:cNvSpPr>
          <p:nvPr/>
        </p:nvSpPr>
        <p:spPr bwMode="auto">
          <a:xfrm>
            <a:off x="4640359" y="1715068"/>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111" name="Rectangle 110"/>
          <p:cNvSpPr>
            <a:spLocks noChangeArrowheads="1"/>
          </p:cNvSpPr>
          <p:nvPr/>
        </p:nvSpPr>
        <p:spPr bwMode="auto">
          <a:xfrm>
            <a:off x="4919503" y="2655197"/>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2" name="Rectangle 111"/>
          <p:cNvSpPr>
            <a:spLocks noChangeArrowheads="1"/>
          </p:cNvSpPr>
          <p:nvPr/>
        </p:nvSpPr>
        <p:spPr bwMode="auto">
          <a:xfrm>
            <a:off x="5226356" y="262781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3" name="Rectangle 112"/>
          <p:cNvSpPr>
            <a:spLocks noChangeArrowheads="1"/>
          </p:cNvSpPr>
          <p:nvPr/>
        </p:nvSpPr>
        <p:spPr bwMode="auto">
          <a:xfrm>
            <a:off x="5531162" y="261365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4" name="Line 113"/>
          <p:cNvSpPr>
            <a:spLocks noChangeShapeType="1"/>
          </p:cNvSpPr>
          <p:nvPr/>
        </p:nvSpPr>
        <p:spPr bwMode="auto">
          <a:xfrm flipV="1">
            <a:off x="4797784" y="26986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Line 114"/>
          <p:cNvSpPr>
            <a:spLocks noChangeShapeType="1"/>
          </p:cNvSpPr>
          <p:nvPr/>
        </p:nvSpPr>
        <p:spPr bwMode="auto">
          <a:xfrm>
            <a:off x="510361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Line 115"/>
          <p:cNvSpPr>
            <a:spLocks noChangeShapeType="1"/>
          </p:cNvSpPr>
          <p:nvPr/>
        </p:nvSpPr>
        <p:spPr bwMode="auto">
          <a:xfrm>
            <a:off x="5409444" y="2698628"/>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Line 116"/>
          <p:cNvSpPr>
            <a:spLocks noChangeShapeType="1"/>
          </p:cNvSpPr>
          <p:nvPr/>
        </p:nvSpPr>
        <p:spPr bwMode="auto">
          <a:xfrm>
            <a:off x="571527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8" name="Text Box 117"/>
          <p:cNvSpPr txBox="1">
            <a:spLocks noChangeArrowheads="1"/>
          </p:cNvSpPr>
          <p:nvPr/>
        </p:nvSpPr>
        <p:spPr bwMode="auto">
          <a:xfrm>
            <a:off x="4633199" y="240430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119" name="Rectangle 118"/>
          <p:cNvSpPr>
            <a:spLocks noChangeArrowheads="1"/>
          </p:cNvSpPr>
          <p:nvPr/>
        </p:nvSpPr>
        <p:spPr bwMode="auto">
          <a:xfrm>
            <a:off x="4916434" y="232285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0" name="Rectangle 119"/>
          <p:cNvSpPr>
            <a:spLocks noChangeArrowheads="1"/>
          </p:cNvSpPr>
          <p:nvPr/>
        </p:nvSpPr>
        <p:spPr bwMode="auto">
          <a:xfrm>
            <a:off x="5222264" y="229452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1" name="Rectangle 120"/>
          <p:cNvSpPr>
            <a:spLocks noChangeArrowheads="1"/>
          </p:cNvSpPr>
          <p:nvPr/>
        </p:nvSpPr>
        <p:spPr bwMode="auto">
          <a:xfrm>
            <a:off x="5528093" y="2280365"/>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2" name="Line 121"/>
          <p:cNvSpPr>
            <a:spLocks noChangeShapeType="1"/>
          </p:cNvSpPr>
          <p:nvPr/>
        </p:nvSpPr>
        <p:spPr bwMode="auto">
          <a:xfrm flipV="1">
            <a:off x="4793693" y="2365339"/>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Line 122"/>
          <p:cNvSpPr>
            <a:spLocks noChangeShapeType="1"/>
          </p:cNvSpPr>
          <p:nvPr/>
        </p:nvSpPr>
        <p:spPr bwMode="auto">
          <a:xfrm>
            <a:off x="5099523"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Line 123"/>
          <p:cNvSpPr>
            <a:spLocks noChangeShapeType="1"/>
          </p:cNvSpPr>
          <p:nvPr/>
        </p:nvSpPr>
        <p:spPr bwMode="auto">
          <a:xfrm>
            <a:off x="5405352"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Line 124"/>
          <p:cNvSpPr>
            <a:spLocks noChangeShapeType="1"/>
          </p:cNvSpPr>
          <p:nvPr/>
        </p:nvSpPr>
        <p:spPr bwMode="auto">
          <a:xfrm>
            <a:off x="5712205" y="2365339"/>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Text Box 125"/>
          <p:cNvSpPr txBox="1">
            <a:spLocks noChangeArrowheads="1"/>
          </p:cNvSpPr>
          <p:nvPr/>
        </p:nvSpPr>
        <p:spPr bwMode="auto">
          <a:xfrm>
            <a:off x="4638313" y="204646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127" name="Group 126"/>
          <p:cNvGrpSpPr>
            <a:grpSpLocks/>
          </p:cNvGrpSpPr>
          <p:nvPr/>
        </p:nvGrpSpPr>
        <p:grpSpPr bwMode="auto">
          <a:xfrm>
            <a:off x="6028264" y="2826090"/>
            <a:ext cx="191272" cy="924334"/>
            <a:chOff x="2919" y="2867"/>
            <a:chExt cx="192" cy="1044"/>
          </a:xfrm>
        </p:grpSpPr>
        <p:sp>
          <p:nvSpPr>
            <p:cNvPr id="128"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9"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0"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1"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2"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3"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4"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35" name="Text Box 134"/>
          <p:cNvSpPr txBox="1">
            <a:spLocks noChangeArrowheads="1"/>
          </p:cNvSpPr>
          <p:nvPr/>
        </p:nvSpPr>
        <p:spPr bwMode="auto">
          <a:xfrm>
            <a:off x="6163279" y="355120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136" name="Group 135"/>
          <p:cNvGrpSpPr>
            <a:grpSpLocks/>
          </p:cNvGrpSpPr>
          <p:nvPr/>
        </p:nvGrpSpPr>
        <p:grpSpPr bwMode="auto">
          <a:xfrm>
            <a:off x="6465014" y="2826091"/>
            <a:ext cx="548490" cy="1027287"/>
            <a:chOff x="3357" y="2859"/>
            <a:chExt cx="551" cy="1159"/>
          </a:xfrm>
        </p:grpSpPr>
        <p:sp>
          <p:nvSpPr>
            <p:cNvPr id="137"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8"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9"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0"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1"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2"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3"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4"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145" name="Rectangle 144"/>
          <p:cNvSpPr>
            <a:spLocks noChangeArrowheads="1"/>
          </p:cNvSpPr>
          <p:nvPr/>
        </p:nvSpPr>
        <p:spPr bwMode="auto">
          <a:xfrm rot="5400000" flipH="1">
            <a:off x="6911645" y="3512614"/>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6" name="Rectangle 145"/>
          <p:cNvSpPr>
            <a:spLocks noChangeArrowheads="1"/>
          </p:cNvSpPr>
          <p:nvPr/>
        </p:nvSpPr>
        <p:spPr bwMode="auto">
          <a:xfrm rot="5400000" flipH="1">
            <a:off x="6911646" y="3207020"/>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7" name="Rectangle 146"/>
          <p:cNvSpPr>
            <a:spLocks noChangeArrowheads="1"/>
          </p:cNvSpPr>
          <p:nvPr/>
        </p:nvSpPr>
        <p:spPr bwMode="auto">
          <a:xfrm rot="5400000" flipH="1">
            <a:off x="6911646" y="2919759"/>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8" name="Line 147"/>
          <p:cNvSpPr>
            <a:spLocks noChangeShapeType="1"/>
          </p:cNvSpPr>
          <p:nvPr/>
        </p:nvSpPr>
        <p:spPr bwMode="auto">
          <a:xfrm rot="5400000" flipV="1">
            <a:off x="6937177" y="3693775"/>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9" name="Line 148"/>
          <p:cNvSpPr>
            <a:spLocks noChangeShapeType="1"/>
          </p:cNvSpPr>
          <p:nvPr/>
        </p:nvSpPr>
        <p:spPr bwMode="auto">
          <a:xfrm rot="16200000" flipH="1">
            <a:off x="6939065" y="3423744"/>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0" name="Line 149"/>
          <p:cNvSpPr>
            <a:spLocks noChangeShapeType="1"/>
          </p:cNvSpPr>
          <p:nvPr/>
        </p:nvSpPr>
        <p:spPr bwMode="auto">
          <a:xfrm rot="5400000">
            <a:off x="6939538" y="3151354"/>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1" name="Line 150"/>
          <p:cNvSpPr>
            <a:spLocks noChangeShapeType="1"/>
          </p:cNvSpPr>
          <p:nvPr/>
        </p:nvSpPr>
        <p:spPr bwMode="auto">
          <a:xfrm rot="5400000">
            <a:off x="6940010" y="2879908"/>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2" name="Text Box 151"/>
          <p:cNvSpPr txBox="1">
            <a:spLocks noChangeArrowheads="1"/>
          </p:cNvSpPr>
          <p:nvPr/>
        </p:nvSpPr>
        <p:spPr bwMode="auto">
          <a:xfrm>
            <a:off x="7062357" y="355120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53" name="Text Box 153"/>
          <p:cNvSpPr txBox="1">
            <a:spLocks noChangeArrowheads="1"/>
          </p:cNvSpPr>
          <p:nvPr/>
        </p:nvSpPr>
        <p:spPr bwMode="auto">
          <a:xfrm>
            <a:off x="1885815" y="2662248"/>
            <a:ext cx="13805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(a) </a:t>
            </a:r>
            <a:r>
              <a:rPr kumimoji="1" lang="zh-CN" altLang="en-US" sz="1400" dirty="0">
                <a:latin typeface="微软雅黑" pitchFamily="34" charset="-122"/>
                <a:ea typeface="微软雅黑" pitchFamily="34" charset="-122"/>
              </a:rPr>
              <a:t>通过存储器</a:t>
            </a:r>
          </a:p>
        </p:txBody>
      </p:sp>
      <p:sp>
        <p:nvSpPr>
          <p:cNvPr id="154" name="Text Box 154"/>
          <p:cNvSpPr txBox="1">
            <a:spLocks noChangeArrowheads="1"/>
          </p:cNvSpPr>
          <p:nvPr/>
        </p:nvSpPr>
        <p:spPr bwMode="auto">
          <a:xfrm>
            <a:off x="5377249" y="3844366"/>
            <a:ext cx="154882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(c) </a:t>
            </a:r>
            <a:r>
              <a:rPr kumimoji="1" lang="zh-CN" altLang="en-US" sz="1400" dirty="0">
                <a:latin typeface="微软雅黑" pitchFamily="34" charset="-122"/>
                <a:ea typeface="微软雅黑" pitchFamily="34" charset="-122"/>
              </a:rPr>
              <a:t>通过互连网络</a:t>
            </a:r>
          </a:p>
        </p:txBody>
      </p:sp>
      <p:sp>
        <p:nvSpPr>
          <p:cNvPr id="155" name="Text Box 155"/>
          <p:cNvSpPr txBox="1">
            <a:spLocks noChangeArrowheads="1"/>
          </p:cNvSpPr>
          <p:nvPr/>
        </p:nvSpPr>
        <p:spPr bwMode="auto">
          <a:xfrm>
            <a:off x="2007677" y="4294300"/>
            <a:ext cx="12170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(b) </a:t>
            </a:r>
            <a:r>
              <a:rPr kumimoji="1" lang="zh-CN" altLang="en-US" sz="1400" dirty="0">
                <a:latin typeface="微软雅黑" pitchFamily="34" charset="-122"/>
                <a:ea typeface="微软雅黑" pitchFamily="34" charset="-122"/>
              </a:rPr>
              <a:t>通过总线</a:t>
            </a:r>
          </a:p>
        </p:txBody>
      </p:sp>
      <p:sp>
        <p:nvSpPr>
          <p:cNvPr id="156" name="Line 156"/>
          <p:cNvSpPr>
            <a:spLocks noChangeShapeType="1"/>
          </p:cNvSpPr>
          <p:nvPr/>
        </p:nvSpPr>
        <p:spPr bwMode="auto">
          <a:xfrm>
            <a:off x="5894271" y="202544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7" name="Line 157"/>
          <p:cNvSpPr>
            <a:spLocks noChangeShapeType="1"/>
          </p:cNvSpPr>
          <p:nvPr/>
        </p:nvSpPr>
        <p:spPr bwMode="auto">
          <a:xfrm>
            <a:off x="5894271" y="2365339"/>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8" name="Line 158"/>
          <p:cNvSpPr>
            <a:spLocks noChangeShapeType="1"/>
          </p:cNvSpPr>
          <p:nvPr/>
        </p:nvSpPr>
        <p:spPr bwMode="auto">
          <a:xfrm>
            <a:off x="5894271" y="270618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9" name="Line 159"/>
          <p:cNvSpPr>
            <a:spLocks noChangeShapeType="1"/>
          </p:cNvSpPr>
          <p:nvPr/>
        </p:nvSpPr>
        <p:spPr bwMode="auto">
          <a:xfrm rot="16200000">
            <a:off x="5750759"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0" name="Line 160"/>
          <p:cNvSpPr>
            <a:spLocks noChangeShapeType="1"/>
          </p:cNvSpPr>
          <p:nvPr/>
        </p:nvSpPr>
        <p:spPr bwMode="auto">
          <a:xfrm rot="16200000">
            <a:off x="6181376"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1" name="Line 161"/>
          <p:cNvSpPr>
            <a:spLocks noChangeShapeType="1"/>
          </p:cNvSpPr>
          <p:nvPr/>
        </p:nvSpPr>
        <p:spPr bwMode="auto">
          <a:xfrm rot="16200000">
            <a:off x="6611992"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2" name="Oval 162"/>
          <p:cNvSpPr>
            <a:spLocks noChangeArrowheads="1"/>
          </p:cNvSpPr>
          <p:nvPr/>
        </p:nvSpPr>
        <p:spPr bwMode="auto">
          <a:xfrm>
            <a:off x="6951890"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3" name="Oval 163"/>
          <p:cNvSpPr>
            <a:spLocks noChangeArrowheads="1"/>
          </p:cNvSpPr>
          <p:nvPr/>
        </p:nvSpPr>
        <p:spPr bwMode="auto">
          <a:xfrm>
            <a:off x="6951890"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4" name="Oval 164"/>
          <p:cNvSpPr>
            <a:spLocks noChangeArrowheads="1"/>
          </p:cNvSpPr>
          <p:nvPr/>
        </p:nvSpPr>
        <p:spPr bwMode="auto">
          <a:xfrm>
            <a:off x="6951890"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5" name="Oval 165"/>
          <p:cNvSpPr>
            <a:spLocks noChangeArrowheads="1"/>
          </p:cNvSpPr>
          <p:nvPr/>
        </p:nvSpPr>
        <p:spPr bwMode="auto">
          <a:xfrm>
            <a:off x="6521274" y="267124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6" name="Oval 166"/>
          <p:cNvSpPr>
            <a:spLocks noChangeArrowheads="1"/>
          </p:cNvSpPr>
          <p:nvPr/>
        </p:nvSpPr>
        <p:spPr bwMode="auto">
          <a:xfrm>
            <a:off x="6521274" y="2330405"/>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7" name="Oval 167"/>
          <p:cNvSpPr>
            <a:spLocks noChangeArrowheads="1"/>
          </p:cNvSpPr>
          <p:nvPr/>
        </p:nvSpPr>
        <p:spPr bwMode="auto">
          <a:xfrm>
            <a:off x="6521274" y="1993340"/>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8" name="Oval 168"/>
          <p:cNvSpPr>
            <a:spLocks noChangeArrowheads="1"/>
          </p:cNvSpPr>
          <p:nvPr/>
        </p:nvSpPr>
        <p:spPr bwMode="auto">
          <a:xfrm>
            <a:off x="6090657"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9" name="Oval 169"/>
          <p:cNvSpPr>
            <a:spLocks noChangeArrowheads="1"/>
          </p:cNvSpPr>
          <p:nvPr/>
        </p:nvSpPr>
        <p:spPr bwMode="auto">
          <a:xfrm>
            <a:off x="6090657"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0" name="Oval 170"/>
          <p:cNvSpPr>
            <a:spLocks noChangeArrowheads="1"/>
          </p:cNvSpPr>
          <p:nvPr/>
        </p:nvSpPr>
        <p:spPr bwMode="auto">
          <a:xfrm>
            <a:off x="6090657"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1" name="Text Box 171"/>
          <p:cNvSpPr txBox="1">
            <a:spLocks noChangeArrowheads="1"/>
          </p:cNvSpPr>
          <p:nvPr/>
        </p:nvSpPr>
        <p:spPr bwMode="auto">
          <a:xfrm>
            <a:off x="2710227" y="29428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172" name="Line 172"/>
          <p:cNvSpPr>
            <a:spLocks noChangeShapeType="1"/>
          </p:cNvSpPr>
          <p:nvPr/>
        </p:nvSpPr>
        <p:spPr bwMode="auto">
          <a:xfrm flipV="1">
            <a:off x="2422809" y="3100067"/>
            <a:ext cx="301311" cy="821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3" name="Text Box 173"/>
          <p:cNvSpPr txBox="1">
            <a:spLocks noChangeArrowheads="1"/>
          </p:cNvSpPr>
          <p:nvPr/>
        </p:nvSpPr>
        <p:spPr bwMode="auto">
          <a:xfrm>
            <a:off x="6464516" y="154038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174" name="Line 174"/>
          <p:cNvSpPr>
            <a:spLocks noChangeShapeType="1"/>
          </p:cNvSpPr>
          <p:nvPr/>
        </p:nvSpPr>
        <p:spPr bwMode="auto">
          <a:xfrm flipV="1">
            <a:off x="6815568" y="1796765"/>
            <a:ext cx="115866" cy="3912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5" name="Text Box 175"/>
          <p:cNvSpPr txBox="1">
            <a:spLocks noChangeArrowheads="1"/>
          </p:cNvSpPr>
          <p:nvPr/>
        </p:nvSpPr>
        <p:spPr bwMode="auto">
          <a:xfrm>
            <a:off x="3401265" y="384523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6" name="Text Box 176"/>
          <p:cNvSpPr txBox="1">
            <a:spLocks noChangeArrowheads="1"/>
          </p:cNvSpPr>
          <p:nvPr/>
        </p:nvSpPr>
        <p:spPr bwMode="auto">
          <a:xfrm>
            <a:off x="3717324" y="219324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7" name="Freeform 177"/>
          <p:cNvSpPr>
            <a:spLocks/>
          </p:cNvSpPr>
          <p:nvPr/>
        </p:nvSpPr>
        <p:spPr bwMode="auto">
          <a:xfrm>
            <a:off x="1190282" y="1682497"/>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8" name="Freeform 178"/>
          <p:cNvSpPr>
            <a:spLocks/>
          </p:cNvSpPr>
          <p:nvPr/>
        </p:nvSpPr>
        <p:spPr bwMode="auto">
          <a:xfrm>
            <a:off x="1408148" y="3334488"/>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9" name="Line 179"/>
          <p:cNvSpPr>
            <a:spLocks noChangeShapeType="1"/>
          </p:cNvSpPr>
          <p:nvPr/>
        </p:nvSpPr>
        <p:spPr bwMode="auto">
          <a:xfrm>
            <a:off x="4790624" y="1954180"/>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0" name="Line 180"/>
          <p:cNvSpPr>
            <a:spLocks noChangeShapeType="1"/>
          </p:cNvSpPr>
          <p:nvPr/>
        </p:nvSpPr>
        <p:spPr bwMode="auto">
          <a:xfrm rot="16200000" flipH="1">
            <a:off x="5847215" y="2865623"/>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1" name="标题 180">
            <a:extLst>
              <a:ext uri="{FF2B5EF4-FFF2-40B4-BE49-F238E27FC236}">
                <a16:creationId xmlns:a16="http://schemas.microsoft.com/office/drawing/2014/main" id="{32045E38-6013-8E4D-9AE7-A1005403B12A}"/>
              </a:ext>
            </a:extLst>
          </p:cNvPr>
          <p:cNvSpPr>
            <a:spLocks noGrp="1"/>
          </p:cNvSpPr>
          <p:nvPr>
            <p:ph type="title"/>
          </p:nvPr>
        </p:nvSpPr>
        <p:spPr>
          <a:xfrm>
            <a:off x="486000" y="550723"/>
            <a:ext cx="8172000" cy="338554"/>
          </a:xfrm>
        </p:spPr>
        <p:txBody>
          <a:bodyPr/>
          <a:lstStyle/>
          <a:p>
            <a:r>
              <a:rPr lang="en-US" altLang="zh-CN" dirty="0"/>
              <a:t>2. </a:t>
            </a:r>
            <a:r>
              <a:rPr lang="zh-CN" altLang="en-US" dirty="0"/>
              <a:t>交换结构</a:t>
            </a:r>
          </a:p>
        </p:txBody>
      </p:sp>
      <p:sp>
        <p:nvSpPr>
          <p:cNvPr id="182" name="内容占位符 181">
            <a:extLst>
              <a:ext uri="{FF2B5EF4-FFF2-40B4-BE49-F238E27FC236}">
                <a16:creationId xmlns:a16="http://schemas.microsoft.com/office/drawing/2014/main" id="{41FAB2B3-E0E8-66F4-70E2-BFC24F545478}"/>
              </a:ext>
            </a:extLst>
          </p:cNvPr>
          <p:cNvSpPr>
            <a:spLocks noGrp="1"/>
          </p:cNvSpPr>
          <p:nvPr>
            <p:ph sz="quarter" idx="11"/>
          </p:nvPr>
        </p:nvSpPr>
        <p:spPr>
          <a:xfrm>
            <a:off x="486000" y="900000"/>
            <a:ext cx="8172000" cy="3703500"/>
          </a:xfrm>
        </p:spPr>
        <p:txBody>
          <a:bodyPr/>
          <a:lstStyle/>
          <a:p>
            <a:r>
              <a:rPr lang="zh-CN" altLang="en-US" dirty="0"/>
              <a:t>常用交换方法有三种：通过存储器、通过总线、通过纵横交换结构。</a:t>
            </a:r>
          </a:p>
          <a:p>
            <a:endParaRPr lang="zh-CN" altLang="en-US" dirty="0"/>
          </a:p>
        </p:txBody>
      </p:sp>
    </p:spTree>
    <p:extLst>
      <p:ext uri="{BB962C8B-B14F-4D97-AF65-F5344CB8AC3E}">
        <p14:creationId xmlns:p14="http://schemas.microsoft.com/office/powerpoint/2010/main" val="4217648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77"/>
                                        </p:tgtEl>
                                        <p:attrNameLst>
                                          <p:attrName>style.visibility</p:attrName>
                                        </p:attrNameLst>
                                      </p:cBhvr>
                                      <p:to>
                                        <p:strVal val="visible"/>
                                      </p:to>
                                    </p:set>
                                    <p:animEffect transition="in" filter="wipe(left)">
                                      <p:cBhvr>
                                        <p:cTn id="7" dur="2500"/>
                                        <p:tgtEl>
                                          <p:spTgt spid="177"/>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178"/>
                                        </p:tgtEl>
                                        <p:attrNameLst>
                                          <p:attrName>style.visibility</p:attrName>
                                        </p:attrNameLst>
                                      </p:cBhvr>
                                      <p:to>
                                        <p:strVal val="visible"/>
                                      </p:to>
                                    </p:set>
                                    <p:animEffect transition="in" filter="wipe(left)">
                                      <p:cBhvr>
                                        <p:cTn id="11" dur="2500"/>
                                        <p:tgtEl>
                                          <p:spTgt spid="178"/>
                                        </p:tgtEl>
                                      </p:cBhvr>
                                    </p:animEffect>
                                  </p:childTnLst>
                                </p:cTn>
                              </p:par>
                            </p:childTnLst>
                          </p:cTn>
                        </p:par>
                        <p:par>
                          <p:cTn id="12" fill="hold">
                            <p:stCondLst>
                              <p:cond delay="5000"/>
                            </p:stCondLst>
                            <p:childTnLst>
                              <p:par>
                                <p:cTn id="13" presetID="22" presetClass="entr" presetSubtype="8" fill="hold" grpId="0" nodeType="afterEffect">
                                  <p:stCondLst>
                                    <p:cond delay="0"/>
                                  </p:stCondLst>
                                  <p:childTnLst>
                                    <p:set>
                                      <p:cBhvr>
                                        <p:cTn id="14" dur="1" fill="hold">
                                          <p:stCondLst>
                                            <p:cond delay="0"/>
                                          </p:stCondLst>
                                        </p:cTn>
                                        <p:tgtEl>
                                          <p:spTgt spid="179"/>
                                        </p:tgtEl>
                                        <p:attrNameLst>
                                          <p:attrName>style.visibility</p:attrName>
                                        </p:attrNameLst>
                                      </p:cBhvr>
                                      <p:to>
                                        <p:strVal val="visible"/>
                                      </p:to>
                                    </p:set>
                                    <p:animEffect transition="in" filter="wipe(left)">
                                      <p:cBhvr>
                                        <p:cTn id="15" dur="1500"/>
                                        <p:tgtEl>
                                          <p:spTgt spid="179"/>
                                        </p:tgtEl>
                                      </p:cBhvr>
                                    </p:animEffect>
                                  </p:childTnLst>
                                </p:cTn>
                              </p:par>
                            </p:childTnLst>
                          </p:cTn>
                        </p:par>
                        <p:par>
                          <p:cTn id="16" fill="hold">
                            <p:stCondLst>
                              <p:cond delay="6500"/>
                            </p:stCondLst>
                            <p:childTnLst>
                              <p:par>
                                <p:cTn id="17" presetID="22" presetClass="entr" presetSubtype="1" fill="hold" grpId="0" nodeType="afterEffect">
                                  <p:stCondLst>
                                    <p:cond delay="0"/>
                                  </p:stCondLst>
                                  <p:childTnLst>
                                    <p:set>
                                      <p:cBhvr>
                                        <p:cTn id="18" dur="1" fill="hold">
                                          <p:stCondLst>
                                            <p:cond delay="0"/>
                                          </p:stCondLst>
                                        </p:cTn>
                                        <p:tgtEl>
                                          <p:spTgt spid="180"/>
                                        </p:tgtEl>
                                        <p:attrNameLst>
                                          <p:attrName>style.visibility</p:attrName>
                                        </p:attrNameLst>
                                      </p:cBhvr>
                                      <p:to>
                                        <p:strVal val="visible"/>
                                      </p:to>
                                    </p:set>
                                    <p:animEffect transition="in" filter="wipe(up)">
                                      <p:cBhvr>
                                        <p:cTn id="19" dur="125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 grpId="0" animBg="1"/>
      <p:bldP spid="178" grpId="0" animBg="1"/>
      <p:bldP spid="179" grpId="0" animBg="1"/>
      <p:bldP spid="180" grpId="0" animBg="1"/>
    </p:bldLst>
  </p:timing>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3"/>
          <p:cNvSpPr>
            <a:spLocks noChangeArrowheads="1"/>
          </p:cNvSpPr>
          <p:nvPr/>
        </p:nvSpPr>
        <p:spPr bwMode="auto">
          <a:xfrm>
            <a:off x="5808548" y="2300866"/>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4"/>
          <p:cNvSpPr>
            <a:spLocks noChangeArrowheads="1"/>
          </p:cNvSpPr>
          <p:nvPr/>
        </p:nvSpPr>
        <p:spPr bwMode="auto">
          <a:xfrm>
            <a:off x="6113355" y="227254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
          <p:cNvSpPr>
            <a:spLocks noChangeArrowheads="1"/>
          </p:cNvSpPr>
          <p:nvPr/>
        </p:nvSpPr>
        <p:spPr bwMode="auto">
          <a:xfrm>
            <a:off x="6420208" y="2259322"/>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6"/>
          <p:cNvSpPr>
            <a:spLocks noChangeShapeType="1"/>
          </p:cNvSpPr>
          <p:nvPr/>
        </p:nvSpPr>
        <p:spPr bwMode="auto">
          <a:xfrm flipV="1">
            <a:off x="5684784"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7"/>
          <p:cNvSpPr>
            <a:spLocks noChangeShapeType="1"/>
          </p:cNvSpPr>
          <p:nvPr/>
        </p:nvSpPr>
        <p:spPr bwMode="auto">
          <a:xfrm>
            <a:off x="5991637" y="234429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8"/>
          <p:cNvSpPr>
            <a:spLocks noChangeShapeType="1"/>
          </p:cNvSpPr>
          <p:nvPr/>
        </p:nvSpPr>
        <p:spPr bwMode="auto">
          <a:xfrm>
            <a:off x="629746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9"/>
          <p:cNvSpPr>
            <a:spLocks noChangeShapeType="1"/>
          </p:cNvSpPr>
          <p:nvPr/>
        </p:nvSpPr>
        <p:spPr bwMode="auto">
          <a:xfrm>
            <a:off x="660329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0"/>
          <p:cNvSpPr>
            <a:spLocks noChangeArrowheads="1"/>
          </p:cNvSpPr>
          <p:nvPr/>
        </p:nvSpPr>
        <p:spPr bwMode="auto">
          <a:xfrm>
            <a:off x="5808548" y="2995769"/>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6113355" y="2967444"/>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2"/>
          <p:cNvSpPr>
            <a:spLocks noChangeArrowheads="1"/>
          </p:cNvSpPr>
          <p:nvPr/>
        </p:nvSpPr>
        <p:spPr bwMode="auto">
          <a:xfrm>
            <a:off x="6420208" y="2952337"/>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flipV="1">
            <a:off x="5684784"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5991637" y="303825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629746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660329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17"/>
          <p:cNvSpPr>
            <a:spLocks noChangeArrowheads="1"/>
          </p:cNvSpPr>
          <p:nvPr/>
        </p:nvSpPr>
        <p:spPr bwMode="auto">
          <a:xfrm>
            <a:off x="6726037" y="2173403"/>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8"/>
          <p:cNvSpPr>
            <a:spLocks noChangeArrowheads="1"/>
          </p:cNvSpPr>
          <p:nvPr/>
        </p:nvSpPr>
        <p:spPr bwMode="auto">
          <a:xfrm flipH="1">
            <a:off x="7902307" y="230086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9"/>
          <p:cNvSpPr>
            <a:spLocks noChangeArrowheads="1"/>
          </p:cNvSpPr>
          <p:nvPr/>
        </p:nvSpPr>
        <p:spPr bwMode="auto">
          <a:xfrm flipH="1">
            <a:off x="7597499" y="227254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20"/>
          <p:cNvSpPr>
            <a:spLocks noChangeArrowheads="1"/>
          </p:cNvSpPr>
          <p:nvPr/>
        </p:nvSpPr>
        <p:spPr bwMode="auto">
          <a:xfrm flipH="1">
            <a:off x="7289623" y="2259322"/>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8082326"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rot="10800000" flipH="1">
            <a:off x="7780588" y="234429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3"/>
          <p:cNvSpPr>
            <a:spLocks noChangeShapeType="1"/>
          </p:cNvSpPr>
          <p:nvPr/>
        </p:nvSpPr>
        <p:spPr bwMode="auto">
          <a:xfrm>
            <a:off x="7473736" y="234429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4"/>
          <p:cNvSpPr>
            <a:spLocks noChangeShapeType="1"/>
          </p:cNvSpPr>
          <p:nvPr/>
        </p:nvSpPr>
        <p:spPr bwMode="auto">
          <a:xfrm>
            <a:off x="7168929" y="234429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Rectangle 25"/>
          <p:cNvSpPr>
            <a:spLocks noChangeArrowheads="1"/>
          </p:cNvSpPr>
          <p:nvPr/>
        </p:nvSpPr>
        <p:spPr bwMode="auto">
          <a:xfrm flipH="1">
            <a:off x="7902307" y="299576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6"/>
          <p:cNvSpPr>
            <a:spLocks noChangeArrowheads="1"/>
          </p:cNvSpPr>
          <p:nvPr/>
        </p:nvSpPr>
        <p:spPr bwMode="auto">
          <a:xfrm flipH="1">
            <a:off x="7597499" y="2967444"/>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Rectangle 27"/>
          <p:cNvSpPr>
            <a:spLocks noChangeArrowheads="1"/>
          </p:cNvSpPr>
          <p:nvPr/>
        </p:nvSpPr>
        <p:spPr bwMode="auto">
          <a:xfrm flipH="1">
            <a:off x="7289623" y="2952337"/>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28"/>
          <p:cNvSpPr>
            <a:spLocks noChangeShapeType="1"/>
          </p:cNvSpPr>
          <p:nvPr/>
        </p:nvSpPr>
        <p:spPr bwMode="auto">
          <a:xfrm flipV="1">
            <a:off x="8082326"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29"/>
          <p:cNvSpPr>
            <a:spLocks noChangeShapeType="1"/>
          </p:cNvSpPr>
          <p:nvPr/>
        </p:nvSpPr>
        <p:spPr bwMode="auto">
          <a:xfrm>
            <a:off x="7780588" y="303825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0"/>
          <p:cNvSpPr>
            <a:spLocks noChangeShapeType="1"/>
          </p:cNvSpPr>
          <p:nvPr/>
        </p:nvSpPr>
        <p:spPr bwMode="auto">
          <a:xfrm>
            <a:off x="7473736" y="303825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31"/>
          <p:cNvSpPr>
            <a:spLocks noChangeShapeType="1"/>
          </p:cNvSpPr>
          <p:nvPr/>
        </p:nvSpPr>
        <p:spPr bwMode="auto">
          <a:xfrm>
            <a:off x="7168929" y="303825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32"/>
          <p:cNvSpPr>
            <a:spLocks noChangeArrowheads="1"/>
          </p:cNvSpPr>
          <p:nvPr/>
        </p:nvSpPr>
        <p:spPr bwMode="auto">
          <a:xfrm>
            <a:off x="5808548" y="2640764"/>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3"/>
          <p:cNvSpPr>
            <a:spLocks noChangeArrowheads="1"/>
          </p:cNvSpPr>
          <p:nvPr/>
        </p:nvSpPr>
        <p:spPr bwMode="auto">
          <a:xfrm>
            <a:off x="6113355" y="2612439"/>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Rectangle 34"/>
          <p:cNvSpPr>
            <a:spLocks noChangeArrowheads="1"/>
          </p:cNvSpPr>
          <p:nvPr/>
        </p:nvSpPr>
        <p:spPr bwMode="auto">
          <a:xfrm>
            <a:off x="6420208" y="2599220"/>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Line 35"/>
          <p:cNvSpPr>
            <a:spLocks noChangeShapeType="1"/>
          </p:cNvSpPr>
          <p:nvPr/>
        </p:nvSpPr>
        <p:spPr bwMode="auto">
          <a:xfrm flipV="1">
            <a:off x="5684784"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6"/>
          <p:cNvSpPr>
            <a:spLocks noChangeShapeType="1"/>
          </p:cNvSpPr>
          <p:nvPr/>
        </p:nvSpPr>
        <p:spPr bwMode="auto">
          <a:xfrm>
            <a:off x="5991637" y="2684195"/>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7"/>
          <p:cNvSpPr>
            <a:spLocks noChangeShapeType="1"/>
          </p:cNvSpPr>
          <p:nvPr/>
        </p:nvSpPr>
        <p:spPr bwMode="auto">
          <a:xfrm>
            <a:off x="629746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38"/>
          <p:cNvSpPr>
            <a:spLocks noChangeShapeType="1"/>
          </p:cNvSpPr>
          <p:nvPr/>
        </p:nvSpPr>
        <p:spPr bwMode="auto">
          <a:xfrm>
            <a:off x="660329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Rectangle 39"/>
          <p:cNvSpPr>
            <a:spLocks noChangeArrowheads="1"/>
          </p:cNvSpPr>
          <p:nvPr/>
        </p:nvSpPr>
        <p:spPr bwMode="auto">
          <a:xfrm flipH="1">
            <a:off x="7902307" y="2640764"/>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0"/>
          <p:cNvSpPr>
            <a:spLocks noChangeArrowheads="1"/>
          </p:cNvSpPr>
          <p:nvPr/>
        </p:nvSpPr>
        <p:spPr bwMode="auto">
          <a:xfrm flipH="1">
            <a:off x="7597499" y="2612439"/>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Rectangle 41"/>
          <p:cNvSpPr>
            <a:spLocks noChangeArrowheads="1"/>
          </p:cNvSpPr>
          <p:nvPr/>
        </p:nvSpPr>
        <p:spPr bwMode="auto">
          <a:xfrm flipH="1">
            <a:off x="7289623" y="2599220"/>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6" name="Line 42"/>
          <p:cNvSpPr>
            <a:spLocks noChangeShapeType="1"/>
          </p:cNvSpPr>
          <p:nvPr/>
        </p:nvSpPr>
        <p:spPr bwMode="auto">
          <a:xfrm flipV="1">
            <a:off x="8082326"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3"/>
          <p:cNvSpPr>
            <a:spLocks noChangeShapeType="1"/>
          </p:cNvSpPr>
          <p:nvPr/>
        </p:nvSpPr>
        <p:spPr bwMode="auto">
          <a:xfrm rot="10800000" flipH="1">
            <a:off x="7780588" y="2684195"/>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4"/>
          <p:cNvSpPr>
            <a:spLocks noChangeShapeType="1"/>
          </p:cNvSpPr>
          <p:nvPr/>
        </p:nvSpPr>
        <p:spPr bwMode="auto">
          <a:xfrm>
            <a:off x="7473736" y="2684195"/>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45"/>
          <p:cNvSpPr>
            <a:spLocks noChangeShapeType="1"/>
          </p:cNvSpPr>
          <p:nvPr/>
        </p:nvSpPr>
        <p:spPr bwMode="auto">
          <a:xfrm>
            <a:off x="7168929" y="2684195"/>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Text Box 46"/>
          <p:cNvSpPr txBox="1">
            <a:spLocks noChangeArrowheads="1"/>
          </p:cNvSpPr>
          <p:nvPr/>
        </p:nvSpPr>
        <p:spPr bwMode="auto">
          <a:xfrm>
            <a:off x="5547816" y="201598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1" name="Text Box 47"/>
          <p:cNvSpPr txBox="1">
            <a:spLocks noChangeArrowheads="1"/>
          </p:cNvSpPr>
          <p:nvPr/>
        </p:nvSpPr>
        <p:spPr bwMode="auto">
          <a:xfrm>
            <a:off x="5546792" y="27052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2" name="Text Box 48"/>
          <p:cNvSpPr txBox="1">
            <a:spLocks noChangeArrowheads="1"/>
          </p:cNvSpPr>
          <p:nvPr/>
        </p:nvSpPr>
        <p:spPr bwMode="auto">
          <a:xfrm>
            <a:off x="5546792" y="234644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3" name="Text Box 49"/>
          <p:cNvSpPr txBox="1">
            <a:spLocks noChangeArrowheads="1"/>
          </p:cNvSpPr>
          <p:nvPr/>
        </p:nvSpPr>
        <p:spPr bwMode="auto">
          <a:xfrm>
            <a:off x="8101358" y="207545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4" name="Text Box 50"/>
          <p:cNvSpPr txBox="1">
            <a:spLocks noChangeArrowheads="1"/>
          </p:cNvSpPr>
          <p:nvPr/>
        </p:nvSpPr>
        <p:spPr bwMode="auto">
          <a:xfrm>
            <a:off x="8101358" y="2435184"/>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5" name="Text Box 52"/>
          <p:cNvSpPr txBox="1">
            <a:spLocks noChangeArrowheads="1"/>
          </p:cNvSpPr>
          <p:nvPr/>
        </p:nvSpPr>
        <p:spPr bwMode="auto">
          <a:xfrm>
            <a:off x="6767755" y="2316238"/>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7" name="Text Box 176"/>
          <p:cNvSpPr txBox="1">
            <a:spLocks noChangeArrowheads="1"/>
          </p:cNvSpPr>
          <p:nvPr/>
        </p:nvSpPr>
        <p:spPr bwMode="auto">
          <a:xfrm>
            <a:off x="8117724" y="279396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8" name="Freeform 177"/>
          <p:cNvSpPr>
            <a:spLocks/>
          </p:cNvSpPr>
          <p:nvPr/>
        </p:nvSpPr>
        <p:spPr bwMode="auto">
          <a:xfrm>
            <a:off x="5590682" y="2283216"/>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BFEC340-BB85-E5A5-9B6E-CEBB3375455F}"/>
              </a:ext>
            </a:extLst>
          </p:cNvPr>
          <p:cNvSpPr>
            <a:spLocks noGrp="1"/>
          </p:cNvSpPr>
          <p:nvPr>
            <p:ph type="title"/>
          </p:nvPr>
        </p:nvSpPr>
        <p:spPr>
          <a:xfrm>
            <a:off x="486000" y="550723"/>
            <a:ext cx="8172000" cy="338554"/>
          </a:xfrm>
        </p:spPr>
        <p:txBody>
          <a:bodyPr/>
          <a:lstStyle/>
          <a:p>
            <a:r>
              <a:rPr lang="zh-CN" altLang="en-US" dirty="0"/>
              <a:t>通过存储器</a:t>
            </a:r>
          </a:p>
        </p:txBody>
      </p:sp>
      <p:sp>
        <p:nvSpPr>
          <p:cNvPr id="59" name="内容占位符 58">
            <a:extLst>
              <a:ext uri="{FF2B5EF4-FFF2-40B4-BE49-F238E27FC236}">
                <a16:creationId xmlns:a16="http://schemas.microsoft.com/office/drawing/2014/main" id="{EA2510F5-CC78-EBE7-DA69-09B538B8B93C}"/>
              </a:ext>
            </a:extLst>
          </p:cNvPr>
          <p:cNvSpPr>
            <a:spLocks noGrp="1"/>
          </p:cNvSpPr>
          <p:nvPr>
            <p:ph sz="quarter" idx="11"/>
          </p:nvPr>
        </p:nvSpPr>
        <p:spPr>
          <a:xfrm>
            <a:off x="485999" y="900000"/>
            <a:ext cx="4086001" cy="3703500"/>
          </a:xfrm>
        </p:spPr>
        <p:txBody>
          <a:bodyPr/>
          <a:lstStyle/>
          <a:p>
            <a:r>
              <a:rPr lang="zh-CN" altLang="en-US" dirty="0"/>
              <a:t>当路由器的某个输入端口收到一个分组时，就用中断方式通知路由选择处理机。然后分组就从输入端口复制到存储器中</a:t>
            </a:r>
            <a:endParaRPr lang="en-US" altLang="zh-CN" dirty="0"/>
          </a:p>
          <a:p>
            <a:r>
              <a:rPr lang="zh-CN" altLang="en-US" dirty="0"/>
              <a:t>路由器处理机从分组首部提取目的地址，查找路由表，再将分组复制到合适的输出端口的缓存中</a:t>
            </a:r>
            <a:endParaRPr lang="en-US" altLang="zh-CN" dirty="0"/>
          </a:p>
          <a:p>
            <a:r>
              <a:rPr lang="zh-CN" altLang="en-US" dirty="0"/>
              <a:t>若存储器的带宽（读或写）为每秒 </a:t>
            </a:r>
            <a:r>
              <a:rPr lang="en-US" altLang="zh-CN" dirty="0"/>
              <a:t>M </a:t>
            </a:r>
            <a:r>
              <a:rPr lang="zh-CN" altLang="en-US" dirty="0"/>
              <a:t>个分组，那么路由器的交换速率（即分组从输入端口传送到输出端口的速率）一定小于 </a:t>
            </a:r>
            <a:r>
              <a:rPr lang="en-US" altLang="zh-CN" dirty="0"/>
              <a:t>M/2</a:t>
            </a:r>
            <a:endParaRPr lang="zh-CN" altLang="en-US" dirty="0"/>
          </a:p>
          <a:p>
            <a:endParaRPr lang="zh-CN" altLang="en-US" dirty="0"/>
          </a:p>
        </p:txBody>
      </p:sp>
    </p:spTree>
    <p:extLst>
      <p:ext uri="{BB962C8B-B14F-4D97-AF65-F5344CB8AC3E}">
        <p14:creationId xmlns:p14="http://schemas.microsoft.com/office/powerpoint/2010/main" val="15795574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3"/>
          <p:cNvSpPr>
            <a:spLocks noChangeArrowheads="1"/>
          </p:cNvSpPr>
          <p:nvPr/>
        </p:nvSpPr>
        <p:spPr bwMode="auto">
          <a:xfrm>
            <a:off x="6120295" y="2277843"/>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4"/>
          <p:cNvSpPr>
            <a:spLocks noChangeArrowheads="1"/>
          </p:cNvSpPr>
          <p:nvPr/>
        </p:nvSpPr>
        <p:spPr bwMode="auto">
          <a:xfrm>
            <a:off x="6425102" y="2249518"/>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5"/>
          <p:cNvSpPr>
            <a:spLocks noChangeArrowheads="1"/>
          </p:cNvSpPr>
          <p:nvPr/>
        </p:nvSpPr>
        <p:spPr bwMode="auto">
          <a:xfrm>
            <a:off x="6731955" y="2236299"/>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56"/>
          <p:cNvSpPr>
            <a:spLocks noChangeShapeType="1"/>
          </p:cNvSpPr>
          <p:nvPr/>
        </p:nvSpPr>
        <p:spPr bwMode="auto">
          <a:xfrm flipV="1">
            <a:off x="5996531"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57"/>
          <p:cNvSpPr>
            <a:spLocks noChangeShapeType="1"/>
          </p:cNvSpPr>
          <p:nvPr/>
        </p:nvSpPr>
        <p:spPr bwMode="auto">
          <a:xfrm>
            <a:off x="6303384"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58"/>
          <p:cNvSpPr>
            <a:spLocks noChangeShapeType="1"/>
          </p:cNvSpPr>
          <p:nvPr/>
        </p:nvSpPr>
        <p:spPr bwMode="auto">
          <a:xfrm>
            <a:off x="6609213"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59"/>
          <p:cNvSpPr>
            <a:spLocks noChangeShapeType="1"/>
          </p:cNvSpPr>
          <p:nvPr/>
        </p:nvSpPr>
        <p:spPr bwMode="auto">
          <a:xfrm>
            <a:off x="6915043"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60"/>
          <p:cNvSpPr>
            <a:spLocks noChangeArrowheads="1"/>
          </p:cNvSpPr>
          <p:nvPr/>
        </p:nvSpPr>
        <p:spPr bwMode="auto">
          <a:xfrm>
            <a:off x="6120295" y="297274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61"/>
          <p:cNvSpPr>
            <a:spLocks noChangeArrowheads="1"/>
          </p:cNvSpPr>
          <p:nvPr/>
        </p:nvSpPr>
        <p:spPr bwMode="auto">
          <a:xfrm>
            <a:off x="6425102" y="294442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62"/>
          <p:cNvSpPr>
            <a:spLocks noChangeArrowheads="1"/>
          </p:cNvSpPr>
          <p:nvPr/>
        </p:nvSpPr>
        <p:spPr bwMode="auto">
          <a:xfrm>
            <a:off x="6731955" y="2929314"/>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63"/>
          <p:cNvSpPr>
            <a:spLocks noChangeShapeType="1"/>
          </p:cNvSpPr>
          <p:nvPr/>
        </p:nvSpPr>
        <p:spPr bwMode="auto">
          <a:xfrm flipV="1">
            <a:off x="5996531"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64"/>
          <p:cNvSpPr>
            <a:spLocks noChangeShapeType="1"/>
          </p:cNvSpPr>
          <p:nvPr/>
        </p:nvSpPr>
        <p:spPr bwMode="auto">
          <a:xfrm>
            <a:off x="6303384"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65"/>
          <p:cNvSpPr>
            <a:spLocks noChangeShapeType="1"/>
          </p:cNvSpPr>
          <p:nvPr/>
        </p:nvSpPr>
        <p:spPr bwMode="auto">
          <a:xfrm>
            <a:off x="6609213"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66"/>
          <p:cNvSpPr>
            <a:spLocks noChangeShapeType="1"/>
          </p:cNvSpPr>
          <p:nvPr/>
        </p:nvSpPr>
        <p:spPr bwMode="auto">
          <a:xfrm>
            <a:off x="6915043"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67"/>
          <p:cNvSpPr>
            <a:spLocks noChangeArrowheads="1"/>
          </p:cNvSpPr>
          <p:nvPr/>
        </p:nvSpPr>
        <p:spPr bwMode="auto">
          <a:xfrm flipH="1">
            <a:off x="7848899" y="2277843"/>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68"/>
          <p:cNvSpPr>
            <a:spLocks noChangeArrowheads="1"/>
          </p:cNvSpPr>
          <p:nvPr/>
        </p:nvSpPr>
        <p:spPr bwMode="auto">
          <a:xfrm flipH="1">
            <a:off x="7544092" y="2249518"/>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69"/>
          <p:cNvSpPr>
            <a:spLocks noChangeArrowheads="1"/>
          </p:cNvSpPr>
          <p:nvPr/>
        </p:nvSpPr>
        <p:spPr bwMode="auto">
          <a:xfrm flipH="1">
            <a:off x="7236217" y="2236299"/>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70"/>
          <p:cNvSpPr>
            <a:spLocks noChangeShapeType="1"/>
          </p:cNvSpPr>
          <p:nvPr/>
        </p:nvSpPr>
        <p:spPr bwMode="auto">
          <a:xfrm flipV="1">
            <a:off x="8028919"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71"/>
          <p:cNvSpPr>
            <a:spLocks noChangeShapeType="1"/>
          </p:cNvSpPr>
          <p:nvPr/>
        </p:nvSpPr>
        <p:spPr bwMode="auto">
          <a:xfrm rot="10800000" flipH="1">
            <a:off x="7727180"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72"/>
          <p:cNvSpPr>
            <a:spLocks noChangeShapeType="1"/>
          </p:cNvSpPr>
          <p:nvPr/>
        </p:nvSpPr>
        <p:spPr bwMode="auto">
          <a:xfrm>
            <a:off x="7421350"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73"/>
          <p:cNvSpPr>
            <a:spLocks noChangeShapeType="1"/>
          </p:cNvSpPr>
          <p:nvPr/>
        </p:nvSpPr>
        <p:spPr bwMode="auto">
          <a:xfrm>
            <a:off x="7115521" y="2321274"/>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74"/>
          <p:cNvSpPr>
            <a:spLocks noChangeArrowheads="1"/>
          </p:cNvSpPr>
          <p:nvPr/>
        </p:nvSpPr>
        <p:spPr bwMode="auto">
          <a:xfrm flipH="1">
            <a:off x="7848899" y="2972746"/>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75"/>
          <p:cNvSpPr>
            <a:spLocks noChangeArrowheads="1"/>
          </p:cNvSpPr>
          <p:nvPr/>
        </p:nvSpPr>
        <p:spPr bwMode="auto">
          <a:xfrm flipH="1">
            <a:off x="7544092" y="294442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76"/>
          <p:cNvSpPr>
            <a:spLocks noChangeArrowheads="1"/>
          </p:cNvSpPr>
          <p:nvPr/>
        </p:nvSpPr>
        <p:spPr bwMode="auto">
          <a:xfrm flipH="1">
            <a:off x="7236217" y="2929314"/>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77"/>
          <p:cNvSpPr>
            <a:spLocks noChangeShapeType="1"/>
          </p:cNvSpPr>
          <p:nvPr/>
        </p:nvSpPr>
        <p:spPr bwMode="auto">
          <a:xfrm flipV="1">
            <a:off x="8028919"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78"/>
          <p:cNvSpPr>
            <a:spLocks noChangeShapeType="1"/>
          </p:cNvSpPr>
          <p:nvPr/>
        </p:nvSpPr>
        <p:spPr bwMode="auto">
          <a:xfrm>
            <a:off x="7727180"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79"/>
          <p:cNvSpPr>
            <a:spLocks noChangeShapeType="1"/>
          </p:cNvSpPr>
          <p:nvPr/>
        </p:nvSpPr>
        <p:spPr bwMode="auto">
          <a:xfrm>
            <a:off x="7421350"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80"/>
          <p:cNvSpPr>
            <a:spLocks noChangeShapeType="1"/>
          </p:cNvSpPr>
          <p:nvPr/>
        </p:nvSpPr>
        <p:spPr bwMode="auto">
          <a:xfrm>
            <a:off x="7115521" y="3015233"/>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81"/>
          <p:cNvSpPr>
            <a:spLocks noChangeArrowheads="1"/>
          </p:cNvSpPr>
          <p:nvPr/>
        </p:nvSpPr>
        <p:spPr bwMode="auto">
          <a:xfrm>
            <a:off x="6120295" y="2617741"/>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82"/>
          <p:cNvSpPr>
            <a:spLocks noChangeArrowheads="1"/>
          </p:cNvSpPr>
          <p:nvPr/>
        </p:nvSpPr>
        <p:spPr bwMode="auto">
          <a:xfrm>
            <a:off x="6425102" y="25894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83"/>
          <p:cNvSpPr>
            <a:spLocks noChangeArrowheads="1"/>
          </p:cNvSpPr>
          <p:nvPr/>
        </p:nvSpPr>
        <p:spPr bwMode="auto">
          <a:xfrm>
            <a:off x="6731955" y="2576197"/>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84"/>
          <p:cNvSpPr>
            <a:spLocks noChangeShapeType="1"/>
          </p:cNvSpPr>
          <p:nvPr/>
        </p:nvSpPr>
        <p:spPr bwMode="auto">
          <a:xfrm flipV="1">
            <a:off x="5996531"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85"/>
          <p:cNvSpPr>
            <a:spLocks noChangeShapeType="1"/>
          </p:cNvSpPr>
          <p:nvPr/>
        </p:nvSpPr>
        <p:spPr bwMode="auto">
          <a:xfrm>
            <a:off x="6303384"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86"/>
          <p:cNvSpPr>
            <a:spLocks noChangeShapeType="1"/>
          </p:cNvSpPr>
          <p:nvPr/>
        </p:nvSpPr>
        <p:spPr bwMode="auto">
          <a:xfrm>
            <a:off x="6609213"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87"/>
          <p:cNvSpPr>
            <a:spLocks noChangeShapeType="1"/>
          </p:cNvSpPr>
          <p:nvPr/>
        </p:nvSpPr>
        <p:spPr bwMode="auto">
          <a:xfrm>
            <a:off x="6915043"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88"/>
          <p:cNvSpPr>
            <a:spLocks noChangeArrowheads="1"/>
          </p:cNvSpPr>
          <p:nvPr/>
        </p:nvSpPr>
        <p:spPr bwMode="auto">
          <a:xfrm flipH="1">
            <a:off x="7848899" y="2617741"/>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89"/>
          <p:cNvSpPr>
            <a:spLocks noChangeArrowheads="1"/>
          </p:cNvSpPr>
          <p:nvPr/>
        </p:nvSpPr>
        <p:spPr bwMode="auto">
          <a:xfrm flipH="1">
            <a:off x="7544092" y="25894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90"/>
          <p:cNvSpPr>
            <a:spLocks noChangeArrowheads="1"/>
          </p:cNvSpPr>
          <p:nvPr/>
        </p:nvSpPr>
        <p:spPr bwMode="auto">
          <a:xfrm flipH="1">
            <a:off x="7236217" y="2576197"/>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91"/>
          <p:cNvSpPr>
            <a:spLocks noChangeShapeType="1"/>
          </p:cNvSpPr>
          <p:nvPr/>
        </p:nvSpPr>
        <p:spPr bwMode="auto">
          <a:xfrm flipV="1">
            <a:off x="8028919"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92"/>
          <p:cNvSpPr>
            <a:spLocks noChangeShapeType="1"/>
          </p:cNvSpPr>
          <p:nvPr/>
        </p:nvSpPr>
        <p:spPr bwMode="auto">
          <a:xfrm rot="10800000" flipH="1">
            <a:off x="7727180"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93"/>
          <p:cNvSpPr>
            <a:spLocks noChangeShapeType="1"/>
          </p:cNvSpPr>
          <p:nvPr/>
        </p:nvSpPr>
        <p:spPr bwMode="auto">
          <a:xfrm>
            <a:off x="7421350"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94"/>
          <p:cNvSpPr>
            <a:spLocks noChangeShapeType="1"/>
          </p:cNvSpPr>
          <p:nvPr/>
        </p:nvSpPr>
        <p:spPr bwMode="auto">
          <a:xfrm>
            <a:off x="7115521" y="2661172"/>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95"/>
          <p:cNvSpPr txBox="1">
            <a:spLocks noChangeArrowheads="1"/>
          </p:cNvSpPr>
          <p:nvPr/>
        </p:nvSpPr>
        <p:spPr bwMode="auto">
          <a:xfrm>
            <a:off x="5852402" y="201090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50" name="Text Box 96"/>
          <p:cNvSpPr txBox="1">
            <a:spLocks noChangeArrowheads="1"/>
          </p:cNvSpPr>
          <p:nvPr/>
        </p:nvSpPr>
        <p:spPr bwMode="auto">
          <a:xfrm>
            <a:off x="5851379" y="269919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97"/>
          <p:cNvSpPr txBox="1">
            <a:spLocks noChangeArrowheads="1"/>
          </p:cNvSpPr>
          <p:nvPr/>
        </p:nvSpPr>
        <p:spPr bwMode="auto">
          <a:xfrm>
            <a:off x="5851379" y="234041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98"/>
          <p:cNvSpPr txBox="1">
            <a:spLocks noChangeArrowheads="1"/>
          </p:cNvSpPr>
          <p:nvPr/>
        </p:nvSpPr>
        <p:spPr bwMode="auto">
          <a:xfrm>
            <a:off x="8030562" y="205243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53" name="Text Box 99"/>
          <p:cNvSpPr txBox="1">
            <a:spLocks noChangeArrowheads="1"/>
          </p:cNvSpPr>
          <p:nvPr/>
        </p:nvSpPr>
        <p:spPr bwMode="auto">
          <a:xfrm>
            <a:off x="8031585" y="241216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AutoShape 100"/>
          <p:cNvSpPr>
            <a:spLocks noChangeArrowheads="1"/>
          </p:cNvSpPr>
          <p:nvPr/>
        </p:nvSpPr>
        <p:spPr bwMode="auto">
          <a:xfrm>
            <a:off x="6954935" y="2022918"/>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56" name="Text Box 171"/>
          <p:cNvSpPr txBox="1">
            <a:spLocks noChangeArrowheads="1"/>
          </p:cNvSpPr>
          <p:nvPr/>
        </p:nvSpPr>
        <p:spPr bwMode="auto">
          <a:xfrm>
            <a:off x="7302702" y="170287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57" name="Line 172"/>
          <p:cNvSpPr>
            <a:spLocks noChangeShapeType="1"/>
          </p:cNvSpPr>
          <p:nvPr/>
        </p:nvSpPr>
        <p:spPr bwMode="auto">
          <a:xfrm flipV="1">
            <a:off x="7067448" y="1942159"/>
            <a:ext cx="304404" cy="1657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Text Box 175"/>
          <p:cNvSpPr txBox="1">
            <a:spLocks noChangeArrowheads="1"/>
          </p:cNvSpPr>
          <p:nvPr/>
        </p:nvSpPr>
        <p:spPr bwMode="auto">
          <a:xfrm>
            <a:off x="8045904" y="2770943"/>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9" name="Freeform 178"/>
          <p:cNvSpPr>
            <a:spLocks/>
          </p:cNvSpPr>
          <p:nvPr/>
        </p:nvSpPr>
        <p:spPr bwMode="auto">
          <a:xfrm>
            <a:off x="6052787" y="2260193"/>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2CECBF1-33B3-F456-33A0-04D83F87E6A3}"/>
              </a:ext>
            </a:extLst>
          </p:cNvPr>
          <p:cNvSpPr>
            <a:spLocks noGrp="1"/>
          </p:cNvSpPr>
          <p:nvPr>
            <p:ph type="title"/>
          </p:nvPr>
        </p:nvSpPr>
        <p:spPr>
          <a:xfrm>
            <a:off x="486000" y="550723"/>
            <a:ext cx="8172000" cy="338554"/>
          </a:xfrm>
        </p:spPr>
        <p:txBody>
          <a:bodyPr/>
          <a:lstStyle/>
          <a:p>
            <a:r>
              <a:rPr lang="zh-CN" altLang="en-US" dirty="0"/>
              <a:t>通过总线 </a:t>
            </a:r>
            <a:r>
              <a:rPr lang="en-US" altLang="zh-CN" dirty="0"/>
              <a:t>BUS</a:t>
            </a:r>
            <a:endParaRPr lang="zh-CN" altLang="en-US" dirty="0"/>
          </a:p>
        </p:txBody>
      </p:sp>
      <p:sp>
        <p:nvSpPr>
          <p:cNvPr id="61" name="内容占位符 60">
            <a:extLst>
              <a:ext uri="{FF2B5EF4-FFF2-40B4-BE49-F238E27FC236}">
                <a16:creationId xmlns:a16="http://schemas.microsoft.com/office/drawing/2014/main" id="{71A6B7B1-C390-ABF4-EC46-CD637C6BDA1D}"/>
              </a:ext>
            </a:extLst>
          </p:cNvPr>
          <p:cNvSpPr>
            <a:spLocks noGrp="1"/>
          </p:cNvSpPr>
          <p:nvPr>
            <p:ph sz="quarter" idx="11"/>
          </p:nvPr>
        </p:nvSpPr>
        <p:spPr>
          <a:xfrm>
            <a:off x="485999" y="900000"/>
            <a:ext cx="4086001" cy="3703500"/>
          </a:xfrm>
        </p:spPr>
        <p:txBody>
          <a:bodyPr lIns="0" rIns="0"/>
          <a:lstStyle/>
          <a:p>
            <a:r>
              <a:rPr lang="zh-CN" altLang="en-US" dirty="0"/>
              <a:t>数据报从输入端口通过共享的总线直接传送到合适的输出端口，而不需要路由选择处理机的干预</a:t>
            </a:r>
          </a:p>
          <a:p>
            <a:r>
              <a:rPr lang="zh-CN" altLang="en-US" dirty="0"/>
              <a:t>当分组到达输入端口时若发现总线忙，则被阻塞而不能通过交换结构，并在输入端口排队等待</a:t>
            </a:r>
            <a:endParaRPr lang="en-US" altLang="zh-CN" dirty="0"/>
          </a:p>
          <a:p>
            <a:r>
              <a:rPr lang="zh-CN" altLang="en-US" dirty="0"/>
              <a:t>因为每一个要转发的分组都要通过这一条总线，因此路由器的转发带宽就受总线速率的限制</a:t>
            </a:r>
          </a:p>
          <a:p>
            <a:endParaRPr lang="zh-CN" altLang="en-US" dirty="0"/>
          </a:p>
        </p:txBody>
      </p:sp>
    </p:spTree>
    <p:extLst>
      <p:ext uri="{BB962C8B-B14F-4D97-AF65-F5344CB8AC3E}">
        <p14:creationId xmlns:p14="http://schemas.microsoft.com/office/powerpoint/2010/main" val="1724586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wipe(left)">
                                      <p:cBhvr>
                                        <p:cTn id="7" dur="2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Lst>
  </p:timing>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2"/>
          <p:cNvSpPr>
            <a:spLocks noChangeArrowheads="1"/>
          </p:cNvSpPr>
          <p:nvPr/>
        </p:nvSpPr>
        <p:spPr bwMode="auto">
          <a:xfrm>
            <a:off x="5973144" y="202540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103"/>
          <p:cNvSpPr>
            <a:spLocks noChangeArrowheads="1"/>
          </p:cNvSpPr>
          <p:nvPr/>
        </p:nvSpPr>
        <p:spPr bwMode="auto">
          <a:xfrm>
            <a:off x="6278974" y="1998022"/>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104"/>
          <p:cNvSpPr>
            <a:spLocks noChangeArrowheads="1"/>
          </p:cNvSpPr>
          <p:nvPr/>
        </p:nvSpPr>
        <p:spPr bwMode="auto">
          <a:xfrm>
            <a:off x="6584803" y="1983859"/>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105"/>
          <p:cNvSpPr>
            <a:spLocks noChangeShapeType="1"/>
          </p:cNvSpPr>
          <p:nvPr/>
        </p:nvSpPr>
        <p:spPr bwMode="auto">
          <a:xfrm flipV="1">
            <a:off x="5850403" y="2068834"/>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106"/>
          <p:cNvSpPr>
            <a:spLocks noChangeShapeType="1"/>
          </p:cNvSpPr>
          <p:nvPr/>
        </p:nvSpPr>
        <p:spPr bwMode="auto">
          <a:xfrm>
            <a:off x="6156233"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107"/>
          <p:cNvSpPr>
            <a:spLocks noChangeShapeType="1"/>
          </p:cNvSpPr>
          <p:nvPr/>
        </p:nvSpPr>
        <p:spPr bwMode="auto">
          <a:xfrm>
            <a:off x="6462062"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08"/>
          <p:cNvSpPr>
            <a:spLocks noChangeShapeType="1"/>
          </p:cNvSpPr>
          <p:nvPr/>
        </p:nvSpPr>
        <p:spPr bwMode="auto">
          <a:xfrm>
            <a:off x="6768915" y="2068834"/>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10"/>
          <p:cNvSpPr>
            <a:spLocks noChangeArrowheads="1"/>
          </p:cNvSpPr>
          <p:nvPr/>
        </p:nvSpPr>
        <p:spPr bwMode="auto">
          <a:xfrm>
            <a:off x="5976213" y="2698590"/>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1"/>
          <p:cNvSpPr>
            <a:spLocks noChangeArrowheads="1"/>
          </p:cNvSpPr>
          <p:nvPr/>
        </p:nvSpPr>
        <p:spPr bwMode="auto">
          <a:xfrm>
            <a:off x="6283066" y="267121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12"/>
          <p:cNvSpPr>
            <a:spLocks noChangeArrowheads="1"/>
          </p:cNvSpPr>
          <p:nvPr/>
        </p:nvSpPr>
        <p:spPr bwMode="auto">
          <a:xfrm>
            <a:off x="6587872" y="265704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13"/>
          <p:cNvSpPr>
            <a:spLocks noChangeShapeType="1"/>
          </p:cNvSpPr>
          <p:nvPr/>
        </p:nvSpPr>
        <p:spPr bwMode="auto">
          <a:xfrm flipV="1">
            <a:off x="5854494" y="2742021"/>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14"/>
          <p:cNvSpPr>
            <a:spLocks noChangeShapeType="1"/>
          </p:cNvSpPr>
          <p:nvPr/>
        </p:nvSpPr>
        <p:spPr bwMode="auto">
          <a:xfrm>
            <a:off x="616032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15"/>
          <p:cNvSpPr>
            <a:spLocks noChangeShapeType="1"/>
          </p:cNvSpPr>
          <p:nvPr/>
        </p:nvSpPr>
        <p:spPr bwMode="auto">
          <a:xfrm>
            <a:off x="6466154" y="274202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16"/>
          <p:cNvSpPr>
            <a:spLocks noChangeShapeType="1"/>
          </p:cNvSpPr>
          <p:nvPr/>
        </p:nvSpPr>
        <p:spPr bwMode="auto">
          <a:xfrm>
            <a:off x="677198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Text Box 117"/>
          <p:cNvSpPr txBox="1">
            <a:spLocks noChangeArrowheads="1"/>
          </p:cNvSpPr>
          <p:nvPr/>
        </p:nvSpPr>
        <p:spPr bwMode="auto">
          <a:xfrm>
            <a:off x="5689909" y="244770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22" name="Rectangle 118"/>
          <p:cNvSpPr>
            <a:spLocks noChangeArrowheads="1"/>
          </p:cNvSpPr>
          <p:nvPr/>
        </p:nvSpPr>
        <p:spPr bwMode="auto">
          <a:xfrm>
            <a:off x="5973144" y="2366245"/>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19"/>
          <p:cNvSpPr>
            <a:spLocks noChangeArrowheads="1"/>
          </p:cNvSpPr>
          <p:nvPr/>
        </p:nvSpPr>
        <p:spPr bwMode="auto">
          <a:xfrm>
            <a:off x="6278974" y="233792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120"/>
          <p:cNvSpPr>
            <a:spLocks noChangeArrowheads="1"/>
          </p:cNvSpPr>
          <p:nvPr/>
        </p:nvSpPr>
        <p:spPr bwMode="auto">
          <a:xfrm>
            <a:off x="6584803" y="2323758"/>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121"/>
          <p:cNvSpPr>
            <a:spLocks noChangeShapeType="1"/>
          </p:cNvSpPr>
          <p:nvPr/>
        </p:nvSpPr>
        <p:spPr bwMode="auto">
          <a:xfrm flipV="1">
            <a:off x="5850403" y="2408732"/>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122"/>
          <p:cNvSpPr>
            <a:spLocks noChangeShapeType="1"/>
          </p:cNvSpPr>
          <p:nvPr/>
        </p:nvSpPr>
        <p:spPr bwMode="auto">
          <a:xfrm>
            <a:off x="6156233"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123"/>
          <p:cNvSpPr>
            <a:spLocks noChangeShapeType="1"/>
          </p:cNvSpPr>
          <p:nvPr/>
        </p:nvSpPr>
        <p:spPr bwMode="auto">
          <a:xfrm>
            <a:off x="6462062"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124"/>
          <p:cNvSpPr>
            <a:spLocks noChangeShapeType="1"/>
          </p:cNvSpPr>
          <p:nvPr/>
        </p:nvSpPr>
        <p:spPr bwMode="auto">
          <a:xfrm>
            <a:off x="6768915" y="2408732"/>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125"/>
          <p:cNvSpPr txBox="1">
            <a:spLocks noChangeArrowheads="1"/>
          </p:cNvSpPr>
          <p:nvPr/>
        </p:nvSpPr>
        <p:spPr bwMode="auto">
          <a:xfrm>
            <a:off x="5695023" y="208986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30" name="Group 126"/>
          <p:cNvGrpSpPr>
            <a:grpSpLocks/>
          </p:cNvGrpSpPr>
          <p:nvPr/>
        </p:nvGrpSpPr>
        <p:grpSpPr bwMode="auto">
          <a:xfrm>
            <a:off x="7084974" y="2869483"/>
            <a:ext cx="191272" cy="924334"/>
            <a:chOff x="2919" y="2867"/>
            <a:chExt cx="192" cy="1044"/>
          </a:xfrm>
        </p:grpSpPr>
        <p:sp>
          <p:nvSpPr>
            <p:cNvPr id="31"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3"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4"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38" name="Text Box 134"/>
          <p:cNvSpPr txBox="1">
            <a:spLocks noChangeArrowheads="1"/>
          </p:cNvSpPr>
          <p:nvPr/>
        </p:nvSpPr>
        <p:spPr bwMode="auto">
          <a:xfrm>
            <a:off x="7219989" y="359460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39" name="Group 135"/>
          <p:cNvGrpSpPr>
            <a:grpSpLocks/>
          </p:cNvGrpSpPr>
          <p:nvPr/>
        </p:nvGrpSpPr>
        <p:grpSpPr bwMode="auto">
          <a:xfrm>
            <a:off x="7521724" y="2869484"/>
            <a:ext cx="548490" cy="1027287"/>
            <a:chOff x="3357" y="2859"/>
            <a:chExt cx="551" cy="1159"/>
          </a:xfrm>
        </p:grpSpPr>
        <p:sp>
          <p:nvSpPr>
            <p:cNvPr id="40"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48" name="Rectangle 144"/>
          <p:cNvSpPr>
            <a:spLocks noChangeArrowheads="1"/>
          </p:cNvSpPr>
          <p:nvPr/>
        </p:nvSpPr>
        <p:spPr bwMode="auto">
          <a:xfrm rot="5400000" flipH="1">
            <a:off x="7968355" y="3556007"/>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145"/>
          <p:cNvSpPr>
            <a:spLocks noChangeArrowheads="1"/>
          </p:cNvSpPr>
          <p:nvPr/>
        </p:nvSpPr>
        <p:spPr bwMode="auto">
          <a:xfrm rot="5400000" flipH="1">
            <a:off x="7968356" y="3250413"/>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0" name="Rectangle 146"/>
          <p:cNvSpPr>
            <a:spLocks noChangeArrowheads="1"/>
          </p:cNvSpPr>
          <p:nvPr/>
        </p:nvSpPr>
        <p:spPr bwMode="auto">
          <a:xfrm rot="5400000" flipH="1">
            <a:off x="7968356" y="2963152"/>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Line 147"/>
          <p:cNvSpPr>
            <a:spLocks noChangeShapeType="1"/>
          </p:cNvSpPr>
          <p:nvPr/>
        </p:nvSpPr>
        <p:spPr bwMode="auto">
          <a:xfrm rot="5400000" flipV="1">
            <a:off x="7993887" y="3737168"/>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Line 148"/>
          <p:cNvSpPr>
            <a:spLocks noChangeShapeType="1"/>
          </p:cNvSpPr>
          <p:nvPr/>
        </p:nvSpPr>
        <p:spPr bwMode="auto">
          <a:xfrm rot="16200000" flipH="1">
            <a:off x="7995775" y="3467137"/>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Line 149"/>
          <p:cNvSpPr>
            <a:spLocks noChangeShapeType="1"/>
          </p:cNvSpPr>
          <p:nvPr/>
        </p:nvSpPr>
        <p:spPr bwMode="auto">
          <a:xfrm rot="5400000">
            <a:off x="7996248" y="3194747"/>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150"/>
          <p:cNvSpPr>
            <a:spLocks noChangeShapeType="1"/>
          </p:cNvSpPr>
          <p:nvPr/>
        </p:nvSpPr>
        <p:spPr bwMode="auto">
          <a:xfrm rot="5400000">
            <a:off x="7996720" y="2923301"/>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151"/>
          <p:cNvSpPr txBox="1">
            <a:spLocks noChangeArrowheads="1"/>
          </p:cNvSpPr>
          <p:nvPr/>
        </p:nvSpPr>
        <p:spPr bwMode="auto">
          <a:xfrm>
            <a:off x="8119067" y="359460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7" name="Line 156"/>
          <p:cNvSpPr>
            <a:spLocks noChangeShapeType="1"/>
          </p:cNvSpPr>
          <p:nvPr/>
        </p:nvSpPr>
        <p:spPr bwMode="auto">
          <a:xfrm>
            <a:off x="6950981" y="206883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Line 157"/>
          <p:cNvSpPr>
            <a:spLocks noChangeShapeType="1"/>
          </p:cNvSpPr>
          <p:nvPr/>
        </p:nvSpPr>
        <p:spPr bwMode="auto">
          <a:xfrm>
            <a:off x="6950981" y="2408732"/>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158"/>
          <p:cNvSpPr>
            <a:spLocks noChangeShapeType="1"/>
          </p:cNvSpPr>
          <p:nvPr/>
        </p:nvSpPr>
        <p:spPr bwMode="auto">
          <a:xfrm>
            <a:off x="6950981" y="274957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159"/>
          <p:cNvSpPr>
            <a:spLocks noChangeShapeType="1"/>
          </p:cNvSpPr>
          <p:nvPr/>
        </p:nvSpPr>
        <p:spPr bwMode="auto">
          <a:xfrm rot="16200000">
            <a:off x="6807469"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160"/>
          <p:cNvSpPr>
            <a:spLocks noChangeShapeType="1"/>
          </p:cNvSpPr>
          <p:nvPr/>
        </p:nvSpPr>
        <p:spPr bwMode="auto">
          <a:xfrm rot="16200000">
            <a:off x="7238086"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161"/>
          <p:cNvSpPr>
            <a:spLocks noChangeShapeType="1"/>
          </p:cNvSpPr>
          <p:nvPr/>
        </p:nvSpPr>
        <p:spPr bwMode="auto">
          <a:xfrm rot="16200000">
            <a:off x="7668702"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Oval 162"/>
          <p:cNvSpPr>
            <a:spLocks noChangeArrowheads="1"/>
          </p:cNvSpPr>
          <p:nvPr/>
        </p:nvSpPr>
        <p:spPr bwMode="auto">
          <a:xfrm>
            <a:off x="8008600"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Oval 163"/>
          <p:cNvSpPr>
            <a:spLocks noChangeArrowheads="1"/>
          </p:cNvSpPr>
          <p:nvPr/>
        </p:nvSpPr>
        <p:spPr bwMode="auto">
          <a:xfrm>
            <a:off x="8008600"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Oval 164"/>
          <p:cNvSpPr>
            <a:spLocks noChangeArrowheads="1"/>
          </p:cNvSpPr>
          <p:nvPr/>
        </p:nvSpPr>
        <p:spPr bwMode="auto">
          <a:xfrm>
            <a:off x="8008600"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Oval 165"/>
          <p:cNvSpPr>
            <a:spLocks noChangeArrowheads="1"/>
          </p:cNvSpPr>
          <p:nvPr/>
        </p:nvSpPr>
        <p:spPr bwMode="auto">
          <a:xfrm>
            <a:off x="7577984" y="2714641"/>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Oval 166"/>
          <p:cNvSpPr>
            <a:spLocks noChangeArrowheads="1"/>
          </p:cNvSpPr>
          <p:nvPr/>
        </p:nvSpPr>
        <p:spPr bwMode="auto">
          <a:xfrm>
            <a:off x="7577984" y="237379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8" name="Oval 167"/>
          <p:cNvSpPr>
            <a:spLocks noChangeArrowheads="1"/>
          </p:cNvSpPr>
          <p:nvPr/>
        </p:nvSpPr>
        <p:spPr bwMode="auto">
          <a:xfrm>
            <a:off x="7577984" y="2036733"/>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Oval 168"/>
          <p:cNvSpPr>
            <a:spLocks noChangeArrowheads="1"/>
          </p:cNvSpPr>
          <p:nvPr/>
        </p:nvSpPr>
        <p:spPr bwMode="auto">
          <a:xfrm>
            <a:off x="7147367"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Oval 169"/>
          <p:cNvSpPr>
            <a:spLocks noChangeArrowheads="1"/>
          </p:cNvSpPr>
          <p:nvPr/>
        </p:nvSpPr>
        <p:spPr bwMode="auto">
          <a:xfrm>
            <a:off x="7147367"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Oval 170"/>
          <p:cNvSpPr>
            <a:spLocks noChangeArrowheads="1"/>
          </p:cNvSpPr>
          <p:nvPr/>
        </p:nvSpPr>
        <p:spPr bwMode="auto">
          <a:xfrm>
            <a:off x="7147367"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Text Box 173"/>
          <p:cNvSpPr txBox="1">
            <a:spLocks noChangeArrowheads="1"/>
          </p:cNvSpPr>
          <p:nvPr/>
        </p:nvSpPr>
        <p:spPr bwMode="auto">
          <a:xfrm>
            <a:off x="7542940" y="154343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73" name="Line 174"/>
          <p:cNvSpPr>
            <a:spLocks noChangeShapeType="1"/>
          </p:cNvSpPr>
          <p:nvPr/>
        </p:nvSpPr>
        <p:spPr bwMode="auto">
          <a:xfrm flipV="1">
            <a:off x="7833343" y="1821958"/>
            <a:ext cx="161003" cy="4324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179"/>
          <p:cNvSpPr>
            <a:spLocks noChangeShapeType="1"/>
          </p:cNvSpPr>
          <p:nvPr/>
        </p:nvSpPr>
        <p:spPr bwMode="auto">
          <a:xfrm>
            <a:off x="5847334" y="1997573"/>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75" name="Line 180"/>
          <p:cNvSpPr>
            <a:spLocks noChangeShapeType="1"/>
          </p:cNvSpPr>
          <p:nvPr/>
        </p:nvSpPr>
        <p:spPr bwMode="auto">
          <a:xfrm rot="16200000" flipH="1">
            <a:off x="6903925" y="2909016"/>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5BB4B5C-C22B-FBC0-D1FE-3EEA6468A269}"/>
              </a:ext>
            </a:extLst>
          </p:cNvPr>
          <p:cNvSpPr>
            <a:spLocks noGrp="1"/>
          </p:cNvSpPr>
          <p:nvPr>
            <p:ph type="title"/>
          </p:nvPr>
        </p:nvSpPr>
        <p:spPr>
          <a:xfrm>
            <a:off x="486000" y="550723"/>
            <a:ext cx="8172000" cy="338554"/>
          </a:xfrm>
        </p:spPr>
        <p:txBody>
          <a:bodyPr/>
          <a:lstStyle/>
          <a:p>
            <a:r>
              <a:rPr lang="zh-CN" altLang="en-US" dirty="0"/>
              <a:t>通过纵横交换结构 </a:t>
            </a:r>
            <a:r>
              <a:rPr lang="en-US" altLang="zh-CN" dirty="0"/>
              <a:t>(crossbar switch fabric)</a:t>
            </a:r>
            <a:endParaRPr lang="zh-CN" altLang="en-US" dirty="0"/>
          </a:p>
        </p:txBody>
      </p:sp>
      <p:sp>
        <p:nvSpPr>
          <p:cNvPr id="78" name="内容占位符 77">
            <a:extLst>
              <a:ext uri="{FF2B5EF4-FFF2-40B4-BE49-F238E27FC236}">
                <a16:creationId xmlns:a16="http://schemas.microsoft.com/office/drawing/2014/main" id="{2D0BF46F-54D9-ABF7-EBE1-94C5072F28D0}"/>
              </a:ext>
            </a:extLst>
          </p:cNvPr>
          <p:cNvSpPr>
            <a:spLocks noGrp="1"/>
          </p:cNvSpPr>
          <p:nvPr>
            <p:ph sz="quarter" idx="11"/>
          </p:nvPr>
        </p:nvSpPr>
        <p:spPr>
          <a:xfrm>
            <a:off x="485999" y="900000"/>
            <a:ext cx="4086001" cy="3703500"/>
          </a:xfrm>
        </p:spPr>
        <p:txBody>
          <a:bodyPr/>
          <a:lstStyle/>
          <a:p>
            <a:r>
              <a:rPr lang="zh-CN" altLang="en-US" dirty="0"/>
              <a:t>常被称为互连网络 </a:t>
            </a:r>
            <a:r>
              <a:rPr lang="en-US" altLang="zh-CN" dirty="0"/>
              <a:t>(interconnection network)</a:t>
            </a:r>
          </a:p>
          <a:p>
            <a:r>
              <a:rPr lang="zh-CN" altLang="en-US" dirty="0"/>
              <a:t>它有 </a:t>
            </a:r>
            <a:r>
              <a:rPr lang="en-US" altLang="zh-CN" dirty="0"/>
              <a:t>2N </a:t>
            </a:r>
            <a:r>
              <a:rPr lang="zh-CN" altLang="en-US" dirty="0"/>
              <a:t>条总线，控制交叉节点可以使 </a:t>
            </a:r>
            <a:r>
              <a:rPr lang="en-US" altLang="zh-CN" dirty="0"/>
              <a:t>N </a:t>
            </a:r>
            <a:r>
              <a:rPr lang="zh-CN" altLang="en-US" dirty="0"/>
              <a:t>个输入端口和 </a:t>
            </a:r>
            <a:r>
              <a:rPr lang="en-US" altLang="zh-CN" dirty="0"/>
              <a:t>N </a:t>
            </a:r>
            <a:r>
              <a:rPr lang="zh-CN" altLang="en-US" dirty="0"/>
              <a:t>个输出端口相连接</a:t>
            </a:r>
          </a:p>
          <a:p>
            <a:r>
              <a:rPr lang="zh-CN" altLang="en-US" dirty="0"/>
              <a:t>当输入端口收到一个分组时，就将它发送到水平总线上</a:t>
            </a:r>
            <a:endParaRPr lang="en-US" altLang="zh-CN" dirty="0"/>
          </a:p>
          <a:p>
            <a:r>
              <a:rPr lang="zh-CN" altLang="en-US" dirty="0"/>
              <a:t>若通向输出端口的垂直总线空闲，则将垂直总线与水平总线接通，把该分组转发到这个输出端口。若输出端口已被占用，分组在输入端口排队等待</a:t>
            </a:r>
            <a:endParaRPr lang="en-US" altLang="zh-CN" dirty="0"/>
          </a:p>
          <a:p>
            <a:r>
              <a:rPr lang="zh-CN" altLang="en-US" dirty="0"/>
              <a:t>特点：是一种无阻塞的交换结构，分组可以转发到任何一个输出端口，只要这个输出端口没有被别的分组占用</a:t>
            </a:r>
          </a:p>
          <a:p>
            <a:endParaRPr lang="zh-CN" altLang="en-US" dirty="0"/>
          </a:p>
        </p:txBody>
      </p:sp>
    </p:spTree>
    <p:extLst>
      <p:ext uri="{BB962C8B-B14F-4D97-AF65-F5344CB8AC3E}">
        <p14:creationId xmlns:p14="http://schemas.microsoft.com/office/powerpoint/2010/main" val="2356395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500"/>
                                        <p:tgtEl>
                                          <p:spTgt spid="74"/>
                                        </p:tgtEl>
                                      </p:cBhvr>
                                    </p:animEffect>
                                  </p:childTnLst>
                                </p:cTn>
                              </p:par>
                            </p:childTnLst>
                          </p:cTn>
                        </p:par>
                        <p:par>
                          <p:cTn id="8" fill="hold">
                            <p:stCondLst>
                              <p:cond delay="1500"/>
                            </p:stCondLst>
                            <p:childTnLst>
                              <p:par>
                                <p:cTn id="9" presetID="22" presetClass="entr" presetSubtype="1" fill="hold" grpId="0" nodeType="afterEffect">
                                  <p:stCondLst>
                                    <p:cond delay="1000"/>
                                  </p:stCondLst>
                                  <p:childTnLst>
                                    <p:set>
                                      <p:cBhvr>
                                        <p:cTn id="10" dur="1" fill="hold">
                                          <p:stCondLst>
                                            <p:cond delay="0"/>
                                          </p:stCondLst>
                                        </p:cTn>
                                        <p:tgtEl>
                                          <p:spTgt spid="75"/>
                                        </p:tgtEl>
                                        <p:attrNameLst>
                                          <p:attrName>style.visibility</p:attrName>
                                        </p:attrNameLst>
                                      </p:cBhvr>
                                      <p:to>
                                        <p:strVal val="visible"/>
                                      </p:to>
                                    </p:set>
                                    <p:animEffect transition="in" filter="wipe(up)">
                                      <p:cBhvr>
                                        <p:cTn id="11" dur="15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75" grpId="0" animBg="1"/>
    </p:bldLst>
  </p:timing>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60D22E8A-68CE-2CD6-6250-B672C8ADEB11}"/>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F9022018-0E25-F727-450F-2B20FB03F262}"/>
              </a:ext>
            </a:extLst>
          </p:cNvPr>
          <p:cNvSpPr>
            <a:spLocks noGrp="1"/>
          </p:cNvSpPr>
          <p:nvPr>
            <p:ph type="title"/>
          </p:nvPr>
        </p:nvSpPr>
        <p:spPr>
          <a:xfrm>
            <a:off x="628650" y="1790739"/>
            <a:ext cx="4320000" cy="553998"/>
          </a:xfrm>
        </p:spPr>
        <p:txBody>
          <a:bodyPr/>
          <a:lstStyle/>
          <a:p>
            <a:r>
              <a:rPr lang="fr-FR" altLang="zh-CN" dirty="0"/>
              <a:t>4.7 </a:t>
            </a:r>
            <a:r>
              <a:rPr lang="en-US" altLang="zh-CN" dirty="0"/>
              <a:t>IP</a:t>
            </a:r>
            <a:r>
              <a:rPr lang="zh-CN" altLang="en-US" dirty="0"/>
              <a:t>多播</a:t>
            </a:r>
          </a:p>
        </p:txBody>
      </p:sp>
      <p:sp>
        <p:nvSpPr>
          <p:cNvPr id="3" name="文本占位符 2">
            <a:extLst>
              <a:ext uri="{FF2B5EF4-FFF2-40B4-BE49-F238E27FC236}">
                <a16:creationId xmlns:a16="http://schemas.microsoft.com/office/drawing/2014/main" id="{1D20726E-06C7-A16D-F930-68FB02A9C098}"/>
              </a:ext>
            </a:extLst>
          </p:cNvPr>
          <p:cNvSpPr>
            <a:spLocks noGrp="1"/>
          </p:cNvSpPr>
          <p:nvPr>
            <p:ph type="body" sz="quarter" idx="11"/>
          </p:nvPr>
        </p:nvSpPr>
        <p:spPr>
          <a:xfrm>
            <a:off x="628100" y="2344736"/>
            <a:ext cx="4320000" cy="1870075"/>
          </a:xfrm>
        </p:spPr>
        <p:txBody>
          <a:bodyPr/>
          <a:lstStyle/>
          <a:p>
            <a:r>
              <a:rPr lang="en-US" altLang="zh-CN" dirty="0"/>
              <a:t>· IP </a:t>
            </a:r>
            <a:r>
              <a:rPr lang="zh-CN" altLang="en-US" dirty="0"/>
              <a:t>多播的基本概念</a:t>
            </a:r>
            <a:endParaRPr lang="en-US" altLang="zh-CN" dirty="0"/>
          </a:p>
          <a:p>
            <a:r>
              <a:rPr lang="en-US" altLang="zh-CN" dirty="0"/>
              <a:t>· </a:t>
            </a:r>
            <a:r>
              <a:rPr lang="zh-CN" altLang="en-US" dirty="0"/>
              <a:t>在局域网上进行硬件多播</a:t>
            </a:r>
            <a:endParaRPr lang="en-US" altLang="zh-CN" dirty="0"/>
          </a:p>
          <a:p>
            <a:r>
              <a:rPr lang="en-US" altLang="zh-CN" dirty="0"/>
              <a:t>· </a:t>
            </a:r>
            <a:r>
              <a:rPr lang="zh-CN" altLang="en-US" dirty="0"/>
              <a:t>网际组管理协议和多播路由选择协议</a:t>
            </a:r>
          </a:p>
        </p:txBody>
      </p:sp>
    </p:spTree>
    <p:extLst>
      <p:ext uri="{BB962C8B-B14F-4D97-AF65-F5344CB8AC3E}">
        <p14:creationId xmlns:p14="http://schemas.microsoft.com/office/powerpoint/2010/main" val="1154285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3F9EE33-648F-7F64-A8A5-3C03C5483E33}"/>
              </a:ext>
            </a:extLst>
          </p:cNvPr>
          <p:cNvSpPr>
            <a:spLocks noGrp="1"/>
          </p:cNvSpPr>
          <p:nvPr>
            <p:ph type="title"/>
          </p:nvPr>
        </p:nvSpPr>
        <p:spPr>
          <a:xfrm>
            <a:off x="486000" y="550723"/>
            <a:ext cx="8172000" cy="338554"/>
          </a:xfrm>
        </p:spPr>
        <p:txBody>
          <a:bodyPr/>
          <a:lstStyle/>
          <a:p>
            <a:r>
              <a:rPr lang="en-US" altLang="zh-CN" dirty="0"/>
              <a:t>4.7.1  IP </a:t>
            </a:r>
            <a:r>
              <a:rPr lang="zh-CN" altLang="en-US" dirty="0"/>
              <a:t>多播的基本概念</a:t>
            </a:r>
          </a:p>
        </p:txBody>
      </p:sp>
      <p:sp>
        <p:nvSpPr>
          <p:cNvPr id="6" name="内容占位符 5">
            <a:extLst>
              <a:ext uri="{FF2B5EF4-FFF2-40B4-BE49-F238E27FC236}">
                <a16:creationId xmlns:a16="http://schemas.microsoft.com/office/drawing/2014/main" id="{A2CD543C-20CB-8EB2-10E9-D3E9FB007514}"/>
              </a:ext>
            </a:extLst>
          </p:cNvPr>
          <p:cNvSpPr>
            <a:spLocks noGrp="1"/>
          </p:cNvSpPr>
          <p:nvPr>
            <p:ph sz="quarter" idx="11"/>
          </p:nvPr>
        </p:nvSpPr>
        <p:spPr>
          <a:xfrm>
            <a:off x="486000" y="900000"/>
            <a:ext cx="8172000" cy="3703500"/>
          </a:xfrm>
        </p:spPr>
        <p:txBody>
          <a:bodyPr/>
          <a:lstStyle/>
          <a:p>
            <a:r>
              <a:rPr lang="en-US" altLang="zh-CN" dirty="0"/>
              <a:t>1988 </a:t>
            </a:r>
            <a:r>
              <a:rPr lang="zh-CN" altLang="en-US" dirty="0"/>
              <a:t>年，</a:t>
            </a:r>
            <a:r>
              <a:rPr lang="en-US" altLang="zh-CN" dirty="0"/>
              <a:t>Steve Deering </a:t>
            </a:r>
            <a:r>
              <a:rPr lang="zh-CN" altLang="en-US" dirty="0"/>
              <a:t>首次提出 </a:t>
            </a:r>
            <a:r>
              <a:rPr lang="en-US" altLang="zh-CN" dirty="0"/>
              <a:t>IP </a:t>
            </a:r>
            <a:r>
              <a:rPr lang="zh-CN" altLang="en-US" dirty="0"/>
              <a:t>多播的概念</a:t>
            </a:r>
            <a:endParaRPr lang="en-US" altLang="zh-CN" dirty="0"/>
          </a:p>
          <a:p>
            <a:r>
              <a:rPr lang="zh-CN" altLang="en-US" dirty="0"/>
              <a:t>多播 </a:t>
            </a:r>
            <a:r>
              <a:rPr lang="en-US" altLang="zh-CN" dirty="0"/>
              <a:t>(multicast)</a:t>
            </a:r>
            <a:r>
              <a:rPr lang="zh-CN" altLang="en-US" dirty="0"/>
              <a:t>：以前曾译为组播</a:t>
            </a:r>
          </a:p>
          <a:p>
            <a:r>
              <a:rPr lang="zh-CN" altLang="en-US" dirty="0"/>
              <a:t>目的：更好地支持一对多通信</a:t>
            </a:r>
          </a:p>
          <a:p>
            <a:r>
              <a:rPr lang="zh-CN" altLang="en-US" dirty="0"/>
              <a:t>一对多通信：一个源点发送到许多个终点</a:t>
            </a:r>
          </a:p>
          <a:p>
            <a:endParaRPr lang="zh-CN" altLang="en-US" dirty="0"/>
          </a:p>
        </p:txBody>
      </p:sp>
    </p:spTree>
    <p:extLst>
      <p:ext uri="{BB962C8B-B14F-4D97-AF65-F5344CB8AC3E}">
        <p14:creationId xmlns:p14="http://schemas.microsoft.com/office/powerpoint/2010/main" val="2219620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a:extLst>
              <a:ext uri="{FF2B5EF4-FFF2-40B4-BE49-F238E27FC236}">
                <a16:creationId xmlns:a16="http://schemas.microsoft.com/office/drawing/2014/main" id="{9B26381C-8879-46E0-2C0B-33F7738C71BA}"/>
              </a:ext>
            </a:extLst>
          </p:cNvPr>
          <p:cNvSpPr>
            <a:spLocks noGrp="1"/>
          </p:cNvSpPr>
          <p:nvPr>
            <p:ph sz="quarter" idx="11"/>
          </p:nvPr>
        </p:nvSpPr>
        <p:spPr>
          <a:xfrm>
            <a:off x="486000" y="900000"/>
            <a:ext cx="8172000" cy="3703500"/>
          </a:xfrm>
        </p:spPr>
        <p:txBody>
          <a:bodyPr/>
          <a:lstStyle/>
          <a:p>
            <a:r>
              <a:rPr lang="zh-CN" altLang="zh-CN" dirty="0"/>
              <a:t>视频节目</a:t>
            </a:r>
            <a:r>
              <a:rPr lang="zh-CN" altLang="en-US" dirty="0"/>
              <a:t>订阅，如果采用</a:t>
            </a:r>
            <a:r>
              <a:rPr lang="zh-CN" altLang="zh-CN" dirty="0"/>
              <a:t>单播方式</a:t>
            </a:r>
            <a:r>
              <a:rPr lang="zh-CN" altLang="en-US" dirty="0"/>
              <a:t>，</a:t>
            </a:r>
            <a:r>
              <a:rPr lang="zh-CN" altLang="zh-CN" dirty="0"/>
              <a:t>向</a:t>
            </a:r>
            <a:r>
              <a:rPr lang="en-US" altLang="zh-CN" dirty="0"/>
              <a:t> 90 </a:t>
            </a:r>
            <a:r>
              <a:rPr lang="zh-CN" altLang="zh-CN" dirty="0"/>
              <a:t>台主机传送</a:t>
            </a:r>
            <a:r>
              <a:rPr lang="zh-CN" altLang="en-US" dirty="0"/>
              <a:t>，</a:t>
            </a:r>
            <a:r>
              <a:rPr lang="zh-CN" altLang="zh-CN" dirty="0"/>
              <a:t>需要发送</a:t>
            </a:r>
            <a:r>
              <a:rPr lang="en-US" altLang="zh-CN" dirty="0"/>
              <a:t> 90 </a:t>
            </a:r>
            <a:r>
              <a:rPr lang="zh-CN" altLang="zh-CN" dirty="0"/>
              <a:t>个单播</a:t>
            </a:r>
            <a:endParaRPr lang="zh-CN" altLang="en-US" dirty="0"/>
          </a:p>
          <a:p>
            <a:endParaRPr lang="zh-CN" altLang="en-US" dirty="0"/>
          </a:p>
        </p:txBody>
      </p:sp>
      <p:sp>
        <p:nvSpPr>
          <p:cNvPr id="23" name="Text Box 67"/>
          <p:cNvSpPr txBox="1">
            <a:spLocks noChangeArrowheads="1"/>
          </p:cNvSpPr>
          <p:nvPr/>
        </p:nvSpPr>
        <p:spPr bwMode="auto">
          <a:xfrm>
            <a:off x="1625369" y="1857497"/>
            <a:ext cx="1136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视频服务器 </a:t>
            </a:r>
            <a:r>
              <a:rPr kumimoji="1" lang="en-US" altLang="zh-CN" sz="1200" dirty="0">
                <a:latin typeface="Montserrat" panose="00000500000000000000" pitchFamily="2" charset="0"/>
                <a:ea typeface="微软雅黑 Light" panose="020B0502040204020203" pitchFamily="34" charset="-122"/>
              </a:rPr>
              <a:t>M</a:t>
            </a:r>
          </a:p>
        </p:txBody>
      </p:sp>
      <p:sp>
        <p:nvSpPr>
          <p:cNvPr id="5" name="标题 4">
            <a:extLst>
              <a:ext uri="{FF2B5EF4-FFF2-40B4-BE49-F238E27FC236}">
                <a16:creationId xmlns:a16="http://schemas.microsoft.com/office/drawing/2014/main" id="{3BFCB0D6-93DC-1BED-F871-A167B9817341}"/>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pic>
        <p:nvPicPr>
          <p:cNvPr id="85" name="图片 8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876298" y="1691988"/>
            <a:ext cx="430439" cy="602615"/>
          </a:xfrm>
          <a:prstGeom prst="rect">
            <a:avLst/>
          </a:prstGeom>
        </p:spPr>
      </p:pic>
      <p:sp>
        <p:nvSpPr>
          <p:cNvPr id="6" name="Line 77"/>
          <p:cNvSpPr>
            <a:spLocks noChangeShapeType="1"/>
          </p:cNvSpPr>
          <p:nvPr/>
        </p:nvSpPr>
        <p:spPr bwMode="auto">
          <a:xfrm>
            <a:off x="2895559" y="3911903"/>
            <a:ext cx="220750"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 name="Line 52"/>
          <p:cNvSpPr>
            <a:spLocks noChangeShapeType="1"/>
          </p:cNvSpPr>
          <p:nvPr/>
        </p:nvSpPr>
        <p:spPr bwMode="auto">
          <a:xfrm flipV="1">
            <a:off x="2943754" y="2516843"/>
            <a:ext cx="954839"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 name="Line 53"/>
          <p:cNvSpPr>
            <a:spLocks noChangeShapeType="1"/>
          </p:cNvSpPr>
          <p:nvPr/>
        </p:nvSpPr>
        <p:spPr bwMode="auto">
          <a:xfrm flipV="1">
            <a:off x="3963030" y="1993295"/>
            <a:ext cx="0" cy="39918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0" name="Line 54"/>
          <p:cNvSpPr>
            <a:spLocks noChangeShapeType="1"/>
          </p:cNvSpPr>
          <p:nvPr/>
        </p:nvSpPr>
        <p:spPr bwMode="auto">
          <a:xfrm flipH="1" flipV="1">
            <a:off x="3963030" y="2516843"/>
            <a:ext cx="0"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Line 55"/>
          <p:cNvSpPr>
            <a:spLocks noChangeShapeType="1"/>
          </p:cNvSpPr>
          <p:nvPr/>
        </p:nvSpPr>
        <p:spPr bwMode="auto">
          <a:xfrm>
            <a:off x="5174444"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Line 56"/>
          <p:cNvSpPr>
            <a:spLocks noChangeShapeType="1"/>
          </p:cNvSpPr>
          <p:nvPr/>
        </p:nvSpPr>
        <p:spPr bwMode="auto">
          <a:xfrm flipV="1">
            <a:off x="3963030"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Line 57"/>
          <p:cNvSpPr>
            <a:spLocks noChangeShapeType="1"/>
          </p:cNvSpPr>
          <p:nvPr/>
        </p:nvSpPr>
        <p:spPr bwMode="auto">
          <a:xfrm>
            <a:off x="2880489"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Line 58"/>
          <p:cNvSpPr>
            <a:spLocks noChangeShapeType="1"/>
          </p:cNvSpPr>
          <p:nvPr/>
        </p:nvSpPr>
        <p:spPr bwMode="auto">
          <a:xfrm>
            <a:off x="4091903" y="2516843"/>
            <a:ext cx="1082541"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 name="AutoShape 60"/>
          <p:cNvSpPr>
            <a:spLocks noChangeArrowheads="1"/>
          </p:cNvSpPr>
          <p:nvPr/>
        </p:nvSpPr>
        <p:spPr bwMode="auto">
          <a:xfrm rot="5400000">
            <a:off x="3893591" y="2093317"/>
            <a:ext cx="343904" cy="144105"/>
          </a:xfrm>
          <a:prstGeom prst="rightArrow">
            <a:avLst>
              <a:gd name="adj1" fmla="val 37500"/>
              <a:gd name="adj2" fmla="val 103881"/>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17" name="AutoShape 61"/>
          <p:cNvSpPr>
            <a:spLocks noChangeArrowheads="1"/>
          </p:cNvSpPr>
          <p:nvPr/>
        </p:nvSpPr>
        <p:spPr bwMode="auto">
          <a:xfrm rot="8740270">
            <a:off x="3196816" y="2673654"/>
            <a:ext cx="354989" cy="139509"/>
          </a:xfrm>
          <a:prstGeom prst="rightArrow">
            <a:avLst>
              <a:gd name="adj1" fmla="val 37500"/>
              <a:gd name="adj2" fmla="val 94377"/>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pic>
        <p:nvPicPr>
          <p:cNvPr id="18" name="Picture 6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2381660"/>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9" name="Text Box 63"/>
          <p:cNvSpPr txBox="1">
            <a:spLocks noChangeArrowheads="1"/>
          </p:cNvSpPr>
          <p:nvPr/>
        </p:nvSpPr>
        <p:spPr bwMode="auto">
          <a:xfrm>
            <a:off x="3516658" y="2082096"/>
            <a:ext cx="3305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Montserrat" panose="00000500000000000000" pitchFamily="2" charset="0"/>
                <a:ea typeface="微软雅黑 Light" panose="020B0502040204020203" pitchFamily="34" charset="-122"/>
              </a:rPr>
              <a:t>R</a:t>
            </a:r>
            <a:r>
              <a:rPr kumimoji="1" lang="en-US" altLang="zh-CN" sz="1200" b="1" baseline="-25000" dirty="0">
                <a:latin typeface="Montserrat" panose="00000500000000000000" pitchFamily="2" charset="0"/>
                <a:ea typeface="微软雅黑 Light" panose="020B0502040204020203" pitchFamily="34" charset="-122"/>
              </a:rPr>
              <a:t>1</a:t>
            </a:r>
            <a:endParaRPr kumimoji="1" lang="en-US" altLang="zh-CN" sz="1200" b="1" dirty="0">
              <a:latin typeface="Montserrat" panose="00000500000000000000" pitchFamily="2" charset="0"/>
              <a:ea typeface="微软雅黑 Light" panose="020B0502040204020203" pitchFamily="34" charset="-122"/>
            </a:endParaRPr>
          </a:p>
        </p:txBody>
      </p:sp>
      <p:sp>
        <p:nvSpPr>
          <p:cNvPr id="20" name="Text Box 64"/>
          <p:cNvSpPr txBox="1">
            <a:spLocks noChangeArrowheads="1"/>
          </p:cNvSpPr>
          <p:nvPr/>
        </p:nvSpPr>
        <p:spPr bwMode="auto">
          <a:xfrm>
            <a:off x="3480339" y="2865073"/>
            <a:ext cx="34977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3</a:t>
            </a:r>
            <a:endParaRPr kumimoji="1" lang="en-US" altLang="zh-CN" sz="1200" b="1">
              <a:latin typeface="Montserrat" panose="00000500000000000000" pitchFamily="2" charset="0"/>
              <a:ea typeface="微软雅黑 Light" panose="020B0502040204020203" pitchFamily="34" charset="-122"/>
            </a:endParaRPr>
          </a:p>
        </p:txBody>
      </p:sp>
      <p:sp>
        <p:nvSpPr>
          <p:cNvPr id="21" name="Text Box 65"/>
          <p:cNvSpPr txBox="1">
            <a:spLocks noChangeArrowheads="1"/>
          </p:cNvSpPr>
          <p:nvPr/>
        </p:nvSpPr>
        <p:spPr bwMode="auto">
          <a:xfrm>
            <a:off x="4649575" y="2915900"/>
            <a:ext cx="360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4</a:t>
            </a:r>
            <a:endParaRPr kumimoji="1" lang="en-US" altLang="zh-CN" sz="1200" b="1">
              <a:latin typeface="Montserrat" panose="00000500000000000000" pitchFamily="2" charset="0"/>
              <a:ea typeface="微软雅黑 Light" panose="020B0502040204020203" pitchFamily="34" charset="-122"/>
            </a:endParaRPr>
          </a:p>
        </p:txBody>
      </p:sp>
      <p:sp>
        <p:nvSpPr>
          <p:cNvPr id="22" name="Text Box 66"/>
          <p:cNvSpPr txBox="1">
            <a:spLocks noChangeArrowheads="1"/>
          </p:cNvSpPr>
          <p:nvPr/>
        </p:nvSpPr>
        <p:spPr bwMode="auto">
          <a:xfrm>
            <a:off x="2370853" y="28845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2</a:t>
            </a:r>
            <a:endParaRPr kumimoji="1" lang="en-US" altLang="zh-CN" sz="1200" b="1">
              <a:latin typeface="Montserrat" panose="00000500000000000000" pitchFamily="2" charset="0"/>
              <a:ea typeface="微软雅黑 Light" panose="020B0502040204020203" pitchFamily="34" charset="-122"/>
            </a:endParaRPr>
          </a:p>
        </p:txBody>
      </p:sp>
      <p:pic>
        <p:nvPicPr>
          <p:cNvPr id="24"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83477" y="3038107"/>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3038107"/>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89522" y="3060817"/>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1" name="AutoShape 75"/>
          <p:cNvSpPr>
            <a:spLocks noChangeArrowheads="1"/>
          </p:cNvSpPr>
          <p:nvPr/>
        </p:nvSpPr>
        <p:spPr bwMode="auto">
          <a:xfrm rot="1858546">
            <a:off x="4456265" y="2640129"/>
            <a:ext cx="356161" cy="140590"/>
          </a:xfrm>
          <a:prstGeom prst="rightArrow">
            <a:avLst>
              <a:gd name="adj1" fmla="val 37500"/>
              <a:gd name="adj2" fmla="val 93961"/>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32" name="Line 76"/>
          <p:cNvSpPr>
            <a:spLocks noChangeShapeType="1"/>
          </p:cNvSpPr>
          <p:nvPr/>
        </p:nvSpPr>
        <p:spPr bwMode="auto">
          <a:xfrm flipH="1">
            <a:off x="2498553" y="3898587"/>
            <a:ext cx="251687"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3" name="Line 78"/>
          <p:cNvSpPr>
            <a:spLocks noChangeShapeType="1"/>
          </p:cNvSpPr>
          <p:nvPr/>
        </p:nvSpPr>
        <p:spPr bwMode="auto">
          <a:xfrm flipH="1">
            <a:off x="3644359" y="3911903"/>
            <a:ext cx="198040" cy="30929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4" name="Line 79"/>
          <p:cNvSpPr>
            <a:spLocks noChangeShapeType="1"/>
          </p:cNvSpPr>
          <p:nvPr/>
        </p:nvSpPr>
        <p:spPr bwMode="auto">
          <a:xfrm>
            <a:off x="4034779" y="3911069"/>
            <a:ext cx="292966" cy="3299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5" name="Line 80"/>
          <p:cNvSpPr>
            <a:spLocks noChangeShapeType="1"/>
          </p:cNvSpPr>
          <p:nvPr/>
        </p:nvSpPr>
        <p:spPr bwMode="auto">
          <a:xfrm flipH="1">
            <a:off x="4887784" y="3898586"/>
            <a:ext cx="221079" cy="30796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6" name="Line 81"/>
          <p:cNvSpPr>
            <a:spLocks noChangeShapeType="1"/>
          </p:cNvSpPr>
          <p:nvPr/>
        </p:nvSpPr>
        <p:spPr bwMode="auto">
          <a:xfrm>
            <a:off x="5280117" y="3909263"/>
            <a:ext cx="339527" cy="3119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2" name="Text Box 88"/>
          <p:cNvSpPr txBox="1">
            <a:spLocks noChangeArrowheads="1"/>
          </p:cNvSpPr>
          <p:nvPr/>
        </p:nvSpPr>
        <p:spPr bwMode="auto">
          <a:xfrm>
            <a:off x="2707964"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43" name="Text Box 89"/>
          <p:cNvSpPr txBox="1">
            <a:spLocks noChangeArrowheads="1"/>
          </p:cNvSpPr>
          <p:nvPr/>
        </p:nvSpPr>
        <p:spPr bwMode="auto">
          <a:xfrm>
            <a:off x="5183615"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a:t>
            </a:r>
          </a:p>
        </p:txBody>
      </p:sp>
      <p:sp>
        <p:nvSpPr>
          <p:cNvPr id="44" name="Text Box 90"/>
          <p:cNvSpPr txBox="1">
            <a:spLocks noChangeArrowheads="1"/>
          </p:cNvSpPr>
          <p:nvPr/>
        </p:nvSpPr>
        <p:spPr bwMode="auto">
          <a:xfrm>
            <a:off x="3846459" y="4145823"/>
            <a:ext cx="4334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45" name="Text Box 91"/>
          <p:cNvSpPr txBox="1">
            <a:spLocks noChangeArrowheads="1"/>
          </p:cNvSpPr>
          <p:nvPr/>
        </p:nvSpPr>
        <p:spPr bwMode="auto">
          <a:xfrm>
            <a:off x="3125350" y="3291167"/>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6" name="Text Box 92"/>
          <p:cNvSpPr txBox="1">
            <a:spLocks noChangeArrowheads="1"/>
          </p:cNvSpPr>
          <p:nvPr/>
        </p:nvSpPr>
        <p:spPr bwMode="auto">
          <a:xfrm>
            <a:off x="4171572" y="3258724"/>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7" name="Text Box 93"/>
          <p:cNvSpPr txBox="1">
            <a:spLocks noChangeArrowheads="1"/>
          </p:cNvSpPr>
          <p:nvPr/>
        </p:nvSpPr>
        <p:spPr bwMode="auto">
          <a:xfrm>
            <a:off x="5411104" y="3210057"/>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8" name="Text Box 94"/>
          <p:cNvSpPr txBox="1">
            <a:spLocks noChangeArrowheads="1"/>
          </p:cNvSpPr>
          <p:nvPr/>
        </p:nvSpPr>
        <p:spPr bwMode="auto">
          <a:xfrm>
            <a:off x="4756188" y="2376255"/>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9" name="Text Box 95"/>
          <p:cNvSpPr txBox="1">
            <a:spLocks noChangeArrowheads="1"/>
          </p:cNvSpPr>
          <p:nvPr/>
        </p:nvSpPr>
        <p:spPr bwMode="auto">
          <a:xfrm>
            <a:off x="4197346" y="2751519"/>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30 </a:t>
            </a:r>
            <a:r>
              <a:rPr kumimoji="1" lang="zh-CN" altLang="en-US" sz="1000" dirty="0">
                <a:latin typeface="Montserrat" panose="00000500000000000000" pitchFamily="2" charset="0"/>
                <a:ea typeface="微软雅黑 Light" panose="020B0502040204020203" pitchFamily="34" charset="-122"/>
              </a:rPr>
              <a:t>个</a:t>
            </a:r>
          </a:p>
        </p:txBody>
      </p:sp>
      <p:sp>
        <p:nvSpPr>
          <p:cNvPr id="50" name="Text Box 96"/>
          <p:cNvSpPr txBox="1">
            <a:spLocks noChangeArrowheads="1"/>
          </p:cNvSpPr>
          <p:nvPr/>
        </p:nvSpPr>
        <p:spPr bwMode="auto">
          <a:xfrm>
            <a:off x="2767582" y="2376255"/>
            <a:ext cx="503663"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000" dirty="0">
                <a:latin typeface="Montserrat" panose="00000500000000000000" pitchFamily="2" charset="0"/>
                <a:ea typeface="微软雅黑 Light" panose="020B0502040204020203" pitchFamily="34" charset="-122"/>
              </a:rPr>
              <a:t>30 </a:t>
            </a:r>
            <a:r>
              <a:rPr kumimoji="1" lang="zh-CN" altLang="en-US" sz="1000" dirty="0">
                <a:latin typeface="Montserrat" panose="00000500000000000000" pitchFamily="2" charset="0"/>
                <a:ea typeface="微软雅黑 Light" panose="020B0502040204020203" pitchFamily="34" charset="-122"/>
              </a:rPr>
              <a:t>个</a:t>
            </a:r>
          </a:p>
        </p:txBody>
      </p:sp>
      <p:sp>
        <p:nvSpPr>
          <p:cNvPr id="51" name="Text Box 97"/>
          <p:cNvSpPr txBox="1">
            <a:spLocks noChangeArrowheads="1"/>
          </p:cNvSpPr>
          <p:nvPr/>
        </p:nvSpPr>
        <p:spPr bwMode="auto">
          <a:xfrm>
            <a:off x="4241866" y="1854989"/>
            <a:ext cx="51007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90 </a:t>
            </a:r>
            <a:r>
              <a:rPr kumimoji="1" lang="zh-CN" altLang="en-US" sz="1000" dirty="0">
                <a:latin typeface="Montserrat" panose="00000500000000000000" pitchFamily="2" charset="0"/>
                <a:ea typeface="微软雅黑 Light" panose="020B0502040204020203" pitchFamily="34" charset="-122"/>
              </a:rPr>
              <a:t>个</a:t>
            </a:r>
          </a:p>
        </p:txBody>
      </p:sp>
      <p:sp>
        <p:nvSpPr>
          <p:cNvPr id="52" name="AutoShape 99"/>
          <p:cNvSpPr>
            <a:spLocks noChangeArrowheads="1"/>
          </p:cNvSpPr>
          <p:nvPr/>
        </p:nvSpPr>
        <p:spPr bwMode="auto">
          <a:xfrm rot="5400000">
            <a:off x="3961498" y="2136530"/>
            <a:ext cx="342823"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3" name="AutoShape 100"/>
          <p:cNvSpPr>
            <a:spLocks noChangeArrowheads="1"/>
          </p:cNvSpPr>
          <p:nvPr/>
        </p:nvSpPr>
        <p:spPr bwMode="auto">
          <a:xfrm rot="5400000">
            <a:off x="4028863" y="2179293"/>
            <a:ext cx="342822" cy="144104"/>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4" name="AutoShape 101"/>
          <p:cNvSpPr>
            <a:spLocks noChangeArrowheads="1"/>
          </p:cNvSpPr>
          <p:nvPr/>
        </p:nvSpPr>
        <p:spPr bwMode="auto">
          <a:xfrm rot="1858546">
            <a:off x="4537104" y="2622827"/>
            <a:ext cx="354989"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5" name="AutoShape 102"/>
          <p:cNvSpPr>
            <a:spLocks noChangeArrowheads="1"/>
          </p:cNvSpPr>
          <p:nvPr/>
        </p:nvSpPr>
        <p:spPr bwMode="auto">
          <a:xfrm rot="1858546">
            <a:off x="4616772" y="2605523"/>
            <a:ext cx="354989" cy="139508"/>
          </a:xfrm>
          <a:prstGeom prst="rightArrow">
            <a:avLst>
              <a:gd name="adj1" fmla="val 37500"/>
              <a:gd name="adj2" fmla="val 94378"/>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nvGrpSpPr>
          <p:cNvPr id="56" name="Group 103"/>
          <p:cNvGrpSpPr>
            <a:grpSpLocks/>
          </p:cNvGrpSpPr>
          <p:nvPr/>
        </p:nvGrpSpPr>
        <p:grpSpPr bwMode="auto">
          <a:xfrm>
            <a:off x="5206077" y="3268457"/>
            <a:ext cx="301096" cy="446643"/>
            <a:chOff x="2222" y="1578"/>
            <a:chExt cx="215" cy="328"/>
          </a:xfrm>
          <a:solidFill>
            <a:srgbClr val="00FF99"/>
          </a:solidFill>
        </p:grpSpPr>
        <p:sp>
          <p:nvSpPr>
            <p:cNvPr id="74" name="AutoShape 104"/>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5" name="AutoShape 105"/>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6" name="AutoShape 106"/>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sp>
        <p:nvSpPr>
          <p:cNvPr id="57" name="AutoShape 107"/>
          <p:cNvSpPr>
            <a:spLocks noChangeArrowheads="1"/>
          </p:cNvSpPr>
          <p:nvPr/>
        </p:nvSpPr>
        <p:spPr bwMode="auto">
          <a:xfrm rot="5400000">
            <a:off x="4096229" y="2221965"/>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8" name="AutoShape 108"/>
          <p:cNvSpPr>
            <a:spLocks noChangeArrowheads="1"/>
          </p:cNvSpPr>
          <p:nvPr/>
        </p:nvSpPr>
        <p:spPr bwMode="auto">
          <a:xfrm rot="5400000">
            <a:off x="4163595" y="2264728"/>
            <a:ext cx="342823" cy="144105"/>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9" name="AutoShape 109"/>
          <p:cNvSpPr>
            <a:spLocks noChangeArrowheads="1"/>
          </p:cNvSpPr>
          <p:nvPr/>
        </p:nvSpPr>
        <p:spPr bwMode="auto">
          <a:xfrm rot="5400000">
            <a:off x="4229789" y="2306319"/>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0" name="AutoShape 110"/>
          <p:cNvSpPr>
            <a:spLocks noChangeArrowheads="1"/>
          </p:cNvSpPr>
          <p:nvPr/>
        </p:nvSpPr>
        <p:spPr bwMode="auto">
          <a:xfrm rot="8740270">
            <a:off x="3134723" y="2648782"/>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1" name="AutoShape 111"/>
          <p:cNvSpPr>
            <a:spLocks noChangeArrowheads="1"/>
          </p:cNvSpPr>
          <p:nvPr/>
        </p:nvSpPr>
        <p:spPr bwMode="auto">
          <a:xfrm rot="8740270">
            <a:off x="3071457" y="2622827"/>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nvGrpSpPr>
          <p:cNvPr id="62" name="Group 112"/>
          <p:cNvGrpSpPr>
            <a:grpSpLocks/>
          </p:cNvGrpSpPr>
          <p:nvPr/>
        </p:nvGrpSpPr>
        <p:grpSpPr bwMode="auto">
          <a:xfrm>
            <a:off x="3963030" y="3257642"/>
            <a:ext cx="302268" cy="446643"/>
            <a:chOff x="2222" y="1578"/>
            <a:chExt cx="215" cy="328"/>
          </a:xfrm>
          <a:solidFill>
            <a:srgbClr val="00FF99"/>
          </a:solidFill>
        </p:grpSpPr>
        <p:sp>
          <p:nvSpPr>
            <p:cNvPr id="71" name="AutoShape 113"/>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2" name="AutoShape 114"/>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3" name="AutoShape 115"/>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grpSp>
        <p:nvGrpSpPr>
          <p:cNvPr id="63" name="Group 116"/>
          <p:cNvGrpSpPr>
            <a:grpSpLocks/>
          </p:cNvGrpSpPr>
          <p:nvPr/>
        </p:nvGrpSpPr>
        <p:grpSpPr bwMode="auto">
          <a:xfrm>
            <a:off x="2895721" y="3305226"/>
            <a:ext cx="302268" cy="446643"/>
            <a:chOff x="2222" y="1578"/>
            <a:chExt cx="215" cy="328"/>
          </a:xfrm>
          <a:solidFill>
            <a:srgbClr val="00FF99"/>
          </a:solidFill>
        </p:grpSpPr>
        <p:sp>
          <p:nvSpPr>
            <p:cNvPr id="68" name="AutoShape 117"/>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9" name="AutoShape 118"/>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0" name="AutoShape 119"/>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grpSp>
        <p:nvGrpSpPr>
          <p:cNvPr id="64" name="Group 120"/>
          <p:cNvGrpSpPr>
            <a:grpSpLocks/>
          </p:cNvGrpSpPr>
          <p:nvPr/>
        </p:nvGrpSpPr>
        <p:grpSpPr bwMode="auto">
          <a:xfrm>
            <a:off x="3963030" y="2626070"/>
            <a:ext cx="302268" cy="446643"/>
            <a:chOff x="2222" y="1578"/>
            <a:chExt cx="215" cy="328"/>
          </a:xfrm>
          <a:solidFill>
            <a:srgbClr val="00FF99"/>
          </a:solidFill>
        </p:grpSpPr>
        <p:sp>
          <p:nvSpPr>
            <p:cNvPr id="65" name="AutoShape 121"/>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6" name="AutoShape 122"/>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7" name="AutoShape 123"/>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cxnSp>
        <p:nvCxnSpPr>
          <p:cNvPr id="87" name="直接连接符 86"/>
          <p:cNvCxnSpPr>
            <a:stCxn id="9" idx="1"/>
            <a:endCxn id="85" idx="3"/>
          </p:cNvCxnSpPr>
          <p:nvPr/>
        </p:nvCxnSpPr>
        <p:spPr>
          <a:xfrm flipH="1">
            <a:off x="3306737" y="1993295"/>
            <a:ext cx="656294" cy="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86"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62548"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771254"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9"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82349"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 name="图形 29" descr="计算机">
            <a:extLst>
              <a:ext uri="{FF2B5EF4-FFF2-40B4-BE49-F238E27FC236}">
                <a16:creationId xmlns:a16="http://schemas.microsoft.com/office/drawing/2014/main" id="{6982C65B-8D62-9478-5D49-B7DC3AFA970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353779" y="4165604"/>
            <a:ext cx="360000" cy="360000"/>
          </a:xfrm>
          <a:prstGeom prst="rect">
            <a:avLst/>
          </a:prstGeom>
        </p:spPr>
      </p:pic>
      <p:pic>
        <p:nvPicPr>
          <p:cNvPr id="37" name="图形 36" descr="计算机">
            <a:extLst>
              <a:ext uri="{FF2B5EF4-FFF2-40B4-BE49-F238E27FC236}">
                <a16:creationId xmlns:a16="http://schemas.microsoft.com/office/drawing/2014/main" id="{435D1DF9-8E61-F07C-46F0-AE99866AC19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984598" y="4165604"/>
            <a:ext cx="360000" cy="360000"/>
          </a:xfrm>
          <a:prstGeom prst="rect">
            <a:avLst/>
          </a:prstGeom>
        </p:spPr>
      </p:pic>
      <p:pic>
        <p:nvPicPr>
          <p:cNvPr id="38" name="图形 37" descr="计算机">
            <a:extLst>
              <a:ext uri="{FF2B5EF4-FFF2-40B4-BE49-F238E27FC236}">
                <a16:creationId xmlns:a16="http://schemas.microsoft.com/office/drawing/2014/main" id="{4FCF3D8C-15A6-4D01-66C8-DFAF1697A05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20167" y="4165604"/>
            <a:ext cx="360000" cy="360000"/>
          </a:xfrm>
          <a:prstGeom prst="rect">
            <a:avLst/>
          </a:prstGeom>
        </p:spPr>
      </p:pic>
      <p:pic>
        <p:nvPicPr>
          <p:cNvPr id="39" name="图形 38" descr="计算机">
            <a:extLst>
              <a:ext uri="{FF2B5EF4-FFF2-40B4-BE49-F238E27FC236}">
                <a16:creationId xmlns:a16="http://schemas.microsoft.com/office/drawing/2014/main" id="{C4E52E9E-C39F-F58B-CECD-BAD4EC0E7A5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246236" y="4165604"/>
            <a:ext cx="360000" cy="360000"/>
          </a:xfrm>
          <a:prstGeom prst="rect">
            <a:avLst/>
          </a:prstGeom>
        </p:spPr>
      </p:pic>
      <p:pic>
        <p:nvPicPr>
          <p:cNvPr id="40" name="图形 39" descr="计算机">
            <a:extLst>
              <a:ext uri="{FF2B5EF4-FFF2-40B4-BE49-F238E27FC236}">
                <a16:creationId xmlns:a16="http://schemas.microsoft.com/office/drawing/2014/main" id="{69280483-35FC-AA79-9810-508EA379F5E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781805" y="4165604"/>
            <a:ext cx="360000" cy="360000"/>
          </a:xfrm>
          <a:prstGeom prst="rect">
            <a:avLst/>
          </a:prstGeom>
        </p:spPr>
      </p:pic>
      <p:pic>
        <p:nvPicPr>
          <p:cNvPr id="41" name="图形 40" descr="计算机">
            <a:extLst>
              <a:ext uri="{FF2B5EF4-FFF2-40B4-BE49-F238E27FC236}">
                <a16:creationId xmlns:a16="http://schemas.microsoft.com/office/drawing/2014/main" id="{3FD07D30-CA3B-B530-3041-CDE9E823A50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07874" y="4165604"/>
            <a:ext cx="360000" cy="360000"/>
          </a:xfrm>
          <a:prstGeom prst="rect">
            <a:avLst/>
          </a:prstGeom>
        </p:spPr>
      </p:pic>
    </p:spTree>
    <p:extLst>
      <p:ext uri="{BB962C8B-B14F-4D97-AF65-F5344CB8AC3E}">
        <p14:creationId xmlns:p14="http://schemas.microsoft.com/office/powerpoint/2010/main" val="1527426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7ACD3D4-C31C-1454-65F4-A48ACE808DFC}"/>
              </a:ext>
            </a:extLst>
          </p:cNvPr>
          <p:cNvSpPr>
            <a:spLocks noGrp="1"/>
          </p:cNvSpPr>
          <p:nvPr>
            <p:ph type="title"/>
          </p:nvPr>
        </p:nvSpPr>
        <p:spPr>
          <a:xfrm>
            <a:off x="486000" y="550723"/>
            <a:ext cx="8172000" cy="338554"/>
          </a:xfrm>
        </p:spPr>
        <p:txBody>
          <a:bodyPr/>
          <a:lstStyle/>
          <a:p>
            <a:r>
              <a:rPr lang="zh-CN" altLang="en-US" dirty="0"/>
              <a:t>多播可大大节约网络资源</a:t>
            </a:r>
          </a:p>
        </p:txBody>
      </p:sp>
      <p:sp>
        <p:nvSpPr>
          <p:cNvPr id="2" name="内容占位符 1">
            <a:extLst>
              <a:ext uri="{FF2B5EF4-FFF2-40B4-BE49-F238E27FC236}">
                <a16:creationId xmlns:a16="http://schemas.microsoft.com/office/drawing/2014/main" id="{43926205-444B-55D7-AE9F-0851A7FAF229}"/>
              </a:ext>
            </a:extLst>
          </p:cNvPr>
          <p:cNvSpPr>
            <a:spLocks noGrp="1"/>
          </p:cNvSpPr>
          <p:nvPr>
            <p:ph sz="quarter" idx="11"/>
          </p:nvPr>
        </p:nvSpPr>
        <p:spPr>
          <a:xfrm>
            <a:off x="486000" y="900000"/>
            <a:ext cx="8172000" cy="3703500"/>
          </a:xfrm>
        </p:spPr>
        <p:txBody>
          <a:bodyPr/>
          <a:lstStyle/>
          <a:p>
            <a:r>
              <a:rPr lang="zh-CN" altLang="en-US" dirty="0"/>
              <a:t>采用多播方式，只需发送一次到多播组</a:t>
            </a:r>
          </a:p>
          <a:p>
            <a:r>
              <a:rPr lang="zh-CN" altLang="en-US" dirty="0"/>
              <a:t>路由器复制分组。局域网具有硬件多播功能，不需要复制分组</a:t>
            </a:r>
            <a:endParaRPr lang="en-US" altLang="zh-CN" dirty="0"/>
          </a:p>
          <a:p>
            <a:r>
              <a:rPr lang="zh-CN" altLang="en-US" dirty="0"/>
              <a:t>当多播组的主机数很大时（如成千上万个），采用多播方式就可明显地减轻网络中各种资源的消耗。</a:t>
            </a:r>
          </a:p>
          <a:p>
            <a:endParaRPr lang="zh-CN" altLang="en-US" dirty="0"/>
          </a:p>
          <a:p>
            <a:endParaRPr lang="zh-CN" altLang="en-US" dirty="0"/>
          </a:p>
        </p:txBody>
      </p:sp>
      <p:sp>
        <p:nvSpPr>
          <p:cNvPr id="201" name="Text Box 67">
            <a:extLst>
              <a:ext uri="{FF2B5EF4-FFF2-40B4-BE49-F238E27FC236}">
                <a16:creationId xmlns:a16="http://schemas.microsoft.com/office/drawing/2014/main" id="{A143D35B-0317-6488-6682-4FAAFC15E918}"/>
              </a:ext>
            </a:extLst>
          </p:cNvPr>
          <p:cNvSpPr txBox="1">
            <a:spLocks noChangeArrowheads="1"/>
          </p:cNvSpPr>
          <p:nvPr/>
        </p:nvSpPr>
        <p:spPr bwMode="auto">
          <a:xfrm>
            <a:off x="1625369" y="1857497"/>
            <a:ext cx="1136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视频服务器 </a:t>
            </a:r>
            <a:r>
              <a:rPr kumimoji="1" lang="en-US" altLang="zh-CN" sz="1200" dirty="0">
                <a:latin typeface="Montserrat" panose="00000500000000000000" pitchFamily="2" charset="0"/>
                <a:ea typeface="微软雅黑 Light" panose="020B0502040204020203" pitchFamily="34" charset="-122"/>
              </a:rPr>
              <a:t>M</a:t>
            </a:r>
          </a:p>
        </p:txBody>
      </p:sp>
      <p:pic>
        <p:nvPicPr>
          <p:cNvPr id="202" name="图片 201">
            <a:extLst>
              <a:ext uri="{FF2B5EF4-FFF2-40B4-BE49-F238E27FC236}">
                <a16:creationId xmlns:a16="http://schemas.microsoft.com/office/drawing/2014/main" id="{851C7A6E-CA61-69E3-C76F-FC1F0FA216C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876298" y="1691988"/>
            <a:ext cx="430439" cy="602615"/>
          </a:xfrm>
          <a:prstGeom prst="rect">
            <a:avLst/>
          </a:prstGeom>
        </p:spPr>
      </p:pic>
      <p:sp>
        <p:nvSpPr>
          <p:cNvPr id="203" name="Line 77">
            <a:extLst>
              <a:ext uri="{FF2B5EF4-FFF2-40B4-BE49-F238E27FC236}">
                <a16:creationId xmlns:a16="http://schemas.microsoft.com/office/drawing/2014/main" id="{263CD484-7E7B-A5DB-D093-49269EE652F9}"/>
              </a:ext>
            </a:extLst>
          </p:cNvPr>
          <p:cNvSpPr>
            <a:spLocks noChangeShapeType="1"/>
          </p:cNvSpPr>
          <p:nvPr/>
        </p:nvSpPr>
        <p:spPr bwMode="auto">
          <a:xfrm>
            <a:off x="2895559" y="3911903"/>
            <a:ext cx="220750"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04" name="Line 52">
            <a:extLst>
              <a:ext uri="{FF2B5EF4-FFF2-40B4-BE49-F238E27FC236}">
                <a16:creationId xmlns:a16="http://schemas.microsoft.com/office/drawing/2014/main" id="{F7E4824C-E538-8930-3C87-56763B9B477D}"/>
              </a:ext>
            </a:extLst>
          </p:cNvPr>
          <p:cNvSpPr>
            <a:spLocks noChangeShapeType="1"/>
          </p:cNvSpPr>
          <p:nvPr/>
        </p:nvSpPr>
        <p:spPr bwMode="auto">
          <a:xfrm flipV="1">
            <a:off x="2943754" y="2516843"/>
            <a:ext cx="954839"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5" name="Line 53">
            <a:extLst>
              <a:ext uri="{FF2B5EF4-FFF2-40B4-BE49-F238E27FC236}">
                <a16:creationId xmlns:a16="http://schemas.microsoft.com/office/drawing/2014/main" id="{E30DAD18-0C9C-A252-7091-649B6DB3D9AD}"/>
              </a:ext>
            </a:extLst>
          </p:cNvPr>
          <p:cNvSpPr>
            <a:spLocks noChangeShapeType="1"/>
          </p:cNvSpPr>
          <p:nvPr/>
        </p:nvSpPr>
        <p:spPr bwMode="auto">
          <a:xfrm flipV="1">
            <a:off x="3963030" y="1993295"/>
            <a:ext cx="0" cy="39918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6" name="Line 54">
            <a:extLst>
              <a:ext uri="{FF2B5EF4-FFF2-40B4-BE49-F238E27FC236}">
                <a16:creationId xmlns:a16="http://schemas.microsoft.com/office/drawing/2014/main" id="{5B4A71ED-CEB5-3355-7058-48C12CD17848}"/>
              </a:ext>
            </a:extLst>
          </p:cNvPr>
          <p:cNvSpPr>
            <a:spLocks noChangeShapeType="1"/>
          </p:cNvSpPr>
          <p:nvPr/>
        </p:nvSpPr>
        <p:spPr bwMode="auto">
          <a:xfrm flipH="1" flipV="1">
            <a:off x="3963030" y="2516843"/>
            <a:ext cx="0"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7" name="Line 55">
            <a:extLst>
              <a:ext uri="{FF2B5EF4-FFF2-40B4-BE49-F238E27FC236}">
                <a16:creationId xmlns:a16="http://schemas.microsoft.com/office/drawing/2014/main" id="{A72C2B06-5C44-1CBF-3F30-0F63DCD2F2A5}"/>
              </a:ext>
            </a:extLst>
          </p:cNvPr>
          <p:cNvSpPr>
            <a:spLocks noChangeShapeType="1"/>
          </p:cNvSpPr>
          <p:nvPr/>
        </p:nvSpPr>
        <p:spPr bwMode="auto">
          <a:xfrm>
            <a:off x="5174444"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8" name="Line 56">
            <a:extLst>
              <a:ext uri="{FF2B5EF4-FFF2-40B4-BE49-F238E27FC236}">
                <a16:creationId xmlns:a16="http://schemas.microsoft.com/office/drawing/2014/main" id="{3B82DD06-01FC-9D2C-7935-A4F511C7EB60}"/>
              </a:ext>
            </a:extLst>
          </p:cNvPr>
          <p:cNvSpPr>
            <a:spLocks noChangeShapeType="1"/>
          </p:cNvSpPr>
          <p:nvPr/>
        </p:nvSpPr>
        <p:spPr bwMode="auto">
          <a:xfrm flipV="1">
            <a:off x="3963030"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9" name="Line 57">
            <a:extLst>
              <a:ext uri="{FF2B5EF4-FFF2-40B4-BE49-F238E27FC236}">
                <a16:creationId xmlns:a16="http://schemas.microsoft.com/office/drawing/2014/main" id="{D978C604-906F-0C4C-AE79-582763CC57A3}"/>
              </a:ext>
            </a:extLst>
          </p:cNvPr>
          <p:cNvSpPr>
            <a:spLocks noChangeShapeType="1"/>
          </p:cNvSpPr>
          <p:nvPr/>
        </p:nvSpPr>
        <p:spPr bwMode="auto">
          <a:xfrm>
            <a:off x="2880489"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10" name="Line 58">
            <a:extLst>
              <a:ext uri="{FF2B5EF4-FFF2-40B4-BE49-F238E27FC236}">
                <a16:creationId xmlns:a16="http://schemas.microsoft.com/office/drawing/2014/main" id="{2A768290-5195-693D-E3DE-202570A5A6BE}"/>
              </a:ext>
            </a:extLst>
          </p:cNvPr>
          <p:cNvSpPr>
            <a:spLocks noChangeShapeType="1"/>
          </p:cNvSpPr>
          <p:nvPr/>
        </p:nvSpPr>
        <p:spPr bwMode="auto">
          <a:xfrm>
            <a:off x="4091903" y="2516843"/>
            <a:ext cx="1082541"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pic>
        <p:nvPicPr>
          <p:cNvPr id="213" name="Picture 62">
            <a:extLst>
              <a:ext uri="{FF2B5EF4-FFF2-40B4-BE49-F238E27FC236}">
                <a16:creationId xmlns:a16="http://schemas.microsoft.com/office/drawing/2014/main" id="{18CF71C4-8681-0345-4E39-BA2DE2BEB017}"/>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2381660"/>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4" name="Text Box 63">
            <a:extLst>
              <a:ext uri="{FF2B5EF4-FFF2-40B4-BE49-F238E27FC236}">
                <a16:creationId xmlns:a16="http://schemas.microsoft.com/office/drawing/2014/main" id="{06E27D2F-D198-C518-3A2F-F7E66720C513}"/>
              </a:ext>
            </a:extLst>
          </p:cNvPr>
          <p:cNvSpPr txBox="1">
            <a:spLocks noChangeArrowheads="1"/>
          </p:cNvSpPr>
          <p:nvPr/>
        </p:nvSpPr>
        <p:spPr bwMode="auto">
          <a:xfrm>
            <a:off x="3516658" y="2082096"/>
            <a:ext cx="3305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Montserrat" panose="00000500000000000000" pitchFamily="2" charset="0"/>
                <a:ea typeface="微软雅黑 Light" panose="020B0502040204020203" pitchFamily="34" charset="-122"/>
              </a:rPr>
              <a:t>R</a:t>
            </a:r>
            <a:r>
              <a:rPr kumimoji="1" lang="en-US" altLang="zh-CN" sz="1200" b="1" baseline="-25000" dirty="0">
                <a:latin typeface="Montserrat" panose="00000500000000000000" pitchFamily="2" charset="0"/>
                <a:ea typeface="微软雅黑 Light" panose="020B0502040204020203" pitchFamily="34" charset="-122"/>
              </a:rPr>
              <a:t>1</a:t>
            </a:r>
            <a:endParaRPr kumimoji="1" lang="en-US" altLang="zh-CN" sz="1200" b="1" dirty="0">
              <a:latin typeface="Montserrat" panose="00000500000000000000" pitchFamily="2" charset="0"/>
              <a:ea typeface="微软雅黑 Light" panose="020B0502040204020203" pitchFamily="34" charset="-122"/>
            </a:endParaRPr>
          </a:p>
        </p:txBody>
      </p:sp>
      <p:sp>
        <p:nvSpPr>
          <p:cNvPr id="215" name="Text Box 64">
            <a:extLst>
              <a:ext uri="{FF2B5EF4-FFF2-40B4-BE49-F238E27FC236}">
                <a16:creationId xmlns:a16="http://schemas.microsoft.com/office/drawing/2014/main" id="{B61C323E-EE6E-4B58-AFEB-7358D7C21628}"/>
              </a:ext>
            </a:extLst>
          </p:cNvPr>
          <p:cNvSpPr txBox="1">
            <a:spLocks noChangeArrowheads="1"/>
          </p:cNvSpPr>
          <p:nvPr/>
        </p:nvSpPr>
        <p:spPr bwMode="auto">
          <a:xfrm>
            <a:off x="3480339" y="2865073"/>
            <a:ext cx="34977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3</a:t>
            </a:r>
            <a:endParaRPr kumimoji="1" lang="en-US" altLang="zh-CN" sz="1200" b="1">
              <a:latin typeface="Montserrat" panose="00000500000000000000" pitchFamily="2" charset="0"/>
              <a:ea typeface="微软雅黑 Light" panose="020B0502040204020203" pitchFamily="34" charset="-122"/>
            </a:endParaRPr>
          </a:p>
        </p:txBody>
      </p:sp>
      <p:sp>
        <p:nvSpPr>
          <p:cNvPr id="216" name="Text Box 65">
            <a:extLst>
              <a:ext uri="{FF2B5EF4-FFF2-40B4-BE49-F238E27FC236}">
                <a16:creationId xmlns:a16="http://schemas.microsoft.com/office/drawing/2014/main" id="{F66C00F7-2837-B77F-76D1-A2AE34A8339F}"/>
              </a:ext>
            </a:extLst>
          </p:cNvPr>
          <p:cNvSpPr txBox="1">
            <a:spLocks noChangeArrowheads="1"/>
          </p:cNvSpPr>
          <p:nvPr/>
        </p:nvSpPr>
        <p:spPr bwMode="auto">
          <a:xfrm>
            <a:off x="4649575" y="2915900"/>
            <a:ext cx="360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4</a:t>
            </a:r>
            <a:endParaRPr kumimoji="1" lang="en-US" altLang="zh-CN" sz="1200" b="1">
              <a:latin typeface="Montserrat" panose="00000500000000000000" pitchFamily="2" charset="0"/>
              <a:ea typeface="微软雅黑 Light" panose="020B0502040204020203" pitchFamily="34" charset="-122"/>
            </a:endParaRPr>
          </a:p>
        </p:txBody>
      </p:sp>
      <p:sp>
        <p:nvSpPr>
          <p:cNvPr id="217" name="Text Box 66">
            <a:extLst>
              <a:ext uri="{FF2B5EF4-FFF2-40B4-BE49-F238E27FC236}">
                <a16:creationId xmlns:a16="http://schemas.microsoft.com/office/drawing/2014/main" id="{E70960BA-F9F1-F5BE-1D12-303C96574B94}"/>
              </a:ext>
            </a:extLst>
          </p:cNvPr>
          <p:cNvSpPr txBox="1">
            <a:spLocks noChangeArrowheads="1"/>
          </p:cNvSpPr>
          <p:nvPr/>
        </p:nvSpPr>
        <p:spPr bwMode="auto">
          <a:xfrm>
            <a:off x="2370853" y="28845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2</a:t>
            </a:r>
            <a:endParaRPr kumimoji="1" lang="en-US" altLang="zh-CN" sz="1200" b="1">
              <a:latin typeface="Montserrat" panose="00000500000000000000" pitchFamily="2" charset="0"/>
              <a:ea typeface="微软雅黑 Light" panose="020B0502040204020203" pitchFamily="34" charset="-122"/>
            </a:endParaRPr>
          </a:p>
        </p:txBody>
      </p:sp>
      <p:pic>
        <p:nvPicPr>
          <p:cNvPr id="218" name="Picture 68">
            <a:extLst>
              <a:ext uri="{FF2B5EF4-FFF2-40B4-BE49-F238E27FC236}">
                <a16:creationId xmlns:a16="http://schemas.microsoft.com/office/drawing/2014/main" id="{2AE95307-8E8D-0C62-18EB-4DA2A75438F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83477" y="3038107"/>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9" name="Picture 69">
            <a:extLst>
              <a:ext uri="{FF2B5EF4-FFF2-40B4-BE49-F238E27FC236}">
                <a16:creationId xmlns:a16="http://schemas.microsoft.com/office/drawing/2014/main" id="{A06F644F-AB99-D3E4-F040-A2927DA979D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3038107"/>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0" name="Picture 70">
            <a:extLst>
              <a:ext uri="{FF2B5EF4-FFF2-40B4-BE49-F238E27FC236}">
                <a16:creationId xmlns:a16="http://schemas.microsoft.com/office/drawing/2014/main" id="{2252C483-C1DB-9035-C631-F6584177589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89522" y="3060817"/>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22" name="Line 76">
            <a:extLst>
              <a:ext uri="{FF2B5EF4-FFF2-40B4-BE49-F238E27FC236}">
                <a16:creationId xmlns:a16="http://schemas.microsoft.com/office/drawing/2014/main" id="{5A2DE96D-9CE9-52AB-B31F-181408869136}"/>
              </a:ext>
            </a:extLst>
          </p:cNvPr>
          <p:cNvSpPr>
            <a:spLocks noChangeShapeType="1"/>
          </p:cNvSpPr>
          <p:nvPr/>
        </p:nvSpPr>
        <p:spPr bwMode="auto">
          <a:xfrm flipH="1">
            <a:off x="2498553" y="3898587"/>
            <a:ext cx="251687"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3" name="Line 78">
            <a:extLst>
              <a:ext uri="{FF2B5EF4-FFF2-40B4-BE49-F238E27FC236}">
                <a16:creationId xmlns:a16="http://schemas.microsoft.com/office/drawing/2014/main" id="{518F0BE6-B134-B211-C96D-E63F7E5ABAEC}"/>
              </a:ext>
            </a:extLst>
          </p:cNvPr>
          <p:cNvSpPr>
            <a:spLocks noChangeShapeType="1"/>
          </p:cNvSpPr>
          <p:nvPr/>
        </p:nvSpPr>
        <p:spPr bwMode="auto">
          <a:xfrm flipH="1">
            <a:off x="3644359" y="3911903"/>
            <a:ext cx="198040" cy="30929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4" name="Line 79">
            <a:extLst>
              <a:ext uri="{FF2B5EF4-FFF2-40B4-BE49-F238E27FC236}">
                <a16:creationId xmlns:a16="http://schemas.microsoft.com/office/drawing/2014/main" id="{85FE141E-212C-1DDA-6C92-08DC41010E79}"/>
              </a:ext>
            </a:extLst>
          </p:cNvPr>
          <p:cNvSpPr>
            <a:spLocks noChangeShapeType="1"/>
          </p:cNvSpPr>
          <p:nvPr/>
        </p:nvSpPr>
        <p:spPr bwMode="auto">
          <a:xfrm>
            <a:off x="4034779" y="3911069"/>
            <a:ext cx="292966" cy="3299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5" name="Line 80">
            <a:extLst>
              <a:ext uri="{FF2B5EF4-FFF2-40B4-BE49-F238E27FC236}">
                <a16:creationId xmlns:a16="http://schemas.microsoft.com/office/drawing/2014/main" id="{16255F77-985F-15A6-8227-4844595B20D4}"/>
              </a:ext>
            </a:extLst>
          </p:cNvPr>
          <p:cNvSpPr>
            <a:spLocks noChangeShapeType="1"/>
          </p:cNvSpPr>
          <p:nvPr/>
        </p:nvSpPr>
        <p:spPr bwMode="auto">
          <a:xfrm flipH="1">
            <a:off x="4887784" y="3898586"/>
            <a:ext cx="221079" cy="30796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6" name="Line 81">
            <a:extLst>
              <a:ext uri="{FF2B5EF4-FFF2-40B4-BE49-F238E27FC236}">
                <a16:creationId xmlns:a16="http://schemas.microsoft.com/office/drawing/2014/main" id="{AB39FDE5-B19D-D920-F606-A90A748662B7}"/>
              </a:ext>
            </a:extLst>
          </p:cNvPr>
          <p:cNvSpPr>
            <a:spLocks noChangeShapeType="1"/>
          </p:cNvSpPr>
          <p:nvPr/>
        </p:nvSpPr>
        <p:spPr bwMode="auto">
          <a:xfrm>
            <a:off x="5280117" y="3909263"/>
            <a:ext cx="339527" cy="3119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7" name="Text Box 88">
            <a:extLst>
              <a:ext uri="{FF2B5EF4-FFF2-40B4-BE49-F238E27FC236}">
                <a16:creationId xmlns:a16="http://schemas.microsoft.com/office/drawing/2014/main" id="{3095D966-C6EF-A054-3114-45A6F32A7ED4}"/>
              </a:ext>
            </a:extLst>
          </p:cNvPr>
          <p:cNvSpPr txBox="1">
            <a:spLocks noChangeArrowheads="1"/>
          </p:cNvSpPr>
          <p:nvPr/>
        </p:nvSpPr>
        <p:spPr bwMode="auto">
          <a:xfrm>
            <a:off x="2707964"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228" name="Text Box 89">
            <a:extLst>
              <a:ext uri="{FF2B5EF4-FFF2-40B4-BE49-F238E27FC236}">
                <a16:creationId xmlns:a16="http://schemas.microsoft.com/office/drawing/2014/main" id="{83FA389A-58A6-FA14-19AB-FC8D291373FD}"/>
              </a:ext>
            </a:extLst>
          </p:cNvPr>
          <p:cNvSpPr txBox="1">
            <a:spLocks noChangeArrowheads="1"/>
          </p:cNvSpPr>
          <p:nvPr/>
        </p:nvSpPr>
        <p:spPr bwMode="auto">
          <a:xfrm>
            <a:off x="5183615"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a:t>
            </a:r>
          </a:p>
        </p:txBody>
      </p:sp>
      <p:sp>
        <p:nvSpPr>
          <p:cNvPr id="229" name="Text Box 90">
            <a:extLst>
              <a:ext uri="{FF2B5EF4-FFF2-40B4-BE49-F238E27FC236}">
                <a16:creationId xmlns:a16="http://schemas.microsoft.com/office/drawing/2014/main" id="{DCDEB9A6-CABD-AD80-9F88-B6B955FFA0CF}"/>
              </a:ext>
            </a:extLst>
          </p:cNvPr>
          <p:cNvSpPr txBox="1">
            <a:spLocks noChangeArrowheads="1"/>
          </p:cNvSpPr>
          <p:nvPr/>
        </p:nvSpPr>
        <p:spPr bwMode="auto">
          <a:xfrm>
            <a:off x="3846459" y="4145823"/>
            <a:ext cx="4334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230" name="Text Box 91">
            <a:extLst>
              <a:ext uri="{FF2B5EF4-FFF2-40B4-BE49-F238E27FC236}">
                <a16:creationId xmlns:a16="http://schemas.microsoft.com/office/drawing/2014/main" id="{B00DD171-415C-89CB-7346-6176E61C4C3D}"/>
              </a:ext>
            </a:extLst>
          </p:cNvPr>
          <p:cNvSpPr txBox="1">
            <a:spLocks noChangeArrowheads="1"/>
          </p:cNvSpPr>
          <p:nvPr/>
        </p:nvSpPr>
        <p:spPr bwMode="auto">
          <a:xfrm>
            <a:off x="3125350" y="3291167"/>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1" name="Text Box 92">
            <a:extLst>
              <a:ext uri="{FF2B5EF4-FFF2-40B4-BE49-F238E27FC236}">
                <a16:creationId xmlns:a16="http://schemas.microsoft.com/office/drawing/2014/main" id="{56FFC047-C82E-6E65-AED1-6D009AD76FBD}"/>
              </a:ext>
            </a:extLst>
          </p:cNvPr>
          <p:cNvSpPr txBox="1">
            <a:spLocks noChangeArrowheads="1"/>
          </p:cNvSpPr>
          <p:nvPr/>
        </p:nvSpPr>
        <p:spPr bwMode="auto">
          <a:xfrm>
            <a:off x="4171572" y="3258724"/>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2" name="Text Box 93">
            <a:extLst>
              <a:ext uri="{FF2B5EF4-FFF2-40B4-BE49-F238E27FC236}">
                <a16:creationId xmlns:a16="http://schemas.microsoft.com/office/drawing/2014/main" id="{7BE05ADA-129D-C071-321D-09047F772D97}"/>
              </a:ext>
            </a:extLst>
          </p:cNvPr>
          <p:cNvSpPr txBox="1">
            <a:spLocks noChangeArrowheads="1"/>
          </p:cNvSpPr>
          <p:nvPr/>
        </p:nvSpPr>
        <p:spPr bwMode="auto">
          <a:xfrm>
            <a:off x="5411104" y="3210057"/>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3" name="Text Box 94">
            <a:extLst>
              <a:ext uri="{FF2B5EF4-FFF2-40B4-BE49-F238E27FC236}">
                <a16:creationId xmlns:a16="http://schemas.microsoft.com/office/drawing/2014/main" id="{B21C3A4C-716D-64FA-4287-823DFF0D8F79}"/>
              </a:ext>
            </a:extLst>
          </p:cNvPr>
          <p:cNvSpPr txBox="1">
            <a:spLocks noChangeArrowheads="1"/>
          </p:cNvSpPr>
          <p:nvPr/>
        </p:nvSpPr>
        <p:spPr bwMode="auto">
          <a:xfrm>
            <a:off x="4756188" y="2376255"/>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4" name="Text Box 95">
            <a:extLst>
              <a:ext uri="{FF2B5EF4-FFF2-40B4-BE49-F238E27FC236}">
                <a16:creationId xmlns:a16="http://schemas.microsoft.com/office/drawing/2014/main" id="{4322B7CF-430E-1D93-E75C-EC8814A44C80}"/>
              </a:ext>
            </a:extLst>
          </p:cNvPr>
          <p:cNvSpPr txBox="1">
            <a:spLocks noChangeArrowheads="1"/>
          </p:cNvSpPr>
          <p:nvPr/>
        </p:nvSpPr>
        <p:spPr bwMode="auto">
          <a:xfrm>
            <a:off x="4197346" y="2751519"/>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5" name="Text Box 96">
            <a:extLst>
              <a:ext uri="{FF2B5EF4-FFF2-40B4-BE49-F238E27FC236}">
                <a16:creationId xmlns:a16="http://schemas.microsoft.com/office/drawing/2014/main" id="{56836884-3DA0-60D5-92F5-EFDF3F8E7D78}"/>
              </a:ext>
            </a:extLst>
          </p:cNvPr>
          <p:cNvSpPr txBox="1">
            <a:spLocks noChangeArrowheads="1"/>
          </p:cNvSpPr>
          <p:nvPr/>
        </p:nvSpPr>
        <p:spPr bwMode="auto">
          <a:xfrm>
            <a:off x="2822885" y="2376255"/>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6" name="Text Box 97">
            <a:extLst>
              <a:ext uri="{FF2B5EF4-FFF2-40B4-BE49-F238E27FC236}">
                <a16:creationId xmlns:a16="http://schemas.microsoft.com/office/drawing/2014/main" id="{827FF824-7731-025B-3A87-56286127443E}"/>
              </a:ext>
            </a:extLst>
          </p:cNvPr>
          <p:cNvSpPr txBox="1">
            <a:spLocks noChangeArrowheads="1"/>
          </p:cNvSpPr>
          <p:nvPr/>
        </p:nvSpPr>
        <p:spPr bwMode="auto">
          <a:xfrm>
            <a:off x="4241866" y="1854989"/>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7" name="AutoShape 99">
            <a:extLst>
              <a:ext uri="{FF2B5EF4-FFF2-40B4-BE49-F238E27FC236}">
                <a16:creationId xmlns:a16="http://schemas.microsoft.com/office/drawing/2014/main" id="{937893B8-4F65-CB48-333C-655B1FFB8BD6}"/>
              </a:ext>
            </a:extLst>
          </p:cNvPr>
          <p:cNvSpPr>
            <a:spLocks noChangeArrowheads="1"/>
          </p:cNvSpPr>
          <p:nvPr/>
        </p:nvSpPr>
        <p:spPr bwMode="auto">
          <a:xfrm rot="5400000">
            <a:off x="3961498" y="2136530"/>
            <a:ext cx="342823"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39" name="AutoShape 101">
            <a:extLst>
              <a:ext uri="{FF2B5EF4-FFF2-40B4-BE49-F238E27FC236}">
                <a16:creationId xmlns:a16="http://schemas.microsoft.com/office/drawing/2014/main" id="{BE478254-DF67-21E5-8E8E-9240EF3D0EBB}"/>
              </a:ext>
            </a:extLst>
          </p:cNvPr>
          <p:cNvSpPr>
            <a:spLocks noChangeArrowheads="1"/>
          </p:cNvSpPr>
          <p:nvPr/>
        </p:nvSpPr>
        <p:spPr bwMode="auto">
          <a:xfrm rot="1858546">
            <a:off x="4537104" y="2622827"/>
            <a:ext cx="354989"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42" name="AutoShape 104">
            <a:extLst>
              <a:ext uri="{FF2B5EF4-FFF2-40B4-BE49-F238E27FC236}">
                <a16:creationId xmlns:a16="http://schemas.microsoft.com/office/drawing/2014/main" id="{D413B726-B3A0-77D2-AAB0-5110B6A3D2EB}"/>
              </a:ext>
            </a:extLst>
          </p:cNvPr>
          <p:cNvSpPr>
            <a:spLocks noChangeArrowheads="1"/>
          </p:cNvSpPr>
          <p:nvPr/>
        </p:nvSpPr>
        <p:spPr bwMode="auto">
          <a:xfrm rot="5400000">
            <a:off x="5107324" y="3367229"/>
            <a:ext cx="343153" cy="144246"/>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48" name="AutoShape 110">
            <a:extLst>
              <a:ext uri="{FF2B5EF4-FFF2-40B4-BE49-F238E27FC236}">
                <a16:creationId xmlns:a16="http://schemas.microsoft.com/office/drawing/2014/main" id="{71907BBB-B16E-4FBE-7CBF-4C23CC109B28}"/>
              </a:ext>
            </a:extLst>
          </p:cNvPr>
          <p:cNvSpPr>
            <a:spLocks noChangeArrowheads="1"/>
          </p:cNvSpPr>
          <p:nvPr/>
        </p:nvSpPr>
        <p:spPr bwMode="auto">
          <a:xfrm rot="8740270">
            <a:off x="3134723" y="2648782"/>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52" name="AutoShape 114">
            <a:extLst>
              <a:ext uri="{FF2B5EF4-FFF2-40B4-BE49-F238E27FC236}">
                <a16:creationId xmlns:a16="http://schemas.microsoft.com/office/drawing/2014/main" id="{7093142C-7ED9-D23B-18FE-3B31CFE1CEB3}"/>
              </a:ext>
            </a:extLst>
          </p:cNvPr>
          <p:cNvSpPr>
            <a:spLocks noChangeArrowheads="1"/>
          </p:cNvSpPr>
          <p:nvPr/>
        </p:nvSpPr>
        <p:spPr bwMode="auto">
          <a:xfrm rot="5400000">
            <a:off x="3943291" y="3407879"/>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55" name="AutoShape 117">
            <a:extLst>
              <a:ext uri="{FF2B5EF4-FFF2-40B4-BE49-F238E27FC236}">
                <a16:creationId xmlns:a16="http://schemas.microsoft.com/office/drawing/2014/main" id="{D9F3F2F2-AF5A-B5E1-BD84-2003F84FFA86}"/>
              </a:ext>
            </a:extLst>
          </p:cNvPr>
          <p:cNvSpPr>
            <a:spLocks noChangeArrowheads="1"/>
          </p:cNvSpPr>
          <p:nvPr/>
        </p:nvSpPr>
        <p:spPr bwMode="auto">
          <a:xfrm rot="5400000">
            <a:off x="2797251" y="3403718"/>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60" name="AutoShape 122">
            <a:extLst>
              <a:ext uri="{FF2B5EF4-FFF2-40B4-BE49-F238E27FC236}">
                <a16:creationId xmlns:a16="http://schemas.microsoft.com/office/drawing/2014/main" id="{112DCF25-7F32-534A-4044-9D0D5C1BEEF9}"/>
              </a:ext>
            </a:extLst>
          </p:cNvPr>
          <p:cNvSpPr>
            <a:spLocks noChangeArrowheads="1"/>
          </p:cNvSpPr>
          <p:nvPr/>
        </p:nvSpPr>
        <p:spPr bwMode="auto">
          <a:xfrm rot="5400000">
            <a:off x="3943291" y="2776307"/>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cxnSp>
        <p:nvCxnSpPr>
          <p:cNvPr id="262" name="直接连接符 261">
            <a:extLst>
              <a:ext uri="{FF2B5EF4-FFF2-40B4-BE49-F238E27FC236}">
                <a16:creationId xmlns:a16="http://schemas.microsoft.com/office/drawing/2014/main" id="{DB86C95B-9CBD-C111-D3EC-DCE5A68B5185}"/>
              </a:ext>
            </a:extLst>
          </p:cNvPr>
          <p:cNvCxnSpPr>
            <a:stCxn id="205" idx="1"/>
            <a:endCxn id="202" idx="3"/>
          </p:cNvCxnSpPr>
          <p:nvPr/>
        </p:nvCxnSpPr>
        <p:spPr>
          <a:xfrm flipH="1">
            <a:off x="3306737" y="1993295"/>
            <a:ext cx="656294" cy="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263" name="Picture 58">
            <a:extLst>
              <a:ext uri="{FF2B5EF4-FFF2-40B4-BE49-F238E27FC236}">
                <a16:creationId xmlns:a16="http://schemas.microsoft.com/office/drawing/2014/main" id="{B45A5C6C-635E-2902-8DF3-DE29B8979CCF}"/>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62548"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58">
            <a:extLst>
              <a:ext uri="{FF2B5EF4-FFF2-40B4-BE49-F238E27FC236}">
                <a16:creationId xmlns:a16="http://schemas.microsoft.com/office/drawing/2014/main" id="{31853B77-5BEB-0663-298B-A94F20E58F93}"/>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771254"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5" name="Picture 58">
            <a:extLst>
              <a:ext uri="{FF2B5EF4-FFF2-40B4-BE49-F238E27FC236}">
                <a16:creationId xmlns:a16="http://schemas.microsoft.com/office/drawing/2014/main" id="{F564FA17-3F9F-B259-757A-2EBD437BF33B}"/>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82349"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6" name="图形 265" descr="计算机">
            <a:extLst>
              <a:ext uri="{FF2B5EF4-FFF2-40B4-BE49-F238E27FC236}">
                <a16:creationId xmlns:a16="http://schemas.microsoft.com/office/drawing/2014/main" id="{282BA848-C395-8498-4562-B35C57F1147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353779" y="4165604"/>
            <a:ext cx="360000" cy="360000"/>
          </a:xfrm>
          <a:prstGeom prst="rect">
            <a:avLst/>
          </a:prstGeom>
        </p:spPr>
      </p:pic>
      <p:pic>
        <p:nvPicPr>
          <p:cNvPr id="267" name="图形 266" descr="计算机">
            <a:extLst>
              <a:ext uri="{FF2B5EF4-FFF2-40B4-BE49-F238E27FC236}">
                <a16:creationId xmlns:a16="http://schemas.microsoft.com/office/drawing/2014/main" id="{FE024FC2-B788-79C0-80BE-3794332614A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984598" y="4165604"/>
            <a:ext cx="360000" cy="360000"/>
          </a:xfrm>
          <a:prstGeom prst="rect">
            <a:avLst/>
          </a:prstGeom>
        </p:spPr>
      </p:pic>
      <p:pic>
        <p:nvPicPr>
          <p:cNvPr id="268" name="图形 267" descr="计算机">
            <a:extLst>
              <a:ext uri="{FF2B5EF4-FFF2-40B4-BE49-F238E27FC236}">
                <a16:creationId xmlns:a16="http://schemas.microsoft.com/office/drawing/2014/main" id="{D23D331A-2CA2-6947-B8FC-6B24A64F64F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20167" y="4165604"/>
            <a:ext cx="360000" cy="360000"/>
          </a:xfrm>
          <a:prstGeom prst="rect">
            <a:avLst/>
          </a:prstGeom>
        </p:spPr>
      </p:pic>
      <p:pic>
        <p:nvPicPr>
          <p:cNvPr id="269" name="图形 268" descr="计算机">
            <a:extLst>
              <a:ext uri="{FF2B5EF4-FFF2-40B4-BE49-F238E27FC236}">
                <a16:creationId xmlns:a16="http://schemas.microsoft.com/office/drawing/2014/main" id="{DC905C16-7DD4-86CF-BF15-8BA10B76F15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246236" y="4165604"/>
            <a:ext cx="360000" cy="360000"/>
          </a:xfrm>
          <a:prstGeom prst="rect">
            <a:avLst/>
          </a:prstGeom>
        </p:spPr>
      </p:pic>
      <p:pic>
        <p:nvPicPr>
          <p:cNvPr id="270" name="图形 269" descr="计算机">
            <a:extLst>
              <a:ext uri="{FF2B5EF4-FFF2-40B4-BE49-F238E27FC236}">
                <a16:creationId xmlns:a16="http://schemas.microsoft.com/office/drawing/2014/main" id="{30901681-C1AF-A287-D3D2-84D7FC66964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781805" y="4165604"/>
            <a:ext cx="360000" cy="360000"/>
          </a:xfrm>
          <a:prstGeom prst="rect">
            <a:avLst/>
          </a:prstGeom>
        </p:spPr>
      </p:pic>
      <p:pic>
        <p:nvPicPr>
          <p:cNvPr id="271" name="图形 270" descr="计算机">
            <a:extLst>
              <a:ext uri="{FF2B5EF4-FFF2-40B4-BE49-F238E27FC236}">
                <a16:creationId xmlns:a16="http://schemas.microsoft.com/office/drawing/2014/main" id="{720E6644-6A70-02A4-E1DA-C1A6BA5EC0F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07874" y="4165604"/>
            <a:ext cx="360000" cy="360000"/>
          </a:xfrm>
          <a:prstGeom prst="rect">
            <a:avLst/>
          </a:prstGeom>
        </p:spPr>
      </p:pic>
    </p:spTree>
    <p:extLst>
      <p:ext uri="{BB962C8B-B14F-4D97-AF65-F5344CB8AC3E}">
        <p14:creationId xmlns:p14="http://schemas.microsoft.com/office/powerpoint/2010/main" val="1595236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4F6054E-84BB-AF3D-24F8-51746016A50C}"/>
              </a:ext>
            </a:extLst>
          </p:cNvPr>
          <p:cNvSpPr>
            <a:spLocks noGrp="1"/>
          </p:cNvSpPr>
          <p:nvPr>
            <p:ph type="title"/>
          </p:nvPr>
        </p:nvSpPr>
        <p:spPr>
          <a:xfrm>
            <a:off x="486000" y="550723"/>
            <a:ext cx="8172000" cy="338554"/>
          </a:xfrm>
        </p:spPr>
        <p:txBody>
          <a:bodyPr/>
          <a:lstStyle/>
          <a:p>
            <a:r>
              <a:rPr lang="en-US" altLang="zh-CN" dirty="0"/>
              <a:t>IP </a:t>
            </a:r>
            <a:r>
              <a:rPr lang="zh-CN" altLang="en-US" dirty="0"/>
              <a:t>多播</a:t>
            </a:r>
          </a:p>
        </p:txBody>
      </p:sp>
      <p:sp>
        <p:nvSpPr>
          <p:cNvPr id="6" name="内容占位符 5">
            <a:extLst>
              <a:ext uri="{FF2B5EF4-FFF2-40B4-BE49-F238E27FC236}">
                <a16:creationId xmlns:a16="http://schemas.microsoft.com/office/drawing/2014/main" id="{F296C08B-7CDF-FECB-2BF7-3C001F0AD41E}"/>
              </a:ext>
            </a:extLst>
          </p:cNvPr>
          <p:cNvSpPr>
            <a:spLocks noGrp="1"/>
          </p:cNvSpPr>
          <p:nvPr>
            <p:ph sz="quarter" idx="11"/>
          </p:nvPr>
        </p:nvSpPr>
        <p:spPr>
          <a:xfrm>
            <a:off x="486000" y="900000"/>
            <a:ext cx="8172000" cy="3703500"/>
          </a:xfrm>
        </p:spPr>
        <p:txBody>
          <a:bodyPr/>
          <a:lstStyle/>
          <a:p>
            <a:r>
              <a:rPr lang="zh-CN" altLang="en-US" dirty="0"/>
              <a:t>在互联网上进行多播就叫做 </a:t>
            </a:r>
            <a:r>
              <a:rPr lang="en-US" altLang="zh-CN" dirty="0"/>
              <a:t>IP </a:t>
            </a:r>
            <a:r>
              <a:rPr lang="zh-CN" altLang="en-US" dirty="0"/>
              <a:t>多播</a:t>
            </a:r>
          </a:p>
          <a:p>
            <a:r>
              <a:rPr lang="zh-CN" altLang="en-US" dirty="0"/>
              <a:t>互联网范围的多播要靠路由器来实现</a:t>
            </a:r>
          </a:p>
          <a:p>
            <a:r>
              <a:rPr lang="zh-CN" altLang="en-US" dirty="0"/>
              <a:t>能够运行多播协议的路由器称为多播路由器 </a:t>
            </a:r>
            <a:r>
              <a:rPr lang="en-US" altLang="zh-CN" dirty="0"/>
              <a:t>multicast router</a:t>
            </a:r>
          </a:p>
          <a:p>
            <a:r>
              <a:rPr lang="zh-CN" altLang="en-US" dirty="0"/>
              <a:t>多播路由器也可以转发普通的单播 </a:t>
            </a:r>
            <a:r>
              <a:rPr lang="en-US" altLang="zh-CN" dirty="0"/>
              <a:t>IP </a:t>
            </a:r>
            <a:r>
              <a:rPr lang="zh-CN" altLang="en-US" dirty="0"/>
              <a:t>数据报</a:t>
            </a:r>
          </a:p>
          <a:p>
            <a:r>
              <a:rPr lang="zh-CN" altLang="en-US" dirty="0"/>
              <a:t>从 </a:t>
            </a:r>
            <a:r>
              <a:rPr lang="en-US" altLang="zh-CN" dirty="0"/>
              <a:t>1992 </a:t>
            </a:r>
            <a:r>
              <a:rPr lang="zh-CN" altLang="en-US" dirty="0"/>
              <a:t>年起，在互联网上开始试验虚拟的多播主干网 </a:t>
            </a:r>
            <a:r>
              <a:rPr lang="en-US" altLang="zh-CN" dirty="0"/>
              <a:t>MBONE (Multicast Backbone On the </a:t>
            </a:r>
            <a:r>
              <a:rPr lang="en-US" altLang="zh-CN" dirty="0" err="1"/>
              <a:t>InterNEt</a:t>
            </a:r>
            <a:r>
              <a:rPr lang="en-US" altLang="zh-CN" dirty="0"/>
              <a:t>)</a:t>
            </a:r>
          </a:p>
          <a:p>
            <a:endParaRPr lang="zh-CN" altLang="en-US" dirty="0"/>
          </a:p>
        </p:txBody>
      </p:sp>
    </p:spTree>
    <p:extLst>
      <p:ext uri="{BB962C8B-B14F-4D97-AF65-F5344CB8AC3E}">
        <p14:creationId xmlns:p14="http://schemas.microsoft.com/office/powerpoint/2010/main" val="1974370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9D60CC8-3A68-4122-A8AB-609C10977924}"/>
              </a:ext>
            </a:extLst>
          </p:cNvPr>
          <p:cNvSpPr>
            <a:spLocks noGrp="1"/>
          </p:cNvSpPr>
          <p:nvPr>
            <p:ph type="title"/>
          </p:nvPr>
        </p:nvSpPr>
        <p:spPr>
          <a:xfrm>
            <a:off x="486000" y="550723"/>
            <a:ext cx="8172000" cy="338554"/>
          </a:xfrm>
        </p:spPr>
        <p:txBody>
          <a:bodyPr/>
          <a:lstStyle/>
          <a:p>
            <a:r>
              <a:rPr lang="zh-CN" altLang="en-US" dirty="0"/>
              <a:t>多播 </a:t>
            </a:r>
            <a:r>
              <a:rPr lang="en-US" altLang="zh-CN" dirty="0"/>
              <a:t>IP </a:t>
            </a:r>
            <a:r>
              <a:rPr lang="zh-CN" altLang="en-US" dirty="0"/>
              <a:t>地址</a:t>
            </a:r>
          </a:p>
        </p:txBody>
      </p:sp>
      <p:sp>
        <p:nvSpPr>
          <p:cNvPr id="7" name="内容占位符 6">
            <a:extLst>
              <a:ext uri="{FF2B5EF4-FFF2-40B4-BE49-F238E27FC236}">
                <a16:creationId xmlns:a16="http://schemas.microsoft.com/office/drawing/2014/main" id="{3D094BF5-1A12-36F5-C82E-F8F264250075}"/>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IP </a:t>
            </a:r>
            <a:r>
              <a:rPr lang="zh-CN" altLang="en-US" dirty="0"/>
              <a:t>多播数据报的目的地址需要写入多播组的标识符</a:t>
            </a:r>
          </a:p>
          <a:p>
            <a:r>
              <a:rPr lang="zh-CN" altLang="en-US" dirty="0"/>
              <a:t>多播组的标识符就是 </a:t>
            </a:r>
            <a:r>
              <a:rPr lang="en-US" altLang="zh-CN" dirty="0"/>
              <a:t>IP </a:t>
            </a:r>
            <a:r>
              <a:rPr lang="zh-CN" altLang="en-US" dirty="0"/>
              <a:t>地址中的 </a:t>
            </a:r>
            <a:r>
              <a:rPr lang="en-US" altLang="zh-CN" dirty="0"/>
              <a:t>D </a:t>
            </a:r>
            <a:r>
              <a:rPr lang="zh-CN" altLang="en-US" dirty="0"/>
              <a:t>类地址（多播地址）</a:t>
            </a:r>
            <a:endParaRPr lang="en-US" altLang="zh-CN" dirty="0"/>
          </a:p>
          <a:p>
            <a:r>
              <a:rPr lang="zh-CN" altLang="en-US" dirty="0"/>
              <a:t>地址范围：</a:t>
            </a:r>
            <a:r>
              <a:rPr lang="en-US" altLang="zh-CN" dirty="0"/>
              <a:t>224.0.0.0 ~</a:t>
            </a:r>
            <a:r>
              <a:rPr lang="zh-CN" altLang="en-US" dirty="0"/>
              <a:t> </a:t>
            </a:r>
            <a:r>
              <a:rPr lang="en-US" altLang="zh-CN" dirty="0"/>
              <a:t>239.255.255.255</a:t>
            </a:r>
            <a:endParaRPr lang="zh-CN" altLang="en-US" dirty="0"/>
          </a:p>
          <a:p>
            <a:r>
              <a:rPr lang="zh-CN" altLang="en-US" dirty="0"/>
              <a:t>每一个 </a:t>
            </a:r>
            <a:r>
              <a:rPr lang="en-US" altLang="zh-CN" dirty="0"/>
              <a:t>D </a:t>
            </a:r>
            <a:r>
              <a:rPr lang="zh-CN" altLang="en-US" dirty="0"/>
              <a:t>类地址标志一个多播组</a:t>
            </a:r>
            <a:endParaRPr lang="en-US" altLang="zh-CN" dirty="0"/>
          </a:p>
          <a:p>
            <a:r>
              <a:rPr lang="zh-CN" altLang="en-US" dirty="0"/>
              <a:t>多播地址只能用于目的地址，不能用于源地址</a:t>
            </a:r>
          </a:p>
          <a:p>
            <a:endParaRPr lang="zh-CN" altLang="en-US" dirty="0"/>
          </a:p>
          <a:p>
            <a:endParaRPr lang="zh-CN" altLang="en-US" dirty="0"/>
          </a:p>
        </p:txBody>
      </p:sp>
    </p:spTree>
    <p:extLst>
      <p:ext uri="{BB962C8B-B14F-4D97-AF65-F5344CB8AC3E}">
        <p14:creationId xmlns:p14="http://schemas.microsoft.com/office/powerpoint/2010/main" val="37139014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CCA241-671C-930D-3EC4-2416730040C6}"/>
              </a:ext>
            </a:extLst>
          </p:cNvPr>
          <p:cNvSpPr>
            <a:spLocks noGrp="1"/>
          </p:cNvSpPr>
          <p:nvPr>
            <p:ph type="title"/>
          </p:nvPr>
        </p:nvSpPr>
        <p:spPr>
          <a:xfrm>
            <a:off x="486000" y="550723"/>
            <a:ext cx="8172000" cy="338554"/>
          </a:xfrm>
        </p:spPr>
        <p:txBody>
          <a:bodyPr/>
          <a:lstStyle/>
          <a:p>
            <a:r>
              <a:rPr lang="zh-CN" altLang="en-US" dirty="0"/>
              <a:t>多播数据报</a:t>
            </a:r>
          </a:p>
        </p:txBody>
      </p:sp>
      <p:sp>
        <p:nvSpPr>
          <p:cNvPr id="6" name="内容占位符 5">
            <a:extLst>
              <a:ext uri="{FF2B5EF4-FFF2-40B4-BE49-F238E27FC236}">
                <a16:creationId xmlns:a16="http://schemas.microsoft.com/office/drawing/2014/main" id="{A4AEB114-7469-7CCE-E4C9-8CFF2E22D44E}"/>
              </a:ext>
            </a:extLst>
          </p:cNvPr>
          <p:cNvSpPr>
            <a:spLocks noGrp="1"/>
          </p:cNvSpPr>
          <p:nvPr>
            <p:ph sz="quarter" idx="11"/>
          </p:nvPr>
        </p:nvSpPr>
        <p:spPr>
          <a:xfrm>
            <a:off x="486000" y="900000"/>
            <a:ext cx="8172000" cy="3703500"/>
          </a:xfrm>
        </p:spPr>
        <p:txBody>
          <a:bodyPr/>
          <a:lstStyle/>
          <a:p>
            <a:r>
              <a:rPr lang="zh-CN" altLang="en-US" dirty="0"/>
              <a:t>多播数据报和一般的 </a:t>
            </a:r>
            <a:r>
              <a:rPr lang="en-US" altLang="zh-CN" dirty="0"/>
              <a:t>IP </a:t>
            </a:r>
            <a:r>
              <a:rPr lang="zh-CN" altLang="en-US" dirty="0"/>
              <a:t>数据报的区别</a:t>
            </a:r>
            <a:endParaRPr lang="en-US" altLang="zh-CN" dirty="0"/>
          </a:p>
          <a:p>
            <a:pPr lvl="1"/>
            <a:r>
              <a:rPr lang="zh-CN" altLang="en-US" dirty="0"/>
              <a:t>目的地址：使用 </a:t>
            </a:r>
            <a:r>
              <a:rPr lang="en-US" altLang="zh-CN" dirty="0"/>
              <a:t>D </a:t>
            </a:r>
            <a:r>
              <a:rPr lang="zh-CN" altLang="en-US" dirty="0"/>
              <a:t>类 </a:t>
            </a:r>
            <a:r>
              <a:rPr lang="en-US" altLang="zh-CN" dirty="0"/>
              <a:t>IP </a:t>
            </a:r>
            <a:r>
              <a:rPr lang="zh-CN" altLang="en-US" dirty="0"/>
              <a:t>地址</a:t>
            </a:r>
            <a:endParaRPr lang="en-US" altLang="zh-CN" dirty="0"/>
          </a:p>
          <a:p>
            <a:pPr lvl="1"/>
            <a:r>
              <a:rPr lang="zh-CN" altLang="en-US" dirty="0"/>
              <a:t>协议字段 </a:t>
            </a:r>
            <a:r>
              <a:rPr lang="en-US" altLang="zh-CN" dirty="0"/>
              <a:t>= 2</a:t>
            </a:r>
            <a:r>
              <a:rPr lang="zh-CN" altLang="en-US" dirty="0"/>
              <a:t>，表明使用网际组管理协议 </a:t>
            </a:r>
            <a:r>
              <a:rPr lang="en-US" altLang="zh-CN" dirty="0"/>
              <a:t>IGMP</a:t>
            </a:r>
            <a:endParaRPr lang="zh-CN" altLang="en-US" dirty="0"/>
          </a:p>
          <a:p>
            <a:r>
              <a:rPr lang="zh-CN" altLang="en-US" dirty="0"/>
              <a:t>尽最大努力交付，不保证一定能够交付多播组内的所有成员</a:t>
            </a:r>
          </a:p>
          <a:p>
            <a:r>
              <a:rPr lang="zh-CN" altLang="en-US" dirty="0"/>
              <a:t>多播数据报不产生 </a:t>
            </a:r>
            <a:r>
              <a:rPr lang="en-US" altLang="zh-CN" dirty="0"/>
              <a:t>ICMP </a:t>
            </a:r>
            <a:r>
              <a:rPr lang="zh-CN" altLang="en-US" dirty="0"/>
              <a:t>差错报文</a:t>
            </a:r>
            <a:endParaRPr lang="en-US" altLang="zh-CN" dirty="0"/>
          </a:p>
          <a:p>
            <a:pPr lvl="1"/>
            <a:r>
              <a:rPr lang="zh-CN" altLang="en-US" dirty="0"/>
              <a:t>在 </a:t>
            </a:r>
            <a:r>
              <a:rPr lang="en-US" altLang="zh-CN" dirty="0"/>
              <a:t>PING </a:t>
            </a:r>
            <a:r>
              <a:rPr lang="zh-CN" altLang="en-US" dirty="0"/>
              <a:t>命令后面键入多播地址，将永远不会收到响应</a:t>
            </a:r>
          </a:p>
          <a:p>
            <a:endParaRPr lang="zh-CN" altLang="en-US" dirty="0"/>
          </a:p>
        </p:txBody>
      </p:sp>
    </p:spTree>
    <p:extLst>
      <p:ext uri="{BB962C8B-B14F-4D97-AF65-F5344CB8AC3E}">
        <p14:creationId xmlns:p14="http://schemas.microsoft.com/office/powerpoint/2010/main" val="2816007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8F71A49-89C1-306E-1D85-E2E1104BC747}"/>
              </a:ext>
            </a:extLst>
          </p:cNvPr>
          <p:cNvSpPr>
            <a:spLocks noGrp="1"/>
          </p:cNvSpPr>
          <p:nvPr>
            <p:ph type="title"/>
          </p:nvPr>
        </p:nvSpPr>
        <p:spPr>
          <a:xfrm>
            <a:off x="486000" y="550723"/>
            <a:ext cx="8172000" cy="338554"/>
          </a:xfrm>
        </p:spPr>
        <p:txBody>
          <a:bodyPr/>
          <a:lstStyle/>
          <a:p>
            <a:r>
              <a:rPr lang="en-US" altLang="zh-CN" dirty="0"/>
              <a:t>4.7.2  </a:t>
            </a:r>
            <a:r>
              <a:rPr lang="zh-CN" altLang="en-US" dirty="0"/>
              <a:t>在局域网上进行硬件多播</a:t>
            </a:r>
          </a:p>
        </p:txBody>
      </p:sp>
      <p:sp>
        <p:nvSpPr>
          <p:cNvPr id="6" name="内容占位符 5">
            <a:extLst>
              <a:ext uri="{FF2B5EF4-FFF2-40B4-BE49-F238E27FC236}">
                <a16:creationId xmlns:a16="http://schemas.microsoft.com/office/drawing/2014/main" id="{DD6E017F-00A9-DEDD-A45D-6049DF29641C}"/>
              </a:ext>
            </a:extLst>
          </p:cNvPr>
          <p:cNvSpPr>
            <a:spLocks noGrp="1"/>
          </p:cNvSpPr>
          <p:nvPr>
            <p:ph sz="quarter" idx="11"/>
          </p:nvPr>
        </p:nvSpPr>
        <p:spPr>
          <a:xfrm>
            <a:off x="486000" y="900000"/>
            <a:ext cx="8172000" cy="3703500"/>
          </a:xfrm>
        </p:spPr>
        <p:txBody>
          <a:bodyPr/>
          <a:lstStyle/>
          <a:p>
            <a:r>
              <a:rPr lang="en-US" altLang="zh-CN" dirty="0"/>
              <a:t>IANA </a:t>
            </a:r>
            <a:r>
              <a:rPr lang="zh-CN" altLang="en-US" dirty="0"/>
              <a:t>拥有的以太网地址块的高 </a:t>
            </a:r>
            <a:r>
              <a:rPr lang="en-US" altLang="zh-CN" dirty="0"/>
              <a:t>24 </a:t>
            </a:r>
            <a:r>
              <a:rPr lang="zh-CN" altLang="en-US" dirty="0"/>
              <a:t>位为 </a:t>
            </a:r>
            <a:r>
              <a:rPr lang="en-US" altLang="zh-CN" dirty="0"/>
              <a:t>00-00-5E</a:t>
            </a:r>
            <a:endParaRPr lang="zh-CN" altLang="en-US" dirty="0"/>
          </a:p>
          <a:p>
            <a:r>
              <a:rPr lang="en-US" altLang="zh-CN" dirty="0"/>
              <a:t>TCP/IP </a:t>
            </a:r>
            <a:r>
              <a:rPr lang="zh-CN" altLang="en-US" dirty="0"/>
              <a:t>协议使用的以太网地址块的范围是：</a:t>
            </a:r>
            <a:r>
              <a:rPr lang="en-US" altLang="zh-CN" dirty="0"/>
              <a:t>00-00-5E-00-00-00 </a:t>
            </a:r>
            <a:r>
              <a:rPr lang="zh-CN" altLang="en-US" dirty="0"/>
              <a:t>到 </a:t>
            </a:r>
            <a:r>
              <a:rPr lang="en-US" altLang="zh-CN" dirty="0"/>
              <a:t>00-00-5E-FF-FF-FF </a:t>
            </a:r>
          </a:p>
          <a:p>
            <a:r>
              <a:rPr lang="en-US" altLang="zh-CN" dirty="0"/>
              <a:t>IANA </a:t>
            </a:r>
            <a:r>
              <a:rPr lang="zh-CN" altLang="en-US" dirty="0"/>
              <a:t>只拿出 </a:t>
            </a:r>
            <a:r>
              <a:rPr lang="en-US" altLang="zh-CN" dirty="0"/>
              <a:t>01-00-5E-00-00-00 </a:t>
            </a:r>
            <a:r>
              <a:rPr lang="zh-CN" altLang="en-US" dirty="0"/>
              <a:t>到 </a:t>
            </a:r>
            <a:r>
              <a:rPr lang="en-US" altLang="zh-CN" dirty="0"/>
              <a:t>01-00-5E-7F-FF-FF </a:t>
            </a:r>
            <a:r>
              <a:rPr lang="zh-CN" altLang="en-US" dirty="0"/>
              <a:t>（</a:t>
            </a:r>
            <a:r>
              <a:rPr lang="en-US" altLang="zh-CN" dirty="0"/>
              <a:t>223 </a:t>
            </a:r>
            <a:r>
              <a:rPr lang="zh-CN" altLang="en-US" dirty="0"/>
              <a:t>个地址）作为以太网多播地址</a:t>
            </a:r>
            <a:endParaRPr lang="en-US" altLang="zh-CN" dirty="0"/>
          </a:p>
          <a:p>
            <a:r>
              <a:rPr lang="zh-CN" altLang="en-US" dirty="0"/>
              <a:t>在 </a:t>
            </a:r>
            <a:r>
              <a:rPr lang="en-US" altLang="zh-CN" dirty="0"/>
              <a:t>48 </a:t>
            </a:r>
            <a:r>
              <a:rPr lang="zh-CN" altLang="en-US" dirty="0"/>
              <a:t>位的多播地址中，前 </a:t>
            </a:r>
            <a:r>
              <a:rPr lang="en-US" altLang="zh-CN" dirty="0"/>
              <a:t>25 </a:t>
            </a:r>
            <a:r>
              <a:rPr lang="zh-CN" altLang="en-US" dirty="0"/>
              <a:t>位都固定不变，只有后 </a:t>
            </a:r>
            <a:r>
              <a:rPr lang="en-US" altLang="zh-CN" dirty="0"/>
              <a:t>23 </a:t>
            </a:r>
            <a:r>
              <a:rPr lang="zh-CN" altLang="en-US" dirty="0"/>
              <a:t>位可用作多播</a:t>
            </a:r>
            <a:endParaRPr lang="en-US" altLang="zh-CN" dirty="0"/>
          </a:p>
          <a:p>
            <a:endParaRPr lang="zh-CN" altLang="en-US" dirty="0"/>
          </a:p>
        </p:txBody>
      </p:sp>
    </p:spTree>
    <p:extLst>
      <p:ext uri="{BB962C8B-B14F-4D97-AF65-F5344CB8AC3E}">
        <p14:creationId xmlns:p14="http://schemas.microsoft.com/office/powerpoint/2010/main" val="4214380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290377" y="3462336"/>
            <a:ext cx="6220183" cy="380826"/>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 name="Line 4"/>
          <p:cNvSpPr>
            <a:spLocks noChangeShapeType="1"/>
          </p:cNvSpPr>
          <p:nvPr/>
        </p:nvSpPr>
        <p:spPr bwMode="auto">
          <a:xfrm>
            <a:off x="141996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 name="Line 5"/>
          <p:cNvSpPr>
            <a:spLocks noChangeShapeType="1"/>
          </p:cNvSpPr>
          <p:nvPr/>
        </p:nvSpPr>
        <p:spPr bwMode="auto">
          <a:xfrm>
            <a:off x="154955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 name="Line 6"/>
          <p:cNvSpPr>
            <a:spLocks noChangeShapeType="1"/>
          </p:cNvSpPr>
          <p:nvPr/>
        </p:nvSpPr>
        <p:spPr bwMode="auto">
          <a:xfrm>
            <a:off x="1679138"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 name="Line 7"/>
          <p:cNvSpPr>
            <a:spLocks noChangeShapeType="1"/>
          </p:cNvSpPr>
          <p:nvPr/>
        </p:nvSpPr>
        <p:spPr bwMode="auto">
          <a:xfrm>
            <a:off x="180872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1" name="Line 8"/>
          <p:cNvSpPr>
            <a:spLocks noChangeShapeType="1"/>
          </p:cNvSpPr>
          <p:nvPr/>
        </p:nvSpPr>
        <p:spPr bwMode="auto">
          <a:xfrm>
            <a:off x="193831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 name="Line 9"/>
          <p:cNvSpPr>
            <a:spLocks noChangeShapeType="1"/>
          </p:cNvSpPr>
          <p:nvPr/>
        </p:nvSpPr>
        <p:spPr bwMode="auto">
          <a:xfrm>
            <a:off x="206790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 name="Line 10"/>
          <p:cNvSpPr>
            <a:spLocks noChangeShapeType="1"/>
          </p:cNvSpPr>
          <p:nvPr/>
        </p:nvSpPr>
        <p:spPr bwMode="auto">
          <a:xfrm>
            <a:off x="219748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 name="Line 11"/>
          <p:cNvSpPr>
            <a:spLocks noChangeShapeType="1"/>
          </p:cNvSpPr>
          <p:nvPr/>
        </p:nvSpPr>
        <p:spPr bwMode="auto">
          <a:xfrm>
            <a:off x="232707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5" name="Line 12"/>
          <p:cNvSpPr>
            <a:spLocks noChangeShapeType="1"/>
          </p:cNvSpPr>
          <p:nvPr/>
        </p:nvSpPr>
        <p:spPr bwMode="auto">
          <a:xfrm>
            <a:off x="245666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6" name="Line 13"/>
          <p:cNvSpPr>
            <a:spLocks noChangeShapeType="1"/>
          </p:cNvSpPr>
          <p:nvPr/>
        </p:nvSpPr>
        <p:spPr bwMode="auto">
          <a:xfrm>
            <a:off x="258624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7" name="Line 14"/>
          <p:cNvSpPr>
            <a:spLocks noChangeShapeType="1"/>
          </p:cNvSpPr>
          <p:nvPr/>
        </p:nvSpPr>
        <p:spPr bwMode="auto">
          <a:xfrm>
            <a:off x="271583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8" name="Line 15"/>
          <p:cNvSpPr>
            <a:spLocks noChangeShapeType="1"/>
          </p:cNvSpPr>
          <p:nvPr/>
        </p:nvSpPr>
        <p:spPr bwMode="auto">
          <a:xfrm>
            <a:off x="284542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9" name="Line 16"/>
          <p:cNvSpPr>
            <a:spLocks noChangeShapeType="1"/>
          </p:cNvSpPr>
          <p:nvPr/>
        </p:nvSpPr>
        <p:spPr bwMode="auto">
          <a:xfrm>
            <a:off x="297501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0" name="Line 17"/>
          <p:cNvSpPr>
            <a:spLocks noChangeShapeType="1"/>
          </p:cNvSpPr>
          <p:nvPr/>
        </p:nvSpPr>
        <p:spPr bwMode="auto">
          <a:xfrm>
            <a:off x="310459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1" name="Line 18"/>
          <p:cNvSpPr>
            <a:spLocks noChangeShapeType="1"/>
          </p:cNvSpPr>
          <p:nvPr/>
        </p:nvSpPr>
        <p:spPr bwMode="auto">
          <a:xfrm>
            <a:off x="323418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2" name="Line 19"/>
          <p:cNvSpPr>
            <a:spLocks noChangeShapeType="1"/>
          </p:cNvSpPr>
          <p:nvPr/>
        </p:nvSpPr>
        <p:spPr bwMode="auto">
          <a:xfrm>
            <a:off x="336377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3" name="Line 20"/>
          <p:cNvSpPr>
            <a:spLocks noChangeShapeType="1"/>
          </p:cNvSpPr>
          <p:nvPr/>
        </p:nvSpPr>
        <p:spPr bwMode="auto">
          <a:xfrm>
            <a:off x="349335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4" name="Line 21"/>
          <p:cNvSpPr>
            <a:spLocks noChangeShapeType="1"/>
          </p:cNvSpPr>
          <p:nvPr/>
        </p:nvSpPr>
        <p:spPr bwMode="auto">
          <a:xfrm>
            <a:off x="362294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5" name="Line 22"/>
          <p:cNvSpPr>
            <a:spLocks noChangeShapeType="1"/>
          </p:cNvSpPr>
          <p:nvPr/>
        </p:nvSpPr>
        <p:spPr bwMode="auto">
          <a:xfrm>
            <a:off x="375253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6" name="Line 23"/>
          <p:cNvSpPr>
            <a:spLocks noChangeShapeType="1"/>
          </p:cNvSpPr>
          <p:nvPr/>
        </p:nvSpPr>
        <p:spPr bwMode="auto">
          <a:xfrm>
            <a:off x="388212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7" name="Line 24"/>
          <p:cNvSpPr>
            <a:spLocks noChangeShapeType="1"/>
          </p:cNvSpPr>
          <p:nvPr/>
        </p:nvSpPr>
        <p:spPr bwMode="auto">
          <a:xfrm>
            <a:off x="401170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8" name="Line 25"/>
          <p:cNvSpPr>
            <a:spLocks noChangeShapeType="1"/>
          </p:cNvSpPr>
          <p:nvPr/>
        </p:nvSpPr>
        <p:spPr bwMode="auto">
          <a:xfrm>
            <a:off x="414129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9" name="Line 26"/>
          <p:cNvSpPr>
            <a:spLocks noChangeShapeType="1"/>
          </p:cNvSpPr>
          <p:nvPr/>
        </p:nvSpPr>
        <p:spPr bwMode="auto">
          <a:xfrm>
            <a:off x="427088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0" name="Line 27"/>
          <p:cNvSpPr>
            <a:spLocks noChangeShapeType="1"/>
          </p:cNvSpPr>
          <p:nvPr/>
        </p:nvSpPr>
        <p:spPr bwMode="auto">
          <a:xfrm>
            <a:off x="440046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1" name="Rectangle 28"/>
          <p:cNvSpPr>
            <a:spLocks noChangeArrowheads="1"/>
          </p:cNvSpPr>
          <p:nvPr/>
        </p:nvSpPr>
        <p:spPr bwMode="auto">
          <a:xfrm>
            <a:off x="4535345" y="3480848"/>
            <a:ext cx="2968604" cy="354380"/>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32" name="Line 29"/>
          <p:cNvSpPr>
            <a:spLocks noChangeShapeType="1"/>
          </p:cNvSpPr>
          <p:nvPr/>
        </p:nvSpPr>
        <p:spPr bwMode="auto">
          <a:xfrm>
            <a:off x="4530056" y="3462336"/>
            <a:ext cx="0" cy="380826"/>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3" name="Line 30"/>
          <p:cNvSpPr>
            <a:spLocks noChangeShapeType="1"/>
          </p:cNvSpPr>
          <p:nvPr/>
        </p:nvSpPr>
        <p:spPr bwMode="auto">
          <a:xfrm>
            <a:off x="465964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4" name="Line 31"/>
          <p:cNvSpPr>
            <a:spLocks noChangeShapeType="1"/>
          </p:cNvSpPr>
          <p:nvPr/>
        </p:nvSpPr>
        <p:spPr bwMode="auto">
          <a:xfrm>
            <a:off x="478923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5" name="Line 32"/>
          <p:cNvSpPr>
            <a:spLocks noChangeShapeType="1"/>
          </p:cNvSpPr>
          <p:nvPr/>
        </p:nvSpPr>
        <p:spPr bwMode="auto">
          <a:xfrm>
            <a:off x="491881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6" name="Line 33"/>
          <p:cNvSpPr>
            <a:spLocks noChangeShapeType="1"/>
          </p:cNvSpPr>
          <p:nvPr/>
        </p:nvSpPr>
        <p:spPr bwMode="auto">
          <a:xfrm>
            <a:off x="504840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7" name="Line 34"/>
          <p:cNvSpPr>
            <a:spLocks noChangeShapeType="1"/>
          </p:cNvSpPr>
          <p:nvPr/>
        </p:nvSpPr>
        <p:spPr bwMode="auto">
          <a:xfrm>
            <a:off x="517799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8" name="Line 35"/>
          <p:cNvSpPr>
            <a:spLocks noChangeShapeType="1"/>
          </p:cNvSpPr>
          <p:nvPr/>
        </p:nvSpPr>
        <p:spPr bwMode="auto">
          <a:xfrm>
            <a:off x="530757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9" name="Line 36"/>
          <p:cNvSpPr>
            <a:spLocks noChangeShapeType="1"/>
          </p:cNvSpPr>
          <p:nvPr/>
        </p:nvSpPr>
        <p:spPr bwMode="auto">
          <a:xfrm>
            <a:off x="543716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0" name="Line 37"/>
          <p:cNvSpPr>
            <a:spLocks noChangeShapeType="1"/>
          </p:cNvSpPr>
          <p:nvPr/>
        </p:nvSpPr>
        <p:spPr bwMode="auto">
          <a:xfrm>
            <a:off x="556675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1" name="Line 38"/>
          <p:cNvSpPr>
            <a:spLocks noChangeShapeType="1"/>
          </p:cNvSpPr>
          <p:nvPr/>
        </p:nvSpPr>
        <p:spPr bwMode="auto">
          <a:xfrm>
            <a:off x="569634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2" name="Line 39"/>
          <p:cNvSpPr>
            <a:spLocks noChangeShapeType="1"/>
          </p:cNvSpPr>
          <p:nvPr/>
        </p:nvSpPr>
        <p:spPr bwMode="auto">
          <a:xfrm>
            <a:off x="582592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3" name="Line 40"/>
          <p:cNvSpPr>
            <a:spLocks noChangeShapeType="1"/>
          </p:cNvSpPr>
          <p:nvPr/>
        </p:nvSpPr>
        <p:spPr bwMode="auto">
          <a:xfrm>
            <a:off x="595551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4" name="Line 41"/>
          <p:cNvSpPr>
            <a:spLocks noChangeShapeType="1"/>
          </p:cNvSpPr>
          <p:nvPr/>
        </p:nvSpPr>
        <p:spPr bwMode="auto">
          <a:xfrm>
            <a:off x="608510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5" name="Line 42"/>
          <p:cNvSpPr>
            <a:spLocks noChangeShapeType="1"/>
          </p:cNvSpPr>
          <p:nvPr/>
        </p:nvSpPr>
        <p:spPr bwMode="auto">
          <a:xfrm>
            <a:off x="621468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6" name="Line 43"/>
          <p:cNvSpPr>
            <a:spLocks noChangeShapeType="1"/>
          </p:cNvSpPr>
          <p:nvPr/>
        </p:nvSpPr>
        <p:spPr bwMode="auto">
          <a:xfrm>
            <a:off x="634427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7" name="Line 44"/>
          <p:cNvSpPr>
            <a:spLocks noChangeShapeType="1"/>
          </p:cNvSpPr>
          <p:nvPr/>
        </p:nvSpPr>
        <p:spPr bwMode="auto">
          <a:xfrm>
            <a:off x="647386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8" name="Line 45"/>
          <p:cNvSpPr>
            <a:spLocks noChangeShapeType="1"/>
          </p:cNvSpPr>
          <p:nvPr/>
        </p:nvSpPr>
        <p:spPr bwMode="auto">
          <a:xfrm>
            <a:off x="660345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9" name="Line 46"/>
          <p:cNvSpPr>
            <a:spLocks noChangeShapeType="1"/>
          </p:cNvSpPr>
          <p:nvPr/>
        </p:nvSpPr>
        <p:spPr bwMode="auto">
          <a:xfrm>
            <a:off x="673303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0" name="Line 47"/>
          <p:cNvSpPr>
            <a:spLocks noChangeShapeType="1"/>
          </p:cNvSpPr>
          <p:nvPr/>
        </p:nvSpPr>
        <p:spPr bwMode="auto">
          <a:xfrm>
            <a:off x="6862625"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1" name="Line 48"/>
          <p:cNvSpPr>
            <a:spLocks noChangeShapeType="1"/>
          </p:cNvSpPr>
          <p:nvPr/>
        </p:nvSpPr>
        <p:spPr bwMode="auto">
          <a:xfrm>
            <a:off x="699221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2" name="Line 49"/>
          <p:cNvSpPr>
            <a:spLocks noChangeShapeType="1"/>
          </p:cNvSpPr>
          <p:nvPr/>
        </p:nvSpPr>
        <p:spPr bwMode="auto">
          <a:xfrm>
            <a:off x="712179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3" name="Line 50"/>
          <p:cNvSpPr>
            <a:spLocks noChangeShapeType="1"/>
          </p:cNvSpPr>
          <p:nvPr/>
        </p:nvSpPr>
        <p:spPr bwMode="auto">
          <a:xfrm>
            <a:off x="725138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4" name="Line 51"/>
          <p:cNvSpPr>
            <a:spLocks noChangeShapeType="1"/>
          </p:cNvSpPr>
          <p:nvPr/>
        </p:nvSpPr>
        <p:spPr bwMode="auto">
          <a:xfrm>
            <a:off x="738097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5" name="Rectangle 52"/>
          <p:cNvSpPr>
            <a:spLocks noChangeArrowheads="1"/>
          </p:cNvSpPr>
          <p:nvPr/>
        </p:nvSpPr>
        <p:spPr bwMode="auto">
          <a:xfrm>
            <a:off x="1355171"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6" name="Rectangle 53"/>
          <p:cNvSpPr>
            <a:spLocks noChangeArrowheads="1"/>
          </p:cNvSpPr>
          <p:nvPr/>
        </p:nvSpPr>
        <p:spPr bwMode="auto">
          <a:xfrm>
            <a:off x="1873520"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7" name="Rectangle 54"/>
          <p:cNvSpPr>
            <a:spLocks noChangeArrowheads="1"/>
          </p:cNvSpPr>
          <p:nvPr/>
        </p:nvSpPr>
        <p:spPr bwMode="auto">
          <a:xfrm>
            <a:off x="2391868"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8" name="Rectangle 55"/>
          <p:cNvSpPr>
            <a:spLocks noChangeArrowheads="1"/>
          </p:cNvSpPr>
          <p:nvPr/>
        </p:nvSpPr>
        <p:spPr bwMode="auto">
          <a:xfrm>
            <a:off x="2910217"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9" name="Rectangle 56"/>
          <p:cNvSpPr>
            <a:spLocks noChangeArrowheads="1"/>
          </p:cNvSpPr>
          <p:nvPr/>
        </p:nvSpPr>
        <p:spPr bwMode="auto">
          <a:xfrm>
            <a:off x="3428565"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0" name="Rectangle 57"/>
          <p:cNvSpPr>
            <a:spLocks noChangeArrowheads="1"/>
          </p:cNvSpPr>
          <p:nvPr/>
        </p:nvSpPr>
        <p:spPr bwMode="auto">
          <a:xfrm>
            <a:off x="3946914"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1" name="Rectangle 58"/>
          <p:cNvSpPr>
            <a:spLocks noChangeArrowheads="1"/>
          </p:cNvSpPr>
          <p:nvPr/>
        </p:nvSpPr>
        <p:spPr bwMode="auto">
          <a:xfrm>
            <a:off x="4536668" y="3525807"/>
            <a:ext cx="317356"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2" name="Rectangle 59"/>
          <p:cNvSpPr>
            <a:spLocks noChangeArrowheads="1"/>
          </p:cNvSpPr>
          <p:nvPr/>
        </p:nvSpPr>
        <p:spPr bwMode="auto">
          <a:xfrm>
            <a:off x="4983611"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3" name="Rectangle 60"/>
          <p:cNvSpPr>
            <a:spLocks noChangeArrowheads="1"/>
          </p:cNvSpPr>
          <p:nvPr/>
        </p:nvSpPr>
        <p:spPr bwMode="auto">
          <a:xfrm>
            <a:off x="5501960"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4" name="Rectangle 61"/>
          <p:cNvSpPr>
            <a:spLocks noChangeArrowheads="1"/>
          </p:cNvSpPr>
          <p:nvPr/>
        </p:nvSpPr>
        <p:spPr bwMode="auto">
          <a:xfrm>
            <a:off x="6020308"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5" name="Rectangle 62"/>
          <p:cNvSpPr>
            <a:spLocks noChangeArrowheads="1"/>
          </p:cNvSpPr>
          <p:nvPr/>
        </p:nvSpPr>
        <p:spPr bwMode="auto">
          <a:xfrm>
            <a:off x="6538657"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6" name="Rectangle 63"/>
          <p:cNvSpPr>
            <a:spLocks noChangeArrowheads="1"/>
          </p:cNvSpPr>
          <p:nvPr/>
        </p:nvSpPr>
        <p:spPr bwMode="auto">
          <a:xfrm>
            <a:off x="7057006"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7" name="Rectangle 64"/>
          <p:cNvSpPr>
            <a:spLocks noChangeArrowheads="1"/>
          </p:cNvSpPr>
          <p:nvPr/>
        </p:nvSpPr>
        <p:spPr bwMode="auto">
          <a:xfrm>
            <a:off x="1743932"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8" name="Rectangle 65"/>
          <p:cNvSpPr>
            <a:spLocks noChangeArrowheads="1"/>
          </p:cNvSpPr>
          <p:nvPr/>
        </p:nvSpPr>
        <p:spPr bwMode="auto">
          <a:xfrm>
            <a:off x="2780630"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9" name="Rectangle 66"/>
          <p:cNvSpPr>
            <a:spLocks noChangeArrowheads="1"/>
          </p:cNvSpPr>
          <p:nvPr/>
        </p:nvSpPr>
        <p:spPr bwMode="auto">
          <a:xfrm>
            <a:off x="3827905"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0" name="Rectangle 67"/>
          <p:cNvSpPr>
            <a:spLocks noChangeArrowheads="1"/>
          </p:cNvSpPr>
          <p:nvPr/>
        </p:nvSpPr>
        <p:spPr bwMode="auto">
          <a:xfrm>
            <a:off x="484344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1" name="Rectangle 68"/>
          <p:cNvSpPr>
            <a:spLocks noChangeArrowheads="1"/>
          </p:cNvSpPr>
          <p:nvPr/>
        </p:nvSpPr>
        <p:spPr bwMode="auto">
          <a:xfrm>
            <a:off x="585898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2" name="Rectangle 69"/>
          <p:cNvSpPr>
            <a:spLocks noChangeArrowheads="1"/>
          </p:cNvSpPr>
          <p:nvPr/>
        </p:nvSpPr>
        <p:spPr bwMode="auto">
          <a:xfrm>
            <a:off x="696047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3" name="Rectangle 70"/>
          <p:cNvSpPr>
            <a:spLocks noChangeArrowheads="1"/>
          </p:cNvSpPr>
          <p:nvPr/>
        </p:nvSpPr>
        <p:spPr bwMode="auto">
          <a:xfrm>
            <a:off x="3363771" y="2383329"/>
            <a:ext cx="4136210" cy="380826"/>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4" name="Line 71"/>
          <p:cNvSpPr>
            <a:spLocks noChangeShapeType="1"/>
          </p:cNvSpPr>
          <p:nvPr/>
        </p:nvSpPr>
        <p:spPr bwMode="auto">
          <a:xfrm>
            <a:off x="349335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5" name="Line 72"/>
          <p:cNvSpPr>
            <a:spLocks noChangeShapeType="1"/>
          </p:cNvSpPr>
          <p:nvPr/>
        </p:nvSpPr>
        <p:spPr bwMode="auto">
          <a:xfrm>
            <a:off x="362294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6" name="Line 73"/>
          <p:cNvSpPr>
            <a:spLocks noChangeShapeType="1"/>
          </p:cNvSpPr>
          <p:nvPr/>
        </p:nvSpPr>
        <p:spPr bwMode="auto">
          <a:xfrm>
            <a:off x="375121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7" name="Line 74"/>
          <p:cNvSpPr>
            <a:spLocks noChangeShapeType="1"/>
          </p:cNvSpPr>
          <p:nvPr/>
        </p:nvSpPr>
        <p:spPr bwMode="auto">
          <a:xfrm>
            <a:off x="388079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8" name="Line 75"/>
          <p:cNvSpPr>
            <a:spLocks noChangeShapeType="1"/>
          </p:cNvSpPr>
          <p:nvPr/>
        </p:nvSpPr>
        <p:spPr bwMode="auto">
          <a:xfrm>
            <a:off x="401038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9" name="Line 76"/>
          <p:cNvSpPr>
            <a:spLocks noChangeShapeType="1"/>
          </p:cNvSpPr>
          <p:nvPr/>
        </p:nvSpPr>
        <p:spPr bwMode="auto">
          <a:xfrm>
            <a:off x="4139972"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0" name="Line 77"/>
          <p:cNvSpPr>
            <a:spLocks noChangeShapeType="1"/>
          </p:cNvSpPr>
          <p:nvPr/>
        </p:nvSpPr>
        <p:spPr bwMode="auto">
          <a:xfrm>
            <a:off x="4268237"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1" name="Line 78"/>
          <p:cNvSpPr>
            <a:spLocks noChangeShapeType="1"/>
          </p:cNvSpPr>
          <p:nvPr/>
        </p:nvSpPr>
        <p:spPr bwMode="auto">
          <a:xfrm>
            <a:off x="4397822" y="2383332"/>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2" name="Line 79"/>
          <p:cNvSpPr>
            <a:spLocks noChangeShapeType="1"/>
          </p:cNvSpPr>
          <p:nvPr/>
        </p:nvSpPr>
        <p:spPr bwMode="auto">
          <a:xfrm>
            <a:off x="452741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3" name="Rectangle 80"/>
          <p:cNvSpPr>
            <a:spLocks noChangeArrowheads="1"/>
          </p:cNvSpPr>
          <p:nvPr/>
        </p:nvSpPr>
        <p:spPr bwMode="auto">
          <a:xfrm>
            <a:off x="4527411" y="2399197"/>
            <a:ext cx="2967281" cy="35702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84" name="Line 81"/>
          <p:cNvSpPr>
            <a:spLocks noChangeShapeType="1"/>
          </p:cNvSpPr>
          <p:nvPr/>
        </p:nvSpPr>
        <p:spPr bwMode="auto">
          <a:xfrm>
            <a:off x="465699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5" name="Line 82"/>
          <p:cNvSpPr>
            <a:spLocks noChangeShapeType="1"/>
          </p:cNvSpPr>
          <p:nvPr/>
        </p:nvSpPr>
        <p:spPr bwMode="auto">
          <a:xfrm>
            <a:off x="478526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6" name="Line 83"/>
          <p:cNvSpPr>
            <a:spLocks noChangeShapeType="1"/>
          </p:cNvSpPr>
          <p:nvPr/>
        </p:nvSpPr>
        <p:spPr bwMode="auto">
          <a:xfrm>
            <a:off x="491485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7" name="Line 84"/>
          <p:cNvSpPr>
            <a:spLocks noChangeShapeType="1"/>
          </p:cNvSpPr>
          <p:nvPr/>
        </p:nvSpPr>
        <p:spPr bwMode="auto">
          <a:xfrm>
            <a:off x="504443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8" name="Line 85"/>
          <p:cNvSpPr>
            <a:spLocks noChangeShapeType="1"/>
          </p:cNvSpPr>
          <p:nvPr/>
        </p:nvSpPr>
        <p:spPr bwMode="auto">
          <a:xfrm>
            <a:off x="517402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9" name="Line 86"/>
          <p:cNvSpPr>
            <a:spLocks noChangeShapeType="1"/>
          </p:cNvSpPr>
          <p:nvPr/>
        </p:nvSpPr>
        <p:spPr bwMode="auto">
          <a:xfrm>
            <a:off x="530228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0" name="Line 87"/>
          <p:cNvSpPr>
            <a:spLocks noChangeShapeType="1"/>
          </p:cNvSpPr>
          <p:nvPr/>
        </p:nvSpPr>
        <p:spPr bwMode="auto">
          <a:xfrm>
            <a:off x="5431877"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1" name="Line 88"/>
          <p:cNvSpPr>
            <a:spLocks noChangeShapeType="1"/>
          </p:cNvSpPr>
          <p:nvPr/>
        </p:nvSpPr>
        <p:spPr bwMode="auto">
          <a:xfrm>
            <a:off x="556146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2" name="Line 89"/>
          <p:cNvSpPr>
            <a:spLocks noChangeShapeType="1"/>
          </p:cNvSpPr>
          <p:nvPr/>
        </p:nvSpPr>
        <p:spPr bwMode="auto">
          <a:xfrm>
            <a:off x="569105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3" name="Line 90"/>
          <p:cNvSpPr>
            <a:spLocks noChangeShapeType="1"/>
          </p:cNvSpPr>
          <p:nvPr/>
        </p:nvSpPr>
        <p:spPr bwMode="auto">
          <a:xfrm>
            <a:off x="581931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4" name="Line 91"/>
          <p:cNvSpPr>
            <a:spLocks noChangeShapeType="1"/>
          </p:cNvSpPr>
          <p:nvPr/>
        </p:nvSpPr>
        <p:spPr bwMode="auto">
          <a:xfrm>
            <a:off x="5948903"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5" name="Line 92"/>
          <p:cNvSpPr>
            <a:spLocks noChangeShapeType="1"/>
          </p:cNvSpPr>
          <p:nvPr/>
        </p:nvSpPr>
        <p:spPr bwMode="auto">
          <a:xfrm>
            <a:off x="6078490"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6" name="Line 93"/>
          <p:cNvSpPr>
            <a:spLocks noChangeShapeType="1"/>
          </p:cNvSpPr>
          <p:nvPr/>
        </p:nvSpPr>
        <p:spPr bwMode="auto">
          <a:xfrm>
            <a:off x="620807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7" name="Line 94"/>
          <p:cNvSpPr>
            <a:spLocks noChangeShapeType="1"/>
          </p:cNvSpPr>
          <p:nvPr/>
        </p:nvSpPr>
        <p:spPr bwMode="auto">
          <a:xfrm>
            <a:off x="6336342"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8" name="Line 95"/>
          <p:cNvSpPr>
            <a:spLocks noChangeShapeType="1"/>
          </p:cNvSpPr>
          <p:nvPr/>
        </p:nvSpPr>
        <p:spPr bwMode="auto">
          <a:xfrm>
            <a:off x="646592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9" name="Line 96"/>
          <p:cNvSpPr>
            <a:spLocks noChangeShapeType="1"/>
          </p:cNvSpPr>
          <p:nvPr/>
        </p:nvSpPr>
        <p:spPr bwMode="auto">
          <a:xfrm>
            <a:off x="659551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0" name="Line 97"/>
          <p:cNvSpPr>
            <a:spLocks noChangeShapeType="1"/>
          </p:cNvSpPr>
          <p:nvPr/>
        </p:nvSpPr>
        <p:spPr bwMode="auto">
          <a:xfrm>
            <a:off x="672510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1" name="Line 98"/>
          <p:cNvSpPr>
            <a:spLocks noChangeShapeType="1"/>
          </p:cNvSpPr>
          <p:nvPr/>
        </p:nvSpPr>
        <p:spPr bwMode="auto">
          <a:xfrm>
            <a:off x="685336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2" name="Line 99"/>
          <p:cNvSpPr>
            <a:spLocks noChangeShapeType="1"/>
          </p:cNvSpPr>
          <p:nvPr/>
        </p:nvSpPr>
        <p:spPr bwMode="auto">
          <a:xfrm>
            <a:off x="698295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3" name="Line 100"/>
          <p:cNvSpPr>
            <a:spLocks noChangeShapeType="1"/>
          </p:cNvSpPr>
          <p:nvPr/>
        </p:nvSpPr>
        <p:spPr bwMode="auto">
          <a:xfrm>
            <a:off x="7112543"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4" name="Line 101"/>
          <p:cNvSpPr>
            <a:spLocks noChangeShapeType="1"/>
          </p:cNvSpPr>
          <p:nvPr/>
        </p:nvSpPr>
        <p:spPr bwMode="auto">
          <a:xfrm>
            <a:off x="7242130"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5" name="Line 102"/>
          <p:cNvSpPr>
            <a:spLocks noChangeShapeType="1"/>
          </p:cNvSpPr>
          <p:nvPr/>
        </p:nvSpPr>
        <p:spPr bwMode="auto">
          <a:xfrm>
            <a:off x="737039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6" name="Rectangle 103"/>
          <p:cNvSpPr>
            <a:spLocks noChangeArrowheads="1"/>
          </p:cNvSpPr>
          <p:nvPr/>
        </p:nvSpPr>
        <p:spPr bwMode="auto">
          <a:xfrm>
            <a:off x="3428565" y="2446800"/>
            <a:ext cx="387439"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7" name="Rectangle 104"/>
          <p:cNvSpPr>
            <a:spLocks noChangeArrowheads="1"/>
          </p:cNvSpPr>
          <p:nvPr/>
        </p:nvSpPr>
        <p:spPr bwMode="auto">
          <a:xfrm>
            <a:off x="4526089" y="2446800"/>
            <a:ext cx="323967"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08" name="Rectangle 105"/>
          <p:cNvSpPr>
            <a:spLocks noChangeArrowheads="1"/>
          </p:cNvSpPr>
          <p:nvPr/>
        </p:nvSpPr>
        <p:spPr bwMode="auto">
          <a:xfrm>
            <a:off x="3945591" y="2446800"/>
            <a:ext cx="499118"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9" name="Rectangle 106"/>
          <p:cNvSpPr>
            <a:spLocks noChangeArrowheads="1"/>
          </p:cNvSpPr>
          <p:nvPr/>
        </p:nvSpPr>
        <p:spPr bwMode="auto">
          <a:xfrm>
            <a:off x="4979644"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0" name="Rectangle 107"/>
          <p:cNvSpPr>
            <a:spLocks noChangeArrowheads="1"/>
          </p:cNvSpPr>
          <p:nvPr/>
        </p:nvSpPr>
        <p:spPr bwMode="auto">
          <a:xfrm>
            <a:off x="5496671" y="2446800"/>
            <a:ext cx="387439"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1" name="Rectangle 108"/>
          <p:cNvSpPr>
            <a:spLocks noChangeArrowheads="1"/>
          </p:cNvSpPr>
          <p:nvPr/>
        </p:nvSpPr>
        <p:spPr bwMode="auto">
          <a:xfrm>
            <a:off x="6013696"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2" name="Rectangle 109"/>
          <p:cNvSpPr>
            <a:spLocks noChangeArrowheads="1"/>
          </p:cNvSpPr>
          <p:nvPr/>
        </p:nvSpPr>
        <p:spPr bwMode="auto">
          <a:xfrm>
            <a:off x="6530723" y="2446800"/>
            <a:ext cx="387439"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3" name="Rectangle 110"/>
          <p:cNvSpPr>
            <a:spLocks noChangeArrowheads="1"/>
          </p:cNvSpPr>
          <p:nvPr/>
        </p:nvSpPr>
        <p:spPr bwMode="auto">
          <a:xfrm>
            <a:off x="7047749"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4" name="Rectangle 111"/>
          <p:cNvSpPr>
            <a:spLocks noChangeArrowheads="1"/>
          </p:cNvSpPr>
          <p:nvPr/>
        </p:nvSpPr>
        <p:spPr bwMode="auto">
          <a:xfrm>
            <a:off x="3826583" y="2478536"/>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15" name="Rectangle 112"/>
          <p:cNvSpPr>
            <a:spLocks noChangeArrowheads="1"/>
          </p:cNvSpPr>
          <p:nvPr/>
        </p:nvSpPr>
        <p:spPr bwMode="auto">
          <a:xfrm>
            <a:off x="4839478" y="2478536"/>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6" name="Rectangle 113"/>
          <p:cNvSpPr>
            <a:spLocks noChangeArrowheads="1"/>
          </p:cNvSpPr>
          <p:nvPr/>
        </p:nvSpPr>
        <p:spPr bwMode="auto">
          <a:xfrm>
            <a:off x="5852374" y="2478536"/>
            <a:ext cx="128265"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7" name="Rectangle 114"/>
          <p:cNvSpPr>
            <a:spLocks noChangeArrowheads="1"/>
          </p:cNvSpPr>
          <p:nvPr/>
        </p:nvSpPr>
        <p:spPr bwMode="auto">
          <a:xfrm>
            <a:off x="6951220" y="2478536"/>
            <a:ext cx="128264"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21" name="Text Box 118"/>
          <p:cNvSpPr txBox="1">
            <a:spLocks noChangeArrowheads="1"/>
          </p:cNvSpPr>
          <p:nvPr/>
        </p:nvSpPr>
        <p:spPr bwMode="auto">
          <a:xfrm>
            <a:off x="4322176" y="3496194"/>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00000"/>
                </a:solidFill>
                <a:latin typeface="Montserrat" panose="00000500000000000000" pitchFamily="2" charset="0"/>
                <a:ea typeface="微软雅黑" pitchFamily="34" charset="-122"/>
              </a:rPr>
              <a:t>0</a:t>
            </a:r>
          </a:p>
        </p:txBody>
      </p:sp>
      <p:sp>
        <p:nvSpPr>
          <p:cNvPr id="123" name="Line 120"/>
          <p:cNvSpPr>
            <a:spLocks noChangeShapeType="1"/>
          </p:cNvSpPr>
          <p:nvPr/>
        </p:nvSpPr>
        <p:spPr bwMode="auto">
          <a:xfrm>
            <a:off x="4527411" y="2827626"/>
            <a:ext cx="0" cy="634710"/>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4" name="Line 121"/>
          <p:cNvSpPr>
            <a:spLocks noChangeShapeType="1"/>
          </p:cNvSpPr>
          <p:nvPr/>
        </p:nvSpPr>
        <p:spPr bwMode="auto">
          <a:xfrm>
            <a:off x="7510560" y="2827626"/>
            <a:ext cx="0" cy="634710"/>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5" name="Text Box 122"/>
          <p:cNvSpPr txBox="1">
            <a:spLocks noChangeArrowheads="1"/>
          </p:cNvSpPr>
          <p:nvPr/>
        </p:nvSpPr>
        <p:spPr bwMode="auto">
          <a:xfrm>
            <a:off x="3263346" y="2107290"/>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0</a:t>
            </a:r>
          </a:p>
        </p:txBody>
      </p:sp>
      <p:sp>
        <p:nvSpPr>
          <p:cNvPr id="126" name="Text Box 123"/>
          <p:cNvSpPr txBox="1">
            <a:spLocks noChangeArrowheads="1"/>
          </p:cNvSpPr>
          <p:nvPr/>
        </p:nvSpPr>
        <p:spPr bwMode="auto">
          <a:xfrm>
            <a:off x="4300043" y="2107290"/>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8</a:t>
            </a:r>
          </a:p>
        </p:txBody>
      </p:sp>
      <p:sp>
        <p:nvSpPr>
          <p:cNvPr id="127" name="Text Box 124"/>
          <p:cNvSpPr txBox="1">
            <a:spLocks noChangeArrowheads="1"/>
          </p:cNvSpPr>
          <p:nvPr/>
        </p:nvSpPr>
        <p:spPr bwMode="auto">
          <a:xfrm>
            <a:off x="5326161" y="2107290"/>
            <a:ext cx="33374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16</a:t>
            </a:r>
          </a:p>
        </p:txBody>
      </p:sp>
      <p:sp>
        <p:nvSpPr>
          <p:cNvPr id="128" name="Text Box 125"/>
          <p:cNvSpPr txBox="1">
            <a:spLocks noChangeArrowheads="1"/>
          </p:cNvSpPr>
          <p:nvPr/>
        </p:nvSpPr>
        <p:spPr bwMode="auto">
          <a:xfrm>
            <a:off x="6341703" y="210729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24</a:t>
            </a:r>
          </a:p>
        </p:txBody>
      </p:sp>
      <p:sp>
        <p:nvSpPr>
          <p:cNvPr id="129" name="Text Box 126"/>
          <p:cNvSpPr txBox="1">
            <a:spLocks noChangeArrowheads="1"/>
          </p:cNvSpPr>
          <p:nvPr/>
        </p:nvSpPr>
        <p:spPr bwMode="auto">
          <a:xfrm>
            <a:off x="7240879" y="2107290"/>
            <a:ext cx="32733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31</a:t>
            </a:r>
          </a:p>
        </p:txBody>
      </p:sp>
      <p:sp>
        <p:nvSpPr>
          <p:cNvPr id="130" name="Text Box 127"/>
          <p:cNvSpPr txBox="1">
            <a:spLocks noChangeArrowheads="1"/>
          </p:cNvSpPr>
          <p:nvPr/>
        </p:nvSpPr>
        <p:spPr bwMode="auto">
          <a:xfrm>
            <a:off x="1906415" y="2403104"/>
            <a:ext cx="105990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D </a:t>
            </a:r>
            <a:r>
              <a:rPr kumimoji="1" lang="zh-CN" altLang="zh-CN" sz="1200" dirty="0">
                <a:latin typeface="Montserrat" panose="00000500000000000000" pitchFamily="2" charset="0"/>
                <a:ea typeface="微软雅黑" pitchFamily="34" charset="-122"/>
              </a:rPr>
              <a:t>类 </a:t>
            </a:r>
            <a:r>
              <a:rPr kumimoji="1" lang="en-US" altLang="zh-CN" sz="1200" dirty="0">
                <a:latin typeface="Montserrat" panose="00000500000000000000" pitchFamily="2" charset="0"/>
                <a:ea typeface="微软雅黑" pitchFamily="34" charset="-122"/>
              </a:rPr>
              <a:t>IP </a:t>
            </a:r>
            <a:r>
              <a:rPr kumimoji="1" lang="zh-CN" altLang="zh-CN" sz="1200" dirty="0">
                <a:latin typeface="Montserrat" panose="00000500000000000000" pitchFamily="2" charset="0"/>
                <a:ea typeface="微软雅黑" pitchFamily="34" charset="-122"/>
              </a:rPr>
              <a:t>地址</a:t>
            </a:r>
            <a:endParaRPr kumimoji="1" lang="zh-CN" altLang="en-US" sz="1200" dirty="0">
              <a:latin typeface="Montserrat" panose="00000500000000000000" pitchFamily="2" charset="0"/>
              <a:ea typeface="微软雅黑" pitchFamily="34" charset="-122"/>
            </a:endParaRPr>
          </a:p>
        </p:txBody>
      </p:sp>
      <p:sp>
        <p:nvSpPr>
          <p:cNvPr id="131" name="Line 128"/>
          <p:cNvSpPr>
            <a:spLocks noChangeShapeType="1"/>
          </p:cNvSpPr>
          <p:nvPr/>
        </p:nvSpPr>
        <p:spPr bwMode="auto">
          <a:xfrm flipV="1">
            <a:off x="3882120" y="2002504"/>
            <a:ext cx="0" cy="31735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2" name="Line 129"/>
          <p:cNvSpPr>
            <a:spLocks noChangeShapeType="1"/>
          </p:cNvSpPr>
          <p:nvPr/>
        </p:nvSpPr>
        <p:spPr bwMode="auto">
          <a:xfrm flipV="1">
            <a:off x="4527411" y="2002504"/>
            <a:ext cx="0" cy="75636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3" name="Line 130"/>
          <p:cNvSpPr>
            <a:spLocks noChangeShapeType="1"/>
          </p:cNvSpPr>
          <p:nvPr/>
        </p:nvSpPr>
        <p:spPr bwMode="auto">
          <a:xfrm>
            <a:off x="3892699" y="2065974"/>
            <a:ext cx="63471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4" name="Line 131"/>
          <p:cNvSpPr>
            <a:spLocks noChangeShapeType="1"/>
          </p:cNvSpPr>
          <p:nvPr/>
        </p:nvSpPr>
        <p:spPr bwMode="auto">
          <a:xfrm>
            <a:off x="4535345" y="4063988"/>
            <a:ext cx="2983149"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5" name="Text Box 133"/>
          <p:cNvSpPr txBox="1">
            <a:spLocks noChangeArrowheads="1"/>
          </p:cNvSpPr>
          <p:nvPr/>
        </p:nvSpPr>
        <p:spPr bwMode="auto">
          <a:xfrm>
            <a:off x="4578212" y="1706917"/>
            <a:ext cx="11416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C00000"/>
                </a:solidFill>
                <a:latin typeface="Montserrat" panose="00000500000000000000" pitchFamily="2" charset="0"/>
                <a:ea typeface="微软雅黑" pitchFamily="34" charset="-122"/>
              </a:rPr>
              <a:t>这</a:t>
            </a:r>
            <a:r>
              <a:rPr kumimoji="1" lang="zh-CN" altLang="zh-CN" sz="1200" dirty="0">
                <a:solidFill>
                  <a:srgbClr val="C00000"/>
                </a:solidFill>
                <a:latin typeface="Montserrat" panose="00000500000000000000" pitchFamily="2" charset="0"/>
                <a:ea typeface="微软雅黑" pitchFamily="34" charset="-122"/>
              </a:rPr>
              <a:t> 5</a:t>
            </a:r>
            <a:r>
              <a:rPr kumimoji="1" lang="en-US" altLang="zh-CN" sz="1200" dirty="0">
                <a:solidFill>
                  <a:srgbClr val="C00000"/>
                </a:solidFill>
                <a:latin typeface="Montserrat" panose="00000500000000000000" pitchFamily="2" charset="0"/>
                <a:ea typeface="微软雅黑" pitchFamily="34" charset="-122"/>
              </a:rPr>
              <a:t> </a:t>
            </a:r>
            <a:r>
              <a:rPr kumimoji="1" lang="zh-CN" altLang="en-US" sz="1200" dirty="0">
                <a:solidFill>
                  <a:srgbClr val="C00000"/>
                </a:solidFill>
                <a:latin typeface="Montserrat" panose="00000500000000000000" pitchFamily="2" charset="0"/>
                <a:ea typeface="微软雅黑" pitchFamily="34" charset="-122"/>
              </a:rPr>
              <a:t>位不使用</a:t>
            </a:r>
          </a:p>
        </p:txBody>
      </p:sp>
      <p:sp>
        <p:nvSpPr>
          <p:cNvPr id="136" name="Arc 134"/>
          <p:cNvSpPr>
            <a:spLocks/>
          </p:cNvSpPr>
          <p:nvPr/>
        </p:nvSpPr>
        <p:spPr bwMode="auto">
          <a:xfrm flipH="1">
            <a:off x="4211378" y="1875562"/>
            <a:ext cx="415208" cy="190413"/>
          </a:xfrm>
          <a:custGeom>
            <a:avLst/>
            <a:gdLst>
              <a:gd name="G0" fmla="+- 1956 0 0"/>
              <a:gd name="G1" fmla="+- 21600 0 0"/>
              <a:gd name="G2" fmla="+- 21600 0 0"/>
              <a:gd name="T0" fmla="*/ 0 w 23556"/>
              <a:gd name="T1" fmla="*/ 89 h 21600"/>
              <a:gd name="T2" fmla="*/ 23556 w 23556"/>
              <a:gd name="T3" fmla="*/ 21600 h 21600"/>
              <a:gd name="T4" fmla="*/ 1956 w 23556"/>
              <a:gd name="T5" fmla="*/ 21600 h 21600"/>
            </a:gdLst>
            <a:ahLst/>
            <a:cxnLst>
              <a:cxn ang="0">
                <a:pos x="T0" y="T1"/>
              </a:cxn>
              <a:cxn ang="0">
                <a:pos x="T2" y="T3"/>
              </a:cxn>
              <a:cxn ang="0">
                <a:pos x="T4" y="T5"/>
              </a:cxn>
            </a:cxnLst>
            <a:rect l="0" t="0" r="r" b="b"/>
            <a:pathLst>
              <a:path w="23556" h="21600" fill="none" extrusionOk="0">
                <a:moveTo>
                  <a:pt x="-1" y="88"/>
                </a:moveTo>
                <a:cubicBezTo>
                  <a:pt x="650" y="29"/>
                  <a:pt x="1302" y="-1"/>
                  <a:pt x="1956" y="0"/>
                </a:cubicBezTo>
                <a:cubicBezTo>
                  <a:pt x="13885" y="0"/>
                  <a:pt x="23556" y="9670"/>
                  <a:pt x="23556" y="21600"/>
                </a:cubicBezTo>
              </a:path>
              <a:path w="23556" h="21600" stroke="0" extrusionOk="0">
                <a:moveTo>
                  <a:pt x="-1" y="88"/>
                </a:moveTo>
                <a:cubicBezTo>
                  <a:pt x="650" y="29"/>
                  <a:pt x="1302" y="-1"/>
                  <a:pt x="1956" y="0"/>
                </a:cubicBezTo>
                <a:cubicBezTo>
                  <a:pt x="13885" y="0"/>
                  <a:pt x="23556" y="9670"/>
                  <a:pt x="23556" y="21600"/>
                </a:cubicBezTo>
                <a:lnTo>
                  <a:pt x="1956" y="21600"/>
                </a:lnTo>
                <a:close/>
              </a:path>
            </a:pathLst>
          </a:custGeom>
          <a:noFill/>
          <a:ln w="9525">
            <a:solidFill>
              <a:schemeClr val="tx1"/>
            </a:solidFill>
            <a:round/>
            <a:headEnd type="triangle" w="sm" len="me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7" name="Line 135"/>
          <p:cNvSpPr>
            <a:spLocks noChangeShapeType="1"/>
          </p:cNvSpPr>
          <p:nvPr/>
        </p:nvSpPr>
        <p:spPr bwMode="auto">
          <a:xfrm>
            <a:off x="1290377" y="3906633"/>
            <a:ext cx="0" cy="61752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8" name="Line 136"/>
          <p:cNvSpPr>
            <a:spLocks noChangeShapeType="1"/>
          </p:cNvSpPr>
          <p:nvPr/>
        </p:nvSpPr>
        <p:spPr bwMode="auto">
          <a:xfrm flipH="1">
            <a:off x="7506594" y="3906633"/>
            <a:ext cx="3967" cy="57520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9" name="Line 137"/>
          <p:cNvSpPr>
            <a:spLocks noChangeShapeType="1"/>
          </p:cNvSpPr>
          <p:nvPr/>
        </p:nvSpPr>
        <p:spPr bwMode="auto">
          <a:xfrm>
            <a:off x="1300956" y="4376054"/>
            <a:ext cx="622018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0" name="Text Box 138"/>
          <p:cNvSpPr txBox="1">
            <a:spLocks noChangeArrowheads="1"/>
          </p:cNvSpPr>
          <p:nvPr/>
        </p:nvSpPr>
        <p:spPr bwMode="auto">
          <a:xfrm>
            <a:off x="3608050" y="4240182"/>
            <a:ext cx="1343638" cy="27700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zh-CN" sz="1200" dirty="0">
                <a:solidFill>
                  <a:srgbClr val="0000FF"/>
                </a:solidFill>
                <a:latin typeface="Montserrat" panose="00000500000000000000" pitchFamily="2" charset="0"/>
                <a:ea typeface="微软雅黑" pitchFamily="34" charset="-122"/>
              </a:rPr>
              <a:t>48 </a:t>
            </a:r>
            <a:r>
              <a:rPr kumimoji="1" lang="zh-CN" altLang="en-US" sz="1200" dirty="0">
                <a:solidFill>
                  <a:srgbClr val="0000FF"/>
                </a:solidFill>
                <a:latin typeface="Montserrat" panose="00000500000000000000" pitchFamily="2" charset="0"/>
                <a:ea typeface="微软雅黑" pitchFamily="34" charset="-122"/>
              </a:rPr>
              <a:t>位</a:t>
            </a:r>
            <a:r>
              <a:rPr kumimoji="1" lang="zh-CN" altLang="zh-CN" sz="1200" dirty="0">
                <a:solidFill>
                  <a:srgbClr val="0000FF"/>
                </a:solidFill>
                <a:latin typeface="Montserrat" panose="00000500000000000000" pitchFamily="2" charset="0"/>
                <a:ea typeface="微软雅黑" pitchFamily="34" charset="-122"/>
              </a:rPr>
              <a:t>以太网地址</a:t>
            </a:r>
            <a:endParaRPr kumimoji="1" lang="zh-CN" altLang="en-US" sz="1200" dirty="0">
              <a:solidFill>
                <a:srgbClr val="0000FF"/>
              </a:solidFill>
              <a:latin typeface="Montserrat" panose="00000500000000000000" pitchFamily="2" charset="0"/>
              <a:ea typeface="微软雅黑" pitchFamily="34" charset="-122"/>
            </a:endParaRPr>
          </a:p>
        </p:txBody>
      </p:sp>
      <p:sp>
        <p:nvSpPr>
          <p:cNvPr id="141" name="Text Box 139"/>
          <p:cNvSpPr txBox="1">
            <a:spLocks noChangeArrowheads="1"/>
          </p:cNvSpPr>
          <p:nvPr/>
        </p:nvSpPr>
        <p:spPr bwMode="auto">
          <a:xfrm>
            <a:off x="1434510" y="3134404"/>
            <a:ext cx="19800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0      1      0      0       5      E</a:t>
            </a:r>
          </a:p>
        </p:txBody>
      </p:sp>
      <p:sp>
        <p:nvSpPr>
          <p:cNvPr id="142" name="Text Box 140"/>
          <p:cNvSpPr txBox="1">
            <a:spLocks noChangeArrowheads="1"/>
          </p:cNvSpPr>
          <p:nvPr/>
        </p:nvSpPr>
        <p:spPr bwMode="auto">
          <a:xfrm>
            <a:off x="1845052" y="395316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rgbClr val="990099"/>
                </a:solidFill>
                <a:latin typeface="Montserrat" panose="00000500000000000000" pitchFamily="2" charset="0"/>
                <a:ea typeface="微软雅黑" pitchFamily="34" charset="-122"/>
              </a:rPr>
              <a:t>表示多播</a:t>
            </a:r>
          </a:p>
        </p:txBody>
      </p:sp>
      <p:sp>
        <p:nvSpPr>
          <p:cNvPr id="143" name="Line 141"/>
          <p:cNvSpPr>
            <a:spLocks noChangeShapeType="1"/>
          </p:cNvSpPr>
          <p:nvPr/>
        </p:nvSpPr>
        <p:spPr bwMode="auto">
          <a:xfrm flipH="1" flipV="1">
            <a:off x="2273283" y="3758536"/>
            <a:ext cx="5289" cy="235372"/>
          </a:xfrm>
          <a:prstGeom prst="line">
            <a:avLst/>
          </a:prstGeom>
          <a:noFill/>
          <a:ln w="571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pitchFamily="34" charset="-122"/>
            </a:endParaRPr>
          </a:p>
        </p:txBody>
      </p:sp>
      <p:sp>
        <p:nvSpPr>
          <p:cNvPr id="144" name="Text Box 132"/>
          <p:cNvSpPr txBox="1">
            <a:spLocks noChangeArrowheads="1"/>
          </p:cNvSpPr>
          <p:nvPr/>
        </p:nvSpPr>
        <p:spPr bwMode="auto">
          <a:xfrm>
            <a:off x="4992124" y="3907959"/>
            <a:ext cx="2157963" cy="27700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a:solidFill>
                  <a:srgbClr val="0000FF"/>
                </a:solidFill>
                <a:latin typeface="Montserrat" panose="00000500000000000000" pitchFamily="2" charset="0"/>
                <a:ea typeface="微软雅黑" pitchFamily="34" charset="-122"/>
              </a:rPr>
              <a:t>最</a:t>
            </a:r>
            <a:r>
              <a:rPr kumimoji="1" lang="zh-CN" altLang="zh-CN" sz="1200">
                <a:solidFill>
                  <a:srgbClr val="0000FF"/>
                </a:solidFill>
                <a:latin typeface="Montserrat" panose="00000500000000000000" pitchFamily="2" charset="0"/>
                <a:ea typeface="微软雅黑" pitchFamily="34" charset="-122"/>
              </a:rPr>
              <a:t>低 23</a:t>
            </a:r>
            <a:r>
              <a:rPr kumimoji="1" lang="en-US" altLang="zh-CN" sz="1200">
                <a:solidFill>
                  <a:srgbClr val="0000FF"/>
                </a:solidFill>
                <a:latin typeface="Montserrat" panose="00000500000000000000" pitchFamily="2" charset="0"/>
                <a:ea typeface="微软雅黑" pitchFamily="34" charset="-122"/>
              </a:rPr>
              <a:t> </a:t>
            </a:r>
            <a:r>
              <a:rPr kumimoji="1" lang="zh-CN" altLang="en-US" sz="1200">
                <a:solidFill>
                  <a:srgbClr val="0000FF"/>
                </a:solidFill>
                <a:latin typeface="Montserrat" panose="00000500000000000000" pitchFamily="2" charset="0"/>
                <a:ea typeface="微软雅黑" pitchFamily="34" charset="-122"/>
              </a:rPr>
              <a:t>位来自 </a:t>
            </a:r>
            <a:r>
              <a:rPr kumimoji="1" lang="en-US" altLang="zh-CN" sz="1200">
                <a:solidFill>
                  <a:srgbClr val="0000FF"/>
                </a:solidFill>
                <a:latin typeface="Montserrat" panose="00000500000000000000" pitchFamily="2" charset="0"/>
                <a:ea typeface="微软雅黑" pitchFamily="34" charset="-122"/>
              </a:rPr>
              <a:t>D </a:t>
            </a:r>
            <a:r>
              <a:rPr kumimoji="1" lang="zh-CN" altLang="en-US" sz="1200">
                <a:solidFill>
                  <a:srgbClr val="0000FF"/>
                </a:solidFill>
                <a:latin typeface="Montserrat" panose="00000500000000000000" pitchFamily="2" charset="0"/>
                <a:ea typeface="微软雅黑" pitchFamily="34" charset="-122"/>
              </a:rPr>
              <a:t>类 </a:t>
            </a:r>
            <a:r>
              <a:rPr kumimoji="1" lang="en-US" altLang="zh-CN" sz="1200">
                <a:solidFill>
                  <a:srgbClr val="0000FF"/>
                </a:solidFill>
                <a:latin typeface="Montserrat" panose="00000500000000000000" pitchFamily="2" charset="0"/>
                <a:ea typeface="微软雅黑" pitchFamily="34" charset="-122"/>
              </a:rPr>
              <a:t>IP </a:t>
            </a:r>
            <a:r>
              <a:rPr kumimoji="1" lang="zh-CN" altLang="zh-CN" sz="1200">
                <a:solidFill>
                  <a:srgbClr val="0000FF"/>
                </a:solidFill>
                <a:latin typeface="Montserrat" panose="00000500000000000000" pitchFamily="2" charset="0"/>
                <a:ea typeface="微软雅黑" pitchFamily="34" charset="-122"/>
              </a:rPr>
              <a:t>地址</a:t>
            </a:r>
            <a:endParaRPr kumimoji="1" lang="zh-CN" altLang="en-US" sz="1200">
              <a:solidFill>
                <a:srgbClr val="0000FF"/>
              </a:solidFill>
              <a:latin typeface="Montserrat" panose="00000500000000000000" pitchFamily="2" charset="0"/>
              <a:ea typeface="微软雅黑" pitchFamily="34" charset="-122"/>
            </a:endParaRPr>
          </a:p>
        </p:txBody>
      </p:sp>
      <p:sp>
        <p:nvSpPr>
          <p:cNvPr id="145" name="Line 142"/>
          <p:cNvSpPr>
            <a:spLocks noChangeShapeType="1"/>
          </p:cNvSpPr>
          <p:nvPr/>
        </p:nvSpPr>
        <p:spPr bwMode="auto">
          <a:xfrm>
            <a:off x="4531377" y="3896058"/>
            <a:ext cx="0" cy="253884"/>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6" name="AutoShape 143"/>
          <p:cNvSpPr>
            <a:spLocks noChangeArrowheads="1"/>
          </p:cNvSpPr>
          <p:nvPr/>
        </p:nvSpPr>
        <p:spPr bwMode="auto">
          <a:xfrm>
            <a:off x="5891818" y="2795893"/>
            <a:ext cx="278613" cy="650791"/>
          </a:xfrm>
          <a:prstGeom prst="downArrow">
            <a:avLst>
              <a:gd name="adj1" fmla="val 50000"/>
              <a:gd name="adj2" fmla="val 62500"/>
            </a:avLst>
          </a:prstGeom>
          <a:solidFill>
            <a:srgbClr val="0066FF"/>
          </a:solidFill>
          <a:ln w="9525">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a:latin typeface="Montserrat" panose="00000500000000000000" pitchFamily="2" charset="0"/>
              <a:ea typeface="微软雅黑" pitchFamily="34" charset="-122"/>
            </a:endParaRPr>
          </a:p>
        </p:txBody>
      </p:sp>
      <p:sp>
        <p:nvSpPr>
          <p:cNvPr id="148" name="Text Box 119"/>
          <p:cNvSpPr txBox="1">
            <a:spLocks noChangeArrowheads="1"/>
          </p:cNvSpPr>
          <p:nvPr/>
        </p:nvSpPr>
        <p:spPr bwMode="auto">
          <a:xfrm>
            <a:off x="3272593" y="2433561"/>
            <a:ext cx="68865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20" dirty="0">
                <a:latin typeface="微软雅黑" pitchFamily="34" charset="-122"/>
                <a:ea typeface="微软雅黑" pitchFamily="34" charset="-122"/>
              </a:rPr>
              <a:t>1110</a:t>
            </a:r>
          </a:p>
        </p:txBody>
      </p:sp>
      <p:sp>
        <p:nvSpPr>
          <p:cNvPr id="147" name="Text Box 116"/>
          <p:cNvSpPr txBox="1">
            <a:spLocks noChangeArrowheads="1"/>
          </p:cNvSpPr>
          <p:nvPr/>
        </p:nvSpPr>
        <p:spPr bwMode="auto">
          <a:xfrm>
            <a:off x="1216782" y="3517861"/>
            <a:ext cx="120595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just"/>
            <a:r>
              <a:rPr kumimoji="1" lang="en-US" altLang="zh-CN" sz="1400" b="1" kern="0" spc="140" dirty="0">
                <a:latin typeface="微软雅黑" pitchFamily="34" charset="-122"/>
                <a:ea typeface="微软雅黑" pitchFamily="34" charset="-122"/>
              </a:rPr>
              <a:t>0000000</a:t>
            </a:r>
            <a:r>
              <a:rPr kumimoji="1" lang="en-US" altLang="zh-CN" sz="1400" b="1" kern="0" spc="140" dirty="0">
                <a:solidFill>
                  <a:srgbClr val="CC00CC"/>
                </a:solidFill>
                <a:latin typeface="微软雅黑" pitchFamily="34" charset="-122"/>
                <a:ea typeface="微软雅黑" pitchFamily="34" charset="-122"/>
              </a:rPr>
              <a:t>1</a:t>
            </a:r>
          </a:p>
        </p:txBody>
      </p:sp>
      <p:sp>
        <p:nvSpPr>
          <p:cNvPr id="152" name="Text Box 115"/>
          <p:cNvSpPr txBox="1">
            <a:spLocks noChangeArrowheads="1"/>
          </p:cNvSpPr>
          <p:nvPr/>
        </p:nvSpPr>
        <p:spPr bwMode="auto">
          <a:xfrm>
            <a:off x="2235895" y="3517861"/>
            <a:ext cx="12131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kern="0" spc="100" dirty="0">
                <a:latin typeface="微软雅黑" pitchFamily="34" charset="-122"/>
                <a:ea typeface="微软雅黑" pitchFamily="34" charset="-122"/>
              </a:rPr>
              <a:t>00000000</a:t>
            </a:r>
          </a:p>
        </p:txBody>
      </p:sp>
      <p:sp>
        <p:nvSpPr>
          <p:cNvPr id="153" name="Text Box 117"/>
          <p:cNvSpPr txBox="1">
            <a:spLocks noChangeArrowheads="1"/>
          </p:cNvSpPr>
          <p:nvPr/>
        </p:nvSpPr>
        <p:spPr bwMode="auto">
          <a:xfrm>
            <a:off x="3272593" y="3517861"/>
            <a:ext cx="117211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00" dirty="0">
                <a:latin typeface="微软雅黑" pitchFamily="34" charset="-122"/>
                <a:ea typeface="微软雅黑" pitchFamily="34" charset="-122"/>
              </a:rPr>
              <a:t>01011110</a:t>
            </a:r>
          </a:p>
        </p:txBody>
      </p:sp>
      <p:sp>
        <p:nvSpPr>
          <p:cNvPr id="119" name="乘号 118"/>
          <p:cNvSpPr/>
          <p:nvPr/>
        </p:nvSpPr>
        <p:spPr>
          <a:xfrm>
            <a:off x="4053909" y="2445369"/>
            <a:ext cx="332768" cy="263951"/>
          </a:xfrm>
          <a:prstGeom prst="mathMultiply">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9" name="矩形 148"/>
          <p:cNvSpPr/>
          <p:nvPr/>
        </p:nvSpPr>
        <p:spPr>
          <a:xfrm>
            <a:off x="7738636" y="2406175"/>
            <a:ext cx="485528" cy="1438855"/>
          </a:xfrm>
          <a:prstGeom prst="rect">
            <a:avLst/>
          </a:prstGeom>
        </p:spPr>
        <p:txBody>
          <a:bodyPr wrap="square">
            <a:spAutoFit/>
          </a:bodyPr>
          <a:lstStyle/>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32</a:t>
            </a: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zh-CN" altLang="en-US" b="1" dirty="0">
                <a:solidFill>
                  <a:srgbClr val="C00000"/>
                </a:solidFill>
                <a:latin typeface="微软雅黑" panose="020B0503020204020204" pitchFamily="34" charset="-122"/>
                <a:ea typeface="微软雅黑" panose="020B0503020204020204" pitchFamily="34" charset="-122"/>
              </a:rPr>
              <a:t>：</a:t>
            </a: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 1</a:t>
            </a:r>
            <a:endParaRPr lang="zh-CN" altLang="en-US" b="1" dirty="0">
              <a:solidFill>
                <a:srgbClr val="C00000"/>
              </a:solidFill>
              <a:latin typeface="微软雅黑" panose="020B0503020204020204" pitchFamily="34" charset="-122"/>
              <a:ea typeface="微软雅黑" panose="020B0503020204020204" pitchFamily="34" charset="-122"/>
            </a:endParaRPr>
          </a:p>
        </p:txBody>
      </p:sp>
      <p:sp>
        <p:nvSpPr>
          <p:cNvPr id="120" name="标题 119">
            <a:extLst>
              <a:ext uri="{FF2B5EF4-FFF2-40B4-BE49-F238E27FC236}">
                <a16:creationId xmlns:a16="http://schemas.microsoft.com/office/drawing/2014/main" id="{6B025FFD-EE52-3E5D-8140-4F0896925D8D}"/>
              </a:ext>
            </a:extLst>
          </p:cNvPr>
          <p:cNvSpPr>
            <a:spLocks noGrp="1"/>
          </p:cNvSpPr>
          <p:nvPr>
            <p:ph type="title"/>
          </p:nvPr>
        </p:nvSpPr>
        <p:spPr>
          <a:xfrm>
            <a:off x="486000" y="550723"/>
            <a:ext cx="8172000" cy="338554"/>
          </a:xfrm>
        </p:spPr>
        <p:txBody>
          <a:bodyPr/>
          <a:lstStyle/>
          <a:p>
            <a:r>
              <a:rPr lang="en-US" altLang="zh-CN" dirty="0"/>
              <a:t>D </a:t>
            </a:r>
            <a:r>
              <a:rPr lang="zh-CN" altLang="en-US" dirty="0"/>
              <a:t>类 </a:t>
            </a:r>
            <a:r>
              <a:rPr lang="en-US" altLang="zh-CN" dirty="0"/>
              <a:t>IP </a:t>
            </a:r>
            <a:r>
              <a:rPr lang="zh-CN" altLang="en-US" dirty="0"/>
              <a:t>地址与以太网多播地址的映射关系 </a:t>
            </a:r>
          </a:p>
        </p:txBody>
      </p:sp>
      <p:sp>
        <p:nvSpPr>
          <p:cNvPr id="2" name="内容占位符 1">
            <a:extLst>
              <a:ext uri="{FF2B5EF4-FFF2-40B4-BE49-F238E27FC236}">
                <a16:creationId xmlns:a16="http://schemas.microsoft.com/office/drawing/2014/main" id="{296E011A-347F-838F-2D18-981A747474DA}"/>
              </a:ext>
            </a:extLst>
          </p:cNvPr>
          <p:cNvSpPr>
            <a:spLocks noGrp="1"/>
          </p:cNvSpPr>
          <p:nvPr>
            <p:ph sz="quarter" idx="11"/>
          </p:nvPr>
        </p:nvSpPr>
        <p:spPr>
          <a:xfrm>
            <a:off x="486000" y="900000"/>
            <a:ext cx="8172000" cy="3703500"/>
          </a:xfrm>
        </p:spPr>
        <p:txBody>
          <a:bodyPr/>
          <a:lstStyle/>
          <a:p>
            <a:r>
              <a:rPr lang="zh-CN" altLang="en-US" dirty="0"/>
              <a:t>收到多播数据报的主机，还要在 </a:t>
            </a:r>
            <a:r>
              <a:rPr lang="en-US" altLang="zh-CN" dirty="0"/>
              <a:t>IP </a:t>
            </a:r>
            <a:r>
              <a:rPr lang="zh-CN" altLang="en-US" dirty="0"/>
              <a:t>层对 </a:t>
            </a:r>
            <a:r>
              <a:rPr lang="en-US" altLang="zh-CN" dirty="0"/>
              <a:t>IP </a:t>
            </a:r>
            <a:r>
              <a:rPr lang="zh-CN" altLang="en-US" dirty="0"/>
              <a:t>地址进行过滤，把不是本主机要接收的数据报丢弃</a:t>
            </a:r>
          </a:p>
        </p:txBody>
      </p:sp>
    </p:spTree>
    <p:extLst>
      <p:ext uri="{BB962C8B-B14F-4D97-AF65-F5344CB8AC3E}">
        <p14:creationId xmlns:p14="http://schemas.microsoft.com/office/powerpoint/2010/main" val="1067274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9"/>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9" grpId="0"/>
      <p:bldP spid="149" grpId="1"/>
    </p:bldLst>
  </p:timing>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41167ECE-8D64-1EFA-5B08-66928EA8366F}"/>
              </a:ext>
            </a:extLst>
          </p:cNvPr>
          <p:cNvSpPr>
            <a:spLocks noGrp="1"/>
          </p:cNvSpPr>
          <p:nvPr>
            <p:ph type="title"/>
          </p:nvPr>
        </p:nvSpPr>
        <p:spPr>
          <a:xfrm>
            <a:off x="486000" y="550723"/>
            <a:ext cx="8172000" cy="338554"/>
          </a:xfrm>
        </p:spPr>
        <p:txBody>
          <a:bodyPr/>
          <a:lstStyle/>
          <a:p>
            <a:r>
              <a:rPr lang="en-US" altLang="zh-CN" dirty="0"/>
              <a:t>4.7.3  </a:t>
            </a:r>
            <a:r>
              <a:rPr lang="zh-CN" altLang="en-US" dirty="0"/>
              <a:t>网际组管理协议 </a:t>
            </a:r>
            <a:r>
              <a:rPr lang="en-US" altLang="zh-CN" dirty="0"/>
              <a:t>IGMP </a:t>
            </a:r>
            <a:r>
              <a:rPr lang="zh-CN" altLang="en-US" dirty="0"/>
              <a:t>和多播路由选择协议</a:t>
            </a:r>
          </a:p>
        </p:txBody>
      </p:sp>
      <p:sp>
        <p:nvSpPr>
          <p:cNvPr id="8" name="内容占位符 7">
            <a:extLst>
              <a:ext uri="{FF2B5EF4-FFF2-40B4-BE49-F238E27FC236}">
                <a16:creationId xmlns:a16="http://schemas.microsoft.com/office/drawing/2014/main" id="{5B5B1762-4EB3-B5EF-4A68-77BCBDB3C506}"/>
              </a:ext>
            </a:extLst>
          </p:cNvPr>
          <p:cNvSpPr>
            <a:spLocks noGrp="1"/>
          </p:cNvSpPr>
          <p:nvPr>
            <p:ph sz="quarter" idx="11"/>
          </p:nvPr>
        </p:nvSpPr>
        <p:spPr>
          <a:xfrm>
            <a:off x="486000" y="900000"/>
            <a:ext cx="8172000" cy="3703500"/>
          </a:xfrm>
        </p:spPr>
        <p:txBody>
          <a:bodyPr/>
          <a:lstStyle/>
          <a:p>
            <a:r>
              <a:rPr lang="en-US" altLang="zh-CN" dirty="0"/>
              <a:t>1.IP </a:t>
            </a:r>
            <a:r>
              <a:rPr lang="zh-CN" altLang="en-US" dirty="0"/>
              <a:t>多播需要两种协议</a:t>
            </a:r>
          </a:p>
          <a:p>
            <a:r>
              <a:rPr lang="zh-CN" altLang="en-US" dirty="0"/>
              <a:t>网际组管理协议 </a:t>
            </a:r>
            <a:r>
              <a:rPr lang="en-US" altLang="zh-CN" dirty="0"/>
              <a:t>IGMP - Internet Group Management Protocol</a:t>
            </a:r>
          </a:p>
          <a:p>
            <a:pPr lvl="1"/>
            <a:r>
              <a:rPr lang="zh-CN" altLang="en-US" dirty="0"/>
              <a:t>使多播路由器知道多播组成员信息（有无成员）</a:t>
            </a:r>
          </a:p>
          <a:p>
            <a:r>
              <a:rPr lang="zh-CN" altLang="en-US" dirty="0"/>
              <a:t>多播路由选择协议</a:t>
            </a:r>
            <a:endParaRPr lang="en-US" altLang="zh-CN" dirty="0"/>
          </a:p>
          <a:p>
            <a:pPr lvl="1"/>
            <a:r>
              <a:rPr lang="zh-CN" altLang="en-US" dirty="0"/>
              <a:t>使多播路由器协同工作，把多播数据报用最小代价传送给多播组的所有成员</a:t>
            </a:r>
          </a:p>
          <a:p>
            <a:endParaRPr lang="zh-CN" altLang="en-US" dirty="0"/>
          </a:p>
        </p:txBody>
      </p:sp>
    </p:spTree>
    <p:extLst>
      <p:ext uri="{BB962C8B-B14F-4D97-AF65-F5344CB8AC3E}">
        <p14:creationId xmlns:p14="http://schemas.microsoft.com/office/powerpoint/2010/main" val="330717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a:extLst>
              <a:ext uri="{FF2B5EF4-FFF2-40B4-BE49-F238E27FC236}">
                <a16:creationId xmlns:a16="http://schemas.microsoft.com/office/drawing/2014/main" id="{2561D0E6-A27E-D61A-5E89-5B0F8414ABB9}"/>
              </a:ext>
            </a:extLst>
          </p:cNvPr>
          <p:cNvSpPr>
            <a:spLocks noGrp="1"/>
          </p:cNvSpPr>
          <p:nvPr>
            <p:ph sz="quarter" idx="11"/>
          </p:nvPr>
        </p:nvSpPr>
        <p:spPr>
          <a:xfrm>
            <a:off x="486000" y="900000"/>
            <a:ext cx="8172000" cy="3703500"/>
          </a:xfrm>
        </p:spPr>
        <p:txBody>
          <a:bodyPr/>
          <a:lstStyle/>
          <a:p>
            <a:r>
              <a:rPr lang="en-US" altLang="zh-CN" dirty="0"/>
              <a:t>IGMP </a:t>
            </a:r>
            <a:r>
              <a:rPr lang="zh-CN" altLang="en-US" dirty="0"/>
              <a:t>协议是让连接在本地局域网上的多播路由器知道本局域网上是否有主机参加或退出了某个多播组</a:t>
            </a:r>
            <a:endParaRPr lang="en-US" altLang="zh-CN" dirty="0"/>
          </a:p>
          <a:p>
            <a:r>
              <a:rPr lang="en-US" altLang="zh-CN" dirty="0"/>
              <a:t>IGMP </a:t>
            </a:r>
            <a:r>
              <a:rPr lang="zh-CN" altLang="en-US" dirty="0"/>
              <a:t>不知道 </a:t>
            </a:r>
            <a:r>
              <a:rPr lang="en-US" altLang="zh-CN" dirty="0"/>
              <a:t>IP </a:t>
            </a:r>
            <a:r>
              <a:rPr lang="zh-CN" altLang="en-US" dirty="0"/>
              <a:t>多播组包含的成员数，也不知道这些成员都分布在哪些网络上</a:t>
            </a:r>
          </a:p>
          <a:p>
            <a:endParaRPr lang="zh-CN" altLang="en-US" dirty="0"/>
          </a:p>
        </p:txBody>
      </p:sp>
      <p:sp>
        <p:nvSpPr>
          <p:cNvPr id="88" name="Line 47"/>
          <p:cNvSpPr>
            <a:spLocks noChangeShapeType="1"/>
          </p:cNvSpPr>
          <p:nvPr/>
        </p:nvSpPr>
        <p:spPr bwMode="auto">
          <a:xfrm>
            <a:off x="4358868" y="3649339"/>
            <a:ext cx="0" cy="36978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9" name="Line 46"/>
          <p:cNvSpPr>
            <a:spLocks noChangeShapeType="1"/>
          </p:cNvSpPr>
          <p:nvPr/>
        </p:nvSpPr>
        <p:spPr bwMode="auto">
          <a:xfrm flipV="1">
            <a:off x="2264936" y="3347210"/>
            <a:ext cx="278251" cy="41411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0" name="Line 45"/>
          <p:cNvSpPr>
            <a:spLocks noChangeShapeType="1"/>
          </p:cNvSpPr>
          <p:nvPr/>
        </p:nvSpPr>
        <p:spPr bwMode="auto">
          <a:xfrm>
            <a:off x="2264936" y="3020584"/>
            <a:ext cx="289791" cy="31729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1" name="Line 44"/>
          <p:cNvSpPr>
            <a:spLocks noChangeShapeType="1"/>
          </p:cNvSpPr>
          <p:nvPr/>
        </p:nvSpPr>
        <p:spPr bwMode="auto">
          <a:xfrm>
            <a:off x="4358868" y="2543477"/>
            <a:ext cx="0" cy="37095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2" name="Line 43"/>
          <p:cNvSpPr>
            <a:spLocks noChangeShapeType="1"/>
          </p:cNvSpPr>
          <p:nvPr/>
        </p:nvSpPr>
        <p:spPr bwMode="auto">
          <a:xfrm>
            <a:off x="5114119" y="3337877"/>
            <a:ext cx="98990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3" name="Line 42"/>
          <p:cNvSpPr>
            <a:spLocks noChangeShapeType="1"/>
          </p:cNvSpPr>
          <p:nvPr/>
        </p:nvSpPr>
        <p:spPr bwMode="auto">
          <a:xfrm>
            <a:off x="2671412" y="3337877"/>
            <a:ext cx="930921"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4" name="Line 37"/>
          <p:cNvSpPr>
            <a:spLocks noChangeShapeType="1"/>
          </p:cNvSpPr>
          <p:nvPr/>
        </p:nvSpPr>
        <p:spPr bwMode="auto">
          <a:xfrm>
            <a:off x="6161727" y="3390370"/>
            <a:ext cx="348775" cy="42344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5" name="Line 36"/>
          <p:cNvSpPr>
            <a:spLocks noChangeShapeType="1"/>
          </p:cNvSpPr>
          <p:nvPr/>
        </p:nvSpPr>
        <p:spPr bwMode="auto">
          <a:xfrm flipV="1">
            <a:off x="6161727" y="3073077"/>
            <a:ext cx="291073"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6" name="Line 31"/>
          <p:cNvSpPr>
            <a:spLocks noChangeShapeType="1"/>
          </p:cNvSpPr>
          <p:nvPr/>
        </p:nvSpPr>
        <p:spPr bwMode="auto">
          <a:xfrm flipV="1">
            <a:off x="4474272" y="2226183"/>
            <a:ext cx="348775"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7" name="Line 30"/>
          <p:cNvSpPr>
            <a:spLocks noChangeShapeType="1"/>
          </p:cNvSpPr>
          <p:nvPr/>
        </p:nvSpPr>
        <p:spPr bwMode="auto">
          <a:xfrm flipH="1" flipV="1">
            <a:off x="3776722" y="2226183"/>
            <a:ext cx="523163"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98" name="Picture 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6012" y="2612302"/>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00" name="Text Box 7"/>
          <p:cNvSpPr txBox="1">
            <a:spLocks noChangeArrowheads="1"/>
          </p:cNvSpPr>
          <p:nvPr/>
        </p:nvSpPr>
        <p:spPr bwMode="auto">
          <a:xfrm>
            <a:off x="4785771" y="1871560"/>
            <a:ext cx="107914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128.56.24.34</a:t>
            </a:r>
          </a:p>
        </p:txBody>
      </p:sp>
      <p:sp>
        <p:nvSpPr>
          <p:cNvPr id="101" name="Text Box 8"/>
          <p:cNvSpPr txBox="1">
            <a:spLocks noChangeArrowheads="1"/>
          </p:cNvSpPr>
          <p:nvPr/>
        </p:nvSpPr>
        <p:spPr bwMode="auto">
          <a:xfrm>
            <a:off x="1904391" y="2556625"/>
            <a:ext cx="105670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135.27.74.52</a:t>
            </a:r>
          </a:p>
        </p:txBody>
      </p:sp>
      <p:sp>
        <p:nvSpPr>
          <p:cNvPr id="102" name="Text Box 9"/>
          <p:cNvSpPr txBox="1">
            <a:spLocks noChangeArrowheads="1"/>
          </p:cNvSpPr>
          <p:nvPr/>
        </p:nvSpPr>
        <p:spPr bwMode="auto">
          <a:xfrm>
            <a:off x="6393921" y="2543476"/>
            <a:ext cx="100700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130.12.14.56</a:t>
            </a:r>
          </a:p>
        </p:txBody>
      </p:sp>
      <p:sp>
        <p:nvSpPr>
          <p:cNvPr id="103" name="Text Box 10"/>
          <p:cNvSpPr txBox="1">
            <a:spLocks noChangeArrowheads="1"/>
          </p:cNvSpPr>
          <p:nvPr/>
        </p:nvSpPr>
        <p:spPr bwMode="auto">
          <a:xfrm>
            <a:off x="6416055" y="3484326"/>
            <a:ext cx="101502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130.12.14.43</a:t>
            </a:r>
          </a:p>
        </p:txBody>
      </p:sp>
      <p:sp>
        <p:nvSpPr>
          <p:cNvPr id="109" name="Line 32"/>
          <p:cNvSpPr>
            <a:spLocks noChangeShapeType="1"/>
          </p:cNvSpPr>
          <p:nvPr/>
        </p:nvSpPr>
        <p:spPr bwMode="auto">
          <a:xfrm flipV="1">
            <a:off x="3893407" y="4078618"/>
            <a:ext cx="406477" cy="20530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11" name="Line 34"/>
          <p:cNvSpPr>
            <a:spLocks noChangeShapeType="1"/>
          </p:cNvSpPr>
          <p:nvPr/>
        </p:nvSpPr>
        <p:spPr bwMode="auto">
          <a:xfrm flipH="1" flipV="1">
            <a:off x="4416569" y="4078618"/>
            <a:ext cx="465461" cy="20530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113" name="Picture 3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64177" y="3231724"/>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4"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6012" y="3720497"/>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04784" y="3232891"/>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任意多边形: 形状 5">
            <a:extLst>
              <a:ext uri="{FF2B5EF4-FFF2-40B4-BE49-F238E27FC236}">
                <a16:creationId xmlns:a16="http://schemas.microsoft.com/office/drawing/2014/main" id="{1DD3A854-D924-6DA5-EABA-1F1EA3DE3C9B}"/>
              </a:ext>
            </a:extLst>
          </p:cNvPr>
          <p:cNvSpPr>
            <a:spLocks noChangeArrowheads="1"/>
          </p:cNvSpPr>
          <p:nvPr/>
        </p:nvSpPr>
        <p:spPr bwMode="auto">
          <a:xfrm>
            <a:off x="3551951" y="2966257"/>
            <a:ext cx="1676339" cy="726244"/>
          </a:xfrm>
          <a:custGeom>
            <a:avLst/>
            <a:gdLst>
              <a:gd name="connsiteX0" fmla="*/ 939691 w 1676339"/>
              <a:gd name="connsiteY0" fmla="*/ 0 h 726244"/>
              <a:gd name="connsiteX1" fmla="*/ 1272111 w 1676339"/>
              <a:gd name="connsiteY1" fmla="*/ 89540 h 726244"/>
              <a:gd name="connsiteX2" fmla="*/ 1273760 w 1676339"/>
              <a:gd name="connsiteY2" fmla="*/ 92859 h 726244"/>
              <a:gd name="connsiteX3" fmla="*/ 1330673 w 1676339"/>
              <a:gd name="connsiteY3" fmla="*/ 87916 h 726244"/>
              <a:gd name="connsiteX4" fmla="*/ 1594841 w 1676339"/>
              <a:gd name="connsiteY4" fmla="*/ 201553 h 726244"/>
              <a:gd name="connsiteX5" fmla="*/ 1574081 w 1676339"/>
              <a:gd name="connsiteY5" fmla="*/ 245786 h 726244"/>
              <a:gd name="connsiteX6" fmla="*/ 1549818 w 1676339"/>
              <a:gd name="connsiteY6" fmla="*/ 261266 h 726244"/>
              <a:gd name="connsiteX7" fmla="*/ 1598966 w 1676339"/>
              <a:gd name="connsiteY7" fmla="*/ 275521 h 726244"/>
              <a:gd name="connsiteX8" fmla="*/ 1676339 w 1676339"/>
              <a:gd name="connsiteY8" fmla="*/ 355874 h 726244"/>
              <a:gd name="connsiteX9" fmla="*/ 1655579 w 1676339"/>
              <a:gd name="connsiteY9" fmla="*/ 400107 h 726244"/>
              <a:gd name="connsiteX10" fmla="*/ 1609770 w 1676339"/>
              <a:gd name="connsiteY10" fmla="*/ 429335 h 726244"/>
              <a:gd name="connsiteX11" fmla="*/ 1625052 w 1676339"/>
              <a:gd name="connsiteY11" fmla="*/ 484007 h 726244"/>
              <a:gd name="connsiteX12" fmla="*/ 1360884 w 1676339"/>
              <a:gd name="connsiteY12" fmla="*/ 674804 h 726244"/>
              <a:gd name="connsiteX13" fmla="*/ 1307645 w 1676339"/>
              <a:gd name="connsiteY13" fmla="*/ 670928 h 726244"/>
              <a:gd name="connsiteX14" fmla="*/ 1271253 w 1676339"/>
              <a:gd name="connsiteY14" fmla="*/ 662769 h 726244"/>
              <a:gd name="connsiteX15" fmla="*/ 1237417 w 1676339"/>
              <a:gd name="connsiteY15" fmla="*/ 681113 h 726244"/>
              <a:gd name="connsiteX16" fmla="*/ 939340 w 1676339"/>
              <a:gd name="connsiteY16" fmla="*/ 726244 h 726244"/>
              <a:gd name="connsiteX17" fmla="*/ 550923 w 1676339"/>
              <a:gd name="connsiteY17" fmla="*/ 632135 h 726244"/>
              <a:gd name="connsiteX18" fmla="*/ 532600 w 1676339"/>
              <a:gd name="connsiteY18" fmla="*/ 610559 h 726244"/>
              <a:gd name="connsiteX19" fmla="*/ 499688 w 1676339"/>
              <a:gd name="connsiteY19" fmla="*/ 620758 h 726244"/>
              <a:gd name="connsiteX20" fmla="*/ 390982 w 1676339"/>
              <a:gd name="connsiteY20" fmla="*/ 630846 h 726244"/>
              <a:gd name="connsiteX21" fmla="*/ 111709 w 1676339"/>
              <a:gd name="connsiteY21" fmla="*/ 502479 h 726244"/>
              <a:gd name="connsiteX22" fmla="*/ 117179 w 1676339"/>
              <a:gd name="connsiteY22" fmla="*/ 490025 h 726244"/>
              <a:gd name="connsiteX23" fmla="*/ 111566 w 1676339"/>
              <a:gd name="connsiteY23" fmla="*/ 489298 h 726244"/>
              <a:gd name="connsiteX24" fmla="*/ 0 w 1676339"/>
              <a:gd name="connsiteY24" fmla="*/ 381360 h 726244"/>
              <a:gd name="connsiteX25" fmla="*/ 182669 w 1676339"/>
              <a:gd name="connsiteY25" fmla="*/ 264216 h 726244"/>
              <a:gd name="connsiteX26" fmla="*/ 186910 w 1676339"/>
              <a:gd name="connsiteY26" fmla="*/ 264765 h 726244"/>
              <a:gd name="connsiteX27" fmla="*/ 172833 w 1676339"/>
              <a:gd name="connsiteY27" fmla="*/ 227507 h 726244"/>
              <a:gd name="connsiteX28" fmla="*/ 447188 w 1676339"/>
              <a:gd name="connsiteY28" fmla="*/ 80902 h 726244"/>
              <a:gd name="connsiteX29" fmla="*/ 553979 w 1676339"/>
              <a:gd name="connsiteY29" fmla="*/ 92423 h 726244"/>
              <a:gd name="connsiteX30" fmla="*/ 597966 w 1676339"/>
              <a:gd name="connsiteY30" fmla="*/ 108270 h 726244"/>
              <a:gd name="connsiteX31" fmla="*/ 607271 w 1676339"/>
              <a:gd name="connsiteY31" fmla="*/ 89540 h 726244"/>
              <a:gd name="connsiteX32" fmla="*/ 939691 w 1676339"/>
              <a:gd name="connsiteY32" fmla="*/ 0 h 7262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676339" h="726244">
                <a:moveTo>
                  <a:pt x="939691" y="0"/>
                </a:moveTo>
                <a:cubicBezTo>
                  <a:pt x="1089127" y="0"/>
                  <a:pt x="1217343" y="36921"/>
                  <a:pt x="1272111" y="89540"/>
                </a:cubicBezTo>
                <a:lnTo>
                  <a:pt x="1273760" y="92859"/>
                </a:lnTo>
                <a:lnTo>
                  <a:pt x="1330673" y="87916"/>
                </a:lnTo>
                <a:cubicBezTo>
                  <a:pt x="1476569" y="87916"/>
                  <a:pt x="1594841" y="138793"/>
                  <a:pt x="1594841" y="201553"/>
                </a:cubicBezTo>
                <a:cubicBezTo>
                  <a:pt x="1594841" y="217243"/>
                  <a:pt x="1587449" y="232190"/>
                  <a:pt x="1574081" y="245786"/>
                </a:cubicBezTo>
                <a:lnTo>
                  <a:pt x="1549818" y="261266"/>
                </a:lnTo>
                <a:lnTo>
                  <a:pt x="1598966" y="275521"/>
                </a:lnTo>
                <a:cubicBezTo>
                  <a:pt x="1646771" y="296085"/>
                  <a:pt x="1676339" y="324494"/>
                  <a:pt x="1676339" y="355874"/>
                </a:cubicBezTo>
                <a:cubicBezTo>
                  <a:pt x="1676339" y="371564"/>
                  <a:pt x="1668947" y="386511"/>
                  <a:pt x="1655579" y="400107"/>
                </a:cubicBezTo>
                <a:lnTo>
                  <a:pt x="1609770" y="429335"/>
                </a:lnTo>
                <a:lnTo>
                  <a:pt x="1625052" y="484007"/>
                </a:lnTo>
                <a:cubicBezTo>
                  <a:pt x="1625052" y="589381"/>
                  <a:pt x="1506780" y="674804"/>
                  <a:pt x="1360884" y="674804"/>
                </a:cubicBezTo>
                <a:cubicBezTo>
                  <a:pt x="1342647" y="674804"/>
                  <a:pt x="1324842" y="673469"/>
                  <a:pt x="1307645" y="670928"/>
                </a:cubicBezTo>
                <a:lnTo>
                  <a:pt x="1271253" y="662769"/>
                </a:lnTo>
                <a:lnTo>
                  <a:pt x="1237417" y="681113"/>
                </a:lnTo>
                <a:cubicBezTo>
                  <a:pt x="1161132" y="708997"/>
                  <a:pt x="1055746" y="726244"/>
                  <a:pt x="939340" y="726244"/>
                </a:cubicBezTo>
                <a:cubicBezTo>
                  <a:pt x="764731" y="726244"/>
                  <a:pt x="614917" y="687439"/>
                  <a:pt x="550923" y="632135"/>
                </a:cubicBezTo>
                <a:lnTo>
                  <a:pt x="532600" y="610559"/>
                </a:lnTo>
                <a:lnTo>
                  <a:pt x="499688" y="620758"/>
                </a:lnTo>
                <a:cubicBezTo>
                  <a:pt x="466276" y="627254"/>
                  <a:pt x="429542" y="630846"/>
                  <a:pt x="390982" y="630846"/>
                </a:cubicBezTo>
                <a:cubicBezTo>
                  <a:pt x="236744" y="630846"/>
                  <a:pt x="111709" y="573374"/>
                  <a:pt x="111709" y="502479"/>
                </a:cubicBezTo>
                <a:lnTo>
                  <a:pt x="117179" y="490025"/>
                </a:lnTo>
                <a:lnTo>
                  <a:pt x="111566" y="489298"/>
                </a:lnTo>
                <a:cubicBezTo>
                  <a:pt x="46004" y="471515"/>
                  <a:pt x="0" y="429883"/>
                  <a:pt x="0" y="381360"/>
                </a:cubicBezTo>
                <a:cubicBezTo>
                  <a:pt x="0" y="316663"/>
                  <a:pt x="81784" y="264216"/>
                  <a:pt x="182669" y="264216"/>
                </a:cubicBezTo>
                <a:lnTo>
                  <a:pt x="186910" y="264765"/>
                </a:lnTo>
                <a:lnTo>
                  <a:pt x="172833" y="227507"/>
                </a:lnTo>
                <a:cubicBezTo>
                  <a:pt x="172833" y="146539"/>
                  <a:pt x="295666" y="80902"/>
                  <a:pt x="447188" y="80902"/>
                </a:cubicBezTo>
                <a:cubicBezTo>
                  <a:pt x="485069" y="80902"/>
                  <a:pt x="521156" y="85004"/>
                  <a:pt x="553979" y="92423"/>
                </a:cubicBezTo>
                <a:lnTo>
                  <a:pt x="597966" y="108270"/>
                </a:lnTo>
                <a:lnTo>
                  <a:pt x="607271" y="89540"/>
                </a:lnTo>
                <a:cubicBezTo>
                  <a:pt x="662039" y="36921"/>
                  <a:pt x="790255" y="0"/>
                  <a:pt x="939691" y="0"/>
                </a:cubicBez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wrap="square" anchor="ctr" anchorCtr="0">
            <a:no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dirty="0">
                <a:solidFill>
                  <a:schemeClr val="bg1"/>
                </a:solidFill>
                <a:latin typeface="Montserrat" panose="00000500000000000000" pitchFamily="2" charset="0"/>
                <a:ea typeface="微软雅黑 Light" panose="020B0502040204020203" pitchFamily="34" charset="-122"/>
              </a:rPr>
              <a:t>多播组</a:t>
            </a:r>
          </a:p>
          <a:p>
            <a:pPr algn="ctr" eaLnBrk="1" hangingPunct="1"/>
            <a:r>
              <a:rPr lang="en-US" altLang="zh-CN" sz="1200" dirty="0">
                <a:solidFill>
                  <a:schemeClr val="bg1"/>
                </a:solidFill>
                <a:latin typeface="Montserrat" panose="00000500000000000000" pitchFamily="2" charset="0"/>
                <a:ea typeface="微软雅黑 Light" panose="020B0502040204020203" pitchFamily="34" charset="-122"/>
              </a:rPr>
              <a:t>226.15.37.123</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137" name="Text Box 74"/>
          <p:cNvSpPr txBox="1">
            <a:spLocks noChangeArrowheads="1"/>
          </p:cNvSpPr>
          <p:nvPr/>
        </p:nvSpPr>
        <p:spPr bwMode="auto">
          <a:xfrm>
            <a:off x="2613710" y="2914430"/>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IGMP</a:t>
            </a:r>
          </a:p>
        </p:txBody>
      </p:sp>
      <p:sp>
        <p:nvSpPr>
          <p:cNvPr id="138" name="Text Box 77"/>
          <p:cNvSpPr txBox="1">
            <a:spLocks noChangeArrowheads="1"/>
          </p:cNvSpPr>
          <p:nvPr/>
        </p:nvSpPr>
        <p:spPr bwMode="auto">
          <a:xfrm>
            <a:off x="5667537" y="2900912"/>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IGMP</a:t>
            </a:r>
          </a:p>
        </p:txBody>
      </p:sp>
      <p:sp>
        <p:nvSpPr>
          <p:cNvPr id="139" name="Text Box 78"/>
          <p:cNvSpPr txBox="1">
            <a:spLocks noChangeArrowheads="1"/>
          </p:cNvSpPr>
          <p:nvPr/>
        </p:nvSpPr>
        <p:spPr bwMode="auto">
          <a:xfrm>
            <a:off x="4580699" y="2420992"/>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a:solidFill>
                  <a:srgbClr val="E46C0A"/>
                </a:solidFill>
                <a:latin typeface="Montserrat" panose="00000500000000000000" pitchFamily="2" charset="0"/>
                <a:ea typeface="微软雅黑 Light" panose="020B0502040204020203" pitchFamily="34" charset="-122"/>
              </a:rPr>
              <a:t>IGMP</a:t>
            </a:r>
          </a:p>
        </p:txBody>
      </p:sp>
      <p:sp>
        <p:nvSpPr>
          <p:cNvPr id="140" name="Text Box 79"/>
          <p:cNvSpPr txBox="1">
            <a:spLocks noChangeArrowheads="1"/>
          </p:cNvSpPr>
          <p:nvPr/>
        </p:nvSpPr>
        <p:spPr bwMode="auto">
          <a:xfrm>
            <a:off x="5605226" y="3559517"/>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a:solidFill>
                  <a:srgbClr val="E46C0A"/>
                </a:solidFill>
                <a:latin typeface="Montserrat" panose="00000500000000000000" pitchFamily="2" charset="0"/>
                <a:ea typeface="微软雅黑 Light" panose="020B0502040204020203" pitchFamily="34" charset="-122"/>
              </a:rPr>
              <a:t>IGMP</a:t>
            </a:r>
          </a:p>
        </p:txBody>
      </p:sp>
      <p:sp>
        <p:nvSpPr>
          <p:cNvPr id="141" name="Text Box 81"/>
          <p:cNvSpPr txBox="1">
            <a:spLocks noChangeArrowheads="1"/>
          </p:cNvSpPr>
          <p:nvPr/>
        </p:nvSpPr>
        <p:spPr bwMode="auto">
          <a:xfrm>
            <a:off x="3879758" y="2543477"/>
            <a:ext cx="33214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1</a:t>
            </a:r>
          </a:p>
        </p:txBody>
      </p:sp>
      <p:sp>
        <p:nvSpPr>
          <p:cNvPr id="142" name="Text Box 82"/>
          <p:cNvSpPr txBox="1">
            <a:spLocks noChangeArrowheads="1"/>
          </p:cNvSpPr>
          <p:nvPr/>
        </p:nvSpPr>
        <p:spPr bwMode="auto">
          <a:xfrm>
            <a:off x="3855397" y="3672669"/>
            <a:ext cx="36260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R</a:t>
            </a:r>
            <a:r>
              <a:rPr lang="en-US" altLang="zh-CN" sz="1200" b="1" baseline="-25000" dirty="0">
                <a:latin typeface="Montserrat" panose="00000500000000000000" pitchFamily="2" charset="0"/>
                <a:ea typeface="微软雅黑 Light" panose="020B0502040204020203" pitchFamily="34" charset="-122"/>
              </a:rPr>
              <a:t>4</a:t>
            </a:r>
          </a:p>
        </p:txBody>
      </p:sp>
      <p:sp>
        <p:nvSpPr>
          <p:cNvPr id="143" name="Text Box 83"/>
          <p:cNvSpPr txBox="1">
            <a:spLocks noChangeArrowheads="1"/>
          </p:cNvSpPr>
          <p:nvPr/>
        </p:nvSpPr>
        <p:spPr bwMode="auto">
          <a:xfrm>
            <a:off x="5251778" y="3038081"/>
            <a:ext cx="3529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3</a:t>
            </a:r>
          </a:p>
        </p:txBody>
      </p:sp>
      <p:sp>
        <p:nvSpPr>
          <p:cNvPr id="144" name="Text Box 84"/>
          <p:cNvSpPr txBox="1">
            <a:spLocks noChangeArrowheads="1"/>
          </p:cNvSpPr>
          <p:nvPr/>
        </p:nvSpPr>
        <p:spPr bwMode="auto">
          <a:xfrm>
            <a:off x="3216830" y="3090575"/>
            <a:ext cx="3529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2</a:t>
            </a:r>
          </a:p>
        </p:txBody>
      </p:sp>
      <p:pic>
        <p:nvPicPr>
          <p:cNvPr id="151"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13972" y="2440822"/>
            <a:ext cx="321848"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2"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52718" y="3285384"/>
            <a:ext cx="323129"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3"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94738" y="3987629"/>
            <a:ext cx="321847"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4"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2662" y="3288884"/>
            <a:ext cx="321848"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55" name="直接箭头连接符 154"/>
          <p:cNvCxnSpPr/>
          <p:nvPr/>
        </p:nvCxnSpPr>
        <p:spPr>
          <a:xfrm flipV="1">
            <a:off x="4491648" y="2302008"/>
            <a:ext cx="407759" cy="310294"/>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flipV="1">
            <a:off x="5861678" y="2996087"/>
            <a:ext cx="510340" cy="302129"/>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p:nvPr/>
        </p:nvCxnSpPr>
        <p:spPr>
          <a:xfrm>
            <a:off x="2408549" y="2981278"/>
            <a:ext cx="496235" cy="304106"/>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8" name="直接箭头连接符 157"/>
          <p:cNvCxnSpPr/>
          <p:nvPr/>
        </p:nvCxnSpPr>
        <p:spPr>
          <a:xfrm>
            <a:off x="5851420" y="3455696"/>
            <a:ext cx="525727" cy="306795"/>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4" name="标题 3">
            <a:extLst>
              <a:ext uri="{FF2B5EF4-FFF2-40B4-BE49-F238E27FC236}">
                <a16:creationId xmlns:a16="http://schemas.microsoft.com/office/drawing/2014/main" id="{8181FBD0-B82B-B8FC-8182-90630440A540}"/>
              </a:ext>
            </a:extLst>
          </p:cNvPr>
          <p:cNvSpPr>
            <a:spLocks noGrp="1"/>
          </p:cNvSpPr>
          <p:nvPr>
            <p:ph type="title"/>
          </p:nvPr>
        </p:nvSpPr>
        <p:spPr>
          <a:xfrm>
            <a:off x="486000" y="550723"/>
            <a:ext cx="8172000" cy="338554"/>
          </a:xfrm>
        </p:spPr>
        <p:txBody>
          <a:bodyPr/>
          <a:lstStyle/>
          <a:p>
            <a:r>
              <a:rPr lang="en-US" altLang="zh-CN" dirty="0"/>
              <a:t>IGMP </a:t>
            </a:r>
            <a:r>
              <a:rPr lang="zh-CN" altLang="en-US" dirty="0"/>
              <a:t>使多播路由器知道多播组成员信息 </a:t>
            </a:r>
          </a:p>
        </p:txBody>
      </p:sp>
      <p:pic>
        <p:nvPicPr>
          <p:cNvPr id="15" name="图形 14" descr="计算机">
            <a:extLst>
              <a:ext uri="{FF2B5EF4-FFF2-40B4-BE49-F238E27FC236}">
                <a16:creationId xmlns:a16="http://schemas.microsoft.com/office/drawing/2014/main" id="{F0794DA7-E2D0-5E8F-642E-EBAFB737F61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03339" y="3609093"/>
            <a:ext cx="360000" cy="360000"/>
          </a:xfrm>
          <a:prstGeom prst="rect">
            <a:avLst/>
          </a:prstGeom>
        </p:spPr>
      </p:pic>
      <p:pic>
        <p:nvPicPr>
          <p:cNvPr id="16" name="图形 15" descr="计算机">
            <a:extLst>
              <a:ext uri="{FF2B5EF4-FFF2-40B4-BE49-F238E27FC236}">
                <a16:creationId xmlns:a16="http://schemas.microsoft.com/office/drawing/2014/main" id="{2FB32CDD-7321-C6CC-D19C-1C2F6D7BEE2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02319" y="2773331"/>
            <a:ext cx="360000" cy="360000"/>
          </a:xfrm>
          <a:prstGeom prst="rect">
            <a:avLst/>
          </a:prstGeom>
        </p:spPr>
      </p:pic>
      <p:pic>
        <p:nvPicPr>
          <p:cNvPr id="18" name="图形 17" descr="计算机">
            <a:extLst>
              <a:ext uri="{FF2B5EF4-FFF2-40B4-BE49-F238E27FC236}">
                <a16:creationId xmlns:a16="http://schemas.microsoft.com/office/drawing/2014/main" id="{23B56E08-C2E9-CACA-8552-537F60DE5A9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486150" y="3738641"/>
            <a:ext cx="360000" cy="360000"/>
          </a:xfrm>
          <a:prstGeom prst="rect">
            <a:avLst/>
          </a:prstGeom>
        </p:spPr>
      </p:pic>
      <p:pic>
        <p:nvPicPr>
          <p:cNvPr id="19" name="图形 18" descr="计算机">
            <a:extLst>
              <a:ext uri="{FF2B5EF4-FFF2-40B4-BE49-F238E27FC236}">
                <a16:creationId xmlns:a16="http://schemas.microsoft.com/office/drawing/2014/main" id="{17BCDD9B-A378-20F3-4723-6AD4DD3A1E1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447916" y="2798055"/>
            <a:ext cx="360000" cy="360000"/>
          </a:xfrm>
          <a:prstGeom prst="rect">
            <a:avLst/>
          </a:prstGeom>
        </p:spPr>
      </p:pic>
      <p:pic>
        <p:nvPicPr>
          <p:cNvPr id="20" name="图形 19" descr="计算机">
            <a:extLst>
              <a:ext uri="{FF2B5EF4-FFF2-40B4-BE49-F238E27FC236}">
                <a16:creationId xmlns:a16="http://schemas.microsoft.com/office/drawing/2014/main" id="{D8CBC588-32DC-1221-ED86-765CB299FEF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785771" y="4247882"/>
            <a:ext cx="360000" cy="360000"/>
          </a:xfrm>
          <a:prstGeom prst="rect">
            <a:avLst/>
          </a:prstGeom>
        </p:spPr>
      </p:pic>
      <p:pic>
        <p:nvPicPr>
          <p:cNvPr id="21" name="图形 20" descr="计算机">
            <a:extLst>
              <a:ext uri="{FF2B5EF4-FFF2-40B4-BE49-F238E27FC236}">
                <a16:creationId xmlns:a16="http://schemas.microsoft.com/office/drawing/2014/main" id="{68E52E64-0B4F-B791-2A2A-90FE6F4B21D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662260" y="4247882"/>
            <a:ext cx="360000" cy="360000"/>
          </a:xfrm>
          <a:prstGeom prst="rect">
            <a:avLst/>
          </a:prstGeom>
        </p:spPr>
      </p:pic>
      <p:pic>
        <p:nvPicPr>
          <p:cNvPr id="22" name="图形 21" descr="计算机">
            <a:extLst>
              <a:ext uri="{FF2B5EF4-FFF2-40B4-BE49-F238E27FC236}">
                <a16:creationId xmlns:a16="http://schemas.microsoft.com/office/drawing/2014/main" id="{36514CB8-7773-1B68-C99D-ADCD36B109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840423" y="2047882"/>
            <a:ext cx="360000" cy="360000"/>
          </a:xfrm>
          <a:prstGeom prst="rect">
            <a:avLst/>
          </a:prstGeom>
        </p:spPr>
      </p:pic>
      <p:pic>
        <p:nvPicPr>
          <p:cNvPr id="23" name="图形 22" descr="计算机">
            <a:extLst>
              <a:ext uri="{FF2B5EF4-FFF2-40B4-BE49-F238E27FC236}">
                <a16:creationId xmlns:a16="http://schemas.microsoft.com/office/drawing/2014/main" id="{C2A9C8F0-11AF-19C4-BFCE-D0B9950FD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19536" y="1951694"/>
            <a:ext cx="360000" cy="360000"/>
          </a:xfrm>
          <a:prstGeom prst="rect">
            <a:avLst/>
          </a:prstGeom>
        </p:spPr>
      </p:pic>
    </p:spTree>
    <p:extLst>
      <p:ext uri="{BB962C8B-B14F-4D97-AF65-F5344CB8AC3E}">
        <p14:creationId xmlns:p14="http://schemas.microsoft.com/office/powerpoint/2010/main" val="3861915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内容占位符 1">
            <a:extLst>
              <a:ext uri="{FF2B5EF4-FFF2-40B4-BE49-F238E27FC236}">
                <a16:creationId xmlns:a16="http://schemas.microsoft.com/office/drawing/2014/main" id="{5CCBDDE6-138D-D41B-BCD1-59831750687E}"/>
              </a:ext>
            </a:extLst>
          </p:cNvPr>
          <p:cNvSpPr>
            <a:spLocks noGrp="1"/>
          </p:cNvSpPr>
          <p:nvPr>
            <p:ph sz="quarter" idx="11"/>
          </p:nvPr>
        </p:nvSpPr>
        <p:spPr>
          <a:xfrm>
            <a:off x="486000" y="900000"/>
            <a:ext cx="8172000" cy="3703500"/>
          </a:xfrm>
        </p:spPr>
        <p:txBody>
          <a:bodyPr/>
          <a:lstStyle/>
          <a:p>
            <a:r>
              <a:rPr lang="zh-CN" altLang="en-US" dirty="0"/>
              <a:t>路由器 </a:t>
            </a:r>
            <a:r>
              <a:rPr lang="en-US" altLang="zh-CN" dirty="0"/>
              <a:t>R </a:t>
            </a:r>
            <a:r>
              <a:rPr lang="zh-CN" altLang="en-US" dirty="0"/>
              <a:t>不应当向网络 </a:t>
            </a:r>
            <a:r>
              <a:rPr lang="en-US" altLang="zh-CN" dirty="0"/>
              <a:t>N3 </a:t>
            </a:r>
            <a:r>
              <a:rPr lang="zh-CN" altLang="en-US" dirty="0"/>
              <a:t>转发多播组 </a:t>
            </a:r>
            <a:r>
              <a:rPr lang="en-US" altLang="zh-CN" dirty="0"/>
              <a:t>M1 </a:t>
            </a:r>
            <a:r>
              <a:rPr lang="zh-CN" altLang="en-US" dirty="0"/>
              <a:t>的分组，因为网络 </a:t>
            </a:r>
            <a:r>
              <a:rPr lang="en-US" altLang="zh-CN" dirty="0"/>
              <a:t>N3 </a:t>
            </a:r>
            <a:r>
              <a:rPr lang="zh-CN" altLang="en-US" dirty="0"/>
              <a:t>上没有多播组 </a:t>
            </a:r>
            <a:r>
              <a:rPr lang="en-US" altLang="zh-CN" dirty="0"/>
              <a:t>M1 </a:t>
            </a:r>
            <a:r>
              <a:rPr lang="zh-CN" altLang="en-US" dirty="0"/>
              <a:t>的成员。</a:t>
            </a:r>
          </a:p>
          <a:p>
            <a:endParaRPr lang="zh-CN" altLang="en-US" dirty="0"/>
          </a:p>
        </p:txBody>
      </p:sp>
      <p:sp>
        <p:nvSpPr>
          <p:cNvPr id="52" name="Line 19"/>
          <p:cNvSpPr>
            <a:spLocks noChangeShapeType="1"/>
          </p:cNvSpPr>
          <p:nvPr/>
        </p:nvSpPr>
        <p:spPr bwMode="auto">
          <a:xfrm>
            <a:off x="5477598" y="3244820"/>
            <a:ext cx="613405" cy="593367"/>
          </a:xfrm>
          <a:prstGeom prst="line">
            <a:avLst/>
          </a:prstGeom>
          <a:ln w="12700">
            <a:solidFill>
              <a:schemeClr val="tx1"/>
            </a:solidFill>
          </a:ln>
          <a:extLst>
            <a:ext uri="{909E8E84-426E-40DD-AFC4-6F175D3DCCD1}">
              <a14:hiddenFill xmlns:a14="http://schemas.microsoft.com/office/drawing/2010/main">
                <a:noFill/>
              </a14:hiddenFill>
            </a:ext>
          </a:extLst>
        </p:spPr>
        <p:style>
          <a:lnRef idx="1">
            <a:schemeClr val="accent1"/>
          </a:lnRef>
          <a:fillRef idx="0">
            <a:schemeClr val="accent1"/>
          </a:fillRef>
          <a:effectRef idx="0">
            <a:schemeClr val="accent1"/>
          </a:effectRef>
          <a:fontRef idx="minor">
            <a:schemeClr val="tx1"/>
          </a:fontRef>
        </p:style>
        <p:txBody>
          <a:bodyPr/>
          <a:lstStyle/>
          <a:p>
            <a:endParaRPr lang="zh-CN" altLang="en-US" sz="1200">
              <a:latin typeface="Montserrat" panose="00000500000000000000" pitchFamily="2" charset="0"/>
              <a:ea typeface="微软雅黑 Light" panose="020B0502040204020203" pitchFamily="34" charset="-122"/>
            </a:endParaRPr>
          </a:p>
        </p:txBody>
      </p:sp>
      <p:sp>
        <p:nvSpPr>
          <p:cNvPr id="54" name="Line 23"/>
          <p:cNvSpPr>
            <a:spLocks noChangeShapeType="1"/>
          </p:cNvSpPr>
          <p:nvPr/>
        </p:nvSpPr>
        <p:spPr bwMode="auto">
          <a:xfrm flipH="1">
            <a:off x="3713425" y="2483520"/>
            <a:ext cx="0" cy="6773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1" name="Line 21"/>
          <p:cNvSpPr>
            <a:spLocks noChangeShapeType="1"/>
          </p:cNvSpPr>
          <p:nvPr/>
        </p:nvSpPr>
        <p:spPr bwMode="auto">
          <a:xfrm>
            <a:off x="6765242" y="3668388"/>
            <a:ext cx="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62" name="Picture 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83609" y="3076886"/>
            <a:ext cx="473150" cy="3078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6" name="Text Box 32"/>
          <p:cNvSpPr txBox="1">
            <a:spLocks noChangeArrowheads="1"/>
          </p:cNvSpPr>
          <p:nvPr/>
        </p:nvSpPr>
        <p:spPr bwMode="auto">
          <a:xfrm>
            <a:off x="4519701" y="2399554"/>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A</a:t>
            </a:r>
          </a:p>
        </p:txBody>
      </p:sp>
      <p:sp>
        <p:nvSpPr>
          <p:cNvPr id="67" name="Text Box 33"/>
          <p:cNvSpPr txBox="1">
            <a:spLocks noChangeArrowheads="1"/>
          </p:cNvSpPr>
          <p:nvPr/>
        </p:nvSpPr>
        <p:spPr bwMode="auto">
          <a:xfrm>
            <a:off x="3995195" y="3445920"/>
            <a:ext cx="3000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B</a:t>
            </a:r>
          </a:p>
        </p:txBody>
      </p:sp>
      <p:sp>
        <p:nvSpPr>
          <p:cNvPr id="68" name="Text Box 34"/>
          <p:cNvSpPr txBox="1">
            <a:spLocks noChangeArrowheads="1"/>
          </p:cNvSpPr>
          <p:nvPr/>
        </p:nvSpPr>
        <p:spPr bwMode="auto">
          <a:xfrm>
            <a:off x="4700006" y="3614750"/>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C</a:t>
            </a:r>
          </a:p>
        </p:txBody>
      </p:sp>
      <p:sp>
        <p:nvSpPr>
          <p:cNvPr id="69" name="Text Box 35"/>
          <p:cNvSpPr txBox="1">
            <a:spLocks noChangeArrowheads="1"/>
          </p:cNvSpPr>
          <p:nvPr/>
        </p:nvSpPr>
        <p:spPr bwMode="auto">
          <a:xfrm>
            <a:off x="6305333" y="3796686"/>
            <a:ext cx="31130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D</a:t>
            </a:r>
          </a:p>
        </p:txBody>
      </p:sp>
      <p:sp>
        <p:nvSpPr>
          <p:cNvPr id="70" name="Text Box 36"/>
          <p:cNvSpPr txBox="1">
            <a:spLocks noChangeArrowheads="1"/>
          </p:cNvSpPr>
          <p:nvPr/>
        </p:nvSpPr>
        <p:spPr bwMode="auto">
          <a:xfrm>
            <a:off x="6801180" y="3333905"/>
            <a:ext cx="2872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E</a:t>
            </a:r>
          </a:p>
        </p:txBody>
      </p:sp>
      <p:sp>
        <p:nvSpPr>
          <p:cNvPr id="71" name="Text Box 37"/>
          <p:cNvSpPr txBox="1">
            <a:spLocks noChangeArrowheads="1"/>
          </p:cNvSpPr>
          <p:nvPr/>
        </p:nvSpPr>
        <p:spPr bwMode="auto">
          <a:xfrm>
            <a:off x="1826462" y="3132442"/>
            <a:ext cx="30328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G</a:t>
            </a:r>
          </a:p>
        </p:txBody>
      </p:sp>
      <p:sp>
        <p:nvSpPr>
          <p:cNvPr id="72" name="Text Box 38"/>
          <p:cNvSpPr txBox="1">
            <a:spLocks noChangeArrowheads="1"/>
          </p:cNvSpPr>
          <p:nvPr/>
        </p:nvSpPr>
        <p:spPr bwMode="auto">
          <a:xfrm>
            <a:off x="2584188" y="3636031"/>
            <a:ext cx="28245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F</a:t>
            </a:r>
          </a:p>
        </p:txBody>
      </p:sp>
      <p:sp>
        <p:nvSpPr>
          <p:cNvPr id="73" name="Text Box 39"/>
          <p:cNvSpPr txBox="1">
            <a:spLocks noChangeArrowheads="1"/>
          </p:cNvSpPr>
          <p:nvPr/>
        </p:nvSpPr>
        <p:spPr bwMode="auto">
          <a:xfrm>
            <a:off x="3639910" y="2120251"/>
            <a:ext cx="34336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1</a:t>
            </a:r>
          </a:p>
        </p:txBody>
      </p:sp>
      <p:sp>
        <p:nvSpPr>
          <p:cNvPr id="74" name="Text Box 41"/>
          <p:cNvSpPr txBox="1">
            <a:spLocks noChangeArrowheads="1"/>
          </p:cNvSpPr>
          <p:nvPr/>
        </p:nvSpPr>
        <p:spPr bwMode="auto">
          <a:xfrm>
            <a:off x="2504778" y="269810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3</a:t>
            </a:r>
          </a:p>
        </p:txBody>
      </p:sp>
      <p:sp>
        <p:nvSpPr>
          <p:cNvPr id="75" name="Text Box 43"/>
          <p:cNvSpPr txBox="1">
            <a:spLocks noChangeArrowheads="1"/>
          </p:cNvSpPr>
          <p:nvPr/>
        </p:nvSpPr>
        <p:spPr bwMode="auto">
          <a:xfrm>
            <a:off x="3451502" y="2829928"/>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R</a:t>
            </a:r>
            <a:endParaRPr lang="en-US" altLang="zh-CN" sz="1200" b="1" baseline="-25000" dirty="0">
              <a:latin typeface="Montserrat" panose="00000500000000000000" pitchFamily="2" charset="0"/>
              <a:ea typeface="微软雅黑 Light" panose="020B0502040204020203" pitchFamily="34" charset="-122"/>
            </a:endParaRPr>
          </a:p>
        </p:txBody>
      </p:sp>
      <p:pic>
        <p:nvPicPr>
          <p:cNvPr id="78"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84958" y="3116072"/>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94162" y="3076886"/>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1"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07267" y="2421945"/>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2" name="Text Box 40"/>
          <p:cNvSpPr txBox="1">
            <a:spLocks noChangeArrowheads="1"/>
          </p:cNvSpPr>
          <p:nvPr/>
        </p:nvSpPr>
        <p:spPr bwMode="auto">
          <a:xfrm>
            <a:off x="5664472" y="28785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2</a:t>
            </a:r>
          </a:p>
        </p:txBody>
      </p:sp>
      <p:sp>
        <p:nvSpPr>
          <p:cNvPr id="94" name="椭圆 93"/>
          <p:cNvSpPr/>
          <p:nvPr/>
        </p:nvSpPr>
        <p:spPr>
          <a:xfrm rot="1662349">
            <a:off x="1771820" y="2727958"/>
            <a:ext cx="1769243" cy="1438633"/>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95" name="椭圆 94"/>
          <p:cNvSpPr/>
          <p:nvPr/>
        </p:nvSpPr>
        <p:spPr>
          <a:xfrm>
            <a:off x="3177751" y="2063685"/>
            <a:ext cx="1762483" cy="843402"/>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98" name="椭圆 97"/>
          <p:cNvSpPr/>
          <p:nvPr/>
        </p:nvSpPr>
        <p:spPr>
          <a:xfrm>
            <a:off x="3943240" y="2907087"/>
            <a:ext cx="3296840" cy="1490879"/>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5" name="标题 4">
            <a:extLst>
              <a:ext uri="{FF2B5EF4-FFF2-40B4-BE49-F238E27FC236}">
                <a16:creationId xmlns:a16="http://schemas.microsoft.com/office/drawing/2014/main" id="{EA7C3B90-5936-E023-D6B3-B8C201E392ED}"/>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pic>
        <p:nvPicPr>
          <p:cNvPr id="6" name="图形 5" descr="计算机">
            <a:extLst>
              <a:ext uri="{FF2B5EF4-FFF2-40B4-BE49-F238E27FC236}">
                <a16:creationId xmlns:a16="http://schemas.microsoft.com/office/drawing/2014/main" id="{D52E9153-0CD9-79D9-1084-1FBACC894C8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11166" y="2408917"/>
            <a:ext cx="360000" cy="360000"/>
          </a:xfrm>
          <a:prstGeom prst="rect">
            <a:avLst/>
          </a:prstGeom>
        </p:spPr>
      </p:pic>
      <p:cxnSp>
        <p:nvCxnSpPr>
          <p:cNvPr id="8" name="直接连接符 7">
            <a:extLst>
              <a:ext uri="{FF2B5EF4-FFF2-40B4-BE49-F238E27FC236}">
                <a16:creationId xmlns:a16="http://schemas.microsoft.com/office/drawing/2014/main" id="{15CE3BBC-16A0-100E-8715-BE024A4CF708}"/>
              </a:ext>
            </a:extLst>
          </p:cNvPr>
          <p:cNvCxnSpPr>
            <a:stCxn id="91" idx="3"/>
            <a:endCxn id="6" idx="1"/>
          </p:cNvCxnSpPr>
          <p:nvPr/>
        </p:nvCxnSpPr>
        <p:spPr>
          <a:xfrm>
            <a:off x="3931411" y="2518973"/>
            <a:ext cx="279755" cy="69944"/>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图形 8" descr="计算机">
            <a:extLst>
              <a:ext uri="{FF2B5EF4-FFF2-40B4-BE49-F238E27FC236}">
                <a16:creationId xmlns:a16="http://schemas.microsoft.com/office/drawing/2014/main" id="{CB3363A8-E803-0937-A246-1604F910086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828426" y="3598868"/>
            <a:ext cx="360000" cy="360000"/>
          </a:xfrm>
          <a:prstGeom prst="rect">
            <a:avLst/>
          </a:prstGeom>
        </p:spPr>
      </p:pic>
      <p:pic>
        <p:nvPicPr>
          <p:cNvPr id="10" name="图形 9" descr="计算机">
            <a:extLst>
              <a:ext uri="{FF2B5EF4-FFF2-40B4-BE49-F238E27FC236}">
                <a16:creationId xmlns:a16="http://schemas.microsoft.com/office/drawing/2014/main" id="{0D1270CE-40B1-B025-ED42-A8C468DC6C1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069780" y="3101829"/>
            <a:ext cx="360000" cy="360000"/>
          </a:xfrm>
          <a:prstGeom prst="rect">
            <a:avLst/>
          </a:prstGeom>
        </p:spPr>
      </p:pic>
      <p:pic>
        <p:nvPicPr>
          <p:cNvPr id="11" name="图形 10" descr="计算机">
            <a:extLst>
              <a:ext uri="{FF2B5EF4-FFF2-40B4-BE49-F238E27FC236}">
                <a16:creationId xmlns:a16="http://schemas.microsoft.com/office/drawing/2014/main" id="{94CEDD56-A60F-B3A2-A1A9-B48BACFA245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38462" y="3389849"/>
            <a:ext cx="360000" cy="360000"/>
          </a:xfrm>
          <a:prstGeom prst="rect">
            <a:avLst/>
          </a:prstGeom>
        </p:spPr>
      </p:pic>
      <p:pic>
        <p:nvPicPr>
          <p:cNvPr id="12" name="图形 11" descr="计算机">
            <a:extLst>
              <a:ext uri="{FF2B5EF4-FFF2-40B4-BE49-F238E27FC236}">
                <a16:creationId xmlns:a16="http://schemas.microsoft.com/office/drawing/2014/main" id="{803E5EC3-177A-4F3C-BF10-E252D2ED77F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42783" y="3557427"/>
            <a:ext cx="360000" cy="360000"/>
          </a:xfrm>
          <a:prstGeom prst="rect">
            <a:avLst/>
          </a:prstGeom>
        </p:spPr>
      </p:pic>
      <p:pic>
        <p:nvPicPr>
          <p:cNvPr id="13" name="图形 12" descr="计算机">
            <a:extLst>
              <a:ext uri="{FF2B5EF4-FFF2-40B4-BE49-F238E27FC236}">
                <a16:creationId xmlns:a16="http://schemas.microsoft.com/office/drawing/2014/main" id="{F088BAD1-F525-05AD-8FE3-D8BE1D5BEA2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987045" y="3755186"/>
            <a:ext cx="360000" cy="360000"/>
          </a:xfrm>
          <a:prstGeom prst="rect">
            <a:avLst/>
          </a:prstGeom>
        </p:spPr>
      </p:pic>
      <p:pic>
        <p:nvPicPr>
          <p:cNvPr id="14" name="图形 13" descr="计算机">
            <a:extLst>
              <a:ext uri="{FF2B5EF4-FFF2-40B4-BE49-F238E27FC236}">
                <a16:creationId xmlns:a16="http://schemas.microsoft.com/office/drawing/2014/main" id="{2F65BFAC-3221-D817-905A-5248BCA59D4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449090" y="3255912"/>
            <a:ext cx="360000" cy="360000"/>
          </a:xfrm>
          <a:prstGeom prst="rect">
            <a:avLst/>
          </a:prstGeom>
        </p:spPr>
      </p:pic>
      <p:sp>
        <p:nvSpPr>
          <p:cNvPr id="16" name="文本框 15">
            <a:extLst>
              <a:ext uri="{FF2B5EF4-FFF2-40B4-BE49-F238E27FC236}">
                <a16:creationId xmlns:a16="http://schemas.microsoft.com/office/drawing/2014/main" id="{963EC445-8BD2-D39B-6A34-0BB678B231F4}"/>
              </a:ext>
            </a:extLst>
          </p:cNvPr>
          <p:cNvSpPr txBox="1"/>
          <p:nvPr/>
        </p:nvSpPr>
        <p:spPr>
          <a:xfrm>
            <a:off x="7240080" y="1433655"/>
            <a:ext cx="147348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lnSpc>
                <a:spcPts val="2400"/>
              </a:lnSpc>
              <a:defRPr sz="1200">
                <a:latin typeface="Montserrat" panose="00000500000000000000" pitchFamily="2" charset="0"/>
                <a:ea typeface="微软雅黑 Light" panose="020B0502040204020203" pitchFamily="34" charset="-122"/>
              </a:defRPr>
            </a:lvl1pPr>
            <a:lvl2pPr marL="742950" indent="-285750" eaLnBrk="0" hangingPunct="0">
              <a:defRPr>
                <a:latin typeface="Arial" panose="020B0604020202020204" pitchFamily="34" charset="0"/>
                <a:ea typeface="宋体" panose="02010600030101010101" pitchFamily="2" charset="-122"/>
              </a:defRPr>
            </a:lvl2pPr>
            <a:lvl3pPr marL="1143000" indent="-228600" eaLnBrk="0" hangingPunct="0">
              <a:defRPr>
                <a:latin typeface="Arial" panose="020B0604020202020204" pitchFamily="34" charset="0"/>
                <a:ea typeface="宋体" panose="02010600030101010101" pitchFamily="2" charset="-122"/>
              </a:defRPr>
            </a:lvl3pPr>
            <a:lvl4pPr marL="1600200" indent="-228600" eaLnBrk="0" hangingPunct="0">
              <a:defRPr>
                <a:latin typeface="Arial" panose="020B0604020202020204" pitchFamily="34" charset="0"/>
                <a:ea typeface="宋体" panose="02010600030101010101" pitchFamily="2" charset="-122"/>
              </a:defRPr>
            </a:lvl4pPr>
            <a:lvl5pPr marL="2057400" indent="-228600" eaLnBrk="0" hangingPunct="0">
              <a:defRPr>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latin typeface="Arial" panose="020B0604020202020204" pitchFamily="34" charset="0"/>
                <a:ea typeface="宋体" panose="02010600030101010101" pitchFamily="2" charset="-122"/>
              </a:defRPr>
            </a:lvl9pPr>
          </a:lstStyle>
          <a:p>
            <a:pPr>
              <a:lnSpc>
                <a:spcPct val="100000"/>
              </a:lnSpc>
            </a:pPr>
            <a:r>
              <a:rPr lang="zh-CN" altLang="en-US" dirty="0">
                <a:solidFill>
                  <a:srgbClr val="00B050"/>
                </a:solidFill>
              </a:rPr>
              <a:t>多播组 </a:t>
            </a:r>
            <a:r>
              <a:rPr lang="en-US" altLang="zh-CN" dirty="0">
                <a:solidFill>
                  <a:srgbClr val="00B050"/>
                </a:solidFill>
              </a:rPr>
              <a:t>M1(A, B, C)</a:t>
            </a:r>
            <a:endParaRPr lang="zh-CN" altLang="en-US" dirty="0">
              <a:solidFill>
                <a:srgbClr val="00B050"/>
              </a:solidFill>
            </a:endParaRPr>
          </a:p>
        </p:txBody>
      </p:sp>
      <p:sp>
        <p:nvSpPr>
          <p:cNvPr id="18" name="文本框 17">
            <a:extLst>
              <a:ext uri="{FF2B5EF4-FFF2-40B4-BE49-F238E27FC236}">
                <a16:creationId xmlns:a16="http://schemas.microsoft.com/office/drawing/2014/main" id="{4583017B-B12B-7D42-5C81-8B2D85D03F36}"/>
              </a:ext>
            </a:extLst>
          </p:cNvPr>
          <p:cNvSpPr txBox="1"/>
          <p:nvPr/>
        </p:nvSpPr>
        <p:spPr>
          <a:xfrm>
            <a:off x="7240080" y="1183246"/>
            <a:ext cx="149592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lnSpc>
                <a:spcPts val="2400"/>
              </a:lnSpc>
              <a:defRPr sz="1200">
                <a:solidFill>
                  <a:srgbClr val="00B050"/>
                </a:solidFill>
                <a:latin typeface="Montserrat" panose="00000500000000000000" pitchFamily="2" charset="0"/>
                <a:ea typeface="微软雅黑 Light" panose="020B0502040204020203" pitchFamily="34" charset="-122"/>
              </a:defRPr>
            </a:lvl1pPr>
            <a:lvl2pPr marL="742950" indent="-285750" eaLnBrk="0" hangingPunct="0">
              <a:defRPr>
                <a:latin typeface="Arial" panose="020B0604020202020204" pitchFamily="34" charset="0"/>
                <a:ea typeface="宋体" panose="02010600030101010101" pitchFamily="2" charset="-122"/>
              </a:defRPr>
            </a:lvl2pPr>
            <a:lvl3pPr marL="1143000" indent="-228600" eaLnBrk="0" hangingPunct="0">
              <a:defRPr>
                <a:latin typeface="Arial" panose="020B0604020202020204" pitchFamily="34" charset="0"/>
                <a:ea typeface="宋体" panose="02010600030101010101" pitchFamily="2" charset="-122"/>
              </a:defRPr>
            </a:lvl3pPr>
            <a:lvl4pPr marL="1600200" indent="-228600" eaLnBrk="0" hangingPunct="0">
              <a:defRPr>
                <a:latin typeface="Arial" panose="020B0604020202020204" pitchFamily="34" charset="0"/>
                <a:ea typeface="宋体" panose="02010600030101010101" pitchFamily="2" charset="-122"/>
              </a:defRPr>
            </a:lvl4pPr>
            <a:lvl5pPr marL="2057400" indent="-228600" eaLnBrk="0" hangingPunct="0">
              <a:defRPr>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latin typeface="Arial" panose="020B0604020202020204" pitchFamily="34" charset="0"/>
                <a:ea typeface="宋体" panose="02010600030101010101" pitchFamily="2" charset="-122"/>
              </a:defRPr>
            </a:lvl9pPr>
          </a:lstStyle>
          <a:p>
            <a:pPr>
              <a:lnSpc>
                <a:spcPct val="100000"/>
              </a:lnSpc>
            </a:pPr>
            <a:r>
              <a:rPr lang="zh-CN" altLang="en-US" dirty="0">
                <a:solidFill>
                  <a:srgbClr val="E46C0A"/>
                </a:solidFill>
              </a:rPr>
              <a:t>多播组 </a:t>
            </a:r>
            <a:r>
              <a:rPr lang="en-US" altLang="zh-CN" dirty="0">
                <a:solidFill>
                  <a:srgbClr val="E46C0A"/>
                </a:solidFill>
              </a:rPr>
              <a:t>M2(D, E, F)</a:t>
            </a:r>
          </a:p>
        </p:txBody>
      </p:sp>
      <p:cxnSp>
        <p:nvCxnSpPr>
          <p:cNvPr id="20" name="直接连接符 19">
            <a:extLst>
              <a:ext uri="{FF2B5EF4-FFF2-40B4-BE49-F238E27FC236}">
                <a16:creationId xmlns:a16="http://schemas.microsoft.com/office/drawing/2014/main" id="{8DFFE349-C80E-1885-2444-C5AB1E487DAD}"/>
              </a:ext>
            </a:extLst>
          </p:cNvPr>
          <p:cNvCxnSpPr>
            <a:stCxn id="90" idx="1"/>
            <a:endCxn id="10" idx="3"/>
          </p:cNvCxnSpPr>
          <p:nvPr/>
        </p:nvCxnSpPr>
        <p:spPr>
          <a:xfrm flipH="1">
            <a:off x="2429780" y="3173914"/>
            <a:ext cx="364382" cy="10791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D6ED5E3F-09AA-2627-DB3B-7905B677B75A}"/>
              </a:ext>
            </a:extLst>
          </p:cNvPr>
          <p:cNvCxnSpPr>
            <a:stCxn id="62" idx="3"/>
            <a:endCxn id="78" idx="1"/>
          </p:cNvCxnSpPr>
          <p:nvPr/>
        </p:nvCxnSpPr>
        <p:spPr>
          <a:xfrm flipV="1">
            <a:off x="3956759" y="3213100"/>
            <a:ext cx="1328199" cy="1772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527B4B23-8EB5-F9D1-AFF9-C5C9719C0BA3}"/>
              </a:ext>
            </a:extLst>
          </p:cNvPr>
          <p:cNvCxnSpPr>
            <a:cxnSpLocks/>
            <a:endCxn id="11" idx="3"/>
          </p:cNvCxnSpPr>
          <p:nvPr/>
        </p:nvCxnSpPr>
        <p:spPr>
          <a:xfrm flipH="1">
            <a:off x="4598462" y="3327854"/>
            <a:ext cx="675829" cy="24199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BF5B8CC-862A-306D-E71E-3717EFA4D201}"/>
              </a:ext>
            </a:extLst>
          </p:cNvPr>
          <p:cNvCxnSpPr>
            <a:endCxn id="78" idx="2"/>
          </p:cNvCxnSpPr>
          <p:nvPr/>
        </p:nvCxnSpPr>
        <p:spPr>
          <a:xfrm flipV="1">
            <a:off x="5131558" y="3310128"/>
            <a:ext cx="365472" cy="25972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04C9E1E2-35AE-2EB8-A86F-919FAB9B7305}"/>
              </a:ext>
            </a:extLst>
          </p:cNvPr>
          <p:cNvCxnSpPr>
            <a:stCxn id="90" idx="2"/>
            <a:endCxn id="9" idx="0"/>
          </p:cNvCxnSpPr>
          <p:nvPr/>
        </p:nvCxnSpPr>
        <p:spPr>
          <a:xfrm>
            <a:off x="3006234" y="3270942"/>
            <a:ext cx="2192" cy="32792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6D16168D-4762-77D6-523B-3D9E85AE6D13}"/>
              </a:ext>
            </a:extLst>
          </p:cNvPr>
          <p:cNvCxnSpPr>
            <a:stCxn id="78" idx="3"/>
            <a:endCxn id="14" idx="1"/>
          </p:cNvCxnSpPr>
          <p:nvPr/>
        </p:nvCxnSpPr>
        <p:spPr>
          <a:xfrm>
            <a:off x="5709102" y="3213100"/>
            <a:ext cx="739988" cy="22281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ABB41313-6151-FF40-6608-67FAAD9D32C1}"/>
              </a:ext>
            </a:extLst>
          </p:cNvPr>
          <p:cNvCxnSpPr>
            <a:stCxn id="90" idx="3"/>
            <a:endCxn id="62" idx="1"/>
          </p:cNvCxnSpPr>
          <p:nvPr/>
        </p:nvCxnSpPr>
        <p:spPr>
          <a:xfrm>
            <a:off x="3218306" y="3173914"/>
            <a:ext cx="265303" cy="5691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8122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D319E3D-E8BA-F09D-B273-C43355B37061}"/>
              </a:ext>
            </a:extLst>
          </p:cNvPr>
          <p:cNvSpPr>
            <a:spLocks noGrp="1"/>
          </p:cNvSpPr>
          <p:nvPr>
            <p:ph type="title"/>
          </p:nvPr>
        </p:nvSpPr>
        <p:spPr>
          <a:xfrm>
            <a:off x="486000" y="550723"/>
            <a:ext cx="8172000" cy="338554"/>
          </a:xfrm>
        </p:spPr>
        <p:txBody>
          <a:bodyPr/>
          <a:lstStyle/>
          <a:p>
            <a:r>
              <a:rPr lang="zh-CN" altLang="en-US" dirty="0"/>
              <a:t>多播路由选择协议更为复杂</a:t>
            </a:r>
          </a:p>
        </p:txBody>
      </p:sp>
      <p:sp>
        <p:nvSpPr>
          <p:cNvPr id="6" name="内容占位符 5">
            <a:extLst>
              <a:ext uri="{FF2B5EF4-FFF2-40B4-BE49-F238E27FC236}">
                <a16:creationId xmlns:a16="http://schemas.microsoft.com/office/drawing/2014/main" id="{3EA3F1FA-BCFF-3590-2E96-CC1B14021F29}"/>
              </a:ext>
            </a:extLst>
          </p:cNvPr>
          <p:cNvSpPr>
            <a:spLocks noGrp="1"/>
          </p:cNvSpPr>
          <p:nvPr>
            <p:ph sz="quarter" idx="11"/>
          </p:nvPr>
        </p:nvSpPr>
        <p:spPr>
          <a:xfrm>
            <a:off x="486000" y="900000"/>
            <a:ext cx="8172000" cy="3703500"/>
          </a:xfrm>
        </p:spPr>
        <p:txBody>
          <a:bodyPr/>
          <a:lstStyle/>
          <a:p>
            <a:r>
              <a:rPr lang="zh-CN" altLang="en-US" dirty="0"/>
              <a:t>多播转发必须动态地适应多播组成员的变化（这时网络拓扑并未发生变化），因为每一台主机可以随时加入或离开一个多播组</a:t>
            </a:r>
            <a:endParaRPr lang="en-US" altLang="zh-CN" dirty="0"/>
          </a:p>
          <a:p>
            <a:r>
              <a:rPr lang="zh-CN" altLang="en-US" dirty="0"/>
              <a:t>多播路由器在转发多播数据报时，不能仅仅根据多播数据报中的目的地址，还要考虑这个多播数据报从什么地方来和要到什么地方去</a:t>
            </a:r>
          </a:p>
          <a:p>
            <a:r>
              <a:rPr lang="zh-CN" altLang="en-US" dirty="0"/>
              <a:t>多播数据报可以由没有加入多播组的主机发出，也可以通过没有组成员的接入网络</a:t>
            </a:r>
          </a:p>
        </p:txBody>
      </p:sp>
    </p:spTree>
    <p:extLst>
      <p:ext uri="{BB962C8B-B14F-4D97-AF65-F5344CB8AC3E}">
        <p14:creationId xmlns:p14="http://schemas.microsoft.com/office/powerpoint/2010/main" val="803002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EA8C730-D9A7-505D-6A94-CFEDF7E41803}"/>
              </a:ext>
            </a:extLst>
          </p:cNvPr>
          <p:cNvSpPr>
            <a:spLocks noGrp="1"/>
          </p:cNvSpPr>
          <p:nvPr>
            <p:ph type="title"/>
          </p:nvPr>
        </p:nvSpPr>
        <p:spPr>
          <a:xfrm>
            <a:off x="486000" y="550723"/>
            <a:ext cx="8172000" cy="338554"/>
          </a:xfrm>
        </p:spPr>
        <p:txBody>
          <a:bodyPr/>
          <a:lstStyle/>
          <a:p>
            <a:r>
              <a:rPr lang="en-US" altLang="zh-CN" dirty="0"/>
              <a:t>2.  </a:t>
            </a:r>
            <a:r>
              <a:rPr lang="zh-CN" altLang="en-US" dirty="0"/>
              <a:t>网际组管理协议 </a:t>
            </a:r>
            <a:r>
              <a:rPr lang="en-US" altLang="zh-CN" dirty="0"/>
              <a:t>IGMP</a:t>
            </a:r>
            <a:endParaRPr lang="zh-CN" altLang="en-US" dirty="0"/>
          </a:p>
        </p:txBody>
      </p:sp>
      <p:sp>
        <p:nvSpPr>
          <p:cNvPr id="6" name="内容占位符 5">
            <a:extLst>
              <a:ext uri="{FF2B5EF4-FFF2-40B4-BE49-F238E27FC236}">
                <a16:creationId xmlns:a16="http://schemas.microsoft.com/office/drawing/2014/main" id="{95C1B489-0B6D-A343-F6FB-1E3E7448AFE6}"/>
              </a:ext>
            </a:extLst>
          </p:cNvPr>
          <p:cNvSpPr>
            <a:spLocks noGrp="1"/>
          </p:cNvSpPr>
          <p:nvPr>
            <p:ph sz="quarter" idx="11"/>
          </p:nvPr>
        </p:nvSpPr>
        <p:spPr>
          <a:xfrm>
            <a:off x="486000" y="900000"/>
            <a:ext cx="8172000" cy="3703500"/>
          </a:xfrm>
        </p:spPr>
        <p:txBody>
          <a:bodyPr/>
          <a:lstStyle/>
          <a:p>
            <a:r>
              <a:rPr lang="en-US" altLang="zh-CN" dirty="0"/>
              <a:t>1989 </a:t>
            </a:r>
            <a:r>
              <a:rPr lang="zh-CN" altLang="en-US" dirty="0"/>
              <a:t>年公布的 </a:t>
            </a:r>
            <a:r>
              <a:rPr lang="en-US" altLang="zh-CN" dirty="0"/>
              <a:t>RFC 1112</a:t>
            </a:r>
            <a:r>
              <a:rPr lang="zh-CN" altLang="en-US" dirty="0"/>
              <a:t>（</a:t>
            </a:r>
            <a:r>
              <a:rPr lang="en-US" altLang="zh-CN" dirty="0"/>
              <a:t>IGMPv1</a:t>
            </a:r>
            <a:r>
              <a:rPr lang="zh-CN" altLang="en-US" dirty="0"/>
              <a:t>）已成为了互联网的标准协议</a:t>
            </a:r>
          </a:p>
          <a:p>
            <a:r>
              <a:rPr lang="en-US" altLang="zh-CN" dirty="0"/>
              <a:t>1997 </a:t>
            </a:r>
            <a:r>
              <a:rPr lang="zh-CN" altLang="en-US" dirty="0"/>
              <a:t>年公布的 </a:t>
            </a:r>
            <a:r>
              <a:rPr lang="en-US" altLang="zh-CN" dirty="0"/>
              <a:t>RFC 2236</a:t>
            </a:r>
            <a:r>
              <a:rPr lang="zh-CN" altLang="en-US" dirty="0"/>
              <a:t>（</a:t>
            </a:r>
            <a:r>
              <a:rPr lang="en-US" altLang="zh-CN" dirty="0"/>
              <a:t>IGMPv2</a:t>
            </a:r>
            <a:r>
              <a:rPr lang="zh-CN" altLang="en-US" dirty="0"/>
              <a:t>，建议标准）对 </a:t>
            </a:r>
            <a:r>
              <a:rPr lang="en-US" altLang="zh-CN" dirty="0"/>
              <a:t>IGMPv1 </a:t>
            </a:r>
            <a:r>
              <a:rPr lang="zh-CN" altLang="en-US" dirty="0"/>
              <a:t>进行了更新</a:t>
            </a:r>
          </a:p>
          <a:p>
            <a:r>
              <a:rPr lang="en-US" altLang="zh-CN" dirty="0"/>
              <a:t>2002 </a:t>
            </a:r>
            <a:r>
              <a:rPr lang="zh-CN" altLang="en-US" dirty="0"/>
              <a:t>年 </a:t>
            </a:r>
            <a:r>
              <a:rPr lang="en-US" altLang="zh-CN" dirty="0"/>
              <a:t>10 </a:t>
            </a:r>
            <a:r>
              <a:rPr lang="zh-CN" altLang="en-US" dirty="0"/>
              <a:t>月公布了 </a:t>
            </a:r>
            <a:r>
              <a:rPr lang="en-US" altLang="zh-CN" dirty="0"/>
              <a:t>RFC 3376</a:t>
            </a:r>
            <a:r>
              <a:rPr lang="zh-CN" altLang="en-US" dirty="0"/>
              <a:t>（</a:t>
            </a:r>
            <a:r>
              <a:rPr lang="en-US" altLang="zh-CN" dirty="0"/>
              <a:t>IGMPv3</a:t>
            </a:r>
            <a:r>
              <a:rPr lang="zh-CN" altLang="en-US" dirty="0"/>
              <a:t>，建议标准）</a:t>
            </a:r>
          </a:p>
          <a:p>
            <a:endParaRPr lang="zh-CN" altLang="en-US" dirty="0"/>
          </a:p>
        </p:txBody>
      </p:sp>
    </p:spTree>
    <p:extLst>
      <p:ext uri="{BB962C8B-B14F-4D97-AF65-F5344CB8AC3E}">
        <p14:creationId xmlns:p14="http://schemas.microsoft.com/office/powerpoint/2010/main" val="2380121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91928C4-F337-2DE8-EF0E-2B2777BC17F6}"/>
              </a:ext>
            </a:extLst>
          </p:cNvPr>
          <p:cNvSpPr>
            <a:spLocks noGrp="1"/>
          </p:cNvSpPr>
          <p:nvPr>
            <p:ph type="title"/>
          </p:nvPr>
        </p:nvSpPr>
        <p:spPr>
          <a:xfrm>
            <a:off x="486000" y="550723"/>
            <a:ext cx="8172000" cy="338554"/>
          </a:xfrm>
        </p:spPr>
        <p:txBody>
          <a:bodyPr/>
          <a:lstStyle/>
          <a:p>
            <a:r>
              <a:rPr lang="en-US" altLang="zh-CN" dirty="0"/>
              <a:t>IGMP </a:t>
            </a:r>
            <a:r>
              <a:rPr lang="zh-CN" altLang="en-US" dirty="0"/>
              <a:t>使用 </a:t>
            </a:r>
            <a:r>
              <a:rPr lang="en-US" altLang="zh-CN" dirty="0"/>
              <a:t>IP </a:t>
            </a:r>
            <a:r>
              <a:rPr lang="zh-CN" altLang="en-US" dirty="0"/>
              <a:t>数据报传递其报文</a:t>
            </a:r>
          </a:p>
        </p:txBody>
      </p:sp>
      <p:sp>
        <p:nvSpPr>
          <p:cNvPr id="6" name="内容占位符 5">
            <a:extLst>
              <a:ext uri="{FF2B5EF4-FFF2-40B4-BE49-F238E27FC236}">
                <a16:creationId xmlns:a16="http://schemas.microsoft.com/office/drawing/2014/main" id="{7D19FBD4-16C3-6522-EB21-1A59E6BA4D56}"/>
              </a:ext>
            </a:extLst>
          </p:cNvPr>
          <p:cNvSpPr>
            <a:spLocks noGrp="1"/>
          </p:cNvSpPr>
          <p:nvPr>
            <p:ph sz="quarter" idx="11"/>
          </p:nvPr>
        </p:nvSpPr>
        <p:spPr>
          <a:xfrm>
            <a:off x="486000" y="900000"/>
            <a:ext cx="8172000" cy="3703500"/>
          </a:xfrm>
        </p:spPr>
        <p:txBody>
          <a:bodyPr/>
          <a:lstStyle/>
          <a:p>
            <a:r>
              <a:rPr lang="zh-CN" altLang="en-US" dirty="0"/>
              <a:t>在 </a:t>
            </a:r>
            <a:r>
              <a:rPr lang="en-US" altLang="zh-CN" dirty="0"/>
              <a:t>IGMP </a:t>
            </a:r>
            <a:r>
              <a:rPr lang="zh-CN" altLang="en-US" dirty="0"/>
              <a:t>报文加上 </a:t>
            </a:r>
            <a:r>
              <a:rPr lang="en-US" altLang="zh-CN" dirty="0"/>
              <a:t>IP </a:t>
            </a:r>
            <a:r>
              <a:rPr lang="zh-CN" altLang="en-US" dirty="0"/>
              <a:t>首部构成 </a:t>
            </a:r>
            <a:r>
              <a:rPr lang="en-US" altLang="zh-CN" dirty="0"/>
              <a:t>IP </a:t>
            </a:r>
            <a:r>
              <a:rPr lang="zh-CN" altLang="en-US" dirty="0"/>
              <a:t>数据报</a:t>
            </a:r>
            <a:endParaRPr lang="en-US" altLang="zh-CN" dirty="0"/>
          </a:p>
          <a:p>
            <a:r>
              <a:rPr lang="zh-CN" altLang="en-US" dirty="0"/>
              <a:t>但 </a:t>
            </a:r>
            <a:r>
              <a:rPr lang="en-US" altLang="zh-CN" dirty="0"/>
              <a:t>IGMP </a:t>
            </a:r>
            <a:r>
              <a:rPr lang="zh-CN" altLang="en-US" dirty="0"/>
              <a:t>也向 </a:t>
            </a:r>
            <a:r>
              <a:rPr lang="en-US" altLang="zh-CN" dirty="0"/>
              <a:t>IP </a:t>
            </a:r>
            <a:r>
              <a:rPr lang="zh-CN" altLang="en-US" dirty="0"/>
              <a:t>提供服务</a:t>
            </a:r>
          </a:p>
          <a:p>
            <a:r>
              <a:rPr lang="zh-CN" altLang="en-US" dirty="0"/>
              <a:t>因此，不把 </a:t>
            </a:r>
            <a:r>
              <a:rPr lang="en-US" altLang="zh-CN" dirty="0"/>
              <a:t>IGMP </a:t>
            </a:r>
            <a:r>
              <a:rPr lang="zh-CN" altLang="en-US" dirty="0"/>
              <a:t>看成是一个单独的协议，而是整个网际协议 </a:t>
            </a:r>
            <a:r>
              <a:rPr lang="en-US" altLang="zh-CN" dirty="0"/>
              <a:t>IP </a:t>
            </a:r>
            <a:r>
              <a:rPr lang="zh-CN" altLang="en-US" dirty="0"/>
              <a:t>的一个组成部分</a:t>
            </a:r>
          </a:p>
          <a:p>
            <a:endParaRPr lang="zh-CN" altLang="en-US" dirty="0"/>
          </a:p>
        </p:txBody>
      </p:sp>
    </p:spTree>
    <p:extLst>
      <p:ext uri="{BB962C8B-B14F-4D97-AF65-F5344CB8AC3E}">
        <p14:creationId xmlns:p14="http://schemas.microsoft.com/office/powerpoint/2010/main" val="846459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C6A775D-3AC8-AB14-48D4-0A121F3937E1}"/>
              </a:ext>
            </a:extLst>
          </p:cNvPr>
          <p:cNvSpPr>
            <a:spLocks noGrp="1"/>
          </p:cNvSpPr>
          <p:nvPr>
            <p:ph type="title"/>
          </p:nvPr>
        </p:nvSpPr>
        <p:spPr>
          <a:xfrm>
            <a:off x="486000" y="550723"/>
            <a:ext cx="8172000" cy="338554"/>
          </a:xfrm>
        </p:spPr>
        <p:txBody>
          <a:bodyPr/>
          <a:lstStyle/>
          <a:p>
            <a:r>
              <a:rPr lang="en-US" altLang="zh-CN" dirty="0"/>
              <a:t>IGMP </a:t>
            </a:r>
            <a:r>
              <a:rPr lang="zh-CN" altLang="en-US" dirty="0"/>
              <a:t>工作可分为两个阶段</a:t>
            </a:r>
          </a:p>
        </p:txBody>
      </p:sp>
      <p:sp>
        <p:nvSpPr>
          <p:cNvPr id="6" name="内容占位符 5">
            <a:extLst>
              <a:ext uri="{FF2B5EF4-FFF2-40B4-BE49-F238E27FC236}">
                <a16:creationId xmlns:a16="http://schemas.microsoft.com/office/drawing/2014/main" id="{2B7D4021-2265-050A-6A10-43EA42D88544}"/>
              </a:ext>
            </a:extLst>
          </p:cNvPr>
          <p:cNvSpPr>
            <a:spLocks noGrp="1"/>
          </p:cNvSpPr>
          <p:nvPr>
            <p:ph sz="quarter" idx="11"/>
          </p:nvPr>
        </p:nvSpPr>
        <p:spPr>
          <a:xfrm>
            <a:off x="486000" y="900000"/>
            <a:ext cx="8172000" cy="3703500"/>
          </a:xfrm>
        </p:spPr>
        <p:txBody>
          <a:bodyPr/>
          <a:lstStyle/>
          <a:p>
            <a:r>
              <a:rPr lang="zh-CN" altLang="en-US" dirty="0"/>
              <a:t>第一阶段：加入多播组</a:t>
            </a:r>
            <a:endParaRPr lang="en-US" altLang="zh-CN" dirty="0"/>
          </a:p>
          <a:p>
            <a:r>
              <a:rPr lang="zh-CN" altLang="en-US" dirty="0"/>
              <a:t>第二阶段：探询组成员变化情况</a:t>
            </a:r>
          </a:p>
          <a:p>
            <a:endParaRPr lang="zh-CN" altLang="en-US" dirty="0"/>
          </a:p>
        </p:txBody>
      </p:sp>
    </p:spTree>
    <p:extLst>
      <p:ext uri="{BB962C8B-B14F-4D97-AF65-F5344CB8AC3E}">
        <p14:creationId xmlns:p14="http://schemas.microsoft.com/office/powerpoint/2010/main" val="29090805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Group 32"/>
          <p:cNvGrpSpPr>
            <a:grpSpLocks/>
          </p:cNvGrpSpPr>
          <p:nvPr/>
        </p:nvGrpSpPr>
        <p:grpSpPr bwMode="auto">
          <a:xfrm>
            <a:off x="5830718" y="2705700"/>
            <a:ext cx="2435345" cy="695022"/>
            <a:chOff x="2919" y="817"/>
            <a:chExt cx="1244" cy="369"/>
          </a:xfrm>
        </p:grpSpPr>
        <p:sp>
          <p:nvSpPr>
            <p:cNvPr id="35" name="Rectangle 33"/>
            <p:cNvSpPr>
              <a:spLocks noChangeArrowheads="1"/>
            </p:cNvSpPr>
            <p:nvPr/>
          </p:nvSpPr>
          <p:spPr bwMode="auto">
            <a:xfrm>
              <a:off x="2963" y="999"/>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6"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7"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4" name="组合 3"/>
          <p:cNvGrpSpPr/>
          <p:nvPr/>
        </p:nvGrpSpPr>
        <p:grpSpPr>
          <a:xfrm>
            <a:off x="2138326" y="2736000"/>
            <a:ext cx="3575353" cy="1851740"/>
            <a:chOff x="2584898" y="1279419"/>
            <a:chExt cx="3575353" cy="1851740"/>
          </a:xfrm>
        </p:grpSpPr>
        <p:sp>
          <p:nvSpPr>
            <p:cNvPr id="5"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9"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9"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0"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5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2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1" name="Group 29"/>
          <p:cNvGrpSpPr>
            <a:grpSpLocks/>
          </p:cNvGrpSpPr>
          <p:nvPr/>
        </p:nvGrpSpPr>
        <p:grpSpPr bwMode="auto">
          <a:xfrm>
            <a:off x="5178691" y="2765022"/>
            <a:ext cx="515897" cy="251330"/>
            <a:chOff x="3897" y="748"/>
            <a:chExt cx="272" cy="283"/>
          </a:xfrm>
        </p:grpSpPr>
        <p:sp>
          <p:nvSpPr>
            <p:cNvPr id="32"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33"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6" name="标题 5">
            <a:extLst>
              <a:ext uri="{FF2B5EF4-FFF2-40B4-BE49-F238E27FC236}">
                <a16:creationId xmlns:a16="http://schemas.microsoft.com/office/drawing/2014/main" id="{0B53814A-470C-01C0-F46C-C166B3D91312}"/>
              </a:ext>
            </a:extLst>
          </p:cNvPr>
          <p:cNvSpPr>
            <a:spLocks noGrp="1"/>
          </p:cNvSpPr>
          <p:nvPr>
            <p:ph type="title"/>
          </p:nvPr>
        </p:nvSpPr>
        <p:spPr>
          <a:xfrm>
            <a:off x="486000" y="550723"/>
            <a:ext cx="8172000" cy="338554"/>
          </a:xfrm>
        </p:spPr>
        <p:txBody>
          <a:bodyPr/>
          <a:lstStyle/>
          <a:p>
            <a:r>
              <a:rPr lang="zh-CN" altLang="en-US" dirty="0"/>
              <a:t>第一阶段：加入多播组</a:t>
            </a:r>
          </a:p>
        </p:txBody>
      </p:sp>
      <p:sp>
        <p:nvSpPr>
          <p:cNvPr id="7" name="内容占位符 6">
            <a:extLst>
              <a:ext uri="{FF2B5EF4-FFF2-40B4-BE49-F238E27FC236}">
                <a16:creationId xmlns:a16="http://schemas.microsoft.com/office/drawing/2014/main" id="{9701A433-1AE6-F0E1-1510-4A983DCD7A5D}"/>
              </a:ext>
            </a:extLst>
          </p:cNvPr>
          <p:cNvSpPr>
            <a:spLocks noGrp="1"/>
          </p:cNvSpPr>
          <p:nvPr>
            <p:ph sz="quarter" idx="11"/>
          </p:nvPr>
        </p:nvSpPr>
        <p:spPr>
          <a:xfrm>
            <a:off x="486000" y="900000"/>
            <a:ext cx="8172000" cy="3703500"/>
          </a:xfrm>
        </p:spPr>
        <p:txBody>
          <a:bodyPr/>
          <a:lstStyle/>
          <a:p>
            <a:r>
              <a:rPr lang="zh-CN" altLang="en-US" dirty="0"/>
              <a:t>当某个主机加入多播组时，该主机向多播组的多播地址发送 </a:t>
            </a:r>
            <a:r>
              <a:rPr lang="en-US" altLang="zh-CN" dirty="0"/>
              <a:t>IGMP </a:t>
            </a:r>
            <a:r>
              <a:rPr lang="zh-CN" altLang="en-US" dirty="0"/>
              <a:t>报文，声明自己要成为该组的成员</a:t>
            </a:r>
          </a:p>
          <a:p>
            <a:r>
              <a:rPr lang="zh-CN" altLang="en-US" dirty="0"/>
              <a:t>本地的多播路由器收到 </a:t>
            </a:r>
            <a:r>
              <a:rPr lang="en-US" altLang="zh-CN" dirty="0"/>
              <a:t>IGMP </a:t>
            </a:r>
            <a:r>
              <a:rPr lang="zh-CN" altLang="en-US" dirty="0"/>
              <a:t>报文后，将组成员关系转发给互联网上的其他多播路由器</a:t>
            </a:r>
          </a:p>
          <a:p>
            <a:endParaRPr lang="zh-CN" altLang="en-US" dirty="0"/>
          </a:p>
        </p:txBody>
      </p:sp>
    </p:spTree>
    <p:extLst>
      <p:ext uri="{BB962C8B-B14F-4D97-AF65-F5344CB8AC3E}">
        <p14:creationId xmlns:p14="http://schemas.microsoft.com/office/powerpoint/2010/main" val="214071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31"/>
                                        </p:tgtEl>
                                        <p:attrNameLst>
                                          <p:attrName>style.visibility</p:attrName>
                                        </p:attrNameLst>
                                      </p:cBhvr>
                                      <p:to>
                                        <p:strVal val="visible"/>
                                      </p:to>
                                    </p:set>
                                  </p:childTnLst>
                                </p:cTn>
                              </p:par>
                            </p:childTnLst>
                          </p:cTn>
                        </p:par>
                        <p:par>
                          <p:cTn id="7" fill="hold">
                            <p:stCondLst>
                              <p:cond delay="500"/>
                            </p:stCondLst>
                            <p:childTnLst>
                              <p:par>
                                <p:cTn id="8" presetID="22" presetClass="entr" presetSubtype="1" fill="hold" nodeType="afterEffect">
                                  <p:stCondLst>
                                    <p:cond delay="0"/>
                                  </p:stCondLst>
                                  <p:childTnLst>
                                    <p:set>
                                      <p:cBhvr>
                                        <p:cTn id="9" dur="1" fill="hold">
                                          <p:stCondLst>
                                            <p:cond delay="0"/>
                                          </p:stCondLst>
                                        </p:cTn>
                                        <p:tgtEl>
                                          <p:spTgt spid="34"/>
                                        </p:tgtEl>
                                        <p:attrNameLst>
                                          <p:attrName>style.visibility</p:attrName>
                                        </p:attrNameLst>
                                      </p:cBhvr>
                                      <p:to>
                                        <p:strVal val="visible"/>
                                      </p:to>
                                    </p:set>
                                    <p:animEffect transition="in" filter="wipe(up)">
                                      <p:cBhvr>
                                        <p:cTn id="10" dur="10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3E6FE68F-770F-2AAB-0E09-7F58EF0F6CA8}"/>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只要对某个组有一个主机响应，那么多播路由器就认为这个组是活跃的。</a:t>
            </a:r>
          </a:p>
          <a:p>
            <a:endParaRPr lang="zh-CN" altLang="en-US" dirty="0"/>
          </a:p>
        </p:txBody>
      </p:sp>
      <p:grpSp>
        <p:nvGrpSpPr>
          <p:cNvPr id="29" name="Group 7"/>
          <p:cNvGrpSpPr>
            <a:grpSpLocks/>
          </p:cNvGrpSpPr>
          <p:nvPr/>
        </p:nvGrpSpPr>
        <p:grpSpPr bwMode="auto">
          <a:xfrm>
            <a:off x="4285943" y="3725773"/>
            <a:ext cx="2736221" cy="709438"/>
            <a:chOff x="2909" y="1739"/>
            <a:chExt cx="2152" cy="398"/>
          </a:xfrm>
        </p:grpSpPr>
        <p:sp>
          <p:nvSpPr>
            <p:cNvPr id="30"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1"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2" name="Group 32"/>
          <p:cNvGrpSpPr>
            <a:grpSpLocks/>
          </p:cNvGrpSpPr>
          <p:nvPr/>
        </p:nvGrpSpPr>
        <p:grpSpPr bwMode="auto">
          <a:xfrm>
            <a:off x="5830719" y="2870005"/>
            <a:ext cx="2398882" cy="649818"/>
            <a:chOff x="2919" y="817"/>
            <a:chExt cx="1244" cy="345"/>
          </a:xfrm>
        </p:grpSpPr>
        <p:sp>
          <p:nvSpPr>
            <p:cNvPr id="33" name="Rectangle 33"/>
            <p:cNvSpPr>
              <a:spLocks noChangeArrowheads="1"/>
            </p:cNvSpPr>
            <p:nvPr/>
          </p:nvSpPr>
          <p:spPr bwMode="auto">
            <a:xfrm>
              <a:off x="2963" y="975"/>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4"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5"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36" name="组合 35"/>
          <p:cNvGrpSpPr/>
          <p:nvPr/>
        </p:nvGrpSpPr>
        <p:grpSpPr>
          <a:xfrm>
            <a:off x="2138326" y="2736000"/>
            <a:ext cx="3575353" cy="1851740"/>
            <a:chOff x="2584898" y="1279419"/>
            <a:chExt cx="3575353" cy="1851740"/>
          </a:xfrm>
        </p:grpSpPr>
        <p:sp>
          <p:nvSpPr>
            <p:cNvPr id="37"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8"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9"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40"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1"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9"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0"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5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52" name="Group 29"/>
          <p:cNvGrpSpPr>
            <a:grpSpLocks/>
          </p:cNvGrpSpPr>
          <p:nvPr/>
        </p:nvGrpSpPr>
        <p:grpSpPr bwMode="auto">
          <a:xfrm>
            <a:off x="5178691" y="2986479"/>
            <a:ext cx="515897" cy="251330"/>
            <a:chOff x="3897" y="748"/>
            <a:chExt cx="272" cy="283"/>
          </a:xfrm>
        </p:grpSpPr>
        <p:sp>
          <p:nvSpPr>
            <p:cNvPr id="53"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54"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4" name="标题 3">
            <a:extLst>
              <a:ext uri="{FF2B5EF4-FFF2-40B4-BE49-F238E27FC236}">
                <a16:creationId xmlns:a16="http://schemas.microsoft.com/office/drawing/2014/main" id="{1BB630F2-FF94-98CF-012C-F2A5C44E6D68}"/>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Tree>
    <p:extLst>
      <p:ext uri="{BB962C8B-B14F-4D97-AF65-F5344CB8AC3E}">
        <p14:creationId xmlns:p14="http://schemas.microsoft.com/office/powerpoint/2010/main" val="419637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down)">
                                      <p:cBhvr>
                                        <p:cTn id="7" dur="10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499"/>
                                          </p:stCondLst>
                                        </p:cTn>
                                        <p:tgtEl>
                                          <p:spTgt spid="52"/>
                                        </p:tgtEl>
                                        <p:attrNameLst>
                                          <p:attrName>style.visibility</p:attrName>
                                        </p:attrNameLst>
                                      </p:cBhvr>
                                      <p:to>
                                        <p:strVal val="visible"/>
                                      </p:to>
                                    </p:set>
                                  </p:childTnLst>
                                </p:cTn>
                              </p:par>
                            </p:childTnLst>
                          </p:cTn>
                        </p:par>
                        <p:par>
                          <p:cTn id="12" fill="hold">
                            <p:stCondLst>
                              <p:cond delay="500"/>
                            </p:stCondLst>
                            <p:childTnLst>
                              <p:par>
                                <p:cTn id="13" presetID="22" presetClass="entr" presetSubtype="1" fill="hold" nodeType="afterEffect">
                                  <p:stCondLst>
                                    <p:cond delay="0"/>
                                  </p:stCondLst>
                                  <p:childTnLst>
                                    <p:set>
                                      <p:cBhvr>
                                        <p:cTn id="14" dur="1" fill="hold">
                                          <p:stCondLst>
                                            <p:cond delay="0"/>
                                          </p:stCondLst>
                                        </p:cTn>
                                        <p:tgtEl>
                                          <p:spTgt spid="32"/>
                                        </p:tgtEl>
                                        <p:attrNameLst>
                                          <p:attrName>style.visibility</p:attrName>
                                        </p:attrNameLst>
                                      </p:cBhvr>
                                      <p:to>
                                        <p:strVal val="visible"/>
                                      </p:to>
                                    </p:set>
                                    <p:animEffect transition="in" filter="wipe(up)">
                                      <p:cBhvr>
                                        <p:cTn id="15" dur="10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Group 7"/>
          <p:cNvGrpSpPr>
            <a:grpSpLocks/>
          </p:cNvGrpSpPr>
          <p:nvPr/>
        </p:nvGrpSpPr>
        <p:grpSpPr bwMode="auto">
          <a:xfrm>
            <a:off x="4285943" y="3425735"/>
            <a:ext cx="2736221" cy="709438"/>
            <a:chOff x="2909" y="1739"/>
            <a:chExt cx="2152" cy="398"/>
          </a:xfrm>
        </p:grpSpPr>
        <p:sp>
          <p:nvSpPr>
            <p:cNvPr id="26"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2"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3" name="组合 32"/>
          <p:cNvGrpSpPr/>
          <p:nvPr/>
        </p:nvGrpSpPr>
        <p:grpSpPr>
          <a:xfrm>
            <a:off x="2138326" y="2736000"/>
            <a:ext cx="3575353" cy="1851740"/>
            <a:chOff x="2584898" y="1279419"/>
            <a:chExt cx="3575353" cy="1851740"/>
          </a:xfrm>
        </p:grpSpPr>
        <p:sp>
          <p:nvSpPr>
            <p:cNvPr id="34"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5"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7"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8"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9"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0"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3"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4"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5"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6"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7"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4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 name="标题 3">
            <a:extLst>
              <a:ext uri="{FF2B5EF4-FFF2-40B4-BE49-F238E27FC236}">
                <a16:creationId xmlns:a16="http://schemas.microsoft.com/office/drawing/2014/main" id="{1C7009D5-0A7B-ABC6-70E7-0D5BB53826CA}"/>
              </a:ext>
            </a:extLst>
          </p:cNvPr>
          <p:cNvSpPr>
            <a:spLocks noGrp="1"/>
          </p:cNvSpPr>
          <p:nvPr>
            <p:ph type="title"/>
          </p:nvPr>
        </p:nvSpPr>
        <p:spPr>
          <a:xfrm>
            <a:off x="486000" y="550723"/>
            <a:ext cx="8172000" cy="338554"/>
          </a:xfrm>
        </p:spPr>
        <p:txBody>
          <a:bodyPr/>
          <a:lstStyle/>
          <a:p>
            <a:r>
              <a:rPr lang="zh-CN" altLang="en-US" dirty="0"/>
              <a:t>第二阶段：探询组成员变化情况</a:t>
            </a:r>
          </a:p>
        </p:txBody>
      </p:sp>
      <p:sp>
        <p:nvSpPr>
          <p:cNvPr id="6" name="内容占位符 5">
            <a:extLst>
              <a:ext uri="{FF2B5EF4-FFF2-40B4-BE49-F238E27FC236}">
                <a16:creationId xmlns:a16="http://schemas.microsoft.com/office/drawing/2014/main" id="{61E65008-A8A3-654F-CCCF-AA871E503509}"/>
              </a:ext>
            </a:extLst>
          </p:cNvPr>
          <p:cNvSpPr>
            <a:spLocks noGrp="1"/>
          </p:cNvSpPr>
          <p:nvPr>
            <p:ph sz="quarter" idx="11"/>
          </p:nvPr>
        </p:nvSpPr>
        <p:spPr>
          <a:xfrm>
            <a:off x="486000" y="900000"/>
            <a:ext cx="8172000" cy="3703500"/>
          </a:xfrm>
        </p:spPr>
        <p:txBody>
          <a:bodyPr/>
          <a:lstStyle/>
          <a:p>
            <a:r>
              <a:rPr lang="zh-CN" altLang="en-US" dirty="0"/>
              <a:t>本地多播路由器周期性地探询本地局域网上的主机，以便知道这些主机是否还继续是组的成员。</a:t>
            </a:r>
          </a:p>
          <a:p>
            <a:r>
              <a:rPr lang="zh-CN" altLang="en-US" dirty="0"/>
              <a:t>但一个组在经过几次的探询后仍然没有一个主机响应，则不再将该组的成员关系转发给其他的多播路由器。</a:t>
            </a:r>
          </a:p>
          <a:p>
            <a:endParaRPr lang="zh-CN" altLang="en-US" dirty="0"/>
          </a:p>
        </p:txBody>
      </p:sp>
    </p:spTree>
    <p:extLst>
      <p:ext uri="{BB962C8B-B14F-4D97-AF65-F5344CB8AC3E}">
        <p14:creationId xmlns:p14="http://schemas.microsoft.com/office/powerpoint/2010/main" val="3642061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repeatCount="300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wipe(down)">
                                      <p:cBhvr>
                                        <p:cTn id="7"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1048475-C1BB-FC3C-7427-E8406C0A563D}"/>
              </a:ext>
            </a:extLst>
          </p:cNvPr>
          <p:cNvSpPr>
            <a:spLocks noGrp="1"/>
          </p:cNvSpPr>
          <p:nvPr>
            <p:ph type="title"/>
          </p:nvPr>
        </p:nvSpPr>
        <p:spPr>
          <a:xfrm>
            <a:off x="486000" y="550723"/>
            <a:ext cx="8172000" cy="338554"/>
          </a:xfrm>
        </p:spPr>
        <p:txBody>
          <a:bodyPr/>
          <a:lstStyle/>
          <a:p>
            <a:r>
              <a:rPr lang="en-US" altLang="zh-CN" dirty="0"/>
              <a:t>IGMP </a:t>
            </a:r>
            <a:r>
              <a:rPr lang="zh-CN" altLang="en-US" dirty="0"/>
              <a:t>采用的一些具体措施，以避免增加大量开销</a:t>
            </a:r>
          </a:p>
        </p:txBody>
      </p:sp>
      <p:sp>
        <p:nvSpPr>
          <p:cNvPr id="6" name="内容占位符 5">
            <a:extLst>
              <a:ext uri="{FF2B5EF4-FFF2-40B4-BE49-F238E27FC236}">
                <a16:creationId xmlns:a16="http://schemas.microsoft.com/office/drawing/2014/main" id="{473FA309-B12D-C396-EF31-5A093A28698D}"/>
              </a:ext>
            </a:extLst>
          </p:cNvPr>
          <p:cNvSpPr>
            <a:spLocks noGrp="1"/>
          </p:cNvSpPr>
          <p:nvPr>
            <p:ph sz="quarter" idx="11"/>
          </p:nvPr>
        </p:nvSpPr>
        <p:spPr>
          <a:xfrm>
            <a:off x="486000" y="900000"/>
            <a:ext cx="8172000" cy="3703500"/>
          </a:xfrm>
        </p:spPr>
        <p:txBody>
          <a:bodyPr/>
          <a:lstStyle/>
          <a:p>
            <a:r>
              <a:rPr lang="zh-CN" altLang="en-US" dirty="0"/>
              <a:t>所有通信都使用 </a:t>
            </a:r>
            <a:r>
              <a:rPr lang="en-US" altLang="zh-CN" dirty="0"/>
              <a:t>IP </a:t>
            </a:r>
            <a:r>
              <a:rPr lang="zh-CN" altLang="en-US" dirty="0"/>
              <a:t>多播。只要有可能，都用硬件多播来传送</a:t>
            </a:r>
          </a:p>
          <a:p>
            <a:r>
              <a:rPr lang="zh-CN" altLang="en-US" dirty="0"/>
              <a:t>对所有的组只发送一个请求信息的询问报文。默认询问速率是每 </a:t>
            </a:r>
            <a:r>
              <a:rPr lang="en-US" altLang="zh-CN" dirty="0"/>
              <a:t>125 </a:t>
            </a:r>
            <a:r>
              <a:rPr lang="zh-CN" altLang="en-US" dirty="0"/>
              <a:t>秒发送一次</a:t>
            </a:r>
          </a:p>
          <a:p>
            <a:r>
              <a:rPr lang="zh-CN" altLang="en-US" dirty="0"/>
              <a:t>当同一个网络上连接有多个多播路由器时，能迅速和有效地选择其中的一个来探询主机的成员关系</a:t>
            </a:r>
            <a:endParaRPr lang="en-US" altLang="zh-CN" dirty="0"/>
          </a:p>
          <a:p>
            <a:r>
              <a:rPr lang="zh-CN" altLang="en-US" dirty="0"/>
              <a:t>分散响应。在 </a:t>
            </a:r>
            <a:r>
              <a:rPr lang="en-US" altLang="zh-CN" dirty="0"/>
              <a:t>IGMP </a:t>
            </a:r>
            <a:r>
              <a:rPr lang="zh-CN" altLang="en-US" dirty="0"/>
              <a:t>的询问报文中有一个数值 </a:t>
            </a:r>
            <a:r>
              <a:rPr lang="en-US" altLang="zh-CN" dirty="0"/>
              <a:t>N</a:t>
            </a:r>
            <a:r>
              <a:rPr lang="zh-CN" altLang="en-US" dirty="0"/>
              <a:t>，它指明一个最长响应时间（默认值为 </a:t>
            </a:r>
            <a:r>
              <a:rPr lang="en-US" altLang="zh-CN" dirty="0"/>
              <a:t>10 </a:t>
            </a:r>
            <a:r>
              <a:rPr lang="zh-CN" altLang="en-US" dirty="0"/>
              <a:t>秒）。当收到询问时，主机在 </a:t>
            </a:r>
            <a:r>
              <a:rPr lang="en-US" altLang="zh-CN" dirty="0"/>
              <a:t>0 </a:t>
            </a:r>
            <a:r>
              <a:rPr lang="zh-CN" altLang="en-US" dirty="0"/>
              <a:t>到 </a:t>
            </a:r>
            <a:r>
              <a:rPr lang="en-US" altLang="zh-CN" dirty="0"/>
              <a:t>N </a:t>
            </a:r>
            <a:r>
              <a:rPr lang="zh-CN" altLang="en-US" dirty="0"/>
              <a:t>之间随机选择发送响应所需经过的时延。若一台主机同时参加了几个多播组，则主机对每一个多播组选择不同的随机数。对应于最小时延的响应最先发送</a:t>
            </a:r>
          </a:p>
          <a:p>
            <a:r>
              <a:rPr lang="zh-CN" altLang="en-US" dirty="0"/>
              <a:t>采用抑制机制。同一个组内的每一个主机都要监听响应，只要有本组的其他主机先发送了响应，自己就不再发送响应了</a:t>
            </a:r>
          </a:p>
          <a:p>
            <a:endParaRPr lang="en-US" altLang="zh-CN" dirty="0"/>
          </a:p>
          <a:p>
            <a:endParaRPr lang="zh-CN" altLang="en-US" dirty="0"/>
          </a:p>
        </p:txBody>
      </p:sp>
    </p:spTree>
    <p:extLst>
      <p:ext uri="{BB962C8B-B14F-4D97-AF65-F5344CB8AC3E}">
        <p14:creationId xmlns:p14="http://schemas.microsoft.com/office/powerpoint/2010/main" val="19573875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Text Box 102"/>
          <p:cNvSpPr txBox="1">
            <a:spLocks noChangeArrowheads="1"/>
          </p:cNvSpPr>
          <p:nvPr/>
        </p:nvSpPr>
        <p:spPr bwMode="auto">
          <a:xfrm>
            <a:off x="5243372" y="1355287"/>
            <a:ext cx="3107223" cy="397353"/>
          </a:xfrm>
          <a:prstGeom prst="rect">
            <a:avLst/>
          </a:prstGeom>
          <a:solidFill>
            <a:schemeClr val="bg1"/>
          </a:solidFill>
          <a:ln>
            <a:noFill/>
          </a:ln>
          <a:effectLst/>
        </p:spPr>
        <p:txBody>
          <a:bodyPr wrap="square">
            <a:spAutoFit/>
          </a:bodyPr>
          <a:lstStyle/>
          <a:p>
            <a:pPr marL="285750" indent="-285750">
              <a:lnSpc>
                <a:spcPts val="2600"/>
              </a:lnSpc>
              <a:buFont typeface="Wingdings" panose="05000000000000000000" pitchFamily="2" charset="2"/>
              <a:buChar char="l"/>
            </a:pPr>
            <a:endParaRPr lang="zh-CN" altLang="en-US" b="1" dirty="0">
              <a:latin typeface="微软雅黑" pitchFamily="34" charset="-122"/>
              <a:ea typeface="微软雅黑" pitchFamily="34" charset="-122"/>
            </a:endParaRPr>
          </a:p>
        </p:txBody>
      </p:sp>
      <p:grpSp>
        <p:nvGrpSpPr>
          <p:cNvPr id="128" name="组合 127"/>
          <p:cNvGrpSpPr/>
          <p:nvPr/>
        </p:nvGrpSpPr>
        <p:grpSpPr>
          <a:xfrm>
            <a:off x="4928617" y="1622811"/>
            <a:ext cx="3404282" cy="2311540"/>
            <a:chOff x="2773530" y="1524561"/>
            <a:chExt cx="3404282" cy="2311540"/>
          </a:xfrm>
        </p:grpSpPr>
        <p:sp>
          <p:nvSpPr>
            <p:cNvPr id="112" name="Line 5"/>
            <p:cNvSpPr>
              <a:spLocks noChangeShapeType="1"/>
            </p:cNvSpPr>
            <p:nvPr/>
          </p:nvSpPr>
          <p:spPr bwMode="auto">
            <a:xfrm>
              <a:off x="4299768" y="1524561"/>
              <a:ext cx="0" cy="312312"/>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3" name="Line 6"/>
            <p:cNvSpPr>
              <a:spLocks noChangeShapeType="1"/>
            </p:cNvSpPr>
            <p:nvPr/>
          </p:nvSpPr>
          <p:spPr bwMode="auto">
            <a:xfrm flipV="1">
              <a:off x="3534617" y="1878555"/>
              <a:ext cx="787069" cy="395074"/>
            </a:xfrm>
            <a:prstGeom prst="line">
              <a:avLst/>
            </a:prstGeom>
            <a:noFill/>
            <a:ln w="19050">
              <a:solidFill>
                <a:srgbClr val="9900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4" name="Line 11"/>
            <p:cNvSpPr>
              <a:spLocks noChangeShapeType="1"/>
            </p:cNvSpPr>
            <p:nvPr/>
          </p:nvSpPr>
          <p:spPr bwMode="auto">
            <a:xfrm>
              <a:off x="3343807" y="2400536"/>
              <a:ext cx="0" cy="81169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5" name="Line 15"/>
            <p:cNvSpPr>
              <a:spLocks noChangeShapeType="1"/>
            </p:cNvSpPr>
            <p:nvPr/>
          </p:nvSpPr>
          <p:spPr bwMode="auto">
            <a:xfrm flipH="1">
              <a:off x="2773530" y="3273931"/>
              <a:ext cx="642944" cy="50098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6" name="Line 12"/>
            <p:cNvSpPr>
              <a:spLocks noChangeShapeType="1"/>
            </p:cNvSpPr>
            <p:nvPr/>
          </p:nvSpPr>
          <p:spPr bwMode="auto">
            <a:xfrm>
              <a:off x="3414880" y="3274100"/>
              <a:ext cx="877059" cy="56200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7" name="Line 10"/>
            <p:cNvSpPr>
              <a:spLocks noChangeShapeType="1"/>
            </p:cNvSpPr>
            <p:nvPr/>
          </p:nvSpPr>
          <p:spPr bwMode="auto">
            <a:xfrm>
              <a:off x="4467691" y="1940517"/>
              <a:ext cx="862393" cy="33215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9" name="Line 16"/>
            <p:cNvSpPr>
              <a:spLocks noChangeShapeType="1"/>
            </p:cNvSpPr>
            <p:nvPr/>
          </p:nvSpPr>
          <p:spPr bwMode="auto">
            <a:xfrm>
              <a:off x="5453369" y="3275597"/>
              <a:ext cx="724443" cy="447067"/>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Line 13"/>
            <p:cNvSpPr>
              <a:spLocks noChangeShapeType="1"/>
            </p:cNvSpPr>
            <p:nvPr/>
          </p:nvSpPr>
          <p:spPr bwMode="auto">
            <a:xfrm>
              <a:off x="5507075" y="2337161"/>
              <a:ext cx="0" cy="87431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30" name="组合 129"/>
          <p:cNvGrpSpPr/>
          <p:nvPr/>
        </p:nvGrpSpPr>
        <p:grpSpPr>
          <a:xfrm>
            <a:off x="5047244" y="2173646"/>
            <a:ext cx="3240785" cy="1781111"/>
            <a:chOff x="2883104" y="2075396"/>
            <a:chExt cx="3240785" cy="1781111"/>
          </a:xfrm>
        </p:grpSpPr>
        <p:sp>
          <p:nvSpPr>
            <p:cNvPr id="118" name="Line 13"/>
            <p:cNvSpPr>
              <a:spLocks noChangeShapeType="1"/>
            </p:cNvSpPr>
            <p:nvPr/>
          </p:nvSpPr>
          <p:spPr bwMode="auto">
            <a:xfrm>
              <a:off x="5370771" y="2337161"/>
              <a:ext cx="0" cy="87431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0" name="Line 5"/>
            <p:cNvSpPr>
              <a:spLocks noChangeShapeType="1"/>
            </p:cNvSpPr>
            <p:nvPr/>
          </p:nvSpPr>
          <p:spPr bwMode="auto">
            <a:xfrm flipH="1">
              <a:off x="5621357" y="2336929"/>
              <a:ext cx="502532" cy="0"/>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1" name="Line 10"/>
            <p:cNvSpPr>
              <a:spLocks noChangeShapeType="1"/>
            </p:cNvSpPr>
            <p:nvPr/>
          </p:nvSpPr>
          <p:spPr bwMode="auto">
            <a:xfrm>
              <a:off x="4458904" y="2075396"/>
              <a:ext cx="862393" cy="332151"/>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Line 8"/>
            <p:cNvSpPr>
              <a:spLocks noChangeShapeType="1"/>
            </p:cNvSpPr>
            <p:nvPr/>
          </p:nvSpPr>
          <p:spPr bwMode="auto">
            <a:xfrm>
              <a:off x="3618104" y="2463907"/>
              <a:ext cx="1810902" cy="0"/>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4" name="Line 16"/>
            <p:cNvSpPr>
              <a:spLocks noChangeShapeType="1"/>
            </p:cNvSpPr>
            <p:nvPr/>
          </p:nvSpPr>
          <p:spPr bwMode="auto">
            <a:xfrm>
              <a:off x="5370718" y="3383705"/>
              <a:ext cx="724443" cy="447067"/>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5" name="Line 11"/>
            <p:cNvSpPr>
              <a:spLocks noChangeShapeType="1"/>
            </p:cNvSpPr>
            <p:nvPr/>
          </p:nvSpPr>
          <p:spPr bwMode="auto">
            <a:xfrm>
              <a:off x="3467278" y="2400536"/>
              <a:ext cx="0" cy="811691"/>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6" name="Line 15"/>
            <p:cNvSpPr>
              <a:spLocks noChangeShapeType="1"/>
            </p:cNvSpPr>
            <p:nvPr/>
          </p:nvSpPr>
          <p:spPr bwMode="auto">
            <a:xfrm flipH="1">
              <a:off x="2883104" y="3355523"/>
              <a:ext cx="642944" cy="50098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9" name="Line 14"/>
            <p:cNvSpPr>
              <a:spLocks noChangeShapeType="1"/>
            </p:cNvSpPr>
            <p:nvPr/>
          </p:nvSpPr>
          <p:spPr bwMode="auto">
            <a:xfrm flipH="1">
              <a:off x="4566536" y="3325031"/>
              <a:ext cx="804182" cy="528929"/>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4" name="Text Box 9"/>
          <p:cNvSpPr txBox="1">
            <a:spLocks noChangeArrowheads="1"/>
          </p:cNvSpPr>
          <p:nvPr/>
        </p:nvSpPr>
        <p:spPr bwMode="auto">
          <a:xfrm>
            <a:off x="6182045" y="1047110"/>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990099"/>
                </a:solidFill>
                <a:latin typeface="微软雅黑" pitchFamily="34" charset="-122"/>
                <a:ea typeface="微软雅黑" pitchFamily="34" charset="-122"/>
              </a:rPr>
              <a:t>源点 </a:t>
            </a:r>
            <a:r>
              <a:rPr lang="en-US" altLang="zh-CN" sz="1400" b="1" dirty="0">
                <a:solidFill>
                  <a:srgbClr val="990099"/>
                </a:solidFill>
                <a:latin typeface="微软雅黑" pitchFamily="34" charset="-122"/>
                <a:ea typeface="微软雅黑" pitchFamily="34" charset="-122"/>
              </a:rPr>
              <a:t>S1</a:t>
            </a:r>
            <a:endParaRPr lang="zh-CN" altLang="en-US" sz="1400" b="1" dirty="0">
              <a:solidFill>
                <a:srgbClr val="990099"/>
              </a:solidFill>
              <a:latin typeface="微软雅黑" pitchFamily="34" charset="-122"/>
              <a:ea typeface="微软雅黑" pitchFamily="34" charset="-122"/>
            </a:endParaRPr>
          </a:p>
        </p:txBody>
      </p:sp>
      <p:sp>
        <p:nvSpPr>
          <p:cNvPr id="109" name="Text Box 9"/>
          <p:cNvSpPr txBox="1">
            <a:spLocks noChangeArrowheads="1"/>
          </p:cNvSpPr>
          <p:nvPr/>
        </p:nvSpPr>
        <p:spPr bwMode="auto">
          <a:xfrm>
            <a:off x="7908726" y="2038767"/>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0000FF"/>
                </a:solidFill>
                <a:latin typeface="微软雅黑" pitchFamily="34" charset="-122"/>
                <a:ea typeface="微软雅黑" pitchFamily="34" charset="-122"/>
              </a:rPr>
              <a:t>源点 </a:t>
            </a:r>
            <a:r>
              <a:rPr lang="en-US" altLang="zh-CN" sz="1400" b="1" dirty="0">
                <a:solidFill>
                  <a:srgbClr val="0000FF"/>
                </a:solidFill>
                <a:latin typeface="微软雅黑" pitchFamily="34" charset="-122"/>
                <a:ea typeface="微软雅黑" pitchFamily="34" charset="-122"/>
              </a:rPr>
              <a:t>S2</a:t>
            </a:r>
            <a:endParaRPr lang="zh-CN" altLang="en-US" sz="1400" b="1" dirty="0">
              <a:solidFill>
                <a:srgbClr val="0000FF"/>
              </a:solidFill>
              <a:latin typeface="微软雅黑" pitchFamily="34" charset="-122"/>
              <a:ea typeface="微软雅黑" pitchFamily="34" charset="-122"/>
            </a:endParaRPr>
          </a:p>
        </p:txBody>
      </p:sp>
      <p:grpSp>
        <p:nvGrpSpPr>
          <p:cNvPr id="133" name="组合 132"/>
          <p:cNvGrpSpPr/>
          <p:nvPr/>
        </p:nvGrpSpPr>
        <p:grpSpPr>
          <a:xfrm>
            <a:off x="4504778" y="1317647"/>
            <a:ext cx="4190274" cy="2869496"/>
            <a:chOff x="2340638" y="1219397"/>
            <a:chExt cx="4190274" cy="2869496"/>
          </a:xfrm>
        </p:grpSpPr>
        <p:sp>
          <p:nvSpPr>
            <p:cNvPr id="10" name="Line 5"/>
            <p:cNvSpPr>
              <a:spLocks noChangeShapeType="1"/>
            </p:cNvSpPr>
            <p:nvPr/>
          </p:nvSpPr>
          <p:spPr bwMode="auto">
            <a:xfrm>
              <a:off x="4371120" y="1524561"/>
              <a:ext cx="0" cy="3123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flipV="1">
              <a:off x="3402337" y="1934019"/>
              <a:ext cx="947818" cy="46565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3518521" y="3338220"/>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3518521" y="2399678"/>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4485797" y="2011980"/>
              <a:ext cx="862393" cy="33215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3402337" y="2463907"/>
              <a:ext cx="0" cy="81169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3459118" y="3373684"/>
              <a:ext cx="877059" cy="56200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3"/>
            <p:cNvSpPr>
              <a:spLocks noChangeShapeType="1"/>
            </p:cNvSpPr>
            <p:nvPr/>
          </p:nvSpPr>
          <p:spPr bwMode="auto">
            <a:xfrm>
              <a:off x="5436553" y="2436747"/>
              <a:ext cx="0" cy="87431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4"/>
            <p:cNvSpPr>
              <a:spLocks noChangeShapeType="1"/>
            </p:cNvSpPr>
            <p:nvPr/>
          </p:nvSpPr>
          <p:spPr bwMode="auto">
            <a:xfrm flipH="1">
              <a:off x="4511765" y="3338221"/>
              <a:ext cx="933841" cy="62462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5"/>
            <p:cNvSpPr>
              <a:spLocks noChangeShapeType="1"/>
            </p:cNvSpPr>
            <p:nvPr/>
          </p:nvSpPr>
          <p:spPr bwMode="auto">
            <a:xfrm flipH="1">
              <a:off x="2764256" y="3372938"/>
              <a:ext cx="642944"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6"/>
            <p:cNvSpPr>
              <a:spLocks noChangeShapeType="1"/>
            </p:cNvSpPr>
            <p:nvPr/>
          </p:nvSpPr>
          <p:spPr bwMode="auto">
            <a:xfrm>
              <a:off x="5486902" y="3374432"/>
              <a:ext cx="817657"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3"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19994" y="3839204"/>
              <a:ext cx="409702" cy="2496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8"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87677" y="3714761"/>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74"/>
            <p:cNvSpPr txBox="1">
              <a:spLocks noChangeArrowheads="1"/>
            </p:cNvSpPr>
            <p:nvPr/>
          </p:nvSpPr>
          <p:spPr bwMode="auto">
            <a:xfrm>
              <a:off x="5376659" y="201927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3</a:t>
              </a:r>
            </a:p>
          </p:txBody>
        </p:sp>
        <p:sp>
          <p:nvSpPr>
            <p:cNvPr id="70" name="Text Box 75"/>
            <p:cNvSpPr txBox="1">
              <a:spLocks noChangeArrowheads="1"/>
            </p:cNvSpPr>
            <p:nvPr/>
          </p:nvSpPr>
          <p:spPr bwMode="auto">
            <a:xfrm>
              <a:off x="3018346" y="295310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4</a:t>
              </a:r>
            </a:p>
          </p:txBody>
        </p:sp>
        <p:sp>
          <p:nvSpPr>
            <p:cNvPr id="71" name="Text Box 76"/>
            <p:cNvSpPr txBox="1">
              <a:spLocks noChangeArrowheads="1"/>
            </p:cNvSpPr>
            <p:nvPr/>
          </p:nvSpPr>
          <p:spPr bwMode="auto">
            <a:xfrm>
              <a:off x="2340638" y="349893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6</a:t>
              </a:r>
            </a:p>
          </p:txBody>
        </p:sp>
        <p:sp>
          <p:nvSpPr>
            <p:cNvPr id="72" name="Text Box 77"/>
            <p:cNvSpPr txBox="1">
              <a:spLocks noChangeArrowheads="1"/>
            </p:cNvSpPr>
            <p:nvPr/>
          </p:nvSpPr>
          <p:spPr bwMode="auto">
            <a:xfrm>
              <a:off x="4210941" y="357761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3" name="Text Box 78"/>
            <p:cNvSpPr txBox="1">
              <a:spLocks noChangeArrowheads="1"/>
            </p:cNvSpPr>
            <p:nvPr/>
          </p:nvSpPr>
          <p:spPr bwMode="auto">
            <a:xfrm>
              <a:off x="6204735" y="3469446"/>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8</a:t>
              </a:r>
            </a:p>
          </p:txBody>
        </p:sp>
        <p:sp>
          <p:nvSpPr>
            <p:cNvPr id="92" name="Text Box 87"/>
            <p:cNvSpPr txBox="1">
              <a:spLocks noChangeArrowheads="1"/>
            </p:cNvSpPr>
            <p:nvPr/>
          </p:nvSpPr>
          <p:spPr bwMode="auto">
            <a:xfrm>
              <a:off x="4394707" y="1626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1</a:t>
              </a:r>
            </a:p>
          </p:txBody>
        </p:sp>
        <p:sp>
          <p:nvSpPr>
            <p:cNvPr id="93" name="Text Box 88"/>
            <p:cNvSpPr txBox="1">
              <a:spLocks noChangeArrowheads="1"/>
            </p:cNvSpPr>
            <p:nvPr/>
          </p:nvSpPr>
          <p:spPr bwMode="auto">
            <a:xfrm>
              <a:off x="5453427" y="2954084"/>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5</a:t>
              </a:r>
            </a:p>
          </p:txBody>
        </p:sp>
        <p:sp>
          <p:nvSpPr>
            <p:cNvPr id="94" name="Text Box 89"/>
            <p:cNvSpPr txBox="1">
              <a:spLocks noChangeArrowheads="1"/>
            </p:cNvSpPr>
            <p:nvPr/>
          </p:nvSpPr>
          <p:spPr bwMode="auto">
            <a:xfrm>
              <a:off x="3054693" y="1993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2</a:t>
              </a:r>
            </a:p>
          </p:txBody>
        </p:sp>
        <p:sp>
          <p:nvSpPr>
            <p:cNvPr id="111" name="Line 5"/>
            <p:cNvSpPr>
              <a:spLocks noChangeShapeType="1"/>
            </p:cNvSpPr>
            <p:nvPr/>
          </p:nvSpPr>
          <p:spPr bwMode="auto">
            <a:xfrm flipH="1">
              <a:off x="5557986" y="2397766"/>
              <a:ext cx="619826" cy="19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7"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6748" y="3775779"/>
              <a:ext cx="410576" cy="2496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1"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1465" y="1836873"/>
              <a:ext cx="409703" cy="2504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66636" y="1219397"/>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82442" y="2213516"/>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3213776"/>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2276037"/>
              <a:ext cx="409703"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2276037"/>
              <a:ext cx="409702"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3213776"/>
              <a:ext cx="409703"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34" name="Text Box 102"/>
          <p:cNvSpPr txBox="1">
            <a:spLocks noChangeArrowheads="1"/>
          </p:cNvSpPr>
          <p:nvPr/>
        </p:nvSpPr>
        <p:spPr bwMode="auto">
          <a:xfrm>
            <a:off x="1301593" y="4319335"/>
            <a:ext cx="6540815" cy="378117"/>
          </a:xfrm>
          <a:prstGeom prst="rect">
            <a:avLst/>
          </a:prstGeom>
          <a:noFill/>
          <a:ln>
            <a:noFill/>
          </a:ln>
          <a:effectLst/>
        </p:spPr>
        <p:txBody>
          <a:bodyPr wrap="square">
            <a:spAutoFit/>
          </a:bodyPr>
          <a:lstStyle/>
          <a:p>
            <a:pPr algn="ctr">
              <a:lnSpc>
                <a:spcPts val="2400"/>
              </a:lnSpc>
            </a:pPr>
            <a:r>
              <a:rPr lang="en-US" altLang="zh-CN" sz="1400" dirty="0">
                <a:latin typeface="Montserrat" panose="00000500000000000000" pitchFamily="2" charset="0"/>
                <a:ea typeface="微软雅黑" pitchFamily="34" charset="-122"/>
              </a:rPr>
              <a:t>M </a:t>
            </a:r>
            <a:r>
              <a:rPr lang="zh-CN" altLang="en-US" sz="1400" dirty="0">
                <a:latin typeface="Montserrat" panose="00000500000000000000" pitchFamily="2" charset="0"/>
                <a:ea typeface="微软雅黑" pitchFamily="34" charset="-122"/>
              </a:rPr>
              <a:t>个源，</a:t>
            </a:r>
            <a:r>
              <a:rPr lang="en-US" altLang="zh-CN" sz="1400" dirty="0">
                <a:latin typeface="Montserrat" panose="00000500000000000000" pitchFamily="2" charset="0"/>
                <a:ea typeface="微软雅黑" pitchFamily="34" charset="-122"/>
              </a:rPr>
              <a:t>N </a:t>
            </a:r>
            <a:r>
              <a:rPr lang="zh-CN" altLang="en-US" sz="1400" dirty="0">
                <a:latin typeface="Montserrat" panose="00000500000000000000" pitchFamily="2" charset="0"/>
                <a:ea typeface="微软雅黑" pitchFamily="34" charset="-122"/>
              </a:rPr>
              <a:t>个多播组，需要 </a:t>
            </a:r>
            <a:r>
              <a:rPr lang="en-US" altLang="zh-CN" sz="1400" dirty="0" err="1">
                <a:latin typeface="Montserrat" panose="00000500000000000000" pitchFamily="2" charset="0"/>
                <a:ea typeface="微软雅黑" pitchFamily="34" charset="-122"/>
              </a:rPr>
              <a:t>MⅹN</a:t>
            </a:r>
            <a:r>
              <a:rPr lang="en-US" altLang="zh-CN" sz="1400" dirty="0">
                <a:latin typeface="Montserrat" panose="00000500000000000000" pitchFamily="2" charset="0"/>
                <a:ea typeface="微软雅黑" pitchFamily="34" charset="-122"/>
              </a:rPr>
              <a:t> </a:t>
            </a:r>
            <a:r>
              <a:rPr lang="zh-CN" altLang="en-US" sz="1400" dirty="0">
                <a:latin typeface="Montserrat" panose="00000500000000000000" pitchFamily="2" charset="0"/>
                <a:ea typeface="微软雅黑" pitchFamily="34" charset="-122"/>
              </a:rPr>
              <a:t>棵以源为根的多播转发树</a:t>
            </a:r>
            <a:endParaRPr lang="en-US" altLang="zh-CN" sz="1400" dirty="0">
              <a:latin typeface="Montserrat" panose="00000500000000000000" pitchFamily="2" charset="0"/>
              <a:ea typeface="微软雅黑" pitchFamily="34" charset="-122"/>
            </a:endParaRPr>
          </a:p>
        </p:txBody>
      </p:sp>
      <p:sp>
        <p:nvSpPr>
          <p:cNvPr id="2" name="标题 1">
            <a:extLst>
              <a:ext uri="{FF2B5EF4-FFF2-40B4-BE49-F238E27FC236}">
                <a16:creationId xmlns:a16="http://schemas.microsoft.com/office/drawing/2014/main" id="{18EF287E-791B-81BA-924D-5E91CDFAB547}"/>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B9392D0F-E05A-E93D-7615-6771A193E7F5}"/>
              </a:ext>
            </a:extLst>
          </p:cNvPr>
          <p:cNvSpPr>
            <a:spLocks noGrp="1"/>
          </p:cNvSpPr>
          <p:nvPr>
            <p:ph sz="quarter" idx="11"/>
          </p:nvPr>
        </p:nvSpPr>
        <p:spPr>
          <a:xfrm>
            <a:off x="485999" y="900000"/>
            <a:ext cx="4086001" cy="3703500"/>
          </a:xfrm>
        </p:spPr>
        <p:txBody>
          <a:bodyPr/>
          <a:lstStyle/>
          <a:p>
            <a:r>
              <a:rPr lang="zh-CN" altLang="en-US" dirty="0"/>
              <a:t>实际上就是要找出以源主机为根节点的多播转发树</a:t>
            </a:r>
            <a:endParaRPr lang="en-US" altLang="zh-CN" dirty="0"/>
          </a:p>
          <a:p>
            <a:r>
              <a:rPr lang="zh-CN" altLang="en-US" dirty="0"/>
              <a:t>不同的多播组对应于不同的多播转发树</a:t>
            </a:r>
          </a:p>
          <a:p>
            <a:r>
              <a:rPr lang="zh-CN" altLang="en-US" dirty="0"/>
              <a:t>同一个多播组，对不同的源点也会有不同的多播转发树</a:t>
            </a:r>
          </a:p>
          <a:p>
            <a:endParaRPr lang="zh-CN" altLang="en-US" dirty="0"/>
          </a:p>
        </p:txBody>
      </p:sp>
    </p:spTree>
    <p:extLst>
      <p:ext uri="{BB962C8B-B14F-4D97-AF65-F5344CB8AC3E}">
        <p14:creationId xmlns:p14="http://schemas.microsoft.com/office/powerpoint/2010/main" val="683030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500" fill="hold"/>
                                        <p:tgtEl>
                                          <p:spTgt spid="14"/>
                                        </p:tgtEl>
                                        <p:attrNameLst>
                                          <p:attrName>style.visibility</p:attrName>
                                        </p:attrNameLst>
                                      </p:cBhvr>
                                      <p:tavLst>
                                        <p:tav tm="0">
                                          <p:val>
                                            <p:strVal val="hidden"/>
                                          </p:val>
                                        </p:tav>
                                        <p:tav tm="50000">
                                          <p:val>
                                            <p:strVal val="visible"/>
                                          </p:val>
                                        </p:tav>
                                      </p:tavLst>
                                    </p:anim>
                                  </p:childTnLst>
                                </p:cTn>
                              </p:par>
                            </p:childTnLst>
                          </p:cTn>
                        </p:par>
                        <p:par>
                          <p:cTn id="7" fill="hold">
                            <p:stCondLst>
                              <p:cond delay="1500"/>
                            </p:stCondLst>
                            <p:childTnLst>
                              <p:par>
                                <p:cTn id="8" presetID="22" presetClass="entr" presetSubtype="1" fill="hold" nodeType="afterEffect">
                                  <p:stCondLst>
                                    <p:cond delay="0"/>
                                  </p:stCondLst>
                                  <p:childTnLst>
                                    <p:set>
                                      <p:cBhvr>
                                        <p:cTn id="9" dur="1" fill="hold">
                                          <p:stCondLst>
                                            <p:cond delay="0"/>
                                          </p:stCondLst>
                                        </p:cTn>
                                        <p:tgtEl>
                                          <p:spTgt spid="128"/>
                                        </p:tgtEl>
                                        <p:attrNameLst>
                                          <p:attrName>style.visibility</p:attrName>
                                        </p:attrNameLst>
                                      </p:cBhvr>
                                      <p:to>
                                        <p:strVal val="visible"/>
                                      </p:to>
                                    </p:set>
                                    <p:animEffect transition="in" filter="wipe(up)">
                                      <p:cBhvr>
                                        <p:cTn id="10" dur="1000"/>
                                        <p:tgtEl>
                                          <p:spTgt spid="128"/>
                                        </p:tgtEl>
                                      </p:cBhvr>
                                    </p:animEffect>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500" fill="hold"/>
                                        <p:tgtEl>
                                          <p:spTgt spid="109"/>
                                        </p:tgtEl>
                                        <p:attrNameLst>
                                          <p:attrName>style.visibility</p:attrName>
                                        </p:attrNameLst>
                                      </p:cBhvr>
                                      <p:tavLst>
                                        <p:tav tm="0">
                                          <p:val>
                                            <p:strVal val="hidden"/>
                                          </p:val>
                                        </p:tav>
                                        <p:tav tm="50000">
                                          <p:val>
                                            <p:strVal val="visible"/>
                                          </p:val>
                                        </p:tav>
                                      </p:tavLst>
                                    </p:anim>
                                  </p:childTnLst>
                                </p:cTn>
                              </p:par>
                            </p:childTnLst>
                          </p:cTn>
                        </p:par>
                        <p:par>
                          <p:cTn id="15" fill="hold">
                            <p:stCondLst>
                              <p:cond delay="1500"/>
                            </p:stCondLst>
                            <p:childTnLst>
                              <p:par>
                                <p:cTn id="16" presetID="22" presetClass="entr" presetSubtype="2" fill="hold" nodeType="afterEffect">
                                  <p:stCondLst>
                                    <p:cond delay="0"/>
                                  </p:stCondLst>
                                  <p:childTnLst>
                                    <p:set>
                                      <p:cBhvr>
                                        <p:cTn id="17" dur="1" fill="hold">
                                          <p:stCondLst>
                                            <p:cond delay="0"/>
                                          </p:stCondLst>
                                        </p:cTn>
                                        <p:tgtEl>
                                          <p:spTgt spid="130"/>
                                        </p:tgtEl>
                                        <p:attrNameLst>
                                          <p:attrName>style.visibility</p:attrName>
                                        </p:attrNameLst>
                                      </p:cBhvr>
                                      <p:to>
                                        <p:strVal val="visible"/>
                                      </p:to>
                                    </p:set>
                                    <p:animEffect transition="in" filter="wipe(right)">
                                      <p:cBhvr>
                                        <p:cTn id="18" dur="1000"/>
                                        <p:tgtEl>
                                          <p:spTgt spid="13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4"/>
                                        </p:tgtEl>
                                        <p:attrNameLst>
                                          <p:attrName>style.visibility</p:attrName>
                                        </p:attrNameLst>
                                      </p:cBhvr>
                                      <p:to>
                                        <p:strVal val="visible"/>
                                      </p:to>
                                    </p:set>
                                    <p:animEffect transition="in" filter="fade">
                                      <p:cBhvr>
                                        <p:cTn id="23"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09" grpId="0"/>
      <p:bldP spid="134" grpId="0" animBg="1"/>
    </p:bldLst>
  </p:timing>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8D15C7F-CC11-57BB-7015-A016021D9922}"/>
              </a:ext>
            </a:extLst>
          </p:cNvPr>
          <p:cNvSpPr>
            <a:spLocks noGrp="1"/>
          </p:cNvSpPr>
          <p:nvPr>
            <p:ph type="title"/>
          </p:nvPr>
        </p:nvSpPr>
        <p:spPr>
          <a:xfrm>
            <a:off x="486000" y="550723"/>
            <a:ext cx="8172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707EBED5-79F1-8E70-5B78-E6A51621D5B6}"/>
              </a:ext>
            </a:extLst>
          </p:cNvPr>
          <p:cNvSpPr>
            <a:spLocks noGrp="1"/>
          </p:cNvSpPr>
          <p:nvPr>
            <p:ph sz="quarter" idx="11"/>
          </p:nvPr>
        </p:nvSpPr>
        <p:spPr>
          <a:xfrm>
            <a:off x="486000" y="900000"/>
            <a:ext cx="8172000" cy="3703500"/>
          </a:xfrm>
        </p:spPr>
        <p:txBody>
          <a:bodyPr/>
          <a:lstStyle/>
          <a:p>
            <a:r>
              <a:rPr lang="zh-CN" altLang="en-US" dirty="0"/>
              <a:t>转发多播数据报时使用三种方法：</a:t>
            </a:r>
          </a:p>
          <a:p>
            <a:pPr lvl="1"/>
            <a:r>
              <a:rPr lang="zh-CN" altLang="en-US" dirty="0"/>
              <a:t>洪泛 </a:t>
            </a:r>
            <a:r>
              <a:rPr lang="en-US" altLang="zh-CN" dirty="0"/>
              <a:t>flooding</a:t>
            </a:r>
            <a:r>
              <a:rPr lang="zh-CN" altLang="en-US" dirty="0"/>
              <a:t>与剪除</a:t>
            </a:r>
          </a:p>
          <a:p>
            <a:pPr lvl="1"/>
            <a:r>
              <a:rPr lang="zh-CN" altLang="en-US" dirty="0"/>
              <a:t>隧道技术 </a:t>
            </a:r>
            <a:r>
              <a:rPr lang="en-US" altLang="zh-CN" dirty="0"/>
              <a:t>tunneling</a:t>
            </a:r>
          </a:p>
          <a:p>
            <a:pPr lvl="1"/>
            <a:r>
              <a:rPr lang="zh-CN" altLang="en-US" dirty="0"/>
              <a:t>基于核心的发现技术</a:t>
            </a:r>
          </a:p>
          <a:p>
            <a:endParaRPr lang="zh-CN" altLang="en-US" dirty="0"/>
          </a:p>
        </p:txBody>
      </p:sp>
    </p:spTree>
    <p:extLst>
      <p:ext uri="{BB962C8B-B14F-4D97-AF65-F5344CB8AC3E}">
        <p14:creationId xmlns:p14="http://schemas.microsoft.com/office/powerpoint/2010/main" val="2851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7C2D8B7-6D1C-8AC5-BD5A-BB7064B1626D}"/>
              </a:ext>
            </a:extLst>
          </p:cNvPr>
          <p:cNvSpPr>
            <a:spLocks noGrp="1"/>
          </p:cNvSpPr>
          <p:nvPr>
            <p:ph type="title"/>
          </p:nvPr>
        </p:nvSpPr>
        <p:spPr>
          <a:xfrm>
            <a:off x="486000" y="550723"/>
            <a:ext cx="8172000" cy="338554"/>
          </a:xfrm>
        </p:spPr>
        <p:txBody>
          <a:bodyPr/>
          <a:lstStyle/>
          <a:p>
            <a:r>
              <a:rPr lang="en-US" altLang="zh-CN" dirty="0"/>
              <a:t>(1) </a:t>
            </a:r>
            <a:r>
              <a:rPr lang="zh-CN" altLang="en-US" dirty="0"/>
              <a:t>洪泛与剪除</a:t>
            </a:r>
          </a:p>
        </p:txBody>
      </p:sp>
      <p:sp>
        <p:nvSpPr>
          <p:cNvPr id="6" name="内容占位符 5">
            <a:extLst>
              <a:ext uri="{FF2B5EF4-FFF2-40B4-BE49-F238E27FC236}">
                <a16:creationId xmlns:a16="http://schemas.microsoft.com/office/drawing/2014/main" id="{8FB2DFCC-CA68-E3D9-73FD-64B70697A3F6}"/>
              </a:ext>
            </a:extLst>
          </p:cNvPr>
          <p:cNvSpPr>
            <a:spLocks noGrp="1"/>
          </p:cNvSpPr>
          <p:nvPr>
            <p:ph sz="quarter" idx="11"/>
          </p:nvPr>
        </p:nvSpPr>
        <p:spPr>
          <a:xfrm>
            <a:off x="486000" y="900000"/>
            <a:ext cx="8172000" cy="3703500"/>
          </a:xfrm>
        </p:spPr>
        <p:txBody>
          <a:bodyPr/>
          <a:lstStyle/>
          <a:p>
            <a:r>
              <a:rPr lang="zh-CN" altLang="en-US" dirty="0"/>
              <a:t>适合于较小的多播组，所有组成员接入的局域网也是相邻接的</a:t>
            </a:r>
          </a:p>
          <a:p>
            <a:r>
              <a:rPr lang="zh-CN" altLang="en-US" dirty="0"/>
              <a:t>开始时，路由器转发多播数据报使用洪泛的方法 </a:t>
            </a:r>
            <a:r>
              <a:rPr lang="en-US" altLang="zh-CN" dirty="0"/>
              <a:t>- </a:t>
            </a:r>
            <a:r>
              <a:rPr lang="zh-CN" altLang="en-US" dirty="0"/>
              <a:t>广播</a:t>
            </a:r>
          </a:p>
          <a:p>
            <a:r>
              <a:rPr lang="zh-CN" altLang="en-US" dirty="0"/>
              <a:t>为避免兜圈子，采用反向路径广播 </a:t>
            </a:r>
            <a:r>
              <a:rPr lang="en-US" altLang="zh-CN" dirty="0"/>
              <a:t>RPB - Reverse Path Broadcasting </a:t>
            </a:r>
            <a:r>
              <a:rPr lang="zh-CN" altLang="en-US" dirty="0"/>
              <a:t>的策略</a:t>
            </a:r>
          </a:p>
          <a:p>
            <a:endParaRPr lang="zh-CN" altLang="en-US" dirty="0"/>
          </a:p>
        </p:txBody>
      </p:sp>
    </p:spTree>
    <p:extLst>
      <p:ext uri="{BB962C8B-B14F-4D97-AF65-F5344CB8AC3E}">
        <p14:creationId xmlns:p14="http://schemas.microsoft.com/office/powerpoint/2010/main" val="24315489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a:spLocks noChangeArrowheads="1"/>
          </p:cNvSpPr>
          <p:nvPr/>
        </p:nvSpPr>
        <p:spPr bwMode="auto">
          <a:xfrm>
            <a:off x="3164997" y="3249421"/>
            <a:ext cx="2050874" cy="3091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algn="ctr" defTabSz="904875" eaLnBrk="0" hangingPunct="0"/>
            <a:r>
              <a:rPr lang="en-US" altLang="zh-CN" sz="1400" dirty="0">
                <a:solidFill>
                  <a:srgbClr val="0000FF"/>
                </a:solidFill>
                <a:latin typeface="微软雅黑 Light" panose="020B0502040204020203" pitchFamily="34" charset="-122"/>
                <a:ea typeface="微软雅黑 Light" panose="020B0502040204020203" pitchFamily="34" charset="-122"/>
              </a:rPr>
              <a:t>R</a:t>
            </a:r>
            <a:r>
              <a:rPr lang="en-US" altLang="zh-CN" sz="1400" baseline="-25000" dirty="0">
                <a:solidFill>
                  <a:srgbClr val="0000FF"/>
                </a:solidFill>
                <a:latin typeface="微软雅黑 Light" panose="020B0502040204020203" pitchFamily="34" charset="-122"/>
                <a:ea typeface="微软雅黑 Light" panose="020B0502040204020203" pitchFamily="34" charset="-122"/>
              </a:rPr>
              <a:t>0</a:t>
            </a:r>
            <a:r>
              <a:rPr lang="en-US" altLang="zh-CN" sz="1400" dirty="0">
                <a:solidFill>
                  <a:srgbClr val="0000FF"/>
                </a:solidFill>
                <a:latin typeface="微软雅黑 Light" panose="020B0502040204020203" pitchFamily="34" charset="-122"/>
                <a:ea typeface="微软雅黑 Light" panose="020B0502040204020203" pitchFamily="34" charset="-122"/>
              </a:rPr>
              <a:t> </a:t>
            </a:r>
            <a:r>
              <a:rPr lang="zh-CN" altLang="en-US" sz="1400" dirty="0">
                <a:solidFill>
                  <a:srgbClr val="0000FF"/>
                </a:solidFill>
                <a:latin typeface="微软雅黑 Light" panose="020B0502040204020203" pitchFamily="34" charset="-122"/>
                <a:ea typeface="微软雅黑 Light" panose="020B0502040204020203" pitchFamily="34" charset="-122"/>
              </a:rPr>
              <a:t>单播路由表</a:t>
            </a:r>
            <a:endParaRPr lang="en-US" altLang="zh-CN" sz="1400" dirty="0">
              <a:solidFill>
                <a:srgbClr val="0000FF"/>
              </a:solidFill>
              <a:latin typeface="微软雅黑 Light" panose="020B0502040204020203" pitchFamily="34" charset="-122"/>
              <a:ea typeface="微软雅黑 Light" panose="020B0502040204020203" pitchFamily="34" charset="-122"/>
            </a:endParaRPr>
          </a:p>
        </p:txBody>
      </p:sp>
      <p:grpSp>
        <p:nvGrpSpPr>
          <p:cNvPr id="13" name="Group 12"/>
          <p:cNvGrpSpPr>
            <a:grpSpLocks/>
          </p:cNvGrpSpPr>
          <p:nvPr/>
        </p:nvGrpSpPr>
        <p:grpSpPr bwMode="auto">
          <a:xfrm>
            <a:off x="1063036" y="3928079"/>
            <a:ext cx="2169040" cy="525474"/>
            <a:chOff x="2299" y="2980"/>
            <a:chExt cx="2294" cy="294"/>
          </a:xfrm>
        </p:grpSpPr>
        <p:sp>
          <p:nvSpPr>
            <p:cNvPr id="14" name="Rectangle 13"/>
            <p:cNvSpPr>
              <a:spLocks noChangeArrowheads="1"/>
            </p:cNvSpPr>
            <p:nvPr/>
          </p:nvSpPr>
          <p:spPr bwMode="auto">
            <a:xfrm>
              <a:off x="2299" y="2980"/>
              <a:ext cx="1827"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400" dirty="0">
                  <a:latin typeface="微软雅黑 Light" panose="020B0502040204020203" pitchFamily="34" charset="-122"/>
                  <a:ea typeface="微软雅黑 Light" panose="020B0502040204020203" pitchFamily="34" charset="-122"/>
                </a:rPr>
                <a:t>经最短路径传送来的，</a:t>
              </a:r>
              <a:r>
                <a:rPr lang="zh-CN" altLang="en-US" sz="1400" dirty="0">
                  <a:solidFill>
                    <a:srgbClr val="C00000"/>
                  </a:solidFill>
                  <a:latin typeface="微软雅黑 Light" panose="020B0502040204020203" pitchFamily="34" charset="-122"/>
                  <a:ea typeface="微软雅黑 Light" panose="020B0502040204020203" pitchFamily="34" charset="-122"/>
                </a:rPr>
                <a:t>转发！</a:t>
              </a:r>
              <a:endParaRPr lang="en-US" altLang="zh-CN" sz="1400" dirty="0">
                <a:solidFill>
                  <a:srgbClr val="C00000"/>
                </a:solidFill>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flipH="1">
              <a:off x="4038" y="3020"/>
              <a:ext cx="555" cy="8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20" name="Line 19"/>
          <p:cNvSpPr>
            <a:spLocks noChangeShapeType="1"/>
          </p:cNvSpPr>
          <p:nvPr/>
        </p:nvSpPr>
        <p:spPr bwMode="auto">
          <a:xfrm flipV="1">
            <a:off x="2759083" y="1557423"/>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1" name="Line 20"/>
          <p:cNvSpPr>
            <a:spLocks noChangeShapeType="1"/>
          </p:cNvSpPr>
          <p:nvPr/>
        </p:nvSpPr>
        <p:spPr bwMode="auto">
          <a:xfrm flipH="1">
            <a:off x="2885127" y="2893788"/>
            <a:ext cx="1292302"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3" name="Rectangle 22"/>
          <p:cNvSpPr>
            <a:spLocks noChangeArrowheads="1"/>
          </p:cNvSpPr>
          <p:nvPr/>
        </p:nvSpPr>
        <p:spPr bwMode="auto">
          <a:xfrm>
            <a:off x="2104579" y="1439433"/>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grpSp>
        <p:nvGrpSpPr>
          <p:cNvPr id="26" name="Group 25"/>
          <p:cNvGrpSpPr>
            <a:grpSpLocks/>
          </p:cNvGrpSpPr>
          <p:nvPr/>
        </p:nvGrpSpPr>
        <p:grpSpPr bwMode="auto">
          <a:xfrm>
            <a:off x="946976" y="1628671"/>
            <a:ext cx="1719047" cy="1084653"/>
            <a:chOff x="1901" y="1467"/>
            <a:chExt cx="962" cy="608"/>
          </a:xfrm>
        </p:grpSpPr>
        <p:sp>
          <p:nvSpPr>
            <p:cNvPr id="27" name="Rectangle 26"/>
            <p:cNvSpPr>
              <a:spLocks noChangeArrowheads="1"/>
            </p:cNvSpPr>
            <p:nvPr/>
          </p:nvSpPr>
          <p:spPr bwMode="auto">
            <a:xfrm>
              <a:off x="1901" y="1548"/>
              <a:ext cx="83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400" dirty="0">
                  <a:latin typeface="微软雅黑 Light" panose="020B0502040204020203" pitchFamily="34" charset="-122"/>
                  <a:ea typeface="微软雅黑 Light" panose="020B0502040204020203" pitchFamily="34" charset="-122"/>
                </a:rPr>
                <a:t>多播数据报</a:t>
              </a:r>
              <a:endParaRPr lang="en-US" altLang="zh-CN" sz="1400" dirty="0">
                <a:latin typeface="微软雅黑 Light" panose="020B0502040204020203" pitchFamily="34" charset="-122"/>
                <a:ea typeface="微软雅黑 Light" panose="020B0502040204020203" pitchFamily="34" charset="-122"/>
              </a:endParaRPr>
            </a:p>
            <a:p>
              <a:pPr algn="ctr" defTabSz="904875" eaLnBrk="0" hangingPunct="0"/>
              <a:r>
                <a:rPr lang="zh-CN" altLang="en-US" sz="1400" dirty="0">
                  <a:latin typeface="微软雅黑 Light" panose="020B0502040204020203" pitchFamily="34" charset="-122"/>
                  <a:ea typeface="微软雅黑 Light" panose="020B0502040204020203" pitchFamily="34" charset="-122"/>
                </a:rPr>
                <a:t>来自</a:t>
              </a:r>
              <a:r>
                <a:rPr lang="en-US" altLang="zh-CN" sz="1400" dirty="0">
                  <a:latin typeface="微软雅黑 Light" panose="020B0502040204020203" pitchFamily="34" charset="-122"/>
                  <a:ea typeface="微软雅黑 Light" panose="020B0502040204020203" pitchFamily="34" charset="-122"/>
                </a:rPr>
                <a:t> </a:t>
              </a:r>
              <a:r>
                <a:rPr lang="en-US" altLang="zh-CN" sz="1400" dirty="0">
                  <a:solidFill>
                    <a:srgbClr val="CC00CC"/>
                  </a:solidFill>
                  <a:latin typeface="微软雅黑 Light" panose="020B0502040204020203" pitchFamily="34" charset="-122"/>
                  <a:ea typeface="微软雅黑 Light" panose="020B0502040204020203" pitchFamily="34" charset="-122"/>
                </a:rPr>
                <a:t>151.10.33.21</a:t>
              </a:r>
            </a:p>
          </p:txBody>
        </p:sp>
        <p:sp>
          <p:nvSpPr>
            <p:cNvPr id="28" name="Line 27"/>
            <p:cNvSpPr>
              <a:spLocks noChangeShapeType="1"/>
            </p:cNvSpPr>
            <p:nvPr/>
          </p:nvSpPr>
          <p:spPr bwMode="auto">
            <a:xfrm flipH="1">
              <a:off x="2863" y="1467"/>
              <a:ext cx="0" cy="608"/>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pic>
        <p:nvPicPr>
          <p:cNvPr id="34"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6" y="1417132"/>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08169" y="2714087"/>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Line 19"/>
          <p:cNvSpPr>
            <a:spLocks noChangeShapeType="1"/>
          </p:cNvSpPr>
          <p:nvPr/>
        </p:nvSpPr>
        <p:spPr bwMode="auto">
          <a:xfrm flipV="1">
            <a:off x="2759082" y="2973998"/>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7" name="Line 19"/>
          <p:cNvSpPr>
            <a:spLocks noChangeShapeType="1"/>
          </p:cNvSpPr>
          <p:nvPr/>
        </p:nvSpPr>
        <p:spPr bwMode="auto">
          <a:xfrm flipV="1">
            <a:off x="2210305" y="2973997"/>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5" y="2714087"/>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22"/>
          <p:cNvSpPr>
            <a:spLocks noChangeArrowheads="1"/>
          </p:cNvSpPr>
          <p:nvPr/>
        </p:nvSpPr>
        <p:spPr bwMode="auto">
          <a:xfrm>
            <a:off x="2232547" y="2432318"/>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39" name="Rectangle 22"/>
          <p:cNvSpPr>
            <a:spLocks noChangeArrowheads="1"/>
          </p:cNvSpPr>
          <p:nvPr/>
        </p:nvSpPr>
        <p:spPr bwMode="auto">
          <a:xfrm>
            <a:off x="4177429" y="2432318"/>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aphicFrame>
        <p:nvGraphicFramePr>
          <p:cNvPr id="40" name="表格 39"/>
          <p:cNvGraphicFramePr>
            <a:graphicFrameLocks noGrp="1"/>
          </p:cNvGraphicFramePr>
          <p:nvPr>
            <p:extLst>
              <p:ext uri="{D42A27DB-BD31-4B8C-83A1-F6EECF244321}">
                <p14:modId xmlns:p14="http://schemas.microsoft.com/office/powerpoint/2010/main" val="1119191938"/>
              </p:ext>
            </p:extLst>
          </p:nvPr>
        </p:nvGraphicFramePr>
        <p:xfrm>
          <a:off x="3106724" y="3547265"/>
          <a:ext cx="2208519" cy="1097280"/>
        </p:xfrm>
        <a:graphic>
          <a:graphicData uri="http://schemas.openxmlformats.org/drawingml/2006/table">
            <a:tbl>
              <a:tblPr firstRow="1" bandRow="1">
                <a:tableStyleId>{5940675A-B579-460E-94D1-54222C63F5DA}</a:tableStyleId>
              </a:tblPr>
              <a:tblGrid>
                <a:gridCol w="1428310">
                  <a:extLst>
                    <a:ext uri="{9D8B030D-6E8A-4147-A177-3AD203B41FA5}">
                      <a16:colId xmlns:a16="http://schemas.microsoft.com/office/drawing/2014/main" val="1462558753"/>
                    </a:ext>
                  </a:extLst>
                </a:gridCol>
                <a:gridCol w="780209">
                  <a:extLst>
                    <a:ext uri="{9D8B030D-6E8A-4147-A177-3AD203B41FA5}">
                      <a16:colId xmlns:a16="http://schemas.microsoft.com/office/drawing/2014/main" val="1329728034"/>
                    </a:ext>
                  </a:extLst>
                </a:gridCol>
              </a:tblGrid>
              <a:tr h="242444">
                <a:tc>
                  <a:txBody>
                    <a:bodyPr/>
                    <a:lstStyle/>
                    <a:p>
                      <a:pPr algn="ctr"/>
                      <a:r>
                        <a:rPr lang="zh-CN" altLang="en-US" sz="1200" b="0" dirty="0">
                          <a:latin typeface="Montserrat" panose="00000500000000000000" pitchFamily="2" charset="0"/>
                          <a:ea typeface="微软雅黑 Light" panose="020B0502040204020203" pitchFamily="34" charset="-122"/>
                        </a:rPr>
                        <a:t>目的网络</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sz="1200" b="0" dirty="0">
                          <a:latin typeface="Montserrat" panose="00000500000000000000" pitchFamily="2" charset="0"/>
                          <a:ea typeface="微软雅黑 Light" panose="020B0502040204020203" pitchFamily="34" charset="-122"/>
                        </a:rPr>
                        <a:t>下一跳</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81358789"/>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151.10.0.0/16</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solidFill>
                            <a:srgbClr val="C00000"/>
                          </a:solidFill>
                          <a:latin typeface="Montserrat" panose="00000500000000000000" pitchFamily="2" charset="0"/>
                          <a:ea typeface="微软雅黑 Light" panose="020B0502040204020203" pitchFamily="34" charset="-122"/>
                        </a:rPr>
                        <a:t>R</a:t>
                      </a:r>
                      <a:r>
                        <a:rPr lang="en-US" altLang="zh-CN" sz="1200" b="0" baseline="-25000" dirty="0">
                          <a:solidFill>
                            <a:srgbClr val="C00000"/>
                          </a:solidFill>
                          <a:latin typeface="Montserrat" panose="00000500000000000000" pitchFamily="2" charset="0"/>
                          <a:ea typeface="微软雅黑 Light" panose="020B0502040204020203" pitchFamily="34" charset="-122"/>
                        </a:rPr>
                        <a:t>1</a:t>
                      </a:r>
                      <a:r>
                        <a:rPr lang="en-US" altLang="zh-CN" sz="1200" b="0" dirty="0">
                          <a:solidFill>
                            <a:srgbClr val="C00000"/>
                          </a:solidFill>
                          <a:latin typeface="Montserrat" panose="00000500000000000000" pitchFamily="2" charset="0"/>
                          <a:ea typeface="微软雅黑 Light" panose="020B0502040204020203" pitchFamily="34" charset="-122"/>
                        </a:rPr>
                        <a:t> </a:t>
                      </a:r>
                      <a:endParaRPr lang="zh-CN" altLang="en-US" sz="1200" b="0" dirty="0">
                        <a:solidFill>
                          <a:srgbClr val="C00000"/>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73013368"/>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198.14.32.0/24</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latin typeface="Montserrat" panose="00000500000000000000" pitchFamily="2" charset="0"/>
                          <a:ea typeface="微软雅黑 Light" panose="020B0502040204020203" pitchFamily="34" charset="-122"/>
                        </a:rPr>
                        <a:t>R</a:t>
                      </a:r>
                      <a:r>
                        <a:rPr lang="en-US" altLang="zh-CN" sz="1200" b="0" kern="1200" baseline="-25000" dirty="0">
                          <a:solidFill>
                            <a:schemeClr val="tx1"/>
                          </a:solidFill>
                          <a:latin typeface="Montserrat" panose="00000500000000000000" pitchFamily="2" charset="0"/>
                          <a:ea typeface="微软雅黑 Light" panose="020B0502040204020203" pitchFamily="34" charset="-122"/>
                          <a:cs typeface="+mn-cs"/>
                        </a:rPr>
                        <a:t>2</a:t>
                      </a:r>
                      <a:r>
                        <a:rPr lang="en-US" altLang="zh-CN" sz="1200" b="0" dirty="0">
                          <a:latin typeface="Montserrat" panose="00000500000000000000" pitchFamily="2" charset="0"/>
                          <a:ea typeface="微软雅黑 Light" panose="020B0502040204020203" pitchFamily="34" charset="-122"/>
                        </a:rPr>
                        <a:t> </a:t>
                      </a:r>
                      <a:endParaRPr lang="zh-CN" altLang="en-US" sz="1200" b="0" dirty="0">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64301031"/>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204.1.16.0/24</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latin typeface="Montserrat" panose="00000500000000000000" pitchFamily="2" charset="0"/>
                          <a:ea typeface="微软雅黑 Light" panose="020B0502040204020203" pitchFamily="34" charset="-122"/>
                        </a:rPr>
                        <a:t>R</a:t>
                      </a:r>
                      <a:r>
                        <a:rPr lang="en-US" altLang="zh-CN" sz="1200" b="0" kern="1200" baseline="-25000" dirty="0">
                          <a:solidFill>
                            <a:schemeClr val="tx1"/>
                          </a:solidFill>
                          <a:latin typeface="Montserrat" panose="00000500000000000000" pitchFamily="2" charset="0"/>
                          <a:ea typeface="微软雅黑 Light" panose="020B0502040204020203" pitchFamily="34" charset="-122"/>
                          <a:cs typeface="+mn-cs"/>
                        </a:rPr>
                        <a:t>2</a:t>
                      </a:r>
                      <a:r>
                        <a:rPr lang="en-US" altLang="zh-CN" sz="1200" b="0" dirty="0">
                          <a:latin typeface="Montserrat" panose="00000500000000000000" pitchFamily="2" charset="0"/>
                          <a:ea typeface="微软雅黑 Light" panose="020B0502040204020203" pitchFamily="34" charset="-122"/>
                        </a:rPr>
                        <a:t> </a:t>
                      </a:r>
                      <a:endParaRPr lang="zh-CN" altLang="en-US" sz="1200" b="0" dirty="0">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54844528"/>
                  </a:ext>
                </a:extLst>
              </a:tr>
            </a:tbl>
          </a:graphicData>
        </a:graphic>
      </p:graphicFrame>
      <p:grpSp>
        <p:nvGrpSpPr>
          <p:cNvPr id="45" name="组合 44"/>
          <p:cNvGrpSpPr/>
          <p:nvPr/>
        </p:nvGrpSpPr>
        <p:grpSpPr>
          <a:xfrm>
            <a:off x="2177655" y="2836226"/>
            <a:ext cx="1930513" cy="671801"/>
            <a:chOff x="3707686" y="2889766"/>
            <a:chExt cx="1930513" cy="671801"/>
          </a:xfrm>
        </p:grpSpPr>
        <p:sp>
          <p:nvSpPr>
            <p:cNvPr id="42" name="Line 27"/>
            <p:cNvSpPr>
              <a:spLocks noChangeShapeType="1"/>
            </p:cNvSpPr>
            <p:nvPr/>
          </p:nvSpPr>
          <p:spPr bwMode="auto">
            <a:xfrm flipH="1">
              <a:off x="4220081" y="3168525"/>
              <a:ext cx="0" cy="393042"/>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3" name="Line 27"/>
            <p:cNvSpPr>
              <a:spLocks noChangeShapeType="1"/>
            </p:cNvSpPr>
            <p:nvPr/>
          </p:nvSpPr>
          <p:spPr bwMode="auto">
            <a:xfrm flipH="1">
              <a:off x="3707686" y="3066789"/>
              <a:ext cx="290127" cy="37293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4" name="Line 27"/>
            <p:cNvSpPr>
              <a:spLocks noChangeShapeType="1"/>
            </p:cNvSpPr>
            <p:nvPr/>
          </p:nvSpPr>
          <p:spPr bwMode="auto">
            <a:xfrm>
              <a:off x="4606112" y="2889766"/>
              <a:ext cx="1032087" cy="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49" name="Group 25"/>
          <p:cNvGrpSpPr>
            <a:grpSpLocks/>
          </p:cNvGrpSpPr>
          <p:nvPr/>
        </p:nvGrpSpPr>
        <p:grpSpPr bwMode="auto">
          <a:xfrm>
            <a:off x="6623804" y="1832554"/>
            <a:ext cx="1613615" cy="995454"/>
            <a:chOff x="1926" y="1528"/>
            <a:chExt cx="903" cy="558"/>
          </a:xfrm>
        </p:grpSpPr>
        <p:sp>
          <p:nvSpPr>
            <p:cNvPr id="50" name="Rectangle 26"/>
            <p:cNvSpPr>
              <a:spLocks noChangeArrowheads="1"/>
            </p:cNvSpPr>
            <p:nvPr/>
          </p:nvSpPr>
          <p:spPr bwMode="auto">
            <a:xfrm>
              <a:off x="1991" y="1528"/>
              <a:ext cx="83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400" dirty="0">
                  <a:latin typeface="微软雅黑 Light" panose="020B0502040204020203" pitchFamily="34" charset="-122"/>
                  <a:ea typeface="微软雅黑 Light" panose="020B0502040204020203" pitchFamily="34" charset="-122"/>
                </a:rPr>
                <a:t>多播数据报</a:t>
              </a:r>
              <a:endParaRPr lang="en-US" altLang="zh-CN" sz="1400" dirty="0">
                <a:latin typeface="微软雅黑 Light" panose="020B0502040204020203" pitchFamily="34" charset="-122"/>
                <a:ea typeface="微软雅黑 Light" panose="020B0502040204020203" pitchFamily="34" charset="-122"/>
              </a:endParaRPr>
            </a:p>
            <a:p>
              <a:pPr algn="ctr" defTabSz="904875" eaLnBrk="0" hangingPunct="0"/>
              <a:r>
                <a:rPr lang="zh-CN" altLang="en-US" sz="1400" dirty="0">
                  <a:latin typeface="微软雅黑 Light" panose="020B0502040204020203" pitchFamily="34" charset="-122"/>
                  <a:ea typeface="微软雅黑 Light" panose="020B0502040204020203" pitchFamily="34" charset="-122"/>
                </a:rPr>
                <a:t>来自</a:t>
              </a:r>
              <a:r>
                <a:rPr lang="en-US" altLang="zh-CN" sz="1400" dirty="0">
                  <a:latin typeface="微软雅黑 Light" panose="020B0502040204020203" pitchFamily="34" charset="-122"/>
                  <a:ea typeface="微软雅黑 Light" panose="020B0502040204020203" pitchFamily="34" charset="-122"/>
                </a:rPr>
                <a:t> </a:t>
              </a:r>
              <a:r>
                <a:rPr lang="en-US" altLang="zh-CN" sz="1400" dirty="0">
                  <a:solidFill>
                    <a:srgbClr val="CC00CC"/>
                  </a:solidFill>
                  <a:latin typeface="微软雅黑 Light" panose="020B0502040204020203" pitchFamily="34" charset="-122"/>
                  <a:ea typeface="微软雅黑 Light" panose="020B0502040204020203" pitchFamily="34" charset="-122"/>
                </a:rPr>
                <a:t>151.10.33.21</a:t>
              </a:r>
            </a:p>
          </p:txBody>
        </p:sp>
        <p:sp>
          <p:nvSpPr>
            <p:cNvPr id="51" name="Line 27"/>
            <p:cNvSpPr>
              <a:spLocks noChangeShapeType="1"/>
            </p:cNvSpPr>
            <p:nvPr/>
          </p:nvSpPr>
          <p:spPr bwMode="auto">
            <a:xfrm flipH="1">
              <a:off x="1926" y="2085"/>
              <a:ext cx="615" cy="1"/>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66" name="组合 65"/>
          <p:cNvGrpSpPr/>
          <p:nvPr/>
        </p:nvGrpSpPr>
        <p:grpSpPr>
          <a:xfrm>
            <a:off x="5668289" y="1417132"/>
            <a:ext cx="2560632" cy="2090895"/>
            <a:chOff x="5668289" y="1190096"/>
            <a:chExt cx="2560632" cy="2090895"/>
          </a:xfrm>
        </p:grpSpPr>
        <p:sp>
          <p:nvSpPr>
            <p:cNvPr id="46" name="Line 19"/>
            <p:cNvSpPr>
              <a:spLocks noChangeShapeType="1"/>
            </p:cNvSpPr>
            <p:nvPr/>
          </p:nvSpPr>
          <p:spPr bwMode="auto">
            <a:xfrm flipV="1">
              <a:off x="6322793" y="1330387"/>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7" name="Line 20"/>
            <p:cNvSpPr>
              <a:spLocks noChangeShapeType="1"/>
            </p:cNvSpPr>
            <p:nvPr/>
          </p:nvSpPr>
          <p:spPr bwMode="auto">
            <a:xfrm flipH="1">
              <a:off x="6448837" y="2666752"/>
              <a:ext cx="1282844"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8" name="Rectangle 22"/>
            <p:cNvSpPr>
              <a:spLocks noChangeArrowheads="1"/>
            </p:cNvSpPr>
            <p:nvPr/>
          </p:nvSpPr>
          <p:spPr bwMode="auto">
            <a:xfrm>
              <a:off x="5668289" y="1212397"/>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pic>
          <p:nvPicPr>
            <p:cNvPr id="52"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6" y="1190096"/>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3"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4720"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4" name="Line 19"/>
            <p:cNvSpPr>
              <a:spLocks noChangeShapeType="1"/>
            </p:cNvSpPr>
            <p:nvPr/>
          </p:nvSpPr>
          <p:spPr bwMode="auto">
            <a:xfrm flipV="1">
              <a:off x="6322792" y="2746962"/>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55" name="Line 19"/>
            <p:cNvSpPr>
              <a:spLocks noChangeShapeType="1"/>
            </p:cNvSpPr>
            <p:nvPr/>
          </p:nvSpPr>
          <p:spPr bwMode="auto">
            <a:xfrm flipV="1">
              <a:off x="5774015" y="2746961"/>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56"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5"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7" name="Rectangle 22"/>
            <p:cNvSpPr>
              <a:spLocks noChangeArrowheads="1"/>
            </p:cNvSpPr>
            <p:nvPr/>
          </p:nvSpPr>
          <p:spPr bwMode="auto">
            <a:xfrm>
              <a:off x="5796257"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58" name="Rectangle 22"/>
            <p:cNvSpPr>
              <a:spLocks noChangeArrowheads="1"/>
            </p:cNvSpPr>
            <p:nvPr/>
          </p:nvSpPr>
          <p:spPr bwMode="auto">
            <a:xfrm>
              <a:off x="7741142"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pSp>
      <p:grpSp>
        <p:nvGrpSpPr>
          <p:cNvPr id="63" name="Group 12"/>
          <p:cNvGrpSpPr>
            <a:grpSpLocks/>
          </p:cNvGrpSpPr>
          <p:nvPr/>
        </p:nvGrpSpPr>
        <p:grpSpPr bwMode="auto">
          <a:xfrm>
            <a:off x="5216266" y="3928079"/>
            <a:ext cx="2392185" cy="525474"/>
            <a:chOff x="1457" y="2980"/>
            <a:chExt cx="2530" cy="294"/>
          </a:xfrm>
        </p:grpSpPr>
        <p:sp>
          <p:nvSpPr>
            <p:cNvPr id="64" name="Rectangle 13"/>
            <p:cNvSpPr>
              <a:spLocks noChangeArrowheads="1"/>
            </p:cNvSpPr>
            <p:nvPr/>
          </p:nvSpPr>
          <p:spPr bwMode="auto">
            <a:xfrm>
              <a:off x="2032" y="2980"/>
              <a:ext cx="1955"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400" dirty="0">
                  <a:latin typeface="微软雅黑 Light" panose="020B0502040204020203" pitchFamily="34" charset="-122"/>
                  <a:ea typeface="微软雅黑 Light" panose="020B0502040204020203" pitchFamily="34" charset="-122"/>
                </a:rPr>
                <a:t>不是经最短路径传送来的，</a:t>
              </a:r>
              <a:r>
                <a:rPr lang="zh-CN" altLang="en-US" sz="1400" dirty="0">
                  <a:solidFill>
                    <a:srgbClr val="C00000"/>
                  </a:solidFill>
                  <a:latin typeface="微软雅黑 Light" panose="020B0502040204020203" pitchFamily="34" charset="-122"/>
                  <a:ea typeface="微软雅黑 Light" panose="020B0502040204020203" pitchFamily="34" charset="-122"/>
                </a:rPr>
                <a:t>丢弃！</a:t>
              </a:r>
              <a:endParaRPr lang="en-US" altLang="zh-CN" sz="1400" dirty="0">
                <a:solidFill>
                  <a:srgbClr val="C00000"/>
                </a:solidFill>
                <a:latin typeface="微软雅黑 Light" panose="020B0502040204020203" pitchFamily="34" charset="-122"/>
                <a:ea typeface="微软雅黑 Light" panose="020B0502040204020203" pitchFamily="34" charset="-122"/>
              </a:endParaRPr>
            </a:p>
          </p:txBody>
        </p:sp>
        <p:sp>
          <p:nvSpPr>
            <p:cNvPr id="65" name="Line 14"/>
            <p:cNvSpPr>
              <a:spLocks noChangeShapeType="1"/>
            </p:cNvSpPr>
            <p:nvPr/>
          </p:nvSpPr>
          <p:spPr bwMode="auto">
            <a:xfrm>
              <a:off x="1457" y="3010"/>
              <a:ext cx="575" cy="9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68" name="矩形 67"/>
          <p:cNvSpPr/>
          <p:nvPr/>
        </p:nvSpPr>
        <p:spPr>
          <a:xfrm>
            <a:off x="3430255" y="1319332"/>
            <a:ext cx="2031707" cy="584775"/>
          </a:xfrm>
          <a:prstGeom prst="rect">
            <a:avLst/>
          </a:prstGeom>
          <a:noFill/>
        </p:spPr>
        <p:txBody>
          <a:bodyPr wrap="square">
            <a:spAutoFit/>
          </a:bodyPr>
          <a:lstStyle/>
          <a:p>
            <a:pPr algn="ctr"/>
            <a:r>
              <a:rPr lang="zh-CN" altLang="en-US" sz="1600" dirty="0">
                <a:solidFill>
                  <a:sysClr val="windowText" lastClr="000000"/>
                </a:solidFill>
                <a:latin typeface="微软雅黑 Light" panose="020B0502040204020203" pitchFamily="34" charset="-122"/>
                <a:ea typeface="微软雅黑 Light" panose="020B0502040204020203" pitchFamily="34" charset="-122"/>
              </a:rPr>
              <a:t>检查数据报是否经最短路径传送来的</a:t>
            </a:r>
          </a:p>
        </p:txBody>
      </p:sp>
      <p:sp>
        <p:nvSpPr>
          <p:cNvPr id="4" name="标题 3">
            <a:extLst>
              <a:ext uri="{FF2B5EF4-FFF2-40B4-BE49-F238E27FC236}">
                <a16:creationId xmlns:a16="http://schemas.microsoft.com/office/drawing/2014/main" id="{F3F94154-A016-FBBD-B2EE-40224151A9A1}"/>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a:t>
            </a:r>
          </a:p>
        </p:txBody>
      </p:sp>
      <p:sp>
        <p:nvSpPr>
          <p:cNvPr id="2" name="内容占位符 1">
            <a:extLst>
              <a:ext uri="{FF2B5EF4-FFF2-40B4-BE49-F238E27FC236}">
                <a16:creationId xmlns:a16="http://schemas.microsoft.com/office/drawing/2014/main" id="{A9EBFAA9-AE7B-0F3F-70F7-EF587295393D}"/>
              </a:ext>
            </a:extLst>
          </p:cNvPr>
          <p:cNvSpPr>
            <a:spLocks noGrp="1"/>
          </p:cNvSpPr>
          <p:nvPr>
            <p:ph sz="quarter" idx="11"/>
          </p:nvPr>
        </p:nvSpPr>
        <p:spPr>
          <a:xfrm>
            <a:off x="486000" y="900000"/>
            <a:ext cx="8172000" cy="3703500"/>
          </a:xfrm>
        </p:spPr>
        <p:txBody>
          <a:bodyPr/>
          <a:lstStyle/>
          <a:p>
            <a:r>
              <a:rPr lang="zh-CN" altLang="en-US" dirty="0"/>
              <a:t>检查</a:t>
            </a:r>
            <a:endParaRPr lang="en-US" altLang="zh-CN" dirty="0"/>
          </a:p>
          <a:p>
            <a:r>
              <a:rPr lang="zh-CN" altLang="en-US" dirty="0"/>
              <a:t>转发</a:t>
            </a:r>
          </a:p>
        </p:txBody>
      </p:sp>
    </p:spTree>
    <p:extLst>
      <p:ext uri="{BB962C8B-B14F-4D97-AF65-F5344CB8AC3E}">
        <p14:creationId xmlns:p14="http://schemas.microsoft.com/office/powerpoint/2010/main" val="994822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wipe(up)">
                                      <p:cBhvr>
                                        <p:cTn id="17" dur="10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66"/>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49"/>
                                        </p:tgtEl>
                                        <p:attrNameLst>
                                          <p:attrName>style.visibility</p:attrName>
                                        </p:attrNameLst>
                                      </p:cBhvr>
                                      <p:to>
                                        <p:strVal val="visible"/>
                                      </p:to>
                                    </p:set>
                                    <p:animEffect transition="in" filter="wipe(up)">
                                      <p:cBhvr>
                                        <p:cTn id="26" dur="500"/>
                                        <p:tgtEl>
                                          <p:spTgt spid="49"/>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63"/>
                                        </p:tgtEl>
                                        <p:attrNameLst>
                                          <p:attrName>style.visibility</p:attrName>
                                        </p:attrNameLst>
                                      </p:cBhvr>
                                      <p:to>
                                        <p:strVal val="visible"/>
                                      </p:to>
                                    </p:set>
                                    <p:animEffect transition="in" filter="wipe(right)">
                                      <p:cBhvr>
                                        <p:cTn id="31"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16152" y="1182051"/>
            <a:ext cx="5384558" cy="2916114"/>
            <a:chOff x="37264" y="1127910"/>
            <a:chExt cx="8301172" cy="4246118"/>
          </a:xfrm>
          <a:effectLst/>
        </p:grpSpPr>
        <p:sp>
          <p:nvSpPr>
            <p:cNvPr id="59" name="Line 2"/>
            <p:cNvSpPr>
              <a:spLocks noChangeShapeType="1"/>
            </p:cNvSpPr>
            <p:nvPr/>
          </p:nvSpPr>
          <p:spPr bwMode="auto">
            <a:xfrm>
              <a:off x="6649504" y="2096286"/>
              <a:ext cx="787400" cy="481013"/>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60" name="Line 3"/>
            <p:cNvSpPr>
              <a:spLocks noChangeShapeType="1"/>
            </p:cNvSpPr>
            <p:nvPr/>
          </p:nvSpPr>
          <p:spPr bwMode="auto">
            <a:xfrm rot="10800000">
              <a:off x="6265329" y="2120099"/>
              <a:ext cx="787400" cy="481012"/>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grpSp>
          <p:nvGrpSpPr>
            <p:cNvPr id="61" name="Group 4"/>
            <p:cNvGrpSpPr>
              <a:grpSpLocks/>
            </p:cNvGrpSpPr>
            <p:nvPr/>
          </p:nvGrpSpPr>
          <p:grpSpPr bwMode="auto">
            <a:xfrm>
              <a:off x="4790541" y="4633111"/>
              <a:ext cx="428625" cy="295275"/>
              <a:chOff x="2518" y="3028"/>
              <a:chExt cx="240" cy="165"/>
            </a:xfrm>
          </p:grpSpPr>
          <p:sp>
            <p:nvSpPr>
              <p:cNvPr id="62" name="Line 5"/>
              <p:cNvSpPr>
                <a:spLocks noChangeShapeType="1"/>
              </p:cNvSpPr>
              <p:nvPr/>
            </p:nvSpPr>
            <p:spPr bwMode="auto">
              <a:xfrm flipV="1">
                <a:off x="2651" y="3028"/>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Line 6"/>
              <p:cNvSpPr>
                <a:spLocks noChangeShapeType="1"/>
              </p:cNvSpPr>
              <p:nvPr/>
            </p:nvSpPr>
            <p:spPr bwMode="auto">
              <a:xfrm>
                <a:off x="2518" y="3193"/>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9" name="Line 7"/>
            <p:cNvSpPr>
              <a:spLocks noChangeShapeType="1"/>
            </p:cNvSpPr>
            <p:nvPr/>
          </p:nvSpPr>
          <p:spPr bwMode="auto">
            <a:xfrm>
              <a:off x="5117566" y="2578886"/>
              <a:ext cx="0" cy="1227138"/>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0" name="Group 9"/>
            <p:cNvGrpSpPr>
              <a:grpSpLocks/>
            </p:cNvGrpSpPr>
            <p:nvPr/>
          </p:nvGrpSpPr>
          <p:grpSpPr bwMode="auto">
            <a:xfrm>
              <a:off x="4904841" y="3955249"/>
              <a:ext cx="428625" cy="295275"/>
              <a:chOff x="2582" y="2648"/>
              <a:chExt cx="240" cy="165"/>
            </a:xfrm>
          </p:grpSpPr>
          <p:sp>
            <p:nvSpPr>
              <p:cNvPr id="71" name="Line 10"/>
              <p:cNvSpPr>
                <a:spLocks noChangeShapeType="1"/>
              </p:cNvSpPr>
              <p:nvPr/>
            </p:nvSpPr>
            <p:spPr bwMode="auto">
              <a:xfrm flipV="1">
                <a:off x="2715" y="2648"/>
                <a:ext cx="0" cy="164"/>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 name="Line 11"/>
              <p:cNvSpPr>
                <a:spLocks noChangeShapeType="1"/>
              </p:cNvSpPr>
              <p:nvPr/>
            </p:nvSpPr>
            <p:spPr bwMode="auto">
              <a:xfrm>
                <a:off x="2582" y="2813"/>
                <a:ext cx="24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3" name="Line 12"/>
            <p:cNvSpPr>
              <a:spLocks noChangeShapeType="1"/>
            </p:cNvSpPr>
            <p:nvPr/>
          </p:nvSpPr>
          <p:spPr bwMode="auto">
            <a:xfrm flipV="1">
              <a:off x="3015716" y="2015324"/>
              <a:ext cx="0" cy="162877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 name="Line 13"/>
            <p:cNvSpPr>
              <a:spLocks noChangeShapeType="1"/>
            </p:cNvSpPr>
            <p:nvPr/>
          </p:nvSpPr>
          <p:spPr bwMode="auto">
            <a:xfrm flipV="1">
              <a:off x="5177891" y="2701124"/>
              <a:ext cx="2227263" cy="11128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 name="Line 14"/>
            <p:cNvSpPr>
              <a:spLocks noChangeShapeType="1"/>
            </p:cNvSpPr>
            <p:nvPr/>
          </p:nvSpPr>
          <p:spPr bwMode="auto">
            <a:xfrm>
              <a:off x="6343116" y="2072474"/>
              <a:ext cx="1063625" cy="62865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 name="Line 15"/>
            <p:cNvSpPr>
              <a:spLocks noChangeShapeType="1"/>
            </p:cNvSpPr>
            <p:nvPr/>
          </p:nvSpPr>
          <p:spPr bwMode="auto">
            <a:xfrm>
              <a:off x="5662079" y="2053424"/>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7" name="Group 16"/>
            <p:cNvGrpSpPr>
              <a:grpSpLocks/>
            </p:cNvGrpSpPr>
            <p:nvPr/>
          </p:nvGrpSpPr>
          <p:grpSpPr bwMode="auto">
            <a:xfrm>
              <a:off x="4922304" y="2253449"/>
              <a:ext cx="427037" cy="295275"/>
              <a:chOff x="2591" y="1695"/>
              <a:chExt cx="240" cy="165"/>
            </a:xfrm>
          </p:grpSpPr>
          <p:sp>
            <p:nvSpPr>
              <p:cNvPr id="78" name="Line 17"/>
              <p:cNvSpPr>
                <a:spLocks noChangeShapeType="1"/>
              </p:cNvSpPr>
              <p:nvPr/>
            </p:nvSpPr>
            <p:spPr bwMode="auto">
              <a:xfrm>
                <a:off x="2724" y="1696"/>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9" name="Line 18"/>
              <p:cNvSpPr>
                <a:spLocks noChangeShapeType="1"/>
              </p:cNvSpPr>
              <p:nvPr/>
            </p:nvSpPr>
            <p:spPr bwMode="auto">
              <a:xfrm>
                <a:off x="2591" y="1695"/>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0" name="Line 19"/>
            <p:cNvSpPr>
              <a:spLocks noChangeShapeType="1"/>
            </p:cNvSpPr>
            <p:nvPr/>
          </p:nvSpPr>
          <p:spPr bwMode="auto">
            <a:xfrm flipH="1">
              <a:off x="5373154" y="1712111"/>
              <a:ext cx="29210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1" name="Line 20"/>
            <p:cNvSpPr>
              <a:spLocks noChangeShapeType="1"/>
            </p:cNvSpPr>
            <p:nvPr/>
          </p:nvSpPr>
          <p:spPr bwMode="auto">
            <a:xfrm>
              <a:off x="5668429" y="1127910"/>
              <a:ext cx="0" cy="1144588"/>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82" name="Group 21"/>
            <p:cNvGrpSpPr>
              <a:grpSpLocks/>
            </p:cNvGrpSpPr>
            <p:nvPr/>
          </p:nvGrpSpPr>
          <p:grpSpPr bwMode="auto">
            <a:xfrm>
              <a:off x="4922304" y="1327936"/>
              <a:ext cx="427037" cy="295275"/>
              <a:chOff x="2591" y="1176"/>
              <a:chExt cx="240" cy="165"/>
            </a:xfrm>
          </p:grpSpPr>
          <p:sp>
            <p:nvSpPr>
              <p:cNvPr id="83" name="Line 22"/>
              <p:cNvSpPr>
                <a:spLocks noChangeShapeType="1"/>
              </p:cNvSpPr>
              <p:nvPr/>
            </p:nvSpPr>
            <p:spPr bwMode="auto">
              <a:xfrm>
                <a:off x="2724" y="117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 name="Line 23"/>
              <p:cNvSpPr>
                <a:spLocks noChangeShapeType="1"/>
              </p:cNvSpPr>
              <p:nvPr/>
            </p:nvSpPr>
            <p:spPr bwMode="auto">
              <a:xfrm>
                <a:off x="2591" y="1176"/>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5" name="Line 24"/>
            <p:cNvSpPr>
              <a:spLocks noChangeShapeType="1"/>
            </p:cNvSpPr>
            <p:nvPr/>
          </p:nvSpPr>
          <p:spPr bwMode="auto">
            <a:xfrm>
              <a:off x="3720566" y="3386924"/>
              <a:ext cx="1373188" cy="512762"/>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6" name="Line 25"/>
            <p:cNvSpPr>
              <a:spLocks noChangeShapeType="1"/>
            </p:cNvSpPr>
            <p:nvPr/>
          </p:nvSpPr>
          <p:spPr bwMode="auto">
            <a:xfrm flipV="1">
              <a:off x="5020729" y="4247349"/>
              <a:ext cx="0" cy="3635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 name="Rectangle 26"/>
            <p:cNvSpPr>
              <a:spLocks noChangeArrowheads="1"/>
            </p:cNvSpPr>
            <p:nvPr/>
          </p:nvSpPr>
          <p:spPr bwMode="auto">
            <a:xfrm>
              <a:off x="37264" y="2517652"/>
              <a:ext cx="2053054" cy="7796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ctr" defTabSz="1028700" eaLnBrk="0" hangingPunct="0"/>
              <a:r>
                <a:rPr lang="en-US" altLang="zh-CN" sz="1400" dirty="0">
                  <a:latin typeface="Montserrat" panose="00000500000000000000" pitchFamily="2" charset="0"/>
                </a:rPr>
                <a:t>Source</a:t>
              </a:r>
              <a:br>
                <a:rPr lang="en-US" altLang="zh-CN" sz="1400" dirty="0">
                  <a:latin typeface="Montserrat" panose="00000500000000000000" pitchFamily="2" charset="0"/>
                </a:rPr>
              </a:br>
              <a:r>
                <a:rPr lang="en-US" altLang="zh-CN" sz="1400" dirty="0">
                  <a:latin typeface="Montserrat" panose="00000500000000000000" pitchFamily="2" charset="0"/>
                </a:rPr>
                <a:t>151.10.33.21</a:t>
              </a:r>
            </a:p>
          </p:txBody>
        </p:sp>
        <p:sp>
          <p:nvSpPr>
            <p:cNvPr id="88" name="Line 27"/>
            <p:cNvSpPr>
              <a:spLocks noChangeShapeType="1"/>
            </p:cNvSpPr>
            <p:nvPr/>
          </p:nvSpPr>
          <p:spPr bwMode="auto">
            <a:xfrm flipV="1">
              <a:off x="3549116" y="1758149"/>
              <a:ext cx="1543050" cy="51435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Line 28"/>
            <p:cNvSpPr>
              <a:spLocks noChangeShapeType="1"/>
            </p:cNvSpPr>
            <p:nvPr/>
          </p:nvSpPr>
          <p:spPr bwMode="auto">
            <a:xfrm>
              <a:off x="3006191" y="342502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0" name="Line 29"/>
            <p:cNvSpPr>
              <a:spLocks noChangeShapeType="1"/>
            </p:cNvSpPr>
            <p:nvPr/>
          </p:nvSpPr>
          <p:spPr bwMode="auto">
            <a:xfrm>
              <a:off x="3006191" y="222487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30"/>
            <p:cNvSpPr>
              <a:spLocks noChangeShapeType="1"/>
            </p:cNvSpPr>
            <p:nvPr/>
          </p:nvSpPr>
          <p:spPr bwMode="auto">
            <a:xfrm>
              <a:off x="3549116" y="2272499"/>
              <a:ext cx="1628775" cy="42862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2" name="Line 31"/>
            <p:cNvSpPr>
              <a:spLocks noChangeShapeType="1"/>
            </p:cNvSpPr>
            <p:nvPr/>
          </p:nvSpPr>
          <p:spPr bwMode="auto">
            <a:xfrm>
              <a:off x="2661704" y="28249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3" name="Line 32"/>
            <p:cNvSpPr>
              <a:spLocks noChangeShapeType="1"/>
            </p:cNvSpPr>
            <p:nvPr/>
          </p:nvSpPr>
          <p:spPr bwMode="auto">
            <a:xfrm>
              <a:off x="5662079" y="14533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94" name="Group 33"/>
            <p:cNvGrpSpPr>
              <a:grpSpLocks/>
            </p:cNvGrpSpPr>
            <p:nvPr/>
          </p:nvGrpSpPr>
          <p:grpSpPr bwMode="auto">
            <a:xfrm>
              <a:off x="6106579" y="2132799"/>
              <a:ext cx="428625" cy="295275"/>
              <a:chOff x="3255" y="1627"/>
              <a:chExt cx="240" cy="165"/>
            </a:xfrm>
          </p:grpSpPr>
          <p:sp>
            <p:nvSpPr>
              <p:cNvPr id="95" name="Line 34"/>
              <p:cNvSpPr>
                <a:spLocks noChangeShapeType="1"/>
              </p:cNvSpPr>
              <p:nvPr/>
            </p:nvSpPr>
            <p:spPr bwMode="auto">
              <a:xfrm flipV="1">
                <a:off x="3388" y="162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6" name="Line 35"/>
              <p:cNvSpPr>
                <a:spLocks noChangeShapeType="1"/>
              </p:cNvSpPr>
              <p:nvPr/>
            </p:nvSpPr>
            <p:spPr bwMode="auto">
              <a:xfrm>
                <a:off x="3255" y="1792"/>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97" name="Group 36"/>
            <p:cNvGrpSpPr>
              <a:grpSpLocks/>
            </p:cNvGrpSpPr>
            <p:nvPr/>
          </p:nvGrpSpPr>
          <p:grpSpPr bwMode="auto">
            <a:xfrm>
              <a:off x="6098641" y="1127911"/>
              <a:ext cx="428625" cy="293688"/>
              <a:chOff x="3251" y="1064"/>
              <a:chExt cx="240" cy="165"/>
            </a:xfrm>
          </p:grpSpPr>
          <p:sp>
            <p:nvSpPr>
              <p:cNvPr id="98" name="Line 37"/>
              <p:cNvSpPr>
                <a:spLocks noChangeShapeType="1"/>
              </p:cNvSpPr>
              <p:nvPr/>
            </p:nvSpPr>
            <p:spPr bwMode="auto">
              <a:xfrm>
                <a:off x="3384" y="1065"/>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38"/>
              <p:cNvSpPr>
                <a:spLocks noChangeShapeType="1"/>
              </p:cNvSpPr>
              <p:nvPr/>
            </p:nvSpPr>
            <p:spPr bwMode="auto">
              <a:xfrm>
                <a:off x="3251" y="106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0" name="Group 39"/>
            <p:cNvGrpSpPr>
              <a:grpSpLocks/>
            </p:cNvGrpSpPr>
            <p:nvPr/>
          </p:nvGrpSpPr>
          <p:grpSpPr bwMode="auto">
            <a:xfrm>
              <a:off x="3464979" y="2334411"/>
              <a:ext cx="427037" cy="293688"/>
              <a:chOff x="1775" y="1739"/>
              <a:chExt cx="240" cy="165"/>
            </a:xfrm>
          </p:grpSpPr>
          <p:sp>
            <p:nvSpPr>
              <p:cNvPr id="101" name="Line 40"/>
              <p:cNvSpPr>
                <a:spLocks noChangeShapeType="1"/>
              </p:cNvSpPr>
              <p:nvPr/>
            </p:nvSpPr>
            <p:spPr bwMode="auto">
              <a:xfrm flipV="1">
                <a:off x="1908" y="1739"/>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2" name="Line 41"/>
              <p:cNvSpPr>
                <a:spLocks noChangeShapeType="1"/>
              </p:cNvSpPr>
              <p:nvPr/>
            </p:nvSpPr>
            <p:spPr bwMode="auto">
              <a:xfrm>
                <a:off x="1775" y="190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3" name="Group 42"/>
            <p:cNvGrpSpPr>
              <a:grpSpLocks/>
            </p:cNvGrpSpPr>
            <p:nvPr/>
          </p:nvGrpSpPr>
          <p:grpSpPr bwMode="auto">
            <a:xfrm>
              <a:off x="3464979" y="3013861"/>
              <a:ext cx="427037" cy="295275"/>
              <a:chOff x="1775" y="2120"/>
              <a:chExt cx="240" cy="165"/>
            </a:xfrm>
          </p:grpSpPr>
          <p:sp>
            <p:nvSpPr>
              <p:cNvPr id="104" name="Line 43"/>
              <p:cNvSpPr>
                <a:spLocks noChangeShapeType="1"/>
              </p:cNvSpPr>
              <p:nvPr/>
            </p:nvSpPr>
            <p:spPr bwMode="auto">
              <a:xfrm>
                <a:off x="1908" y="2121"/>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 name="Line 44"/>
              <p:cNvSpPr>
                <a:spLocks noChangeShapeType="1"/>
              </p:cNvSpPr>
              <p:nvPr/>
            </p:nvSpPr>
            <p:spPr bwMode="auto">
              <a:xfrm>
                <a:off x="1775" y="2120"/>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6" name="Group 45"/>
            <p:cNvGrpSpPr>
              <a:grpSpLocks/>
            </p:cNvGrpSpPr>
            <p:nvPr/>
          </p:nvGrpSpPr>
          <p:grpSpPr bwMode="auto">
            <a:xfrm>
              <a:off x="7532154" y="2521736"/>
              <a:ext cx="293687" cy="430213"/>
              <a:chOff x="4053" y="1845"/>
              <a:chExt cx="165" cy="240"/>
            </a:xfrm>
          </p:grpSpPr>
          <p:sp>
            <p:nvSpPr>
              <p:cNvPr id="107" name="Line 46"/>
              <p:cNvSpPr>
                <a:spLocks noChangeShapeType="1"/>
              </p:cNvSpPr>
              <p:nvPr/>
            </p:nvSpPr>
            <p:spPr bwMode="auto">
              <a:xfrm flipH="1">
                <a:off x="4053" y="1952"/>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8" name="Line 47"/>
              <p:cNvSpPr>
                <a:spLocks noChangeShapeType="1"/>
              </p:cNvSpPr>
              <p:nvPr/>
            </p:nvSpPr>
            <p:spPr bwMode="auto">
              <a:xfrm flipV="1">
                <a:off x="4218" y="1845"/>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9" name="Group 48"/>
            <p:cNvGrpSpPr>
              <a:grpSpLocks/>
            </p:cNvGrpSpPr>
            <p:nvPr/>
          </p:nvGrpSpPr>
          <p:grpSpPr bwMode="auto">
            <a:xfrm>
              <a:off x="1925104" y="2702711"/>
              <a:ext cx="295275" cy="428625"/>
              <a:chOff x="913" y="1946"/>
              <a:chExt cx="165" cy="240"/>
            </a:xfrm>
          </p:grpSpPr>
          <p:sp>
            <p:nvSpPr>
              <p:cNvPr id="110" name="Line 49"/>
              <p:cNvSpPr>
                <a:spLocks noChangeShapeType="1"/>
              </p:cNvSpPr>
              <p:nvPr/>
            </p:nvSpPr>
            <p:spPr bwMode="auto">
              <a:xfrm>
                <a:off x="914" y="2053"/>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1" name="Line 50"/>
              <p:cNvSpPr>
                <a:spLocks noChangeShapeType="1"/>
              </p:cNvSpPr>
              <p:nvPr/>
            </p:nvSpPr>
            <p:spPr bwMode="auto">
              <a:xfrm flipV="1">
                <a:off x="913" y="1946"/>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pic>
          <p:nvPicPr>
            <p:cNvPr id="112" name="Picture 5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3199599"/>
              <a:ext cx="585788" cy="341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3"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242966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4" name="Picture 5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315236"/>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5" name="Picture 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79716" y="251538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6" name="Picture 5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2086761"/>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7" name="Line 56"/>
            <p:cNvSpPr>
              <a:spLocks noChangeShapeType="1"/>
            </p:cNvSpPr>
            <p:nvPr/>
          </p:nvSpPr>
          <p:spPr bwMode="auto">
            <a:xfrm flipH="1">
              <a:off x="2760454" y="4725384"/>
              <a:ext cx="611186" cy="9526"/>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18" name="Rectangle 57"/>
            <p:cNvSpPr>
              <a:spLocks noChangeArrowheads="1"/>
            </p:cNvSpPr>
            <p:nvPr/>
          </p:nvSpPr>
          <p:spPr bwMode="auto">
            <a:xfrm>
              <a:off x="743871" y="4481191"/>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dirty="0">
                  <a:latin typeface="微软雅黑" panose="020B0503020204020204" pitchFamily="34" charset="-122"/>
                  <a:ea typeface="微软雅黑" panose="020B0503020204020204" pitchFamily="34" charset="-122"/>
                </a:rPr>
                <a:t>多播转发树</a:t>
              </a:r>
              <a:endParaRPr lang="en-US" altLang="zh-CN" sz="1400" dirty="0">
                <a:latin typeface="微软雅黑" panose="020B0503020204020204" pitchFamily="34" charset="-122"/>
                <a:ea typeface="微软雅黑" panose="020B0503020204020204" pitchFamily="34" charset="-122"/>
              </a:endParaRPr>
            </a:p>
          </p:txBody>
        </p:sp>
        <p:sp>
          <p:nvSpPr>
            <p:cNvPr id="119" name="Rectangle 59"/>
            <p:cNvSpPr>
              <a:spLocks noChangeArrowheads="1"/>
            </p:cNvSpPr>
            <p:nvPr/>
          </p:nvSpPr>
          <p:spPr bwMode="auto">
            <a:xfrm>
              <a:off x="743871" y="4908090"/>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dirty="0">
                  <a:latin typeface="微软雅黑" panose="020B0503020204020204" pitchFamily="34" charset="-122"/>
                  <a:ea typeface="微软雅黑" panose="020B0503020204020204" pitchFamily="34" charset="-122"/>
                </a:rPr>
                <a:t>多播数据报</a:t>
              </a:r>
              <a:endParaRPr lang="en-US" altLang="zh-CN" sz="1400" dirty="0">
                <a:latin typeface="微软雅黑" panose="020B0503020204020204" pitchFamily="34" charset="-122"/>
                <a:ea typeface="微软雅黑" panose="020B0503020204020204" pitchFamily="34" charset="-122"/>
              </a:endParaRPr>
            </a:p>
          </p:txBody>
        </p:sp>
        <p:sp>
          <p:nvSpPr>
            <p:cNvPr id="120" name="Line 60"/>
            <p:cNvSpPr>
              <a:spLocks noChangeShapeType="1"/>
            </p:cNvSpPr>
            <p:nvPr/>
          </p:nvSpPr>
          <p:spPr bwMode="auto">
            <a:xfrm flipH="1" flipV="1">
              <a:off x="3892016" y="2429661"/>
              <a:ext cx="954088" cy="276225"/>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1" name="Line 61"/>
            <p:cNvSpPr>
              <a:spLocks noChangeShapeType="1"/>
            </p:cNvSpPr>
            <p:nvPr/>
          </p:nvSpPr>
          <p:spPr bwMode="auto">
            <a:xfrm flipV="1">
              <a:off x="521440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22" name="Rectangle 62"/>
            <p:cNvSpPr>
              <a:spLocks noChangeArrowheads="1"/>
            </p:cNvSpPr>
            <p:nvPr/>
          </p:nvSpPr>
          <p:spPr bwMode="auto">
            <a:xfrm>
              <a:off x="5549764" y="4142433"/>
              <a:ext cx="2788672" cy="109334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defTabSz="1028700" eaLnBrk="0" hangingPunct="0"/>
              <a:r>
                <a:rPr lang="zh-CN" altLang="en-US" sz="1400" dirty="0">
                  <a:solidFill>
                    <a:srgbClr val="0000FF"/>
                  </a:solidFill>
                  <a:latin typeface="微软雅黑 Light" panose="020B0502040204020203" pitchFamily="34" charset="-122"/>
                  <a:ea typeface="微软雅黑 Light" panose="020B0502040204020203" pitchFamily="34" charset="-122"/>
                </a:rPr>
                <a:t>不是经最短路径传送来的，</a:t>
              </a:r>
              <a:r>
                <a:rPr lang="zh-CN" altLang="en-US" sz="1400" dirty="0">
                  <a:solidFill>
                    <a:srgbClr val="990099"/>
                  </a:solidFill>
                  <a:latin typeface="微软雅黑 Light" panose="020B0502040204020203" pitchFamily="34" charset="-122"/>
                  <a:ea typeface="微软雅黑 Light" panose="020B0502040204020203" pitchFamily="34" charset="-122"/>
                </a:rPr>
                <a:t>收到后丢弃，不转发！</a:t>
              </a:r>
            </a:p>
          </p:txBody>
        </p:sp>
        <p:sp>
          <p:nvSpPr>
            <p:cNvPr id="123" name="Line 63"/>
            <p:cNvSpPr>
              <a:spLocks noChangeShapeType="1"/>
            </p:cNvSpPr>
            <p:nvPr/>
          </p:nvSpPr>
          <p:spPr bwMode="auto">
            <a:xfrm flipH="1">
              <a:off x="2760454" y="5072763"/>
              <a:ext cx="611186" cy="9526"/>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4" name="Line 64"/>
            <p:cNvSpPr>
              <a:spLocks noChangeShapeType="1"/>
            </p:cNvSpPr>
            <p:nvPr/>
          </p:nvSpPr>
          <p:spPr bwMode="auto">
            <a:xfrm flipH="1">
              <a:off x="5254091" y="2761449"/>
              <a:ext cx="1820863" cy="9207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5" name="Line 65"/>
            <p:cNvSpPr>
              <a:spLocks noChangeShapeType="1"/>
            </p:cNvSpPr>
            <p:nvPr/>
          </p:nvSpPr>
          <p:spPr bwMode="auto">
            <a:xfrm flipH="1">
              <a:off x="2504541" y="2742399"/>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6" name="Line 66"/>
            <p:cNvSpPr>
              <a:spLocks noChangeShapeType="1"/>
            </p:cNvSpPr>
            <p:nvPr/>
          </p:nvSpPr>
          <p:spPr bwMode="auto">
            <a:xfrm flipV="1">
              <a:off x="2949041" y="2143911"/>
              <a:ext cx="0" cy="1385888"/>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7" name="Line 67"/>
            <p:cNvSpPr>
              <a:spLocks noChangeShapeType="1"/>
            </p:cNvSpPr>
            <p:nvPr/>
          </p:nvSpPr>
          <p:spPr bwMode="auto">
            <a:xfrm flipH="1">
              <a:off x="2949041" y="35266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8" name="Line 68"/>
            <p:cNvSpPr>
              <a:spLocks noChangeShapeType="1"/>
            </p:cNvSpPr>
            <p:nvPr/>
          </p:nvSpPr>
          <p:spPr bwMode="auto">
            <a:xfrm flipH="1">
              <a:off x="2949041" y="21550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9" name="Line 69"/>
            <p:cNvSpPr>
              <a:spLocks noChangeShapeType="1"/>
            </p:cNvSpPr>
            <p:nvPr/>
          </p:nvSpPr>
          <p:spPr bwMode="auto">
            <a:xfrm flipH="1">
              <a:off x="3871379" y="1762911"/>
              <a:ext cx="952500" cy="3238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0" name="Line 70"/>
            <p:cNvSpPr>
              <a:spLocks noChangeShapeType="1"/>
            </p:cNvSpPr>
            <p:nvPr/>
          </p:nvSpPr>
          <p:spPr bwMode="auto">
            <a:xfrm flipH="1">
              <a:off x="5598579" y="1269199"/>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1" name="Line 71"/>
            <p:cNvSpPr>
              <a:spLocks noChangeShapeType="1"/>
            </p:cNvSpPr>
            <p:nvPr/>
          </p:nvSpPr>
          <p:spPr bwMode="auto">
            <a:xfrm flipH="1">
              <a:off x="5177891" y="1640674"/>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2" name="Line 72"/>
            <p:cNvSpPr>
              <a:spLocks noChangeShapeType="1"/>
            </p:cNvSpPr>
            <p:nvPr/>
          </p:nvSpPr>
          <p:spPr bwMode="auto">
            <a:xfrm flipV="1">
              <a:off x="5606516" y="1277136"/>
              <a:ext cx="0" cy="89535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3" name="Line 73"/>
            <p:cNvSpPr>
              <a:spLocks noChangeShapeType="1"/>
            </p:cNvSpPr>
            <p:nvPr/>
          </p:nvSpPr>
          <p:spPr bwMode="auto">
            <a:xfrm flipH="1">
              <a:off x="5598579" y="2155024"/>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4"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7041" y="4428324"/>
              <a:ext cx="582613"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5" name="Line 75"/>
            <p:cNvSpPr>
              <a:spLocks noChangeShapeType="1"/>
            </p:cNvSpPr>
            <p:nvPr/>
          </p:nvSpPr>
          <p:spPr bwMode="auto">
            <a:xfrm flipH="1" flipV="1">
              <a:off x="3971391" y="3375811"/>
              <a:ext cx="911225" cy="354013"/>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6" name="Picture 7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157241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7" name="Arc 77"/>
            <p:cNvSpPr>
              <a:spLocks/>
            </p:cNvSpPr>
            <p:nvPr/>
          </p:nvSpPr>
          <p:spPr bwMode="auto">
            <a:xfrm>
              <a:off x="5296954" y="3534561"/>
              <a:ext cx="903287" cy="600075"/>
            </a:xfrm>
            <a:custGeom>
              <a:avLst/>
              <a:gdLst>
                <a:gd name="T0" fmla="*/ 0 w 21643"/>
                <a:gd name="T1" fmla="*/ 0 h 21600"/>
                <a:gd name="T2" fmla="*/ 2147483647 w 21643"/>
                <a:gd name="T3" fmla="*/ 2147483647 h 21600"/>
                <a:gd name="T4" fmla="*/ 2147483647 w 21643"/>
                <a:gd name="T5" fmla="*/ 2147483647 h 21600"/>
                <a:gd name="T6" fmla="*/ 0 60000 65536"/>
                <a:gd name="T7" fmla="*/ 0 60000 65536"/>
                <a:gd name="T8" fmla="*/ 0 60000 65536"/>
              </a:gdLst>
              <a:ahLst/>
              <a:cxnLst>
                <a:cxn ang="T6">
                  <a:pos x="T0" y="T1"/>
                </a:cxn>
                <a:cxn ang="T7">
                  <a:pos x="T2" y="T3"/>
                </a:cxn>
                <a:cxn ang="T8">
                  <a:pos x="T4" y="T5"/>
                </a:cxn>
              </a:cxnLst>
              <a:rect l="0" t="0" r="r" b="b"/>
              <a:pathLst>
                <a:path w="21643" h="21600" fill="none" extrusionOk="0">
                  <a:moveTo>
                    <a:pt x="0" y="0"/>
                  </a:moveTo>
                  <a:cubicBezTo>
                    <a:pt x="14" y="0"/>
                    <a:pt x="28" y="-1"/>
                    <a:pt x="43" y="0"/>
                  </a:cubicBezTo>
                  <a:cubicBezTo>
                    <a:pt x="11972" y="0"/>
                    <a:pt x="21643" y="9670"/>
                    <a:pt x="21643" y="21600"/>
                  </a:cubicBezTo>
                </a:path>
                <a:path w="21643" h="21600" stroke="0" extrusionOk="0">
                  <a:moveTo>
                    <a:pt x="0" y="0"/>
                  </a:moveTo>
                  <a:cubicBezTo>
                    <a:pt x="14" y="0"/>
                    <a:pt x="28" y="-1"/>
                    <a:pt x="43" y="0"/>
                  </a:cubicBezTo>
                  <a:cubicBezTo>
                    <a:pt x="11972" y="0"/>
                    <a:pt x="21643" y="9670"/>
                    <a:pt x="21643" y="21600"/>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38" name="Picture 7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07666" y="2686836"/>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9" name="Line 79"/>
            <p:cNvSpPr>
              <a:spLocks noChangeShapeType="1"/>
            </p:cNvSpPr>
            <p:nvPr/>
          </p:nvSpPr>
          <p:spPr bwMode="auto">
            <a:xfrm flipH="1">
              <a:off x="2760454" y="5222130"/>
              <a:ext cx="611186" cy="9526"/>
            </a:xfrm>
            <a:prstGeom prst="line">
              <a:avLst/>
            </a:prstGeom>
            <a:noFill/>
            <a:ln w="25400">
              <a:solidFill>
                <a:srgbClr val="0000FF"/>
              </a:solidFill>
              <a:prstDash val="sysDot"/>
              <a:round/>
              <a:headEnd type="stealth" w="med" len="lg"/>
              <a:tailEnd type="none" w="sm" len="sm"/>
            </a:ln>
            <a:effectLst>
              <a:outerShdw dist="17961" dir="2700000" algn="ctr" rotWithShape="0">
                <a:schemeClr val="bg2"/>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40" name="Line 80"/>
            <p:cNvSpPr>
              <a:spLocks noChangeShapeType="1"/>
            </p:cNvSpPr>
            <p:nvPr/>
          </p:nvSpPr>
          <p:spPr bwMode="auto">
            <a:xfrm>
              <a:off x="5204879" y="3940961"/>
              <a:ext cx="0" cy="514350"/>
            </a:xfrm>
            <a:prstGeom prst="line">
              <a:avLst/>
            </a:prstGeom>
            <a:noFill/>
            <a:ln w="25400">
              <a:solidFill>
                <a:srgbClr val="990099"/>
              </a:solidFill>
              <a:round/>
              <a:headEnd type="none" w="med" len="lg"/>
              <a:tailEnd type="stealth" w="med" len="lg"/>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41" name="Picture 8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371553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Line 82"/>
            <p:cNvSpPr>
              <a:spLocks noChangeShapeType="1"/>
            </p:cNvSpPr>
            <p:nvPr/>
          </p:nvSpPr>
          <p:spPr bwMode="auto">
            <a:xfrm>
              <a:off x="500485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43" name="Arc 83"/>
            <p:cNvSpPr>
              <a:spLocks/>
            </p:cNvSpPr>
            <p:nvPr/>
          </p:nvSpPr>
          <p:spPr bwMode="auto">
            <a:xfrm>
              <a:off x="4993741" y="3080536"/>
              <a:ext cx="1390650" cy="1436688"/>
            </a:xfrm>
            <a:custGeom>
              <a:avLst/>
              <a:gdLst>
                <a:gd name="T0" fmla="*/ 0 w 20858"/>
                <a:gd name="T1" fmla="*/ 0 h 21600"/>
                <a:gd name="T2" fmla="*/ 2147483647 w 20858"/>
                <a:gd name="T3" fmla="*/ 2147483647 h 21600"/>
                <a:gd name="T4" fmla="*/ 2147483647 w 20858"/>
                <a:gd name="T5" fmla="*/ 2147483647 h 21600"/>
                <a:gd name="T6" fmla="*/ 0 60000 65536"/>
                <a:gd name="T7" fmla="*/ 0 60000 65536"/>
                <a:gd name="T8" fmla="*/ 0 60000 65536"/>
              </a:gdLst>
              <a:ahLst/>
              <a:cxnLst>
                <a:cxn ang="T6">
                  <a:pos x="T0" y="T1"/>
                </a:cxn>
                <a:cxn ang="T7">
                  <a:pos x="T2" y="T3"/>
                </a:cxn>
                <a:cxn ang="T8">
                  <a:pos x="T4" y="T5"/>
                </a:cxn>
              </a:cxnLst>
              <a:rect l="0" t="0" r="r" b="b"/>
              <a:pathLst>
                <a:path w="20858" h="21600" fill="none" extrusionOk="0">
                  <a:moveTo>
                    <a:pt x="0" y="0"/>
                  </a:moveTo>
                  <a:cubicBezTo>
                    <a:pt x="14" y="0"/>
                    <a:pt x="28" y="-1"/>
                    <a:pt x="43" y="0"/>
                  </a:cubicBezTo>
                  <a:cubicBezTo>
                    <a:pt x="9750" y="0"/>
                    <a:pt x="18264" y="6475"/>
                    <a:pt x="20858" y="15829"/>
                  </a:cubicBezTo>
                </a:path>
                <a:path w="20858" h="21600" stroke="0" extrusionOk="0">
                  <a:moveTo>
                    <a:pt x="0" y="0"/>
                  </a:moveTo>
                  <a:cubicBezTo>
                    <a:pt x="14" y="0"/>
                    <a:pt x="28" y="-1"/>
                    <a:pt x="43" y="0"/>
                  </a:cubicBezTo>
                  <a:cubicBezTo>
                    <a:pt x="9750" y="0"/>
                    <a:pt x="18264" y="6475"/>
                    <a:pt x="20858" y="15829"/>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44" name="Picture 8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915311"/>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5" name="Arc 85"/>
            <p:cNvSpPr>
              <a:spLocks/>
            </p:cNvSpPr>
            <p:nvPr/>
          </p:nvSpPr>
          <p:spPr bwMode="auto">
            <a:xfrm flipH="1">
              <a:off x="6497103" y="2475698"/>
              <a:ext cx="355600" cy="2041525"/>
            </a:xfrm>
            <a:custGeom>
              <a:avLst/>
              <a:gdLst>
                <a:gd name="T0" fmla="*/ 2147483647 w 21177"/>
                <a:gd name="T1" fmla="*/ 0 h 20470"/>
                <a:gd name="T2" fmla="*/ 2147483647 w 21177"/>
                <a:gd name="T3" fmla="*/ 2147483647 h 20470"/>
                <a:gd name="T4" fmla="*/ 0 w 21177"/>
                <a:gd name="T5" fmla="*/ 2147483647 h 20470"/>
                <a:gd name="T6" fmla="*/ 0 60000 65536"/>
                <a:gd name="T7" fmla="*/ 0 60000 65536"/>
                <a:gd name="T8" fmla="*/ 0 60000 65536"/>
              </a:gdLst>
              <a:ahLst/>
              <a:cxnLst>
                <a:cxn ang="T6">
                  <a:pos x="T0" y="T1"/>
                </a:cxn>
                <a:cxn ang="T7">
                  <a:pos x="T2" y="T3"/>
                </a:cxn>
                <a:cxn ang="T8">
                  <a:pos x="T4" y="T5"/>
                </a:cxn>
              </a:cxnLst>
              <a:rect l="0" t="0" r="r" b="b"/>
              <a:pathLst>
                <a:path w="21177" h="20470" fill="none" extrusionOk="0">
                  <a:moveTo>
                    <a:pt x="6893" y="-1"/>
                  </a:moveTo>
                  <a:cubicBezTo>
                    <a:pt x="14211" y="2463"/>
                    <a:pt x="19657" y="8647"/>
                    <a:pt x="21177" y="16217"/>
                  </a:cubicBezTo>
                </a:path>
                <a:path w="21177" h="20470" stroke="0" extrusionOk="0">
                  <a:moveTo>
                    <a:pt x="6893" y="-1"/>
                  </a:moveTo>
                  <a:cubicBezTo>
                    <a:pt x="14211" y="2463"/>
                    <a:pt x="19657" y="8647"/>
                    <a:pt x="21177" y="16217"/>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6" name="Arc 86"/>
            <p:cNvSpPr>
              <a:spLocks/>
            </p:cNvSpPr>
            <p:nvPr/>
          </p:nvSpPr>
          <p:spPr bwMode="auto">
            <a:xfrm flipH="1">
              <a:off x="6676490" y="2275674"/>
              <a:ext cx="419101" cy="2017712"/>
            </a:xfrm>
            <a:custGeom>
              <a:avLst/>
              <a:gdLst>
                <a:gd name="T0" fmla="*/ 2147483647 w 21528"/>
                <a:gd name="T1" fmla="*/ 0 h 20470"/>
                <a:gd name="T2" fmla="*/ 2147483647 w 21528"/>
                <a:gd name="T3" fmla="*/ 2147483647 h 20470"/>
                <a:gd name="T4" fmla="*/ 0 w 21528"/>
                <a:gd name="T5" fmla="*/ 2147483647 h 20470"/>
                <a:gd name="T6" fmla="*/ 0 60000 65536"/>
                <a:gd name="T7" fmla="*/ 0 60000 65536"/>
                <a:gd name="T8" fmla="*/ 0 60000 65536"/>
              </a:gdLst>
              <a:ahLst/>
              <a:cxnLst>
                <a:cxn ang="T6">
                  <a:pos x="T0" y="T1"/>
                </a:cxn>
                <a:cxn ang="T7">
                  <a:pos x="T2" y="T3"/>
                </a:cxn>
                <a:cxn ang="T8">
                  <a:pos x="T4" y="T5"/>
                </a:cxn>
              </a:cxnLst>
              <a:rect l="0" t="0" r="r" b="b"/>
              <a:pathLst>
                <a:path w="21528" h="20470" fill="none" extrusionOk="0">
                  <a:moveTo>
                    <a:pt x="6893" y="-1"/>
                  </a:moveTo>
                  <a:cubicBezTo>
                    <a:pt x="15069" y="2752"/>
                    <a:pt x="20822" y="10106"/>
                    <a:pt x="21527" y="18705"/>
                  </a:cubicBezTo>
                </a:path>
                <a:path w="21528" h="20470" stroke="0" extrusionOk="0">
                  <a:moveTo>
                    <a:pt x="6893" y="-1"/>
                  </a:moveTo>
                  <a:cubicBezTo>
                    <a:pt x="15069" y="2752"/>
                    <a:pt x="20822" y="10106"/>
                    <a:pt x="21527" y="18705"/>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 name="矩形 5"/>
          <p:cNvSpPr/>
          <p:nvPr/>
        </p:nvSpPr>
        <p:spPr>
          <a:xfrm>
            <a:off x="6074477" y="1305556"/>
            <a:ext cx="2363353" cy="2426305"/>
          </a:xfrm>
          <a:prstGeom prst="rect">
            <a:avLst/>
          </a:prstGeom>
          <a:solidFill>
            <a:schemeClr val="bg1"/>
          </a:solidFill>
        </p:spPr>
        <p:txBody>
          <a:bodyPr wrap="square">
            <a:spAutoFit/>
          </a:bodyPr>
          <a:lstStyle/>
          <a:p>
            <a:pPr>
              <a:lnSpc>
                <a:spcPts val="2600"/>
              </a:lnSpc>
            </a:pPr>
            <a:r>
              <a:rPr lang="zh-CN" altLang="en-US" sz="1400" dirty="0">
                <a:latin typeface="Montserrat" panose="00000500000000000000" pitchFamily="2" charset="0"/>
                <a:ea typeface="微软雅黑 Light" panose="020B0502040204020203" pitchFamily="34" charset="-122"/>
              </a:rPr>
              <a:t>如果存在几条同样长度的最短路径，选择 </a:t>
            </a:r>
            <a:r>
              <a:rPr lang="en-US" altLang="zh-CN" sz="1400" dirty="0">
                <a:latin typeface="Montserrat" panose="00000500000000000000" pitchFamily="2" charset="0"/>
                <a:ea typeface="微软雅黑 Light" panose="020B0502040204020203" pitchFamily="34" charset="-122"/>
              </a:rPr>
              <a:t>IP </a:t>
            </a:r>
            <a:r>
              <a:rPr lang="zh-CN" altLang="en-US" sz="1400" dirty="0">
                <a:latin typeface="Montserrat" panose="00000500000000000000" pitchFamily="2" charset="0"/>
                <a:ea typeface="微软雅黑 Light" panose="020B0502040204020203" pitchFamily="34" charset="-122"/>
              </a:rPr>
              <a:t>地址最小的。 </a:t>
            </a:r>
          </a:p>
          <a:p>
            <a:pPr>
              <a:lnSpc>
                <a:spcPts val="2600"/>
              </a:lnSpc>
            </a:pPr>
            <a:endParaRPr lang="en-US" altLang="zh-CN" sz="1400" dirty="0">
              <a:latin typeface="Montserrat" panose="00000500000000000000" pitchFamily="2" charset="0"/>
              <a:ea typeface="微软雅黑 Light" panose="020B0502040204020203" pitchFamily="34" charset="-122"/>
            </a:endParaRPr>
          </a:p>
          <a:p>
            <a:pPr>
              <a:lnSpc>
                <a:spcPts val="2600"/>
              </a:lnSpc>
            </a:pPr>
            <a:r>
              <a:rPr lang="zh-CN" altLang="en-US" sz="1400" dirty="0">
                <a:latin typeface="Montserrat" panose="00000500000000000000" pitchFamily="2" charset="0"/>
                <a:ea typeface="微软雅黑 Light" panose="020B0502040204020203" pitchFamily="34" charset="-122"/>
              </a:rPr>
              <a:t>最后就得出了以源为根节点的、用来转发多播数据报的多播转发树。</a:t>
            </a:r>
          </a:p>
        </p:txBody>
      </p:sp>
      <p:sp>
        <p:nvSpPr>
          <p:cNvPr id="5" name="标题 4">
            <a:extLst>
              <a:ext uri="{FF2B5EF4-FFF2-40B4-BE49-F238E27FC236}">
                <a16:creationId xmlns:a16="http://schemas.microsoft.com/office/drawing/2014/main" id="{1130A503-7B19-3604-0B3E-F9C49207D16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a:t>
            </a:r>
          </a:p>
        </p:txBody>
      </p:sp>
      <p:sp>
        <p:nvSpPr>
          <p:cNvPr id="2" name="内容占位符 1">
            <a:extLst>
              <a:ext uri="{FF2B5EF4-FFF2-40B4-BE49-F238E27FC236}">
                <a16:creationId xmlns:a16="http://schemas.microsoft.com/office/drawing/2014/main" id="{5AE555D3-02A7-91E7-8504-61F4C6895CFE}"/>
              </a:ext>
            </a:extLst>
          </p:cNvPr>
          <p:cNvSpPr>
            <a:spLocks noGrp="1"/>
          </p:cNvSpPr>
          <p:nvPr>
            <p:ph sz="quarter" idx="11"/>
          </p:nvPr>
        </p:nvSpPr>
        <p:spPr>
          <a:xfrm>
            <a:off x="486000" y="900000"/>
            <a:ext cx="8172000" cy="3703500"/>
          </a:xfrm>
        </p:spPr>
        <p:txBody>
          <a:bodyPr/>
          <a:lstStyle/>
          <a:p>
            <a:r>
              <a:rPr lang="zh-CN" altLang="en-US" dirty="0"/>
              <a:t>形成以源为根节点的多播转发树</a:t>
            </a:r>
          </a:p>
        </p:txBody>
      </p:sp>
    </p:spTree>
    <p:extLst>
      <p:ext uri="{BB962C8B-B14F-4D97-AF65-F5344CB8AC3E}">
        <p14:creationId xmlns:p14="http://schemas.microsoft.com/office/powerpoint/2010/main" val="3215944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6" name="组合 115"/>
          <p:cNvGrpSpPr/>
          <p:nvPr/>
        </p:nvGrpSpPr>
        <p:grpSpPr>
          <a:xfrm>
            <a:off x="796794" y="2290608"/>
            <a:ext cx="3151205" cy="1960659"/>
            <a:chOff x="796794" y="2399244"/>
            <a:chExt cx="3349523" cy="1960659"/>
          </a:xfrm>
        </p:grpSpPr>
        <p:sp>
          <p:nvSpPr>
            <p:cNvPr id="67" name="Line 32"/>
            <p:cNvSpPr>
              <a:spLocks noChangeShapeType="1"/>
            </p:cNvSpPr>
            <p:nvPr/>
          </p:nvSpPr>
          <p:spPr bwMode="auto">
            <a:xfrm rot="5400000">
              <a:off x="3923478"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4" name="Line 12"/>
            <p:cNvSpPr>
              <a:spLocks noChangeShapeType="1"/>
            </p:cNvSpPr>
            <p:nvPr/>
          </p:nvSpPr>
          <p:spPr bwMode="auto">
            <a:xfrm flipV="1">
              <a:off x="1616796"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5" name="Line 12"/>
            <p:cNvSpPr>
              <a:spLocks noChangeShapeType="1"/>
            </p:cNvSpPr>
            <p:nvPr/>
          </p:nvSpPr>
          <p:spPr bwMode="auto">
            <a:xfrm>
              <a:off x="1571814"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6" name="Line 12"/>
            <p:cNvSpPr>
              <a:spLocks noChangeShapeType="1"/>
            </p:cNvSpPr>
            <p:nvPr/>
          </p:nvSpPr>
          <p:spPr bwMode="auto">
            <a:xfrm>
              <a:off x="2340961"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7" name="Line 32"/>
            <p:cNvSpPr>
              <a:spLocks noChangeShapeType="1"/>
            </p:cNvSpPr>
            <p:nvPr/>
          </p:nvSpPr>
          <p:spPr bwMode="auto">
            <a:xfrm>
              <a:off x="2059592"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8" name="Line 12"/>
            <p:cNvSpPr>
              <a:spLocks noChangeShapeType="1"/>
            </p:cNvSpPr>
            <p:nvPr/>
          </p:nvSpPr>
          <p:spPr bwMode="auto">
            <a:xfrm flipH="1" flipV="1">
              <a:off x="2440545"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9" name="Rectangle 10"/>
            <p:cNvSpPr>
              <a:spLocks noChangeArrowheads="1"/>
            </p:cNvSpPr>
            <p:nvPr/>
          </p:nvSpPr>
          <p:spPr bwMode="auto">
            <a:xfrm>
              <a:off x="2437365"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50" name="Line 12"/>
            <p:cNvSpPr>
              <a:spLocks noChangeShapeType="1"/>
            </p:cNvSpPr>
            <p:nvPr/>
          </p:nvSpPr>
          <p:spPr bwMode="auto">
            <a:xfrm flipH="1" flipV="1">
              <a:off x="2553202"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1" name="Line 32"/>
            <p:cNvSpPr>
              <a:spLocks noChangeShapeType="1"/>
            </p:cNvSpPr>
            <p:nvPr/>
          </p:nvSpPr>
          <p:spPr bwMode="auto">
            <a:xfrm rot="5400000">
              <a:off x="1004508"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2" name="Line 12"/>
            <p:cNvSpPr>
              <a:spLocks noChangeShapeType="1"/>
            </p:cNvSpPr>
            <p:nvPr/>
          </p:nvSpPr>
          <p:spPr bwMode="auto">
            <a:xfrm rot="5400000" flipH="1" flipV="1">
              <a:off x="1337370"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4" name="Rectangle 10"/>
            <p:cNvSpPr>
              <a:spLocks noChangeArrowheads="1"/>
            </p:cNvSpPr>
            <p:nvPr/>
          </p:nvSpPr>
          <p:spPr bwMode="auto">
            <a:xfrm>
              <a:off x="796794"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55" name="Line 12"/>
            <p:cNvSpPr>
              <a:spLocks noChangeShapeType="1"/>
            </p:cNvSpPr>
            <p:nvPr/>
          </p:nvSpPr>
          <p:spPr bwMode="auto">
            <a:xfrm rot="5400000" flipH="1" flipV="1">
              <a:off x="1119428"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6" name="Line 32"/>
            <p:cNvSpPr>
              <a:spLocks noChangeShapeType="1"/>
            </p:cNvSpPr>
            <p:nvPr/>
          </p:nvSpPr>
          <p:spPr bwMode="auto">
            <a:xfrm>
              <a:off x="2833737"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7" name="Line 12"/>
            <p:cNvSpPr>
              <a:spLocks noChangeShapeType="1"/>
            </p:cNvSpPr>
            <p:nvPr/>
          </p:nvSpPr>
          <p:spPr bwMode="auto">
            <a:xfrm flipH="1" flipV="1">
              <a:off x="3028110"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8" name="Rectangle 10"/>
            <p:cNvSpPr>
              <a:spLocks noChangeArrowheads="1"/>
            </p:cNvSpPr>
            <p:nvPr/>
          </p:nvSpPr>
          <p:spPr bwMode="auto">
            <a:xfrm>
              <a:off x="2917118"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70" name="Line 12"/>
            <p:cNvSpPr>
              <a:spLocks noChangeShapeType="1"/>
            </p:cNvSpPr>
            <p:nvPr/>
          </p:nvSpPr>
          <p:spPr bwMode="auto">
            <a:xfrm rot="5400000" flipH="1" flipV="1">
              <a:off x="4038398" y="2826648"/>
              <a:ext cx="0" cy="196670"/>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1" name="Line 12"/>
            <p:cNvSpPr>
              <a:spLocks noChangeShapeType="1"/>
            </p:cNvSpPr>
            <p:nvPr/>
          </p:nvSpPr>
          <p:spPr bwMode="auto">
            <a:xfrm rot="5400000">
              <a:off x="2952858"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38"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47394"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11487"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0"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5796"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9574"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76939"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7" name="Line 12"/>
            <p:cNvSpPr>
              <a:spLocks noChangeShapeType="1"/>
            </p:cNvSpPr>
            <p:nvPr/>
          </p:nvSpPr>
          <p:spPr bwMode="auto">
            <a:xfrm flipH="1" flipV="1">
              <a:off x="3102138"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4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64239"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80" name="组合 79"/>
          <p:cNvGrpSpPr/>
          <p:nvPr/>
        </p:nvGrpSpPr>
        <p:grpSpPr>
          <a:xfrm>
            <a:off x="6224518" y="2783401"/>
            <a:ext cx="1353920" cy="467837"/>
            <a:chOff x="2594906" y="2882429"/>
            <a:chExt cx="1353920" cy="467837"/>
          </a:xfrm>
        </p:grpSpPr>
        <p:sp>
          <p:nvSpPr>
            <p:cNvPr id="81" name="Line 15"/>
            <p:cNvSpPr>
              <a:spLocks noChangeShapeType="1"/>
            </p:cNvSpPr>
            <p:nvPr/>
          </p:nvSpPr>
          <p:spPr bwMode="auto">
            <a:xfrm flipV="1">
              <a:off x="3354744" y="2995439"/>
              <a:ext cx="379135" cy="244968"/>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2" name="Line 15"/>
            <p:cNvSpPr>
              <a:spLocks noChangeShapeType="1"/>
            </p:cNvSpPr>
            <p:nvPr/>
          </p:nvSpPr>
          <p:spPr bwMode="auto">
            <a:xfrm>
              <a:off x="2594906" y="3041372"/>
              <a:ext cx="532574" cy="217084"/>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3" name="矩形 82"/>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sp>
          <p:nvSpPr>
            <p:cNvPr id="84" name="矩形 83"/>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grpSp>
      <p:grpSp>
        <p:nvGrpSpPr>
          <p:cNvPr id="117" name="组合 116"/>
          <p:cNvGrpSpPr/>
          <p:nvPr/>
        </p:nvGrpSpPr>
        <p:grpSpPr>
          <a:xfrm>
            <a:off x="4608294" y="2290608"/>
            <a:ext cx="3856690" cy="1960659"/>
            <a:chOff x="4463445" y="2399244"/>
            <a:chExt cx="4036555" cy="1960659"/>
          </a:xfrm>
        </p:grpSpPr>
        <p:sp>
          <p:nvSpPr>
            <p:cNvPr id="87" name="Line 12"/>
            <p:cNvSpPr>
              <a:spLocks noChangeShapeType="1"/>
            </p:cNvSpPr>
            <p:nvPr/>
          </p:nvSpPr>
          <p:spPr bwMode="auto">
            <a:xfrm flipV="1">
              <a:off x="5283447"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8" name="Line 12"/>
            <p:cNvSpPr>
              <a:spLocks noChangeShapeType="1"/>
            </p:cNvSpPr>
            <p:nvPr/>
          </p:nvSpPr>
          <p:spPr bwMode="auto">
            <a:xfrm>
              <a:off x="5238465"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9" name="Line 12"/>
            <p:cNvSpPr>
              <a:spLocks noChangeShapeType="1"/>
            </p:cNvSpPr>
            <p:nvPr/>
          </p:nvSpPr>
          <p:spPr bwMode="auto">
            <a:xfrm>
              <a:off x="6007612"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0" name="Line 32"/>
            <p:cNvSpPr>
              <a:spLocks noChangeShapeType="1"/>
            </p:cNvSpPr>
            <p:nvPr/>
          </p:nvSpPr>
          <p:spPr bwMode="auto">
            <a:xfrm>
              <a:off x="5726243"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12"/>
            <p:cNvSpPr>
              <a:spLocks noChangeShapeType="1"/>
            </p:cNvSpPr>
            <p:nvPr/>
          </p:nvSpPr>
          <p:spPr bwMode="auto">
            <a:xfrm flipH="1" flipV="1">
              <a:off x="6107196"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2" name="Rectangle 10"/>
            <p:cNvSpPr>
              <a:spLocks noChangeArrowheads="1"/>
            </p:cNvSpPr>
            <p:nvPr/>
          </p:nvSpPr>
          <p:spPr bwMode="auto">
            <a:xfrm>
              <a:off x="6104016"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93" name="Line 12"/>
            <p:cNvSpPr>
              <a:spLocks noChangeShapeType="1"/>
            </p:cNvSpPr>
            <p:nvPr/>
          </p:nvSpPr>
          <p:spPr bwMode="auto">
            <a:xfrm flipH="1" flipV="1">
              <a:off x="6219853"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4" name="Line 32"/>
            <p:cNvSpPr>
              <a:spLocks noChangeShapeType="1"/>
            </p:cNvSpPr>
            <p:nvPr/>
          </p:nvSpPr>
          <p:spPr bwMode="auto">
            <a:xfrm rot="5400000">
              <a:off x="4671159"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5" name="Line 12"/>
            <p:cNvSpPr>
              <a:spLocks noChangeShapeType="1"/>
            </p:cNvSpPr>
            <p:nvPr/>
          </p:nvSpPr>
          <p:spPr bwMode="auto">
            <a:xfrm rot="5400000" flipH="1" flipV="1">
              <a:off x="5004021"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6" name="Rectangle 10"/>
            <p:cNvSpPr>
              <a:spLocks noChangeArrowheads="1"/>
            </p:cNvSpPr>
            <p:nvPr/>
          </p:nvSpPr>
          <p:spPr bwMode="auto">
            <a:xfrm>
              <a:off x="4463445"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97" name="Line 12"/>
            <p:cNvSpPr>
              <a:spLocks noChangeShapeType="1"/>
            </p:cNvSpPr>
            <p:nvPr/>
          </p:nvSpPr>
          <p:spPr bwMode="auto">
            <a:xfrm rot="5400000" flipH="1" flipV="1">
              <a:off x="4786079"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8" name="Line 32"/>
            <p:cNvSpPr>
              <a:spLocks noChangeShapeType="1"/>
            </p:cNvSpPr>
            <p:nvPr/>
          </p:nvSpPr>
          <p:spPr bwMode="auto">
            <a:xfrm>
              <a:off x="6500388"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12"/>
            <p:cNvSpPr>
              <a:spLocks noChangeShapeType="1"/>
            </p:cNvSpPr>
            <p:nvPr/>
          </p:nvSpPr>
          <p:spPr bwMode="auto">
            <a:xfrm flipH="1" flipV="1">
              <a:off x="6694761"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0" name="Rectangle 10"/>
            <p:cNvSpPr>
              <a:spLocks noChangeArrowheads="1"/>
            </p:cNvSpPr>
            <p:nvPr/>
          </p:nvSpPr>
          <p:spPr bwMode="auto">
            <a:xfrm>
              <a:off x="6583769"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01" name="Line 12"/>
            <p:cNvSpPr>
              <a:spLocks noChangeShapeType="1"/>
            </p:cNvSpPr>
            <p:nvPr/>
          </p:nvSpPr>
          <p:spPr bwMode="auto">
            <a:xfrm rot="5400000" flipH="1" flipV="1">
              <a:off x="7718894" y="2812803"/>
              <a:ext cx="0" cy="224359"/>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2" name="Line 12"/>
            <p:cNvSpPr>
              <a:spLocks noChangeShapeType="1"/>
            </p:cNvSpPr>
            <p:nvPr/>
          </p:nvSpPr>
          <p:spPr bwMode="auto">
            <a:xfrm rot="5400000">
              <a:off x="6619509"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14045"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4"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78138"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5"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82447"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6"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16225"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7"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3590"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8" name="Line 12"/>
            <p:cNvSpPr>
              <a:spLocks noChangeShapeType="1"/>
            </p:cNvSpPr>
            <p:nvPr/>
          </p:nvSpPr>
          <p:spPr bwMode="auto">
            <a:xfrm flipH="1" flipV="1">
              <a:off x="6768789"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0890"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0" name="Rectangle 10"/>
            <p:cNvSpPr>
              <a:spLocks noChangeArrowheads="1"/>
            </p:cNvSpPr>
            <p:nvPr/>
          </p:nvSpPr>
          <p:spPr bwMode="auto">
            <a:xfrm>
              <a:off x="8167665" y="2896632"/>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11" name="Line 12"/>
            <p:cNvSpPr>
              <a:spLocks noChangeShapeType="1"/>
            </p:cNvSpPr>
            <p:nvPr/>
          </p:nvSpPr>
          <p:spPr bwMode="auto">
            <a:xfrm rot="5400000" flipH="1" flipV="1">
              <a:off x="8005956" y="2805082"/>
              <a:ext cx="0" cy="323418"/>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5" name="Line 32"/>
            <p:cNvSpPr>
              <a:spLocks noChangeShapeType="1"/>
            </p:cNvSpPr>
            <p:nvPr/>
          </p:nvSpPr>
          <p:spPr bwMode="auto">
            <a:xfrm rot="5400000">
              <a:off x="7608235"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2" name="Text Box 102"/>
            <p:cNvSpPr txBox="1">
              <a:spLocks noChangeArrowheads="1"/>
            </p:cNvSpPr>
            <p:nvPr/>
          </p:nvSpPr>
          <p:spPr bwMode="auto">
            <a:xfrm>
              <a:off x="7831227" y="3279985"/>
              <a:ext cx="66877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100" b="1" dirty="0">
                  <a:latin typeface="微软雅黑" pitchFamily="34" charset="-122"/>
                  <a:ea typeface="微软雅黑" pitchFamily="34" charset="-122"/>
                </a:rPr>
                <a:t>IGMP </a:t>
              </a:r>
            </a:p>
            <a:p>
              <a:r>
                <a:rPr lang="en-US" altLang="zh-CN" sz="1100" b="1" dirty="0">
                  <a:latin typeface="微软雅黑" pitchFamily="34" charset="-122"/>
                  <a:ea typeface="微软雅黑" pitchFamily="34" charset="-122"/>
                </a:rPr>
                <a:t>Report</a:t>
              </a:r>
              <a:endParaRPr lang="zh-CN" altLang="en-US" sz="1100" b="1" dirty="0">
                <a:latin typeface="微软雅黑" pitchFamily="34" charset="-122"/>
                <a:ea typeface="微软雅黑" pitchFamily="34" charset="-122"/>
              </a:endParaRPr>
            </a:p>
          </p:txBody>
        </p:sp>
        <p:cxnSp>
          <p:nvCxnSpPr>
            <p:cNvPr id="114" name="直接箭头连接符 113"/>
            <p:cNvCxnSpPr>
              <a:stCxn id="112" idx="0"/>
            </p:cNvCxnSpPr>
            <p:nvPr/>
          </p:nvCxnSpPr>
          <p:spPr>
            <a:xfrm flipH="1" flipV="1">
              <a:off x="8005956" y="3005048"/>
              <a:ext cx="159658" cy="274937"/>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sp>
        <p:nvSpPr>
          <p:cNvPr id="119" name="矩形 118"/>
          <p:cNvSpPr/>
          <p:nvPr/>
        </p:nvSpPr>
        <p:spPr>
          <a:xfrm>
            <a:off x="1229140" y="3881935"/>
            <a:ext cx="595035" cy="338554"/>
          </a:xfrm>
          <a:prstGeom prst="rect">
            <a:avLst/>
          </a:prstGeom>
        </p:spPr>
        <p:txBody>
          <a:bodyPr wrap="none">
            <a:spAutoFit/>
          </a:bodyPr>
          <a:lstStyle/>
          <a:p>
            <a:r>
              <a:rPr lang="zh-CN" altLang="en-US" sz="1600" dirty="0">
                <a:solidFill>
                  <a:srgbClr val="0000FF"/>
                </a:solidFill>
                <a:latin typeface="微软雅黑 Light" panose="020B0502040204020203" pitchFamily="34" charset="-122"/>
                <a:ea typeface="微软雅黑 Light" panose="020B0502040204020203" pitchFamily="34" charset="-122"/>
              </a:rPr>
              <a:t>剪枝</a:t>
            </a:r>
          </a:p>
        </p:txBody>
      </p:sp>
      <p:sp>
        <p:nvSpPr>
          <p:cNvPr id="120" name="矩形 119"/>
          <p:cNvSpPr/>
          <p:nvPr/>
        </p:nvSpPr>
        <p:spPr>
          <a:xfrm>
            <a:off x="7584137" y="3881935"/>
            <a:ext cx="595035" cy="338554"/>
          </a:xfrm>
          <a:prstGeom prst="rect">
            <a:avLst/>
          </a:prstGeom>
        </p:spPr>
        <p:txBody>
          <a:bodyPr wrap="none">
            <a:spAutoFit/>
          </a:bodyPr>
          <a:lstStyle/>
          <a:p>
            <a:r>
              <a:rPr lang="zh-CN" altLang="en-US" sz="1600" dirty="0">
                <a:solidFill>
                  <a:srgbClr val="0000FF"/>
                </a:solidFill>
                <a:latin typeface="微软雅黑 Light" panose="020B0502040204020203" pitchFamily="34" charset="-122"/>
                <a:ea typeface="微软雅黑 Light" panose="020B0502040204020203" pitchFamily="34" charset="-122"/>
              </a:rPr>
              <a:t>嫁接</a:t>
            </a:r>
          </a:p>
        </p:txBody>
      </p:sp>
      <p:grpSp>
        <p:nvGrpSpPr>
          <p:cNvPr id="79" name="组合 78"/>
          <p:cNvGrpSpPr/>
          <p:nvPr/>
        </p:nvGrpSpPr>
        <p:grpSpPr>
          <a:xfrm>
            <a:off x="2450573" y="2801278"/>
            <a:ext cx="1215605" cy="467837"/>
            <a:chOff x="2622992" y="2882429"/>
            <a:chExt cx="1325834" cy="467837"/>
          </a:xfrm>
        </p:grpSpPr>
        <p:sp>
          <p:nvSpPr>
            <p:cNvPr id="73" name="Line 15"/>
            <p:cNvSpPr>
              <a:spLocks noChangeShapeType="1"/>
            </p:cNvSpPr>
            <p:nvPr/>
          </p:nvSpPr>
          <p:spPr bwMode="auto">
            <a:xfrm flipV="1">
              <a:off x="3345691" y="2936679"/>
              <a:ext cx="476516" cy="303730"/>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4" name="Line 15"/>
            <p:cNvSpPr>
              <a:spLocks noChangeShapeType="1"/>
            </p:cNvSpPr>
            <p:nvPr/>
          </p:nvSpPr>
          <p:spPr bwMode="auto">
            <a:xfrm>
              <a:off x="2622992" y="3001788"/>
              <a:ext cx="522594" cy="265721"/>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5" name="矩形 74"/>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sp>
          <p:nvSpPr>
            <p:cNvPr id="76" name="矩形 75"/>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grpSp>
      <p:sp>
        <p:nvSpPr>
          <p:cNvPr id="5" name="标题 4">
            <a:extLst>
              <a:ext uri="{FF2B5EF4-FFF2-40B4-BE49-F238E27FC236}">
                <a16:creationId xmlns:a16="http://schemas.microsoft.com/office/drawing/2014/main" id="{FFEFE3BF-88BA-A872-5031-0A262CF6F172}"/>
              </a:ext>
            </a:extLst>
          </p:cNvPr>
          <p:cNvSpPr>
            <a:spLocks noGrp="1"/>
          </p:cNvSpPr>
          <p:nvPr>
            <p:ph type="title"/>
          </p:nvPr>
        </p:nvSpPr>
        <p:spPr>
          <a:xfrm>
            <a:off x="486000" y="550723"/>
            <a:ext cx="8172000" cy="338554"/>
          </a:xfrm>
        </p:spPr>
        <p:txBody>
          <a:bodyPr/>
          <a:lstStyle/>
          <a:p>
            <a:r>
              <a:rPr lang="en-US" altLang="zh-CN" dirty="0"/>
              <a:t>RPB </a:t>
            </a:r>
            <a:r>
              <a:rPr lang="zh-CN" altLang="en-US" dirty="0"/>
              <a:t>的要点：剪枝与嫁接</a:t>
            </a:r>
          </a:p>
        </p:txBody>
      </p:sp>
      <p:sp>
        <p:nvSpPr>
          <p:cNvPr id="6" name="内容占位符 5">
            <a:extLst>
              <a:ext uri="{FF2B5EF4-FFF2-40B4-BE49-F238E27FC236}">
                <a16:creationId xmlns:a16="http://schemas.microsoft.com/office/drawing/2014/main" id="{7D7CB529-F10E-A7D2-216C-749CDFBCD224}"/>
              </a:ext>
            </a:extLst>
          </p:cNvPr>
          <p:cNvSpPr>
            <a:spLocks noGrp="1"/>
          </p:cNvSpPr>
          <p:nvPr>
            <p:ph sz="quarter" idx="11"/>
          </p:nvPr>
        </p:nvSpPr>
        <p:spPr>
          <a:xfrm>
            <a:off x="486000" y="900000"/>
            <a:ext cx="8172000" cy="3703500"/>
          </a:xfrm>
        </p:spPr>
        <p:txBody>
          <a:bodyPr/>
          <a:lstStyle/>
          <a:p>
            <a:r>
              <a:rPr lang="zh-CN" altLang="en-US" dirty="0"/>
              <a:t>剪枝：如果在多播转发树上的某个路由器发现它的下游树枝（即叶节点方向）已没有该多播组的成员，就把它和下游的树枝一起剪除</a:t>
            </a:r>
            <a:endParaRPr lang="en-US" altLang="zh-CN" dirty="0"/>
          </a:p>
          <a:p>
            <a:r>
              <a:rPr lang="zh-CN" altLang="en-US" dirty="0"/>
              <a:t>嫁接：当某个树枝有新增加的组成员时，可以再接入到多播转发树上</a:t>
            </a:r>
          </a:p>
          <a:p>
            <a:endParaRPr lang="zh-CN" altLang="en-US" dirty="0"/>
          </a:p>
        </p:txBody>
      </p:sp>
    </p:spTree>
    <p:extLst>
      <p:ext uri="{BB962C8B-B14F-4D97-AF65-F5344CB8AC3E}">
        <p14:creationId xmlns:p14="http://schemas.microsoft.com/office/powerpoint/2010/main" val="7371469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8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114"/>
          <p:cNvGrpSpPr>
            <a:grpSpLocks/>
          </p:cNvGrpSpPr>
          <p:nvPr/>
        </p:nvGrpSpPr>
        <p:grpSpPr bwMode="auto">
          <a:xfrm>
            <a:off x="5909908" y="2669405"/>
            <a:ext cx="1572216" cy="1443694"/>
            <a:chOff x="3749" y="2721"/>
            <a:chExt cx="1531" cy="1523"/>
          </a:xfrm>
        </p:grpSpPr>
        <p:sp>
          <p:nvSpPr>
            <p:cNvPr id="4" name="Oval 90"/>
            <p:cNvSpPr>
              <a:spLocks noChangeArrowheads="1"/>
            </p:cNvSpPr>
            <p:nvPr/>
          </p:nvSpPr>
          <p:spPr bwMode="auto">
            <a:xfrm rot="1323552">
              <a:off x="3749" y="3383"/>
              <a:ext cx="1272" cy="861"/>
            </a:xfrm>
            <a:prstGeom prst="ellipse">
              <a:avLst/>
            </a:prstGeom>
            <a:solidFill>
              <a:srgbClr val="00FFFF"/>
            </a:solidFill>
            <a:ln>
              <a:noFill/>
            </a:ln>
            <a:effectLst/>
            <a:extLst>
              <a:ext uri="{91240B29-F687-4F45-9708-019B960494DF}">
                <a14:hiddenLine xmlns:a14="http://schemas.microsoft.com/office/drawing/2010/main" w="9525">
                  <a:solidFill>
                    <a:schemeClr val="tx1"/>
                  </a:solidFill>
                  <a:prstDash val="dash"/>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 name="Text Box 91"/>
            <p:cNvSpPr txBox="1">
              <a:spLocks noChangeArrowheads="1"/>
            </p:cNvSpPr>
            <p:nvPr/>
          </p:nvSpPr>
          <p:spPr bwMode="auto">
            <a:xfrm>
              <a:off x="4051" y="2721"/>
              <a:ext cx="1229" cy="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dirty="0">
                  <a:latin typeface="微软雅黑 Light" panose="020B0502040204020203" pitchFamily="34" charset="-122"/>
                  <a:ea typeface="微软雅黑 Light" panose="020B0502040204020203" pitchFamily="34" charset="-122"/>
                </a:rPr>
                <a:t>剪除没有</a:t>
              </a:r>
            </a:p>
            <a:p>
              <a:pPr algn="ctr"/>
              <a:r>
                <a:rPr lang="zh-CN" altLang="en-US" sz="1400" dirty="0">
                  <a:latin typeface="微软雅黑 Light" panose="020B0502040204020203" pitchFamily="34" charset="-122"/>
                  <a:ea typeface="微软雅黑 Light" panose="020B0502040204020203" pitchFamily="34" charset="-122"/>
                </a:rPr>
                <a:t>组成员的树枝</a:t>
              </a:r>
            </a:p>
          </p:txBody>
        </p:sp>
      </p:grpSp>
      <p:sp>
        <p:nvSpPr>
          <p:cNvPr id="6" name="Line 4"/>
          <p:cNvSpPr>
            <a:spLocks noChangeShapeType="1"/>
          </p:cNvSpPr>
          <p:nvPr/>
        </p:nvSpPr>
        <p:spPr bwMode="auto">
          <a:xfrm>
            <a:off x="6799222" y="3890334"/>
            <a:ext cx="481626" cy="14598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 name="Line 5"/>
          <p:cNvSpPr>
            <a:spLocks noChangeShapeType="1"/>
          </p:cNvSpPr>
          <p:nvPr/>
        </p:nvSpPr>
        <p:spPr bwMode="auto">
          <a:xfrm>
            <a:off x="4436275" y="1157459"/>
            <a:ext cx="0" cy="36874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 name="Line 6"/>
          <p:cNvSpPr>
            <a:spLocks noChangeShapeType="1"/>
          </p:cNvSpPr>
          <p:nvPr/>
        </p:nvSpPr>
        <p:spPr bwMode="auto">
          <a:xfrm flipV="1">
            <a:off x="3297420" y="1640902"/>
            <a:ext cx="1114209" cy="54979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 name="Line 7"/>
          <p:cNvSpPr>
            <a:spLocks noChangeShapeType="1"/>
          </p:cNvSpPr>
          <p:nvPr/>
        </p:nvSpPr>
        <p:spPr bwMode="auto">
          <a:xfrm>
            <a:off x="3434000" y="3298827"/>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8"/>
          <p:cNvSpPr>
            <a:spLocks noChangeShapeType="1"/>
          </p:cNvSpPr>
          <p:nvPr/>
        </p:nvSpPr>
        <p:spPr bwMode="auto">
          <a:xfrm>
            <a:off x="3434000" y="2190700"/>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Text Box 9"/>
          <p:cNvSpPr txBox="1">
            <a:spLocks noChangeArrowheads="1"/>
          </p:cNvSpPr>
          <p:nvPr/>
        </p:nvSpPr>
        <p:spPr bwMode="auto">
          <a:xfrm>
            <a:off x="4601610" y="88256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latin typeface="微软雅黑" pitchFamily="34" charset="-122"/>
                <a:ea typeface="微软雅黑" pitchFamily="34" charset="-122"/>
              </a:rPr>
              <a:t>源点</a:t>
            </a:r>
          </a:p>
        </p:txBody>
      </p:sp>
      <p:sp>
        <p:nvSpPr>
          <p:cNvPr id="12" name="Line 10"/>
          <p:cNvSpPr>
            <a:spLocks noChangeShapeType="1"/>
          </p:cNvSpPr>
          <p:nvPr/>
        </p:nvSpPr>
        <p:spPr bwMode="auto">
          <a:xfrm>
            <a:off x="4592368" y="1690194"/>
            <a:ext cx="1030003" cy="51567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3297420" y="2266535"/>
            <a:ext cx="0" cy="95835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3364169" y="3372766"/>
            <a:ext cx="1031029" cy="663549"/>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3"/>
          <p:cNvSpPr>
            <a:spLocks noChangeShapeType="1"/>
          </p:cNvSpPr>
          <p:nvPr/>
        </p:nvSpPr>
        <p:spPr bwMode="auto">
          <a:xfrm>
            <a:off x="5699389" y="2266534"/>
            <a:ext cx="0" cy="1032293"/>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flipH="1">
            <a:off x="4601610" y="3298828"/>
            <a:ext cx="1097779" cy="737488"/>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flipH="1">
            <a:off x="2472801" y="3298827"/>
            <a:ext cx="755814" cy="591507"/>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5769219" y="3298827"/>
            <a:ext cx="961198" cy="591507"/>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19"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2044719"/>
            <a:ext cx="481627"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8618" y="3890334"/>
            <a:ext cx="481626" cy="2948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3151898"/>
            <a:ext cx="481627"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3"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3151898"/>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2044719"/>
            <a:ext cx="481626"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97587" y="3815448"/>
            <a:ext cx="482653" cy="2948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54177" y="3743405"/>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 name="Group 35"/>
          <p:cNvGrpSpPr>
            <a:grpSpLocks/>
          </p:cNvGrpSpPr>
          <p:nvPr/>
        </p:nvGrpSpPr>
        <p:grpSpPr bwMode="auto">
          <a:xfrm>
            <a:off x="4950764" y="1999218"/>
            <a:ext cx="137607" cy="147877"/>
            <a:chOff x="3470" y="572"/>
            <a:chExt cx="91" cy="91"/>
          </a:xfrm>
        </p:grpSpPr>
        <p:sp>
          <p:nvSpPr>
            <p:cNvPr id="28" name="Line 36"/>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9" name="Line 37"/>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0" name="Group 110"/>
          <p:cNvGrpSpPr>
            <a:grpSpLocks/>
          </p:cNvGrpSpPr>
          <p:nvPr/>
        </p:nvGrpSpPr>
        <p:grpSpPr bwMode="auto">
          <a:xfrm>
            <a:off x="3877630" y="2235253"/>
            <a:ext cx="2027143" cy="767821"/>
            <a:chOff x="1770" y="2263"/>
            <a:chExt cx="1974" cy="810"/>
          </a:xfrm>
        </p:grpSpPr>
        <p:grpSp>
          <p:nvGrpSpPr>
            <p:cNvPr id="31" name="Group 25"/>
            <p:cNvGrpSpPr>
              <a:grpSpLocks/>
            </p:cNvGrpSpPr>
            <p:nvPr/>
          </p:nvGrpSpPr>
          <p:grpSpPr bwMode="auto">
            <a:xfrm rot="5400000">
              <a:off x="3406" y="2735"/>
              <a:ext cx="544" cy="132"/>
              <a:chOff x="4105" y="1253"/>
              <a:chExt cx="317" cy="90"/>
            </a:xfrm>
          </p:grpSpPr>
          <p:sp>
            <p:nvSpPr>
              <p:cNvPr id="35" name="Rectangle 2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6" name="Line 2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2" name="Group 39"/>
            <p:cNvGrpSpPr>
              <a:grpSpLocks/>
            </p:cNvGrpSpPr>
            <p:nvPr/>
          </p:nvGrpSpPr>
          <p:grpSpPr bwMode="auto">
            <a:xfrm flipH="1">
              <a:off x="1770" y="2263"/>
              <a:ext cx="468" cy="155"/>
              <a:chOff x="4105" y="1253"/>
              <a:chExt cx="317" cy="90"/>
            </a:xfrm>
          </p:grpSpPr>
          <p:sp>
            <p:nvSpPr>
              <p:cNvPr id="33" name="Rectangle 4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4" name="Line 4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37" name="Group 42"/>
          <p:cNvGrpSpPr>
            <a:grpSpLocks/>
          </p:cNvGrpSpPr>
          <p:nvPr/>
        </p:nvGrpSpPr>
        <p:grpSpPr bwMode="auto">
          <a:xfrm flipH="1">
            <a:off x="3740023" y="2235253"/>
            <a:ext cx="137607" cy="148824"/>
            <a:chOff x="3470" y="572"/>
            <a:chExt cx="91" cy="91"/>
          </a:xfrm>
        </p:grpSpPr>
        <p:sp>
          <p:nvSpPr>
            <p:cNvPr id="38" name="Line 4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4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0" name="Group 109"/>
          <p:cNvGrpSpPr>
            <a:grpSpLocks/>
          </p:cNvGrpSpPr>
          <p:nvPr/>
        </p:nvGrpSpPr>
        <p:grpSpPr bwMode="auto">
          <a:xfrm>
            <a:off x="3364169" y="1999218"/>
            <a:ext cx="1586594" cy="929917"/>
            <a:chOff x="1270" y="2014"/>
            <a:chExt cx="1545" cy="981"/>
          </a:xfrm>
        </p:grpSpPr>
        <p:grpSp>
          <p:nvGrpSpPr>
            <p:cNvPr id="41" name="Group 32"/>
            <p:cNvGrpSpPr>
              <a:grpSpLocks/>
            </p:cNvGrpSpPr>
            <p:nvPr/>
          </p:nvGrpSpPr>
          <p:grpSpPr bwMode="auto">
            <a:xfrm>
              <a:off x="2349" y="2014"/>
              <a:ext cx="466" cy="154"/>
              <a:chOff x="4105" y="1253"/>
              <a:chExt cx="317" cy="90"/>
            </a:xfrm>
          </p:grpSpPr>
          <p:sp>
            <p:nvSpPr>
              <p:cNvPr id="45" name="Rectangle 33"/>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34"/>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2" name="Group 45"/>
            <p:cNvGrpSpPr>
              <a:grpSpLocks/>
            </p:cNvGrpSpPr>
            <p:nvPr/>
          </p:nvGrpSpPr>
          <p:grpSpPr bwMode="auto">
            <a:xfrm rot="5400000">
              <a:off x="1064" y="2656"/>
              <a:ext cx="545" cy="134"/>
              <a:chOff x="4105" y="1253"/>
              <a:chExt cx="317" cy="90"/>
            </a:xfrm>
          </p:grpSpPr>
          <p:sp>
            <p:nvSpPr>
              <p:cNvPr id="43" name="Rectangle 4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4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47" name="Group 52"/>
          <p:cNvGrpSpPr>
            <a:grpSpLocks/>
          </p:cNvGrpSpPr>
          <p:nvPr/>
        </p:nvGrpSpPr>
        <p:grpSpPr bwMode="auto">
          <a:xfrm>
            <a:off x="5224951" y="3341484"/>
            <a:ext cx="137607" cy="146929"/>
            <a:chOff x="3470" y="572"/>
            <a:chExt cx="91" cy="91"/>
          </a:xfrm>
        </p:grpSpPr>
        <p:sp>
          <p:nvSpPr>
            <p:cNvPr id="48" name="Line 5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9" name="Line 5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0" name="Group 111"/>
          <p:cNvGrpSpPr>
            <a:grpSpLocks/>
          </p:cNvGrpSpPr>
          <p:nvPr/>
        </p:nvGrpSpPr>
        <p:grpSpPr bwMode="auto">
          <a:xfrm>
            <a:off x="2491286" y="3341484"/>
            <a:ext cx="2733665" cy="326087"/>
            <a:chOff x="420" y="3430"/>
            <a:chExt cx="2662" cy="344"/>
          </a:xfrm>
        </p:grpSpPr>
        <p:grpSp>
          <p:nvGrpSpPr>
            <p:cNvPr id="51" name="Group 49"/>
            <p:cNvGrpSpPr>
              <a:grpSpLocks/>
            </p:cNvGrpSpPr>
            <p:nvPr/>
          </p:nvGrpSpPr>
          <p:grpSpPr bwMode="auto">
            <a:xfrm>
              <a:off x="2614" y="3430"/>
              <a:ext cx="468" cy="153"/>
              <a:chOff x="4105" y="1253"/>
              <a:chExt cx="317" cy="90"/>
            </a:xfrm>
          </p:grpSpPr>
          <p:sp>
            <p:nvSpPr>
              <p:cNvPr id="58" name="Rectangle 5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5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2" name="Group 62"/>
            <p:cNvGrpSpPr>
              <a:grpSpLocks/>
            </p:cNvGrpSpPr>
            <p:nvPr/>
          </p:nvGrpSpPr>
          <p:grpSpPr bwMode="auto">
            <a:xfrm rot="19424285" flipH="1">
              <a:off x="420" y="3551"/>
              <a:ext cx="468" cy="154"/>
              <a:chOff x="4105" y="1253"/>
              <a:chExt cx="317" cy="90"/>
            </a:xfrm>
          </p:grpSpPr>
          <p:sp>
            <p:nvSpPr>
              <p:cNvPr id="56" name="Rectangle 63"/>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4"/>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3" name="Group 65"/>
            <p:cNvGrpSpPr>
              <a:grpSpLocks/>
            </p:cNvGrpSpPr>
            <p:nvPr/>
          </p:nvGrpSpPr>
          <p:grpSpPr bwMode="auto">
            <a:xfrm rot="1818208">
              <a:off x="1606" y="3619"/>
              <a:ext cx="467" cy="155"/>
              <a:chOff x="4105" y="1253"/>
              <a:chExt cx="317" cy="90"/>
            </a:xfrm>
          </p:grpSpPr>
          <p:sp>
            <p:nvSpPr>
              <p:cNvPr id="54" name="Rectangle 6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6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60" name="Group 108"/>
          <p:cNvGrpSpPr>
            <a:grpSpLocks/>
          </p:cNvGrpSpPr>
          <p:nvPr/>
        </p:nvGrpSpPr>
        <p:grpSpPr bwMode="auto">
          <a:xfrm>
            <a:off x="3584958" y="1708206"/>
            <a:ext cx="1776574" cy="186741"/>
            <a:chOff x="1485" y="1707"/>
            <a:chExt cx="1730" cy="197"/>
          </a:xfrm>
        </p:grpSpPr>
        <p:grpSp>
          <p:nvGrpSpPr>
            <p:cNvPr id="61" name="Group 28"/>
            <p:cNvGrpSpPr>
              <a:grpSpLocks/>
            </p:cNvGrpSpPr>
            <p:nvPr/>
          </p:nvGrpSpPr>
          <p:grpSpPr bwMode="auto">
            <a:xfrm rot="1498195">
              <a:off x="2747" y="1749"/>
              <a:ext cx="468" cy="155"/>
              <a:chOff x="4105" y="1253"/>
              <a:chExt cx="317" cy="90"/>
            </a:xfrm>
          </p:grpSpPr>
          <p:sp>
            <p:nvSpPr>
              <p:cNvPr id="65" name="Rectangle 2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Line 3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62" name="Group 71"/>
            <p:cNvGrpSpPr>
              <a:grpSpLocks/>
            </p:cNvGrpSpPr>
            <p:nvPr/>
          </p:nvGrpSpPr>
          <p:grpSpPr bwMode="auto">
            <a:xfrm rot="20121053" flipH="1">
              <a:off x="1485" y="1707"/>
              <a:ext cx="467" cy="156"/>
              <a:chOff x="4105" y="1253"/>
              <a:chExt cx="317" cy="90"/>
            </a:xfrm>
          </p:grpSpPr>
          <p:sp>
            <p:nvSpPr>
              <p:cNvPr id="63" name="Rectangle 72"/>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4" name="Line 73"/>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sp>
        <p:nvSpPr>
          <p:cNvPr id="67" name="Text Box 74"/>
          <p:cNvSpPr txBox="1">
            <a:spLocks noChangeArrowheads="1"/>
          </p:cNvSpPr>
          <p:nvPr/>
        </p:nvSpPr>
        <p:spPr bwMode="auto">
          <a:xfrm>
            <a:off x="5869858" y="20409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3</a:t>
            </a:r>
          </a:p>
        </p:txBody>
      </p:sp>
      <p:sp>
        <p:nvSpPr>
          <p:cNvPr id="68" name="Text Box 75"/>
          <p:cNvSpPr txBox="1">
            <a:spLocks noChangeArrowheads="1"/>
          </p:cNvSpPr>
          <p:nvPr/>
        </p:nvSpPr>
        <p:spPr bwMode="auto">
          <a:xfrm>
            <a:off x="2884598" y="29187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4</a:t>
            </a:r>
          </a:p>
        </p:txBody>
      </p:sp>
      <p:sp>
        <p:nvSpPr>
          <p:cNvPr id="69" name="Text Box 76"/>
          <p:cNvSpPr txBox="1">
            <a:spLocks noChangeArrowheads="1"/>
          </p:cNvSpPr>
          <p:nvPr/>
        </p:nvSpPr>
        <p:spPr bwMode="auto">
          <a:xfrm>
            <a:off x="2059980" y="35206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6</a:t>
            </a:r>
          </a:p>
        </p:txBody>
      </p:sp>
      <p:sp>
        <p:nvSpPr>
          <p:cNvPr id="70" name="Text Box 77"/>
          <p:cNvSpPr txBox="1">
            <a:spLocks noChangeArrowheads="1"/>
          </p:cNvSpPr>
          <p:nvPr/>
        </p:nvSpPr>
        <p:spPr bwMode="auto">
          <a:xfrm>
            <a:off x="4258618" y="361353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1" name="Text Box 78"/>
          <p:cNvSpPr txBox="1">
            <a:spLocks noChangeArrowheads="1"/>
          </p:cNvSpPr>
          <p:nvPr/>
        </p:nvSpPr>
        <p:spPr bwMode="auto">
          <a:xfrm>
            <a:off x="6591784" y="34751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8</a:t>
            </a:r>
          </a:p>
        </p:txBody>
      </p:sp>
      <p:grpSp>
        <p:nvGrpSpPr>
          <p:cNvPr id="72" name="Group 113"/>
          <p:cNvGrpSpPr>
            <a:grpSpLocks/>
          </p:cNvGrpSpPr>
          <p:nvPr/>
        </p:nvGrpSpPr>
        <p:grpSpPr bwMode="auto">
          <a:xfrm>
            <a:off x="3760561" y="3098815"/>
            <a:ext cx="2796307" cy="689144"/>
            <a:chOff x="1656" y="3174"/>
            <a:chExt cx="2723" cy="727"/>
          </a:xfrm>
        </p:grpSpPr>
        <p:grpSp>
          <p:nvGrpSpPr>
            <p:cNvPr id="73" name="Group 56"/>
            <p:cNvGrpSpPr>
              <a:grpSpLocks/>
            </p:cNvGrpSpPr>
            <p:nvPr/>
          </p:nvGrpSpPr>
          <p:grpSpPr bwMode="auto">
            <a:xfrm flipH="1">
              <a:off x="1656" y="3174"/>
              <a:ext cx="467" cy="155"/>
              <a:chOff x="4105" y="1253"/>
              <a:chExt cx="317" cy="90"/>
            </a:xfrm>
          </p:grpSpPr>
          <p:sp>
            <p:nvSpPr>
              <p:cNvPr id="80" name="Rectangle 57"/>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Line 58"/>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4" name="Group 68"/>
            <p:cNvGrpSpPr>
              <a:grpSpLocks/>
            </p:cNvGrpSpPr>
            <p:nvPr/>
          </p:nvGrpSpPr>
          <p:grpSpPr bwMode="auto">
            <a:xfrm rot="1818208">
              <a:off x="3910" y="3523"/>
              <a:ext cx="469" cy="154"/>
              <a:chOff x="4105" y="1253"/>
              <a:chExt cx="317" cy="90"/>
            </a:xfrm>
          </p:grpSpPr>
          <p:sp>
            <p:nvSpPr>
              <p:cNvPr id="78" name="Rectangle 6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Line 7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5" name="Group 80"/>
            <p:cNvGrpSpPr>
              <a:grpSpLocks/>
            </p:cNvGrpSpPr>
            <p:nvPr/>
          </p:nvGrpSpPr>
          <p:grpSpPr bwMode="auto">
            <a:xfrm rot="19765545" flipH="1">
              <a:off x="2955" y="3747"/>
              <a:ext cx="469" cy="154"/>
              <a:chOff x="4105" y="1253"/>
              <a:chExt cx="317" cy="90"/>
            </a:xfrm>
          </p:grpSpPr>
          <p:sp>
            <p:nvSpPr>
              <p:cNvPr id="76" name="Rectangle 81"/>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7" name="Line 82"/>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82" name="Group 112"/>
          <p:cNvGrpSpPr>
            <a:grpSpLocks/>
          </p:cNvGrpSpPr>
          <p:nvPr/>
        </p:nvGrpSpPr>
        <p:grpSpPr bwMode="auto">
          <a:xfrm>
            <a:off x="3619873" y="3083648"/>
            <a:ext cx="1514709" cy="836072"/>
            <a:chOff x="1522" y="3174"/>
            <a:chExt cx="1475" cy="882"/>
          </a:xfrm>
        </p:grpSpPr>
        <p:grpSp>
          <p:nvGrpSpPr>
            <p:cNvPr id="83" name="Group 59"/>
            <p:cNvGrpSpPr>
              <a:grpSpLocks/>
            </p:cNvGrpSpPr>
            <p:nvPr/>
          </p:nvGrpSpPr>
          <p:grpSpPr bwMode="auto">
            <a:xfrm flipH="1">
              <a:off x="1522" y="3174"/>
              <a:ext cx="134" cy="157"/>
              <a:chOff x="3470" y="572"/>
              <a:chExt cx="91" cy="91"/>
            </a:xfrm>
          </p:grpSpPr>
          <p:sp>
            <p:nvSpPr>
              <p:cNvPr id="87" name="Line 60"/>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8" name="Line 61"/>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4" name="Group 83"/>
            <p:cNvGrpSpPr>
              <a:grpSpLocks/>
            </p:cNvGrpSpPr>
            <p:nvPr/>
          </p:nvGrpSpPr>
          <p:grpSpPr bwMode="auto">
            <a:xfrm rot="19765545" flipH="1">
              <a:off x="2863" y="3900"/>
              <a:ext cx="134" cy="156"/>
              <a:chOff x="3470" y="572"/>
              <a:chExt cx="91" cy="91"/>
            </a:xfrm>
          </p:grpSpPr>
          <p:sp>
            <p:nvSpPr>
              <p:cNvPr id="85" name="Line 84"/>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Line 85"/>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pic>
        <p:nvPicPr>
          <p:cNvPr id="89"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89814" y="1526203"/>
            <a:ext cx="481627" cy="295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90" name="Text Box 87"/>
          <p:cNvSpPr txBox="1">
            <a:spLocks noChangeArrowheads="1"/>
          </p:cNvSpPr>
          <p:nvPr/>
        </p:nvSpPr>
        <p:spPr bwMode="auto">
          <a:xfrm>
            <a:off x="4464002" y="129870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1</a:t>
            </a:r>
          </a:p>
        </p:txBody>
      </p:sp>
      <p:sp>
        <p:nvSpPr>
          <p:cNvPr id="91" name="Text Box 88"/>
          <p:cNvSpPr txBox="1">
            <a:spLocks noChangeArrowheads="1"/>
          </p:cNvSpPr>
          <p:nvPr/>
        </p:nvSpPr>
        <p:spPr bwMode="auto">
          <a:xfrm>
            <a:off x="5287593" y="287131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5</a:t>
            </a:r>
          </a:p>
        </p:txBody>
      </p:sp>
      <p:sp>
        <p:nvSpPr>
          <p:cNvPr id="92" name="Text Box 89"/>
          <p:cNvSpPr txBox="1">
            <a:spLocks noChangeArrowheads="1"/>
          </p:cNvSpPr>
          <p:nvPr/>
        </p:nvSpPr>
        <p:spPr bwMode="auto">
          <a:xfrm>
            <a:off x="2813740" y="190253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2</a:t>
            </a:r>
          </a:p>
        </p:txBody>
      </p:sp>
      <p:grpSp>
        <p:nvGrpSpPr>
          <p:cNvPr id="93" name="Group 92"/>
          <p:cNvGrpSpPr>
            <a:grpSpLocks/>
          </p:cNvGrpSpPr>
          <p:nvPr/>
        </p:nvGrpSpPr>
        <p:grpSpPr bwMode="auto">
          <a:xfrm>
            <a:off x="5350606" y="1489376"/>
            <a:ext cx="617180" cy="147877"/>
            <a:chOff x="3107" y="572"/>
            <a:chExt cx="408" cy="91"/>
          </a:xfrm>
        </p:grpSpPr>
        <p:grpSp>
          <p:nvGrpSpPr>
            <p:cNvPr id="94" name="Group 93"/>
            <p:cNvGrpSpPr>
              <a:grpSpLocks/>
            </p:cNvGrpSpPr>
            <p:nvPr/>
          </p:nvGrpSpPr>
          <p:grpSpPr bwMode="auto">
            <a:xfrm>
              <a:off x="3107" y="572"/>
              <a:ext cx="317" cy="90"/>
              <a:chOff x="4105" y="1253"/>
              <a:chExt cx="317" cy="90"/>
            </a:xfrm>
          </p:grpSpPr>
          <p:sp>
            <p:nvSpPr>
              <p:cNvPr id="98" name="Rectangle 94"/>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9" name="Line 95"/>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95" name="Group 96"/>
            <p:cNvGrpSpPr>
              <a:grpSpLocks/>
            </p:cNvGrpSpPr>
            <p:nvPr/>
          </p:nvGrpSpPr>
          <p:grpSpPr bwMode="auto">
            <a:xfrm>
              <a:off x="3424" y="572"/>
              <a:ext cx="91" cy="91"/>
              <a:chOff x="3470" y="572"/>
              <a:chExt cx="91" cy="91"/>
            </a:xfrm>
          </p:grpSpPr>
          <p:sp>
            <p:nvSpPr>
              <p:cNvPr id="96" name="Line 97"/>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7" name="Line 98"/>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100" name="Group 99"/>
          <p:cNvGrpSpPr>
            <a:grpSpLocks/>
          </p:cNvGrpSpPr>
          <p:nvPr/>
        </p:nvGrpSpPr>
        <p:grpSpPr bwMode="auto">
          <a:xfrm>
            <a:off x="5350606" y="1233288"/>
            <a:ext cx="479572" cy="145981"/>
            <a:chOff x="4105" y="1253"/>
            <a:chExt cx="317" cy="90"/>
          </a:xfrm>
        </p:grpSpPr>
        <p:sp>
          <p:nvSpPr>
            <p:cNvPr id="101" name="Rectangle 100"/>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Line 101"/>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03" name="Text Box 102"/>
          <p:cNvSpPr txBox="1">
            <a:spLocks noChangeArrowheads="1"/>
          </p:cNvSpPr>
          <p:nvPr/>
        </p:nvSpPr>
        <p:spPr bwMode="auto">
          <a:xfrm>
            <a:off x="5967481" y="1151766"/>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微软雅黑 Light" panose="020B0502040204020203" pitchFamily="34" charset="-122"/>
                <a:ea typeface="微软雅黑 Light" panose="020B0502040204020203" pitchFamily="34" charset="-122"/>
              </a:rPr>
              <a:t>转发多播数据报</a:t>
            </a:r>
          </a:p>
        </p:txBody>
      </p:sp>
      <p:sp>
        <p:nvSpPr>
          <p:cNvPr id="104" name="Text Box 103"/>
          <p:cNvSpPr txBox="1">
            <a:spLocks noChangeArrowheads="1"/>
          </p:cNvSpPr>
          <p:nvPr/>
        </p:nvSpPr>
        <p:spPr bwMode="auto">
          <a:xfrm>
            <a:off x="5982163" y="140975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微软雅黑 Light" panose="020B0502040204020203" pitchFamily="34" charset="-122"/>
                <a:ea typeface="微软雅黑 Light" panose="020B0502040204020203" pitchFamily="34" charset="-122"/>
              </a:rPr>
              <a:t>收到后即丢弃</a:t>
            </a:r>
          </a:p>
        </p:txBody>
      </p:sp>
      <p:sp>
        <p:nvSpPr>
          <p:cNvPr id="107" name="Text Box 126"/>
          <p:cNvSpPr txBox="1">
            <a:spLocks noChangeArrowheads="1"/>
          </p:cNvSpPr>
          <p:nvPr/>
        </p:nvSpPr>
        <p:spPr bwMode="auto">
          <a:xfrm>
            <a:off x="960303" y="2019789"/>
            <a:ext cx="1785473"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en-US" sz="1400" dirty="0">
                <a:latin typeface="微软雅黑 Light" panose="020B0502040204020203" pitchFamily="34" charset="-122"/>
                <a:ea typeface="微软雅黑 Light" panose="020B0502040204020203" pitchFamily="34" charset="-122"/>
              </a:rPr>
              <a:t>反向路径广播 </a:t>
            </a:r>
            <a:r>
              <a:rPr kumimoji="1" lang="en-US" altLang="zh-CN" sz="1400" dirty="0">
                <a:latin typeface="微软雅黑 Light" panose="020B0502040204020203" pitchFamily="34" charset="-122"/>
                <a:ea typeface="微软雅黑 Light" panose="020B0502040204020203" pitchFamily="34" charset="-122"/>
              </a:rPr>
              <a:t>RPB </a:t>
            </a:r>
            <a:r>
              <a:rPr kumimoji="1" lang="zh-CN" altLang="en-US" sz="1400" dirty="0">
                <a:latin typeface="微软雅黑 Light" panose="020B0502040204020203" pitchFamily="34" charset="-122"/>
                <a:ea typeface="微软雅黑 Light" panose="020B0502040204020203" pitchFamily="34" charset="-122"/>
              </a:rPr>
              <a:t>和剪除 </a:t>
            </a:r>
          </a:p>
        </p:txBody>
      </p:sp>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95893" y="797155"/>
            <a:ext cx="488885" cy="4888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04985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787573" y="2773022"/>
            <a:ext cx="5356542" cy="1305807"/>
            <a:chOff x="257860" y="4685074"/>
            <a:chExt cx="8569829" cy="2089136"/>
          </a:xfrm>
        </p:grpSpPr>
        <p:sp>
          <p:nvSpPr>
            <p:cNvPr id="6" name="AutoShape 60"/>
            <p:cNvSpPr>
              <a:spLocks noChangeArrowheads="1"/>
            </p:cNvSpPr>
            <p:nvPr/>
          </p:nvSpPr>
          <p:spPr bwMode="auto">
            <a:xfrm>
              <a:off x="257860" y="5937344"/>
              <a:ext cx="624284" cy="215900"/>
            </a:xfrm>
            <a:prstGeom prst="leftArrow">
              <a:avLst>
                <a:gd name="adj1" fmla="val 50000"/>
                <a:gd name="adj2" fmla="val 66728"/>
              </a:avLst>
            </a:prstGeom>
            <a:solidFill>
              <a:srgbClr val="FFFF00"/>
            </a:solidFill>
            <a:ln w="9525">
              <a:solidFill>
                <a:schemeClr val="tx1"/>
              </a:solidFill>
              <a:miter lim="800000"/>
              <a:headEnd/>
              <a:tailEnd/>
            </a:ln>
            <a:effec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7" name="Line 7"/>
            <p:cNvSpPr>
              <a:spLocks noChangeShapeType="1"/>
            </p:cNvSpPr>
            <p:nvPr/>
          </p:nvSpPr>
          <p:spPr bwMode="auto">
            <a:xfrm>
              <a:off x="1858985" y="4910499"/>
              <a:ext cx="339830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8" name="Line 8"/>
            <p:cNvSpPr>
              <a:spLocks noChangeShapeType="1"/>
            </p:cNvSpPr>
            <p:nvPr/>
          </p:nvSpPr>
          <p:spPr bwMode="auto">
            <a:xfrm>
              <a:off x="765198" y="6558057"/>
              <a:ext cx="4412985"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9" name="Rectangle 13"/>
            <p:cNvSpPr>
              <a:spLocks noChangeArrowheads="1"/>
            </p:cNvSpPr>
            <p:nvPr/>
          </p:nvSpPr>
          <p:spPr bwMode="auto">
            <a:xfrm>
              <a:off x="2574419" y="4752669"/>
              <a:ext cx="1828139" cy="3079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0" name="Rectangle 14"/>
            <p:cNvSpPr>
              <a:spLocks noChangeArrowheads="1"/>
            </p:cNvSpPr>
            <p:nvPr/>
          </p:nvSpPr>
          <p:spPr bwMode="auto">
            <a:xfrm>
              <a:off x="2037843" y="6406564"/>
              <a:ext cx="2166938" cy="29212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1" name="Text Box 15"/>
            <p:cNvSpPr txBox="1">
              <a:spLocks noChangeArrowheads="1"/>
            </p:cNvSpPr>
            <p:nvPr/>
          </p:nvSpPr>
          <p:spPr bwMode="auto">
            <a:xfrm>
              <a:off x="2725261" y="4685074"/>
              <a:ext cx="152645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多播数据报</a:t>
              </a:r>
            </a:p>
          </p:txBody>
        </p:sp>
        <p:sp>
          <p:nvSpPr>
            <p:cNvPr id="12" name="Text Box 16"/>
            <p:cNvSpPr txBox="1">
              <a:spLocks noChangeArrowheads="1"/>
            </p:cNvSpPr>
            <p:nvPr/>
          </p:nvSpPr>
          <p:spPr bwMode="auto">
            <a:xfrm>
              <a:off x="2161890" y="6331045"/>
              <a:ext cx="191884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rgbClr val="0000FF"/>
                  </a:solidFill>
                  <a:latin typeface="微软雅黑 Light" panose="020B0502040204020203" pitchFamily="34" charset="-122"/>
                  <a:ea typeface="微软雅黑 Light" panose="020B0502040204020203" pitchFamily="34" charset="-122"/>
                </a:rPr>
                <a:t>单播 </a:t>
              </a:r>
              <a:r>
                <a:rPr kumimoji="1" lang="en-US" altLang="zh-CN" sz="1200"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dirty="0">
                  <a:solidFill>
                    <a:srgbClr val="0000FF"/>
                  </a:solidFill>
                  <a:latin typeface="微软雅黑 Light" panose="020B0502040204020203" pitchFamily="34" charset="-122"/>
                  <a:ea typeface="微软雅黑 Light" panose="020B0502040204020203" pitchFamily="34" charset="-122"/>
                </a:rPr>
                <a:t>数据报</a:t>
              </a:r>
            </a:p>
          </p:txBody>
        </p:sp>
        <p:sp>
          <p:nvSpPr>
            <p:cNvPr id="13" name="Rectangle 17"/>
            <p:cNvSpPr>
              <a:spLocks noChangeArrowheads="1"/>
            </p:cNvSpPr>
            <p:nvPr/>
          </p:nvSpPr>
          <p:spPr bwMode="auto">
            <a:xfrm>
              <a:off x="1858985" y="5119594"/>
              <a:ext cx="3338116" cy="4140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4" name="Text Box 18"/>
            <p:cNvSpPr txBox="1">
              <a:spLocks noChangeArrowheads="1"/>
            </p:cNvSpPr>
            <p:nvPr/>
          </p:nvSpPr>
          <p:spPr bwMode="auto">
            <a:xfrm>
              <a:off x="2022366" y="5091831"/>
              <a:ext cx="787850"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首部</a:t>
              </a:r>
            </a:p>
          </p:txBody>
        </p:sp>
        <p:sp>
          <p:nvSpPr>
            <p:cNvPr id="15" name="Text Box 19"/>
            <p:cNvSpPr txBox="1">
              <a:spLocks noChangeArrowheads="1"/>
            </p:cNvSpPr>
            <p:nvPr/>
          </p:nvSpPr>
          <p:spPr bwMode="auto">
            <a:xfrm>
              <a:off x="3571898" y="5109294"/>
              <a:ext cx="93659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数  据</a:t>
              </a:r>
            </a:p>
          </p:txBody>
        </p:sp>
        <p:sp>
          <p:nvSpPr>
            <p:cNvPr id="16" name="Line 20"/>
            <p:cNvSpPr>
              <a:spLocks noChangeShapeType="1"/>
            </p:cNvSpPr>
            <p:nvPr/>
          </p:nvSpPr>
          <p:spPr bwMode="auto">
            <a:xfrm>
              <a:off x="2932135" y="5119593"/>
              <a:ext cx="0" cy="41400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7" name="Rectangle 21"/>
            <p:cNvSpPr>
              <a:spLocks noChangeArrowheads="1"/>
            </p:cNvSpPr>
            <p:nvPr/>
          </p:nvSpPr>
          <p:spPr bwMode="auto">
            <a:xfrm>
              <a:off x="785835" y="5827806"/>
              <a:ext cx="4411266" cy="414000"/>
            </a:xfrm>
            <a:prstGeom prst="rect">
              <a:avLst/>
            </a:prstGeom>
            <a:solidFill>
              <a:schemeClr val="bg1"/>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8" name="Rectangle 22"/>
            <p:cNvSpPr>
              <a:spLocks noChangeArrowheads="1"/>
            </p:cNvSpPr>
            <p:nvPr/>
          </p:nvSpPr>
          <p:spPr bwMode="auto">
            <a:xfrm>
              <a:off x="800188" y="5839804"/>
              <a:ext cx="1057078" cy="3888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9" name="Rectangle 23"/>
            <p:cNvSpPr>
              <a:spLocks noChangeArrowheads="1"/>
            </p:cNvSpPr>
            <p:nvPr/>
          </p:nvSpPr>
          <p:spPr bwMode="auto">
            <a:xfrm>
              <a:off x="1857266" y="5848444"/>
              <a:ext cx="3339835" cy="38520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0" name="Line 24"/>
            <p:cNvSpPr>
              <a:spLocks noChangeShapeType="1"/>
            </p:cNvSpPr>
            <p:nvPr/>
          </p:nvSpPr>
          <p:spPr bwMode="auto">
            <a:xfrm>
              <a:off x="1858985" y="5827807"/>
              <a:ext cx="0" cy="4139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1" name="Text Box 25"/>
            <p:cNvSpPr txBox="1">
              <a:spLocks noChangeArrowheads="1"/>
            </p:cNvSpPr>
            <p:nvPr/>
          </p:nvSpPr>
          <p:spPr bwMode="auto">
            <a:xfrm>
              <a:off x="939232" y="5812155"/>
              <a:ext cx="787850"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chemeClr val="bg1"/>
                  </a:solidFill>
                  <a:latin typeface="微软雅黑 Light" panose="020B0502040204020203" pitchFamily="34" charset="-122"/>
                  <a:ea typeface="微软雅黑 Light" panose="020B0502040204020203" pitchFamily="34" charset="-122"/>
                </a:rPr>
                <a:t>首部</a:t>
              </a:r>
            </a:p>
          </p:txBody>
        </p:sp>
        <p:sp>
          <p:nvSpPr>
            <p:cNvPr id="22" name="Text Box 26"/>
            <p:cNvSpPr txBox="1">
              <a:spLocks noChangeArrowheads="1"/>
            </p:cNvSpPr>
            <p:nvPr/>
          </p:nvSpPr>
          <p:spPr bwMode="auto">
            <a:xfrm>
              <a:off x="2878822" y="5825445"/>
              <a:ext cx="1234092"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微软雅黑 Light" panose="020B0502040204020203" pitchFamily="34" charset="-122"/>
                  <a:ea typeface="微软雅黑 Light" panose="020B0502040204020203" pitchFamily="34" charset="-122"/>
                </a:rPr>
                <a:t>数      据</a:t>
              </a:r>
            </a:p>
          </p:txBody>
        </p:sp>
        <p:sp>
          <p:nvSpPr>
            <p:cNvPr id="23" name="AutoShape 27"/>
            <p:cNvSpPr>
              <a:spLocks noChangeArrowheads="1"/>
            </p:cNvSpPr>
            <p:nvPr/>
          </p:nvSpPr>
          <p:spPr bwMode="auto">
            <a:xfrm>
              <a:off x="3350047" y="5517232"/>
              <a:ext cx="221852" cy="487804"/>
            </a:xfrm>
            <a:prstGeom prst="downArrow">
              <a:avLst>
                <a:gd name="adj1" fmla="val 50000"/>
                <a:gd name="adj2" fmla="val 66667"/>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4" name="Line 28"/>
            <p:cNvSpPr>
              <a:spLocks noChangeShapeType="1"/>
            </p:cNvSpPr>
            <p:nvPr/>
          </p:nvSpPr>
          <p:spPr bwMode="auto">
            <a:xfrm>
              <a:off x="1858985"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5" name="Line 29"/>
            <p:cNvSpPr>
              <a:spLocks noChangeShapeType="1"/>
            </p:cNvSpPr>
            <p:nvPr/>
          </p:nvSpPr>
          <p:spPr bwMode="auto">
            <a:xfrm>
              <a:off x="5197101"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6" name="Text Box 31"/>
            <p:cNvSpPr txBox="1">
              <a:spLocks noChangeArrowheads="1"/>
            </p:cNvSpPr>
            <p:nvPr/>
          </p:nvSpPr>
          <p:spPr bwMode="auto">
            <a:xfrm>
              <a:off x="5246975" y="5117122"/>
              <a:ext cx="358071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网 </a:t>
              </a:r>
              <a:r>
                <a:rPr kumimoji="1" lang="en-US" altLang="zh-CN" sz="1200" dirty="0">
                  <a:solidFill>
                    <a:srgbClr val="0000FF"/>
                  </a:solidFill>
                  <a:latin typeface="微软雅黑 Light" panose="020B0502040204020203" pitchFamily="34" charset="-122"/>
                  <a:ea typeface="微软雅黑 Light" panose="020B0502040204020203" pitchFamily="34" charset="-122"/>
                </a:rPr>
                <a:t>N</a:t>
              </a:r>
              <a:r>
                <a:rPr kumimoji="1" lang="en-US" altLang="zh-CN" sz="1200" baseline="-25000" dirty="0">
                  <a:solidFill>
                    <a:srgbClr val="0000FF"/>
                  </a:solidFill>
                  <a:latin typeface="微软雅黑 Light" panose="020B0502040204020203" pitchFamily="34" charset="-122"/>
                  <a:ea typeface="微软雅黑 Light" panose="020B0502040204020203" pitchFamily="34" charset="-122"/>
                </a:rPr>
                <a:t>1</a:t>
              </a:r>
              <a:r>
                <a:rPr kumimoji="1" lang="en-US" altLang="zh-CN" sz="1200" dirty="0">
                  <a:solidFill>
                    <a:srgbClr val="0000FF"/>
                  </a:solidFill>
                  <a:latin typeface="微软雅黑 Light" panose="020B0502040204020203" pitchFamily="34" charset="-122"/>
                  <a:ea typeface="微软雅黑 Light" panose="020B0502040204020203" pitchFamily="34" charset="-122"/>
                </a:rPr>
                <a:t> </a:t>
              </a:r>
              <a:r>
                <a:rPr kumimoji="1" lang="zh-CN" altLang="en-US" sz="1200" dirty="0">
                  <a:solidFill>
                    <a:srgbClr val="0000FF"/>
                  </a:solidFill>
                  <a:latin typeface="微软雅黑 Light" panose="020B0502040204020203" pitchFamily="34" charset="-122"/>
                  <a:ea typeface="微软雅黑 Light" panose="020B0502040204020203" pitchFamily="34" charset="-122"/>
                </a:rPr>
                <a:t>和网 </a:t>
              </a:r>
              <a:r>
                <a:rPr kumimoji="1" lang="en-US" altLang="zh-CN" sz="1200" dirty="0">
                  <a:solidFill>
                    <a:srgbClr val="0000FF"/>
                  </a:solidFill>
                  <a:latin typeface="微软雅黑 Light" panose="020B0502040204020203" pitchFamily="34" charset="-122"/>
                  <a:ea typeface="微软雅黑 Light" panose="020B0502040204020203" pitchFamily="34" charset="-122"/>
                </a:rPr>
                <a:t>N</a:t>
              </a:r>
              <a:r>
                <a:rPr kumimoji="1" lang="en-US" altLang="zh-CN" sz="1200" baseline="-25000" dirty="0">
                  <a:solidFill>
                    <a:srgbClr val="0000FF"/>
                  </a:solidFill>
                  <a:latin typeface="微软雅黑 Light" panose="020B0502040204020203" pitchFamily="34" charset="-122"/>
                  <a:ea typeface="微软雅黑 Light" panose="020B0502040204020203" pitchFamily="34" charset="-122"/>
                </a:rPr>
                <a:t>2</a:t>
              </a:r>
              <a:r>
                <a:rPr kumimoji="1" lang="en-US" altLang="zh-CN" sz="1200" dirty="0">
                  <a:solidFill>
                    <a:srgbClr val="0000FF"/>
                  </a:solidFill>
                  <a:latin typeface="微软雅黑 Light" panose="020B0502040204020203" pitchFamily="34" charset="-122"/>
                  <a:ea typeface="微软雅黑 Light" panose="020B0502040204020203" pitchFamily="34" charset="-122"/>
                </a:rPr>
                <a:t> </a:t>
              </a:r>
              <a:r>
                <a:rPr kumimoji="1" lang="zh-CN" altLang="en-US" sz="1200" dirty="0">
                  <a:solidFill>
                    <a:srgbClr val="0000FF"/>
                  </a:solidFill>
                  <a:latin typeface="微软雅黑 Light" panose="020B0502040204020203" pitchFamily="34" charset="-122"/>
                  <a:ea typeface="微软雅黑 Light" panose="020B0502040204020203" pitchFamily="34" charset="-122"/>
                </a:rPr>
                <a:t>中的多播数据报</a:t>
              </a:r>
            </a:p>
          </p:txBody>
        </p:sp>
        <p:sp>
          <p:nvSpPr>
            <p:cNvPr id="27" name="Text Box 32"/>
            <p:cNvSpPr txBox="1">
              <a:spLocks noChangeArrowheads="1"/>
            </p:cNvSpPr>
            <p:nvPr/>
          </p:nvSpPr>
          <p:spPr bwMode="auto">
            <a:xfrm>
              <a:off x="5246975" y="5805264"/>
              <a:ext cx="3396063"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隧道中通行的单播 </a:t>
              </a:r>
              <a:r>
                <a:rPr kumimoji="1" lang="en-US" altLang="zh-CN" sz="1200"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dirty="0">
                  <a:solidFill>
                    <a:srgbClr val="0000FF"/>
                  </a:solidFill>
                  <a:latin typeface="微软雅黑 Light" panose="020B0502040204020203" pitchFamily="34" charset="-122"/>
                  <a:ea typeface="微软雅黑 Light" panose="020B0502040204020203" pitchFamily="34" charset="-122"/>
                </a:rPr>
                <a:t>数据报</a:t>
              </a:r>
            </a:p>
          </p:txBody>
        </p:sp>
      </p:grpSp>
      <p:graphicFrame>
        <p:nvGraphicFramePr>
          <p:cNvPr id="29" name="Object 4"/>
          <p:cNvGraphicFramePr>
            <a:graphicFrameLocks noChangeAspect="1"/>
          </p:cNvGraphicFramePr>
          <p:nvPr>
            <p:extLst>
              <p:ext uri="{D42A27DB-BD31-4B8C-83A1-F6EECF244321}">
                <p14:modId xmlns:p14="http://schemas.microsoft.com/office/powerpoint/2010/main" val="3785672616"/>
              </p:ext>
            </p:extLst>
          </p:nvPr>
        </p:nvGraphicFramePr>
        <p:xfrm>
          <a:off x="3145044" y="1508506"/>
          <a:ext cx="3131329" cy="1338016"/>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4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45044" y="1508506"/>
                        <a:ext cx="3131329" cy="133801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 name="Line 5"/>
          <p:cNvSpPr>
            <a:spLocks noChangeShapeType="1"/>
          </p:cNvSpPr>
          <p:nvPr/>
        </p:nvSpPr>
        <p:spPr bwMode="auto">
          <a:xfrm>
            <a:off x="6649381" y="1508505"/>
            <a:ext cx="0" cy="73030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pic>
        <p:nvPicPr>
          <p:cNvPr id="31" name="Picture 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5054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2" name="Line 9"/>
          <p:cNvSpPr>
            <a:spLocks noChangeShapeType="1"/>
          </p:cNvSpPr>
          <p:nvPr/>
        </p:nvSpPr>
        <p:spPr bwMode="auto">
          <a:xfrm>
            <a:off x="2792239" y="1508506"/>
            <a:ext cx="0" cy="7908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3" name="Text Box 10"/>
          <p:cNvSpPr txBox="1">
            <a:spLocks noChangeArrowheads="1"/>
          </p:cNvSpPr>
          <p:nvPr/>
        </p:nvSpPr>
        <p:spPr bwMode="auto">
          <a:xfrm>
            <a:off x="4187498" y="1704632"/>
            <a:ext cx="95410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C00000"/>
                </a:solidFill>
                <a:latin typeface="微软雅黑" pitchFamily="34" charset="-122"/>
                <a:ea typeface="微软雅黑" pitchFamily="34" charset="-122"/>
              </a:rPr>
              <a:t>不支持多播</a:t>
            </a:r>
          </a:p>
          <a:p>
            <a:r>
              <a:rPr kumimoji="1" lang="zh-CN" altLang="en-US" sz="1200" b="1" dirty="0">
                <a:solidFill>
                  <a:srgbClr val="C00000"/>
                </a:solidFill>
                <a:latin typeface="微软雅黑" pitchFamily="34" charset="-122"/>
                <a:ea typeface="微软雅黑" pitchFamily="34" charset="-122"/>
              </a:rPr>
              <a:t>   的网络</a:t>
            </a:r>
          </a:p>
        </p:txBody>
      </p:sp>
      <p:sp>
        <p:nvSpPr>
          <p:cNvPr id="35" name="AutoShape 30"/>
          <p:cNvSpPr>
            <a:spLocks noChangeArrowheads="1"/>
          </p:cNvSpPr>
          <p:nvPr/>
        </p:nvSpPr>
        <p:spPr bwMode="auto">
          <a:xfrm rot="16200000">
            <a:off x="4578435" y="766333"/>
            <a:ext cx="264547" cy="3131329"/>
          </a:xfrm>
          <a:prstGeom prst="can">
            <a:avLst>
              <a:gd name="adj" fmla="val 58855"/>
            </a:avLst>
          </a:prstGeom>
          <a:gradFill rotWithShape="1">
            <a:gsLst>
              <a:gs pos="0">
                <a:srgbClr val="00B050"/>
              </a:gs>
              <a:gs pos="50000">
                <a:schemeClr val="bg1"/>
              </a:gs>
              <a:gs pos="100000">
                <a:srgbClr val="00B050"/>
              </a:gs>
            </a:gsLst>
            <a:lin ang="0" scaled="1"/>
          </a:gradFill>
          <a:ln w="12700">
            <a:solidFill>
              <a:schemeClr val="tx1"/>
            </a:solidFill>
            <a:round/>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AutoShape 2"/>
          <p:cNvSpPr>
            <a:spLocks noChangeArrowheads="1"/>
          </p:cNvSpPr>
          <p:nvPr/>
        </p:nvSpPr>
        <p:spPr bwMode="auto">
          <a:xfrm>
            <a:off x="6214085" y="2694816"/>
            <a:ext cx="662711" cy="288113"/>
          </a:xfrm>
          <a:prstGeom prst="wedgeRoundRectCallout">
            <a:avLst>
              <a:gd name="adj1" fmla="val -75263"/>
              <a:gd name="adj2" fmla="val -156036"/>
              <a:gd name="adj3" fmla="val 16667"/>
            </a:avLst>
          </a:prstGeom>
          <a:solidFill>
            <a:srgbClr val="00FF99"/>
          </a:solidFill>
          <a:ln w="12700">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隧 道</a:t>
            </a:r>
            <a:endParaRPr kumimoji="1" lang="zh-CN" altLang="zh-CN" sz="1200" b="1" dirty="0">
              <a:latin typeface="微软雅黑" pitchFamily="34" charset="-122"/>
              <a:ea typeface="微软雅黑" pitchFamily="34" charset="-122"/>
            </a:endParaRPr>
          </a:p>
        </p:txBody>
      </p:sp>
      <p:pic>
        <p:nvPicPr>
          <p:cNvPr id="37" name="Picture 3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0010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8" name="Text Box 54"/>
          <p:cNvSpPr txBox="1">
            <a:spLocks noChangeArrowheads="1"/>
          </p:cNvSpPr>
          <p:nvPr/>
        </p:nvSpPr>
        <p:spPr bwMode="auto">
          <a:xfrm>
            <a:off x="6713879" y="191116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2</a:t>
            </a:r>
            <a:endParaRPr kumimoji="1" lang="en-US" altLang="zh-CN" sz="1200" b="1" dirty="0">
              <a:solidFill>
                <a:srgbClr val="0000FF"/>
              </a:solidFill>
              <a:latin typeface="微软雅黑" pitchFamily="34" charset="-122"/>
              <a:ea typeface="微软雅黑" pitchFamily="34" charset="-122"/>
            </a:endParaRPr>
          </a:p>
        </p:txBody>
      </p:sp>
      <p:sp>
        <p:nvSpPr>
          <p:cNvPr id="39" name="Text Box 55"/>
          <p:cNvSpPr txBox="1">
            <a:spLocks noChangeArrowheads="1"/>
          </p:cNvSpPr>
          <p:nvPr/>
        </p:nvSpPr>
        <p:spPr bwMode="auto">
          <a:xfrm>
            <a:off x="2421396" y="190392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1</a:t>
            </a:r>
            <a:endParaRPr kumimoji="1" lang="en-US" altLang="zh-CN" sz="1200" b="1" dirty="0">
              <a:solidFill>
                <a:srgbClr val="0000FF"/>
              </a:solidFill>
              <a:latin typeface="微软雅黑" pitchFamily="34" charset="-122"/>
              <a:ea typeface="微软雅黑" pitchFamily="34" charset="-122"/>
            </a:endParaRPr>
          </a:p>
        </p:txBody>
      </p:sp>
      <p:sp>
        <p:nvSpPr>
          <p:cNvPr id="41" name="Freeform 58"/>
          <p:cNvSpPr>
            <a:spLocks/>
          </p:cNvSpPr>
          <p:nvPr/>
        </p:nvSpPr>
        <p:spPr bwMode="auto">
          <a:xfrm>
            <a:off x="2878458" y="1732757"/>
            <a:ext cx="3661279" cy="600318"/>
          </a:xfrm>
          <a:custGeom>
            <a:avLst/>
            <a:gdLst>
              <a:gd name="T0" fmla="*/ 22 w 2358"/>
              <a:gd name="T1" fmla="*/ 42 h 492"/>
              <a:gd name="T2" fmla="*/ 52 w 2358"/>
              <a:gd name="T3" fmla="*/ 402 h 492"/>
              <a:gd name="T4" fmla="*/ 331 w 2358"/>
              <a:gd name="T5" fmla="*/ 492 h 492"/>
              <a:gd name="T6" fmla="*/ 2026 w 2358"/>
              <a:gd name="T7" fmla="*/ 492 h 492"/>
              <a:gd name="T8" fmla="*/ 2326 w 2358"/>
              <a:gd name="T9" fmla="*/ 366 h 492"/>
              <a:gd name="T10" fmla="*/ 2356 w 2358"/>
              <a:gd name="T11" fmla="*/ 0 h 492"/>
            </a:gdLst>
            <a:ahLst/>
            <a:cxnLst>
              <a:cxn ang="0">
                <a:pos x="T0" y="T1"/>
              </a:cxn>
              <a:cxn ang="0">
                <a:pos x="T2" y="T3"/>
              </a:cxn>
              <a:cxn ang="0">
                <a:pos x="T4" y="T5"/>
              </a:cxn>
              <a:cxn ang="0">
                <a:pos x="T6" y="T7"/>
              </a:cxn>
              <a:cxn ang="0">
                <a:pos x="T8" y="T9"/>
              </a:cxn>
              <a:cxn ang="0">
                <a:pos x="T10" y="T11"/>
              </a:cxn>
            </a:cxnLst>
            <a:rect l="0" t="0" r="r" b="b"/>
            <a:pathLst>
              <a:path w="2358" h="492">
                <a:moveTo>
                  <a:pt x="22" y="42"/>
                </a:moveTo>
                <a:cubicBezTo>
                  <a:pt x="27" y="103"/>
                  <a:pt x="0" y="327"/>
                  <a:pt x="52" y="402"/>
                </a:cubicBezTo>
                <a:cubicBezTo>
                  <a:pt x="105" y="469"/>
                  <a:pt x="17" y="487"/>
                  <a:pt x="331" y="492"/>
                </a:cubicBezTo>
                <a:lnTo>
                  <a:pt x="2026" y="492"/>
                </a:lnTo>
                <a:cubicBezTo>
                  <a:pt x="2358" y="471"/>
                  <a:pt x="2271" y="448"/>
                  <a:pt x="2326" y="366"/>
                </a:cubicBezTo>
                <a:cubicBezTo>
                  <a:pt x="2358" y="284"/>
                  <a:pt x="2349" y="79"/>
                  <a:pt x="2356" y="0"/>
                </a:cubicBezTo>
              </a:path>
            </a:pathLst>
          </a:custGeom>
          <a:noFill/>
          <a:ln w="57150" cap="flat" cmpd="sng">
            <a:solidFill>
              <a:srgbClr val="CC00CC"/>
            </a:solidFill>
            <a:prstDash val="solid"/>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矩形 44"/>
          <p:cNvSpPr/>
          <p:nvPr/>
        </p:nvSpPr>
        <p:spPr>
          <a:xfrm>
            <a:off x="3182473" y="4216620"/>
            <a:ext cx="2927903"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隧道技术在多播中的应用</a:t>
            </a:r>
            <a:endParaRPr lang="zh-CN" altLang="en-US" sz="1400" b="1" dirty="0">
              <a:latin typeface="微软雅黑" pitchFamily="34" charset="-122"/>
              <a:ea typeface="微软雅黑" pitchFamily="34" charset="-122"/>
            </a:endParaRPr>
          </a:p>
        </p:txBody>
      </p:sp>
      <p:grpSp>
        <p:nvGrpSpPr>
          <p:cNvPr id="47" name="Group 37"/>
          <p:cNvGrpSpPr>
            <a:grpSpLocks/>
          </p:cNvGrpSpPr>
          <p:nvPr/>
        </p:nvGrpSpPr>
        <p:grpSpPr bwMode="auto">
          <a:xfrm>
            <a:off x="2072913" y="1093708"/>
            <a:ext cx="1438651" cy="628810"/>
            <a:chOff x="912" y="768"/>
            <a:chExt cx="2400" cy="1584"/>
          </a:xfrm>
          <a:solidFill>
            <a:srgbClr val="3399FF"/>
          </a:solidFill>
          <a:effectLst/>
        </p:grpSpPr>
        <p:sp>
          <p:nvSpPr>
            <p:cNvPr id="4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57" name="Group 47"/>
            <p:cNvGrpSpPr>
              <a:grpSpLocks/>
            </p:cNvGrpSpPr>
            <p:nvPr/>
          </p:nvGrpSpPr>
          <p:grpSpPr bwMode="auto">
            <a:xfrm>
              <a:off x="912" y="768"/>
              <a:ext cx="2386" cy="1553"/>
              <a:chOff x="912" y="768"/>
              <a:chExt cx="2386" cy="1553"/>
            </a:xfrm>
            <a:grpFill/>
          </p:grpSpPr>
          <p:sp>
            <p:nvSpPr>
              <p:cNvPr id="5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4" name="Text Box 56"/>
          <p:cNvSpPr txBox="1">
            <a:spLocks noChangeArrowheads="1"/>
          </p:cNvSpPr>
          <p:nvPr/>
        </p:nvSpPr>
        <p:spPr bwMode="auto">
          <a:xfrm>
            <a:off x="2258502"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网 </a:t>
            </a:r>
            <a:r>
              <a:rPr kumimoji="1" lang="en-US" altLang="zh-CN" sz="1200" dirty="0">
                <a:solidFill>
                  <a:schemeClr val="bg1"/>
                </a:solidFill>
                <a:latin typeface="微软雅黑 Light" panose="020B0502040204020203" pitchFamily="34" charset="-122"/>
                <a:ea typeface="微软雅黑 Light" panose="020B0502040204020203" pitchFamily="34" charset="-122"/>
              </a:rPr>
              <a:t>N</a:t>
            </a:r>
            <a:r>
              <a:rPr kumimoji="1" lang="en-US" altLang="zh-CN" sz="1200" baseline="-25000" dirty="0">
                <a:solidFill>
                  <a:schemeClr val="bg1"/>
                </a:solidFill>
                <a:latin typeface="微软雅黑 Light" panose="020B0502040204020203" pitchFamily="34" charset="-122"/>
                <a:ea typeface="微软雅黑 Light" panose="020B0502040204020203" pitchFamily="34" charset="-122"/>
              </a:rPr>
              <a:t>1</a:t>
            </a:r>
            <a:r>
              <a:rPr kumimoji="1" lang="en-US" altLang="zh-CN" sz="1200" dirty="0">
                <a:solidFill>
                  <a:schemeClr val="bg1"/>
                </a:solidFill>
                <a:latin typeface="微软雅黑 Light" panose="020B0502040204020203" pitchFamily="34" charset="-122"/>
                <a:ea typeface="微软雅黑 Light" panose="020B0502040204020203" pitchFamily="34" charset="-122"/>
              </a:rPr>
              <a:t> </a:t>
            </a:r>
          </a:p>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（支持多播）</a:t>
            </a:r>
          </a:p>
        </p:txBody>
      </p:sp>
      <p:grpSp>
        <p:nvGrpSpPr>
          <p:cNvPr id="67" name="Group 37"/>
          <p:cNvGrpSpPr>
            <a:grpSpLocks/>
          </p:cNvGrpSpPr>
          <p:nvPr/>
        </p:nvGrpSpPr>
        <p:grpSpPr bwMode="auto">
          <a:xfrm>
            <a:off x="5869108" y="1093708"/>
            <a:ext cx="1438651" cy="628810"/>
            <a:chOff x="912" y="768"/>
            <a:chExt cx="2400" cy="1584"/>
          </a:xfrm>
          <a:solidFill>
            <a:srgbClr val="3399FF"/>
          </a:solidFill>
          <a:effectLst/>
        </p:grpSpPr>
        <p:sp>
          <p:nvSpPr>
            <p:cNvPr id="6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77" name="Group 47"/>
            <p:cNvGrpSpPr>
              <a:grpSpLocks/>
            </p:cNvGrpSpPr>
            <p:nvPr/>
          </p:nvGrpSpPr>
          <p:grpSpPr bwMode="auto">
            <a:xfrm>
              <a:off x="912" y="768"/>
              <a:ext cx="2386" cy="1553"/>
              <a:chOff x="912" y="768"/>
              <a:chExt cx="2386" cy="1553"/>
            </a:xfrm>
            <a:grpFill/>
          </p:grpSpPr>
          <p:sp>
            <p:nvSpPr>
              <p:cNvPr id="7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2" name="Text Box 59"/>
          <p:cNvSpPr txBox="1">
            <a:spLocks noChangeArrowheads="1"/>
          </p:cNvSpPr>
          <p:nvPr/>
        </p:nvSpPr>
        <p:spPr bwMode="auto">
          <a:xfrm>
            <a:off x="6091283"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网 </a:t>
            </a:r>
            <a:r>
              <a:rPr kumimoji="1" lang="en-US" altLang="zh-CN" sz="1200" dirty="0">
                <a:solidFill>
                  <a:schemeClr val="bg1"/>
                </a:solidFill>
                <a:latin typeface="微软雅黑 Light" panose="020B0502040204020203" pitchFamily="34" charset="-122"/>
                <a:ea typeface="微软雅黑 Light" panose="020B0502040204020203" pitchFamily="34" charset="-122"/>
              </a:rPr>
              <a:t>N</a:t>
            </a:r>
            <a:r>
              <a:rPr kumimoji="1" lang="en-US" altLang="zh-CN" sz="1200" baseline="-25000" dirty="0">
                <a:solidFill>
                  <a:schemeClr val="bg1"/>
                </a:solidFill>
                <a:latin typeface="微软雅黑 Light" panose="020B0502040204020203" pitchFamily="34" charset="-122"/>
                <a:ea typeface="微软雅黑 Light" panose="020B0502040204020203" pitchFamily="34" charset="-122"/>
              </a:rPr>
              <a:t>2</a:t>
            </a:r>
            <a:r>
              <a:rPr kumimoji="1" lang="en-US" altLang="zh-CN" sz="1200" dirty="0">
                <a:solidFill>
                  <a:schemeClr val="bg1"/>
                </a:solidFill>
                <a:latin typeface="微软雅黑 Light" panose="020B0502040204020203" pitchFamily="34" charset="-122"/>
                <a:ea typeface="微软雅黑 Light" panose="020B0502040204020203" pitchFamily="34" charset="-122"/>
              </a:rPr>
              <a:t> </a:t>
            </a:r>
          </a:p>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（支持多播）</a:t>
            </a:r>
          </a:p>
        </p:txBody>
      </p:sp>
      <p:sp>
        <p:nvSpPr>
          <p:cNvPr id="87" name="矩形 86"/>
          <p:cNvSpPr/>
          <p:nvPr/>
        </p:nvSpPr>
        <p:spPr>
          <a:xfrm>
            <a:off x="3505724" y="1099514"/>
            <a:ext cx="2385145"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zh-CN" sz="1400" dirty="0">
                <a:latin typeface="微软雅黑 Light" panose="020B0502040204020203" pitchFamily="34" charset="-122"/>
                <a:ea typeface="微软雅黑 Light" panose="020B0502040204020203" pitchFamily="34" charset="-122"/>
              </a:rPr>
              <a:t>隧道技术适用于多播组的位置在地理上很分散的情况</a:t>
            </a:r>
            <a:r>
              <a:rPr kumimoji="1" lang="zh-CN" altLang="en-US" sz="1400" dirty="0">
                <a:latin typeface="微软雅黑 Light" panose="020B0502040204020203" pitchFamily="34" charset="-122"/>
                <a:ea typeface="微软雅黑 Light" panose="020B0502040204020203" pitchFamily="34" charset="-122"/>
              </a:rPr>
              <a:t>。</a:t>
            </a:r>
          </a:p>
        </p:txBody>
      </p:sp>
      <p:sp>
        <p:nvSpPr>
          <p:cNvPr id="28" name="标题 27">
            <a:extLst>
              <a:ext uri="{FF2B5EF4-FFF2-40B4-BE49-F238E27FC236}">
                <a16:creationId xmlns:a16="http://schemas.microsoft.com/office/drawing/2014/main" id="{734F9921-19D7-935E-5D00-16DD66C6C286}"/>
              </a:ext>
            </a:extLst>
          </p:cNvPr>
          <p:cNvSpPr>
            <a:spLocks noGrp="1"/>
          </p:cNvSpPr>
          <p:nvPr>
            <p:ph type="title"/>
          </p:nvPr>
        </p:nvSpPr>
        <p:spPr>
          <a:xfrm>
            <a:off x="486000" y="550723"/>
            <a:ext cx="8172000" cy="338554"/>
          </a:xfrm>
        </p:spPr>
        <p:txBody>
          <a:bodyPr/>
          <a:lstStyle/>
          <a:p>
            <a:r>
              <a:rPr lang="en-US" altLang="zh-CN" dirty="0"/>
              <a:t>(2) </a:t>
            </a:r>
            <a:r>
              <a:rPr lang="zh-CN" altLang="en-US" dirty="0"/>
              <a:t>隧道技术 </a:t>
            </a:r>
            <a:r>
              <a:rPr lang="en-US" altLang="zh-CN" dirty="0"/>
              <a:t>(tunneling) </a:t>
            </a:r>
            <a:endParaRPr lang="zh-CN" altLang="en-US" dirty="0"/>
          </a:p>
        </p:txBody>
      </p:sp>
    </p:spTree>
    <p:extLst>
      <p:ext uri="{BB962C8B-B14F-4D97-AF65-F5344CB8AC3E}">
        <p14:creationId xmlns:p14="http://schemas.microsoft.com/office/powerpoint/2010/main" val="2843894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733144A-2F8A-F92C-59D7-EE6CDE2CF602}"/>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606AE025-360B-01A2-2030-DC159C013AD2}"/>
              </a:ext>
            </a:extLst>
          </p:cNvPr>
          <p:cNvSpPr>
            <a:spLocks noGrp="1"/>
          </p:cNvSpPr>
          <p:nvPr>
            <p:ph sz="quarter" idx="11"/>
          </p:nvPr>
        </p:nvSpPr>
        <p:spPr>
          <a:xfrm>
            <a:off x="486000" y="900000"/>
            <a:ext cx="8172000" cy="3703500"/>
          </a:xfrm>
        </p:spPr>
        <p:txBody>
          <a:bodyPr/>
          <a:lstStyle/>
          <a:p>
            <a:r>
              <a:rPr lang="zh-CN" altLang="en-US" dirty="0"/>
              <a:t>对于多播组的大小在较大范围内变化时都适合</a:t>
            </a:r>
          </a:p>
          <a:p>
            <a:r>
              <a:rPr lang="zh-CN" altLang="en-US" dirty="0"/>
              <a:t>对每一个多播组 </a:t>
            </a:r>
            <a:r>
              <a:rPr lang="en-US" altLang="zh-CN" dirty="0"/>
              <a:t>G </a:t>
            </a:r>
            <a:r>
              <a:rPr lang="zh-CN" altLang="en-US" dirty="0"/>
              <a:t>指定一个核心 </a:t>
            </a:r>
            <a:r>
              <a:rPr lang="en-US" altLang="zh-CN" dirty="0"/>
              <a:t>(core) </a:t>
            </a:r>
            <a:r>
              <a:rPr lang="zh-CN" altLang="en-US" dirty="0"/>
              <a:t>路由器，并给出它的 </a:t>
            </a:r>
            <a:r>
              <a:rPr lang="en-US" altLang="zh-CN" dirty="0"/>
              <a:t>IP </a:t>
            </a:r>
            <a:r>
              <a:rPr lang="zh-CN" altLang="en-US" dirty="0"/>
              <a:t>单播地址</a:t>
            </a:r>
          </a:p>
          <a:p>
            <a:r>
              <a:rPr lang="zh-CN" altLang="en-US" dirty="0"/>
              <a:t>核心路由器按照前面讲过的 </a:t>
            </a:r>
            <a:r>
              <a:rPr lang="en-US" altLang="zh-CN" dirty="0"/>
              <a:t>2 </a:t>
            </a:r>
            <a:r>
              <a:rPr lang="zh-CN" altLang="en-US" dirty="0"/>
              <a:t>种方法创建出对应于多播组 </a:t>
            </a:r>
            <a:r>
              <a:rPr lang="en-US" altLang="zh-CN" dirty="0"/>
              <a:t>G </a:t>
            </a:r>
            <a:r>
              <a:rPr lang="zh-CN" altLang="en-US" dirty="0"/>
              <a:t>的转发树（核心路由器为根节点）</a:t>
            </a:r>
            <a:endParaRPr lang="en-US" altLang="zh-CN" dirty="0"/>
          </a:p>
          <a:p>
            <a:endParaRPr lang="en-US" altLang="zh-CN" dirty="0"/>
          </a:p>
          <a:p>
            <a:r>
              <a:rPr lang="zh-CN" altLang="en-US" dirty="0"/>
              <a:t>为一个多播组构建一棵转发树，而不是为每个（源，组）组合构建一棵转发树</a:t>
            </a:r>
            <a:endParaRPr lang="en-US" altLang="zh-CN" dirty="0"/>
          </a:p>
          <a:p>
            <a:r>
              <a:rPr lang="zh-CN" altLang="en-US" dirty="0"/>
              <a:t>构建转发树开销较小，扩展性较好</a:t>
            </a:r>
          </a:p>
          <a:p>
            <a:endParaRPr lang="en-US" altLang="zh-CN" dirty="0"/>
          </a:p>
          <a:p>
            <a:endParaRPr lang="zh-CN" altLang="en-US" dirty="0"/>
          </a:p>
        </p:txBody>
      </p:sp>
    </p:spTree>
    <p:extLst>
      <p:ext uri="{BB962C8B-B14F-4D97-AF65-F5344CB8AC3E}">
        <p14:creationId xmlns:p14="http://schemas.microsoft.com/office/powerpoint/2010/main" val="9965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B7F9AC6-C907-E019-118B-D8D21B86DCB3}"/>
              </a:ext>
            </a:extLst>
          </p:cNvPr>
          <p:cNvSpPr>
            <a:spLocks noGrp="1"/>
          </p:cNvSpPr>
          <p:nvPr>
            <p:ph type="title"/>
          </p:nvPr>
        </p:nvSpPr>
        <p:spPr>
          <a:xfrm>
            <a:off x="486000" y="550723"/>
            <a:ext cx="8172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8826D6FA-B6AF-C6E7-1CEB-2B27EB9ACACA}"/>
              </a:ext>
            </a:extLst>
          </p:cNvPr>
          <p:cNvSpPr>
            <a:spLocks noGrp="1"/>
          </p:cNvSpPr>
          <p:nvPr>
            <p:ph sz="quarter" idx="11"/>
          </p:nvPr>
        </p:nvSpPr>
        <p:spPr>
          <a:xfrm>
            <a:off x="486000" y="900000"/>
            <a:ext cx="8172000" cy="3703500"/>
          </a:xfrm>
        </p:spPr>
        <p:txBody>
          <a:bodyPr/>
          <a:lstStyle/>
          <a:p>
            <a:r>
              <a:rPr lang="zh-CN" altLang="en-US" dirty="0"/>
              <a:t>如果有一个路由器 </a:t>
            </a:r>
            <a:r>
              <a:rPr lang="en-US" altLang="zh-CN" dirty="0"/>
              <a:t>R1 </a:t>
            </a:r>
            <a:r>
              <a:rPr lang="zh-CN" altLang="en-US" dirty="0"/>
              <a:t>向核心路由器发送数据报，那么它在途中经过的每一个路由器都要检查其内容</a:t>
            </a:r>
            <a:endParaRPr lang="en-US" altLang="zh-CN" dirty="0"/>
          </a:p>
          <a:p>
            <a:r>
              <a:rPr lang="zh-CN" altLang="en-US" dirty="0"/>
              <a:t>当数据报到达参加了多播组 </a:t>
            </a:r>
            <a:r>
              <a:rPr lang="en-US" altLang="zh-CN" dirty="0"/>
              <a:t>G </a:t>
            </a:r>
            <a:r>
              <a:rPr lang="zh-CN" altLang="en-US" dirty="0"/>
              <a:t>的路由器 </a:t>
            </a:r>
            <a:r>
              <a:rPr lang="en-US" altLang="zh-CN" dirty="0"/>
              <a:t>R2 </a:t>
            </a:r>
            <a:r>
              <a:rPr lang="zh-CN" altLang="en-US" dirty="0"/>
              <a:t>时，</a:t>
            </a:r>
            <a:r>
              <a:rPr lang="en-US" altLang="zh-CN" dirty="0"/>
              <a:t>R2 </a:t>
            </a:r>
            <a:r>
              <a:rPr lang="zh-CN" altLang="en-US" dirty="0"/>
              <a:t>就处理这个数据报</a:t>
            </a:r>
            <a:endParaRPr lang="en-US" altLang="zh-CN" dirty="0"/>
          </a:p>
          <a:p>
            <a:pPr lvl="1"/>
            <a:r>
              <a:rPr lang="zh-CN" altLang="en-US" dirty="0"/>
              <a:t>如果 </a:t>
            </a:r>
            <a:r>
              <a:rPr lang="en-US" altLang="zh-CN" dirty="0"/>
              <a:t>R1 </a:t>
            </a:r>
            <a:r>
              <a:rPr lang="zh-CN" altLang="en-US" dirty="0"/>
              <a:t>发出的是一个多播数据报，其目的地址是 </a:t>
            </a:r>
            <a:r>
              <a:rPr lang="en-US" altLang="zh-CN" dirty="0"/>
              <a:t>G </a:t>
            </a:r>
            <a:r>
              <a:rPr lang="zh-CN" altLang="en-US" dirty="0"/>
              <a:t>的组地址，</a:t>
            </a:r>
            <a:r>
              <a:rPr lang="en-US" altLang="zh-CN" dirty="0"/>
              <a:t>R2 </a:t>
            </a:r>
            <a:r>
              <a:rPr lang="zh-CN" altLang="en-US" dirty="0"/>
              <a:t>就向 </a:t>
            </a:r>
            <a:r>
              <a:rPr lang="en-US" altLang="zh-CN" dirty="0"/>
              <a:t>G </a:t>
            </a:r>
            <a:r>
              <a:rPr lang="zh-CN" altLang="en-US" dirty="0"/>
              <a:t>的成员转发这个多播数据报</a:t>
            </a:r>
            <a:endParaRPr lang="en-US" altLang="zh-CN" dirty="0"/>
          </a:p>
          <a:p>
            <a:pPr lvl="1"/>
            <a:r>
              <a:rPr lang="zh-CN" altLang="en-US" dirty="0"/>
              <a:t>如果 </a:t>
            </a:r>
            <a:r>
              <a:rPr lang="en-US" altLang="zh-CN" dirty="0"/>
              <a:t>R1 </a:t>
            </a:r>
            <a:r>
              <a:rPr lang="zh-CN" altLang="en-US" dirty="0"/>
              <a:t>发出的数据报是一个请求加入多播组 </a:t>
            </a:r>
            <a:r>
              <a:rPr lang="en-US" altLang="zh-CN" dirty="0"/>
              <a:t>G </a:t>
            </a:r>
            <a:r>
              <a:rPr lang="zh-CN" altLang="en-US" dirty="0"/>
              <a:t>的数据报，</a:t>
            </a:r>
            <a:r>
              <a:rPr lang="en-US" altLang="zh-CN" dirty="0"/>
              <a:t>R2 </a:t>
            </a:r>
            <a:r>
              <a:rPr lang="zh-CN" altLang="en-US" dirty="0"/>
              <a:t>就把这个信息加到它的路由中，并用隧道技术向 </a:t>
            </a:r>
            <a:r>
              <a:rPr lang="en-US" altLang="zh-CN" dirty="0"/>
              <a:t>R1 </a:t>
            </a:r>
            <a:r>
              <a:rPr lang="zh-CN" altLang="en-US" dirty="0"/>
              <a:t>转发每一个多播数据报的副本</a:t>
            </a:r>
          </a:p>
          <a:p>
            <a:endParaRPr lang="zh-CN" altLang="en-US" dirty="0"/>
          </a:p>
        </p:txBody>
      </p:sp>
    </p:spTree>
    <p:extLst>
      <p:ext uri="{BB962C8B-B14F-4D97-AF65-F5344CB8AC3E}">
        <p14:creationId xmlns:p14="http://schemas.microsoft.com/office/powerpoint/2010/main" val="223727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D58D965-FCFF-3A3D-75B8-B6DB64FC6129}"/>
              </a:ext>
            </a:extLst>
          </p:cNvPr>
          <p:cNvSpPr>
            <a:spLocks noGrp="1"/>
          </p:cNvSpPr>
          <p:nvPr>
            <p:ph type="title"/>
          </p:nvPr>
        </p:nvSpPr>
        <p:spPr>
          <a:xfrm>
            <a:off x="486000" y="550723"/>
            <a:ext cx="8172000" cy="338554"/>
          </a:xfrm>
        </p:spPr>
        <p:txBody>
          <a:bodyPr/>
          <a:lstStyle/>
          <a:p>
            <a:r>
              <a:rPr lang="zh-CN" altLang="en-US" dirty="0"/>
              <a:t>几种多播路由选择协议</a:t>
            </a:r>
          </a:p>
        </p:txBody>
      </p:sp>
      <p:sp>
        <p:nvSpPr>
          <p:cNvPr id="6" name="内容占位符 5">
            <a:extLst>
              <a:ext uri="{FF2B5EF4-FFF2-40B4-BE49-F238E27FC236}">
                <a16:creationId xmlns:a16="http://schemas.microsoft.com/office/drawing/2014/main" id="{7EB661D9-5A45-B4D6-3DBB-BE98E953754F}"/>
              </a:ext>
            </a:extLst>
          </p:cNvPr>
          <p:cNvSpPr>
            <a:spLocks noGrp="1"/>
          </p:cNvSpPr>
          <p:nvPr>
            <p:ph sz="quarter" idx="11"/>
          </p:nvPr>
        </p:nvSpPr>
        <p:spPr>
          <a:xfrm>
            <a:off x="486000" y="900000"/>
            <a:ext cx="8172000" cy="3703500"/>
          </a:xfrm>
        </p:spPr>
        <p:txBody>
          <a:bodyPr/>
          <a:lstStyle/>
          <a:p>
            <a:r>
              <a:rPr lang="zh-CN" altLang="en-US" dirty="0"/>
              <a:t>距离向量多播路由选择协议</a:t>
            </a:r>
            <a:endParaRPr lang="en-US" altLang="zh-CN" dirty="0"/>
          </a:p>
          <a:p>
            <a:pPr lvl="1"/>
            <a:r>
              <a:rPr lang="en-US" altLang="zh-CN" dirty="0"/>
              <a:t>DVMRP - Distance Vector Multicast Routing Protocol</a:t>
            </a:r>
          </a:p>
          <a:p>
            <a:pPr lvl="1"/>
            <a:r>
              <a:rPr lang="zh-CN" altLang="en-US" dirty="0"/>
              <a:t>互联网上使用的第一个多播路由选择协议</a:t>
            </a:r>
            <a:endParaRPr lang="en-US" altLang="zh-CN" dirty="0"/>
          </a:p>
          <a:p>
            <a:r>
              <a:rPr lang="zh-CN" altLang="en-US" dirty="0"/>
              <a:t>基于核心的转发树</a:t>
            </a:r>
            <a:endParaRPr lang="en-US" altLang="zh-CN" dirty="0"/>
          </a:p>
          <a:p>
            <a:pPr lvl="1"/>
            <a:r>
              <a:rPr lang="en-US" altLang="zh-CN" dirty="0"/>
              <a:t>CBT - Core Based Tree </a:t>
            </a:r>
          </a:p>
          <a:p>
            <a:r>
              <a:rPr lang="zh-CN" altLang="en-US" dirty="0"/>
              <a:t>开放最短通路优先的多播扩展</a:t>
            </a:r>
            <a:endParaRPr lang="en-US" altLang="zh-CN" dirty="0"/>
          </a:p>
          <a:p>
            <a:pPr lvl="1"/>
            <a:r>
              <a:rPr lang="en-US" altLang="zh-CN" dirty="0"/>
              <a:t>MOSPF - Multicast Extensions to OSPF)</a:t>
            </a:r>
          </a:p>
          <a:p>
            <a:r>
              <a:rPr lang="zh-CN" altLang="en-US" dirty="0"/>
              <a:t>协议无关多播</a:t>
            </a:r>
            <a:r>
              <a:rPr lang="en-US" altLang="zh-CN" dirty="0"/>
              <a:t>-</a:t>
            </a:r>
            <a:r>
              <a:rPr lang="zh-CN" altLang="en-US" dirty="0"/>
              <a:t>稀疏方式</a:t>
            </a:r>
            <a:endParaRPr lang="en-US" altLang="zh-CN" dirty="0"/>
          </a:p>
          <a:p>
            <a:pPr lvl="1"/>
            <a:r>
              <a:rPr lang="en-US" altLang="zh-CN" dirty="0"/>
              <a:t>PIM-SM - Protocol Independent Multicast-Sparse Mode</a:t>
            </a:r>
          </a:p>
          <a:p>
            <a:pPr lvl="1"/>
            <a:r>
              <a:rPr lang="zh-CN" altLang="en-US" dirty="0"/>
              <a:t>唯一成为互联网标准的一个协议</a:t>
            </a:r>
            <a:endParaRPr lang="en-US" altLang="zh-CN" dirty="0"/>
          </a:p>
          <a:p>
            <a:r>
              <a:rPr lang="zh-CN" altLang="en-US" dirty="0"/>
              <a:t>协议无关多播</a:t>
            </a:r>
            <a:r>
              <a:rPr lang="en-US" altLang="zh-CN" dirty="0"/>
              <a:t>-</a:t>
            </a:r>
            <a:r>
              <a:rPr lang="zh-CN" altLang="en-US" dirty="0"/>
              <a:t>密集方式</a:t>
            </a:r>
            <a:endParaRPr lang="en-US" altLang="zh-CN" dirty="0"/>
          </a:p>
          <a:p>
            <a:pPr lvl="1"/>
            <a:r>
              <a:rPr lang="en-US" altLang="zh-CN" dirty="0"/>
              <a:t>PIM-DM - Protocol Independent Multicast-Dense Mode)</a:t>
            </a:r>
            <a:endParaRPr lang="zh-CN" altLang="en-US" dirty="0"/>
          </a:p>
          <a:p>
            <a:endParaRPr lang="zh-CN" altLang="en-US" dirty="0"/>
          </a:p>
        </p:txBody>
      </p:sp>
    </p:spTree>
    <p:extLst>
      <p:ext uri="{BB962C8B-B14F-4D97-AF65-F5344CB8AC3E}">
        <p14:creationId xmlns:p14="http://schemas.microsoft.com/office/powerpoint/2010/main" val="9474151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图片占位符 14">
            <a:extLst>
              <a:ext uri="{FF2B5EF4-FFF2-40B4-BE49-F238E27FC236}">
                <a16:creationId xmlns:a16="http://schemas.microsoft.com/office/drawing/2014/main" id="{80B80CB4-FA2F-51C0-EB90-2963B6DACB2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D96B1AE1-069B-9A73-1648-38FE36AB7E7D}"/>
              </a:ext>
            </a:extLst>
          </p:cNvPr>
          <p:cNvSpPr>
            <a:spLocks noGrp="1"/>
          </p:cNvSpPr>
          <p:nvPr>
            <p:ph type="title"/>
          </p:nvPr>
        </p:nvSpPr>
        <p:spPr>
          <a:xfrm>
            <a:off x="628650" y="1790739"/>
            <a:ext cx="4320000" cy="553998"/>
          </a:xfrm>
        </p:spPr>
        <p:txBody>
          <a:bodyPr/>
          <a:lstStyle/>
          <a:p>
            <a:r>
              <a:rPr lang="fr-FR" altLang="zh-CN" dirty="0"/>
              <a:t>4.8.1 </a:t>
            </a:r>
            <a:r>
              <a:rPr lang="zh-CN" altLang="en-US" dirty="0"/>
              <a:t>虚拟专用网</a:t>
            </a:r>
          </a:p>
        </p:txBody>
      </p:sp>
      <p:sp>
        <p:nvSpPr>
          <p:cNvPr id="9" name="文本占位符 8">
            <a:extLst>
              <a:ext uri="{FF2B5EF4-FFF2-40B4-BE49-F238E27FC236}">
                <a16:creationId xmlns:a16="http://schemas.microsoft.com/office/drawing/2014/main" id="{BBECAE81-C0CF-A30F-8BF9-48FBD8E378E7}"/>
              </a:ext>
            </a:extLst>
          </p:cNvPr>
          <p:cNvSpPr>
            <a:spLocks noGrp="1"/>
          </p:cNvSpPr>
          <p:nvPr>
            <p:ph type="body" sz="quarter" idx="11"/>
          </p:nvPr>
        </p:nvSpPr>
        <p:spPr>
          <a:xfrm>
            <a:off x="628100" y="2344736"/>
            <a:ext cx="4320000" cy="1870075"/>
          </a:xfrm>
        </p:spPr>
        <p:txBody>
          <a:bodyPr/>
          <a:lstStyle/>
          <a:p>
            <a:r>
              <a:rPr lang="en-US" altLang="zh-CN" dirty="0"/>
              <a:t>· VPN</a:t>
            </a:r>
          </a:p>
          <a:p>
            <a:r>
              <a:rPr lang="en-US" altLang="zh-CN" dirty="0"/>
              <a:t>. Virtual Private Network</a:t>
            </a:r>
            <a:endParaRPr lang="zh-CN" altLang="en-US" dirty="0"/>
          </a:p>
        </p:txBody>
      </p:sp>
    </p:spTree>
    <p:extLst>
      <p:ext uri="{BB962C8B-B14F-4D97-AF65-F5344CB8AC3E}">
        <p14:creationId xmlns:p14="http://schemas.microsoft.com/office/powerpoint/2010/main" val="8964859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D4FF951-BD2C-E13C-D7B3-7E2339F77CD9}"/>
              </a:ext>
            </a:extLst>
          </p:cNvPr>
          <p:cNvSpPr>
            <a:spLocks noGrp="1"/>
          </p:cNvSpPr>
          <p:nvPr>
            <p:ph type="title"/>
          </p:nvPr>
        </p:nvSpPr>
        <p:spPr>
          <a:xfrm>
            <a:off x="486000" y="550723"/>
            <a:ext cx="8172000" cy="338554"/>
          </a:xfrm>
        </p:spPr>
        <p:txBody>
          <a:bodyPr/>
          <a:lstStyle/>
          <a:p>
            <a:r>
              <a:rPr lang="en-US" altLang="zh-CN" dirty="0"/>
              <a:t>4.8.1  </a:t>
            </a:r>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BA4AADC1-CCD5-2430-144A-E2F8501194EE}"/>
              </a:ext>
            </a:extLst>
          </p:cNvPr>
          <p:cNvSpPr>
            <a:spLocks noGrp="1"/>
          </p:cNvSpPr>
          <p:nvPr>
            <p:ph sz="quarter" idx="11"/>
          </p:nvPr>
        </p:nvSpPr>
        <p:spPr>
          <a:xfrm>
            <a:off x="486000" y="900000"/>
            <a:ext cx="8172000" cy="3703500"/>
          </a:xfrm>
        </p:spPr>
        <p:txBody>
          <a:bodyPr/>
          <a:lstStyle/>
          <a:p>
            <a:r>
              <a:rPr lang="zh-CN" altLang="en-US" dirty="0"/>
              <a:t>由于 </a:t>
            </a:r>
            <a:r>
              <a:rPr lang="en-US" altLang="zh-CN" dirty="0"/>
              <a:t>IP </a:t>
            </a:r>
            <a:r>
              <a:rPr lang="zh-CN" altLang="en-US" dirty="0"/>
              <a:t>地址的紧缺，一个机构能够申请到的</a:t>
            </a:r>
            <a:r>
              <a:rPr lang="en-US" altLang="zh-CN" dirty="0"/>
              <a:t>IP</a:t>
            </a:r>
            <a:r>
              <a:rPr lang="zh-CN" altLang="en-US" dirty="0"/>
              <a:t>地址数往往远小于本机构所拥有的主机数</a:t>
            </a:r>
          </a:p>
          <a:p>
            <a:r>
              <a:rPr lang="zh-CN" altLang="en-US" dirty="0"/>
              <a:t>考虑到互联网并不很安全，一个机构内也并不需要把所有的主机接入到外部的互联网</a:t>
            </a:r>
          </a:p>
          <a:p>
            <a:r>
              <a:rPr lang="zh-CN" altLang="en-US" dirty="0"/>
              <a:t>如果一个机构内部的计算机通信也是采用 </a:t>
            </a:r>
            <a:r>
              <a:rPr lang="en-US" altLang="zh-CN" dirty="0"/>
              <a:t>TCP/IP </a:t>
            </a:r>
            <a:r>
              <a:rPr lang="zh-CN" altLang="en-US" dirty="0"/>
              <a:t>协议，那么这些仅在机构内部使用的计算机就可以由本机构自行分配其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2593138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7F55371-294D-F8BB-6D98-4D3301F18359}"/>
              </a:ext>
            </a:extLst>
          </p:cNvPr>
          <p:cNvSpPr>
            <a:spLocks noGrp="1"/>
          </p:cNvSpPr>
          <p:nvPr>
            <p:ph type="title"/>
          </p:nvPr>
        </p:nvSpPr>
        <p:spPr>
          <a:xfrm>
            <a:off x="486000" y="550723"/>
            <a:ext cx="8172000" cy="338554"/>
          </a:xfrm>
        </p:spPr>
        <p:txBody>
          <a:bodyPr/>
          <a:lstStyle/>
          <a:p>
            <a:r>
              <a:rPr lang="zh-CN" altLang="en-US" dirty="0"/>
              <a:t>本地地址 </a:t>
            </a:r>
            <a:r>
              <a:rPr lang="en-US" altLang="zh-CN" dirty="0"/>
              <a:t>vs</a:t>
            </a:r>
            <a:r>
              <a:rPr lang="zh-CN" altLang="en-US" dirty="0"/>
              <a:t> 全球地址</a:t>
            </a:r>
          </a:p>
        </p:txBody>
      </p:sp>
      <p:sp>
        <p:nvSpPr>
          <p:cNvPr id="8" name="内容占位符 7">
            <a:extLst>
              <a:ext uri="{FF2B5EF4-FFF2-40B4-BE49-F238E27FC236}">
                <a16:creationId xmlns:a16="http://schemas.microsoft.com/office/drawing/2014/main" id="{6A30E7B4-6823-C329-31DC-8309EDE75517}"/>
              </a:ext>
            </a:extLst>
          </p:cNvPr>
          <p:cNvSpPr>
            <a:spLocks noGrp="1"/>
          </p:cNvSpPr>
          <p:nvPr>
            <p:ph sz="quarter" idx="11"/>
          </p:nvPr>
        </p:nvSpPr>
        <p:spPr>
          <a:xfrm>
            <a:off x="486000" y="900000"/>
            <a:ext cx="8172000" cy="3703500"/>
          </a:xfrm>
        </p:spPr>
        <p:txBody>
          <a:bodyPr/>
          <a:lstStyle/>
          <a:p>
            <a:r>
              <a:rPr lang="zh-CN" altLang="en-US" dirty="0"/>
              <a:t>本地地址：仅在机构内部使用的 </a:t>
            </a:r>
            <a:r>
              <a:rPr lang="en-US" altLang="zh-CN" dirty="0"/>
              <a:t>IP </a:t>
            </a:r>
            <a:r>
              <a:rPr lang="zh-CN" altLang="en-US" dirty="0"/>
              <a:t>地址，可以由本机构自行分配，而不需要向互联网的管理机构申请</a:t>
            </a:r>
          </a:p>
          <a:p>
            <a:r>
              <a:rPr lang="zh-CN" altLang="en-US" dirty="0"/>
              <a:t>全球地址：全球唯一的 </a:t>
            </a:r>
            <a:r>
              <a:rPr lang="en-US" altLang="zh-CN" dirty="0"/>
              <a:t>IP </a:t>
            </a:r>
            <a:r>
              <a:rPr lang="zh-CN" altLang="en-US" dirty="0"/>
              <a:t>地址，必须向互联网的管理机构申请</a:t>
            </a:r>
          </a:p>
          <a:p>
            <a:r>
              <a:rPr lang="zh-CN" altLang="en-US" dirty="0"/>
              <a:t>问题：如何区分本地地址和全球地址？</a:t>
            </a:r>
            <a:endParaRPr lang="en-US" altLang="zh-CN" dirty="0"/>
          </a:p>
          <a:p>
            <a:r>
              <a:rPr lang="zh-CN" altLang="en-US" dirty="0"/>
              <a:t>解决：</a:t>
            </a:r>
            <a:r>
              <a:rPr lang="en-US" altLang="zh-CN" dirty="0"/>
              <a:t>RFC 1918 </a:t>
            </a:r>
            <a:r>
              <a:rPr lang="zh-CN" altLang="en-US" dirty="0"/>
              <a:t>指明了一些专用地址 </a:t>
            </a:r>
            <a:r>
              <a:rPr lang="en-US" altLang="zh-CN" dirty="0"/>
              <a:t>- private address</a:t>
            </a:r>
          </a:p>
          <a:p>
            <a:r>
              <a:rPr lang="zh-CN" altLang="en-US" dirty="0"/>
              <a:t>专用地址只能用作本地地址，而不能用作全球地址</a:t>
            </a:r>
            <a:endParaRPr lang="en-US" altLang="zh-CN" dirty="0"/>
          </a:p>
          <a:p>
            <a:r>
              <a:rPr lang="zh-CN" altLang="en-US" dirty="0"/>
              <a:t>互联网中的所有路由器对目的地址是专用地址的数据报一律不进行转发</a:t>
            </a:r>
          </a:p>
          <a:p>
            <a:endParaRPr lang="zh-CN" altLang="en-US" dirty="0"/>
          </a:p>
          <a:p>
            <a:endParaRPr lang="zh-CN" altLang="en-US" dirty="0"/>
          </a:p>
        </p:txBody>
      </p:sp>
    </p:spTree>
    <p:extLst>
      <p:ext uri="{BB962C8B-B14F-4D97-AF65-F5344CB8AC3E}">
        <p14:creationId xmlns:p14="http://schemas.microsoft.com/office/powerpoint/2010/main" val="2559882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765399" y="1629139"/>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10.0.0.0/8</a:t>
            </a:r>
          </a:p>
        </p:txBody>
      </p:sp>
      <p:sp>
        <p:nvSpPr>
          <p:cNvPr id="7" name="矩形 6"/>
          <p:cNvSpPr/>
          <p:nvPr/>
        </p:nvSpPr>
        <p:spPr>
          <a:xfrm>
            <a:off x="1765399" y="245922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172.16.0.0/12</a:t>
            </a:r>
          </a:p>
        </p:txBody>
      </p:sp>
      <p:sp>
        <p:nvSpPr>
          <p:cNvPr id="8" name="矩形 7"/>
          <p:cNvSpPr/>
          <p:nvPr/>
        </p:nvSpPr>
        <p:spPr>
          <a:xfrm>
            <a:off x="1765399" y="328753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192.168.0.0/16</a:t>
            </a:r>
          </a:p>
        </p:txBody>
      </p:sp>
      <p:sp>
        <p:nvSpPr>
          <p:cNvPr id="9" name="矩形 8"/>
          <p:cNvSpPr/>
          <p:nvPr/>
        </p:nvSpPr>
        <p:spPr>
          <a:xfrm>
            <a:off x="1765399" y="2003203"/>
            <a:ext cx="3986989"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A</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10.0.0.0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10.255.255.255</a:t>
            </a:r>
            <a:r>
              <a:rPr lang="zh-CN" altLang="en-US" sz="1600" dirty="0">
                <a:latin typeface="Montserrat" panose="00000500000000000000" pitchFamily="2" charset="0"/>
                <a:ea typeface="微软雅黑" pitchFamily="34" charset="-122"/>
              </a:rPr>
              <a:t>。</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个</a:t>
            </a:r>
          </a:p>
        </p:txBody>
      </p:sp>
      <p:sp>
        <p:nvSpPr>
          <p:cNvPr id="10" name="矩形 9"/>
          <p:cNvSpPr/>
          <p:nvPr/>
        </p:nvSpPr>
        <p:spPr>
          <a:xfrm>
            <a:off x="1765399" y="2814455"/>
            <a:ext cx="5292416" cy="338554"/>
          </a:xfrm>
          <a:prstGeom prst="rect">
            <a:avLst/>
          </a:prstGeom>
        </p:spPr>
        <p:txBody>
          <a:bodyPr wrap="square">
            <a:spAutoFit/>
          </a:bodyPr>
          <a:lstStyle/>
          <a:p>
            <a:r>
              <a:rPr lang="en-US" altLang="zh-CN" sz="1600" dirty="0">
                <a:latin typeface="Montserrat" panose="00000500000000000000" pitchFamily="2" charset="0"/>
                <a:ea typeface="微软雅黑" pitchFamily="34" charset="-122"/>
              </a:rPr>
              <a:t>B</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172.16.0.0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172.31.255.255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16 </a:t>
            </a:r>
            <a:r>
              <a:rPr lang="zh-CN" altLang="en-US" sz="1600" dirty="0">
                <a:latin typeface="Montserrat" panose="00000500000000000000" pitchFamily="2" charset="0"/>
                <a:ea typeface="微软雅黑" pitchFamily="34" charset="-122"/>
              </a:rPr>
              <a:t>个</a:t>
            </a:r>
          </a:p>
        </p:txBody>
      </p:sp>
      <p:sp>
        <p:nvSpPr>
          <p:cNvPr id="11" name="矩形 10"/>
          <p:cNvSpPr/>
          <p:nvPr/>
        </p:nvSpPr>
        <p:spPr>
          <a:xfrm>
            <a:off x="1765399" y="3632461"/>
            <a:ext cx="5123518"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C</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192.168.0.0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192.168.255.255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256 </a:t>
            </a:r>
            <a:r>
              <a:rPr lang="zh-CN" altLang="en-US" sz="1600" dirty="0">
                <a:latin typeface="Montserrat" panose="00000500000000000000" pitchFamily="2" charset="0"/>
                <a:ea typeface="微软雅黑" pitchFamily="34" charset="-122"/>
              </a:rPr>
              <a:t>个</a:t>
            </a:r>
          </a:p>
        </p:txBody>
      </p:sp>
      <p:sp>
        <p:nvSpPr>
          <p:cNvPr id="3" name="标题 2">
            <a:extLst>
              <a:ext uri="{FF2B5EF4-FFF2-40B4-BE49-F238E27FC236}">
                <a16:creationId xmlns:a16="http://schemas.microsoft.com/office/drawing/2014/main" id="{A377D743-B0AE-5967-F45F-A5B9F513D270}"/>
              </a:ext>
            </a:extLst>
          </p:cNvPr>
          <p:cNvSpPr>
            <a:spLocks noGrp="1"/>
          </p:cNvSpPr>
          <p:nvPr>
            <p:ph type="title"/>
          </p:nvPr>
        </p:nvSpPr>
        <p:spPr>
          <a:xfrm>
            <a:off x="486000" y="550723"/>
            <a:ext cx="8172000" cy="338554"/>
          </a:xfrm>
        </p:spPr>
        <p:txBody>
          <a:bodyPr/>
          <a:lstStyle/>
          <a:p>
            <a:r>
              <a:rPr lang="zh-CN" altLang="zh-CN" dirty="0"/>
              <a:t>专用</a:t>
            </a:r>
            <a:r>
              <a:rPr lang="en-US" altLang="zh-CN" dirty="0"/>
              <a:t> IP </a:t>
            </a:r>
            <a:r>
              <a:rPr lang="zh-CN" altLang="zh-CN" dirty="0"/>
              <a:t>地址块</a:t>
            </a:r>
            <a:endParaRPr lang="zh-CN" altLang="en-US" dirty="0"/>
          </a:p>
        </p:txBody>
      </p:sp>
      <p:sp>
        <p:nvSpPr>
          <p:cNvPr id="4" name="内容占位符 3">
            <a:extLst>
              <a:ext uri="{FF2B5EF4-FFF2-40B4-BE49-F238E27FC236}">
                <a16:creationId xmlns:a16="http://schemas.microsoft.com/office/drawing/2014/main" id="{738F3C71-4CC2-C097-C93F-228BB2B2F6F6}"/>
              </a:ext>
            </a:extLst>
          </p:cNvPr>
          <p:cNvSpPr>
            <a:spLocks noGrp="1"/>
          </p:cNvSpPr>
          <p:nvPr>
            <p:ph sz="quarter" idx="11"/>
          </p:nvPr>
        </p:nvSpPr>
        <p:spPr>
          <a:xfrm>
            <a:off x="486000" y="900000"/>
            <a:ext cx="8172000" cy="3703500"/>
          </a:xfrm>
        </p:spPr>
        <p:txBody>
          <a:bodyPr/>
          <a:lstStyle/>
          <a:p>
            <a:r>
              <a:rPr lang="en-US" altLang="zh-CN" dirty="0"/>
              <a:t>RFC 1918 </a:t>
            </a:r>
            <a:r>
              <a:rPr lang="zh-CN" altLang="en-US" dirty="0"/>
              <a:t>指明的专用 </a:t>
            </a:r>
            <a:r>
              <a:rPr lang="en-US" altLang="zh-CN" dirty="0"/>
              <a:t>IP </a:t>
            </a:r>
            <a:r>
              <a:rPr lang="zh-CN" altLang="en-US" dirty="0"/>
              <a:t>地址</a:t>
            </a:r>
          </a:p>
        </p:txBody>
      </p:sp>
    </p:spTree>
    <p:extLst>
      <p:ext uri="{BB962C8B-B14F-4D97-AF65-F5344CB8AC3E}">
        <p14:creationId xmlns:p14="http://schemas.microsoft.com/office/powerpoint/2010/main" val="18255218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D890992-3BD7-0B51-7708-E2E640FB2039}"/>
              </a:ext>
            </a:extLst>
          </p:cNvPr>
          <p:cNvSpPr>
            <a:spLocks noGrp="1"/>
          </p:cNvSpPr>
          <p:nvPr>
            <p:ph type="title"/>
          </p:nvPr>
        </p:nvSpPr>
        <p:spPr>
          <a:xfrm>
            <a:off x="486000" y="550723"/>
            <a:ext cx="8172000" cy="338554"/>
          </a:xfrm>
        </p:spPr>
        <p:txBody>
          <a:bodyPr/>
          <a:lstStyle/>
          <a:p>
            <a:r>
              <a:rPr lang="zh-CN" altLang="en-US" dirty="0"/>
              <a:t>专用网</a:t>
            </a:r>
          </a:p>
        </p:txBody>
      </p:sp>
      <p:sp>
        <p:nvSpPr>
          <p:cNvPr id="7" name="内容占位符 6">
            <a:extLst>
              <a:ext uri="{FF2B5EF4-FFF2-40B4-BE49-F238E27FC236}">
                <a16:creationId xmlns:a16="http://schemas.microsoft.com/office/drawing/2014/main" id="{CC0423AE-7611-4FF8-84A4-F0928732FBBE}"/>
              </a:ext>
            </a:extLst>
          </p:cNvPr>
          <p:cNvSpPr>
            <a:spLocks noGrp="1"/>
          </p:cNvSpPr>
          <p:nvPr>
            <p:ph sz="quarter" idx="11"/>
          </p:nvPr>
        </p:nvSpPr>
        <p:spPr>
          <a:xfrm>
            <a:off x="486000" y="900000"/>
            <a:ext cx="8172000" cy="3703500"/>
          </a:xfrm>
        </p:spPr>
        <p:txBody>
          <a:bodyPr/>
          <a:lstStyle/>
          <a:p>
            <a:r>
              <a:rPr lang="zh-CN" altLang="en-US" dirty="0"/>
              <a:t>采用专用 </a:t>
            </a:r>
            <a:r>
              <a:rPr lang="en-US" altLang="zh-CN" dirty="0"/>
              <a:t>IP </a:t>
            </a:r>
            <a:r>
              <a:rPr lang="zh-CN" altLang="en-US" dirty="0"/>
              <a:t>地址的互连网络称为专用互联网或本地互联网，或更简单些，就叫做专用网</a:t>
            </a:r>
          </a:p>
          <a:p>
            <a:r>
              <a:rPr lang="zh-CN" altLang="en-US" dirty="0"/>
              <a:t>专用 </a:t>
            </a:r>
            <a:r>
              <a:rPr lang="en-US" altLang="zh-CN" dirty="0"/>
              <a:t>IP </a:t>
            </a:r>
            <a:r>
              <a:rPr lang="zh-CN" altLang="en-US" dirty="0"/>
              <a:t>地址也叫做可重用地址 </a:t>
            </a:r>
            <a:r>
              <a:rPr lang="en-US" altLang="zh-CN" dirty="0"/>
              <a:t>- reusable address</a:t>
            </a:r>
            <a:endParaRPr lang="zh-CN" altLang="en-US" dirty="0"/>
          </a:p>
          <a:p>
            <a:endParaRPr lang="zh-CN" altLang="en-US" dirty="0"/>
          </a:p>
        </p:txBody>
      </p:sp>
    </p:spTree>
    <p:extLst>
      <p:ext uri="{BB962C8B-B14F-4D97-AF65-F5344CB8AC3E}">
        <p14:creationId xmlns:p14="http://schemas.microsoft.com/office/powerpoint/2010/main" val="7880200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187FB4-8A4B-2B54-5807-779CA96AC4D3}"/>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E4FDA4F9-982A-4A1D-F1F2-07D7E9F12CEC}"/>
              </a:ext>
            </a:extLst>
          </p:cNvPr>
          <p:cNvSpPr>
            <a:spLocks noGrp="1"/>
          </p:cNvSpPr>
          <p:nvPr>
            <p:ph sz="quarter" idx="11"/>
          </p:nvPr>
        </p:nvSpPr>
        <p:spPr>
          <a:xfrm>
            <a:off x="486000" y="900000"/>
            <a:ext cx="8172000" cy="3703500"/>
          </a:xfrm>
        </p:spPr>
        <p:txBody>
          <a:bodyPr/>
          <a:lstStyle/>
          <a:p>
            <a:r>
              <a:rPr lang="zh-CN" altLang="en-US" dirty="0"/>
              <a:t>利用公用互联网作为本机构各专用网之间的通信载体，这样的专用网又称为虚拟专用网</a:t>
            </a:r>
            <a:endParaRPr lang="en-US" altLang="zh-CN" dirty="0"/>
          </a:p>
          <a:p>
            <a:pPr lvl="1"/>
            <a:r>
              <a:rPr lang="en-US" altLang="zh-CN" dirty="0"/>
              <a:t>VPN - Virtual Private Network</a:t>
            </a:r>
            <a:endParaRPr lang="zh-CN" altLang="en-US" dirty="0"/>
          </a:p>
          <a:p>
            <a:r>
              <a:rPr lang="zh-CN" altLang="en-US" dirty="0"/>
              <a:t>专用网：指这种网络是为本机构的主机用于机构内部的通信，而不是用于和网络外非本机构的主机通信</a:t>
            </a:r>
          </a:p>
          <a:p>
            <a:r>
              <a:rPr lang="zh-CN" altLang="en-US" dirty="0"/>
              <a:t>虚拟：表示实际上没有使用通信专线，只是在效果上和真正的专用网一样</a:t>
            </a:r>
          </a:p>
          <a:p>
            <a:endParaRPr lang="zh-CN" altLang="en-US" dirty="0"/>
          </a:p>
        </p:txBody>
      </p:sp>
    </p:spTree>
    <p:extLst>
      <p:ext uri="{BB962C8B-B14F-4D97-AF65-F5344CB8AC3E}">
        <p14:creationId xmlns:p14="http://schemas.microsoft.com/office/powerpoint/2010/main" val="1663282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6CDFBE5-916E-1A9A-B95F-683DB4B7B34C}"/>
              </a:ext>
            </a:extLst>
          </p:cNvPr>
          <p:cNvSpPr>
            <a:spLocks noGrp="1"/>
          </p:cNvSpPr>
          <p:nvPr>
            <p:ph type="title"/>
          </p:nvPr>
        </p:nvSpPr>
        <p:spPr>
          <a:xfrm>
            <a:off x="486000" y="550723"/>
            <a:ext cx="8172000" cy="338554"/>
          </a:xfrm>
        </p:spPr>
        <p:txBody>
          <a:bodyPr/>
          <a:lstStyle/>
          <a:p>
            <a:r>
              <a:rPr lang="zh-CN" altLang="en-US" dirty="0"/>
              <a:t>虚拟专用网 </a:t>
            </a:r>
            <a:r>
              <a:rPr lang="en-US" altLang="zh-CN" dirty="0"/>
              <a:t>VPN </a:t>
            </a:r>
            <a:r>
              <a:rPr lang="zh-CN" altLang="en-US" dirty="0"/>
              <a:t>的构建</a:t>
            </a:r>
          </a:p>
        </p:txBody>
      </p:sp>
      <p:sp>
        <p:nvSpPr>
          <p:cNvPr id="6" name="内容占位符 5">
            <a:extLst>
              <a:ext uri="{FF2B5EF4-FFF2-40B4-BE49-F238E27FC236}">
                <a16:creationId xmlns:a16="http://schemas.microsoft.com/office/drawing/2014/main" id="{8C245875-E25A-CDC4-E80C-3C02F9FA1238}"/>
              </a:ext>
            </a:extLst>
          </p:cNvPr>
          <p:cNvSpPr>
            <a:spLocks noGrp="1"/>
          </p:cNvSpPr>
          <p:nvPr>
            <p:ph sz="quarter" idx="11"/>
          </p:nvPr>
        </p:nvSpPr>
        <p:spPr>
          <a:xfrm>
            <a:off x="486000" y="900000"/>
            <a:ext cx="8172000" cy="3703500"/>
          </a:xfrm>
        </p:spPr>
        <p:txBody>
          <a:bodyPr/>
          <a:lstStyle/>
          <a:p>
            <a:r>
              <a:rPr lang="zh-CN" altLang="en-US" dirty="0"/>
              <a:t>如果专用网不同网点之间的通信必须经过公用的互联网，但又有保密的要求，那么所有通过互联网传送的数据都必须加密</a:t>
            </a:r>
          </a:p>
          <a:p>
            <a:r>
              <a:rPr lang="zh-CN" altLang="en-US" dirty="0"/>
              <a:t>必须为每一个场所购买专门的硬件和软件，并进行配置，使每一个场所的 </a:t>
            </a:r>
            <a:r>
              <a:rPr lang="en-US" altLang="zh-CN" dirty="0"/>
              <a:t>VPN </a:t>
            </a:r>
            <a:r>
              <a:rPr lang="zh-CN" altLang="en-US" dirty="0"/>
              <a:t>系统都知道其他场所的地址</a:t>
            </a:r>
          </a:p>
        </p:txBody>
      </p:sp>
    </p:spTree>
    <p:extLst>
      <p:ext uri="{BB962C8B-B14F-4D97-AF65-F5344CB8AC3E}">
        <p14:creationId xmlns:p14="http://schemas.microsoft.com/office/powerpoint/2010/main" val="9146762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5" name="组合 94"/>
          <p:cNvGrpSpPr/>
          <p:nvPr/>
        </p:nvGrpSpPr>
        <p:grpSpPr>
          <a:xfrm>
            <a:off x="6476177" y="1726593"/>
            <a:ext cx="1061860" cy="1200192"/>
            <a:chOff x="6476177" y="1753752"/>
            <a:chExt cx="1061860" cy="1200192"/>
          </a:xfrm>
        </p:grpSpPr>
        <p:grpSp>
          <p:nvGrpSpPr>
            <p:cNvPr id="67" name="Group 65"/>
            <p:cNvGrpSpPr>
              <a:grpSpLocks/>
            </p:cNvGrpSpPr>
            <p:nvPr/>
          </p:nvGrpSpPr>
          <p:grpSpPr bwMode="auto">
            <a:xfrm>
              <a:off x="6476177" y="1933292"/>
              <a:ext cx="1061860" cy="822867"/>
              <a:chOff x="4656" y="1528"/>
              <a:chExt cx="972" cy="816"/>
            </a:xfrm>
          </p:grpSpPr>
          <p:sp>
            <p:nvSpPr>
              <p:cNvPr id="68"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0"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2"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73" name="Text Box 71"/>
              <p:cNvSpPr txBox="1">
                <a:spLocks noChangeArrowheads="1"/>
              </p:cNvSpPr>
              <p:nvPr/>
            </p:nvSpPr>
            <p:spPr bwMode="auto">
              <a:xfrm>
                <a:off x="4891" y="1955"/>
                <a:ext cx="73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CC00CC"/>
                    </a:solidFill>
                    <a:latin typeface="Montserrat" panose="00000500000000000000" pitchFamily="2" charset="0"/>
                    <a:ea typeface="微软雅黑" pitchFamily="34" charset="-122"/>
                  </a:rPr>
                  <a:t>10.2.0.3</a:t>
                </a:r>
              </a:p>
            </p:txBody>
          </p:sp>
        </p:grpSp>
        <p:pic>
          <p:nvPicPr>
            <p:cNvPr id="92"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0" name="组合 89"/>
          <p:cNvGrpSpPr/>
          <p:nvPr/>
        </p:nvGrpSpPr>
        <p:grpSpPr>
          <a:xfrm>
            <a:off x="1361396" y="1708657"/>
            <a:ext cx="1126315" cy="1290585"/>
            <a:chOff x="1417053" y="1735816"/>
            <a:chExt cx="1126315" cy="1290585"/>
          </a:xfrm>
        </p:grpSpPr>
        <p:grpSp>
          <p:nvGrpSpPr>
            <p:cNvPr id="5" name="Group 2"/>
            <p:cNvGrpSpPr>
              <a:grpSpLocks/>
            </p:cNvGrpSpPr>
            <p:nvPr/>
          </p:nvGrpSpPr>
          <p:grpSpPr bwMode="auto">
            <a:xfrm>
              <a:off x="1417053" y="1981696"/>
              <a:ext cx="1126315" cy="871271"/>
              <a:chOff x="25" y="1576"/>
              <a:chExt cx="1031" cy="864"/>
            </a:xfrm>
          </p:grpSpPr>
          <p:sp>
            <p:nvSpPr>
              <p:cNvPr id="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1" name="Text Box 8"/>
              <p:cNvSpPr txBox="1">
                <a:spLocks noChangeArrowheads="1"/>
              </p:cNvSpPr>
              <p:nvPr/>
            </p:nvSpPr>
            <p:spPr bwMode="auto">
              <a:xfrm>
                <a:off x="27" y="2031"/>
                <a:ext cx="668"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CC00CC"/>
                    </a:solidFill>
                    <a:latin typeface="Montserrat" panose="00000500000000000000" pitchFamily="2" charset="0"/>
                    <a:ea typeface="微软雅黑" pitchFamily="34" charset="-122"/>
                  </a:rPr>
                  <a:t>10.1.0.1</a:t>
                </a:r>
              </a:p>
            </p:txBody>
          </p:sp>
        </p:grpSp>
        <p:pic>
          <p:nvPicPr>
            <p:cNvPr id="8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4" name="Group 12"/>
          <p:cNvGrpSpPr>
            <a:grpSpLocks/>
          </p:cNvGrpSpPr>
          <p:nvPr/>
        </p:nvGrpSpPr>
        <p:grpSpPr bwMode="auto">
          <a:xfrm>
            <a:off x="2059412" y="1879913"/>
            <a:ext cx="1040013" cy="778496"/>
            <a:chOff x="385" y="2795"/>
            <a:chExt cx="1769" cy="816"/>
          </a:xfrm>
          <a:solidFill>
            <a:srgbClr val="3399FF"/>
          </a:solidFill>
        </p:grpSpPr>
        <p:sp>
          <p:nvSpPr>
            <p:cNvPr id="15"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6"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7"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8"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9"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0"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1"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2"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3"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4"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5"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6"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7"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8"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29"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0"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1"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32" name="Group 30"/>
          <p:cNvGrpSpPr>
            <a:grpSpLocks/>
          </p:cNvGrpSpPr>
          <p:nvPr/>
        </p:nvGrpSpPr>
        <p:grpSpPr bwMode="auto">
          <a:xfrm>
            <a:off x="5675421" y="1835543"/>
            <a:ext cx="1040013" cy="778496"/>
            <a:chOff x="385" y="2795"/>
            <a:chExt cx="1769" cy="816"/>
          </a:xfrm>
          <a:solidFill>
            <a:srgbClr val="3399FF"/>
          </a:solidFill>
        </p:grpSpPr>
        <p:sp>
          <p:nvSpPr>
            <p:cNvPr id="33"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4"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5"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6"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7"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8"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39"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0"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1"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2"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3"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4"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5"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6"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7"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8"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50" name="Object 48"/>
          <p:cNvGraphicFramePr>
            <a:graphicFrameLocks noChangeAspect="1"/>
          </p:cNvGraphicFramePr>
          <p:nvPr>
            <p:extLst>
              <p:ext uri="{D42A27DB-BD31-4B8C-83A1-F6EECF244321}">
                <p14:modId xmlns:p14="http://schemas.microsoft.com/office/powerpoint/2010/main" val="743601559"/>
              </p:ext>
            </p:extLst>
          </p:nvPr>
        </p:nvGraphicFramePr>
        <p:xfrm>
          <a:off x="3539682" y="1777055"/>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39682" y="1777055"/>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51"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84242" y="2116892"/>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994549" y="2117900"/>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3" name="Text Box 51"/>
          <p:cNvSpPr txBox="1">
            <a:spLocks noChangeArrowheads="1"/>
          </p:cNvSpPr>
          <p:nvPr/>
        </p:nvSpPr>
        <p:spPr bwMode="auto">
          <a:xfrm>
            <a:off x="2246847" y="2025694"/>
            <a:ext cx="73129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部门 </a:t>
            </a:r>
            <a:r>
              <a:rPr kumimoji="1" lang="en-US" altLang="zh-CN" sz="1400" b="1" dirty="0">
                <a:solidFill>
                  <a:schemeClr val="bg1"/>
                </a:solidFill>
                <a:latin typeface="微软雅黑" pitchFamily="34" charset="-122"/>
                <a:ea typeface="微软雅黑" pitchFamily="34" charset="-122"/>
              </a:rPr>
              <a:t>A</a:t>
            </a:r>
          </a:p>
          <a:p>
            <a:pPr algn="ctr"/>
            <a:r>
              <a:rPr kumimoji="1" lang="zh-CN" altLang="en-US" sz="1400" b="1" dirty="0">
                <a:solidFill>
                  <a:schemeClr val="bg1"/>
                </a:solidFill>
                <a:latin typeface="微软雅黑" pitchFamily="34" charset="-122"/>
                <a:ea typeface="微软雅黑" pitchFamily="34" charset="-122"/>
              </a:rPr>
              <a:t>网络</a:t>
            </a:r>
            <a:endParaRPr kumimoji="1" lang="en-US" altLang="zh-CN" sz="1400" b="1" dirty="0">
              <a:solidFill>
                <a:schemeClr val="bg1"/>
              </a:solidFill>
              <a:latin typeface="微软雅黑" pitchFamily="34" charset="-122"/>
              <a:ea typeface="微软雅黑" pitchFamily="34" charset="-122"/>
            </a:endParaRPr>
          </a:p>
        </p:txBody>
      </p:sp>
      <p:sp>
        <p:nvSpPr>
          <p:cNvPr id="54" name="AutoShape 52"/>
          <p:cNvSpPr>
            <a:spLocks noChangeArrowheads="1"/>
          </p:cNvSpPr>
          <p:nvPr/>
        </p:nvSpPr>
        <p:spPr bwMode="auto">
          <a:xfrm rot="16200000">
            <a:off x="4277337" y="1334865"/>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Text Box 53"/>
          <p:cNvSpPr txBox="1">
            <a:spLocks noChangeArrowheads="1"/>
          </p:cNvSpPr>
          <p:nvPr/>
        </p:nvSpPr>
        <p:spPr bwMode="auto">
          <a:xfrm>
            <a:off x="3986072" y="2352892"/>
            <a:ext cx="8114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pitchFamily="34" charset="-122"/>
              </a:rPr>
              <a:t>Internet</a:t>
            </a:r>
            <a:endParaRPr kumimoji="1" lang="zh-CN" altLang="en-US" sz="1200" dirty="0">
              <a:latin typeface="Montserrat" panose="00000500000000000000" pitchFamily="2" charset="0"/>
              <a:ea typeface="微软雅黑" pitchFamily="34" charset="-122"/>
            </a:endParaRPr>
          </a:p>
        </p:txBody>
      </p:sp>
      <p:sp>
        <p:nvSpPr>
          <p:cNvPr id="56" name="Text Box 54"/>
          <p:cNvSpPr txBox="1">
            <a:spLocks noChangeArrowheads="1"/>
          </p:cNvSpPr>
          <p:nvPr/>
        </p:nvSpPr>
        <p:spPr bwMode="auto">
          <a:xfrm>
            <a:off x="5888549" y="1953577"/>
            <a:ext cx="72006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部门 </a:t>
            </a:r>
            <a:r>
              <a:rPr kumimoji="1" lang="en-US" altLang="zh-CN" sz="1400" b="1" dirty="0">
                <a:solidFill>
                  <a:schemeClr val="bg1"/>
                </a:solidFill>
                <a:latin typeface="微软雅黑" pitchFamily="34" charset="-122"/>
                <a:ea typeface="微软雅黑" pitchFamily="34" charset="-122"/>
              </a:rPr>
              <a:t>B</a:t>
            </a:r>
          </a:p>
          <a:p>
            <a:pPr algn="ctr"/>
            <a:r>
              <a:rPr kumimoji="1" lang="zh-CN" altLang="en-US" sz="1400" b="1" dirty="0">
                <a:solidFill>
                  <a:schemeClr val="bg1"/>
                </a:solidFill>
                <a:latin typeface="微软雅黑" pitchFamily="34" charset="-122"/>
                <a:ea typeface="微软雅黑" pitchFamily="34" charset="-122"/>
              </a:rPr>
              <a:t>网络</a:t>
            </a:r>
            <a:endParaRPr kumimoji="1" lang="en-US" altLang="zh-CN" sz="1400" b="1" dirty="0">
              <a:solidFill>
                <a:schemeClr val="bg1"/>
              </a:solidFill>
              <a:latin typeface="微软雅黑" pitchFamily="34" charset="-122"/>
              <a:ea typeface="微软雅黑" pitchFamily="34" charset="-122"/>
            </a:endParaRPr>
          </a:p>
        </p:txBody>
      </p:sp>
      <p:sp>
        <p:nvSpPr>
          <p:cNvPr id="57" name="Text Box 55"/>
          <p:cNvSpPr txBox="1">
            <a:spLocks noChangeArrowheads="1"/>
          </p:cNvSpPr>
          <p:nvPr/>
        </p:nvSpPr>
        <p:spPr bwMode="auto">
          <a:xfrm>
            <a:off x="3046447" y="2310507"/>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58" name="Text Box 56"/>
          <p:cNvSpPr txBox="1">
            <a:spLocks noChangeArrowheads="1"/>
          </p:cNvSpPr>
          <p:nvPr/>
        </p:nvSpPr>
        <p:spPr bwMode="auto">
          <a:xfrm>
            <a:off x="5444374" y="2265129"/>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59" name="Text Box 57"/>
          <p:cNvSpPr txBox="1">
            <a:spLocks noChangeArrowheads="1"/>
          </p:cNvSpPr>
          <p:nvPr/>
        </p:nvSpPr>
        <p:spPr bwMode="auto">
          <a:xfrm>
            <a:off x="3841000" y="2059081"/>
            <a:ext cx="11015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dirty="0">
                <a:solidFill>
                  <a:schemeClr val="bg1"/>
                </a:solidFill>
                <a:latin typeface="Montserrat" panose="00000500000000000000" pitchFamily="2" charset="0"/>
                <a:ea typeface="微软雅黑" pitchFamily="34" charset="-122"/>
              </a:rPr>
              <a:t>Tunneling</a:t>
            </a:r>
            <a:endParaRPr kumimoji="1" lang="zh-CN" altLang="en-US" sz="1400" dirty="0">
              <a:solidFill>
                <a:schemeClr val="bg1"/>
              </a:solidFill>
              <a:latin typeface="Montserrat" panose="00000500000000000000" pitchFamily="2" charset="0"/>
              <a:ea typeface="微软雅黑" pitchFamily="34" charset="-122"/>
            </a:endParaRPr>
          </a:p>
        </p:txBody>
      </p:sp>
      <p:sp>
        <p:nvSpPr>
          <p:cNvPr id="60" name="Line 58"/>
          <p:cNvSpPr>
            <a:spLocks noChangeShapeType="1"/>
          </p:cNvSpPr>
          <p:nvPr/>
        </p:nvSpPr>
        <p:spPr bwMode="auto">
          <a:xfrm>
            <a:off x="3316822"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5257013"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2" name="Group 60"/>
          <p:cNvGrpSpPr>
            <a:grpSpLocks/>
          </p:cNvGrpSpPr>
          <p:nvPr/>
        </p:nvGrpSpPr>
        <p:grpSpPr bwMode="auto">
          <a:xfrm>
            <a:off x="2944508" y="1689456"/>
            <a:ext cx="3011885" cy="471940"/>
            <a:chOff x="1391" y="1348"/>
            <a:chExt cx="2757" cy="468"/>
          </a:xfrm>
        </p:grpSpPr>
        <p:sp>
          <p:nvSpPr>
            <p:cNvPr id="63" name="Text Box 61"/>
            <p:cNvSpPr txBox="1">
              <a:spLocks noChangeArrowheads="1"/>
            </p:cNvSpPr>
            <p:nvPr/>
          </p:nvSpPr>
          <p:spPr bwMode="auto">
            <a:xfrm>
              <a:off x="1391" y="1348"/>
              <a:ext cx="765"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0000FF"/>
                  </a:solidFill>
                  <a:latin typeface="Montserrat" panose="00000500000000000000" pitchFamily="2" charset="0"/>
                  <a:ea typeface="微软雅黑" pitchFamily="34" charset="-122"/>
                </a:rPr>
                <a:t>125.1.2.3</a:t>
              </a:r>
            </a:p>
          </p:txBody>
        </p:sp>
        <p:sp>
          <p:nvSpPr>
            <p:cNvPr id="64"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5" name="Text Box 63"/>
            <p:cNvSpPr txBox="1">
              <a:spLocks noChangeArrowheads="1"/>
            </p:cNvSpPr>
            <p:nvPr/>
          </p:nvSpPr>
          <p:spPr bwMode="auto">
            <a:xfrm>
              <a:off x="3279" y="1367"/>
              <a:ext cx="869"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solidFill>
                    <a:srgbClr val="0000FF"/>
                  </a:solidFill>
                  <a:latin typeface="Montserrat" panose="00000500000000000000" pitchFamily="2" charset="0"/>
                  <a:ea typeface="微软雅黑" pitchFamily="34" charset="-122"/>
                </a:rPr>
                <a:t>194.4.5.6</a:t>
              </a:r>
            </a:p>
          </p:txBody>
        </p:sp>
        <p:sp>
          <p:nvSpPr>
            <p:cNvPr id="66"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77" name="Text Box 75"/>
          <p:cNvSpPr txBox="1">
            <a:spLocks noChangeArrowheads="1"/>
          </p:cNvSpPr>
          <p:nvPr/>
        </p:nvSpPr>
        <p:spPr bwMode="auto">
          <a:xfrm>
            <a:off x="1942502" y="1316683"/>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微软雅黑 Light" panose="020B0502040204020203" pitchFamily="34" charset="-122"/>
                <a:ea typeface="微软雅黑 Light" panose="020B0502040204020203" pitchFamily="34" charset="-122"/>
              </a:rPr>
              <a:t>本地地址</a:t>
            </a:r>
          </a:p>
        </p:txBody>
      </p:sp>
      <p:sp>
        <p:nvSpPr>
          <p:cNvPr id="78" name="Text Box 76"/>
          <p:cNvSpPr txBox="1">
            <a:spLocks noChangeArrowheads="1"/>
          </p:cNvSpPr>
          <p:nvPr/>
        </p:nvSpPr>
        <p:spPr bwMode="auto">
          <a:xfrm>
            <a:off x="5773725"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a:latin typeface="微软雅黑 Light" panose="020B0502040204020203" pitchFamily="34" charset="-122"/>
                <a:ea typeface="微软雅黑 Light" panose="020B0502040204020203" pitchFamily="34" charset="-122"/>
              </a:rPr>
              <a:t>本地地址</a:t>
            </a:r>
          </a:p>
        </p:txBody>
      </p:sp>
      <p:sp>
        <p:nvSpPr>
          <p:cNvPr id="79" name="Text Box 77"/>
          <p:cNvSpPr txBox="1">
            <a:spLocks noChangeArrowheads="1"/>
          </p:cNvSpPr>
          <p:nvPr/>
        </p:nvSpPr>
        <p:spPr bwMode="auto">
          <a:xfrm>
            <a:off x="4000851"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微软雅黑 Light" panose="020B0502040204020203" pitchFamily="34" charset="-122"/>
                <a:ea typeface="微软雅黑 Light" panose="020B0502040204020203" pitchFamily="34" charset="-122"/>
              </a:rPr>
              <a:t>全球地址</a:t>
            </a:r>
          </a:p>
        </p:txBody>
      </p:sp>
      <p:sp>
        <p:nvSpPr>
          <p:cNvPr id="80" name="AutoShape 78"/>
          <p:cNvSpPr>
            <a:spLocks noChangeArrowheads="1"/>
          </p:cNvSpPr>
          <p:nvPr/>
        </p:nvSpPr>
        <p:spPr bwMode="auto">
          <a:xfrm>
            <a:off x="2009160" y="3275559"/>
            <a:ext cx="2427424" cy="618403"/>
          </a:xfrm>
          <a:prstGeom prst="wedgeRoundRectCallout">
            <a:avLst>
              <a:gd name="adj1" fmla="val -24394"/>
              <a:gd name="adj2" fmla="val -166065"/>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微软雅黑" pitchFamily="34" charset="-122"/>
              <a:ea typeface="微软雅黑" pitchFamily="34" charset="-122"/>
            </a:endParaRPr>
          </a:p>
        </p:txBody>
      </p:sp>
      <p:sp>
        <p:nvSpPr>
          <p:cNvPr id="81" name="Text Box 81"/>
          <p:cNvSpPr txBox="1">
            <a:spLocks noChangeArrowheads="1"/>
          </p:cNvSpPr>
          <p:nvPr/>
        </p:nvSpPr>
        <p:spPr bwMode="auto">
          <a:xfrm>
            <a:off x="2367366" y="3291694"/>
            <a:ext cx="1697901"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Light" panose="020B0502040204020203" pitchFamily="34" charset="-122"/>
              </a:rPr>
              <a:t>网络地址 </a:t>
            </a:r>
            <a:r>
              <a:rPr lang="en-US" altLang="zh-CN" sz="1400" dirty="0">
                <a:latin typeface="Montserrat" panose="00000500000000000000" pitchFamily="2" charset="0"/>
                <a:ea typeface="微软雅黑 Light" panose="020B0502040204020203" pitchFamily="34" charset="-122"/>
              </a:rPr>
              <a:t>= 10.1.0.0</a:t>
            </a:r>
          </a:p>
          <a:p>
            <a:pPr algn="ctr">
              <a:lnSpc>
                <a:spcPts val="2000"/>
              </a:lnSpc>
            </a:pPr>
            <a:r>
              <a:rPr lang="zh-CN" altLang="en-US" sz="1400" dirty="0">
                <a:latin typeface="Montserrat" panose="00000500000000000000" pitchFamily="2" charset="0"/>
                <a:ea typeface="微软雅黑 Light" panose="020B0502040204020203" pitchFamily="34" charset="-122"/>
              </a:rPr>
              <a:t>（本地地址）</a:t>
            </a:r>
          </a:p>
        </p:txBody>
      </p:sp>
      <p:sp>
        <p:nvSpPr>
          <p:cNvPr id="82" name="AutoShape 83"/>
          <p:cNvSpPr>
            <a:spLocks noChangeArrowheads="1"/>
          </p:cNvSpPr>
          <p:nvPr/>
        </p:nvSpPr>
        <p:spPr bwMode="auto">
          <a:xfrm>
            <a:off x="4932556" y="3275559"/>
            <a:ext cx="2427424" cy="618403"/>
          </a:xfrm>
          <a:prstGeom prst="wedgeRoundRectCallout">
            <a:avLst>
              <a:gd name="adj1" fmla="val -2116"/>
              <a:gd name="adj2" fmla="val -191574"/>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微软雅黑" pitchFamily="34" charset="-122"/>
              <a:ea typeface="微软雅黑" pitchFamily="34" charset="-122"/>
            </a:endParaRPr>
          </a:p>
        </p:txBody>
      </p:sp>
      <p:sp>
        <p:nvSpPr>
          <p:cNvPr id="83" name="Text Box 82"/>
          <p:cNvSpPr txBox="1">
            <a:spLocks noChangeArrowheads="1"/>
          </p:cNvSpPr>
          <p:nvPr/>
        </p:nvSpPr>
        <p:spPr bwMode="auto">
          <a:xfrm>
            <a:off x="5271526" y="3288669"/>
            <a:ext cx="1736373"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Light" panose="020B0502040204020203" pitchFamily="34" charset="-122"/>
              </a:rPr>
              <a:t>网络地址 </a:t>
            </a:r>
            <a:r>
              <a:rPr lang="en-US" altLang="zh-CN" sz="1400" dirty="0">
                <a:latin typeface="Montserrat" panose="00000500000000000000" pitchFamily="2" charset="0"/>
                <a:ea typeface="微软雅黑 Light" panose="020B0502040204020203" pitchFamily="34" charset="-122"/>
              </a:rPr>
              <a:t>= 10.2.0.0</a:t>
            </a:r>
          </a:p>
          <a:p>
            <a:pPr algn="ctr">
              <a:lnSpc>
                <a:spcPts val="2000"/>
              </a:lnSpc>
            </a:pPr>
            <a:r>
              <a:rPr lang="zh-CN" altLang="en-US" sz="1400" dirty="0">
                <a:latin typeface="Montserrat" panose="00000500000000000000" pitchFamily="2" charset="0"/>
                <a:ea typeface="微软雅黑 Light" panose="020B0502040204020203" pitchFamily="34" charset="-122"/>
              </a:rPr>
              <a:t>（本地地址）</a:t>
            </a:r>
          </a:p>
        </p:txBody>
      </p:sp>
      <p:sp>
        <p:nvSpPr>
          <p:cNvPr id="9" name="标题 8">
            <a:extLst>
              <a:ext uri="{FF2B5EF4-FFF2-40B4-BE49-F238E27FC236}">
                <a16:creationId xmlns:a16="http://schemas.microsoft.com/office/drawing/2014/main" id="{829E4071-1B87-8798-6CF2-DBD1036DBFC6}"/>
              </a:ext>
            </a:extLst>
          </p:cNvPr>
          <p:cNvSpPr>
            <a:spLocks noGrp="1"/>
          </p:cNvSpPr>
          <p:nvPr>
            <p:ph type="title"/>
          </p:nvPr>
        </p:nvSpPr>
        <p:spPr>
          <a:xfrm>
            <a:off x="486000" y="550723"/>
            <a:ext cx="8172000" cy="338554"/>
          </a:xfrm>
        </p:spPr>
        <p:txBody>
          <a:bodyPr/>
          <a:lstStyle/>
          <a:p>
            <a:r>
              <a:rPr lang="zh-CN" altLang="en-US" dirty="0"/>
              <a:t>用隧道技术实现虚拟专用网</a:t>
            </a:r>
          </a:p>
        </p:txBody>
      </p:sp>
    </p:spTree>
    <p:extLst>
      <p:ext uri="{BB962C8B-B14F-4D97-AF65-F5344CB8AC3E}">
        <p14:creationId xmlns:p14="http://schemas.microsoft.com/office/powerpoint/2010/main" val="20963570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7"/>
                                        </p:tgtEl>
                                        <p:attrNameLst>
                                          <p:attrName>style.visibility</p:attrName>
                                        </p:attrNameLst>
                                      </p:cBhvr>
                                      <p:to>
                                        <p:strVal val="visible"/>
                                      </p:to>
                                    </p:set>
                                  </p:childTnLst>
                                </p:cTn>
                              </p:par>
                              <p:par>
                                <p:cTn id="7" presetID="35" presetClass="emph" presetSubtype="0" repeatCount="3000" fill="hold" nodeType="withEffect">
                                  <p:stCondLst>
                                    <p:cond delay="0"/>
                                  </p:stCondLst>
                                  <p:childTnLst>
                                    <p:anim calcmode="discrete" valueType="str">
                                      <p:cBhvr>
                                        <p:cTn id="8" dur="1000" fill="hold"/>
                                        <p:tgtEl>
                                          <p:spTgt spid="90"/>
                                        </p:tgtEl>
                                        <p:attrNameLst>
                                          <p:attrName>style.visibility</p:attrName>
                                        </p:attrNameLst>
                                      </p:cBhvr>
                                      <p:tavLst>
                                        <p:tav tm="0">
                                          <p:val>
                                            <p:strVal val="hidden"/>
                                          </p:val>
                                        </p:tav>
                                        <p:tav tm="50000">
                                          <p:val>
                                            <p:strVal val="visible"/>
                                          </p:val>
                                        </p:tav>
                                      </p:tavLst>
                                    </p:anim>
                                  </p:childTnLst>
                                </p:cTn>
                              </p:par>
                              <p:par>
                                <p:cTn id="9" presetID="1" presetClass="entr" presetSubtype="0" fill="hold" grpId="0" nodeType="withEffect">
                                  <p:stCondLst>
                                    <p:cond delay="0"/>
                                  </p:stCondLst>
                                  <p:childTnLst>
                                    <p:set>
                                      <p:cBhvr>
                                        <p:cTn id="10" dur="1" fill="hold">
                                          <p:stCondLst>
                                            <p:cond delay="0"/>
                                          </p:stCondLst>
                                        </p:cTn>
                                        <p:tgtEl>
                                          <p:spTgt spid="78"/>
                                        </p:tgtEl>
                                        <p:attrNameLst>
                                          <p:attrName>style.visibility</p:attrName>
                                        </p:attrNameLst>
                                      </p:cBhvr>
                                      <p:to>
                                        <p:strVal val="visible"/>
                                      </p:to>
                                    </p:set>
                                  </p:childTnLst>
                                </p:cTn>
                              </p:par>
                              <p:par>
                                <p:cTn id="11" presetID="35" presetClass="emph" presetSubtype="0" repeatCount="3000" fill="hold" nodeType="withEffect">
                                  <p:stCondLst>
                                    <p:cond delay="0"/>
                                  </p:stCondLst>
                                  <p:childTnLst>
                                    <p:anim calcmode="discrete" valueType="str">
                                      <p:cBhvr>
                                        <p:cTn id="12" dur="1000" fill="hold"/>
                                        <p:tgtEl>
                                          <p:spTgt spid="95"/>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9"/>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p:bldP spid="78" grpId="0"/>
      <p:bldP spid="79" grpId="0"/>
    </p:bldLst>
  </p:timing>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1" name="组合 80"/>
          <p:cNvGrpSpPr/>
          <p:nvPr/>
        </p:nvGrpSpPr>
        <p:grpSpPr>
          <a:xfrm>
            <a:off x="6581684" y="1509122"/>
            <a:ext cx="1104466" cy="1200192"/>
            <a:chOff x="6476180" y="1753752"/>
            <a:chExt cx="1104466" cy="1200192"/>
          </a:xfrm>
        </p:grpSpPr>
        <p:grpSp>
          <p:nvGrpSpPr>
            <p:cNvPr id="82" name="Group 65"/>
            <p:cNvGrpSpPr>
              <a:grpSpLocks/>
            </p:cNvGrpSpPr>
            <p:nvPr/>
          </p:nvGrpSpPr>
          <p:grpSpPr bwMode="auto">
            <a:xfrm>
              <a:off x="6476180" y="1933292"/>
              <a:ext cx="1104466" cy="822867"/>
              <a:chOff x="4656" y="1528"/>
              <a:chExt cx="1011" cy="816"/>
            </a:xfrm>
          </p:grpSpPr>
          <p:sp>
            <p:nvSpPr>
              <p:cNvPr id="86"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7"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8"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90" name="Text Box 71"/>
              <p:cNvSpPr txBox="1">
                <a:spLocks noChangeArrowheads="1"/>
              </p:cNvSpPr>
              <p:nvPr/>
            </p:nvSpPr>
            <p:spPr bwMode="auto">
              <a:xfrm>
                <a:off x="4851" y="1955"/>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10.2.0.3</a:t>
                </a:r>
              </a:p>
            </p:txBody>
          </p:sp>
        </p:grpSp>
        <p:pic>
          <p:nvPicPr>
            <p:cNvPr id="8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1" name="组合 90"/>
          <p:cNvGrpSpPr/>
          <p:nvPr/>
        </p:nvGrpSpPr>
        <p:grpSpPr>
          <a:xfrm>
            <a:off x="1388244" y="1491186"/>
            <a:ext cx="1204971" cy="1290585"/>
            <a:chOff x="1338397" y="1735816"/>
            <a:chExt cx="1204971" cy="1290585"/>
          </a:xfrm>
        </p:grpSpPr>
        <p:grpSp>
          <p:nvGrpSpPr>
            <p:cNvPr id="92" name="Group 2"/>
            <p:cNvGrpSpPr>
              <a:grpSpLocks/>
            </p:cNvGrpSpPr>
            <p:nvPr/>
          </p:nvGrpSpPr>
          <p:grpSpPr bwMode="auto">
            <a:xfrm>
              <a:off x="1338397" y="1981696"/>
              <a:ext cx="1204971" cy="871271"/>
              <a:chOff x="-47" y="1576"/>
              <a:chExt cx="1103" cy="864"/>
            </a:xfrm>
          </p:grpSpPr>
          <p:sp>
            <p:nvSpPr>
              <p:cNvPr id="9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9"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00" name="Text Box 8"/>
              <p:cNvSpPr txBox="1">
                <a:spLocks noChangeArrowheads="1"/>
              </p:cNvSpPr>
              <p:nvPr/>
            </p:nvSpPr>
            <p:spPr bwMode="auto">
              <a:xfrm>
                <a:off x="-47" y="2031"/>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10.1.0.1</a:t>
                </a:r>
              </a:p>
            </p:txBody>
          </p:sp>
        </p:grpSp>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1" name="Group 12"/>
          <p:cNvGrpSpPr>
            <a:grpSpLocks/>
          </p:cNvGrpSpPr>
          <p:nvPr/>
        </p:nvGrpSpPr>
        <p:grpSpPr bwMode="auto">
          <a:xfrm>
            <a:off x="2164916" y="1662442"/>
            <a:ext cx="1040013" cy="778496"/>
            <a:chOff x="385" y="2795"/>
            <a:chExt cx="1769" cy="816"/>
          </a:xfrm>
          <a:solidFill>
            <a:srgbClr val="3399FF"/>
          </a:solidFill>
        </p:grpSpPr>
        <p:sp>
          <p:nvSpPr>
            <p:cNvPr id="102"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3"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4"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5"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6"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7"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8"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9"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0"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1"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2"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3"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4"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5"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6"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7"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8"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119" name="Group 30"/>
          <p:cNvGrpSpPr>
            <a:grpSpLocks/>
          </p:cNvGrpSpPr>
          <p:nvPr/>
        </p:nvGrpSpPr>
        <p:grpSpPr bwMode="auto">
          <a:xfrm>
            <a:off x="5780925" y="1618072"/>
            <a:ext cx="1040013" cy="778496"/>
            <a:chOff x="385" y="2795"/>
            <a:chExt cx="1769" cy="816"/>
          </a:xfrm>
          <a:solidFill>
            <a:srgbClr val="3399FF"/>
          </a:solidFill>
        </p:grpSpPr>
        <p:sp>
          <p:nvSpPr>
            <p:cNvPr id="120"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1"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2"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3"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4"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5"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6"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7"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8"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9"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0"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2"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3"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4"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5"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6"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137" name="Object 48"/>
          <p:cNvGraphicFramePr>
            <a:graphicFrameLocks noChangeAspect="1"/>
          </p:cNvGraphicFramePr>
          <p:nvPr>
            <p:extLst>
              <p:ext uri="{D42A27DB-BD31-4B8C-83A1-F6EECF244321}">
                <p14:modId xmlns:p14="http://schemas.microsoft.com/office/powerpoint/2010/main" val="3918792276"/>
              </p:ext>
            </p:extLst>
          </p:nvPr>
        </p:nvGraphicFramePr>
        <p:xfrm>
          <a:off x="3645186" y="1559584"/>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45186" y="1559584"/>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138"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589746" y="1899421"/>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9"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100053" y="1900429"/>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0" name="Text Box 51"/>
          <p:cNvSpPr txBox="1">
            <a:spLocks noChangeArrowheads="1"/>
          </p:cNvSpPr>
          <p:nvPr/>
        </p:nvSpPr>
        <p:spPr bwMode="auto">
          <a:xfrm>
            <a:off x="2359666" y="1874058"/>
            <a:ext cx="6543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1" name="AutoShape 52"/>
          <p:cNvSpPr>
            <a:spLocks noChangeArrowheads="1"/>
          </p:cNvSpPr>
          <p:nvPr/>
        </p:nvSpPr>
        <p:spPr bwMode="auto">
          <a:xfrm rot="16200000">
            <a:off x="4382841" y="1117394"/>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2" name="Text Box 53"/>
          <p:cNvSpPr txBox="1">
            <a:spLocks noChangeArrowheads="1"/>
          </p:cNvSpPr>
          <p:nvPr/>
        </p:nvSpPr>
        <p:spPr bwMode="auto">
          <a:xfrm>
            <a:off x="4228781" y="213542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互联网</a:t>
            </a:r>
            <a:endParaRPr kumimoji="1" lang="zh-CN" altLang="en-US" sz="1400" b="1" dirty="0">
              <a:solidFill>
                <a:srgbClr val="0000FF"/>
              </a:solidFill>
              <a:latin typeface="微软雅黑" pitchFamily="34" charset="-122"/>
              <a:ea typeface="微软雅黑" pitchFamily="34" charset="-122"/>
            </a:endParaRPr>
          </a:p>
        </p:txBody>
      </p:sp>
      <p:sp>
        <p:nvSpPr>
          <p:cNvPr id="143" name="Text Box 54"/>
          <p:cNvSpPr txBox="1">
            <a:spLocks noChangeArrowheads="1"/>
          </p:cNvSpPr>
          <p:nvPr/>
        </p:nvSpPr>
        <p:spPr bwMode="auto">
          <a:xfrm>
            <a:off x="6001368" y="1801941"/>
            <a:ext cx="6447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4" name="Text Box 55"/>
          <p:cNvSpPr txBox="1">
            <a:spLocks noChangeArrowheads="1"/>
          </p:cNvSpPr>
          <p:nvPr/>
        </p:nvSpPr>
        <p:spPr bwMode="auto">
          <a:xfrm>
            <a:off x="3151951" y="2093036"/>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145" name="Text Box 56"/>
          <p:cNvSpPr txBox="1">
            <a:spLocks noChangeArrowheads="1"/>
          </p:cNvSpPr>
          <p:nvPr/>
        </p:nvSpPr>
        <p:spPr bwMode="auto">
          <a:xfrm>
            <a:off x="5549878" y="2047658"/>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146" name="Text Box 57"/>
          <p:cNvSpPr txBox="1">
            <a:spLocks noChangeArrowheads="1"/>
          </p:cNvSpPr>
          <p:nvPr/>
        </p:nvSpPr>
        <p:spPr bwMode="auto">
          <a:xfrm>
            <a:off x="4318602" y="184161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FFFF00"/>
                </a:solidFill>
                <a:latin typeface="微软雅黑" pitchFamily="34" charset="-122"/>
                <a:ea typeface="微软雅黑" pitchFamily="34" charset="-122"/>
              </a:rPr>
              <a:t>隧道</a:t>
            </a:r>
          </a:p>
        </p:txBody>
      </p:sp>
      <p:sp>
        <p:nvSpPr>
          <p:cNvPr id="147" name="Line 58"/>
          <p:cNvSpPr>
            <a:spLocks noChangeShapeType="1"/>
          </p:cNvSpPr>
          <p:nvPr/>
        </p:nvSpPr>
        <p:spPr bwMode="auto">
          <a:xfrm>
            <a:off x="3422326"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8" name="Line 59"/>
          <p:cNvSpPr>
            <a:spLocks noChangeShapeType="1"/>
          </p:cNvSpPr>
          <p:nvPr/>
        </p:nvSpPr>
        <p:spPr bwMode="auto">
          <a:xfrm>
            <a:off x="5362517"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149" name="Group 60"/>
          <p:cNvGrpSpPr>
            <a:grpSpLocks/>
          </p:cNvGrpSpPr>
          <p:nvPr/>
        </p:nvGrpSpPr>
        <p:grpSpPr bwMode="auto">
          <a:xfrm>
            <a:off x="2966985" y="1471985"/>
            <a:ext cx="3121130" cy="471940"/>
            <a:chOff x="1315" y="1348"/>
            <a:chExt cx="2857" cy="468"/>
          </a:xfrm>
        </p:grpSpPr>
        <p:sp>
          <p:nvSpPr>
            <p:cNvPr id="150" name="Text Box 61"/>
            <p:cNvSpPr txBox="1">
              <a:spLocks noChangeArrowheads="1"/>
            </p:cNvSpPr>
            <p:nvPr/>
          </p:nvSpPr>
          <p:spPr bwMode="auto">
            <a:xfrm>
              <a:off x="1315" y="1348"/>
              <a:ext cx="91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0000FF"/>
                  </a:solidFill>
                  <a:latin typeface="微软雅黑" pitchFamily="34" charset="-122"/>
                  <a:ea typeface="微软雅黑" pitchFamily="34" charset="-122"/>
                </a:rPr>
                <a:t>125.1.2.3</a:t>
              </a:r>
            </a:p>
          </p:txBody>
        </p:sp>
        <p:sp>
          <p:nvSpPr>
            <p:cNvPr id="151"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2" name="Text Box 63"/>
            <p:cNvSpPr txBox="1">
              <a:spLocks noChangeArrowheads="1"/>
            </p:cNvSpPr>
            <p:nvPr/>
          </p:nvSpPr>
          <p:spPr bwMode="auto">
            <a:xfrm>
              <a:off x="3255" y="1367"/>
              <a:ext cx="917"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solidFill>
                    <a:srgbClr val="0000FF"/>
                  </a:solidFill>
                  <a:latin typeface="微软雅黑" pitchFamily="34" charset="-122"/>
                  <a:ea typeface="微软雅黑" pitchFamily="34" charset="-122"/>
                </a:rPr>
                <a:t>194.4.5.6</a:t>
              </a:r>
            </a:p>
          </p:txBody>
        </p:sp>
        <p:sp>
          <p:nvSpPr>
            <p:cNvPr id="153"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54" name="Text Box 74"/>
          <p:cNvSpPr txBox="1">
            <a:spLocks noChangeArrowheads="1"/>
          </p:cNvSpPr>
          <p:nvPr/>
        </p:nvSpPr>
        <p:spPr bwMode="auto">
          <a:xfrm>
            <a:off x="3961781" y="2554981"/>
            <a:ext cx="12618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使用隧道技术</a:t>
            </a:r>
          </a:p>
        </p:txBody>
      </p:sp>
      <p:grpSp>
        <p:nvGrpSpPr>
          <p:cNvPr id="167" name="组合 166"/>
          <p:cNvGrpSpPr/>
          <p:nvPr/>
        </p:nvGrpSpPr>
        <p:grpSpPr>
          <a:xfrm>
            <a:off x="2197642" y="647170"/>
            <a:ext cx="4638805" cy="1379806"/>
            <a:chOff x="1020356" y="143391"/>
            <a:chExt cx="7728444" cy="2298816"/>
          </a:xfrm>
        </p:grpSpPr>
        <p:sp>
          <p:nvSpPr>
            <p:cNvPr id="158" name="AutoShape 75"/>
            <p:cNvSpPr>
              <a:spLocks noChangeArrowheads="1"/>
            </p:cNvSpPr>
            <p:nvPr/>
          </p:nvSpPr>
          <p:spPr bwMode="auto">
            <a:xfrm>
              <a:off x="6246803" y="1107355"/>
              <a:ext cx="495300" cy="152400"/>
            </a:xfrm>
            <a:prstGeom prst="rightArrow">
              <a:avLst>
                <a:gd name="adj1" fmla="val 50000"/>
                <a:gd name="adj2" fmla="val 75000"/>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9" name="Rectangle 76"/>
            <p:cNvSpPr>
              <a:spLocks noChangeArrowheads="1"/>
            </p:cNvSpPr>
            <p:nvPr/>
          </p:nvSpPr>
          <p:spPr bwMode="auto">
            <a:xfrm>
              <a:off x="1020356" y="332656"/>
              <a:ext cx="3666596" cy="4349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加密的从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到 </a:t>
              </a:r>
              <a:r>
                <a:rPr kumimoji="1" lang="en-US" altLang="zh-CN" sz="1200" b="1" dirty="0">
                  <a:latin typeface="微软雅黑" pitchFamily="34" charset="-122"/>
                  <a:ea typeface="微软雅黑" pitchFamily="34" charset="-122"/>
                </a:rPr>
                <a:t>Y </a:t>
              </a:r>
              <a:r>
                <a:rPr kumimoji="1" lang="zh-CN" altLang="en-US" sz="1200" b="1" dirty="0">
                  <a:latin typeface="微软雅黑" pitchFamily="34" charset="-122"/>
                  <a:ea typeface="微软雅黑" pitchFamily="34" charset="-122"/>
                </a:rPr>
                <a:t>的内部数据报</a:t>
              </a:r>
            </a:p>
          </p:txBody>
        </p:sp>
        <p:sp>
          <p:nvSpPr>
            <p:cNvPr id="160" name="Rectangle 77"/>
            <p:cNvSpPr>
              <a:spLocks noChangeArrowheads="1"/>
            </p:cNvSpPr>
            <p:nvPr/>
          </p:nvSpPr>
          <p:spPr bwMode="auto">
            <a:xfrm>
              <a:off x="1020356" y="983530"/>
              <a:ext cx="3709591" cy="3968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外部数据报的数据部分</a:t>
              </a:r>
            </a:p>
          </p:txBody>
        </p:sp>
        <p:sp>
          <p:nvSpPr>
            <p:cNvPr id="161" name="AutoShape 78"/>
            <p:cNvSpPr>
              <a:spLocks noChangeArrowheads="1"/>
            </p:cNvSpPr>
            <p:nvPr/>
          </p:nvSpPr>
          <p:spPr bwMode="auto">
            <a:xfrm>
              <a:off x="3679179" y="702441"/>
              <a:ext cx="302683" cy="346075"/>
            </a:xfrm>
            <a:prstGeom prst="downArrow">
              <a:avLst>
                <a:gd name="adj1" fmla="val 50000"/>
                <a:gd name="adj2" fmla="val 75000"/>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162" name="Text Box 79"/>
            <p:cNvSpPr txBox="1">
              <a:spLocks noChangeArrowheads="1"/>
            </p:cNvSpPr>
            <p:nvPr/>
          </p:nvSpPr>
          <p:spPr bwMode="auto">
            <a:xfrm>
              <a:off x="5997475" y="143391"/>
              <a:ext cx="2751325" cy="769154"/>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chemeClr val="bg1"/>
                  </a:solidFill>
                  <a:latin typeface="微软雅黑" pitchFamily="34" charset="-122"/>
                  <a:ea typeface="微软雅黑" pitchFamily="34" charset="-122"/>
                </a:rPr>
                <a:t>源地址：</a:t>
              </a:r>
              <a:r>
                <a:rPr kumimoji="1" lang="en-US" altLang="zh-CN" sz="1200" b="1" dirty="0">
                  <a:solidFill>
                    <a:schemeClr val="bg1"/>
                  </a:solidFill>
                  <a:latin typeface="微软雅黑" pitchFamily="34" charset="-122"/>
                  <a:ea typeface="微软雅黑" pitchFamily="34" charset="-122"/>
                </a:rPr>
                <a:t>125.1.2.3</a:t>
              </a:r>
            </a:p>
            <a:p>
              <a:pPr algn="r"/>
              <a:r>
                <a:rPr kumimoji="1" lang="zh-CN" altLang="en-US" sz="1200" b="1" dirty="0">
                  <a:solidFill>
                    <a:schemeClr val="bg1"/>
                  </a:solidFill>
                  <a:latin typeface="微软雅黑" pitchFamily="34" charset="-122"/>
                  <a:ea typeface="微软雅黑" pitchFamily="34" charset="-122"/>
                </a:rPr>
                <a:t>目的地址：</a:t>
              </a:r>
              <a:r>
                <a:rPr kumimoji="1" lang="en-US" altLang="zh-CN" sz="1200" b="1" dirty="0">
                  <a:solidFill>
                    <a:schemeClr val="bg1"/>
                  </a:solidFill>
                  <a:latin typeface="微软雅黑" pitchFamily="34" charset="-122"/>
                  <a:ea typeface="微软雅黑" pitchFamily="34" charset="-122"/>
                </a:rPr>
                <a:t>194.4.5.6</a:t>
              </a:r>
            </a:p>
          </p:txBody>
        </p:sp>
        <p:sp>
          <p:nvSpPr>
            <p:cNvPr id="163" name="Freeform 80"/>
            <p:cNvSpPr>
              <a:spLocks/>
            </p:cNvSpPr>
            <p:nvPr/>
          </p:nvSpPr>
          <p:spPr bwMode="auto">
            <a:xfrm>
              <a:off x="4054069" y="1488356"/>
              <a:ext cx="502178" cy="953851"/>
            </a:xfrm>
            <a:custGeom>
              <a:avLst/>
              <a:gdLst>
                <a:gd name="T0" fmla="*/ 0 w 292"/>
                <a:gd name="T1" fmla="*/ 0 h 584"/>
                <a:gd name="T2" fmla="*/ 4 w 292"/>
                <a:gd name="T3" fmla="*/ 126 h 584"/>
                <a:gd name="T4" fmla="*/ 22 w 292"/>
                <a:gd name="T5" fmla="*/ 282 h 584"/>
                <a:gd name="T6" fmla="*/ 46 w 292"/>
                <a:gd name="T7" fmla="*/ 390 h 584"/>
                <a:gd name="T8" fmla="*/ 96 w 292"/>
                <a:gd name="T9" fmla="*/ 488 h 584"/>
                <a:gd name="T10" fmla="*/ 184 w 292"/>
                <a:gd name="T11" fmla="*/ 560 h 584"/>
                <a:gd name="T12" fmla="*/ 292 w 292"/>
                <a:gd name="T13" fmla="*/ 584 h 584"/>
              </a:gdLst>
              <a:ahLst/>
              <a:cxnLst>
                <a:cxn ang="0">
                  <a:pos x="T0" y="T1"/>
                </a:cxn>
                <a:cxn ang="0">
                  <a:pos x="T2" y="T3"/>
                </a:cxn>
                <a:cxn ang="0">
                  <a:pos x="T4" y="T5"/>
                </a:cxn>
                <a:cxn ang="0">
                  <a:pos x="T6" y="T7"/>
                </a:cxn>
                <a:cxn ang="0">
                  <a:pos x="T8" y="T9"/>
                </a:cxn>
                <a:cxn ang="0">
                  <a:pos x="T10" y="T11"/>
                </a:cxn>
                <a:cxn ang="0">
                  <a:pos x="T12" y="T13"/>
                </a:cxn>
              </a:cxnLst>
              <a:rect l="0" t="0" r="r" b="b"/>
              <a:pathLst>
                <a:path w="292" h="584">
                  <a:moveTo>
                    <a:pt x="0" y="0"/>
                  </a:moveTo>
                  <a:cubicBezTo>
                    <a:pt x="1" y="21"/>
                    <a:pt x="0" y="79"/>
                    <a:pt x="4" y="126"/>
                  </a:cubicBezTo>
                  <a:cubicBezTo>
                    <a:pt x="8" y="173"/>
                    <a:pt x="15" y="238"/>
                    <a:pt x="22" y="282"/>
                  </a:cubicBezTo>
                  <a:cubicBezTo>
                    <a:pt x="29" y="326"/>
                    <a:pt x="34" y="356"/>
                    <a:pt x="46" y="390"/>
                  </a:cubicBezTo>
                  <a:cubicBezTo>
                    <a:pt x="58" y="424"/>
                    <a:pt x="73" y="460"/>
                    <a:pt x="96" y="488"/>
                  </a:cubicBezTo>
                  <a:cubicBezTo>
                    <a:pt x="119" y="516"/>
                    <a:pt x="151" y="544"/>
                    <a:pt x="184" y="560"/>
                  </a:cubicBezTo>
                  <a:cubicBezTo>
                    <a:pt x="217" y="576"/>
                    <a:pt x="270" y="579"/>
                    <a:pt x="292" y="584"/>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4" name="Rectangle 81"/>
            <p:cNvSpPr>
              <a:spLocks noChangeArrowheads="1"/>
            </p:cNvSpPr>
            <p:nvPr/>
          </p:nvSpPr>
          <p:spPr bwMode="auto">
            <a:xfrm>
              <a:off x="4686952" y="983530"/>
              <a:ext cx="1559852" cy="396875"/>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数据报首部</a:t>
              </a:r>
            </a:p>
          </p:txBody>
        </p:sp>
        <p:sp>
          <p:nvSpPr>
            <p:cNvPr id="165" name="Line 82"/>
            <p:cNvSpPr>
              <a:spLocks noChangeShapeType="1"/>
            </p:cNvSpPr>
            <p:nvPr/>
          </p:nvSpPr>
          <p:spPr bwMode="auto">
            <a:xfrm flipH="1">
              <a:off x="5637345" y="767630"/>
              <a:ext cx="467783" cy="28733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6" name="Line 83"/>
            <p:cNvSpPr>
              <a:spLocks noChangeShapeType="1"/>
            </p:cNvSpPr>
            <p:nvPr/>
          </p:nvSpPr>
          <p:spPr bwMode="auto">
            <a:xfrm>
              <a:off x="1020357" y="1488355"/>
              <a:ext cx="5226447" cy="0"/>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68" name="矩形 167"/>
          <p:cNvSpPr/>
          <p:nvPr/>
        </p:nvSpPr>
        <p:spPr>
          <a:xfrm>
            <a:off x="2796544" y="4339177"/>
            <a:ext cx="3550913" cy="307777"/>
          </a:xfrm>
          <a:prstGeom prst="rect">
            <a:avLst/>
          </a:prstGeom>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用隧道技术实现虚拟专用网</a:t>
            </a:r>
          </a:p>
        </p:txBody>
      </p:sp>
      <p:grpSp>
        <p:nvGrpSpPr>
          <p:cNvPr id="241" name="组合 240"/>
          <p:cNvGrpSpPr/>
          <p:nvPr/>
        </p:nvGrpSpPr>
        <p:grpSpPr>
          <a:xfrm>
            <a:off x="1528958" y="2994292"/>
            <a:ext cx="6075400" cy="1173284"/>
            <a:chOff x="1528958" y="2876603"/>
            <a:chExt cx="6075400" cy="1173284"/>
          </a:xfrm>
        </p:grpSpPr>
        <p:sp>
          <p:nvSpPr>
            <p:cNvPr id="170" name="AutoShape 85"/>
            <p:cNvSpPr>
              <a:spLocks noChangeArrowheads="1"/>
            </p:cNvSpPr>
            <p:nvPr/>
          </p:nvSpPr>
          <p:spPr bwMode="auto">
            <a:xfrm>
              <a:off x="1528958" y="2876603"/>
              <a:ext cx="6075400" cy="1149280"/>
            </a:xfrm>
            <a:prstGeom prst="roundRect">
              <a:avLst>
                <a:gd name="adj" fmla="val 16667"/>
              </a:avLst>
            </a:prstGeom>
            <a:solidFill>
              <a:srgbClr val="CCFF99"/>
            </a:solidFill>
            <a:ln w="12700" cap="rnd">
              <a:solidFill>
                <a:schemeClr val="tx1"/>
              </a:solidFill>
              <a:prstDash val="sysDot"/>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1" name="Line 86"/>
            <p:cNvSpPr>
              <a:spLocks noChangeShapeType="1"/>
            </p:cNvSpPr>
            <p:nvPr/>
          </p:nvSpPr>
          <p:spPr bwMode="auto">
            <a:xfrm>
              <a:off x="3503175" y="3344828"/>
              <a:ext cx="1994391" cy="0"/>
            </a:xfrm>
            <a:prstGeom prst="line">
              <a:avLst/>
            </a:prstGeom>
            <a:noFill/>
            <a:ln w="28575">
              <a:solidFill>
                <a:srgbClr val="000066"/>
              </a:solidFill>
              <a:prstDash val="solid"/>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2" name="Line 87"/>
            <p:cNvSpPr>
              <a:spLocks noChangeShapeType="1"/>
            </p:cNvSpPr>
            <p:nvPr/>
          </p:nvSpPr>
          <p:spPr bwMode="auto">
            <a:xfrm flipV="1">
              <a:off x="2592441" y="3727922"/>
              <a:ext cx="230565"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3" name="Line 88"/>
            <p:cNvSpPr>
              <a:spLocks noChangeShapeType="1"/>
            </p:cNvSpPr>
            <p:nvPr/>
          </p:nvSpPr>
          <p:spPr bwMode="auto">
            <a:xfrm>
              <a:off x="2407989" y="3131999"/>
              <a:ext cx="230565" cy="12769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4" name="Line 89"/>
            <p:cNvSpPr>
              <a:spLocks noChangeShapeType="1"/>
            </p:cNvSpPr>
            <p:nvPr/>
          </p:nvSpPr>
          <p:spPr bwMode="auto">
            <a:xfrm flipV="1">
              <a:off x="2223536" y="3478733"/>
              <a:ext cx="276679"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5" name="Group 90"/>
            <p:cNvGrpSpPr>
              <a:grpSpLocks/>
            </p:cNvGrpSpPr>
            <p:nvPr/>
          </p:nvGrpSpPr>
          <p:grpSpPr bwMode="auto">
            <a:xfrm>
              <a:off x="2439692" y="3070810"/>
              <a:ext cx="914576" cy="684602"/>
              <a:chOff x="385" y="2795"/>
              <a:chExt cx="1769" cy="816"/>
            </a:xfrm>
            <a:solidFill>
              <a:srgbClr val="3399FF"/>
            </a:solidFill>
          </p:grpSpPr>
          <p:sp>
            <p:nvSpPr>
              <p:cNvPr id="218" name="Oval 9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9" name="Oval 9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0" name="Oval 9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1" name="Oval 9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2" name="Oval 9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3" name="Oval 9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4" name="Oval 9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5" name="Oval 9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6" name="Oval 9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7" name="Oval 10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8" name="Oval 10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9" name="Oval 10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0" name="Oval 10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1" name="Oval 10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2" name="Oval 10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3" name="Oval 10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4" name="Freeform 10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sp>
          <p:nvSpPr>
            <p:cNvPr id="176" name="Line 108"/>
            <p:cNvSpPr>
              <a:spLocks noChangeShapeType="1"/>
            </p:cNvSpPr>
            <p:nvPr/>
          </p:nvSpPr>
          <p:spPr bwMode="auto">
            <a:xfrm flipH="1">
              <a:off x="6419828" y="3089433"/>
              <a:ext cx="230565" cy="85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7" name="Line 109"/>
            <p:cNvSpPr>
              <a:spLocks noChangeShapeType="1"/>
            </p:cNvSpPr>
            <p:nvPr/>
          </p:nvSpPr>
          <p:spPr bwMode="auto">
            <a:xfrm flipH="1" flipV="1">
              <a:off x="6281489" y="3642790"/>
              <a:ext cx="322792"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8" name="Line 110"/>
            <p:cNvSpPr>
              <a:spLocks noChangeShapeType="1"/>
            </p:cNvSpPr>
            <p:nvPr/>
          </p:nvSpPr>
          <p:spPr bwMode="auto">
            <a:xfrm flipH="1" flipV="1">
              <a:off x="6419828" y="3429960"/>
              <a:ext cx="33432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9" name="Group 111"/>
            <p:cNvGrpSpPr>
              <a:grpSpLocks/>
            </p:cNvGrpSpPr>
            <p:nvPr/>
          </p:nvGrpSpPr>
          <p:grpSpPr bwMode="auto">
            <a:xfrm>
              <a:off x="5621495" y="3030904"/>
              <a:ext cx="914576" cy="684602"/>
              <a:chOff x="385" y="2795"/>
              <a:chExt cx="1769" cy="816"/>
            </a:xfrm>
            <a:solidFill>
              <a:srgbClr val="3399FF"/>
            </a:solidFill>
          </p:grpSpPr>
          <p:sp>
            <p:nvSpPr>
              <p:cNvPr id="201" name="Oval 112"/>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2" name="Oval 113"/>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3" name="Oval 114"/>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4" name="Oval 115"/>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5" name="Oval 116"/>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6" name="Oval 117"/>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7" name="Oval 118"/>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8" name="Oval 119"/>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9" name="Oval 120"/>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0" name="Oval 121"/>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1" name="Oval 122"/>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2" name="Oval 123"/>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3" name="Oval 124"/>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4" name="Oval 125"/>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5" name="Oval 126"/>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6" name="Oval 127"/>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7" name="Freeform 128"/>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pic>
          <p:nvPicPr>
            <p:cNvPr id="180" name="Picture 12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09183" y="3274772"/>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1" name="Picture 13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19771" y="3275659"/>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3" name="Text Box 132"/>
            <p:cNvSpPr txBox="1">
              <a:spLocks noChangeArrowheads="1"/>
            </p:cNvSpPr>
            <p:nvPr/>
          </p:nvSpPr>
          <p:spPr bwMode="auto">
            <a:xfrm>
              <a:off x="2587349" y="3194519"/>
              <a:ext cx="654230"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5" name="Text Box 134"/>
            <p:cNvSpPr txBox="1">
              <a:spLocks noChangeArrowheads="1"/>
            </p:cNvSpPr>
            <p:nvPr/>
          </p:nvSpPr>
          <p:spPr bwMode="auto">
            <a:xfrm>
              <a:off x="5767231" y="3153727"/>
              <a:ext cx="644623"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6" name="Text Box 135"/>
            <p:cNvSpPr txBox="1">
              <a:spLocks noChangeArrowheads="1"/>
            </p:cNvSpPr>
            <p:nvPr/>
          </p:nvSpPr>
          <p:spPr bwMode="auto">
            <a:xfrm>
              <a:off x="2046852" y="3146187"/>
              <a:ext cx="292050"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X</a:t>
              </a:r>
            </a:p>
          </p:txBody>
        </p:sp>
        <p:sp>
          <p:nvSpPr>
            <p:cNvPr id="187" name="Text Box 136"/>
            <p:cNvSpPr txBox="1">
              <a:spLocks noChangeArrowheads="1"/>
            </p:cNvSpPr>
            <p:nvPr/>
          </p:nvSpPr>
          <p:spPr bwMode="auto">
            <a:xfrm>
              <a:off x="6973735" y="3154826"/>
              <a:ext cx="284364"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Y</a:t>
              </a:r>
            </a:p>
          </p:txBody>
        </p:sp>
        <p:sp>
          <p:nvSpPr>
            <p:cNvPr id="188" name="Text Box 137"/>
            <p:cNvSpPr txBox="1">
              <a:spLocks noChangeArrowheads="1"/>
            </p:cNvSpPr>
            <p:nvPr/>
          </p:nvSpPr>
          <p:spPr bwMode="auto">
            <a:xfrm>
              <a:off x="3223614" y="3107168"/>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189" name="Text Box 138"/>
            <p:cNvSpPr txBox="1">
              <a:spLocks noChangeArrowheads="1"/>
            </p:cNvSpPr>
            <p:nvPr/>
          </p:nvSpPr>
          <p:spPr bwMode="auto">
            <a:xfrm>
              <a:off x="5425514" y="3064603"/>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190" name="Text Box 139"/>
            <p:cNvSpPr txBox="1">
              <a:spLocks noChangeArrowheads="1"/>
            </p:cNvSpPr>
            <p:nvPr/>
          </p:nvSpPr>
          <p:spPr bwMode="auto">
            <a:xfrm>
              <a:off x="3071825" y="2890792"/>
              <a:ext cx="881913"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125.1.2.3</a:t>
              </a:r>
            </a:p>
          </p:txBody>
        </p:sp>
        <p:sp>
          <p:nvSpPr>
            <p:cNvPr id="191" name="Line 140"/>
            <p:cNvSpPr>
              <a:spLocks noChangeShapeType="1"/>
            </p:cNvSpPr>
            <p:nvPr/>
          </p:nvSpPr>
          <p:spPr bwMode="auto">
            <a:xfrm>
              <a:off x="3549288"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2" name="Text Box 141"/>
            <p:cNvSpPr txBox="1">
              <a:spLocks noChangeArrowheads="1"/>
            </p:cNvSpPr>
            <p:nvPr/>
          </p:nvSpPr>
          <p:spPr bwMode="auto">
            <a:xfrm>
              <a:off x="4778010" y="2894339"/>
              <a:ext cx="881913"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194.4.5.6</a:t>
              </a:r>
            </a:p>
          </p:txBody>
        </p:sp>
        <p:sp>
          <p:nvSpPr>
            <p:cNvPr id="193" name="Line 142"/>
            <p:cNvSpPr>
              <a:spLocks noChangeShapeType="1"/>
            </p:cNvSpPr>
            <p:nvPr/>
          </p:nvSpPr>
          <p:spPr bwMode="auto">
            <a:xfrm>
              <a:off x="5255472"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4" name="Text Box 143"/>
            <p:cNvSpPr txBox="1">
              <a:spLocks noChangeArrowheads="1"/>
            </p:cNvSpPr>
            <p:nvPr/>
          </p:nvSpPr>
          <p:spPr bwMode="auto">
            <a:xfrm>
              <a:off x="1779259" y="3601323"/>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10.1.0.1</a:t>
              </a:r>
            </a:p>
          </p:txBody>
        </p:sp>
        <p:sp>
          <p:nvSpPr>
            <p:cNvPr id="195" name="Text Box 144"/>
            <p:cNvSpPr txBox="1">
              <a:spLocks noChangeArrowheads="1"/>
            </p:cNvSpPr>
            <p:nvPr/>
          </p:nvSpPr>
          <p:spPr bwMode="auto">
            <a:xfrm>
              <a:off x="6419828" y="3502669"/>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10.2.0.3</a:t>
              </a:r>
            </a:p>
          </p:txBody>
        </p:sp>
        <p:sp>
          <p:nvSpPr>
            <p:cNvPr id="200" name="Text Box 149"/>
            <p:cNvSpPr txBox="1">
              <a:spLocks noChangeArrowheads="1"/>
            </p:cNvSpPr>
            <p:nvPr/>
          </p:nvSpPr>
          <p:spPr bwMode="auto">
            <a:xfrm>
              <a:off x="3755750" y="3742110"/>
              <a:ext cx="153439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虚拟专用网 </a:t>
              </a:r>
              <a:r>
                <a:rPr kumimoji="1" lang="en-US" altLang="zh-CN" sz="1400" b="1" dirty="0">
                  <a:solidFill>
                    <a:srgbClr val="0000FF"/>
                  </a:solidFill>
                  <a:latin typeface="微软雅黑" pitchFamily="34" charset="-122"/>
                  <a:ea typeface="微软雅黑" pitchFamily="34" charset="-122"/>
                </a:rPr>
                <a:t>VPN</a:t>
              </a:r>
            </a:p>
          </p:txBody>
        </p:sp>
        <p:pic>
          <p:nvPicPr>
            <p:cNvPr id="23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21833"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35808" y="3363838"/>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557682"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39415" y="32687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785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4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2829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grpSp>
      <p:sp>
        <p:nvSpPr>
          <p:cNvPr id="155" name="AutoShape 52"/>
          <p:cNvSpPr>
            <a:spLocks noChangeArrowheads="1"/>
          </p:cNvSpPr>
          <p:nvPr/>
        </p:nvSpPr>
        <p:spPr bwMode="auto">
          <a:xfrm rot="16200000">
            <a:off x="4380504" y="2698501"/>
            <a:ext cx="196592" cy="1518533"/>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6" name="Line 58"/>
          <p:cNvSpPr>
            <a:spLocks noChangeShapeType="1"/>
          </p:cNvSpPr>
          <p:nvPr/>
        </p:nvSpPr>
        <p:spPr bwMode="auto">
          <a:xfrm>
            <a:off x="3512781" y="3462180"/>
            <a:ext cx="23391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7" name="Line 59"/>
          <p:cNvSpPr>
            <a:spLocks noChangeShapeType="1"/>
          </p:cNvSpPr>
          <p:nvPr/>
        </p:nvSpPr>
        <p:spPr bwMode="auto">
          <a:xfrm>
            <a:off x="5238066" y="3462180"/>
            <a:ext cx="20550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Tree>
    <p:extLst>
      <p:ext uri="{BB962C8B-B14F-4D97-AF65-F5344CB8AC3E}">
        <p14:creationId xmlns:p14="http://schemas.microsoft.com/office/powerpoint/2010/main" val="32273718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9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500"/>
                                  </p:stCondLst>
                                  <p:childTnLst>
                                    <p:anim calcmode="discrete" valueType="str">
                                      <p:cBhvr>
                                        <p:cTn id="8" dur="1000" fill="hold"/>
                                        <p:tgtEl>
                                          <p:spTgt spid="81"/>
                                        </p:tgtEl>
                                        <p:attrNameLst>
                                          <p:attrName>style.visibility</p:attrName>
                                        </p:attrNameLst>
                                      </p:cBhvr>
                                      <p:tavLst>
                                        <p:tav tm="0">
                                          <p:val>
                                            <p:strVal val="hidden"/>
                                          </p:val>
                                        </p:tav>
                                        <p:tav tm="50000">
                                          <p:val>
                                            <p:strVal val="visible"/>
                                          </p:val>
                                        </p:tav>
                                      </p:tavLst>
                                    </p:anim>
                                  </p:childTnLst>
                                </p:cTn>
                              </p:par>
                            </p:childTnLst>
                          </p:cTn>
                        </p:par>
                        <p:par>
                          <p:cTn id="9" fill="hold">
                            <p:stCondLst>
                              <p:cond delay="3500"/>
                            </p:stCondLst>
                            <p:childTnLst>
                              <p:par>
                                <p:cTn id="10" presetID="35" presetClass="emph" presetSubtype="0" repeatCount="3000" fill="hold" nodeType="afterEffect">
                                  <p:stCondLst>
                                    <p:cond delay="250"/>
                                  </p:stCondLst>
                                  <p:childTnLst>
                                    <p:anim calcmode="discrete" valueType="str">
                                      <p:cBhvr>
                                        <p:cTn id="11"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F5A82-F3FF-DFAD-4977-32C2FE3CB50F}"/>
              </a:ext>
            </a:extLst>
          </p:cNvPr>
          <p:cNvSpPr>
            <a:spLocks noGrp="1"/>
          </p:cNvSpPr>
          <p:nvPr>
            <p:ph type="title"/>
          </p:nvPr>
        </p:nvSpPr>
        <p:spPr>
          <a:xfrm>
            <a:off x="486000" y="550723"/>
            <a:ext cx="8172000" cy="338554"/>
          </a:xfrm>
        </p:spPr>
        <p:txBody>
          <a:bodyPr/>
          <a:lstStyle/>
          <a:p>
            <a:r>
              <a:rPr lang="en-US" altLang="zh-CN" dirty="0"/>
              <a:t>VPN </a:t>
            </a:r>
            <a:r>
              <a:rPr lang="zh-CN" altLang="en-US" dirty="0"/>
              <a:t>类型</a:t>
            </a:r>
          </a:p>
        </p:txBody>
      </p:sp>
      <p:sp>
        <p:nvSpPr>
          <p:cNvPr id="6" name="内容占位符 5">
            <a:extLst>
              <a:ext uri="{FF2B5EF4-FFF2-40B4-BE49-F238E27FC236}">
                <a16:creationId xmlns:a16="http://schemas.microsoft.com/office/drawing/2014/main" id="{F8551D36-4B83-7C3D-1B96-2672250DC78B}"/>
              </a:ext>
            </a:extLst>
          </p:cNvPr>
          <p:cNvSpPr>
            <a:spLocks noGrp="1"/>
          </p:cNvSpPr>
          <p:nvPr>
            <p:ph sz="quarter" idx="11"/>
          </p:nvPr>
        </p:nvSpPr>
        <p:spPr>
          <a:xfrm>
            <a:off x="486000" y="900000"/>
            <a:ext cx="8172000" cy="3703500"/>
          </a:xfrm>
        </p:spPr>
        <p:txBody>
          <a:bodyPr/>
          <a:lstStyle/>
          <a:p>
            <a:r>
              <a:rPr lang="zh-CN" altLang="en-US" dirty="0"/>
              <a:t>内联网 </a:t>
            </a:r>
            <a:r>
              <a:rPr lang="en-US" altLang="zh-CN" dirty="0"/>
              <a:t>intranet</a:t>
            </a:r>
            <a:r>
              <a:rPr lang="zh-CN" altLang="en-US" dirty="0"/>
              <a:t>：</a:t>
            </a:r>
            <a:endParaRPr lang="en-US" altLang="zh-CN" dirty="0"/>
          </a:p>
          <a:p>
            <a:pPr lvl="1"/>
            <a:r>
              <a:rPr lang="zh-CN" altLang="en-US" dirty="0"/>
              <a:t>同一个机构的内部网络所构成的 </a:t>
            </a:r>
            <a:r>
              <a:rPr lang="en-US" altLang="zh-CN" dirty="0"/>
              <a:t>VPN</a:t>
            </a:r>
          </a:p>
          <a:p>
            <a:r>
              <a:rPr lang="zh-CN" altLang="en-US" dirty="0"/>
              <a:t>外联网 </a:t>
            </a:r>
            <a:r>
              <a:rPr lang="en-US" altLang="zh-CN" dirty="0"/>
              <a:t>extranet</a:t>
            </a:r>
            <a:r>
              <a:rPr lang="zh-CN" altLang="en-US" dirty="0"/>
              <a:t>：</a:t>
            </a:r>
            <a:endParaRPr lang="en-US" altLang="zh-CN" dirty="0"/>
          </a:p>
          <a:p>
            <a:pPr lvl="1"/>
            <a:r>
              <a:rPr lang="zh-CN" altLang="en-US" dirty="0"/>
              <a:t>一个机构和某些外部机构共同建立的 </a:t>
            </a:r>
            <a:endParaRPr lang="en-US" altLang="zh-CN" dirty="0"/>
          </a:p>
          <a:p>
            <a:r>
              <a:rPr lang="zh-CN" altLang="en-US" dirty="0"/>
              <a:t>远程接入 </a:t>
            </a:r>
            <a:r>
              <a:rPr lang="en-US" altLang="zh-CN" dirty="0"/>
              <a:t>VPN (remote access VPN)</a:t>
            </a:r>
            <a:r>
              <a:rPr lang="zh-CN" altLang="en-US" dirty="0"/>
              <a:t>：</a:t>
            </a:r>
            <a:endParaRPr lang="en-US" altLang="zh-CN" dirty="0"/>
          </a:p>
          <a:p>
            <a:pPr lvl="1"/>
            <a:r>
              <a:rPr lang="zh-CN" altLang="en-US" dirty="0"/>
              <a:t>允许外部流动员工通过接入 </a:t>
            </a:r>
            <a:r>
              <a:rPr lang="en-US" altLang="zh-CN" dirty="0"/>
              <a:t>VPN </a:t>
            </a:r>
            <a:r>
              <a:rPr lang="zh-CN" altLang="en-US" dirty="0"/>
              <a:t>建立 </a:t>
            </a:r>
            <a:r>
              <a:rPr lang="en-US" altLang="zh-CN" dirty="0"/>
              <a:t>VPN </a:t>
            </a:r>
            <a:r>
              <a:rPr lang="zh-CN" altLang="en-US" dirty="0"/>
              <a:t>隧道访问公司内部网络，好像就是使用公司内部的本地网络访问一样</a:t>
            </a:r>
          </a:p>
          <a:p>
            <a:endParaRPr lang="zh-CN" altLang="en-US" dirty="0"/>
          </a:p>
        </p:txBody>
      </p:sp>
    </p:spTree>
    <p:extLst>
      <p:ext uri="{BB962C8B-B14F-4D97-AF65-F5344CB8AC3E}">
        <p14:creationId xmlns:p14="http://schemas.microsoft.com/office/powerpoint/2010/main" val="28158123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613F2-8ECD-5EAF-593A-F90D48B6A4DA}"/>
            </a:ext>
          </a:extLst>
        </p:cNvPr>
        <p:cNvGrpSpPr/>
        <p:nvPr/>
      </p:nvGrpSpPr>
      <p:grpSpPr>
        <a:xfrm>
          <a:off x="0" y="0"/>
          <a:ext cx="0" cy="0"/>
          <a:chOff x="0" y="0"/>
          <a:chExt cx="0" cy="0"/>
        </a:xfrm>
      </p:grpSpPr>
      <p:pic>
        <p:nvPicPr>
          <p:cNvPr id="15" name="图片占位符 14">
            <a:extLst>
              <a:ext uri="{FF2B5EF4-FFF2-40B4-BE49-F238E27FC236}">
                <a16:creationId xmlns:a16="http://schemas.microsoft.com/office/drawing/2014/main" id="{AFB2C1CA-9D35-8FF4-5D87-1ED55DE1CBCB}"/>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4AE56EEC-A6E9-10EF-7B99-81FDF9B9DE94}"/>
              </a:ext>
            </a:extLst>
          </p:cNvPr>
          <p:cNvSpPr>
            <a:spLocks noGrp="1"/>
          </p:cNvSpPr>
          <p:nvPr>
            <p:ph type="title"/>
          </p:nvPr>
        </p:nvSpPr>
        <p:spPr>
          <a:xfrm>
            <a:off x="628650" y="1790739"/>
            <a:ext cx="4320000" cy="553998"/>
          </a:xfrm>
        </p:spPr>
        <p:txBody>
          <a:bodyPr/>
          <a:lstStyle/>
          <a:p>
            <a:r>
              <a:rPr lang="fr-FR" altLang="zh-CN" dirty="0"/>
              <a:t>4.8.2 </a:t>
            </a:r>
            <a:r>
              <a:rPr lang="zh-CN" altLang="en-US" dirty="0"/>
              <a:t>网络地址转换 </a:t>
            </a:r>
          </a:p>
        </p:txBody>
      </p:sp>
      <p:sp>
        <p:nvSpPr>
          <p:cNvPr id="9" name="文本占位符 8">
            <a:extLst>
              <a:ext uri="{FF2B5EF4-FFF2-40B4-BE49-F238E27FC236}">
                <a16:creationId xmlns:a16="http://schemas.microsoft.com/office/drawing/2014/main" id="{7F8E1DD9-06F3-D295-7901-9BD725627370}"/>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网络地址转换 </a:t>
            </a:r>
            <a:r>
              <a:rPr lang="en-US" altLang="zh-CN" dirty="0"/>
              <a:t>NAT</a:t>
            </a:r>
          </a:p>
          <a:p>
            <a:endParaRPr lang="zh-CN" altLang="en-US" dirty="0"/>
          </a:p>
        </p:txBody>
      </p:sp>
    </p:spTree>
    <p:extLst>
      <p:ext uri="{BB962C8B-B14F-4D97-AF65-F5344CB8AC3E}">
        <p14:creationId xmlns:p14="http://schemas.microsoft.com/office/powerpoint/2010/main" val="331453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430CCF8-4CCE-4B70-B235-E622A5B6D073}"/>
              </a:ext>
            </a:extLst>
          </p:cNvPr>
          <p:cNvSpPr>
            <a:spLocks noGrp="1"/>
          </p:cNvSpPr>
          <p:nvPr>
            <p:ph type="title"/>
          </p:nvPr>
        </p:nvSpPr>
        <p:spPr>
          <a:xfrm>
            <a:off x="486000" y="550723"/>
            <a:ext cx="8172000" cy="338554"/>
          </a:xfrm>
        </p:spPr>
        <p:txBody>
          <a:bodyPr/>
          <a:lstStyle/>
          <a:p>
            <a:r>
              <a:rPr lang="en-US" altLang="zh-CN" dirty="0"/>
              <a:t>4.8.2   </a:t>
            </a:r>
            <a:r>
              <a:rPr lang="zh-CN" altLang="en-US" dirty="0"/>
              <a:t>网络地址转换 </a:t>
            </a:r>
            <a:r>
              <a:rPr lang="en-US" altLang="zh-CN" dirty="0"/>
              <a:t>NAT</a:t>
            </a:r>
            <a:endParaRPr lang="zh-CN" altLang="en-US" dirty="0"/>
          </a:p>
        </p:txBody>
      </p:sp>
      <p:sp>
        <p:nvSpPr>
          <p:cNvPr id="6" name="内容占位符 5">
            <a:extLst>
              <a:ext uri="{FF2B5EF4-FFF2-40B4-BE49-F238E27FC236}">
                <a16:creationId xmlns:a16="http://schemas.microsoft.com/office/drawing/2014/main" id="{BCA75BAE-DF6F-B363-42D5-DFC09369E22C}"/>
              </a:ext>
            </a:extLst>
          </p:cNvPr>
          <p:cNvSpPr>
            <a:spLocks noGrp="1"/>
          </p:cNvSpPr>
          <p:nvPr>
            <p:ph sz="quarter" idx="11"/>
          </p:nvPr>
        </p:nvSpPr>
        <p:spPr>
          <a:xfrm>
            <a:off x="486000" y="900000"/>
            <a:ext cx="8172000" cy="3703500"/>
          </a:xfrm>
        </p:spPr>
        <p:txBody>
          <a:bodyPr/>
          <a:lstStyle/>
          <a:p>
            <a:r>
              <a:rPr lang="zh-CN" altLang="en-US" dirty="0"/>
              <a:t>问题：</a:t>
            </a:r>
            <a:endParaRPr lang="en-US" altLang="zh-CN" dirty="0"/>
          </a:p>
          <a:p>
            <a:pPr lvl="1"/>
            <a:r>
              <a:rPr lang="zh-CN" altLang="en-US" dirty="0"/>
              <a:t>在专用网上使用专用地址的主机如何与互联网上的主机通信（并不需要加密）？</a:t>
            </a:r>
          </a:p>
          <a:p>
            <a:r>
              <a:rPr lang="zh-CN" altLang="en-US" dirty="0"/>
              <a:t>解决：</a:t>
            </a:r>
          </a:p>
          <a:p>
            <a:pPr lvl="1"/>
            <a:r>
              <a:rPr lang="zh-CN" altLang="en-US" dirty="0"/>
              <a:t>再申请一些全球 </a:t>
            </a:r>
            <a:r>
              <a:rPr lang="en-US" altLang="zh-CN" dirty="0"/>
              <a:t>IP </a:t>
            </a:r>
            <a:r>
              <a:rPr lang="zh-CN" altLang="en-US" dirty="0"/>
              <a:t>地址。但这在很多情况下是不容易做到的</a:t>
            </a:r>
          </a:p>
          <a:p>
            <a:pPr lvl="1"/>
            <a:r>
              <a:rPr lang="zh-CN" altLang="en-US" dirty="0"/>
              <a:t>采用网络地址转换 </a:t>
            </a:r>
            <a:r>
              <a:rPr lang="en-US" altLang="zh-CN" dirty="0"/>
              <a:t>NAT</a:t>
            </a:r>
            <a:r>
              <a:rPr lang="zh-CN" altLang="en-US" dirty="0"/>
              <a:t>。这是目前使用得最多的方法</a:t>
            </a:r>
          </a:p>
          <a:p>
            <a:endParaRPr lang="zh-CN" altLang="en-US" dirty="0"/>
          </a:p>
        </p:txBody>
      </p:sp>
    </p:spTree>
    <p:extLst>
      <p:ext uri="{BB962C8B-B14F-4D97-AF65-F5344CB8AC3E}">
        <p14:creationId xmlns:p14="http://schemas.microsoft.com/office/powerpoint/2010/main" val="19244792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74AF5E-498E-A503-1E4B-F095A82929CA}"/>
              </a:ext>
            </a:extLst>
          </p:cNvPr>
          <p:cNvSpPr>
            <a:spLocks noGrp="1"/>
          </p:cNvSpPr>
          <p:nvPr>
            <p:ph type="title"/>
          </p:nvPr>
        </p:nvSpPr>
        <p:spPr>
          <a:xfrm>
            <a:off x="486000" y="550723"/>
            <a:ext cx="8172000" cy="338554"/>
          </a:xfrm>
        </p:spPr>
        <p:txBody>
          <a:bodyPr/>
          <a:lstStyle/>
          <a:p>
            <a:r>
              <a:rPr lang="zh-CN" altLang="en-US" dirty="0"/>
              <a:t>网络地址转换</a:t>
            </a:r>
          </a:p>
        </p:txBody>
      </p:sp>
      <p:sp>
        <p:nvSpPr>
          <p:cNvPr id="6" name="内容占位符 5">
            <a:extLst>
              <a:ext uri="{FF2B5EF4-FFF2-40B4-BE49-F238E27FC236}">
                <a16:creationId xmlns:a16="http://schemas.microsoft.com/office/drawing/2014/main" id="{B52C3698-91B8-6F91-E75C-E70F7F12AD04}"/>
              </a:ext>
            </a:extLst>
          </p:cNvPr>
          <p:cNvSpPr>
            <a:spLocks noGrp="1"/>
          </p:cNvSpPr>
          <p:nvPr>
            <p:ph sz="quarter" idx="11"/>
          </p:nvPr>
        </p:nvSpPr>
        <p:spPr>
          <a:xfrm>
            <a:off x="486000" y="900000"/>
            <a:ext cx="8172000" cy="3703500"/>
          </a:xfrm>
        </p:spPr>
        <p:txBody>
          <a:bodyPr/>
          <a:lstStyle/>
          <a:p>
            <a:r>
              <a:rPr lang="en-US" altLang="zh-CN" dirty="0"/>
              <a:t>NAT - Network Address Translation</a:t>
            </a:r>
          </a:p>
          <a:p>
            <a:r>
              <a:rPr lang="en-US" altLang="zh-CN" dirty="0"/>
              <a:t>1994 </a:t>
            </a:r>
            <a:r>
              <a:rPr lang="zh-CN" altLang="en-US" dirty="0"/>
              <a:t>年提出</a:t>
            </a:r>
          </a:p>
          <a:p>
            <a:r>
              <a:rPr lang="zh-CN" altLang="en-US" dirty="0"/>
              <a:t>需要在专用网连接到互联网的路由器上安装 </a:t>
            </a:r>
            <a:r>
              <a:rPr lang="en-US" altLang="zh-CN" dirty="0"/>
              <a:t>NAT </a:t>
            </a:r>
            <a:r>
              <a:rPr lang="zh-CN" altLang="en-US" dirty="0"/>
              <a:t>软件</a:t>
            </a:r>
            <a:endParaRPr lang="en-US" altLang="zh-CN" dirty="0"/>
          </a:p>
          <a:p>
            <a:r>
              <a:rPr lang="zh-CN" altLang="en-US" dirty="0"/>
              <a:t>装有 </a:t>
            </a:r>
            <a:r>
              <a:rPr lang="en-US" altLang="zh-CN" dirty="0"/>
              <a:t>NAT </a:t>
            </a:r>
            <a:r>
              <a:rPr lang="zh-CN" altLang="en-US" dirty="0"/>
              <a:t>软件的路由器叫做 </a:t>
            </a:r>
            <a:r>
              <a:rPr lang="en-US" altLang="zh-CN" dirty="0"/>
              <a:t>NAT</a:t>
            </a:r>
            <a:r>
              <a:rPr lang="zh-CN" altLang="en-US" dirty="0"/>
              <a:t>路由器，它至少有一个有效的外部全球 </a:t>
            </a:r>
            <a:r>
              <a:rPr lang="en-US" altLang="zh-CN" dirty="0"/>
              <a:t>IP </a:t>
            </a:r>
            <a:r>
              <a:rPr lang="zh-CN" altLang="en-US" dirty="0"/>
              <a:t>地址</a:t>
            </a:r>
          </a:p>
          <a:p>
            <a:r>
              <a:rPr lang="zh-CN" altLang="en-US" dirty="0"/>
              <a:t>所有使用本地地址的主机在和外界通信时，都要在 </a:t>
            </a:r>
            <a:r>
              <a:rPr lang="en-US" altLang="zh-CN" dirty="0"/>
              <a:t>NAT </a:t>
            </a:r>
            <a:r>
              <a:rPr lang="zh-CN" altLang="en-US" dirty="0"/>
              <a:t>路由器上将其本地地址转换成全球 </a:t>
            </a:r>
            <a:r>
              <a:rPr lang="en-US" altLang="zh-CN" dirty="0"/>
              <a:t>IP </a:t>
            </a:r>
            <a:r>
              <a:rPr lang="zh-CN" altLang="en-US" dirty="0"/>
              <a:t>地址，才能和互联网连接</a:t>
            </a:r>
          </a:p>
          <a:p>
            <a:endParaRPr lang="zh-CN" altLang="en-US" dirty="0"/>
          </a:p>
        </p:txBody>
      </p:sp>
    </p:spTree>
    <p:extLst>
      <p:ext uri="{BB962C8B-B14F-4D97-AF65-F5344CB8AC3E}">
        <p14:creationId xmlns:p14="http://schemas.microsoft.com/office/powerpoint/2010/main" val="3775205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748189" y="2003055"/>
            <a:ext cx="2984912" cy="1668015"/>
          </a:xfrm>
          <a:prstGeom prst="roundRect">
            <a:avLst>
              <a:gd name="adj" fmla="val 12325"/>
            </a:avLst>
          </a:prstGeom>
          <a:solidFill>
            <a:srgbClr val="66CC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57" name="Line 74"/>
          <p:cNvSpPr>
            <a:spLocks noChangeShapeType="1"/>
          </p:cNvSpPr>
          <p:nvPr/>
        </p:nvSpPr>
        <p:spPr bwMode="auto">
          <a:xfrm>
            <a:off x="7426067" y="2779332"/>
            <a:ext cx="460433" cy="9843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8" name="Line 73"/>
          <p:cNvSpPr>
            <a:spLocks noChangeShapeType="1"/>
          </p:cNvSpPr>
          <p:nvPr/>
        </p:nvSpPr>
        <p:spPr bwMode="auto">
          <a:xfrm>
            <a:off x="7139406" y="3122238"/>
            <a:ext cx="459164"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9" name="Line 72"/>
          <p:cNvSpPr>
            <a:spLocks noChangeShapeType="1"/>
          </p:cNvSpPr>
          <p:nvPr/>
        </p:nvSpPr>
        <p:spPr bwMode="auto">
          <a:xfrm flipV="1">
            <a:off x="7196485" y="2337989"/>
            <a:ext cx="402086" cy="19579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0" name="Line 37"/>
          <p:cNvSpPr>
            <a:spLocks noChangeShapeType="1"/>
          </p:cNvSpPr>
          <p:nvPr/>
        </p:nvSpPr>
        <p:spPr bwMode="auto">
          <a:xfrm flipV="1">
            <a:off x="1327551" y="2828009"/>
            <a:ext cx="2647172"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1" name="Line 34"/>
          <p:cNvSpPr>
            <a:spLocks noChangeShapeType="1"/>
          </p:cNvSpPr>
          <p:nvPr/>
        </p:nvSpPr>
        <p:spPr bwMode="auto">
          <a:xfrm>
            <a:off x="4031802" y="2828009"/>
            <a:ext cx="155380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aphicFrame>
        <p:nvGraphicFramePr>
          <p:cNvPr id="62" name="Object 4"/>
          <p:cNvGraphicFramePr>
            <a:graphicFrameLocks noChangeAspect="1"/>
          </p:cNvGraphicFramePr>
          <p:nvPr>
            <p:extLst>
              <p:ext uri="{D42A27DB-BD31-4B8C-83A1-F6EECF244321}">
                <p14:modId xmlns:p14="http://schemas.microsoft.com/office/powerpoint/2010/main" val="3091330060"/>
              </p:ext>
            </p:extLst>
          </p:nvPr>
        </p:nvGraphicFramePr>
        <p:xfrm>
          <a:off x="5531062" y="2190875"/>
          <a:ext cx="2130929" cy="1128236"/>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31062" y="2190875"/>
                        <a:ext cx="2130929" cy="11282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63" name="Picture 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859298" y="2755534"/>
            <a:ext cx="416039" cy="170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4" name="Text Box 7"/>
          <p:cNvSpPr txBox="1">
            <a:spLocks noChangeArrowheads="1"/>
          </p:cNvSpPr>
          <p:nvPr/>
        </p:nvSpPr>
        <p:spPr bwMode="auto">
          <a:xfrm>
            <a:off x="3666578" y="2284700"/>
            <a:ext cx="6463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b="1" dirty="0">
                <a:solidFill>
                  <a:srgbClr val="C00000"/>
                </a:solidFill>
                <a:latin typeface="微软雅黑" panose="020B0503020204020204" pitchFamily="34" charset="-122"/>
                <a:ea typeface="微软雅黑" panose="020B0503020204020204" pitchFamily="34" charset="-122"/>
              </a:rPr>
              <a:t>NAT</a:t>
            </a:r>
          </a:p>
          <a:p>
            <a:pPr algn="ctr" eaLnBrk="1" hangingPunct="1">
              <a:lnSpc>
                <a:spcPct val="90000"/>
              </a:lnSpc>
            </a:pPr>
            <a:r>
              <a:rPr kumimoji="1" lang="zh-CN" altLang="en-US" sz="1200" b="1" dirty="0">
                <a:solidFill>
                  <a:srgbClr val="C00000"/>
                </a:solidFill>
                <a:latin typeface="微软雅黑" panose="020B0503020204020204" pitchFamily="34" charset="-122"/>
                <a:ea typeface="微软雅黑" panose="020B0503020204020204" pitchFamily="34" charset="-122"/>
              </a:rPr>
              <a:t>路由器</a:t>
            </a:r>
          </a:p>
        </p:txBody>
      </p:sp>
      <p:pic>
        <p:nvPicPr>
          <p:cNvPr id="65" name="Picture 30"/>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489488" y="2190875"/>
            <a:ext cx="268903" cy="232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 name="Picture 31"/>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368989" y="3171997"/>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 name="Picture 32"/>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777417" y="2730654"/>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8" name="Text Box 35"/>
          <p:cNvSpPr txBox="1">
            <a:spLocks noChangeArrowheads="1"/>
          </p:cNvSpPr>
          <p:nvPr/>
        </p:nvSpPr>
        <p:spPr bwMode="auto">
          <a:xfrm>
            <a:off x="1150469" y="1719180"/>
            <a:ext cx="2403222"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专用网 </a:t>
            </a:r>
            <a:r>
              <a:rPr kumimoji="1" lang="en-US" altLang="zh-CN" sz="1600" b="1" dirty="0">
                <a:latin typeface="微软雅黑" panose="020B0503020204020204" pitchFamily="34" charset="-122"/>
                <a:ea typeface="微软雅黑" panose="020B0503020204020204" pitchFamily="34" charset="-122"/>
              </a:rPr>
              <a:t>192.168.0.0/16</a:t>
            </a:r>
          </a:p>
        </p:txBody>
      </p:sp>
      <p:sp>
        <p:nvSpPr>
          <p:cNvPr id="69" name="Text Box 36"/>
          <p:cNvSpPr txBox="1">
            <a:spLocks noChangeArrowheads="1"/>
          </p:cNvSpPr>
          <p:nvPr/>
        </p:nvSpPr>
        <p:spPr bwMode="auto">
          <a:xfrm>
            <a:off x="6254491" y="2877768"/>
            <a:ext cx="80021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互联网</a:t>
            </a:r>
          </a:p>
        </p:txBody>
      </p:sp>
      <p:sp>
        <p:nvSpPr>
          <p:cNvPr id="70" name="Line 38"/>
          <p:cNvSpPr>
            <a:spLocks noChangeShapeType="1"/>
          </p:cNvSpPr>
          <p:nvPr/>
        </p:nvSpPr>
        <p:spPr bwMode="auto">
          <a:xfrm rot="5400000">
            <a:off x="1454175" y="2665211"/>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1"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489908" y="2421282"/>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 name="Text Box 45"/>
          <p:cNvSpPr txBox="1">
            <a:spLocks noChangeArrowheads="1"/>
          </p:cNvSpPr>
          <p:nvPr/>
        </p:nvSpPr>
        <p:spPr bwMode="auto">
          <a:xfrm>
            <a:off x="726304" y="2194287"/>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solidFill>
                  <a:srgbClr val="0000FF"/>
                </a:solidFill>
                <a:latin typeface="微软雅黑" panose="020B0503020204020204" pitchFamily="34" charset="-122"/>
                <a:ea typeface="微软雅黑" panose="020B0503020204020204" pitchFamily="34" charset="-122"/>
              </a:rPr>
              <a:t>192.168.0.3</a:t>
            </a:r>
          </a:p>
        </p:txBody>
      </p:sp>
      <p:sp>
        <p:nvSpPr>
          <p:cNvPr id="80" name="Text Box 52"/>
          <p:cNvSpPr txBox="1">
            <a:spLocks noChangeArrowheads="1"/>
          </p:cNvSpPr>
          <p:nvPr/>
        </p:nvSpPr>
        <p:spPr bwMode="auto">
          <a:xfrm>
            <a:off x="7051414" y="1930631"/>
            <a:ext cx="124906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dirty="0">
                <a:solidFill>
                  <a:srgbClr val="0000FF"/>
                </a:solidFill>
                <a:latin typeface="微软雅黑" panose="020B0503020204020204" pitchFamily="34" charset="-122"/>
                <a:ea typeface="微软雅黑" panose="020B0503020204020204" pitchFamily="34" charset="-122"/>
              </a:rPr>
              <a:t>213.18.2.4</a:t>
            </a:r>
          </a:p>
        </p:txBody>
      </p:sp>
      <p:sp>
        <p:nvSpPr>
          <p:cNvPr id="86" name="Text Box 76"/>
          <p:cNvSpPr txBox="1">
            <a:spLocks noChangeArrowheads="1"/>
          </p:cNvSpPr>
          <p:nvPr/>
        </p:nvSpPr>
        <p:spPr bwMode="auto">
          <a:xfrm>
            <a:off x="3762492" y="3334163"/>
            <a:ext cx="1188146" cy="523220"/>
          </a:xfrm>
          <a:prstGeom prst="rect">
            <a:avLst/>
          </a:prstGeom>
          <a:solidFill>
            <a:schemeClr val="accent6">
              <a:lumMod val="75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zh-CN" altLang="en-US" sz="1400" b="1" dirty="0">
                <a:solidFill>
                  <a:srgbClr val="000066"/>
                </a:solidFill>
                <a:latin typeface="微软雅黑" panose="020B0503020204020204" pitchFamily="34" charset="-122"/>
                <a:ea typeface="微软雅黑" panose="020B0503020204020204" pitchFamily="34" charset="-122"/>
              </a:rPr>
              <a:t>全球 </a:t>
            </a:r>
            <a:r>
              <a:rPr kumimoji="1" lang="en-US" altLang="zh-CN" sz="1400" b="1" dirty="0">
                <a:solidFill>
                  <a:srgbClr val="000066"/>
                </a:solidFill>
                <a:latin typeface="微软雅黑" panose="020B0503020204020204" pitchFamily="34" charset="-122"/>
                <a:ea typeface="微软雅黑" panose="020B0503020204020204" pitchFamily="34" charset="-122"/>
              </a:rPr>
              <a:t>IP </a:t>
            </a:r>
            <a:r>
              <a:rPr kumimoji="1" lang="zh-CN" altLang="en-US" sz="1400" b="1" dirty="0">
                <a:solidFill>
                  <a:srgbClr val="000066"/>
                </a:solidFill>
                <a:latin typeface="微软雅黑" panose="020B0503020204020204" pitchFamily="34" charset="-122"/>
                <a:ea typeface="微软雅黑" panose="020B0503020204020204" pitchFamily="34" charset="-122"/>
              </a:rPr>
              <a:t>地址</a:t>
            </a:r>
          </a:p>
          <a:p>
            <a:pPr algn="ctr" eaLnBrk="1" hangingPunct="1"/>
            <a:r>
              <a:rPr kumimoji="1" lang="en-US" altLang="zh-CN" sz="1400" b="1" dirty="0">
                <a:solidFill>
                  <a:srgbClr val="000066"/>
                </a:solidFill>
                <a:latin typeface="微软雅黑" panose="020B0503020204020204" pitchFamily="34" charset="-122"/>
                <a:ea typeface="微软雅黑" panose="020B0503020204020204" pitchFamily="34" charset="-122"/>
              </a:rPr>
              <a:t>172.38.1.5</a:t>
            </a:r>
          </a:p>
        </p:txBody>
      </p:sp>
      <p:sp>
        <p:nvSpPr>
          <p:cNvPr id="100" name="Text Box 45"/>
          <p:cNvSpPr txBox="1">
            <a:spLocks noChangeArrowheads="1"/>
          </p:cNvSpPr>
          <p:nvPr/>
        </p:nvSpPr>
        <p:spPr bwMode="auto">
          <a:xfrm>
            <a:off x="1155771" y="2408186"/>
            <a:ext cx="39946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solidFill>
                  <a:srgbClr val="0000FF"/>
                </a:solidFill>
                <a:latin typeface="微软雅黑" panose="020B0503020204020204" pitchFamily="34" charset="-122"/>
                <a:ea typeface="微软雅黑" panose="020B0503020204020204" pitchFamily="34" charset="-122"/>
              </a:rPr>
              <a:t> </a:t>
            </a:r>
            <a:r>
              <a:rPr kumimoji="1" lang="en-US" altLang="zh-CN" sz="1600" b="1" dirty="0">
                <a:solidFill>
                  <a:srgbClr val="0000FF"/>
                </a:solidFill>
                <a:latin typeface="微软雅黑" panose="020B0503020204020204" pitchFamily="34" charset="-122"/>
                <a:ea typeface="微软雅黑" panose="020B0503020204020204" pitchFamily="34" charset="-122"/>
              </a:rPr>
              <a:t>A</a:t>
            </a:r>
          </a:p>
        </p:txBody>
      </p:sp>
      <p:sp>
        <p:nvSpPr>
          <p:cNvPr id="102" name="Line 38"/>
          <p:cNvSpPr>
            <a:spLocks noChangeShapeType="1"/>
          </p:cNvSpPr>
          <p:nvPr/>
        </p:nvSpPr>
        <p:spPr bwMode="auto">
          <a:xfrm rot="5400000">
            <a:off x="1328602" y="2999462"/>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03"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340235" y="3078969"/>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 name="Text Box 45"/>
          <p:cNvSpPr txBox="1">
            <a:spLocks noChangeArrowheads="1"/>
          </p:cNvSpPr>
          <p:nvPr/>
        </p:nvSpPr>
        <p:spPr bwMode="auto">
          <a:xfrm>
            <a:off x="748190" y="3319111"/>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192.168.0.4</a:t>
            </a:r>
          </a:p>
        </p:txBody>
      </p:sp>
      <p:sp>
        <p:nvSpPr>
          <p:cNvPr id="105" name="TextBox 54"/>
          <p:cNvSpPr txBox="1">
            <a:spLocks noChangeArrowheads="1"/>
          </p:cNvSpPr>
          <p:nvPr/>
        </p:nvSpPr>
        <p:spPr bwMode="auto">
          <a:xfrm>
            <a:off x="1615481" y="1356867"/>
            <a:ext cx="1847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nvGrpSpPr>
          <p:cNvPr id="10" name="组合 9"/>
          <p:cNvGrpSpPr/>
          <p:nvPr/>
        </p:nvGrpSpPr>
        <p:grpSpPr>
          <a:xfrm>
            <a:off x="2006828" y="2828009"/>
            <a:ext cx="1608133" cy="773213"/>
            <a:chOff x="2006828" y="2828009"/>
            <a:chExt cx="1608133" cy="773213"/>
          </a:xfrm>
        </p:grpSpPr>
        <p:sp>
          <p:nvSpPr>
            <p:cNvPr id="83" name="Text Box 59"/>
            <p:cNvSpPr txBox="1">
              <a:spLocks noChangeArrowheads="1"/>
            </p:cNvSpPr>
            <p:nvPr/>
          </p:nvSpPr>
          <p:spPr bwMode="auto">
            <a:xfrm>
              <a:off x="2006828" y="3121091"/>
              <a:ext cx="1608133"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192.168.0.3</a:t>
              </a:r>
            </a:p>
          </p:txBody>
        </p:sp>
        <p:grpSp>
          <p:nvGrpSpPr>
            <p:cNvPr id="87" name="Group 42"/>
            <p:cNvGrpSpPr>
              <a:grpSpLocks/>
            </p:cNvGrpSpPr>
            <p:nvPr/>
          </p:nvGrpSpPr>
          <p:grpSpPr bwMode="auto">
            <a:xfrm flipH="1">
              <a:off x="2410773" y="2876687"/>
              <a:ext cx="632937" cy="98436"/>
              <a:chOff x="521" y="2478"/>
              <a:chExt cx="1044" cy="136"/>
            </a:xfrm>
          </p:grpSpPr>
          <p:sp>
            <p:nvSpPr>
              <p:cNvPr id="88"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89"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0"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1" name="Line 60"/>
            <p:cNvSpPr>
              <a:spLocks noChangeShapeType="1"/>
            </p:cNvSpPr>
            <p:nvPr/>
          </p:nvSpPr>
          <p:spPr bwMode="auto">
            <a:xfrm>
              <a:off x="2583277" y="2926446"/>
              <a:ext cx="135291" cy="23038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6" name="Text Box 155"/>
            <p:cNvSpPr txBox="1">
              <a:spLocks noChangeArrowheads="1"/>
            </p:cNvSpPr>
            <p:nvPr/>
          </p:nvSpPr>
          <p:spPr bwMode="auto">
            <a:xfrm flipH="1">
              <a:off x="2132992" y="2828009"/>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nvGrpSpPr>
          <p:cNvPr id="11" name="组合 10"/>
          <p:cNvGrpSpPr/>
          <p:nvPr/>
        </p:nvGrpSpPr>
        <p:grpSpPr>
          <a:xfrm>
            <a:off x="4561998" y="2435344"/>
            <a:ext cx="2933832" cy="1226166"/>
            <a:chOff x="4561998" y="2435344"/>
            <a:chExt cx="2933832" cy="1226166"/>
          </a:xfrm>
        </p:grpSpPr>
        <p:sp>
          <p:nvSpPr>
            <p:cNvPr id="99" name="Line 70"/>
            <p:cNvSpPr>
              <a:spLocks noChangeShapeType="1"/>
            </p:cNvSpPr>
            <p:nvPr/>
          </p:nvSpPr>
          <p:spPr bwMode="auto">
            <a:xfrm>
              <a:off x="5009746" y="2926446"/>
              <a:ext cx="345008"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 name="组合 8"/>
            <p:cNvGrpSpPr/>
            <p:nvPr/>
          </p:nvGrpSpPr>
          <p:grpSpPr>
            <a:xfrm>
              <a:off x="4561998" y="2435344"/>
              <a:ext cx="2933832" cy="1226166"/>
              <a:chOff x="4561998" y="2435344"/>
              <a:chExt cx="2933832" cy="1226166"/>
            </a:xfrm>
          </p:grpSpPr>
          <p:sp>
            <p:nvSpPr>
              <p:cNvPr id="84" name="Text Box 69"/>
              <p:cNvSpPr txBox="1">
                <a:spLocks noChangeArrowheads="1"/>
              </p:cNvSpPr>
              <p:nvPr/>
            </p:nvSpPr>
            <p:spPr bwMode="auto">
              <a:xfrm>
                <a:off x="4975907" y="3181379"/>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p:txBody>
          </p:sp>
          <p:sp>
            <p:nvSpPr>
              <p:cNvPr id="85" name="Freeform 71"/>
              <p:cNvSpPr>
                <a:spLocks/>
              </p:cNvSpPr>
              <p:nvPr/>
            </p:nvSpPr>
            <p:spPr bwMode="auto">
              <a:xfrm>
                <a:off x="5529670" y="2435344"/>
                <a:ext cx="1966160" cy="491102"/>
              </a:xfrm>
              <a:custGeom>
                <a:avLst/>
                <a:gdLst>
                  <a:gd name="T0" fmla="*/ 0 w 1688"/>
                  <a:gd name="T1" fmla="*/ 2147483647 h 427"/>
                  <a:gd name="T2" fmla="*/ 2147483647 w 1688"/>
                  <a:gd name="T3" fmla="*/ 2147483647 h 427"/>
                  <a:gd name="T4" fmla="*/ 2147483647 w 1688"/>
                  <a:gd name="T5" fmla="*/ 2147483647 h 427"/>
                  <a:gd name="T6" fmla="*/ 2147483647 w 1688"/>
                  <a:gd name="T7" fmla="*/ 2147483647 h 427"/>
                  <a:gd name="T8" fmla="*/ 2147483647 w 1688"/>
                  <a:gd name="T9" fmla="*/ 2147483647 h 427"/>
                  <a:gd name="T10" fmla="*/ 2147483647 w 1688"/>
                  <a:gd name="T11" fmla="*/ 0 h 427"/>
                  <a:gd name="T12" fmla="*/ 0 60000 65536"/>
                  <a:gd name="T13" fmla="*/ 0 60000 65536"/>
                  <a:gd name="T14" fmla="*/ 0 60000 65536"/>
                  <a:gd name="T15" fmla="*/ 0 60000 65536"/>
                  <a:gd name="T16" fmla="*/ 0 60000 65536"/>
                  <a:gd name="T17" fmla="*/ 0 60000 65536"/>
                  <a:gd name="T18" fmla="*/ 0 w 1688"/>
                  <a:gd name="T19" fmla="*/ 0 h 427"/>
                  <a:gd name="T20" fmla="*/ 1688 w 1688"/>
                  <a:gd name="T21" fmla="*/ 427 h 427"/>
                </a:gdLst>
                <a:ahLst/>
                <a:cxnLst>
                  <a:cxn ang="T12">
                    <a:pos x="T0" y="T1"/>
                  </a:cxn>
                  <a:cxn ang="T13">
                    <a:pos x="T2" y="T3"/>
                  </a:cxn>
                  <a:cxn ang="T14">
                    <a:pos x="T4" y="T5"/>
                  </a:cxn>
                  <a:cxn ang="T15">
                    <a:pos x="T6" y="T7"/>
                  </a:cxn>
                  <a:cxn ang="T16">
                    <a:pos x="T8" y="T9"/>
                  </a:cxn>
                  <a:cxn ang="T17">
                    <a:pos x="T10" y="T11"/>
                  </a:cxn>
                </a:cxnLst>
                <a:rect l="T18" t="T19" r="T20" b="T21"/>
                <a:pathLst>
                  <a:path w="1688" h="427">
                    <a:moveTo>
                      <a:pt x="0" y="425"/>
                    </a:moveTo>
                    <a:cubicBezTo>
                      <a:pt x="76" y="424"/>
                      <a:pt x="320" y="427"/>
                      <a:pt x="456" y="416"/>
                    </a:cubicBezTo>
                    <a:cubicBezTo>
                      <a:pt x="592" y="405"/>
                      <a:pt x="712" y="381"/>
                      <a:pt x="816" y="360"/>
                    </a:cubicBezTo>
                    <a:cubicBezTo>
                      <a:pt x="920" y="339"/>
                      <a:pt x="993" y="316"/>
                      <a:pt x="1080" y="288"/>
                    </a:cubicBezTo>
                    <a:cubicBezTo>
                      <a:pt x="1167" y="260"/>
                      <a:pt x="1235" y="240"/>
                      <a:pt x="1336" y="192"/>
                    </a:cubicBezTo>
                    <a:cubicBezTo>
                      <a:pt x="1437" y="144"/>
                      <a:pt x="1615" y="40"/>
                      <a:pt x="1688" y="0"/>
                    </a:cubicBezTo>
                  </a:path>
                </a:pathLst>
              </a:custGeom>
              <a:noFill/>
              <a:ln w="38100" cmpd="sng">
                <a:solidFill>
                  <a:srgbClr val="000099"/>
                </a:solidFill>
                <a:round/>
                <a:headEnd type="triangl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1" name="Group 42"/>
              <p:cNvGrpSpPr>
                <a:grpSpLocks/>
              </p:cNvGrpSpPr>
              <p:nvPr/>
            </p:nvGrpSpPr>
            <p:grpSpPr bwMode="auto">
              <a:xfrm flipH="1">
                <a:off x="4837242" y="2877768"/>
                <a:ext cx="632936" cy="98437"/>
                <a:chOff x="521" y="2478"/>
                <a:chExt cx="1044" cy="136"/>
              </a:xfrm>
            </p:grpSpPr>
            <p:sp>
              <p:nvSpPr>
                <p:cNvPr id="92"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3"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4"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8" name="Text Box 154"/>
              <p:cNvSpPr txBox="1">
                <a:spLocks noChangeArrowheads="1"/>
              </p:cNvSpPr>
              <p:nvPr/>
            </p:nvSpPr>
            <p:spPr bwMode="auto">
              <a:xfrm flipH="1">
                <a:off x="4561998" y="281827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grpSp>
        <p:nvGrpSpPr>
          <p:cNvPr id="5" name="组合 4"/>
          <p:cNvGrpSpPr/>
          <p:nvPr/>
        </p:nvGrpSpPr>
        <p:grpSpPr>
          <a:xfrm>
            <a:off x="1982177" y="2092438"/>
            <a:ext cx="1572866" cy="793444"/>
            <a:chOff x="1982177" y="2092438"/>
            <a:chExt cx="1572866" cy="793444"/>
          </a:xfrm>
        </p:grpSpPr>
        <p:grpSp>
          <p:nvGrpSpPr>
            <p:cNvPr id="72" name="Group 42"/>
            <p:cNvGrpSpPr>
              <a:grpSpLocks/>
            </p:cNvGrpSpPr>
            <p:nvPr/>
          </p:nvGrpSpPr>
          <p:grpSpPr bwMode="auto">
            <a:xfrm>
              <a:off x="2075913" y="2680895"/>
              <a:ext cx="632937" cy="98437"/>
              <a:chOff x="521" y="2478"/>
              <a:chExt cx="1044" cy="136"/>
            </a:xfrm>
          </p:grpSpPr>
          <p:sp>
            <p:nvSpPr>
              <p:cNvPr id="73"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4"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5"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76" name="Text Box 44"/>
            <p:cNvSpPr txBox="1">
              <a:spLocks noChangeArrowheads="1"/>
            </p:cNvSpPr>
            <p:nvPr/>
          </p:nvSpPr>
          <p:spPr bwMode="auto">
            <a:xfrm>
              <a:off x="1982177" y="2092438"/>
              <a:ext cx="1572866"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192.168.0.3</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213.28.2.4</a:t>
              </a:r>
            </a:p>
          </p:txBody>
        </p:sp>
        <p:sp>
          <p:nvSpPr>
            <p:cNvPr id="79" name="Line 51"/>
            <p:cNvSpPr>
              <a:spLocks noChangeShapeType="1"/>
            </p:cNvSpPr>
            <p:nvPr/>
          </p:nvSpPr>
          <p:spPr bwMode="auto">
            <a:xfrm flipH="1">
              <a:off x="2527159" y="2513861"/>
              <a:ext cx="257518" cy="21373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9" name="Text Box 177"/>
            <p:cNvSpPr txBox="1">
              <a:spLocks noChangeArrowheads="1"/>
            </p:cNvSpPr>
            <p:nvPr/>
          </p:nvSpPr>
          <p:spPr bwMode="auto">
            <a:xfrm flipH="1">
              <a:off x="2650503" y="2547328"/>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sp>
        <p:nvSpPr>
          <p:cNvPr id="110" name="椭圆 109"/>
          <p:cNvSpPr/>
          <p:nvPr/>
        </p:nvSpPr>
        <p:spPr>
          <a:xfrm>
            <a:off x="4286752" y="2800966"/>
            <a:ext cx="57078" cy="48677"/>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112" name="Line 53"/>
          <p:cNvSpPr>
            <a:spLocks noChangeShapeType="1"/>
          </p:cNvSpPr>
          <p:nvPr/>
        </p:nvSpPr>
        <p:spPr bwMode="auto">
          <a:xfrm flipH="1">
            <a:off x="4247430" y="2828009"/>
            <a:ext cx="72301" cy="506154"/>
          </a:xfrm>
          <a:prstGeom prst="line">
            <a:avLst/>
          </a:prstGeom>
          <a:noFill/>
          <a:ln w="9525">
            <a:solidFill>
              <a:schemeClr val="tx1"/>
            </a:solidFill>
            <a:round/>
            <a:headEnd type="triangle" w="sm" len="lg"/>
            <a:tailEnd type="none" w="sm" len="lg"/>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组合 5"/>
          <p:cNvGrpSpPr/>
          <p:nvPr/>
        </p:nvGrpSpPr>
        <p:grpSpPr>
          <a:xfrm>
            <a:off x="3721797" y="1084897"/>
            <a:ext cx="2259040" cy="1670637"/>
            <a:chOff x="3613161" y="1084897"/>
            <a:chExt cx="2259040" cy="1670637"/>
          </a:xfrm>
        </p:grpSpPr>
        <p:sp>
          <p:nvSpPr>
            <p:cNvPr id="111" name="Text Box 76"/>
            <p:cNvSpPr txBox="1">
              <a:spLocks noChangeArrowheads="1"/>
            </p:cNvSpPr>
            <p:nvPr/>
          </p:nvSpPr>
          <p:spPr bwMode="auto">
            <a:xfrm>
              <a:off x="3613161" y="1084897"/>
              <a:ext cx="2259040" cy="987963"/>
            </a:xfrm>
            <a:prstGeom prst="rect">
              <a:avLst/>
            </a:prstGeom>
            <a:solidFill>
              <a:srgbClr val="FFFFFF"/>
            </a:solidFill>
            <a:ln w="9525">
              <a:solidFill>
                <a:schemeClr val="tx1"/>
              </a:solidFill>
              <a:miter lim="800000"/>
              <a:headEnd/>
              <a:tailEnd/>
            </a:ln>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NAT </a:t>
              </a:r>
              <a:r>
                <a:rPr kumimoji="1" lang="zh-CN" altLang="en-US" sz="1200" b="1" dirty="0">
                  <a:latin typeface="微软雅黑" panose="020B0503020204020204" pitchFamily="34" charset="-122"/>
                  <a:ea typeface="微软雅黑" panose="020B0503020204020204" pitchFamily="34" charset="-122"/>
                </a:rPr>
                <a:t>转换表</a:t>
              </a:r>
              <a:endParaRPr kumimoji="1" lang="en-US" altLang="zh-CN" sz="1200" b="1" dirty="0">
                <a:latin typeface="微软雅黑" panose="020B0503020204020204" pitchFamily="34" charset="-122"/>
                <a:ea typeface="微软雅黑" panose="020B0503020204020204" pitchFamily="34" charset="-122"/>
              </a:endParaRPr>
            </a:p>
            <a:p>
              <a:pPr algn="ctr" eaLnBrk="1" hangingPunct="1">
                <a:lnSpc>
                  <a:spcPct val="90000"/>
                </a:lnSpc>
                <a:spcBef>
                  <a:spcPts val="600"/>
                </a:spcBef>
              </a:pPr>
              <a:r>
                <a:rPr kumimoji="1" lang="zh-CN" altLang="en-US" sz="1200" b="1" dirty="0">
                  <a:latin typeface="微软雅黑" panose="020B0503020204020204" pitchFamily="34" charset="-122"/>
                  <a:ea typeface="微软雅黑" panose="020B0503020204020204" pitchFamily="34" charset="-122"/>
                </a:rPr>
                <a:t>专用网地址         全球 </a:t>
              </a:r>
              <a:r>
                <a:rPr kumimoji="1" lang="en-US" altLang="zh-CN" sz="1200" b="1" dirty="0">
                  <a:latin typeface="微软雅黑" panose="020B0503020204020204" pitchFamily="34" charset="-122"/>
                  <a:ea typeface="微软雅黑" panose="020B0503020204020204" pitchFamily="34" charset="-122"/>
                </a:rPr>
                <a:t>IP </a:t>
              </a:r>
              <a:r>
                <a:rPr kumimoji="1" lang="zh-CN" altLang="en-US" sz="1200" b="1" dirty="0">
                  <a:latin typeface="微软雅黑" panose="020B0503020204020204" pitchFamily="34" charset="-122"/>
                  <a:ea typeface="微软雅黑" panose="020B0503020204020204" pitchFamily="34" charset="-122"/>
                </a:rPr>
                <a:t>地址      </a:t>
              </a:r>
              <a:endParaRPr kumimoji="1" lang="en-US" altLang="zh-CN" sz="1200" b="1" dirty="0">
                <a:latin typeface="微软雅黑" panose="020B0503020204020204" pitchFamily="34" charset="-122"/>
                <a:ea typeface="微软雅黑" panose="020B0503020204020204" pitchFamily="34" charset="-122"/>
              </a:endParaRPr>
            </a:p>
            <a:p>
              <a:pPr eaLnBrk="1" hangingPunct="1">
                <a:lnSpc>
                  <a:spcPct val="90000"/>
                </a:lnSpc>
                <a:spcBef>
                  <a:spcPts val="600"/>
                </a:spcBef>
              </a:pPr>
              <a:r>
                <a:rPr kumimoji="1" lang="en-US" altLang="zh-CN" sz="1200" b="1" dirty="0">
                  <a:solidFill>
                    <a:srgbClr val="0000FF"/>
                  </a:solidFill>
                  <a:latin typeface="微软雅黑" panose="020B0503020204020204" pitchFamily="34" charset="-122"/>
                  <a:ea typeface="微软雅黑" panose="020B0503020204020204" pitchFamily="34" charset="-122"/>
                </a:rPr>
                <a:t>192.168.0.3      172.38.1.5  </a:t>
              </a:r>
            </a:p>
            <a:p>
              <a:pP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       …                    …</a:t>
              </a:r>
            </a:p>
          </p:txBody>
        </p:sp>
        <p:cxnSp>
          <p:nvCxnSpPr>
            <p:cNvPr id="113" name="直接连接符 112"/>
            <p:cNvCxnSpPr/>
            <p:nvPr/>
          </p:nvCxnSpPr>
          <p:spPr>
            <a:xfrm>
              <a:off x="3613161" y="1329708"/>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613161" y="1560773"/>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a:endCxn id="111" idx="2"/>
            </p:cNvCxnSpPr>
            <p:nvPr/>
          </p:nvCxnSpPr>
          <p:spPr>
            <a:xfrm>
              <a:off x="4742681" y="1329708"/>
              <a:ext cx="0" cy="74315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6" name="直接连接符 115"/>
            <p:cNvCxnSpPr>
              <a:stCxn id="111" idx="2"/>
              <a:endCxn id="63" idx="0"/>
            </p:cNvCxnSpPr>
            <p:nvPr/>
          </p:nvCxnSpPr>
          <p:spPr>
            <a:xfrm flipH="1">
              <a:off x="4067318" y="2072860"/>
              <a:ext cx="675363" cy="6826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7" name="Text Box 52"/>
          <p:cNvSpPr txBox="1">
            <a:spLocks noChangeArrowheads="1"/>
          </p:cNvSpPr>
          <p:nvPr/>
        </p:nvSpPr>
        <p:spPr bwMode="auto">
          <a:xfrm>
            <a:off x="7679242" y="2190875"/>
            <a:ext cx="32573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a:solidFill>
                  <a:srgbClr val="0000FF"/>
                </a:solidFill>
                <a:latin typeface="微软雅黑" panose="020B0503020204020204" pitchFamily="34" charset="-122"/>
                <a:ea typeface="微软雅黑" panose="020B0503020204020204" pitchFamily="34" charset="-122"/>
              </a:rPr>
              <a:t>B</a:t>
            </a:r>
          </a:p>
        </p:txBody>
      </p:sp>
      <p:grpSp>
        <p:nvGrpSpPr>
          <p:cNvPr id="8" name="组合 7"/>
          <p:cNvGrpSpPr/>
          <p:nvPr/>
        </p:nvGrpSpPr>
        <p:grpSpPr>
          <a:xfrm>
            <a:off x="4606392" y="2117035"/>
            <a:ext cx="2878021" cy="786953"/>
            <a:chOff x="4606392" y="2117035"/>
            <a:chExt cx="2878021" cy="786953"/>
          </a:xfrm>
        </p:grpSpPr>
        <p:sp>
          <p:nvSpPr>
            <p:cNvPr id="107" name="Text Box 141"/>
            <p:cNvSpPr txBox="1">
              <a:spLocks noChangeArrowheads="1"/>
            </p:cNvSpPr>
            <p:nvPr/>
          </p:nvSpPr>
          <p:spPr bwMode="auto">
            <a:xfrm flipH="1">
              <a:off x="5198738" y="256543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nvGrpSpPr>
            <p:cNvPr id="7" name="组合 6"/>
            <p:cNvGrpSpPr/>
            <p:nvPr/>
          </p:nvGrpSpPr>
          <p:grpSpPr>
            <a:xfrm>
              <a:off x="4606392" y="2117035"/>
              <a:ext cx="2878021" cy="662297"/>
              <a:chOff x="4606392" y="2117035"/>
              <a:chExt cx="2878021" cy="662297"/>
            </a:xfrm>
          </p:grpSpPr>
          <p:sp>
            <p:nvSpPr>
              <p:cNvPr id="78" name="Text Box 50"/>
              <p:cNvSpPr txBox="1">
                <a:spLocks noChangeArrowheads="1"/>
              </p:cNvSpPr>
              <p:nvPr/>
            </p:nvSpPr>
            <p:spPr bwMode="auto">
              <a:xfrm>
                <a:off x="4956375" y="2117035"/>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213.18.2.4</a:t>
                </a:r>
              </a:p>
            </p:txBody>
          </p:sp>
          <p:sp>
            <p:nvSpPr>
              <p:cNvPr id="82" name="Freeform 54"/>
              <p:cNvSpPr>
                <a:spLocks/>
              </p:cNvSpPr>
              <p:nvPr/>
            </p:nvSpPr>
            <p:spPr bwMode="auto">
              <a:xfrm>
                <a:off x="5485264" y="2288230"/>
                <a:ext cx="1999149" cy="446751"/>
              </a:xfrm>
              <a:custGeom>
                <a:avLst/>
                <a:gdLst>
                  <a:gd name="T0" fmla="*/ 0 w 1679"/>
                  <a:gd name="T1" fmla="*/ 2147483647 h 413"/>
                  <a:gd name="T2" fmla="*/ 2147483647 w 1679"/>
                  <a:gd name="T3" fmla="*/ 2147483647 h 413"/>
                  <a:gd name="T4" fmla="*/ 2147483647 w 1679"/>
                  <a:gd name="T5" fmla="*/ 2147483647 h 413"/>
                  <a:gd name="T6" fmla="*/ 2147483647 w 1679"/>
                  <a:gd name="T7" fmla="*/ 2147483647 h 413"/>
                  <a:gd name="T8" fmla="*/ 2147483647 w 1679"/>
                  <a:gd name="T9" fmla="*/ 2147483647 h 413"/>
                  <a:gd name="T10" fmla="*/ 2147483647 w 1679"/>
                  <a:gd name="T11" fmla="*/ 0 h 413"/>
                  <a:gd name="T12" fmla="*/ 0 60000 65536"/>
                  <a:gd name="T13" fmla="*/ 0 60000 65536"/>
                  <a:gd name="T14" fmla="*/ 0 60000 65536"/>
                  <a:gd name="T15" fmla="*/ 0 60000 65536"/>
                  <a:gd name="T16" fmla="*/ 0 60000 65536"/>
                  <a:gd name="T17" fmla="*/ 0 60000 65536"/>
                  <a:gd name="T18" fmla="*/ 0 w 1679"/>
                  <a:gd name="T19" fmla="*/ 0 h 413"/>
                  <a:gd name="T20" fmla="*/ 1679 w 1679"/>
                  <a:gd name="T21" fmla="*/ 413 h 413"/>
                </a:gdLst>
                <a:ahLst/>
                <a:cxnLst>
                  <a:cxn ang="T12">
                    <a:pos x="T0" y="T1"/>
                  </a:cxn>
                  <a:cxn ang="T13">
                    <a:pos x="T2" y="T3"/>
                  </a:cxn>
                  <a:cxn ang="T14">
                    <a:pos x="T4" y="T5"/>
                  </a:cxn>
                  <a:cxn ang="T15">
                    <a:pos x="T6" y="T7"/>
                  </a:cxn>
                  <a:cxn ang="T16">
                    <a:pos x="T8" y="T9"/>
                  </a:cxn>
                  <a:cxn ang="T17">
                    <a:pos x="T10" y="T11"/>
                  </a:cxn>
                </a:cxnLst>
                <a:rect l="T18" t="T19" r="T20" b="T21"/>
                <a:pathLst>
                  <a:path w="1679" h="413">
                    <a:moveTo>
                      <a:pt x="0" y="409"/>
                    </a:moveTo>
                    <a:cubicBezTo>
                      <a:pt x="79" y="408"/>
                      <a:pt x="335" y="413"/>
                      <a:pt x="475" y="401"/>
                    </a:cubicBezTo>
                    <a:cubicBezTo>
                      <a:pt x="615" y="389"/>
                      <a:pt x="731" y="364"/>
                      <a:pt x="843" y="337"/>
                    </a:cubicBezTo>
                    <a:cubicBezTo>
                      <a:pt x="955" y="310"/>
                      <a:pt x="1056" y="273"/>
                      <a:pt x="1147" y="241"/>
                    </a:cubicBezTo>
                    <a:cubicBezTo>
                      <a:pt x="1238" y="209"/>
                      <a:pt x="1298" y="185"/>
                      <a:pt x="1387" y="145"/>
                    </a:cubicBezTo>
                    <a:cubicBezTo>
                      <a:pt x="1476" y="105"/>
                      <a:pt x="1618" y="30"/>
                      <a:pt x="1679" y="0"/>
                    </a:cubicBezTo>
                  </a:path>
                </a:pathLst>
              </a:custGeom>
              <a:noFill/>
              <a:ln w="38100" cmpd="sng">
                <a:solidFill>
                  <a:srgbClr val="990099"/>
                </a:solidFill>
                <a:round/>
                <a:headEnd type="none" w="med" len="med"/>
                <a:tailEnd type="triangl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5" name="Group 42"/>
              <p:cNvGrpSpPr>
                <a:grpSpLocks/>
              </p:cNvGrpSpPr>
              <p:nvPr/>
            </p:nvGrpSpPr>
            <p:grpSpPr bwMode="auto">
              <a:xfrm>
                <a:off x="4606392" y="2680895"/>
                <a:ext cx="631668" cy="98437"/>
                <a:chOff x="521" y="2478"/>
                <a:chExt cx="1044" cy="136"/>
              </a:xfrm>
            </p:grpSpPr>
            <p:sp>
              <p:nvSpPr>
                <p:cNvPr id="96"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7" name="Rectangle 39"/>
                <p:cNvSpPr>
                  <a:spLocks noChangeArrowheads="1"/>
                </p:cNvSpPr>
                <p:nvPr/>
              </p:nvSpPr>
              <p:spPr bwMode="auto">
                <a:xfrm>
                  <a:off x="521" y="2478"/>
                  <a:ext cx="635" cy="136"/>
                </a:xfrm>
                <a:prstGeom prst="rect">
                  <a:avLst/>
                </a:prstGeom>
                <a:solidFill>
                  <a:schemeClr val="bg1"/>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8"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81" name="Line 53"/>
              <p:cNvSpPr>
                <a:spLocks noChangeShapeType="1"/>
              </p:cNvSpPr>
              <p:nvPr/>
            </p:nvSpPr>
            <p:spPr bwMode="auto">
              <a:xfrm flipH="1">
                <a:off x="5048718" y="2533779"/>
                <a:ext cx="229500" cy="18782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12" name="标题 11">
            <a:extLst>
              <a:ext uri="{FF2B5EF4-FFF2-40B4-BE49-F238E27FC236}">
                <a16:creationId xmlns:a16="http://schemas.microsoft.com/office/drawing/2014/main" id="{5B126646-3BB7-10CE-E44D-4A65BBDDB37C}"/>
              </a:ext>
            </a:extLst>
          </p:cNvPr>
          <p:cNvSpPr>
            <a:spLocks noGrp="1"/>
          </p:cNvSpPr>
          <p:nvPr>
            <p:ph type="title"/>
          </p:nvPr>
        </p:nvSpPr>
        <p:spPr>
          <a:xfrm>
            <a:off x="486000" y="550723"/>
            <a:ext cx="8172000" cy="338554"/>
          </a:xfrm>
        </p:spPr>
        <p:txBody>
          <a:bodyPr/>
          <a:lstStyle/>
          <a:p>
            <a:r>
              <a:rPr lang="zh-CN" altLang="en-US" dirty="0"/>
              <a:t>网络地址转换的过程</a:t>
            </a:r>
          </a:p>
        </p:txBody>
      </p:sp>
    </p:spTree>
    <p:extLst>
      <p:ext uri="{BB962C8B-B14F-4D97-AF65-F5344CB8AC3E}">
        <p14:creationId xmlns:p14="http://schemas.microsoft.com/office/powerpoint/2010/main" val="29142122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2"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wipe(right)">
                                      <p:cBhvr>
                                        <p:cTn id="22" dur="5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right)">
                                      <p:cBhvr>
                                        <p:cTn id="2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F8D7CE7-0B9B-D796-49AB-86F163BC0554}"/>
              </a:ext>
            </a:extLst>
          </p:cNvPr>
          <p:cNvSpPr>
            <a:spLocks noGrp="1"/>
          </p:cNvSpPr>
          <p:nvPr>
            <p:ph type="title"/>
          </p:nvPr>
        </p:nvSpPr>
        <p:spPr>
          <a:xfrm>
            <a:off x="486000" y="550723"/>
            <a:ext cx="8172000" cy="338554"/>
          </a:xfrm>
        </p:spPr>
        <p:txBody>
          <a:bodyPr/>
          <a:lstStyle/>
          <a:p>
            <a:r>
              <a:rPr lang="zh-CN" altLang="en-US" dirty="0"/>
              <a:t>网络地址转换的过程</a:t>
            </a:r>
          </a:p>
        </p:txBody>
      </p:sp>
      <p:sp>
        <p:nvSpPr>
          <p:cNvPr id="8" name="内容占位符 7">
            <a:extLst>
              <a:ext uri="{FF2B5EF4-FFF2-40B4-BE49-F238E27FC236}">
                <a16:creationId xmlns:a16="http://schemas.microsoft.com/office/drawing/2014/main" id="{5937AD1D-5491-ABB6-2240-3F1749A9F381}"/>
              </a:ext>
            </a:extLst>
          </p:cNvPr>
          <p:cNvSpPr>
            <a:spLocks noGrp="1"/>
          </p:cNvSpPr>
          <p:nvPr>
            <p:ph sz="quarter" idx="11"/>
          </p:nvPr>
        </p:nvSpPr>
        <p:spPr>
          <a:xfrm>
            <a:off x="486000" y="900000"/>
            <a:ext cx="8172000" cy="3703500"/>
          </a:xfrm>
        </p:spPr>
        <p:txBody>
          <a:bodyPr/>
          <a:lstStyle/>
          <a:p>
            <a:r>
              <a:rPr lang="zh-CN" altLang="en-US" dirty="0"/>
              <a:t>在内部主机与外部主机通信时，在 </a:t>
            </a:r>
            <a:r>
              <a:rPr lang="en-US" altLang="zh-CN" dirty="0"/>
              <a:t>NAT </a:t>
            </a:r>
            <a:r>
              <a:rPr lang="zh-CN" altLang="en-US" dirty="0"/>
              <a:t>路由器上发生了两次地址转换：</a:t>
            </a:r>
          </a:p>
          <a:p>
            <a:pPr lvl="1"/>
            <a:r>
              <a:rPr lang="zh-CN" altLang="en-US" dirty="0"/>
              <a:t>离开专用网时：替换源地址，将内部地址替换为全球地址。</a:t>
            </a:r>
          </a:p>
          <a:p>
            <a:pPr lvl="1"/>
            <a:r>
              <a:rPr lang="zh-CN" altLang="en-US" dirty="0"/>
              <a:t>进入专用网时：替换目的地址，将全球地址替换为内部地址。</a:t>
            </a:r>
          </a:p>
          <a:p>
            <a:endParaRPr lang="zh-CN" altLang="en-US" dirty="0"/>
          </a:p>
        </p:txBody>
      </p:sp>
      <p:graphicFrame>
        <p:nvGraphicFramePr>
          <p:cNvPr id="11" name="表格 10">
            <a:extLst>
              <a:ext uri="{FF2B5EF4-FFF2-40B4-BE49-F238E27FC236}">
                <a16:creationId xmlns:a16="http://schemas.microsoft.com/office/drawing/2014/main" id="{B9D64B0C-5C70-B591-4D4F-C89D948C513D}"/>
              </a:ext>
            </a:extLst>
          </p:cNvPr>
          <p:cNvGraphicFramePr>
            <a:graphicFrameLocks noGrp="1"/>
          </p:cNvGraphicFramePr>
          <p:nvPr>
            <p:extLst>
              <p:ext uri="{D42A27DB-BD31-4B8C-83A1-F6EECF244321}">
                <p14:modId xmlns:p14="http://schemas.microsoft.com/office/powerpoint/2010/main" val="563137447"/>
              </p:ext>
            </p:extLst>
          </p:nvPr>
        </p:nvGraphicFramePr>
        <p:xfrm>
          <a:off x="1692000" y="2418564"/>
          <a:ext cx="5760000" cy="900000"/>
        </p:xfrm>
        <a:graphic>
          <a:graphicData uri="http://schemas.openxmlformats.org/drawingml/2006/table">
            <a:tbl>
              <a:tblPr firstRow="1" bandRow="1">
                <a:tableStyleId>{7DF18680-E054-41AD-8BC1-D1AEF772440D}</a:tableStyleId>
              </a:tblPr>
              <a:tblGrid>
                <a:gridCol w="1440000">
                  <a:extLst>
                    <a:ext uri="{9D8B030D-6E8A-4147-A177-3AD203B41FA5}">
                      <a16:colId xmlns:a16="http://schemas.microsoft.com/office/drawing/2014/main" val="1690366357"/>
                    </a:ext>
                  </a:extLst>
                </a:gridCol>
                <a:gridCol w="1440000">
                  <a:extLst>
                    <a:ext uri="{9D8B030D-6E8A-4147-A177-3AD203B41FA5}">
                      <a16:colId xmlns:a16="http://schemas.microsoft.com/office/drawing/2014/main" val="3113963944"/>
                    </a:ext>
                  </a:extLst>
                </a:gridCol>
                <a:gridCol w="1440000">
                  <a:extLst>
                    <a:ext uri="{9D8B030D-6E8A-4147-A177-3AD203B41FA5}">
                      <a16:colId xmlns:a16="http://schemas.microsoft.com/office/drawing/2014/main" val="407973877"/>
                    </a:ext>
                  </a:extLst>
                </a:gridCol>
                <a:gridCol w="1440000">
                  <a:extLst>
                    <a:ext uri="{9D8B030D-6E8A-4147-A177-3AD203B41FA5}">
                      <a16:colId xmlns:a16="http://schemas.microsoft.com/office/drawing/2014/main" val="3728440369"/>
                    </a:ext>
                  </a:extLst>
                </a:gridCol>
              </a:tblGrid>
              <a:tr h="300000">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方向</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字段</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旧的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新的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extLst>
                  <a:ext uri="{0D108BD9-81ED-4DB2-BD59-A6C34878D82A}">
                    <a16:rowId xmlns:a16="http://schemas.microsoft.com/office/drawing/2014/main" val="2984686918"/>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出</a:t>
                      </a:r>
                      <a:r>
                        <a:rPr lang="zh-CN" altLang="en-US" sz="1200" b="0" baseline="0" dirty="0">
                          <a:solidFill>
                            <a:schemeClr val="tx1"/>
                          </a:solidFill>
                          <a:effectLst/>
                          <a:latin typeface="Montserrat" panose="00000500000000000000" pitchFamily="2" charset="0"/>
                          <a:ea typeface="微软雅黑 Light" panose="020B0502040204020203" pitchFamily="34" charset="-122"/>
                        </a:rPr>
                        <a:t>（发往互联网）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源</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4286783472"/>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入</a:t>
                      </a:r>
                      <a:r>
                        <a:rPr lang="zh-CN" altLang="en-US" sz="1200" b="0" baseline="0" dirty="0">
                          <a:solidFill>
                            <a:schemeClr val="tx1"/>
                          </a:solidFill>
                          <a:effectLst/>
                          <a:latin typeface="Montserrat" panose="00000500000000000000" pitchFamily="2" charset="0"/>
                          <a:ea typeface="微软雅黑 Light" panose="020B0502040204020203" pitchFamily="34" charset="-122"/>
                        </a:rPr>
                        <a:t>（进入专用网）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目的</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53092961"/>
                  </a:ext>
                </a:extLst>
              </a:tr>
            </a:tbl>
          </a:graphicData>
        </a:graphic>
      </p:graphicFrame>
    </p:spTree>
    <p:extLst>
      <p:ext uri="{BB962C8B-B14F-4D97-AF65-F5344CB8AC3E}">
        <p14:creationId xmlns:p14="http://schemas.microsoft.com/office/powerpoint/2010/main" val="2718182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529C88A2-3E46-4CB1-6600-1AFA91632CE1}"/>
              </a:ext>
            </a:extLst>
          </p:cNvPr>
          <p:cNvSpPr>
            <a:spLocks noGrp="1"/>
          </p:cNvSpPr>
          <p:nvPr>
            <p:ph type="title"/>
          </p:nvPr>
        </p:nvSpPr>
        <p:spPr>
          <a:xfrm>
            <a:off x="486000" y="550723"/>
            <a:ext cx="8172000" cy="338554"/>
          </a:xfrm>
        </p:spPr>
        <p:txBody>
          <a:bodyPr/>
          <a:lstStyle/>
          <a:p>
            <a:r>
              <a:rPr lang="zh-CN" altLang="en-US" dirty="0"/>
              <a:t>网络地址转换 </a:t>
            </a:r>
            <a:r>
              <a:rPr lang="en-US" altLang="zh-CN" dirty="0"/>
              <a:t>NAT</a:t>
            </a:r>
            <a:endParaRPr lang="zh-CN" altLang="en-US" dirty="0"/>
          </a:p>
        </p:txBody>
      </p:sp>
      <p:sp>
        <p:nvSpPr>
          <p:cNvPr id="8" name="内容占位符 7">
            <a:extLst>
              <a:ext uri="{FF2B5EF4-FFF2-40B4-BE49-F238E27FC236}">
                <a16:creationId xmlns:a16="http://schemas.microsoft.com/office/drawing/2014/main" id="{573551FB-62A5-33CA-338E-9D43B444527B}"/>
              </a:ext>
            </a:extLst>
          </p:cNvPr>
          <p:cNvSpPr>
            <a:spLocks noGrp="1"/>
          </p:cNvSpPr>
          <p:nvPr>
            <p:ph sz="quarter" idx="11"/>
          </p:nvPr>
        </p:nvSpPr>
        <p:spPr>
          <a:xfrm>
            <a:off x="486000" y="900000"/>
            <a:ext cx="8172000" cy="3703500"/>
          </a:xfrm>
        </p:spPr>
        <p:txBody>
          <a:bodyPr/>
          <a:lstStyle/>
          <a:p>
            <a:r>
              <a:rPr lang="zh-CN" altLang="en-US" dirty="0"/>
              <a:t>当 </a:t>
            </a:r>
            <a:r>
              <a:rPr lang="en-US" altLang="zh-CN" dirty="0"/>
              <a:t>NAT </a:t>
            </a:r>
            <a:r>
              <a:rPr lang="zh-CN" altLang="en-US" dirty="0"/>
              <a:t>路由器具有 </a:t>
            </a:r>
            <a:r>
              <a:rPr lang="en-US" altLang="zh-CN" dirty="0"/>
              <a:t>n </a:t>
            </a:r>
            <a:r>
              <a:rPr lang="zh-CN" altLang="en-US" dirty="0"/>
              <a:t>个全球 </a:t>
            </a:r>
            <a:r>
              <a:rPr lang="en-US" altLang="zh-CN" dirty="0"/>
              <a:t>IP </a:t>
            </a:r>
            <a:r>
              <a:rPr lang="zh-CN" altLang="en-US" dirty="0"/>
              <a:t>地址时，专用网内最多可以同时有 </a:t>
            </a:r>
            <a:r>
              <a:rPr lang="en-US" altLang="zh-CN" dirty="0"/>
              <a:t>n </a:t>
            </a:r>
            <a:r>
              <a:rPr lang="zh-CN" altLang="en-US" dirty="0"/>
              <a:t>台主机接入到互联网</a:t>
            </a:r>
            <a:endParaRPr lang="en-US" altLang="zh-CN" dirty="0"/>
          </a:p>
          <a:p>
            <a:r>
              <a:rPr lang="zh-CN" altLang="en-US" dirty="0"/>
              <a:t>可以使专用网内较多数量的主机轮流使用 </a:t>
            </a:r>
            <a:r>
              <a:rPr lang="en-US" altLang="zh-CN" dirty="0"/>
              <a:t>NAT </a:t>
            </a:r>
            <a:r>
              <a:rPr lang="zh-CN" altLang="en-US" dirty="0"/>
              <a:t>路由器有限数量的全球 </a:t>
            </a:r>
            <a:r>
              <a:rPr lang="en-US" altLang="zh-CN" dirty="0"/>
              <a:t>IP </a:t>
            </a:r>
            <a:r>
              <a:rPr lang="zh-CN" altLang="en-US" dirty="0"/>
              <a:t>地址</a:t>
            </a:r>
          </a:p>
          <a:p>
            <a:r>
              <a:rPr lang="zh-CN" altLang="en-US" dirty="0"/>
              <a:t>通过 </a:t>
            </a:r>
            <a:r>
              <a:rPr lang="en-US" altLang="zh-CN" dirty="0"/>
              <a:t>NAT </a:t>
            </a:r>
            <a:r>
              <a:rPr lang="zh-CN" altLang="en-US" dirty="0"/>
              <a:t>路由器的通信必须由专用网内的主机发起，因此，专用网内部的主机不能充当服务器用</a:t>
            </a:r>
          </a:p>
          <a:p>
            <a:endParaRPr lang="zh-CN" altLang="en-US" dirty="0"/>
          </a:p>
        </p:txBody>
      </p:sp>
    </p:spTree>
    <p:extLst>
      <p:ext uri="{BB962C8B-B14F-4D97-AF65-F5344CB8AC3E}">
        <p14:creationId xmlns:p14="http://schemas.microsoft.com/office/powerpoint/2010/main" val="793926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CD9D10-524A-5343-119F-5E154F32C48A}"/>
              </a:ext>
            </a:extLst>
          </p:cNvPr>
          <p:cNvSpPr>
            <a:spLocks noGrp="1"/>
          </p:cNvSpPr>
          <p:nvPr>
            <p:ph type="title"/>
          </p:nvPr>
        </p:nvSpPr>
        <p:spPr>
          <a:xfrm>
            <a:off x="486000" y="550723"/>
            <a:ext cx="8172000" cy="338554"/>
          </a:xfrm>
        </p:spPr>
        <p:txBody>
          <a:bodyPr/>
          <a:lstStyle/>
          <a:p>
            <a:r>
              <a:rPr lang="zh-CN" altLang="en-US" dirty="0"/>
              <a:t>网络地址与端口号转换 </a:t>
            </a:r>
            <a:r>
              <a:rPr lang="en-US" altLang="zh-CN" dirty="0"/>
              <a:t>NAPT</a:t>
            </a:r>
            <a:endParaRPr lang="zh-CN" altLang="en-US" dirty="0"/>
          </a:p>
        </p:txBody>
      </p:sp>
      <p:sp>
        <p:nvSpPr>
          <p:cNvPr id="6" name="内容占位符 5">
            <a:extLst>
              <a:ext uri="{FF2B5EF4-FFF2-40B4-BE49-F238E27FC236}">
                <a16:creationId xmlns:a16="http://schemas.microsoft.com/office/drawing/2014/main" id="{8433869A-D531-1AB6-2C4F-A63F0B43A366}"/>
              </a:ext>
            </a:extLst>
          </p:cNvPr>
          <p:cNvSpPr>
            <a:spLocks noGrp="1"/>
          </p:cNvSpPr>
          <p:nvPr>
            <p:ph sz="quarter" idx="11"/>
          </p:nvPr>
        </p:nvSpPr>
        <p:spPr>
          <a:xfrm>
            <a:off x="486000" y="900000"/>
            <a:ext cx="8172000" cy="3703500"/>
          </a:xfrm>
        </p:spPr>
        <p:txBody>
          <a:bodyPr/>
          <a:lstStyle/>
          <a:p>
            <a:r>
              <a:rPr lang="en-US" altLang="zh-CN" dirty="0"/>
              <a:t>NAT </a:t>
            </a:r>
            <a:r>
              <a:rPr lang="zh-CN" altLang="en-US" dirty="0"/>
              <a:t>并不能节省 </a:t>
            </a:r>
            <a:r>
              <a:rPr lang="en-US" altLang="zh-CN" dirty="0"/>
              <a:t>IP </a:t>
            </a:r>
            <a:r>
              <a:rPr lang="zh-CN" altLang="en-US" dirty="0"/>
              <a:t>地址</a:t>
            </a:r>
            <a:endParaRPr lang="en-US" altLang="zh-CN" dirty="0"/>
          </a:p>
          <a:p>
            <a:r>
              <a:rPr lang="en-US" altLang="zh-CN" dirty="0"/>
              <a:t>NAPT </a:t>
            </a:r>
            <a:r>
              <a:rPr lang="zh-CN" altLang="en-US" dirty="0"/>
              <a:t>可以使多台拥有本地地址的主机，共用一个 全球 </a:t>
            </a:r>
            <a:r>
              <a:rPr lang="en-US" altLang="zh-CN" dirty="0"/>
              <a:t>IP </a:t>
            </a:r>
            <a:r>
              <a:rPr lang="zh-CN" altLang="en-US" dirty="0"/>
              <a:t>地址，同时和互联网上的不同主机进行通信</a:t>
            </a:r>
            <a:endParaRPr lang="en-US" altLang="zh-CN" dirty="0"/>
          </a:p>
          <a:p>
            <a:r>
              <a:rPr lang="zh-CN" altLang="en-US" dirty="0"/>
              <a:t>使用运输层端口号的 </a:t>
            </a:r>
            <a:r>
              <a:rPr lang="en-US" altLang="zh-CN" dirty="0"/>
              <a:t>NAT </a:t>
            </a:r>
            <a:r>
              <a:rPr lang="zh-CN" altLang="en-US" dirty="0"/>
              <a:t>叫做网络地址与端口号转换 </a:t>
            </a:r>
            <a:r>
              <a:rPr lang="en-US" altLang="zh-CN" dirty="0"/>
              <a:t>NAPT (Network Address and Port Translation)</a:t>
            </a:r>
          </a:p>
          <a:p>
            <a:r>
              <a:rPr lang="zh-CN" altLang="en-US" dirty="0"/>
              <a:t>而不使用端口号的 </a:t>
            </a:r>
            <a:r>
              <a:rPr lang="en-US" altLang="zh-CN" dirty="0"/>
              <a:t>NAT </a:t>
            </a:r>
            <a:r>
              <a:rPr lang="zh-CN" altLang="en-US" dirty="0"/>
              <a:t>就叫做传统的 </a:t>
            </a:r>
            <a:r>
              <a:rPr lang="en-US" altLang="zh-CN" dirty="0"/>
              <a:t>NAT (traditional NAT)</a:t>
            </a:r>
            <a:endParaRPr lang="zh-CN" altLang="en-US" dirty="0"/>
          </a:p>
          <a:p>
            <a:endParaRPr lang="zh-CN" altLang="en-US" dirty="0"/>
          </a:p>
        </p:txBody>
      </p:sp>
    </p:spTree>
    <p:extLst>
      <p:ext uri="{BB962C8B-B14F-4D97-AF65-F5344CB8AC3E}">
        <p14:creationId xmlns:p14="http://schemas.microsoft.com/office/powerpoint/2010/main" val="1789474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3435311" y="2511629"/>
            <a:ext cx="2273379" cy="338554"/>
          </a:xfrm>
          <a:prstGeom prst="rect">
            <a:avLst/>
          </a:prstGeom>
        </p:spPr>
        <p:txBody>
          <a:bodyPr wrap="none">
            <a:spAutoFit/>
          </a:bodyPr>
          <a:lstStyle/>
          <a:p>
            <a:pPr algn="ctr"/>
            <a:r>
              <a:rPr lang="en-US" altLang="zh-CN" sz="1600" b="1" dirty="0">
                <a:latin typeface="微软雅黑" pitchFamily="34" charset="-122"/>
                <a:ea typeface="微软雅黑" pitchFamily="34" charset="-122"/>
              </a:rPr>
              <a:t>NAPT </a:t>
            </a:r>
            <a:r>
              <a:rPr lang="zh-CN" altLang="en-US" sz="1600" b="1" dirty="0">
                <a:latin typeface="微软雅黑" pitchFamily="34" charset="-122"/>
                <a:ea typeface="微软雅黑" pitchFamily="34" charset="-122"/>
              </a:rPr>
              <a:t>地址转换表举例</a:t>
            </a:r>
          </a:p>
        </p:txBody>
      </p:sp>
      <p:graphicFrame>
        <p:nvGraphicFramePr>
          <p:cNvPr id="6" name="内容占位符 3"/>
          <p:cNvGraphicFramePr>
            <a:graphicFrameLocks/>
          </p:cNvGraphicFramePr>
          <p:nvPr>
            <p:extLst>
              <p:ext uri="{D42A27DB-BD31-4B8C-83A1-F6EECF244321}">
                <p14:modId xmlns:p14="http://schemas.microsoft.com/office/powerpoint/2010/main" val="1876993176"/>
              </p:ext>
            </p:extLst>
          </p:nvPr>
        </p:nvGraphicFramePr>
        <p:xfrm>
          <a:off x="545144" y="2819680"/>
          <a:ext cx="8053711" cy="1842485"/>
        </p:xfrm>
        <a:graphic>
          <a:graphicData uri="http://schemas.openxmlformats.org/drawingml/2006/table">
            <a:tbl>
              <a:tblPr firstRow="1" firstCol="1" lastRow="1" lastCol="1" bandRow="1" bandCol="1">
                <a:tableStyleId>{5A111915-BE36-4E01-A7E5-04B1672EAD32}</a:tableStyleId>
              </a:tblPr>
              <a:tblGrid>
                <a:gridCol w="697566">
                  <a:extLst>
                    <a:ext uri="{9D8B030D-6E8A-4147-A177-3AD203B41FA5}">
                      <a16:colId xmlns:a16="http://schemas.microsoft.com/office/drawing/2014/main" val="20000"/>
                    </a:ext>
                  </a:extLst>
                </a:gridCol>
                <a:gridCol w="2735905">
                  <a:extLst>
                    <a:ext uri="{9D8B030D-6E8A-4147-A177-3AD203B41FA5}">
                      <a16:colId xmlns:a16="http://schemas.microsoft.com/office/drawing/2014/main" val="20001"/>
                    </a:ext>
                  </a:extLst>
                </a:gridCol>
                <a:gridCol w="2219791">
                  <a:extLst>
                    <a:ext uri="{9D8B030D-6E8A-4147-A177-3AD203B41FA5}">
                      <a16:colId xmlns:a16="http://schemas.microsoft.com/office/drawing/2014/main" val="20002"/>
                    </a:ext>
                  </a:extLst>
                </a:gridCol>
                <a:gridCol w="2400449">
                  <a:extLst>
                    <a:ext uri="{9D8B030D-6E8A-4147-A177-3AD203B41FA5}">
                      <a16:colId xmlns:a16="http://schemas.microsoft.com/office/drawing/2014/main" val="20003"/>
                    </a:ext>
                  </a:extLst>
                </a:gridCol>
              </a:tblGrid>
              <a:tr h="368497">
                <a:tc>
                  <a:txBody>
                    <a:bodyPr/>
                    <a:lstStyle/>
                    <a:p>
                      <a:pPr algn="ctr">
                        <a:lnSpc>
                          <a:spcPct val="100000"/>
                        </a:lnSpc>
                        <a:spcAft>
                          <a:spcPts val="0"/>
                        </a:spcAft>
                        <a:tabLst>
                          <a:tab pos="3886200" algn="l"/>
                        </a:tabLst>
                      </a:pPr>
                      <a:r>
                        <a:rPr lang="zh-CN" sz="1400" b="1" dirty="0">
                          <a:solidFill>
                            <a:schemeClr val="bg1"/>
                          </a:solidFill>
                          <a:effectLst/>
                        </a:rPr>
                        <a:t>方向</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字段</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旧的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新的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0"/>
                  </a:ext>
                </a:extLst>
              </a:tr>
              <a:tr h="368497">
                <a:tc>
                  <a:txBody>
                    <a:bodyPr/>
                    <a:lstStyle/>
                    <a:p>
                      <a:pPr algn="ctr">
                        <a:lnSpc>
                          <a:spcPct val="100000"/>
                        </a:lnSpc>
                        <a:spcAft>
                          <a:spcPts val="0"/>
                        </a:spcAft>
                        <a:tabLst>
                          <a:tab pos="3886200" algn="l"/>
                        </a:tabLst>
                      </a:pPr>
                      <a:r>
                        <a:rPr lang="zh-CN" sz="1400" b="1">
                          <a:solidFill>
                            <a:schemeClr val="tx1"/>
                          </a:solidFill>
                          <a:effectLst/>
                        </a:rPr>
                        <a:t>出</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40001</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1"/>
                  </a:ext>
                </a:extLst>
              </a:tr>
              <a:tr h="368497">
                <a:tc>
                  <a:txBody>
                    <a:bodyPr/>
                    <a:lstStyle/>
                    <a:p>
                      <a:pPr algn="ctr">
                        <a:lnSpc>
                          <a:spcPct val="100000"/>
                        </a:lnSpc>
                        <a:spcAft>
                          <a:spcPts val="0"/>
                        </a:spcAft>
                        <a:tabLst>
                          <a:tab pos="3886200" algn="l"/>
                        </a:tabLst>
                      </a:pPr>
                      <a:r>
                        <a:rPr lang="zh-CN" sz="1400" b="1" dirty="0">
                          <a:solidFill>
                            <a:schemeClr val="tx1"/>
                          </a:solidFill>
                          <a:effectLst/>
                        </a:rPr>
                        <a:t>出</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40002</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2"/>
                  </a:ext>
                </a:extLst>
              </a:tr>
              <a:tr h="368497">
                <a:tc>
                  <a:txBody>
                    <a:bodyPr/>
                    <a:lstStyle/>
                    <a:p>
                      <a:pPr algn="ctr">
                        <a:lnSpc>
                          <a:spcPct val="100000"/>
                        </a:lnSpc>
                        <a:spcAft>
                          <a:spcPts val="0"/>
                        </a:spcAft>
                        <a:tabLst>
                          <a:tab pos="3886200" algn="l"/>
                        </a:tabLst>
                      </a:pPr>
                      <a:r>
                        <a:rPr lang="zh-CN" sz="1400" b="1">
                          <a:solidFill>
                            <a:schemeClr val="tx1"/>
                          </a:solidFill>
                          <a:effectLst/>
                        </a:rPr>
                        <a:t>入</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40001</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3"/>
                  </a:ext>
                </a:extLst>
              </a:tr>
              <a:tr h="368497">
                <a:tc>
                  <a:txBody>
                    <a:bodyPr/>
                    <a:lstStyle/>
                    <a:p>
                      <a:pPr algn="ctr">
                        <a:lnSpc>
                          <a:spcPct val="100000"/>
                        </a:lnSpc>
                        <a:spcAft>
                          <a:spcPts val="0"/>
                        </a:spcAft>
                        <a:tabLst>
                          <a:tab pos="3886200" algn="l"/>
                        </a:tabLst>
                      </a:pPr>
                      <a:r>
                        <a:rPr lang="zh-CN" sz="1400" b="1" dirty="0">
                          <a:solidFill>
                            <a:schemeClr val="tx1"/>
                          </a:solidFill>
                          <a:effectLst/>
                        </a:rPr>
                        <a:t>入</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marL="0" algn="ctr" defTabSz="914400" rtl="0" eaLnBrk="1" latinLnBrk="0" hangingPunct="1">
                        <a:lnSpc>
                          <a:spcPct val="100000"/>
                        </a:lnSpc>
                        <a:spcAft>
                          <a:spcPts val="0"/>
                        </a:spcAft>
                        <a:tabLst>
                          <a:tab pos="3886200" algn="l"/>
                        </a:tabLst>
                      </a:pPr>
                      <a:r>
                        <a:rPr lang="en-US" sz="1400" b="1" kern="1200"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40002</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4"/>
                  </a:ext>
                </a:extLst>
              </a:tr>
            </a:tbl>
          </a:graphicData>
        </a:graphic>
      </p:graphicFrame>
      <p:sp>
        <p:nvSpPr>
          <p:cNvPr id="2" name="标题 1">
            <a:extLst>
              <a:ext uri="{FF2B5EF4-FFF2-40B4-BE49-F238E27FC236}">
                <a16:creationId xmlns:a16="http://schemas.microsoft.com/office/drawing/2014/main" id="{7D86FE7F-2965-7FE6-8804-6C8AA1E3794D}"/>
              </a:ext>
            </a:extLst>
          </p:cNvPr>
          <p:cNvSpPr>
            <a:spLocks noGrp="1"/>
          </p:cNvSpPr>
          <p:nvPr>
            <p:ph type="title"/>
          </p:nvPr>
        </p:nvSpPr>
        <p:spPr>
          <a:xfrm>
            <a:off x="486000" y="550723"/>
            <a:ext cx="8172000" cy="338554"/>
          </a:xfrm>
        </p:spPr>
        <p:txBody>
          <a:bodyPr/>
          <a:lstStyle/>
          <a:p>
            <a:r>
              <a:rPr lang="en-US" altLang="zh-CN" dirty="0"/>
              <a:t>NAPT </a:t>
            </a:r>
            <a:r>
              <a:rPr lang="zh-CN" altLang="en-US" dirty="0"/>
              <a:t>地址转换表</a:t>
            </a:r>
          </a:p>
        </p:txBody>
      </p:sp>
      <p:sp>
        <p:nvSpPr>
          <p:cNvPr id="10" name="内容占位符 9">
            <a:extLst>
              <a:ext uri="{FF2B5EF4-FFF2-40B4-BE49-F238E27FC236}">
                <a16:creationId xmlns:a16="http://schemas.microsoft.com/office/drawing/2014/main" id="{ECBB7675-5BD3-4C06-AE39-54362B830FBD}"/>
              </a:ext>
            </a:extLst>
          </p:cNvPr>
          <p:cNvSpPr>
            <a:spLocks noGrp="1"/>
          </p:cNvSpPr>
          <p:nvPr>
            <p:ph sz="quarter" idx="11"/>
          </p:nvPr>
        </p:nvSpPr>
        <p:spPr>
          <a:xfrm>
            <a:off x="486000" y="900000"/>
            <a:ext cx="8172000" cy="3703500"/>
          </a:xfrm>
        </p:spPr>
        <p:txBody>
          <a:bodyPr/>
          <a:lstStyle/>
          <a:p>
            <a:r>
              <a:rPr lang="en-US" altLang="zh-CN" dirty="0"/>
              <a:t>NAPT </a:t>
            </a:r>
            <a:r>
              <a:rPr lang="zh-CN" altLang="en-US" dirty="0"/>
              <a:t>把专用网内不同的源 </a:t>
            </a:r>
            <a:r>
              <a:rPr lang="en-US" altLang="zh-CN" dirty="0"/>
              <a:t>IP </a:t>
            </a:r>
            <a:r>
              <a:rPr lang="zh-CN" altLang="en-US" dirty="0"/>
              <a:t>地址都转换为相同的全球 </a:t>
            </a:r>
            <a:r>
              <a:rPr lang="en-US" altLang="zh-CN" dirty="0"/>
              <a:t>IP </a:t>
            </a:r>
            <a:r>
              <a:rPr lang="zh-CN" altLang="en-US" dirty="0"/>
              <a:t>地址，将 </a:t>
            </a:r>
            <a:r>
              <a:rPr lang="en-US" altLang="zh-CN" dirty="0"/>
              <a:t>TCP </a:t>
            </a:r>
            <a:r>
              <a:rPr lang="zh-CN" altLang="en-US" dirty="0"/>
              <a:t>源端口号转换为新的 </a:t>
            </a:r>
            <a:r>
              <a:rPr lang="en-US" altLang="zh-CN" dirty="0"/>
              <a:t>TCP </a:t>
            </a:r>
            <a:r>
              <a:rPr lang="zh-CN" altLang="en-US" dirty="0"/>
              <a:t>端口号（互不相同）</a:t>
            </a:r>
            <a:endParaRPr lang="en-US" altLang="zh-CN" dirty="0"/>
          </a:p>
          <a:p>
            <a:r>
              <a:rPr lang="zh-CN" altLang="en-US" dirty="0"/>
              <a:t>收到从互联网发来的应答时，从 </a:t>
            </a:r>
            <a:r>
              <a:rPr lang="en-US" altLang="zh-CN" dirty="0"/>
              <a:t>IP </a:t>
            </a:r>
            <a:r>
              <a:rPr lang="zh-CN" altLang="en-US" dirty="0"/>
              <a:t>数据报的数据部分找出运输层端口号，从 </a:t>
            </a:r>
            <a:r>
              <a:rPr lang="en-US" altLang="zh-CN" dirty="0"/>
              <a:t>NAPT </a:t>
            </a:r>
            <a:r>
              <a:rPr lang="zh-CN" altLang="en-US" dirty="0"/>
              <a:t>转换表中找到正确的目的主机</a:t>
            </a:r>
          </a:p>
          <a:p>
            <a:endParaRPr lang="zh-CN" altLang="en-US" dirty="0"/>
          </a:p>
        </p:txBody>
      </p:sp>
    </p:spTree>
    <p:extLst>
      <p:ext uri="{BB962C8B-B14F-4D97-AF65-F5344CB8AC3E}">
        <p14:creationId xmlns:p14="http://schemas.microsoft.com/office/powerpoint/2010/main" val="1383735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F891EB7C-FC18-1D97-1051-47C8ECC45F1C}"/>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a:fillRect/>
          </a:stretch>
        </p:blipFill>
        <p:spPr/>
      </p:pic>
      <p:sp>
        <p:nvSpPr>
          <p:cNvPr id="2" name="标题 1">
            <a:extLst>
              <a:ext uri="{FF2B5EF4-FFF2-40B4-BE49-F238E27FC236}">
                <a16:creationId xmlns:a16="http://schemas.microsoft.com/office/drawing/2014/main" id="{BC0D9DDE-F7E1-249C-A5E1-DF3EB9D6CD08}"/>
              </a:ext>
            </a:extLst>
          </p:cNvPr>
          <p:cNvSpPr>
            <a:spLocks noGrp="1"/>
          </p:cNvSpPr>
          <p:nvPr>
            <p:ph type="title"/>
          </p:nvPr>
        </p:nvSpPr>
        <p:spPr>
          <a:xfrm>
            <a:off x="628650" y="1790720"/>
            <a:ext cx="4319588" cy="553998"/>
          </a:xfrm>
        </p:spPr>
        <p:txBody>
          <a:bodyPr/>
          <a:lstStyle/>
          <a:p>
            <a:r>
              <a:rPr lang="fr-FR" altLang="zh-CN" dirty="0"/>
              <a:t>4.9 </a:t>
            </a:r>
            <a:r>
              <a:rPr lang="en-US" altLang="zh-CN" dirty="0"/>
              <a:t>MPLS</a:t>
            </a:r>
            <a:endParaRPr lang="zh-CN" altLang="en-US" dirty="0"/>
          </a:p>
        </p:txBody>
      </p:sp>
      <p:sp>
        <p:nvSpPr>
          <p:cNvPr id="3" name="文本占位符 2">
            <a:extLst>
              <a:ext uri="{FF2B5EF4-FFF2-40B4-BE49-F238E27FC236}">
                <a16:creationId xmlns:a16="http://schemas.microsoft.com/office/drawing/2014/main" id="{E27FD5ED-A5A8-9B1B-0CA5-E4F8CE0F0BC7}"/>
              </a:ext>
            </a:extLst>
          </p:cNvPr>
          <p:cNvSpPr>
            <a:spLocks noGrp="1"/>
          </p:cNvSpPr>
          <p:nvPr>
            <p:ph type="body" sz="quarter" idx="11"/>
          </p:nvPr>
        </p:nvSpPr>
        <p:spPr>
          <a:xfrm>
            <a:off x="628100" y="2344736"/>
            <a:ext cx="4320000" cy="1870075"/>
          </a:xfrm>
        </p:spPr>
        <p:txBody>
          <a:bodyPr/>
          <a:lstStyle/>
          <a:p>
            <a:r>
              <a:rPr lang="zh-CN" altLang="en-US" dirty="0"/>
              <a:t>多协议标签交换 </a:t>
            </a:r>
            <a:endParaRPr lang="en-US" altLang="zh-CN" dirty="0"/>
          </a:p>
          <a:p>
            <a:r>
              <a:rPr lang="en-US" altLang="zh-CN" dirty="0"/>
              <a:t>· MPLS </a:t>
            </a:r>
            <a:r>
              <a:rPr lang="zh-CN" altLang="en-US" dirty="0"/>
              <a:t>的工作原理</a:t>
            </a:r>
            <a:endParaRPr lang="en-US" altLang="zh-CN" dirty="0"/>
          </a:p>
          <a:p>
            <a:r>
              <a:rPr lang="en-US" altLang="zh-CN" dirty="0"/>
              <a:t>· MPLS </a:t>
            </a:r>
            <a:r>
              <a:rPr lang="zh-CN" altLang="en-US" dirty="0"/>
              <a:t>首部的位置与格式</a:t>
            </a:r>
            <a:endParaRPr lang="en-US" altLang="zh-CN" dirty="0"/>
          </a:p>
          <a:p>
            <a:r>
              <a:rPr lang="en-US" altLang="zh-CN" dirty="0"/>
              <a:t>·</a:t>
            </a:r>
            <a:r>
              <a:rPr lang="zh-CN" altLang="en-US" dirty="0"/>
              <a:t>新一代的 </a:t>
            </a:r>
            <a:r>
              <a:rPr lang="en-US" altLang="zh-CN" dirty="0"/>
              <a:t>MPLS</a:t>
            </a:r>
            <a:endParaRPr lang="zh-CN" altLang="en-US" dirty="0"/>
          </a:p>
          <a:p>
            <a:endParaRPr lang="zh-CN" altLang="en-US" dirty="0"/>
          </a:p>
        </p:txBody>
      </p:sp>
    </p:spTree>
    <p:extLst>
      <p:ext uri="{BB962C8B-B14F-4D97-AF65-F5344CB8AC3E}">
        <p14:creationId xmlns:p14="http://schemas.microsoft.com/office/powerpoint/2010/main" val="23821774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Line 4"/>
          <p:cNvSpPr>
            <a:spLocks noChangeShapeType="1"/>
          </p:cNvSpPr>
          <p:nvPr/>
        </p:nvSpPr>
        <p:spPr bwMode="auto">
          <a:xfrm>
            <a:off x="6384717" y="2782231"/>
            <a:ext cx="983708" cy="2183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5" name="Line 7"/>
          <p:cNvSpPr>
            <a:spLocks noChangeShapeType="1"/>
          </p:cNvSpPr>
          <p:nvPr/>
        </p:nvSpPr>
        <p:spPr bwMode="auto">
          <a:xfrm>
            <a:off x="2894576" y="2723668"/>
            <a:ext cx="1186834"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6" name="Line 8"/>
          <p:cNvSpPr>
            <a:spLocks noChangeShapeType="1"/>
          </p:cNvSpPr>
          <p:nvPr/>
        </p:nvSpPr>
        <p:spPr bwMode="auto">
          <a:xfrm flipV="1">
            <a:off x="4220064" y="2713460"/>
            <a:ext cx="1955637"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7" name="Line 9"/>
          <p:cNvSpPr>
            <a:spLocks noChangeShapeType="1"/>
          </p:cNvSpPr>
          <p:nvPr/>
        </p:nvSpPr>
        <p:spPr bwMode="auto">
          <a:xfrm>
            <a:off x="4221099" y="2782231"/>
            <a:ext cx="1610619" cy="8076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8" name="Line 10"/>
          <p:cNvSpPr>
            <a:spLocks noChangeShapeType="1"/>
          </p:cNvSpPr>
          <p:nvPr/>
        </p:nvSpPr>
        <p:spPr bwMode="auto">
          <a:xfrm flipV="1">
            <a:off x="6315389" y="2453087"/>
            <a:ext cx="1053035" cy="19255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9" name="Line 11"/>
          <p:cNvSpPr>
            <a:spLocks noChangeShapeType="1"/>
          </p:cNvSpPr>
          <p:nvPr/>
        </p:nvSpPr>
        <p:spPr bwMode="auto">
          <a:xfrm>
            <a:off x="6049775" y="3537593"/>
            <a:ext cx="792131"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0" name="Freeform 15"/>
          <p:cNvSpPr>
            <a:spLocks/>
          </p:cNvSpPr>
          <p:nvPr/>
        </p:nvSpPr>
        <p:spPr bwMode="auto">
          <a:xfrm>
            <a:off x="3428964" y="2764470"/>
            <a:ext cx="603491" cy="1446073"/>
          </a:xfrm>
          <a:custGeom>
            <a:avLst/>
            <a:gdLst>
              <a:gd name="T0" fmla="*/ 0 w 454"/>
              <a:gd name="T1" fmla="*/ 91 h 951"/>
              <a:gd name="T2" fmla="*/ 454 w 454"/>
              <a:gd name="T3" fmla="*/ 0 h 951"/>
              <a:gd name="T4" fmla="*/ 4 w 454"/>
              <a:gd name="T5" fmla="*/ 951 h 951"/>
              <a:gd name="T6" fmla="*/ 0 w 454"/>
              <a:gd name="T7" fmla="*/ 91 h 951"/>
            </a:gdLst>
            <a:ahLst/>
            <a:cxnLst>
              <a:cxn ang="0">
                <a:pos x="T0" y="T1"/>
              </a:cxn>
              <a:cxn ang="0">
                <a:pos x="T2" y="T3"/>
              </a:cxn>
              <a:cxn ang="0">
                <a:pos x="T4" y="T5"/>
              </a:cxn>
              <a:cxn ang="0">
                <a:pos x="T6" y="T7"/>
              </a:cxn>
            </a:cxnLst>
            <a:rect l="0" t="0" r="r" b="b"/>
            <a:pathLst>
              <a:path w="454" h="951">
                <a:moveTo>
                  <a:pt x="0" y="91"/>
                </a:moveTo>
                <a:lnTo>
                  <a:pt x="454" y="0"/>
                </a:lnTo>
                <a:lnTo>
                  <a:pt x="4" y="951"/>
                </a:lnTo>
                <a:lnTo>
                  <a:pt x="0" y="91"/>
                </a:lnTo>
                <a:close/>
              </a:path>
            </a:pathLst>
          </a:custGeom>
          <a:gradFill rotWithShape="1">
            <a:gsLst>
              <a:gs pos="0">
                <a:srgbClr val="99FFCC"/>
              </a:gs>
              <a:gs pos="100000">
                <a:srgbClr val="0070C0"/>
              </a:gs>
            </a:gsLst>
            <a:lin ang="0" scaled="1"/>
          </a:gradFill>
          <a:ln>
            <a:noFill/>
          </a:ln>
          <a:effec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1" name="Text Box 16"/>
          <p:cNvSpPr txBox="1">
            <a:spLocks noChangeArrowheads="1"/>
          </p:cNvSpPr>
          <p:nvPr/>
        </p:nvSpPr>
        <p:spPr bwMode="auto">
          <a:xfrm>
            <a:off x="4221099" y="249198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Montserrat" panose="00000500000000000000" pitchFamily="2" charset="0"/>
                <a:ea typeface="微软雅黑" panose="020B0503020204020204" pitchFamily="34" charset="-122"/>
              </a:rPr>
              <a:t>0</a:t>
            </a:r>
          </a:p>
        </p:txBody>
      </p:sp>
      <p:sp>
        <p:nvSpPr>
          <p:cNvPr id="12" name="Text Box 17"/>
          <p:cNvSpPr txBox="1">
            <a:spLocks noChangeArrowheads="1"/>
          </p:cNvSpPr>
          <p:nvPr/>
        </p:nvSpPr>
        <p:spPr bwMode="auto">
          <a:xfrm>
            <a:off x="4108148" y="2804658"/>
            <a:ext cx="2391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1</a:t>
            </a:r>
          </a:p>
        </p:txBody>
      </p:sp>
      <p:sp>
        <p:nvSpPr>
          <p:cNvPr id="13" name="Text Box 18"/>
          <p:cNvSpPr txBox="1">
            <a:spLocks noChangeArrowheads="1"/>
          </p:cNvSpPr>
          <p:nvPr/>
        </p:nvSpPr>
        <p:spPr bwMode="auto">
          <a:xfrm>
            <a:off x="3989366" y="2313408"/>
            <a:ext cx="31451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1</a:t>
            </a:r>
          </a:p>
        </p:txBody>
      </p:sp>
      <p:sp>
        <p:nvSpPr>
          <p:cNvPr id="14" name="Text Box 19"/>
          <p:cNvSpPr txBox="1">
            <a:spLocks noChangeArrowheads="1"/>
          </p:cNvSpPr>
          <p:nvPr/>
        </p:nvSpPr>
        <p:spPr bwMode="auto">
          <a:xfrm>
            <a:off x="6155581" y="2313408"/>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2</a:t>
            </a:r>
          </a:p>
        </p:txBody>
      </p:sp>
      <p:sp>
        <p:nvSpPr>
          <p:cNvPr id="15" name="Text Box 20"/>
          <p:cNvSpPr txBox="1">
            <a:spLocks noChangeArrowheads="1"/>
          </p:cNvSpPr>
          <p:nvPr/>
        </p:nvSpPr>
        <p:spPr bwMode="auto">
          <a:xfrm>
            <a:off x="5746741" y="3075113"/>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3</a:t>
            </a:r>
          </a:p>
        </p:txBody>
      </p:sp>
      <p:sp>
        <p:nvSpPr>
          <p:cNvPr id="16" name="Line 21"/>
          <p:cNvSpPr>
            <a:spLocks noChangeShapeType="1"/>
          </p:cNvSpPr>
          <p:nvPr/>
        </p:nvSpPr>
        <p:spPr bwMode="auto">
          <a:xfrm>
            <a:off x="6049775" y="3589929"/>
            <a:ext cx="552390" cy="36016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54" name="组合 53"/>
          <p:cNvGrpSpPr/>
          <p:nvPr/>
        </p:nvGrpSpPr>
        <p:grpSpPr>
          <a:xfrm>
            <a:off x="2963903" y="2377909"/>
            <a:ext cx="908492" cy="276034"/>
            <a:chOff x="2963903" y="1162973"/>
            <a:chExt cx="908492" cy="276034"/>
          </a:xfrm>
        </p:grpSpPr>
        <p:sp>
          <p:nvSpPr>
            <p:cNvPr id="46" name="Line 24"/>
            <p:cNvSpPr>
              <a:spLocks noChangeShapeType="1"/>
            </p:cNvSpPr>
            <p:nvPr/>
          </p:nvSpPr>
          <p:spPr bwMode="auto">
            <a:xfrm>
              <a:off x="3591983" y="1300512"/>
              <a:ext cx="280412"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7" name="Rectangle 25"/>
            <p:cNvSpPr>
              <a:spLocks noChangeArrowheads="1"/>
            </p:cNvSpPr>
            <p:nvPr/>
          </p:nvSpPr>
          <p:spPr bwMode="auto">
            <a:xfrm>
              <a:off x="2963903" y="1162973"/>
              <a:ext cx="629115" cy="276034"/>
            </a:xfrm>
            <a:prstGeom prst="rect">
              <a:avLst/>
            </a:prstGeom>
            <a:solidFill>
              <a:srgbClr val="3399FF"/>
            </a:solidFill>
            <a:ln w="9525" algn="ctr">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grpSp>
      <p:sp>
        <p:nvSpPr>
          <p:cNvPr id="48" name="Rectangle 26"/>
          <p:cNvSpPr>
            <a:spLocks noChangeArrowheads="1"/>
          </p:cNvSpPr>
          <p:nvPr/>
        </p:nvSpPr>
        <p:spPr bwMode="auto">
          <a:xfrm>
            <a:off x="3424357" y="2387461"/>
            <a:ext cx="157279" cy="25502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Montserrat" panose="00000500000000000000" pitchFamily="2" charset="0"/>
                <a:ea typeface="微软雅黑" panose="020B0503020204020204" pitchFamily="34" charset="-122"/>
              </a:rPr>
              <a:t>0</a:t>
            </a:r>
          </a:p>
        </p:txBody>
      </p:sp>
      <p:sp>
        <p:nvSpPr>
          <p:cNvPr id="18" name="Text Box 27"/>
          <p:cNvSpPr txBox="1">
            <a:spLocks noChangeArrowheads="1"/>
          </p:cNvSpPr>
          <p:nvPr/>
        </p:nvSpPr>
        <p:spPr bwMode="auto">
          <a:xfrm>
            <a:off x="2126974" y="4227050"/>
            <a:ext cx="9861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itchFamily="34" charset="-122"/>
              </a:rPr>
              <a:t>S</a:t>
            </a:r>
            <a:r>
              <a:rPr lang="en-US" altLang="zh-CN" sz="1200" b="1" baseline="-25000" dirty="0">
                <a:latin typeface="Montserrat" panose="00000500000000000000" pitchFamily="2" charset="0"/>
                <a:ea typeface="微软雅黑" pitchFamily="34" charset="-122"/>
              </a:rPr>
              <a:t>1 </a:t>
            </a:r>
            <a:r>
              <a:rPr lang="zh-CN" altLang="en-US" sz="1200" b="1" dirty="0">
                <a:latin typeface="Montserrat" panose="00000500000000000000" pitchFamily="2" charset="0"/>
                <a:ea typeface="微软雅黑" pitchFamily="34" charset="-122"/>
              </a:rPr>
              <a:t>的转发表</a:t>
            </a:r>
            <a:endParaRPr lang="zh-CN" altLang="en-US" sz="1200" b="1" baseline="-25000" dirty="0">
              <a:latin typeface="Montserrat" panose="00000500000000000000" pitchFamily="2" charset="0"/>
              <a:ea typeface="微软雅黑" pitchFamily="34" charset="-122"/>
            </a:endParaRPr>
          </a:p>
        </p:txBody>
      </p:sp>
      <p:grpSp>
        <p:nvGrpSpPr>
          <p:cNvPr id="19" name="组合 18"/>
          <p:cNvGrpSpPr/>
          <p:nvPr/>
        </p:nvGrpSpPr>
        <p:grpSpPr>
          <a:xfrm rot="60000">
            <a:off x="4856034" y="2935468"/>
            <a:ext cx="866068" cy="356266"/>
            <a:chOff x="5394987" y="3774690"/>
            <a:chExt cx="1439465" cy="592139"/>
          </a:xfrm>
        </p:grpSpPr>
        <p:sp>
          <p:nvSpPr>
            <p:cNvPr id="43" name="Line 29"/>
            <p:cNvSpPr>
              <a:spLocks noChangeShapeType="1"/>
            </p:cNvSpPr>
            <p:nvPr/>
          </p:nvSpPr>
          <p:spPr bwMode="auto">
            <a:xfrm rot="1516200">
              <a:off x="6368389" y="4298565"/>
              <a:ext cx="466063"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4" name="Rectangle 30"/>
            <p:cNvSpPr>
              <a:spLocks noChangeArrowheads="1"/>
            </p:cNvSpPr>
            <p:nvPr/>
          </p:nvSpPr>
          <p:spPr bwMode="auto">
            <a:xfrm rot="1516200">
              <a:off x="5394987" y="3774690"/>
              <a:ext cx="1047353" cy="457200"/>
            </a:xfrm>
            <a:prstGeom prst="rect">
              <a:avLst/>
            </a:prstGeom>
            <a:solidFill>
              <a:srgbClr val="00B0F0"/>
            </a:solidFill>
            <a:ln w="9525">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sp>
          <p:nvSpPr>
            <p:cNvPr id="45" name="Rectangle 31"/>
            <p:cNvSpPr>
              <a:spLocks noChangeArrowheads="1"/>
            </p:cNvSpPr>
            <p:nvPr/>
          </p:nvSpPr>
          <p:spPr bwMode="auto">
            <a:xfrm rot="1516200">
              <a:off x="6124179" y="3942966"/>
              <a:ext cx="261408" cy="423863"/>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Montserrat" panose="00000500000000000000" pitchFamily="2" charset="0"/>
                  <a:ea typeface="微软雅黑" panose="020B0503020204020204" pitchFamily="34" charset="-122"/>
                </a:rPr>
                <a:t>0</a:t>
              </a:r>
            </a:p>
          </p:txBody>
        </p:sp>
      </p:grpSp>
      <p:pic>
        <p:nvPicPr>
          <p:cNvPr id="2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08610" y="2586138"/>
            <a:ext cx="377677" cy="3029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Rectangle 5"/>
          <p:cNvSpPr>
            <a:spLocks noChangeArrowheads="1"/>
          </p:cNvSpPr>
          <p:nvPr/>
        </p:nvSpPr>
        <p:spPr bwMode="auto">
          <a:xfrm>
            <a:off x="1979308" y="2902009"/>
            <a:ext cx="1449656" cy="1302803"/>
          </a:xfrm>
          <a:prstGeom prst="rect">
            <a:avLst/>
          </a:prstGeom>
          <a:solidFill>
            <a:srgbClr val="00FFFF"/>
          </a:solidFill>
          <a:ln w="28575">
            <a:solidFill>
              <a:srgbClr val="000099"/>
            </a:solidFill>
            <a:miter lim="800000"/>
            <a:headEnd/>
            <a:tailEnd/>
          </a:ln>
          <a:effectLst/>
        </p:spPr>
        <p:txBody>
          <a:bodyPr wrap="none" anchor="ctr"/>
          <a:lstStyle/>
          <a:p>
            <a:endParaRPr lang="zh-CN" altLang="en-US" sz="1200" b="1">
              <a:latin typeface="Montserrat" panose="00000500000000000000" pitchFamily="2" charset="0"/>
              <a:ea typeface="微软雅黑" panose="020B0503020204020204" pitchFamily="34" charset="-122"/>
            </a:endParaRPr>
          </a:p>
        </p:txBody>
      </p:sp>
      <p:sp>
        <p:nvSpPr>
          <p:cNvPr id="22" name="Text Box 6"/>
          <p:cNvSpPr txBox="1">
            <a:spLocks noChangeArrowheads="1"/>
          </p:cNvSpPr>
          <p:nvPr/>
        </p:nvSpPr>
        <p:spPr bwMode="auto">
          <a:xfrm>
            <a:off x="2004337" y="2928849"/>
            <a:ext cx="1247457" cy="11307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CC"/>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10000"/>
              </a:lnSpc>
              <a:spcAft>
                <a:spcPct val="20000"/>
              </a:spcAft>
            </a:pPr>
            <a:r>
              <a:rPr lang="zh-CN" altLang="en-US" sz="1200" b="1" dirty="0">
                <a:latin typeface="Montserrat" panose="00000500000000000000" pitchFamily="2" charset="0"/>
                <a:ea typeface="微软雅黑" pitchFamily="34" charset="-122"/>
              </a:rPr>
              <a:t>标签   转发接口</a:t>
            </a:r>
          </a:p>
          <a:p>
            <a:pPr>
              <a:lnSpc>
                <a:spcPct val="110000"/>
              </a:lnSpc>
            </a:pPr>
            <a:r>
              <a:rPr lang="zh-CN" altLang="en-US" sz="1200" b="1" dirty="0">
                <a:latin typeface="Montserrat" panose="00000500000000000000" pitchFamily="2" charset="0"/>
                <a:ea typeface="微软雅黑" pitchFamily="34" charset="-122"/>
              </a:rPr>
              <a:t>   </a:t>
            </a:r>
            <a:r>
              <a:rPr lang="en-US" altLang="zh-CN" sz="1200" b="1" dirty="0">
                <a:latin typeface="Montserrat" panose="00000500000000000000" pitchFamily="2" charset="0"/>
                <a:ea typeface="微软雅黑" pitchFamily="34" charset="-122"/>
              </a:rPr>
              <a:t>0           1</a:t>
            </a:r>
          </a:p>
          <a:p>
            <a:pPr>
              <a:lnSpc>
                <a:spcPct val="110000"/>
              </a:lnSpc>
            </a:pPr>
            <a:r>
              <a:rPr lang="en-US" altLang="zh-CN" sz="1200" b="1" dirty="0">
                <a:latin typeface="Montserrat" panose="00000500000000000000" pitchFamily="2" charset="0"/>
                <a:ea typeface="微软雅黑" pitchFamily="34" charset="-122"/>
              </a:rPr>
              <a:t>   1           0</a:t>
            </a:r>
          </a:p>
          <a:p>
            <a:pPr>
              <a:lnSpc>
                <a:spcPct val="110000"/>
              </a:lnSpc>
            </a:pPr>
            <a:r>
              <a:rPr lang="en-US" altLang="zh-CN" sz="1200" b="1" dirty="0">
                <a:latin typeface="Montserrat" panose="00000500000000000000" pitchFamily="2" charset="0"/>
                <a:ea typeface="微软雅黑" pitchFamily="34" charset="-122"/>
              </a:rPr>
              <a:t>   2           1</a:t>
            </a:r>
          </a:p>
          <a:p>
            <a:pPr>
              <a:lnSpc>
                <a:spcPct val="110000"/>
              </a:lnSpc>
            </a:pPr>
            <a:r>
              <a:rPr lang="en-US" altLang="zh-CN" sz="1200" b="1" dirty="0">
                <a:latin typeface="Montserrat" panose="00000500000000000000" pitchFamily="2" charset="0"/>
                <a:ea typeface="微软雅黑" pitchFamily="34" charset="-122"/>
              </a:rPr>
              <a:t>   3           1</a:t>
            </a:r>
          </a:p>
        </p:txBody>
      </p:sp>
      <p:sp>
        <p:nvSpPr>
          <p:cNvPr id="23" name="Line 13"/>
          <p:cNvSpPr>
            <a:spLocks noChangeShapeType="1"/>
          </p:cNvSpPr>
          <p:nvPr/>
        </p:nvSpPr>
        <p:spPr bwMode="auto">
          <a:xfrm flipV="1">
            <a:off x="1991725" y="3212142"/>
            <a:ext cx="1437238" cy="2197"/>
          </a:xfrm>
          <a:prstGeom prst="line">
            <a:avLst/>
          </a:prstGeom>
          <a:noFill/>
          <a:ln w="9525">
            <a:solidFill>
              <a:srgbClr val="00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24" name="Line 14"/>
          <p:cNvSpPr>
            <a:spLocks noChangeShapeType="1"/>
          </p:cNvSpPr>
          <p:nvPr/>
        </p:nvSpPr>
        <p:spPr bwMode="auto">
          <a:xfrm>
            <a:off x="2505986" y="2902009"/>
            <a:ext cx="0" cy="1302803"/>
          </a:xfrm>
          <a:prstGeom prst="line">
            <a:avLst/>
          </a:prstGeom>
          <a:noFill/>
          <a:ln w="9525">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25" name="组合 24"/>
          <p:cNvGrpSpPr/>
          <p:nvPr/>
        </p:nvGrpSpPr>
        <p:grpSpPr>
          <a:xfrm>
            <a:off x="5370820" y="3517897"/>
            <a:ext cx="541273" cy="669534"/>
            <a:chOff x="6717662" y="4764460"/>
            <a:chExt cx="899634" cy="1112812"/>
          </a:xfrm>
        </p:grpSpPr>
        <p:sp>
          <p:nvSpPr>
            <p:cNvPr id="38" name="等腰三角形 37"/>
            <p:cNvSpPr/>
            <p:nvPr/>
          </p:nvSpPr>
          <p:spPr bwMode="auto">
            <a:xfrm>
              <a:off x="6717662" y="4764460"/>
              <a:ext cx="898435" cy="514349"/>
            </a:xfrm>
            <a:prstGeom prst="triangle">
              <a:avLst>
                <a:gd name="adj" fmla="val 82161"/>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9" name="组合 38"/>
            <p:cNvGrpSpPr/>
            <p:nvPr/>
          </p:nvGrpSpPr>
          <p:grpSpPr>
            <a:xfrm>
              <a:off x="6755836" y="5278809"/>
              <a:ext cx="861460" cy="598463"/>
              <a:chOff x="6717662" y="5278809"/>
              <a:chExt cx="861460" cy="598463"/>
            </a:xfrm>
          </p:grpSpPr>
          <p:sp>
            <p:nvSpPr>
              <p:cNvPr id="40" name="矩形 39"/>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41" name="直接连接符 40"/>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 name="直接连接符 41"/>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6"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00761" y="3385773"/>
            <a:ext cx="377677"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7" name="组合 26"/>
          <p:cNvGrpSpPr/>
          <p:nvPr/>
        </p:nvGrpSpPr>
        <p:grpSpPr>
          <a:xfrm>
            <a:off x="6198669" y="2721146"/>
            <a:ext cx="541273" cy="669534"/>
            <a:chOff x="6717662" y="4764460"/>
            <a:chExt cx="899634" cy="1112812"/>
          </a:xfrm>
        </p:grpSpPr>
        <p:sp>
          <p:nvSpPr>
            <p:cNvPr id="33" name="等腰三角形 32"/>
            <p:cNvSpPr/>
            <p:nvPr/>
          </p:nvSpPr>
          <p:spPr bwMode="auto">
            <a:xfrm>
              <a:off x="6717662" y="4764460"/>
              <a:ext cx="898435" cy="514349"/>
            </a:xfrm>
            <a:prstGeom prst="triangle">
              <a:avLst>
                <a:gd name="adj" fmla="val 12085"/>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4" name="组合 33"/>
            <p:cNvGrpSpPr/>
            <p:nvPr/>
          </p:nvGrpSpPr>
          <p:grpSpPr>
            <a:xfrm>
              <a:off x="6755836" y="5278809"/>
              <a:ext cx="861460" cy="598463"/>
              <a:chOff x="6717662" y="5278809"/>
              <a:chExt cx="861460" cy="598463"/>
            </a:xfrm>
          </p:grpSpPr>
          <p:sp>
            <p:nvSpPr>
              <p:cNvPr id="35" name="矩形 34"/>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36" name="直接连接符 35"/>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7" name="直接连接符 36"/>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8"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78437" y="2588651"/>
            <a:ext cx="377675"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3" name="Line 14"/>
          <p:cNvSpPr>
            <a:spLocks noChangeShapeType="1"/>
          </p:cNvSpPr>
          <p:nvPr/>
        </p:nvSpPr>
        <p:spPr bwMode="auto">
          <a:xfrm flipH="1">
            <a:off x="1441232" y="3348432"/>
            <a:ext cx="401774" cy="0"/>
          </a:xfrm>
          <a:prstGeom prst="line">
            <a:avLst/>
          </a:prstGeom>
          <a:noFill/>
          <a:ln w="38100">
            <a:solidFill>
              <a:srgbClr val="CC00CC"/>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sz="1200">
              <a:latin typeface="Montserrat" panose="00000500000000000000" pitchFamily="2" charset="0"/>
              <a:ea typeface="微软雅黑" panose="020B0503020204020204" pitchFamily="34" charset="-122"/>
            </a:endParaRPr>
          </a:p>
        </p:txBody>
      </p:sp>
      <p:sp>
        <p:nvSpPr>
          <p:cNvPr id="31" name="标题 30">
            <a:extLst>
              <a:ext uri="{FF2B5EF4-FFF2-40B4-BE49-F238E27FC236}">
                <a16:creationId xmlns:a16="http://schemas.microsoft.com/office/drawing/2014/main" id="{6D07EBE0-4CA4-1C01-9B9F-B98360604A3F}"/>
              </a:ext>
            </a:extLst>
          </p:cNvPr>
          <p:cNvSpPr>
            <a:spLocks noGrp="1"/>
          </p:cNvSpPr>
          <p:nvPr>
            <p:ph type="title"/>
          </p:nvPr>
        </p:nvSpPr>
        <p:spPr>
          <a:xfrm>
            <a:off x="486000" y="550723"/>
            <a:ext cx="8172000" cy="338554"/>
          </a:xfrm>
        </p:spPr>
        <p:txBody>
          <a:bodyPr/>
          <a:lstStyle/>
          <a:p>
            <a:r>
              <a:rPr lang="en-US" altLang="zh-CN" dirty="0"/>
              <a:t>4.9  </a:t>
            </a:r>
            <a:r>
              <a:rPr lang="zh-CN" altLang="en-US" dirty="0"/>
              <a:t>多协议标签交换 </a:t>
            </a:r>
            <a:r>
              <a:rPr lang="en-US" altLang="zh-CN" dirty="0"/>
              <a:t>MPLS</a:t>
            </a:r>
            <a:endParaRPr lang="zh-CN" altLang="en-US" dirty="0"/>
          </a:p>
        </p:txBody>
      </p:sp>
      <p:sp>
        <p:nvSpPr>
          <p:cNvPr id="3" name="内容占位符 2">
            <a:extLst>
              <a:ext uri="{FF2B5EF4-FFF2-40B4-BE49-F238E27FC236}">
                <a16:creationId xmlns:a16="http://schemas.microsoft.com/office/drawing/2014/main" id="{969D1F70-39F8-E2E6-38FB-0D200A1D9CA8}"/>
              </a:ext>
            </a:extLst>
          </p:cNvPr>
          <p:cNvSpPr>
            <a:spLocks noGrp="1"/>
          </p:cNvSpPr>
          <p:nvPr>
            <p:ph sz="quarter" idx="11"/>
          </p:nvPr>
        </p:nvSpPr>
        <p:spPr>
          <a:xfrm>
            <a:off x="486000" y="900000"/>
            <a:ext cx="8172000" cy="3703500"/>
          </a:xfrm>
        </p:spPr>
        <p:txBody>
          <a:bodyPr/>
          <a:lstStyle/>
          <a:p>
            <a:r>
              <a:rPr lang="en-US" altLang="zh-CN" dirty="0"/>
              <a:t>MPLS (</a:t>
            </a:r>
            <a:r>
              <a:rPr lang="en-US" altLang="zh-CN" dirty="0" err="1"/>
              <a:t>MultiProtocol</a:t>
            </a:r>
            <a:r>
              <a:rPr lang="en-US" altLang="zh-CN" dirty="0"/>
              <a:t> Label Switching)</a:t>
            </a:r>
            <a:r>
              <a:rPr lang="zh-CN" altLang="en-US" dirty="0"/>
              <a:t>：互联网建议标准。</a:t>
            </a:r>
            <a:endParaRPr lang="en-US" altLang="zh-CN" dirty="0"/>
          </a:p>
          <a:p>
            <a:r>
              <a:rPr lang="zh-CN" altLang="en-US" dirty="0"/>
              <a:t>多协议：在 </a:t>
            </a:r>
            <a:r>
              <a:rPr lang="en-US" altLang="zh-CN" dirty="0"/>
              <a:t>MPLS </a:t>
            </a:r>
            <a:r>
              <a:rPr lang="zh-CN" altLang="en-US" dirty="0"/>
              <a:t>的上层可以采用多种协议。</a:t>
            </a:r>
          </a:p>
          <a:p>
            <a:r>
              <a:rPr lang="zh-CN" altLang="en-US" dirty="0"/>
              <a:t>标签：</a:t>
            </a:r>
            <a:r>
              <a:rPr lang="en-US" altLang="zh-CN" dirty="0"/>
              <a:t>MPLS </a:t>
            </a:r>
            <a:r>
              <a:rPr lang="zh-CN" altLang="en-US" dirty="0"/>
              <a:t>利用面向连接技术，使每个分组携带一个叫做标签 </a:t>
            </a:r>
            <a:r>
              <a:rPr lang="en-US" altLang="zh-CN" dirty="0"/>
              <a:t>(label) </a:t>
            </a:r>
            <a:r>
              <a:rPr lang="zh-CN" altLang="en-US" dirty="0"/>
              <a:t>的小整数。标签交换路由器用标签值检索转发表，实现分组的快速转发。</a:t>
            </a:r>
          </a:p>
          <a:p>
            <a:endParaRPr lang="zh-CN" altLang="en-US" dirty="0"/>
          </a:p>
        </p:txBody>
      </p:sp>
    </p:spTree>
    <p:extLst>
      <p:ext uri="{BB962C8B-B14F-4D97-AF65-F5344CB8AC3E}">
        <p14:creationId xmlns:p14="http://schemas.microsoft.com/office/powerpoint/2010/main" val="41476674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1000"/>
                                        <p:tgtEl>
                                          <p:spTgt spid="54"/>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left)">
                                      <p:cBhvr>
                                        <p:cTn id="11" dur="1000"/>
                                        <p:tgtEl>
                                          <p:spTgt spid="48"/>
                                        </p:tgtEl>
                                      </p:cBhvr>
                                    </p:animEffect>
                                  </p:childTnLst>
                                </p:cTn>
                              </p:par>
                            </p:childTnLst>
                          </p:cTn>
                        </p:par>
                        <p:par>
                          <p:cTn id="12" fill="hold">
                            <p:stCondLst>
                              <p:cond delay="2000"/>
                            </p:stCondLst>
                            <p:childTnLst>
                              <p:par>
                                <p:cTn id="13" presetID="35" presetClass="emph" presetSubtype="0" repeatCount="3000" fill="hold" grpId="1" nodeType="afterEffect">
                                  <p:stCondLst>
                                    <p:cond delay="0"/>
                                  </p:stCondLst>
                                  <p:childTnLst>
                                    <p:anim calcmode="discrete" valueType="str">
                                      <p:cBhvr>
                                        <p:cTn id="14"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repeatCount="3000" fill="hold" grpId="0" nodeType="clickEffect">
                                  <p:stCondLst>
                                    <p:cond delay="0"/>
                                  </p:stCondLst>
                                  <p:childTnLst>
                                    <p:set>
                                      <p:cBhvr>
                                        <p:cTn id="18" dur="1" fill="hold">
                                          <p:stCondLst>
                                            <p:cond delay="0"/>
                                          </p:stCondLst>
                                        </p:cTn>
                                        <p:tgtEl>
                                          <p:spTgt spid="53"/>
                                        </p:tgtEl>
                                        <p:attrNameLst>
                                          <p:attrName>style.visibility</p:attrName>
                                        </p:attrNameLst>
                                      </p:cBhvr>
                                      <p:to>
                                        <p:strVal val="visible"/>
                                      </p:to>
                                    </p:set>
                                    <p:animEffect transition="in" filter="fade">
                                      <p:cBhvr>
                                        <p:cTn id="19" dur="1000"/>
                                        <p:tgtEl>
                                          <p:spTgt spid="53"/>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wipe(left)">
                                      <p:cBhvr>
                                        <p:cTn id="24"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8" grpId="1" animBg="1"/>
      <p:bldP spid="53" grpId="0" animBg="1"/>
    </p:bldLst>
  </p:timing>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8A7509D-B9CB-E5C7-4AC9-1A4DDBE0EB61}"/>
              </a:ext>
            </a:extLst>
          </p:cNvPr>
          <p:cNvSpPr>
            <a:spLocks noGrp="1"/>
          </p:cNvSpPr>
          <p:nvPr>
            <p:ph type="title"/>
          </p:nvPr>
        </p:nvSpPr>
        <p:spPr>
          <a:xfrm>
            <a:off x="486000" y="550723"/>
            <a:ext cx="8172000" cy="338554"/>
          </a:xfrm>
        </p:spPr>
        <p:txBody>
          <a:bodyPr/>
          <a:lstStyle/>
          <a:p>
            <a:r>
              <a:rPr lang="en-US" altLang="zh-CN" dirty="0"/>
              <a:t>MPLS </a:t>
            </a:r>
            <a:r>
              <a:rPr lang="zh-CN" altLang="en-US" dirty="0"/>
              <a:t>特点</a:t>
            </a:r>
          </a:p>
        </p:txBody>
      </p:sp>
      <p:sp>
        <p:nvSpPr>
          <p:cNvPr id="6" name="内容占位符 5">
            <a:extLst>
              <a:ext uri="{FF2B5EF4-FFF2-40B4-BE49-F238E27FC236}">
                <a16:creationId xmlns:a16="http://schemas.microsoft.com/office/drawing/2014/main" id="{873C2D1A-3E1B-F1FF-B2B0-7B6090494037}"/>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并没有取代 </a:t>
            </a:r>
            <a:r>
              <a:rPr lang="en-US" altLang="zh-CN" dirty="0"/>
              <a:t>IP</a:t>
            </a:r>
            <a:r>
              <a:rPr lang="zh-CN" altLang="en-US" dirty="0"/>
              <a:t>，而是作为一种 </a:t>
            </a:r>
            <a:r>
              <a:rPr lang="en-US" altLang="zh-CN" dirty="0"/>
              <a:t>IP </a:t>
            </a:r>
            <a:r>
              <a:rPr lang="zh-CN" altLang="en-US" dirty="0"/>
              <a:t>增强技术</a:t>
            </a:r>
          </a:p>
          <a:p>
            <a:r>
              <a:rPr lang="zh-CN" altLang="en-US" dirty="0"/>
              <a:t>特点：</a:t>
            </a:r>
          </a:p>
          <a:p>
            <a:pPr lvl="1"/>
            <a:r>
              <a:rPr lang="zh-CN" altLang="en-US" dirty="0"/>
              <a:t>支持面向连接的服务质量</a:t>
            </a:r>
          </a:p>
          <a:p>
            <a:pPr lvl="1"/>
            <a:r>
              <a:rPr lang="zh-CN" altLang="en-US" dirty="0"/>
              <a:t>支持流量工程，平衡网络负载</a:t>
            </a:r>
          </a:p>
          <a:p>
            <a:pPr lvl="1"/>
            <a:r>
              <a:rPr lang="zh-CN" altLang="en-US" dirty="0"/>
              <a:t>有效地支持虚拟专用网 </a:t>
            </a:r>
            <a:r>
              <a:rPr lang="en-US" altLang="zh-CN" dirty="0"/>
              <a:t>VPN</a:t>
            </a:r>
            <a:endParaRPr lang="zh-CN" altLang="en-US" dirty="0"/>
          </a:p>
          <a:p>
            <a:endParaRPr lang="zh-CN" altLang="en-US" dirty="0"/>
          </a:p>
        </p:txBody>
      </p:sp>
    </p:spTree>
    <p:extLst>
      <p:ext uri="{BB962C8B-B14F-4D97-AF65-F5344CB8AC3E}">
        <p14:creationId xmlns:p14="http://schemas.microsoft.com/office/powerpoint/2010/main" val="37320897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A0C25AEB-91F6-0173-3A65-E37A7D0DB5B6}"/>
              </a:ext>
            </a:extLst>
          </p:cNvPr>
          <p:cNvSpPr>
            <a:spLocks noGrp="1"/>
          </p:cNvSpPr>
          <p:nvPr>
            <p:ph sz="quarter" idx="11"/>
          </p:nvPr>
        </p:nvSpPr>
        <p:spPr>
          <a:xfrm>
            <a:off x="486000" y="900000"/>
            <a:ext cx="8172000" cy="3703500"/>
          </a:xfrm>
        </p:spPr>
        <p:txBody>
          <a:bodyPr/>
          <a:lstStyle/>
          <a:p>
            <a:r>
              <a:rPr lang="zh-CN" altLang="en-US" dirty="0"/>
              <a:t>当网络很大时，查找路由表要花费很多时间</a:t>
            </a:r>
          </a:p>
          <a:p>
            <a:r>
              <a:rPr lang="zh-CN" altLang="en-US" dirty="0"/>
              <a:t>在出现突发通信时，缓存会溢出，引起分组丢失、传输时延增大和服务质量下降</a:t>
            </a:r>
          </a:p>
          <a:p>
            <a:endParaRPr lang="zh-CN" altLang="en-US" dirty="0"/>
          </a:p>
        </p:txBody>
      </p:sp>
      <p:grpSp>
        <p:nvGrpSpPr>
          <p:cNvPr id="16" name="组合 15"/>
          <p:cNvGrpSpPr/>
          <p:nvPr/>
        </p:nvGrpSpPr>
        <p:grpSpPr>
          <a:xfrm>
            <a:off x="1549926" y="3974824"/>
            <a:ext cx="1003442" cy="242009"/>
            <a:chOff x="1522766" y="3609571"/>
            <a:chExt cx="1152421" cy="268022"/>
          </a:xfrm>
        </p:grpSpPr>
        <p:sp>
          <p:nvSpPr>
            <p:cNvPr id="2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2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aphicFrame>
        <p:nvGraphicFramePr>
          <p:cNvPr id="48" name="表格 47"/>
          <p:cNvGraphicFramePr>
            <a:graphicFrameLocks noGrp="1"/>
          </p:cNvGraphicFramePr>
          <p:nvPr>
            <p:extLst>
              <p:ext uri="{D42A27DB-BD31-4B8C-83A1-F6EECF244321}">
                <p14:modId xmlns:p14="http://schemas.microsoft.com/office/powerpoint/2010/main" val="2973592344"/>
              </p:ext>
            </p:extLst>
          </p:nvPr>
        </p:nvGraphicFramePr>
        <p:xfrm>
          <a:off x="1662692" y="2803560"/>
          <a:ext cx="1200150" cy="814640"/>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93389">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3104">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6302">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2034">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49" name="表格 48"/>
          <p:cNvGraphicFramePr>
            <a:graphicFrameLocks noGrp="1"/>
          </p:cNvGraphicFramePr>
          <p:nvPr>
            <p:extLst>
              <p:ext uri="{D42A27DB-BD31-4B8C-83A1-F6EECF244321}">
                <p14:modId xmlns:p14="http://schemas.microsoft.com/office/powerpoint/2010/main" val="2556310105"/>
              </p:ext>
            </p:extLst>
          </p:nvPr>
        </p:nvGraphicFramePr>
        <p:xfrm>
          <a:off x="3453368" y="1921924"/>
          <a:ext cx="1200150" cy="824951"/>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62038">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529">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a:effectLst/>
                          <a:highlight>
                            <a:srgbClr val="FFFF00"/>
                          </a:highlight>
                          <a:latin typeface="微软雅黑" pitchFamily="34" charset="-122"/>
                          <a:ea typeface="微软雅黑" pitchFamily="34" charset="-122"/>
                        </a:rPr>
                        <a:t>1</a:t>
                      </a:r>
                      <a:endParaRPr lang="zh-CN" sz="1200" b="1">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9781">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441">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50" name="表格 49"/>
          <p:cNvGraphicFramePr>
            <a:graphicFrameLocks noGrp="1"/>
          </p:cNvGraphicFramePr>
          <p:nvPr>
            <p:extLst>
              <p:ext uri="{D42A27DB-BD31-4B8C-83A1-F6EECF244321}">
                <p14:modId xmlns:p14="http://schemas.microsoft.com/office/powerpoint/2010/main" val="3431647029"/>
              </p:ext>
            </p:extLst>
          </p:nvPr>
        </p:nvGraphicFramePr>
        <p:xfrm>
          <a:off x="5497252" y="1922960"/>
          <a:ext cx="1200150" cy="829833"/>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207067">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866">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10124">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776">
                <a:tc>
                  <a:txBody>
                    <a:bodyPr/>
                    <a:lstStyle/>
                    <a:p>
                      <a:pPr>
                        <a:lnSpc>
                          <a:spcPts val="1600"/>
                        </a:lnSpc>
                        <a:spcAft>
                          <a:spcPts val="0"/>
                        </a:spcAft>
                      </a:pPr>
                      <a:r>
                        <a:rPr lang="en-US" sz="1200" b="1">
                          <a:effectLst/>
                          <a:latin typeface="微软雅黑" pitchFamily="34" charset="-122"/>
                          <a:ea typeface="微软雅黑" pitchFamily="34" charset="-122"/>
                        </a:rPr>
                        <a:t>47.3</a:t>
                      </a:r>
                      <a:endParaRPr lang="zh-CN" sz="1200" b="1">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pSp>
        <p:nvGrpSpPr>
          <p:cNvPr id="78" name="组合 77"/>
          <p:cNvGrpSpPr/>
          <p:nvPr/>
        </p:nvGrpSpPr>
        <p:grpSpPr>
          <a:xfrm>
            <a:off x="1901228" y="2693437"/>
            <a:ext cx="5341151" cy="1872063"/>
            <a:chOff x="1901228" y="2138071"/>
            <a:chExt cx="5916670" cy="1965649"/>
          </a:xfrm>
        </p:grpSpPr>
        <p:cxnSp>
          <p:nvCxnSpPr>
            <p:cNvPr id="5" name="AutoShape 136"/>
            <p:cNvCxnSpPr>
              <a:cxnSpLocks noChangeShapeType="1"/>
            </p:cNvCxnSpPr>
            <p:nvPr/>
          </p:nvCxnSpPr>
          <p:spPr bwMode="auto">
            <a:xfrm flipV="1">
              <a:off x="3412827" y="2615698"/>
              <a:ext cx="436623" cy="68707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 name="AutoShape 137"/>
            <p:cNvCxnSpPr>
              <a:cxnSpLocks noChangeShapeType="1"/>
              <a:stCxn id="40" idx="3"/>
              <a:endCxn id="46" idx="1"/>
            </p:cNvCxnSpPr>
            <p:nvPr/>
          </p:nvCxnSpPr>
          <p:spPr bwMode="auto">
            <a:xfrm>
              <a:off x="4361708" y="2484661"/>
              <a:ext cx="1549663" cy="0"/>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 name="AutoShape 138"/>
            <p:cNvCxnSpPr>
              <a:cxnSpLocks noChangeShapeType="1"/>
            </p:cNvCxnSpPr>
            <p:nvPr/>
          </p:nvCxnSpPr>
          <p:spPr bwMode="auto">
            <a:xfrm>
              <a:off x="3314177" y="3520385"/>
              <a:ext cx="411042" cy="378159"/>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 name="AutoShape 139"/>
            <p:cNvCxnSpPr>
              <a:cxnSpLocks noChangeShapeType="1"/>
            </p:cNvCxnSpPr>
            <p:nvPr/>
          </p:nvCxnSpPr>
          <p:spPr bwMode="auto">
            <a:xfrm flipV="1">
              <a:off x="4309383" y="3211594"/>
              <a:ext cx="518850" cy="59990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9" name="AutoShape 140"/>
            <p:cNvCxnSpPr>
              <a:cxnSpLocks noChangeShapeType="1"/>
              <a:stCxn id="42" idx="3"/>
              <a:endCxn id="44" idx="1"/>
            </p:cNvCxnSpPr>
            <p:nvPr/>
          </p:nvCxnSpPr>
          <p:spPr bwMode="auto">
            <a:xfrm>
              <a:off x="5499100" y="3164224"/>
              <a:ext cx="978012" cy="264282"/>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0" name="AutoShape 141"/>
            <p:cNvCxnSpPr>
              <a:cxnSpLocks noChangeShapeType="1"/>
              <a:stCxn id="43" idx="3"/>
              <a:endCxn id="45" idx="1"/>
            </p:cNvCxnSpPr>
            <p:nvPr/>
          </p:nvCxnSpPr>
          <p:spPr bwMode="auto">
            <a:xfrm flipV="1">
              <a:off x="4391369" y="3931064"/>
              <a:ext cx="869529" cy="1"/>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AutoShape 142"/>
            <p:cNvCxnSpPr>
              <a:cxnSpLocks noChangeShapeType="1"/>
            </p:cNvCxnSpPr>
            <p:nvPr/>
          </p:nvCxnSpPr>
          <p:spPr bwMode="auto">
            <a:xfrm>
              <a:off x="4244574" y="2599380"/>
              <a:ext cx="705508" cy="535765"/>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 name="AutoShape 143"/>
            <p:cNvCxnSpPr>
              <a:cxnSpLocks noChangeShapeType="1"/>
              <a:stCxn id="45" idx="3"/>
              <a:endCxn id="44" idx="2"/>
            </p:cNvCxnSpPr>
            <p:nvPr/>
          </p:nvCxnSpPr>
          <p:spPr bwMode="auto">
            <a:xfrm flipV="1">
              <a:off x="5946918" y="3601161"/>
              <a:ext cx="873204" cy="32990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 name="AutoShape 144"/>
            <p:cNvCxnSpPr>
              <a:cxnSpLocks noChangeShapeType="1"/>
            </p:cNvCxnSpPr>
            <p:nvPr/>
          </p:nvCxnSpPr>
          <p:spPr bwMode="auto">
            <a:xfrm>
              <a:off x="6407829" y="2556129"/>
              <a:ext cx="338086" cy="76236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4" name="Line 145"/>
            <p:cNvSpPr>
              <a:spLocks noChangeShapeType="1"/>
            </p:cNvSpPr>
            <p:nvPr/>
          </p:nvSpPr>
          <p:spPr bwMode="auto">
            <a:xfrm>
              <a:off x="6527756" y="2410087"/>
              <a:ext cx="83269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5" name="Line 146"/>
            <p:cNvSpPr>
              <a:spLocks noChangeShapeType="1"/>
            </p:cNvSpPr>
            <p:nvPr/>
          </p:nvSpPr>
          <p:spPr bwMode="auto">
            <a:xfrm flipV="1">
              <a:off x="7114822" y="3436242"/>
              <a:ext cx="703076"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8" name="Text Box 149"/>
            <p:cNvSpPr txBox="1">
              <a:spLocks noChangeArrowheads="1"/>
            </p:cNvSpPr>
            <p:nvPr/>
          </p:nvSpPr>
          <p:spPr bwMode="auto">
            <a:xfrm>
              <a:off x="2054088" y="3200256"/>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47.3</a:t>
              </a:r>
            </a:p>
          </p:txBody>
        </p:sp>
        <p:sp>
          <p:nvSpPr>
            <p:cNvPr id="22" name="Line 153"/>
            <p:cNvSpPr>
              <a:spLocks noChangeShapeType="1"/>
            </p:cNvSpPr>
            <p:nvPr/>
          </p:nvSpPr>
          <p:spPr bwMode="auto">
            <a:xfrm flipV="1">
              <a:off x="1901228" y="3444947"/>
              <a:ext cx="86843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25" name="Text Box 156"/>
            <p:cNvSpPr txBox="1">
              <a:spLocks noChangeArrowheads="1"/>
            </p:cNvSpPr>
            <p:nvPr/>
          </p:nvSpPr>
          <p:spPr bwMode="auto">
            <a:xfrm>
              <a:off x="4107169" y="2586763"/>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26" name="Text Box 157"/>
            <p:cNvSpPr txBox="1">
              <a:spLocks noChangeArrowheads="1"/>
            </p:cNvSpPr>
            <p:nvPr/>
          </p:nvSpPr>
          <p:spPr bwMode="auto">
            <a:xfrm>
              <a:off x="3544161" y="249318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sp>
          <p:nvSpPr>
            <p:cNvPr id="28" name="Text Box 159"/>
            <p:cNvSpPr txBox="1">
              <a:spLocks noChangeArrowheads="1"/>
            </p:cNvSpPr>
            <p:nvPr/>
          </p:nvSpPr>
          <p:spPr bwMode="auto">
            <a:xfrm>
              <a:off x="6480677" y="213807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29" name="Text Box 160"/>
            <p:cNvSpPr txBox="1">
              <a:spLocks noChangeArrowheads="1"/>
            </p:cNvSpPr>
            <p:nvPr/>
          </p:nvSpPr>
          <p:spPr bwMode="auto">
            <a:xfrm>
              <a:off x="6230153" y="260131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0" name="Text Box 161"/>
            <p:cNvSpPr txBox="1">
              <a:spLocks noChangeArrowheads="1"/>
            </p:cNvSpPr>
            <p:nvPr/>
          </p:nvSpPr>
          <p:spPr bwMode="auto">
            <a:xfrm>
              <a:off x="3256389" y="302133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31" name="Text Box 162"/>
            <p:cNvSpPr txBox="1">
              <a:spLocks noChangeArrowheads="1"/>
            </p:cNvSpPr>
            <p:nvPr/>
          </p:nvSpPr>
          <p:spPr bwMode="auto">
            <a:xfrm>
              <a:off x="3178851" y="354151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2" name="Text Box 163"/>
            <p:cNvSpPr txBox="1">
              <a:spLocks noChangeArrowheads="1"/>
            </p:cNvSpPr>
            <p:nvPr/>
          </p:nvSpPr>
          <p:spPr bwMode="auto">
            <a:xfrm>
              <a:off x="2540093" y="3162537"/>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solidFill>
                    <a:srgbClr val="0000FF"/>
                  </a:solidFill>
                  <a:latin typeface="微软雅黑" pitchFamily="34" charset="-122"/>
                  <a:ea typeface="微软雅黑" pitchFamily="34" charset="-122"/>
                </a:rPr>
                <a:t>3</a:t>
              </a:r>
            </a:p>
          </p:txBody>
        </p:sp>
        <p:sp>
          <p:nvSpPr>
            <p:cNvPr id="39" name="Text Box 169"/>
            <p:cNvSpPr txBox="1">
              <a:spLocks noChangeArrowheads="1"/>
            </p:cNvSpPr>
            <p:nvPr/>
          </p:nvSpPr>
          <p:spPr bwMode="auto">
            <a:xfrm>
              <a:off x="5680556" y="2231979"/>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pic>
          <p:nvPicPr>
            <p:cNvPr id="40"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48125" y="2312005"/>
              <a:ext cx="613583"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2919"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13079" y="299156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3"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05348" y="375840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7112"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60898" y="3758407"/>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6"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11371" y="2312005"/>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Text Box 147"/>
            <p:cNvSpPr txBox="1">
              <a:spLocks noChangeArrowheads="1"/>
            </p:cNvSpPr>
            <p:nvPr/>
          </p:nvSpPr>
          <p:spPr bwMode="auto">
            <a:xfrm>
              <a:off x="6664367" y="2159594"/>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latin typeface="微软雅黑" pitchFamily="34" charset="-122"/>
                  <a:ea typeface="微软雅黑" pitchFamily="34" charset="-122"/>
                </a:rPr>
                <a:t>47.1</a:t>
              </a:r>
            </a:p>
          </p:txBody>
        </p:sp>
        <p:sp>
          <p:nvSpPr>
            <p:cNvPr id="52" name="Text Box 148"/>
            <p:cNvSpPr txBox="1">
              <a:spLocks noChangeArrowheads="1"/>
            </p:cNvSpPr>
            <p:nvPr/>
          </p:nvSpPr>
          <p:spPr bwMode="auto">
            <a:xfrm>
              <a:off x="7146979" y="3187683"/>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47.2</a:t>
              </a:r>
            </a:p>
          </p:txBody>
        </p:sp>
        <p:sp>
          <p:nvSpPr>
            <p:cNvPr id="53" name="Text Box 155"/>
            <p:cNvSpPr txBox="1">
              <a:spLocks noChangeArrowheads="1"/>
            </p:cNvSpPr>
            <p:nvPr/>
          </p:nvSpPr>
          <p:spPr bwMode="auto">
            <a:xfrm>
              <a:off x="4298267" y="224216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grpSp>
      <p:grpSp>
        <p:nvGrpSpPr>
          <p:cNvPr id="59" name="组合 58"/>
          <p:cNvGrpSpPr/>
          <p:nvPr/>
        </p:nvGrpSpPr>
        <p:grpSpPr>
          <a:xfrm>
            <a:off x="4354659" y="2751868"/>
            <a:ext cx="1003442" cy="242009"/>
            <a:chOff x="1522766" y="3609571"/>
            <a:chExt cx="1152421" cy="268022"/>
          </a:xfrm>
        </p:grpSpPr>
        <p:sp>
          <p:nvSpPr>
            <p:cNvPr id="6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62" name="组合 61"/>
          <p:cNvGrpSpPr/>
          <p:nvPr/>
        </p:nvGrpSpPr>
        <p:grpSpPr>
          <a:xfrm>
            <a:off x="6285575" y="3003303"/>
            <a:ext cx="1003442" cy="242009"/>
            <a:chOff x="1522766" y="3609571"/>
            <a:chExt cx="1152421" cy="268022"/>
          </a:xfrm>
        </p:grpSpPr>
        <p:sp>
          <p:nvSpPr>
            <p:cNvPr id="63"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4"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54" name="组合 53"/>
          <p:cNvGrpSpPr/>
          <p:nvPr/>
        </p:nvGrpSpPr>
        <p:grpSpPr>
          <a:xfrm>
            <a:off x="3016862" y="3258231"/>
            <a:ext cx="1003442" cy="242009"/>
            <a:chOff x="1522766" y="3609571"/>
            <a:chExt cx="1152421" cy="268022"/>
          </a:xfrm>
        </p:grpSpPr>
        <p:sp>
          <p:nvSpPr>
            <p:cNvPr id="55"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56"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sp>
        <p:nvSpPr>
          <p:cNvPr id="95" name="矩形 94"/>
          <p:cNvSpPr/>
          <p:nvPr/>
        </p:nvSpPr>
        <p:spPr>
          <a:xfrm>
            <a:off x="759646" y="1919812"/>
            <a:ext cx="2167581" cy="369332"/>
          </a:xfrm>
          <a:prstGeom prst="rect">
            <a:avLst/>
          </a:prstGeom>
          <a:solidFill>
            <a:srgbClr val="0000FF"/>
          </a:solidFill>
        </p:spPr>
        <p:txBody>
          <a:bodyPr wrap="none">
            <a:spAutoFit/>
          </a:bodyPr>
          <a:lstStyle/>
          <a:p>
            <a:r>
              <a:rPr lang="zh-CN" altLang="en-US" dirty="0">
                <a:solidFill>
                  <a:schemeClr val="bg1"/>
                </a:solidFill>
                <a:latin typeface="微软雅黑" pitchFamily="34" charset="-122"/>
                <a:ea typeface="微软雅黑" pitchFamily="34" charset="-122"/>
              </a:rPr>
              <a:t>传统 </a:t>
            </a:r>
            <a:r>
              <a:rPr lang="en-US" altLang="zh-CN" dirty="0">
                <a:solidFill>
                  <a:schemeClr val="bg1"/>
                </a:solidFill>
                <a:latin typeface="微软雅黑" pitchFamily="34" charset="-122"/>
                <a:ea typeface="微软雅黑" pitchFamily="34" charset="-122"/>
              </a:rPr>
              <a:t>IP </a:t>
            </a:r>
            <a:r>
              <a:rPr lang="zh-CN" altLang="en-US" dirty="0">
                <a:solidFill>
                  <a:schemeClr val="bg1"/>
                </a:solidFill>
                <a:latin typeface="微软雅黑" pitchFamily="34" charset="-122"/>
                <a:ea typeface="微软雅黑" pitchFamily="34" charset="-122"/>
              </a:rPr>
              <a:t>分组的转发</a:t>
            </a:r>
          </a:p>
        </p:txBody>
      </p:sp>
      <p:sp>
        <p:nvSpPr>
          <p:cNvPr id="3" name="标题 2">
            <a:extLst>
              <a:ext uri="{FF2B5EF4-FFF2-40B4-BE49-F238E27FC236}">
                <a16:creationId xmlns:a16="http://schemas.microsoft.com/office/drawing/2014/main" id="{10D48A10-F611-B04E-ABC0-5266BFC18FEA}"/>
              </a:ext>
            </a:extLst>
          </p:cNvPr>
          <p:cNvSpPr>
            <a:spLocks noGrp="1"/>
          </p:cNvSpPr>
          <p:nvPr>
            <p:ph type="title"/>
          </p:nvPr>
        </p:nvSpPr>
        <p:spPr>
          <a:xfrm>
            <a:off x="486000" y="550723"/>
            <a:ext cx="8172000" cy="338554"/>
          </a:xfrm>
        </p:spPr>
        <p:txBody>
          <a:bodyPr/>
          <a:lstStyle/>
          <a:p>
            <a:r>
              <a:rPr lang="en-US" altLang="zh-CN" dirty="0"/>
              <a:t>4.9.1  MPLS </a:t>
            </a:r>
            <a:r>
              <a:rPr lang="zh-CN" altLang="en-US" dirty="0"/>
              <a:t>的工作原理</a:t>
            </a:r>
          </a:p>
        </p:txBody>
      </p:sp>
    </p:spTree>
    <p:extLst>
      <p:ext uri="{BB962C8B-B14F-4D97-AF65-F5344CB8AC3E}">
        <p14:creationId xmlns:p14="http://schemas.microsoft.com/office/powerpoint/2010/main" val="584194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down)">
                                      <p:cBhvr>
                                        <p:cTn id="11" dur="1000"/>
                                        <p:tgtEl>
                                          <p:spTgt spid="48"/>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54"/>
                                        </p:tgtEl>
                                        <p:attrNameLst>
                                          <p:attrName>style.visibility</p:attrName>
                                        </p:attrNameLst>
                                      </p:cBhvr>
                                      <p:to>
                                        <p:strVal val="visible"/>
                                      </p:to>
                                    </p:set>
                                    <p:animEffect transition="in" filter="wipe(left)">
                                      <p:cBhvr>
                                        <p:cTn id="15" dur="1000"/>
                                        <p:tgtEl>
                                          <p:spTgt spid="54"/>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49"/>
                                        </p:tgtEl>
                                        <p:attrNameLst>
                                          <p:attrName>style.visibility</p:attrName>
                                        </p:attrNameLst>
                                      </p:cBhvr>
                                      <p:to>
                                        <p:strVal val="visible"/>
                                      </p:to>
                                    </p:set>
                                    <p:animEffect transition="in" filter="wipe(down)">
                                      <p:cBhvr>
                                        <p:cTn id="19" dur="1000"/>
                                        <p:tgtEl>
                                          <p:spTgt spid="49"/>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59"/>
                                        </p:tgtEl>
                                        <p:attrNameLst>
                                          <p:attrName>style.visibility</p:attrName>
                                        </p:attrNameLst>
                                      </p:cBhvr>
                                      <p:to>
                                        <p:strVal val="visible"/>
                                      </p:to>
                                    </p:set>
                                    <p:animEffect transition="in" filter="wipe(left)">
                                      <p:cBhvr>
                                        <p:cTn id="23" dur="1000"/>
                                        <p:tgtEl>
                                          <p:spTgt spid="59"/>
                                        </p:tgtEl>
                                      </p:cBhvr>
                                    </p:animEffect>
                                  </p:childTnLst>
                                </p:cTn>
                              </p:par>
                            </p:childTnLst>
                          </p:cTn>
                        </p:par>
                        <p:par>
                          <p:cTn id="24" fill="hold">
                            <p:stCondLst>
                              <p:cond delay="5000"/>
                            </p:stCondLst>
                            <p:childTnLst>
                              <p:par>
                                <p:cTn id="25" presetID="22" presetClass="entr" presetSubtype="4" fill="hold" nodeType="after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wipe(down)">
                                      <p:cBhvr>
                                        <p:cTn id="27" dur="1000"/>
                                        <p:tgtEl>
                                          <p:spTgt spid="50"/>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wipe(left)">
                                      <p:cBhvr>
                                        <p:cTn id="31" dur="1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E859BE-DCDA-7A59-68F6-20A34BEEEDC5}"/>
              </a:ext>
            </a:extLst>
          </p:cNvPr>
          <p:cNvSpPr>
            <a:spLocks noGrp="1"/>
          </p:cNvSpPr>
          <p:nvPr>
            <p:ph type="title"/>
          </p:nvPr>
        </p:nvSpPr>
        <p:spPr>
          <a:xfrm>
            <a:off x="486000" y="550723"/>
            <a:ext cx="8172000" cy="338554"/>
          </a:xfrm>
        </p:spPr>
        <p:txBody>
          <a:bodyPr/>
          <a:lstStyle/>
          <a:p>
            <a:r>
              <a:rPr lang="en-US" altLang="zh-CN" dirty="0"/>
              <a:t>1.  MPLS </a:t>
            </a:r>
            <a:r>
              <a:rPr lang="zh-CN" altLang="en-US" dirty="0"/>
              <a:t>基本工作过程</a:t>
            </a:r>
          </a:p>
        </p:txBody>
      </p:sp>
      <p:sp>
        <p:nvSpPr>
          <p:cNvPr id="3" name="内容占位符 2">
            <a:extLst>
              <a:ext uri="{FF2B5EF4-FFF2-40B4-BE49-F238E27FC236}">
                <a16:creationId xmlns:a16="http://schemas.microsoft.com/office/drawing/2014/main" id="{05DC7E4C-E21A-274F-F024-BDC4D891C101}"/>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特点：</a:t>
            </a:r>
            <a:endParaRPr lang="en-US" altLang="zh-CN" dirty="0"/>
          </a:p>
          <a:p>
            <a:pPr lvl="1"/>
            <a:r>
              <a:rPr lang="zh-CN" altLang="en-US" dirty="0"/>
              <a:t>在 </a:t>
            </a:r>
            <a:r>
              <a:rPr lang="en-US" altLang="zh-CN" dirty="0"/>
              <a:t>MPLS </a:t>
            </a:r>
            <a:r>
              <a:rPr lang="zh-CN" altLang="en-US" dirty="0"/>
              <a:t>域的入口处，给每一个 </a:t>
            </a:r>
            <a:r>
              <a:rPr lang="en-US" altLang="zh-CN" dirty="0"/>
              <a:t>IP </a:t>
            </a:r>
            <a:r>
              <a:rPr lang="zh-CN" altLang="en-US" dirty="0"/>
              <a:t>数据报打上固定长度标签</a:t>
            </a:r>
            <a:endParaRPr lang="en-US" altLang="zh-CN" dirty="0"/>
          </a:p>
          <a:p>
            <a:pPr lvl="1"/>
            <a:r>
              <a:rPr lang="zh-CN" altLang="en-US" dirty="0"/>
              <a:t>对打上标签的 </a:t>
            </a:r>
            <a:r>
              <a:rPr lang="en-US" altLang="zh-CN" dirty="0"/>
              <a:t>IP </a:t>
            </a:r>
            <a:r>
              <a:rPr lang="zh-CN" altLang="en-US" dirty="0"/>
              <a:t>数据报在第二层（链路层）用硬件进行转发</a:t>
            </a:r>
          </a:p>
          <a:p>
            <a:pPr lvl="1"/>
            <a:r>
              <a:rPr lang="zh-CN" altLang="en-US" dirty="0"/>
              <a:t>采用硬件技术对打上标签的 </a:t>
            </a:r>
            <a:r>
              <a:rPr lang="en-US" altLang="zh-CN" dirty="0"/>
              <a:t>IP </a:t>
            </a:r>
            <a:r>
              <a:rPr lang="zh-CN" altLang="en-US" dirty="0"/>
              <a:t>数据报进行转发就称为标签交换</a:t>
            </a:r>
            <a:endParaRPr lang="en-US" altLang="zh-CN" dirty="0"/>
          </a:p>
          <a:p>
            <a:pPr lvl="1"/>
            <a:r>
              <a:rPr lang="zh-CN" altLang="en-US" dirty="0"/>
              <a:t>可以使用多种数据链路层协议，如 </a:t>
            </a:r>
            <a:r>
              <a:rPr lang="en-US" altLang="zh-CN" dirty="0"/>
              <a:t>PPP</a:t>
            </a:r>
            <a:r>
              <a:rPr lang="zh-CN" altLang="en-US" dirty="0"/>
              <a:t>、以太网、</a:t>
            </a:r>
            <a:r>
              <a:rPr lang="en-US" altLang="zh-CN" dirty="0"/>
              <a:t>ATM </a:t>
            </a:r>
            <a:r>
              <a:rPr lang="zh-CN" altLang="en-US" dirty="0"/>
              <a:t>以及帧中继等</a:t>
            </a:r>
            <a:endParaRPr lang="en-US" altLang="zh-CN" dirty="0"/>
          </a:p>
          <a:p>
            <a:endParaRPr lang="zh-CN" altLang="en-US" dirty="0"/>
          </a:p>
        </p:txBody>
      </p:sp>
    </p:spTree>
    <p:extLst>
      <p:ext uri="{BB962C8B-B14F-4D97-AF65-F5344CB8AC3E}">
        <p14:creationId xmlns:p14="http://schemas.microsoft.com/office/powerpoint/2010/main" val="3553904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29"/>
          <p:cNvSpPr>
            <a:spLocks noChangeArrowheads="1"/>
          </p:cNvSpPr>
          <p:nvPr/>
        </p:nvSpPr>
        <p:spPr bwMode="auto">
          <a:xfrm rot="10800000">
            <a:off x="1402898" y="4213122"/>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32" name="Text Box 30"/>
          <p:cNvSpPr txBox="1">
            <a:spLocks noChangeArrowheads="1"/>
          </p:cNvSpPr>
          <p:nvPr/>
        </p:nvSpPr>
        <p:spPr bwMode="auto">
          <a:xfrm>
            <a:off x="1639401" y="4129816"/>
            <a:ext cx="89479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000" dirty="0">
                <a:latin typeface="Montserrat" panose="00000500000000000000" pitchFamily="2" charset="0"/>
                <a:ea typeface="微软雅黑 Light" panose="020B0502040204020203" pitchFamily="34" charset="-122"/>
              </a:rPr>
              <a:t>普通 </a:t>
            </a:r>
            <a:r>
              <a:rPr kumimoji="1" lang="en-US" altLang="zh-CN" sz="1000" dirty="0">
                <a:latin typeface="Montserrat" panose="00000500000000000000" pitchFamily="2" charset="0"/>
                <a:ea typeface="微软雅黑 Light" panose="020B0502040204020203" pitchFamily="34" charset="-122"/>
              </a:rPr>
              <a:t>IP </a:t>
            </a:r>
            <a:r>
              <a:rPr kumimoji="1" lang="zh-CN" altLang="en-US" sz="1000" dirty="0">
                <a:latin typeface="Montserrat" panose="00000500000000000000" pitchFamily="2" charset="0"/>
                <a:ea typeface="微软雅黑 Light" panose="020B0502040204020203" pitchFamily="34" charset="-122"/>
              </a:rPr>
              <a:t>分组</a:t>
            </a:r>
          </a:p>
        </p:txBody>
      </p:sp>
      <p:pic>
        <p:nvPicPr>
          <p:cNvPr id="36" name="Picture 3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88990" y="4146326"/>
            <a:ext cx="375317" cy="19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4" name="组合 113"/>
          <p:cNvGrpSpPr/>
          <p:nvPr/>
        </p:nvGrpSpPr>
        <p:grpSpPr>
          <a:xfrm>
            <a:off x="1873261" y="1832136"/>
            <a:ext cx="800219" cy="276999"/>
            <a:chOff x="1873261" y="1461262"/>
            <a:chExt cx="800219" cy="276999"/>
          </a:xfrm>
        </p:grpSpPr>
        <p:sp>
          <p:nvSpPr>
            <p:cNvPr id="47" name="AutoShape 46"/>
            <p:cNvSpPr>
              <a:spLocks noChangeArrowheads="1"/>
            </p:cNvSpPr>
            <p:nvPr/>
          </p:nvSpPr>
          <p:spPr bwMode="auto">
            <a:xfrm>
              <a:off x="1894500" y="1463447"/>
              <a:ext cx="738793" cy="271036"/>
            </a:xfrm>
            <a:prstGeom prst="wedgeRoundRectCallout">
              <a:avLst>
                <a:gd name="adj1" fmla="val 46276"/>
                <a:gd name="adj2" fmla="val 206215"/>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48" name="Text Box 47"/>
            <p:cNvSpPr txBox="1">
              <a:spLocks noChangeArrowheads="1"/>
            </p:cNvSpPr>
            <p:nvPr/>
          </p:nvSpPr>
          <p:spPr bwMode="auto">
            <a:xfrm>
              <a:off x="1873261" y="146126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打上标签</a:t>
              </a:r>
            </a:p>
          </p:txBody>
        </p:sp>
      </p:grpSp>
      <p:grpSp>
        <p:nvGrpSpPr>
          <p:cNvPr id="115" name="组合 114"/>
          <p:cNvGrpSpPr/>
          <p:nvPr/>
        </p:nvGrpSpPr>
        <p:grpSpPr>
          <a:xfrm>
            <a:off x="6512026" y="1833179"/>
            <a:ext cx="800219" cy="276999"/>
            <a:chOff x="6512026" y="1462305"/>
            <a:chExt cx="800219" cy="276999"/>
          </a:xfrm>
        </p:grpSpPr>
        <p:sp>
          <p:nvSpPr>
            <p:cNvPr id="49" name="AutoShape 48"/>
            <p:cNvSpPr>
              <a:spLocks noChangeArrowheads="1"/>
            </p:cNvSpPr>
            <p:nvPr/>
          </p:nvSpPr>
          <p:spPr bwMode="auto">
            <a:xfrm flipH="1">
              <a:off x="6545106" y="1463447"/>
              <a:ext cx="738793" cy="271036"/>
            </a:xfrm>
            <a:prstGeom prst="wedgeRoundRectCallout">
              <a:avLst>
                <a:gd name="adj1" fmla="val 47602"/>
                <a:gd name="adj2" fmla="val 185481"/>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50" name="Text Box 49"/>
            <p:cNvSpPr txBox="1">
              <a:spLocks noChangeArrowheads="1"/>
            </p:cNvSpPr>
            <p:nvPr/>
          </p:nvSpPr>
          <p:spPr bwMode="auto">
            <a:xfrm>
              <a:off x="6512026" y="14623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去除标签</a:t>
              </a:r>
            </a:p>
          </p:txBody>
        </p:sp>
      </p:grpSp>
      <p:pic>
        <p:nvPicPr>
          <p:cNvPr id="65"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840603" y="4085124"/>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2" name="Text Box 71"/>
          <p:cNvSpPr txBox="1">
            <a:spLocks noChangeArrowheads="1"/>
          </p:cNvSpPr>
          <p:nvPr/>
        </p:nvSpPr>
        <p:spPr bwMode="auto">
          <a:xfrm>
            <a:off x="4806375" y="4122122"/>
            <a:ext cx="82586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00" dirty="0">
                <a:latin typeface="Montserrat" panose="00000500000000000000" pitchFamily="2" charset="0"/>
                <a:ea typeface="微软雅黑 Light" panose="020B0502040204020203" pitchFamily="34" charset="-122"/>
              </a:rPr>
              <a:t>普通路由器</a:t>
            </a:r>
          </a:p>
        </p:txBody>
      </p:sp>
      <p:sp>
        <p:nvSpPr>
          <p:cNvPr id="73" name="Text Box 72"/>
          <p:cNvSpPr txBox="1">
            <a:spLocks noChangeArrowheads="1"/>
          </p:cNvSpPr>
          <p:nvPr/>
        </p:nvSpPr>
        <p:spPr bwMode="auto">
          <a:xfrm>
            <a:off x="6093372" y="4122122"/>
            <a:ext cx="136287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00" dirty="0">
                <a:latin typeface="Montserrat" panose="00000500000000000000" pitchFamily="2" charset="0"/>
                <a:ea typeface="微软雅黑 Light" panose="020B0502040204020203" pitchFamily="34" charset="-122"/>
              </a:rPr>
              <a:t>标签交换路由器 </a:t>
            </a:r>
            <a:r>
              <a:rPr kumimoji="1" lang="en-US" altLang="zh-CN" sz="1000" dirty="0">
                <a:latin typeface="Montserrat" panose="00000500000000000000" pitchFamily="2" charset="0"/>
                <a:ea typeface="微软雅黑 Light" panose="020B0502040204020203" pitchFamily="34" charset="-122"/>
              </a:rPr>
              <a:t>LSR</a:t>
            </a:r>
          </a:p>
        </p:txBody>
      </p:sp>
      <p:sp>
        <p:nvSpPr>
          <p:cNvPr id="74" name="Text Box 73"/>
          <p:cNvSpPr txBox="1">
            <a:spLocks noChangeArrowheads="1"/>
          </p:cNvSpPr>
          <p:nvPr/>
        </p:nvSpPr>
        <p:spPr bwMode="auto">
          <a:xfrm>
            <a:off x="3286148" y="4129816"/>
            <a:ext cx="1082348"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000" dirty="0">
                <a:latin typeface="Montserrat" panose="00000500000000000000" pitchFamily="2" charset="0"/>
                <a:ea typeface="微软雅黑 Light" panose="020B0502040204020203" pitchFamily="34" charset="-122"/>
              </a:rPr>
              <a:t>打上标签的分组</a:t>
            </a:r>
          </a:p>
        </p:txBody>
      </p:sp>
      <p:sp>
        <p:nvSpPr>
          <p:cNvPr id="5" name="Oval 3"/>
          <p:cNvSpPr>
            <a:spLocks noChangeArrowheads="1"/>
          </p:cNvSpPr>
          <p:nvPr/>
        </p:nvSpPr>
        <p:spPr bwMode="auto">
          <a:xfrm>
            <a:off x="2566991" y="1544133"/>
            <a:ext cx="3978115" cy="2178699"/>
          </a:xfrm>
          <a:prstGeom prst="ellipse">
            <a:avLst/>
          </a:prstGeom>
          <a:noFill/>
          <a:ln w="9525">
            <a:solidFill>
              <a:schemeClr val="tx1"/>
            </a:solidFill>
            <a:prstDash val="dash"/>
            <a:round/>
            <a:headEnd/>
            <a:tailEnd/>
          </a:ln>
          <a:effec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6" name="Line 4"/>
          <p:cNvSpPr>
            <a:spLocks noChangeShapeType="1"/>
          </p:cNvSpPr>
          <p:nvPr/>
        </p:nvSpPr>
        <p:spPr bwMode="auto">
          <a:xfrm>
            <a:off x="4247035" y="2307542"/>
            <a:ext cx="332693" cy="11573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7" name="Line 5"/>
          <p:cNvSpPr>
            <a:spLocks noChangeShapeType="1"/>
          </p:cNvSpPr>
          <p:nvPr/>
        </p:nvSpPr>
        <p:spPr bwMode="auto">
          <a:xfrm>
            <a:off x="6517876" y="2644152"/>
            <a:ext cx="1000448" cy="327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6"/>
          <p:cNvSpPr>
            <a:spLocks noChangeShapeType="1"/>
          </p:cNvSpPr>
          <p:nvPr/>
        </p:nvSpPr>
        <p:spPr bwMode="auto">
          <a:xfrm>
            <a:off x="1558255" y="2723933"/>
            <a:ext cx="1008737" cy="21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9" name="Line 7"/>
          <p:cNvSpPr>
            <a:spLocks noChangeShapeType="1"/>
          </p:cNvSpPr>
          <p:nvPr/>
        </p:nvSpPr>
        <p:spPr bwMode="auto">
          <a:xfrm>
            <a:off x="5478357" y="2623387"/>
            <a:ext cx="1180411" cy="5027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0" name="Line 8"/>
          <p:cNvSpPr>
            <a:spLocks noChangeShapeType="1"/>
          </p:cNvSpPr>
          <p:nvPr/>
        </p:nvSpPr>
        <p:spPr bwMode="auto">
          <a:xfrm>
            <a:off x="4299129" y="2285684"/>
            <a:ext cx="1040703" cy="30600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1" name="Line 9"/>
          <p:cNvSpPr>
            <a:spLocks noChangeShapeType="1"/>
          </p:cNvSpPr>
          <p:nvPr/>
        </p:nvSpPr>
        <p:spPr bwMode="auto">
          <a:xfrm>
            <a:off x="2680652" y="2726118"/>
            <a:ext cx="909283" cy="68196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2" name="Line 10"/>
          <p:cNvSpPr>
            <a:spLocks noChangeShapeType="1"/>
          </p:cNvSpPr>
          <p:nvPr/>
        </p:nvSpPr>
        <p:spPr bwMode="auto">
          <a:xfrm flipH="1">
            <a:off x="2786025" y="2306449"/>
            <a:ext cx="1429043" cy="37486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3" name="Line 11"/>
          <p:cNvSpPr>
            <a:spLocks noChangeShapeType="1"/>
          </p:cNvSpPr>
          <p:nvPr/>
        </p:nvSpPr>
        <p:spPr bwMode="auto">
          <a:xfrm>
            <a:off x="3774633" y="3434310"/>
            <a:ext cx="781416" cy="7868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4" name="Line 12"/>
          <p:cNvSpPr>
            <a:spLocks noChangeShapeType="1"/>
          </p:cNvSpPr>
          <p:nvPr/>
        </p:nvSpPr>
        <p:spPr bwMode="auto">
          <a:xfrm flipH="1">
            <a:off x="4650766" y="2641966"/>
            <a:ext cx="782600" cy="86884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6" name="Line 14"/>
          <p:cNvSpPr>
            <a:spLocks noChangeShapeType="1"/>
          </p:cNvSpPr>
          <p:nvPr/>
        </p:nvSpPr>
        <p:spPr bwMode="auto">
          <a:xfrm flipV="1">
            <a:off x="3760426" y="2621201"/>
            <a:ext cx="1591246" cy="78688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7" name="Rectangle 15"/>
          <p:cNvSpPr>
            <a:spLocks noChangeArrowheads="1"/>
          </p:cNvSpPr>
          <p:nvPr/>
        </p:nvSpPr>
        <p:spPr bwMode="auto">
          <a:xfrm rot="5400000">
            <a:off x="1507306" y="2281116"/>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18" name="Line 16"/>
          <p:cNvSpPr>
            <a:spLocks noChangeShapeType="1"/>
          </p:cNvSpPr>
          <p:nvPr/>
        </p:nvSpPr>
        <p:spPr bwMode="auto">
          <a:xfrm>
            <a:off x="1544048" y="1939238"/>
            <a:ext cx="0" cy="73442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9" name="Rectangle 17"/>
          <p:cNvSpPr>
            <a:spLocks noChangeArrowheads="1"/>
          </p:cNvSpPr>
          <p:nvPr/>
        </p:nvSpPr>
        <p:spPr bwMode="auto">
          <a:xfrm rot="10800000">
            <a:off x="1911963" y="2786357"/>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2" name="Rectangle 20"/>
          <p:cNvSpPr>
            <a:spLocks noChangeArrowheads="1"/>
          </p:cNvSpPr>
          <p:nvPr/>
        </p:nvSpPr>
        <p:spPr bwMode="auto">
          <a:xfrm rot="10800000">
            <a:off x="6927229" y="2694554"/>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3" name="Line 21"/>
          <p:cNvSpPr>
            <a:spLocks noChangeShapeType="1"/>
          </p:cNvSpPr>
          <p:nvPr/>
        </p:nvSpPr>
        <p:spPr bwMode="auto">
          <a:xfrm flipV="1">
            <a:off x="2851143" y="2229947"/>
            <a:ext cx="1214746" cy="327867"/>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4" name="Line 22"/>
          <p:cNvSpPr>
            <a:spLocks noChangeShapeType="1"/>
          </p:cNvSpPr>
          <p:nvPr/>
        </p:nvSpPr>
        <p:spPr bwMode="auto">
          <a:xfrm>
            <a:off x="5595569" y="2538142"/>
            <a:ext cx="802727" cy="19672"/>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5" name="Line 23"/>
          <p:cNvSpPr>
            <a:spLocks noChangeShapeType="1"/>
          </p:cNvSpPr>
          <p:nvPr/>
        </p:nvSpPr>
        <p:spPr bwMode="auto">
          <a:xfrm>
            <a:off x="4435284" y="2210275"/>
            <a:ext cx="852453" cy="262293"/>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6" name="Text Box 24"/>
          <p:cNvSpPr txBox="1">
            <a:spLocks noChangeArrowheads="1"/>
          </p:cNvSpPr>
          <p:nvPr/>
        </p:nvSpPr>
        <p:spPr bwMode="auto">
          <a:xfrm>
            <a:off x="4101407" y="1603915"/>
            <a:ext cx="822661" cy="241092"/>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nSpc>
                <a:spcPct val="80000"/>
              </a:lnSpc>
            </a:pPr>
            <a:r>
              <a:rPr kumimoji="1" lang="en-US" altLang="zh-CN" sz="1200" dirty="0">
                <a:latin typeface="Montserrat" panose="00000500000000000000" pitchFamily="2" charset="0"/>
                <a:ea typeface="微软雅黑 Light" panose="020B0502040204020203" pitchFamily="34" charset="-122"/>
              </a:rPr>
              <a:t>MPLS </a:t>
            </a:r>
            <a:r>
              <a:rPr kumimoji="1" lang="zh-CN" altLang="en-US" sz="1200" dirty="0">
                <a:latin typeface="Montserrat" panose="00000500000000000000" pitchFamily="2" charset="0"/>
                <a:ea typeface="微软雅黑 Light" panose="020B0502040204020203" pitchFamily="34" charset="-122"/>
              </a:rPr>
              <a:t>域</a:t>
            </a:r>
          </a:p>
        </p:txBody>
      </p:sp>
      <p:pic>
        <p:nvPicPr>
          <p:cNvPr id="3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73557" y="2621201"/>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7" name="Line 36"/>
          <p:cNvSpPr>
            <a:spLocks noChangeShapeType="1"/>
          </p:cNvSpPr>
          <p:nvPr/>
        </p:nvSpPr>
        <p:spPr bwMode="auto">
          <a:xfrm>
            <a:off x="1899237" y="2916281"/>
            <a:ext cx="284151"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8" name="Line 37"/>
          <p:cNvSpPr>
            <a:spLocks noChangeShapeType="1"/>
          </p:cNvSpPr>
          <p:nvPr/>
        </p:nvSpPr>
        <p:spPr bwMode="auto">
          <a:xfrm rot="5400000">
            <a:off x="1611807" y="2345793"/>
            <a:ext cx="262293"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9" name="Line 38"/>
          <p:cNvSpPr>
            <a:spLocks noChangeShapeType="1"/>
          </p:cNvSpPr>
          <p:nvPr/>
        </p:nvSpPr>
        <p:spPr bwMode="auto">
          <a:xfrm>
            <a:off x="6942918" y="2831035"/>
            <a:ext cx="284151"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2" name="Text Box 41"/>
          <p:cNvSpPr txBox="1">
            <a:spLocks noChangeArrowheads="1"/>
          </p:cNvSpPr>
          <p:nvPr/>
        </p:nvSpPr>
        <p:spPr bwMode="auto">
          <a:xfrm rot="20668789">
            <a:off x="3127814" y="2187716"/>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dirty="0">
                <a:solidFill>
                  <a:srgbClr val="E46C0A"/>
                </a:solidFill>
                <a:latin typeface="Montserrat" panose="00000500000000000000" pitchFamily="2" charset="0"/>
                <a:ea typeface="微软雅黑 Light" panose="020B0502040204020203" pitchFamily="34" charset="-122"/>
              </a:rPr>
              <a:t>LDP</a:t>
            </a:r>
          </a:p>
        </p:txBody>
      </p:sp>
      <p:sp>
        <p:nvSpPr>
          <p:cNvPr id="43" name="Text Box 42"/>
          <p:cNvSpPr txBox="1">
            <a:spLocks noChangeArrowheads="1"/>
          </p:cNvSpPr>
          <p:nvPr/>
        </p:nvSpPr>
        <p:spPr bwMode="auto">
          <a:xfrm rot="1038311">
            <a:off x="4608952" y="2137443"/>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E46C0A"/>
                </a:solidFill>
                <a:latin typeface="Montserrat" panose="00000500000000000000" pitchFamily="2" charset="0"/>
                <a:ea typeface="微软雅黑 Light" panose="020B0502040204020203" pitchFamily="34" charset="-122"/>
              </a:rPr>
              <a:t>LDP</a:t>
            </a:r>
          </a:p>
        </p:txBody>
      </p:sp>
      <p:sp>
        <p:nvSpPr>
          <p:cNvPr id="44" name="Text Box 43"/>
          <p:cNvSpPr txBox="1">
            <a:spLocks noChangeArrowheads="1"/>
          </p:cNvSpPr>
          <p:nvPr/>
        </p:nvSpPr>
        <p:spPr bwMode="auto">
          <a:xfrm rot="107100">
            <a:off x="5758580" y="2336349"/>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E46C0A"/>
                </a:solidFill>
                <a:latin typeface="Montserrat" panose="00000500000000000000" pitchFamily="2" charset="0"/>
                <a:ea typeface="微软雅黑 Light" panose="020B0502040204020203" pitchFamily="34" charset="-122"/>
              </a:rPr>
              <a:t>LDP</a:t>
            </a:r>
          </a:p>
        </p:txBody>
      </p:sp>
      <p:sp>
        <p:nvSpPr>
          <p:cNvPr id="46" name="Text Box 45"/>
          <p:cNvSpPr txBox="1">
            <a:spLocks noChangeArrowheads="1"/>
          </p:cNvSpPr>
          <p:nvPr/>
        </p:nvSpPr>
        <p:spPr bwMode="auto">
          <a:xfrm>
            <a:off x="1988105" y="3201525"/>
            <a:ext cx="800219"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200" dirty="0">
                <a:latin typeface="Montserrat" panose="00000500000000000000" pitchFamily="2" charset="0"/>
                <a:ea typeface="微软雅黑 Light" panose="020B0502040204020203" pitchFamily="34" charset="-122"/>
              </a:rPr>
              <a:t>入口节点</a:t>
            </a:r>
          </a:p>
        </p:txBody>
      </p:sp>
      <p:sp>
        <p:nvSpPr>
          <p:cNvPr id="51" name="Text Box 50"/>
          <p:cNvSpPr txBox="1">
            <a:spLocks noChangeArrowheads="1"/>
          </p:cNvSpPr>
          <p:nvPr/>
        </p:nvSpPr>
        <p:spPr bwMode="auto">
          <a:xfrm>
            <a:off x="6398366" y="3182946"/>
            <a:ext cx="800219"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200" dirty="0">
                <a:latin typeface="Montserrat" panose="00000500000000000000" pitchFamily="2" charset="0"/>
                <a:ea typeface="微软雅黑 Light" panose="020B0502040204020203" pitchFamily="34" charset="-122"/>
              </a:rPr>
              <a:t>出口节点</a:t>
            </a:r>
          </a:p>
        </p:txBody>
      </p:sp>
      <p:sp>
        <p:nvSpPr>
          <p:cNvPr id="52" name="Line 51"/>
          <p:cNvSpPr>
            <a:spLocks noChangeShapeType="1"/>
          </p:cNvSpPr>
          <p:nvPr/>
        </p:nvSpPr>
        <p:spPr bwMode="auto">
          <a:xfrm flipV="1">
            <a:off x="2408341" y="2741418"/>
            <a:ext cx="162610" cy="460108"/>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3" name="Line 52"/>
          <p:cNvSpPr>
            <a:spLocks noChangeShapeType="1"/>
          </p:cNvSpPr>
          <p:nvPr/>
        </p:nvSpPr>
        <p:spPr bwMode="auto">
          <a:xfrm flipH="1" flipV="1">
            <a:off x="6577073" y="2700810"/>
            <a:ext cx="195354" cy="497436"/>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7" name="Line 56"/>
          <p:cNvSpPr>
            <a:spLocks noChangeShapeType="1"/>
          </p:cNvSpPr>
          <p:nvPr/>
        </p:nvSpPr>
        <p:spPr bwMode="auto">
          <a:xfrm>
            <a:off x="7568050" y="1991697"/>
            <a:ext cx="0" cy="629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59" name="Rectangle 58"/>
          <p:cNvSpPr>
            <a:spLocks noChangeArrowheads="1"/>
          </p:cNvSpPr>
          <p:nvPr/>
        </p:nvSpPr>
        <p:spPr bwMode="auto">
          <a:xfrm rot="5400000">
            <a:off x="7558540" y="2309532"/>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60" name="Line 59"/>
          <p:cNvSpPr>
            <a:spLocks noChangeShapeType="1"/>
          </p:cNvSpPr>
          <p:nvPr/>
        </p:nvSpPr>
        <p:spPr bwMode="auto">
          <a:xfrm rot="16200000" flipV="1">
            <a:off x="7692639" y="2341421"/>
            <a:ext cx="262293"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1" name="Text Box 60"/>
          <p:cNvSpPr txBox="1">
            <a:spLocks noChangeArrowheads="1"/>
          </p:cNvSpPr>
          <p:nvPr/>
        </p:nvSpPr>
        <p:spPr bwMode="auto">
          <a:xfrm>
            <a:off x="2600301" y="2296467"/>
            <a:ext cx="312907"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A</a:t>
            </a:r>
          </a:p>
        </p:txBody>
      </p:sp>
      <p:sp>
        <p:nvSpPr>
          <p:cNvPr id="62" name="Text Box 61"/>
          <p:cNvSpPr txBox="1">
            <a:spLocks noChangeArrowheads="1"/>
          </p:cNvSpPr>
          <p:nvPr/>
        </p:nvSpPr>
        <p:spPr bwMode="auto">
          <a:xfrm>
            <a:off x="4057777" y="1876700"/>
            <a:ext cx="31931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B</a:t>
            </a:r>
          </a:p>
        </p:txBody>
      </p:sp>
      <p:sp>
        <p:nvSpPr>
          <p:cNvPr id="63" name="Text Box 62"/>
          <p:cNvSpPr txBox="1">
            <a:spLocks noChangeArrowheads="1"/>
          </p:cNvSpPr>
          <p:nvPr/>
        </p:nvSpPr>
        <p:spPr bwMode="auto">
          <a:xfrm>
            <a:off x="5236711" y="2182660"/>
            <a:ext cx="314510"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C</a:t>
            </a:r>
          </a:p>
        </p:txBody>
      </p:sp>
      <p:sp>
        <p:nvSpPr>
          <p:cNvPr id="64" name="Text Box 63"/>
          <p:cNvSpPr txBox="1">
            <a:spLocks noChangeArrowheads="1"/>
          </p:cNvSpPr>
          <p:nvPr/>
        </p:nvSpPr>
        <p:spPr bwMode="auto">
          <a:xfrm>
            <a:off x="6211141" y="2270091"/>
            <a:ext cx="333746"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D</a:t>
            </a:r>
          </a:p>
        </p:txBody>
      </p:sp>
      <p:pic>
        <p:nvPicPr>
          <p:cNvPr id="66" name="Picture 65"/>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12502" y="2463825"/>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85369" y="2411366"/>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8" name="Picture 67"/>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01407" y="2096614"/>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9" name="Picture 6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10161" y="2516283"/>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0" name="Picture 6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42388" y="3355622"/>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1" name="Picture 7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33105" y="3198246"/>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5"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02295" y="2557813"/>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7"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347389" y="1591106"/>
            <a:ext cx="437551" cy="437551"/>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352264" y="1591106"/>
            <a:ext cx="437551" cy="437551"/>
          </a:xfrm>
          <a:prstGeom prst="rect">
            <a:avLst/>
          </a:prstGeom>
          <a:noFill/>
          <a:extLst>
            <a:ext uri="{909E8E84-426E-40DD-AFC4-6F175D3DCCD1}">
              <a14:hiddenFill xmlns:a14="http://schemas.microsoft.com/office/drawing/2010/main">
                <a:solidFill>
                  <a:srgbClr val="FFFFFF"/>
                </a:solidFill>
              </a14:hiddenFill>
            </a:ext>
          </a:extLst>
        </p:spPr>
      </p:pic>
      <p:sp>
        <p:nvSpPr>
          <p:cNvPr id="80" name="Line 268"/>
          <p:cNvSpPr>
            <a:spLocks noChangeShapeType="1"/>
          </p:cNvSpPr>
          <p:nvPr/>
        </p:nvSpPr>
        <p:spPr bwMode="auto">
          <a:xfrm rot="16072623">
            <a:off x="3547463" y="2473543"/>
            <a:ext cx="136525" cy="515938"/>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58" name="组合 57"/>
          <p:cNvGrpSpPr/>
          <p:nvPr/>
        </p:nvGrpSpPr>
        <p:grpSpPr>
          <a:xfrm rot="20642495">
            <a:off x="3312385" y="2544311"/>
            <a:ext cx="519027" cy="151876"/>
            <a:chOff x="3032908" y="4474111"/>
            <a:chExt cx="519027" cy="173177"/>
          </a:xfrm>
        </p:grpSpPr>
        <p:sp>
          <p:nvSpPr>
            <p:cNvPr id="45" name="矩形 44"/>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3</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97"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89" name="Line 416"/>
          <p:cNvSpPr>
            <a:spLocks noChangeShapeType="1"/>
          </p:cNvSpPr>
          <p:nvPr/>
        </p:nvSpPr>
        <p:spPr bwMode="auto">
          <a:xfrm rot="18151154">
            <a:off x="4668597" y="2411119"/>
            <a:ext cx="136525" cy="515938"/>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98" name="组合 97"/>
          <p:cNvGrpSpPr/>
          <p:nvPr/>
        </p:nvGrpSpPr>
        <p:grpSpPr>
          <a:xfrm rot="997048">
            <a:off x="4524278" y="2482891"/>
            <a:ext cx="519027" cy="151876"/>
            <a:chOff x="3032908" y="4474111"/>
            <a:chExt cx="519027" cy="173177"/>
          </a:xfrm>
        </p:grpSpPr>
        <p:sp>
          <p:nvSpPr>
            <p:cNvPr id="99" name="矩形 98"/>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1</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0"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93" name="Line 420"/>
          <p:cNvSpPr>
            <a:spLocks noChangeShapeType="1"/>
          </p:cNvSpPr>
          <p:nvPr/>
        </p:nvSpPr>
        <p:spPr bwMode="auto">
          <a:xfrm rot="17283846">
            <a:off x="5922027" y="2652461"/>
            <a:ext cx="136525" cy="515937"/>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103" name="组合 102"/>
          <p:cNvGrpSpPr/>
          <p:nvPr/>
        </p:nvGrpSpPr>
        <p:grpSpPr>
          <a:xfrm rot="198137">
            <a:off x="5737418" y="2710776"/>
            <a:ext cx="519027" cy="151876"/>
            <a:chOff x="3032908" y="4474111"/>
            <a:chExt cx="519027" cy="173177"/>
          </a:xfrm>
        </p:grpSpPr>
        <p:sp>
          <p:nvSpPr>
            <p:cNvPr id="104" name="矩形 103"/>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5"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grpSp>
        <p:nvGrpSpPr>
          <p:cNvPr id="106" name="组合 105"/>
          <p:cNvGrpSpPr/>
          <p:nvPr/>
        </p:nvGrpSpPr>
        <p:grpSpPr>
          <a:xfrm>
            <a:off x="2806345" y="4183765"/>
            <a:ext cx="519027" cy="122934"/>
            <a:chOff x="3032908" y="4474111"/>
            <a:chExt cx="519027" cy="173177"/>
          </a:xfrm>
        </p:grpSpPr>
        <p:sp>
          <p:nvSpPr>
            <p:cNvPr id="107" name="矩形 106"/>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800" dirty="0">
                  <a:solidFill>
                    <a:schemeClr val="tx1"/>
                  </a:solidFill>
                  <a:latin typeface="Montserrat" panose="00000500000000000000" pitchFamily="2" charset="0"/>
                  <a:ea typeface="微软雅黑 Light" panose="020B0502040204020203" pitchFamily="34" charset="-122"/>
                </a:rPr>
                <a:t>X</a:t>
              </a:r>
              <a:endParaRPr lang="zh-CN" altLang="en-US" sz="800" dirty="0">
                <a:solidFill>
                  <a:schemeClr val="tx1"/>
                </a:solidFill>
                <a:latin typeface="Montserrat" panose="00000500000000000000" pitchFamily="2" charset="0"/>
                <a:ea typeface="微软雅黑 Light" panose="020B0502040204020203" pitchFamily="34" charset="-122"/>
              </a:endParaRPr>
            </a:p>
          </p:txBody>
        </p:sp>
        <p:sp>
          <p:nvSpPr>
            <p:cNvPr id="108"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15" name="标题 14">
            <a:extLst>
              <a:ext uri="{FF2B5EF4-FFF2-40B4-BE49-F238E27FC236}">
                <a16:creationId xmlns:a16="http://schemas.microsoft.com/office/drawing/2014/main" id="{B1A88438-288A-0102-579E-1AA098428A39}"/>
              </a:ext>
            </a:extLst>
          </p:cNvPr>
          <p:cNvSpPr>
            <a:spLocks noGrp="1"/>
          </p:cNvSpPr>
          <p:nvPr>
            <p:ph type="title"/>
          </p:nvPr>
        </p:nvSpPr>
        <p:spPr>
          <a:xfrm>
            <a:off x="486000" y="550723"/>
            <a:ext cx="8172000" cy="338554"/>
          </a:xfrm>
        </p:spPr>
        <p:txBody>
          <a:bodyPr/>
          <a:lstStyle/>
          <a:p>
            <a:r>
              <a:rPr lang="en-US" altLang="zh-CN" dirty="0"/>
              <a:t>MPLS </a:t>
            </a:r>
            <a:r>
              <a:rPr lang="zh-CN" altLang="en-US" dirty="0"/>
              <a:t>协议的基本原理</a:t>
            </a:r>
          </a:p>
        </p:txBody>
      </p:sp>
    </p:spTree>
    <p:extLst>
      <p:ext uri="{BB962C8B-B14F-4D97-AF65-F5344CB8AC3E}">
        <p14:creationId xmlns:p14="http://schemas.microsoft.com/office/powerpoint/2010/main" val="17649827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repeatCount="3000" fill="hold" nodeType="clickEffect">
                                  <p:stCondLst>
                                    <p:cond delay="0"/>
                                  </p:stCondLst>
                                  <p:childTnLst>
                                    <p:set>
                                      <p:cBhvr>
                                        <p:cTn id="6" dur="1" fill="hold">
                                          <p:stCondLst>
                                            <p:cond delay="0"/>
                                          </p:stCondLst>
                                        </p:cTn>
                                        <p:tgtEl>
                                          <p:spTgt spid="114"/>
                                        </p:tgtEl>
                                        <p:attrNameLst>
                                          <p:attrName>style.visibility</p:attrName>
                                        </p:attrNameLst>
                                      </p:cBhvr>
                                      <p:to>
                                        <p:strVal val="visible"/>
                                      </p:to>
                                    </p:set>
                                    <p:animEffect transition="in" filter="fade">
                                      <p:cBhvr>
                                        <p:cTn id="7" dur="500"/>
                                        <p:tgtEl>
                                          <p:spTgt spid="1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3000" fill="hold" nodeType="clickEffect">
                                  <p:stCondLst>
                                    <p:cond delay="0"/>
                                  </p:stCondLst>
                                  <p:childTnLst>
                                    <p:set>
                                      <p:cBhvr>
                                        <p:cTn id="11" dur="1" fill="hold">
                                          <p:stCondLst>
                                            <p:cond delay="0"/>
                                          </p:stCondLst>
                                        </p:cTn>
                                        <p:tgtEl>
                                          <p:spTgt spid="115"/>
                                        </p:tgtEl>
                                        <p:attrNameLst>
                                          <p:attrName>style.visibility</p:attrName>
                                        </p:attrNameLst>
                                      </p:cBhvr>
                                      <p:to>
                                        <p:strVal val="visible"/>
                                      </p:to>
                                    </p:set>
                                    <p:animEffect transition="in" filter="fade">
                                      <p:cBhvr>
                                        <p:cTn id="12"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A85B1BB-B61D-A7FB-8A00-53230919C982}"/>
              </a:ext>
            </a:extLst>
          </p:cNvPr>
          <p:cNvSpPr>
            <a:spLocks noGrp="1"/>
          </p:cNvSpPr>
          <p:nvPr>
            <p:ph type="title"/>
          </p:nvPr>
        </p:nvSpPr>
        <p:spPr>
          <a:xfrm>
            <a:off x="486000" y="550723"/>
            <a:ext cx="8172000" cy="338554"/>
          </a:xfrm>
        </p:spPr>
        <p:txBody>
          <a:bodyPr/>
          <a:lstStyle/>
          <a:p>
            <a:r>
              <a:rPr lang="en-US" altLang="zh-CN" dirty="0"/>
              <a:t>MPLS </a:t>
            </a:r>
            <a:r>
              <a:rPr lang="zh-CN" altLang="en-US" dirty="0"/>
              <a:t>域</a:t>
            </a:r>
          </a:p>
        </p:txBody>
      </p:sp>
      <p:sp>
        <p:nvSpPr>
          <p:cNvPr id="7" name="内容占位符 6">
            <a:extLst>
              <a:ext uri="{FF2B5EF4-FFF2-40B4-BE49-F238E27FC236}">
                <a16:creationId xmlns:a16="http://schemas.microsoft.com/office/drawing/2014/main" id="{A26DDD10-4B70-FA44-AAD5-166805A77D7F}"/>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域 </a:t>
            </a:r>
            <a:r>
              <a:rPr lang="en-US" altLang="zh-CN" dirty="0"/>
              <a:t>(MPLS domain) </a:t>
            </a:r>
            <a:r>
              <a:rPr lang="zh-CN" altLang="en-US" dirty="0"/>
              <a:t>：指该域中有许多彼此相邻的路由器，并且所有的路由器都是支持 </a:t>
            </a:r>
            <a:r>
              <a:rPr lang="en-US" altLang="zh-CN" dirty="0"/>
              <a:t>MPLS </a:t>
            </a:r>
            <a:r>
              <a:rPr lang="zh-CN" altLang="en-US" dirty="0"/>
              <a:t>技术的标记交换路由器 </a:t>
            </a:r>
            <a:r>
              <a:rPr lang="en-US" altLang="zh-CN" dirty="0"/>
              <a:t>LSR (Label Switching Router)</a:t>
            </a:r>
            <a:endParaRPr lang="zh-CN" altLang="en-US" dirty="0"/>
          </a:p>
          <a:p>
            <a:r>
              <a:rPr lang="en-US" altLang="zh-CN" dirty="0"/>
              <a:t>LSR </a:t>
            </a:r>
            <a:r>
              <a:rPr lang="zh-CN" altLang="en-US" dirty="0"/>
              <a:t>同时具有标记交换和路由选择这两种功能。标记交换功能是为了快速转发，路由选择功能是为了构造转发表</a:t>
            </a:r>
          </a:p>
          <a:p>
            <a:endParaRPr lang="zh-CN" altLang="en-US" dirty="0"/>
          </a:p>
        </p:txBody>
      </p:sp>
    </p:spTree>
    <p:extLst>
      <p:ext uri="{BB962C8B-B14F-4D97-AF65-F5344CB8AC3E}">
        <p14:creationId xmlns:p14="http://schemas.microsoft.com/office/powerpoint/2010/main" val="669412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EE90122-D9C4-8233-37E6-427A49411B73}"/>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6" name="内容占位符 5">
            <a:extLst>
              <a:ext uri="{FF2B5EF4-FFF2-40B4-BE49-F238E27FC236}">
                <a16:creationId xmlns:a16="http://schemas.microsoft.com/office/drawing/2014/main" id="{58BE06B6-00E2-4938-3D2F-34A57440B459}"/>
              </a:ext>
            </a:extLst>
          </p:cNvPr>
          <p:cNvSpPr>
            <a:spLocks noGrp="1"/>
          </p:cNvSpPr>
          <p:nvPr>
            <p:ph sz="quarter" idx="11"/>
          </p:nvPr>
        </p:nvSpPr>
        <p:spPr>
          <a:xfrm>
            <a:off x="486000" y="900000"/>
            <a:ext cx="8172000" cy="3703500"/>
          </a:xfrm>
        </p:spPr>
        <p:txBody>
          <a:bodyPr/>
          <a:lstStyle/>
          <a:p>
            <a:r>
              <a:rPr lang="en-US" altLang="zh-CN" dirty="0"/>
              <a:t>1. </a:t>
            </a:r>
            <a:r>
              <a:rPr lang="zh-CN" altLang="en-US" dirty="0"/>
              <a:t>找出标签交换路径 </a:t>
            </a:r>
            <a:r>
              <a:rPr lang="en-US" altLang="zh-CN" dirty="0"/>
              <a:t>LSP</a:t>
            </a:r>
          </a:p>
          <a:p>
            <a:pPr lvl="1"/>
            <a:r>
              <a:rPr lang="zh-CN" altLang="en-US" dirty="0"/>
              <a:t>各 </a:t>
            </a:r>
            <a:r>
              <a:rPr lang="en-US" altLang="zh-CN" dirty="0"/>
              <a:t>LSR </a:t>
            </a:r>
            <a:r>
              <a:rPr lang="zh-CN" altLang="en-US" dirty="0"/>
              <a:t>使用标签分配协议 </a:t>
            </a:r>
            <a:r>
              <a:rPr lang="en-US" altLang="zh-CN" dirty="0"/>
              <a:t>LDP (Label Distribution Protocol) </a:t>
            </a:r>
            <a:r>
              <a:rPr lang="zh-CN" altLang="en-US" dirty="0"/>
              <a:t>交换报文，找出和标签相对应的标签交换路径 </a:t>
            </a:r>
            <a:r>
              <a:rPr lang="en-US" altLang="zh-CN" dirty="0"/>
              <a:t>LSP (Label Switched Path)</a:t>
            </a:r>
            <a:r>
              <a:rPr lang="zh-CN" altLang="en-US" dirty="0"/>
              <a:t>。整个标签交换路径就像一条虚连接一样</a:t>
            </a:r>
            <a:endParaRPr lang="en-US" altLang="zh-CN" dirty="0"/>
          </a:p>
          <a:p>
            <a:r>
              <a:rPr lang="en-US" altLang="zh-CN" dirty="0"/>
              <a:t>2. </a:t>
            </a:r>
            <a:r>
              <a:rPr lang="zh-CN" altLang="en-US" dirty="0"/>
              <a:t>打标签，然后转发</a:t>
            </a:r>
            <a:endParaRPr lang="en-US" altLang="zh-CN" dirty="0"/>
          </a:p>
          <a:p>
            <a:pPr lvl="1"/>
            <a:r>
              <a:rPr lang="zh-CN" altLang="en-US" dirty="0"/>
              <a:t>入口节点 </a:t>
            </a:r>
            <a:r>
              <a:rPr lang="en-US" altLang="zh-CN" dirty="0"/>
              <a:t>(ingress node) </a:t>
            </a:r>
            <a:r>
              <a:rPr lang="zh-CN" altLang="en-US" dirty="0"/>
              <a:t>给进入 </a:t>
            </a:r>
            <a:r>
              <a:rPr lang="en-US" altLang="zh-CN" dirty="0"/>
              <a:t>MPLS </a:t>
            </a:r>
            <a:r>
              <a:rPr lang="zh-CN" altLang="en-US" dirty="0"/>
              <a:t>域的 </a:t>
            </a:r>
            <a:r>
              <a:rPr lang="en-US" altLang="zh-CN" dirty="0"/>
              <a:t>IP </a:t>
            </a:r>
            <a:r>
              <a:rPr lang="zh-CN" altLang="en-US" dirty="0"/>
              <a:t>数据报打上标签（实际上是插入一个 </a:t>
            </a:r>
            <a:r>
              <a:rPr lang="en-US" altLang="zh-CN" dirty="0"/>
              <a:t>MPLS </a:t>
            </a:r>
            <a:r>
              <a:rPr lang="zh-CN" altLang="en-US" dirty="0"/>
              <a:t>首部），并按照转发表把它转发给下一个 </a:t>
            </a:r>
            <a:r>
              <a:rPr lang="en-US" altLang="zh-CN" dirty="0"/>
              <a:t>LSR</a:t>
            </a:r>
            <a:r>
              <a:rPr lang="zh-CN" altLang="en-US" dirty="0"/>
              <a:t>。以后的所有 </a:t>
            </a:r>
            <a:r>
              <a:rPr lang="en-US" altLang="zh-CN" dirty="0"/>
              <a:t>LSR </a:t>
            </a:r>
            <a:r>
              <a:rPr lang="zh-CN" altLang="en-US" dirty="0"/>
              <a:t>都按照标签进行转发</a:t>
            </a:r>
            <a:endParaRPr lang="en-US" altLang="zh-CN" dirty="0"/>
          </a:p>
          <a:p>
            <a:pPr lvl="1"/>
            <a:r>
              <a:rPr lang="zh-CN" altLang="en-US" dirty="0"/>
              <a:t>给 </a:t>
            </a:r>
            <a:r>
              <a:rPr lang="en-US" altLang="zh-CN" dirty="0"/>
              <a:t>IP </a:t>
            </a:r>
            <a:r>
              <a:rPr lang="zh-CN" altLang="en-US" dirty="0"/>
              <a:t>数据报打标签的过程叫做分类 </a:t>
            </a:r>
            <a:r>
              <a:rPr lang="en-US" altLang="zh-CN" dirty="0"/>
              <a:t>(classification)</a:t>
            </a:r>
            <a:endParaRPr lang="zh-CN" altLang="en-US" dirty="0"/>
          </a:p>
          <a:p>
            <a:endParaRPr lang="zh-CN" altLang="en-US" dirty="0"/>
          </a:p>
        </p:txBody>
      </p:sp>
    </p:spTree>
    <p:extLst>
      <p:ext uri="{BB962C8B-B14F-4D97-AF65-F5344CB8AC3E}">
        <p14:creationId xmlns:p14="http://schemas.microsoft.com/office/powerpoint/2010/main" val="29102303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597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aphicFrame>
        <p:nvGraphicFramePr>
          <p:cNvPr id="5" name="表格 4"/>
          <p:cNvGraphicFramePr>
            <a:graphicFrameLocks noGrp="1"/>
          </p:cNvGraphicFramePr>
          <p:nvPr>
            <p:extLst>
              <p:ext uri="{D42A27DB-BD31-4B8C-83A1-F6EECF244321}">
                <p14:modId xmlns:p14="http://schemas.microsoft.com/office/powerpoint/2010/main" val="3470371903"/>
              </p:ext>
            </p:extLst>
          </p:nvPr>
        </p:nvGraphicFramePr>
        <p:xfrm>
          <a:off x="1872000" y="3011204"/>
          <a:ext cx="5400000" cy="583588"/>
        </p:xfrm>
        <a:graphic>
          <a:graphicData uri="http://schemas.openxmlformats.org/drawingml/2006/table">
            <a:tbl>
              <a:tblPr firstRow="1" firstCol="1" lastRow="1" lastCol="1" bandRow="1" bandCol="1">
                <a:tableStyleId>{5A111915-BE36-4E01-A7E5-04B1672EAD32}</a:tableStyleId>
              </a:tblPr>
              <a:tblGrid>
                <a:gridCol w="1350000">
                  <a:extLst>
                    <a:ext uri="{9D8B030D-6E8A-4147-A177-3AD203B41FA5}">
                      <a16:colId xmlns:a16="http://schemas.microsoft.com/office/drawing/2014/main" val="20000"/>
                    </a:ext>
                  </a:extLst>
                </a:gridCol>
                <a:gridCol w="1350000">
                  <a:extLst>
                    <a:ext uri="{9D8B030D-6E8A-4147-A177-3AD203B41FA5}">
                      <a16:colId xmlns:a16="http://schemas.microsoft.com/office/drawing/2014/main" val="20001"/>
                    </a:ext>
                  </a:extLst>
                </a:gridCol>
                <a:gridCol w="1350000">
                  <a:extLst>
                    <a:ext uri="{9D8B030D-6E8A-4147-A177-3AD203B41FA5}">
                      <a16:colId xmlns:a16="http://schemas.microsoft.com/office/drawing/2014/main" val="20002"/>
                    </a:ext>
                  </a:extLst>
                </a:gridCol>
                <a:gridCol w="1350000">
                  <a:extLst>
                    <a:ext uri="{9D8B030D-6E8A-4147-A177-3AD203B41FA5}">
                      <a16:colId xmlns:a16="http://schemas.microsoft.com/office/drawing/2014/main" val="20003"/>
                    </a:ext>
                  </a:extLst>
                </a:gridCol>
              </a:tblGrid>
              <a:tr h="291794">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91794">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0</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a:latin typeface="Montserrat" panose="00000500000000000000" pitchFamily="2" charset="0"/>
                          <a:ea typeface="微软雅黑 Light" panose="020B0502040204020203" pitchFamily="34" charset="-122"/>
                        </a:rPr>
                        <a:t>3</a:t>
                      </a:r>
                      <a:endParaRPr lang="zh-CN" altLang="en-US" sz="1400" b="0" baseline="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sp>
        <p:nvSpPr>
          <p:cNvPr id="8" name="矩形 7"/>
          <p:cNvSpPr/>
          <p:nvPr/>
        </p:nvSpPr>
        <p:spPr>
          <a:xfrm>
            <a:off x="1407814" y="3739173"/>
            <a:ext cx="6328373" cy="679801"/>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从入接口 </a:t>
            </a:r>
            <a:r>
              <a:rPr lang="en-US" altLang="zh-CN" sz="1400" dirty="0">
                <a:latin typeface="Montserrat" panose="00000500000000000000" pitchFamily="2" charset="0"/>
                <a:ea typeface="微软雅黑" pitchFamily="34" charset="-122"/>
              </a:rPr>
              <a:t>0 </a:t>
            </a:r>
            <a:r>
              <a:rPr lang="zh-CN" altLang="en-US" sz="1400" dirty="0">
                <a:latin typeface="Montserrat" panose="00000500000000000000" pitchFamily="2" charset="0"/>
                <a:ea typeface="微软雅黑" pitchFamily="34" charset="-122"/>
              </a:rPr>
              <a:t>收到一个入标签为 </a:t>
            </a: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的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数据报，转发时，应当把该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数据报从出接口 </a:t>
            </a: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转发出去，同时把标签对换为 </a:t>
            </a:r>
            <a:r>
              <a:rPr lang="en-US" altLang="zh-CN" sz="1400" dirty="0">
                <a:latin typeface="Montserrat" panose="00000500000000000000" pitchFamily="2" charset="0"/>
                <a:ea typeface="微软雅黑" pitchFamily="34" charset="-122"/>
              </a:rPr>
              <a:t>1</a:t>
            </a:r>
            <a:endParaRPr lang="zh-CN" altLang="en-US" sz="1400" dirty="0">
              <a:latin typeface="Montserrat" panose="00000500000000000000" pitchFamily="2" charset="0"/>
              <a:ea typeface="微软雅黑" pitchFamily="34" charset="-122"/>
            </a:endParaRPr>
          </a:p>
        </p:txBody>
      </p:sp>
      <p:sp>
        <p:nvSpPr>
          <p:cNvPr id="9" name="标题 8">
            <a:extLst>
              <a:ext uri="{FF2B5EF4-FFF2-40B4-BE49-F238E27FC236}">
                <a16:creationId xmlns:a16="http://schemas.microsoft.com/office/drawing/2014/main" id="{CBD52741-5B5C-7AA6-1796-AC3237D4196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
        <p:nvSpPr>
          <p:cNvPr id="10" name="内容占位符 9">
            <a:extLst>
              <a:ext uri="{FF2B5EF4-FFF2-40B4-BE49-F238E27FC236}">
                <a16:creationId xmlns:a16="http://schemas.microsoft.com/office/drawing/2014/main" id="{974EB602-F182-0775-25D2-87AAD6B516ED}"/>
              </a:ext>
            </a:extLst>
          </p:cNvPr>
          <p:cNvSpPr>
            <a:spLocks noGrp="1"/>
          </p:cNvSpPr>
          <p:nvPr>
            <p:ph sz="quarter" idx="11"/>
          </p:nvPr>
        </p:nvSpPr>
        <p:spPr>
          <a:xfrm>
            <a:off x="486000" y="900000"/>
            <a:ext cx="8172000" cy="3703500"/>
          </a:xfrm>
        </p:spPr>
        <p:txBody>
          <a:bodyPr/>
          <a:lstStyle/>
          <a:p>
            <a:r>
              <a:rPr lang="en-US" altLang="zh-CN" dirty="0"/>
              <a:t>3. </a:t>
            </a:r>
            <a:r>
              <a:rPr lang="zh-CN" altLang="en-US" dirty="0"/>
              <a:t>标签对换。</a:t>
            </a:r>
            <a:endParaRPr lang="en-US" altLang="zh-CN" dirty="0"/>
          </a:p>
          <a:p>
            <a:pPr lvl="1"/>
            <a:r>
              <a:rPr lang="zh-CN" altLang="en-US" dirty="0"/>
              <a:t>一个标签仅在两个 </a:t>
            </a:r>
            <a:r>
              <a:rPr lang="en-US" altLang="zh-CN" dirty="0"/>
              <a:t>LSR </a:t>
            </a:r>
            <a:r>
              <a:rPr lang="zh-CN" altLang="en-US" dirty="0"/>
              <a:t>之间才有意义</a:t>
            </a:r>
            <a:endParaRPr lang="en-US" altLang="zh-CN" dirty="0"/>
          </a:p>
          <a:p>
            <a:pPr lvl="1"/>
            <a:r>
              <a:rPr lang="en-US" altLang="zh-CN" dirty="0"/>
              <a:t>LSR </a:t>
            </a:r>
            <a:r>
              <a:rPr lang="zh-CN" altLang="en-US" dirty="0"/>
              <a:t>要做两件事：转发，更新标记</a:t>
            </a:r>
            <a:endParaRPr lang="en-US" altLang="zh-CN" dirty="0"/>
          </a:p>
          <a:p>
            <a:pPr lvl="1"/>
            <a:r>
              <a:rPr lang="zh-CN" altLang="en-US" dirty="0"/>
              <a:t>更新标记：把入标记更换成为出标记。称之为标签对换 </a:t>
            </a:r>
            <a:r>
              <a:rPr lang="en-US" altLang="zh-CN" dirty="0"/>
              <a:t>(label swapping)</a:t>
            </a:r>
            <a:endParaRPr lang="zh-CN" altLang="en-US" dirty="0"/>
          </a:p>
        </p:txBody>
      </p:sp>
    </p:spTree>
    <p:extLst>
      <p:ext uri="{BB962C8B-B14F-4D97-AF65-F5344CB8AC3E}">
        <p14:creationId xmlns:p14="http://schemas.microsoft.com/office/powerpoint/2010/main" val="1971579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F4654BF0-4F12-EF40-B436-084BE3E1F21D}"/>
              </a:ext>
            </a:extLst>
          </p:cNvPr>
          <p:cNvSpPr>
            <a:spLocks noGrp="1"/>
          </p:cNvSpPr>
          <p:nvPr>
            <p:ph sz="quarter" idx="11"/>
          </p:nvPr>
        </p:nvSpPr>
        <p:spPr>
          <a:xfrm>
            <a:off x="486000" y="900000"/>
            <a:ext cx="8172000" cy="3703500"/>
          </a:xfrm>
        </p:spPr>
        <p:txBody>
          <a:bodyPr wrap="square">
            <a:spAutoFit/>
          </a:bodyPr>
          <a:lstStyle/>
          <a:p>
            <a:r>
              <a:rPr lang="en-US" altLang="zh-CN" dirty="0"/>
              <a:t>4. </a:t>
            </a:r>
            <a:r>
              <a:rPr lang="zh-CN" altLang="en-US" dirty="0"/>
              <a:t>去除标签</a:t>
            </a:r>
            <a:endParaRPr lang="en-US" altLang="zh-CN" dirty="0"/>
          </a:p>
          <a:p>
            <a:pPr lvl="1"/>
            <a:r>
              <a:rPr lang="zh-CN" altLang="en-US" dirty="0"/>
              <a:t>当分组离开 </a:t>
            </a:r>
            <a:r>
              <a:rPr lang="en-US" altLang="zh-CN" dirty="0"/>
              <a:t>MPLS </a:t>
            </a:r>
            <a:r>
              <a:rPr lang="zh-CN" altLang="en-US" dirty="0"/>
              <a:t>域时，</a:t>
            </a:r>
            <a:r>
              <a:rPr lang="en-US" altLang="zh-CN" dirty="0"/>
              <a:t>MPLS </a:t>
            </a:r>
            <a:r>
              <a:rPr lang="zh-CN" altLang="en-US" dirty="0"/>
              <a:t>出口节点 </a:t>
            </a:r>
            <a:r>
              <a:rPr lang="en-US" altLang="zh-CN" dirty="0"/>
              <a:t>(egress node) </a:t>
            </a:r>
            <a:r>
              <a:rPr lang="zh-CN" altLang="en-US" dirty="0"/>
              <a:t>把分组的标签去除</a:t>
            </a:r>
            <a:endParaRPr lang="en-US" altLang="zh-CN" dirty="0"/>
          </a:p>
          <a:p>
            <a:pPr lvl="1"/>
            <a:r>
              <a:rPr lang="zh-CN" altLang="en-US" dirty="0"/>
              <a:t>把 </a:t>
            </a:r>
            <a:r>
              <a:rPr lang="en-US" altLang="zh-CN" dirty="0"/>
              <a:t>IP </a:t>
            </a:r>
            <a:r>
              <a:rPr lang="zh-CN" altLang="en-US" dirty="0"/>
              <a:t>数据报交付给非 </a:t>
            </a:r>
            <a:r>
              <a:rPr lang="en-US" altLang="zh-CN" dirty="0"/>
              <a:t>MPLS </a:t>
            </a:r>
            <a:r>
              <a:rPr lang="zh-CN" altLang="en-US" dirty="0"/>
              <a:t>的主机或路由器</a:t>
            </a:r>
            <a:endParaRPr lang="en-US" altLang="zh-CN" dirty="0"/>
          </a:p>
          <a:p>
            <a:endParaRPr lang="zh-CN" altLang="en-US" dirty="0"/>
          </a:p>
        </p:txBody>
      </p:sp>
      <p:sp>
        <p:nvSpPr>
          <p:cNvPr id="10" name="矩形 9"/>
          <p:cNvSpPr/>
          <p:nvPr/>
        </p:nvSpPr>
        <p:spPr>
          <a:xfrm>
            <a:off x="794441" y="2706986"/>
            <a:ext cx="7555118" cy="685893"/>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这种“由入口 </a:t>
            </a:r>
            <a:r>
              <a:rPr lang="en-US" altLang="zh-CN" sz="1400" dirty="0">
                <a:latin typeface="Montserrat" panose="00000500000000000000" pitchFamily="2" charset="0"/>
                <a:ea typeface="微软雅黑" pitchFamily="34" charset="-122"/>
              </a:rPr>
              <a:t>LSR </a:t>
            </a:r>
            <a:r>
              <a:rPr lang="zh-CN" altLang="en-US" sz="1400" dirty="0">
                <a:latin typeface="Montserrat" panose="00000500000000000000" pitchFamily="2" charset="0"/>
                <a:ea typeface="微软雅黑" pitchFamily="34" charset="-122"/>
              </a:rPr>
              <a:t>确定进入 </a:t>
            </a:r>
            <a:r>
              <a:rPr lang="en-US" altLang="zh-CN" sz="1400" dirty="0">
                <a:latin typeface="Montserrat" panose="00000500000000000000" pitchFamily="2" charset="0"/>
                <a:ea typeface="微软雅黑" pitchFamily="34" charset="-122"/>
              </a:rPr>
              <a:t>MPLS </a:t>
            </a:r>
            <a:r>
              <a:rPr lang="zh-CN" altLang="en-US" sz="1400" dirty="0">
                <a:latin typeface="Montserrat" panose="00000500000000000000" pitchFamily="2" charset="0"/>
                <a:ea typeface="微软雅黑" pitchFamily="34" charset="-122"/>
              </a:rPr>
              <a:t>域以后的转发路径”称为显式路由选择 </a:t>
            </a:r>
            <a:r>
              <a:rPr lang="en-US" altLang="zh-CN" sz="1400" dirty="0">
                <a:latin typeface="Montserrat" panose="00000500000000000000" pitchFamily="2" charset="0"/>
                <a:ea typeface="微软雅黑" pitchFamily="34" charset="-122"/>
              </a:rPr>
              <a:t>(explicit routing)</a:t>
            </a:r>
          </a:p>
          <a:p>
            <a:pPr>
              <a:lnSpc>
                <a:spcPts val="2400"/>
              </a:lnSpc>
            </a:pPr>
            <a:r>
              <a:rPr lang="zh-CN" altLang="en-US" sz="1400" dirty="0">
                <a:latin typeface="Montserrat" panose="00000500000000000000" pitchFamily="2" charset="0"/>
                <a:ea typeface="微软雅黑" pitchFamily="34" charset="-122"/>
              </a:rPr>
              <a:t>与互联网中通常使用的“每一个路由器逐跳进行路由选择”有着很大的区别。</a:t>
            </a:r>
          </a:p>
        </p:txBody>
      </p:sp>
      <p:sp>
        <p:nvSpPr>
          <p:cNvPr id="5" name="标题 4">
            <a:extLst>
              <a:ext uri="{FF2B5EF4-FFF2-40B4-BE49-F238E27FC236}">
                <a16:creationId xmlns:a16="http://schemas.microsoft.com/office/drawing/2014/main" id="{7A5DC09B-516D-9313-DE87-4E75A653EAD7}"/>
              </a:ext>
            </a:extLst>
          </p:cNvPr>
          <p:cNvSpPr>
            <a:spLocks noGrp="1"/>
          </p:cNvSpPr>
          <p:nvPr>
            <p:ph type="title"/>
          </p:nvPr>
        </p:nvSpPr>
        <p:spPr>
          <a:xfrm>
            <a:off x="486000" y="550723"/>
            <a:ext cx="8172000" cy="338554"/>
          </a:xfrm>
        </p:spPr>
        <p:txBody>
          <a:bodyPr/>
          <a:lstStyle/>
          <a:p>
            <a:r>
              <a:rPr lang="en-US" altLang="zh-CN" dirty="0"/>
              <a:t>MPLS </a:t>
            </a:r>
            <a:r>
              <a:rPr lang="zh-CN" altLang="en-US" dirty="0"/>
              <a:t>的基本工作过程</a:t>
            </a:r>
          </a:p>
        </p:txBody>
      </p:sp>
    </p:spTree>
    <p:extLst>
      <p:ext uri="{BB962C8B-B14F-4D97-AF65-F5344CB8AC3E}">
        <p14:creationId xmlns:p14="http://schemas.microsoft.com/office/powerpoint/2010/main" val="4221894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DC546B-B6C4-C7FC-1A6E-9B8C06836A44}"/>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E7A0162D-1DA2-1E7A-3714-EAEB40C4EB4A}"/>
              </a:ext>
            </a:extLst>
          </p:cNvPr>
          <p:cNvSpPr>
            <a:spLocks noGrp="1"/>
          </p:cNvSpPr>
          <p:nvPr>
            <p:ph sz="quarter" idx="11"/>
          </p:nvPr>
        </p:nvSpPr>
        <p:spPr>
          <a:xfrm>
            <a:off x="486000" y="900000"/>
            <a:ext cx="8172000" cy="3703500"/>
          </a:xfrm>
        </p:spPr>
        <p:txBody>
          <a:bodyPr/>
          <a:lstStyle/>
          <a:p>
            <a:r>
              <a:rPr lang="zh-CN" altLang="en-US" dirty="0"/>
              <a:t>给 </a:t>
            </a:r>
            <a:r>
              <a:rPr lang="en-US" altLang="zh-CN" dirty="0"/>
              <a:t>IP </a:t>
            </a:r>
            <a:r>
              <a:rPr lang="zh-CN" altLang="en-US" dirty="0"/>
              <a:t>数据报打标签的过程叫做分类 </a:t>
            </a:r>
            <a:r>
              <a:rPr lang="en-US" altLang="zh-CN" dirty="0"/>
              <a:t>(classification)</a:t>
            </a:r>
          </a:p>
          <a:p>
            <a:pPr lvl="1"/>
            <a:r>
              <a:rPr lang="zh-CN" altLang="en-US" dirty="0"/>
              <a:t>第三层（网络层）分类：只使用 </a:t>
            </a:r>
            <a:r>
              <a:rPr lang="en-US" altLang="zh-CN" dirty="0"/>
              <a:t>IP </a:t>
            </a:r>
            <a:r>
              <a:rPr lang="zh-CN" altLang="en-US" dirty="0"/>
              <a:t>首部中的源和目的 </a:t>
            </a:r>
            <a:r>
              <a:rPr lang="en-US" altLang="zh-CN" dirty="0"/>
              <a:t>IP </a:t>
            </a:r>
            <a:r>
              <a:rPr lang="zh-CN" altLang="en-US" dirty="0"/>
              <a:t>地址等</a:t>
            </a:r>
            <a:endParaRPr lang="en-US" altLang="zh-CN" dirty="0"/>
          </a:p>
          <a:p>
            <a:pPr lvl="1"/>
            <a:r>
              <a:rPr lang="zh-CN" altLang="en-US" dirty="0"/>
              <a:t>大多数运营商实现了第四层（运输层）分类：除了要检查 </a:t>
            </a:r>
            <a:r>
              <a:rPr lang="en-US" altLang="zh-CN" dirty="0"/>
              <a:t>IP </a:t>
            </a:r>
            <a:r>
              <a:rPr lang="zh-CN" altLang="en-US" dirty="0"/>
              <a:t>首部外，运输层还要检查 </a:t>
            </a:r>
            <a:r>
              <a:rPr lang="en-US" altLang="zh-CN" dirty="0"/>
              <a:t>TCP </a:t>
            </a:r>
            <a:r>
              <a:rPr lang="zh-CN" altLang="en-US" dirty="0"/>
              <a:t>或 </a:t>
            </a:r>
            <a:r>
              <a:rPr lang="en-US" altLang="zh-CN" dirty="0"/>
              <a:t>UDP </a:t>
            </a:r>
            <a:r>
              <a:rPr lang="zh-CN" altLang="en-US" dirty="0"/>
              <a:t>端口号</a:t>
            </a:r>
            <a:endParaRPr lang="en-US" altLang="zh-CN" dirty="0"/>
          </a:p>
          <a:p>
            <a:pPr lvl="1"/>
            <a:r>
              <a:rPr lang="zh-CN" altLang="en-US" dirty="0"/>
              <a:t>有些运营商则实现了第五层（应用层）分类：进一步地检查数据报的内部并考虑其有效载荷</a:t>
            </a:r>
            <a:endParaRPr lang="en-US" altLang="zh-CN" dirty="0"/>
          </a:p>
          <a:p>
            <a:endParaRPr lang="zh-CN" altLang="en-US" dirty="0"/>
          </a:p>
        </p:txBody>
      </p:sp>
    </p:spTree>
    <p:extLst>
      <p:ext uri="{BB962C8B-B14F-4D97-AF65-F5344CB8AC3E}">
        <p14:creationId xmlns:p14="http://schemas.microsoft.com/office/powerpoint/2010/main" val="15436867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AA5E2FA-6C6B-1012-585A-77CE5E09CC3A}"/>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8583F822-C225-42DC-23AB-2910C47C4F15}"/>
              </a:ext>
            </a:extLst>
          </p:cNvPr>
          <p:cNvSpPr>
            <a:spLocks noGrp="1"/>
          </p:cNvSpPr>
          <p:nvPr>
            <p:ph sz="quarter" idx="11"/>
          </p:nvPr>
        </p:nvSpPr>
        <p:spPr>
          <a:xfrm>
            <a:off x="486000" y="900000"/>
            <a:ext cx="8172000" cy="3703500"/>
          </a:xfrm>
        </p:spPr>
        <p:txBody>
          <a:bodyPr/>
          <a:lstStyle/>
          <a:p>
            <a:r>
              <a:rPr lang="zh-CN" altLang="en-US" dirty="0"/>
              <a:t>转发等价类 </a:t>
            </a:r>
            <a:r>
              <a:rPr lang="en-US" altLang="zh-CN" dirty="0"/>
              <a:t>FEC</a:t>
            </a:r>
            <a:r>
              <a:rPr lang="zh-CN" altLang="en-US" dirty="0"/>
              <a:t> </a:t>
            </a:r>
            <a:r>
              <a:rPr lang="en-US" altLang="zh-CN" dirty="0"/>
              <a:t>(Forwarding Equivalence Class) </a:t>
            </a:r>
            <a:r>
              <a:rPr lang="zh-CN" altLang="en-US" dirty="0"/>
              <a:t>：路由器按照同样方式对待的分组的集合</a:t>
            </a:r>
            <a:endParaRPr lang="en-US" altLang="zh-CN" dirty="0"/>
          </a:p>
          <a:p>
            <a:r>
              <a:rPr lang="zh-CN" altLang="en-US" dirty="0"/>
              <a:t>按照同样方式对待含义：从同样接口转发到同样的下一跳地址，并且具有同样服务类别和同样丢弃优先级等</a:t>
            </a:r>
            <a:endParaRPr lang="en-US" altLang="zh-CN" dirty="0"/>
          </a:p>
          <a:p>
            <a:r>
              <a:rPr lang="zh-CN" altLang="en-US" dirty="0"/>
              <a:t>例如：</a:t>
            </a:r>
            <a:endParaRPr lang="en-US" altLang="zh-CN" dirty="0"/>
          </a:p>
          <a:p>
            <a:pPr lvl="1"/>
            <a:r>
              <a:rPr lang="en-US" altLang="zh-CN" dirty="0"/>
              <a:t>(1) </a:t>
            </a:r>
            <a:r>
              <a:rPr lang="zh-CN" altLang="en-US" dirty="0"/>
              <a:t>目的 </a:t>
            </a:r>
            <a:r>
              <a:rPr lang="en-US" altLang="zh-CN" dirty="0"/>
              <a:t>IP </a:t>
            </a:r>
            <a:r>
              <a:rPr lang="zh-CN" altLang="en-US" dirty="0"/>
              <a:t>地址与某一个特定 </a:t>
            </a:r>
            <a:r>
              <a:rPr lang="en-US" altLang="zh-CN" dirty="0"/>
              <a:t>IP </a:t>
            </a:r>
            <a:r>
              <a:rPr lang="zh-CN" altLang="en-US" dirty="0"/>
              <a:t>地址的前缀匹配的 </a:t>
            </a:r>
            <a:r>
              <a:rPr lang="en-US" altLang="zh-CN" dirty="0"/>
              <a:t>IP </a:t>
            </a:r>
            <a:r>
              <a:rPr lang="zh-CN" altLang="en-US" dirty="0"/>
              <a:t>数据报</a:t>
            </a:r>
          </a:p>
          <a:p>
            <a:pPr lvl="1"/>
            <a:r>
              <a:rPr lang="en-US" altLang="zh-CN" dirty="0"/>
              <a:t>(2) </a:t>
            </a:r>
            <a:r>
              <a:rPr lang="zh-CN" altLang="en-US" dirty="0"/>
              <a:t>所有源地址与目的地址都相同的 </a:t>
            </a:r>
            <a:r>
              <a:rPr lang="en-US" altLang="zh-CN" dirty="0"/>
              <a:t>IP </a:t>
            </a:r>
            <a:r>
              <a:rPr lang="zh-CN" altLang="en-US" dirty="0"/>
              <a:t>数据报</a:t>
            </a:r>
          </a:p>
          <a:p>
            <a:pPr lvl="1"/>
            <a:r>
              <a:rPr lang="en-US" altLang="zh-CN" dirty="0"/>
              <a:t>(3) </a:t>
            </a:r>
            <a:r>
              <a:rPr lang="zh-CN" altLang="en-US" dirty="0"/>
              <a:t>具有某种服务质量需求的 </a:t>
            </a:r>
            <a:r>
              <a:rPr lang="en-US" altLang="zh-CN" dirty="0"/>
              <a:t>IP </a:t>
            </a:r>
            <a:r>
              <a:rPr lang="zh-CN" altLang="en-US" dirty="0"/>
              <a:t>数据报</a:t>
            </a:r>
          </a:p>
          <a:p>
            <a:endParaRPr lang="zh-CN" altLang="en-US" dirty="0"/>
          </a:p>
        </p:txBody>
      </p:sp>
    </p:spTree>
    <p:extLst>
      <p:ext uri="{BB962C8B-B14F-4D97-AF65-F5344CB8AC3E}">
        <p14:creationId xmlns:p14="http://schemas.microsoft.com/office/powerpoint/2010/main" val="4026232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160560683"/>
              </p:ext>
            </p:extLst>
          </p:nvPr>
        </p:nvGraphicFramePr>
        <p:xfrm>
          <a:off x="-86907" y="1204880"/>
          <a:ext cx="9528858" cy="251609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64216115-3E61-6D5C-37C1-D4FA75A40640}"/>
              </a:ext>
            </a:extLst>
          </p:cNvPr>
          <p:cNvSpPr>
            <a:spLocks noGrp="1"/>
          </p:cNvSpPr>
          <p:nvPr>
            <p:ph type="title"/>
          </p:nvPr>
        </p:nvSpPr>
        <p:spPr>
          <a:xfrm>
            <a:off x="486000" y="550723"/>
            <a:ext cx="8172000" cy="338554"/>
          </a:xfrm>
        </p:spPr>
        <p:txBody>
          <a:bodyPr/>
          <a:lstStyle/>
          <a:p>
            <a:r>
              <a:rPr lang="en-US" altLang="zh-CN" dirty="0"/>
              <a:t>2. </a:t>
            </a:r>
            <a:r>
              <a:rPr lang="zh-CN" altLang="en-US" dirty="0"/>
              <a:t>转发等价类 </a:t>
            </a:r>
            <a:r>
              <a:rPr lang="en-US" altLang="zh-CN" dirty="0"/>
              <a:t>FEC</a:t>
            </a:r>
            <a:endParaRPr lang="zh-CN" altLang="en-US" dirty="0"/>
          </a:p>
        </p:txBody>
      </p:sp>
    </p:spTree>
    <p:extLst>
      <p:ext uri="{BB962C8B-B14F-4D97-AF65-F5344CB8AC3E}">
        <p14:creationId xmlns:p14="http://schemas.microsoft.com/office/powerpoint/2010/main" val="2800984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2077203" y="1057327"/>
            <a:ext cx="5005539" cy="1400979"/>
            <a:chOff x="844070" y="1216619"/>
            <a:chExt cx="8454080" cy="2366178"/>
          </a:xfrm>
        </p:grpSpPr>
        <p:sp>
          <p:nvSpPr>
            <p:cNvPr id="6" name="Line 3"/>
            <p:cNvSpPr>
              <a:spLocks noChangeShapeType="1"/>
            </p:cNvSpPr>
            <p:nvPr/>
          </p:nvSpPr>
          <p:spPr bwMode="auto">
            <a:xfrm>
              <a:off x="1736750" y="1510305"/>
              <a:ext cx="1061112" cy="5476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flipV="1">
              <a:off x="1736749" y="2097680"/>
              <a:ext cx="1176338" cy="788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2976720" y="1523005"/>
              <a:ext cx="2325158" cy="534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6"/>
            <p:cNvSpPr>
              <a:spLocks noChangeShapeType="1"/>
            </p:cNvSpPr>
            <p:nvPr/>
          </p:nvSpPr>
          <p:spPr bwMode="auto">
            <a:xfrm>
              <a:off x="5367230" y="1510306"/>
              <a:ext cx="1795463" cy="65881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Line 7"/>
            <p:cNvSpPr>
              <a:spLocks noChangeShapeType="1"/>
            </p:cNvSpPr>
            <p:nvPr/>
          </p:nvSpPr>
          <p:spPr bwMode="auto">
            <a:xfrm>
              <a:off x="2887291" y="2057993"/>
              <a:ext cx="1128183" cy="78581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Line 8"/>
            <p:cNvSpPr>
              <a:spLocks noChangeShapeType="1"/>
            </p:cNvSpPr>
            <p:nvPr/>
          </p:nvSpPr>
          <p:spPr bwMode="auto">
            <a:xfrm flipV="1">
              <a:off x="4125541" y="2843806"/>
              <a:ext cx="2178976" cy="4286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9"/>
            <p:cNvSpPr>
              <a:spLocks noChangeShapeType="1"/>
            </p:cNvSpPr>
            <p:nvPr/>
          </p:nvSpPr>
          <p:spPr bwMode="auto">
            <a:xfrm flipV="1">
              <a:off x="6519491" y="2169118"/>
              <a:ext cx="727471" cy="62706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0"/>
            <p:cNvSpPr>
              <a:spLocks noChangeShapeType="1"/>
            </p:cNvSpPr>
            <p:nvPr/>
          </p:nvSpPr>
          <p:spPr bwMode="auto">
            <a:xfrm flipV="1">
              <a:off x="7319193" y="1553168"/>
              <a:ext cx="990600" cy="59690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Line 11"/>
            <p:cNvSpPr>
              <a:spLocks noChangeShapeType="1"/>
            </p:cNvSpPr>
            <p:nvPr/>
          </p:nvSpPr>
          <p:spPr bwMode="auto">
            <a:xfrm>
              <a:off x="7315754" y="2197694"/>
              <a:ext cx="925248" cy="61753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pic>
          <p:nvPicPr>
            <p:cNvPr id="15"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20723" y="1967505"/>
              <a:ext cx="53829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6" name="Picture 1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77252"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7" name="Picture 1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4703"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 name="Picture 1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61477" y="2057993"/>
              <a:ext cx="536575" cy="258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9" name="Picture 1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07793" y="1415055"/>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4" name="Freeform 21"/>
            <p:cNvSpPr>
              <a:spLocks/>
            </p:cNvSpPr>
            <p:nvPr/>
          </p:nvSpPr>
          <p:spPr bwMode="auto">
            <a:xfrm>
              <a:off x="3231249" y="1322981"/>
              <a:ext cx="3740546" cy="631825"/>
            </a:xfrm>
            <a:custGeom>
              <a:avLst/>
              <a:gdLst>
                <a:gd name="T0" fmla="*/ 0 w 2028"/>
                <a:gd name="T1" fmla="*/ 252 h 330"/>
                <a:gd name="T2" fmla="*/ 174 w 2028"/>
                <a:gd name="T3" fmla="*/ 210 h 330"/>
                <a:gd name="T4" fmla="*/ 357 w 2028"/>
                <a:gd name="T5" fmla="*/ 164 h 330"/>
                <a:gd name="T6" fmla="*/ 634 w 2028"/>
                <a:gd name="T7" fmla="*/ 97 h 330"/>
                <a:gd name="T8" fmla="*/ 1098 w 2028"/>
                <a:gd name="T9" fmla="*/ 6 h 330"/>
                <a:gd name="T10" fmla="*/ 1374 w 2028"/>
                <a:gd name="T11" fmla="*/ 60 h 330"/>
                <a:gd name="T12" fmla="*/ 1531 w 2028"/>
                <a:gd name="T13" fmla="*/ 119 h 330"/>
                <a:gd name="T14" fmla="*/ 1746 w 2028"/>
                <a:gd name="T15" fmla="*/ 210 h 330"/>
                <a:gd name="T16" fmla="*/ 2028 w 2028"/>
                <a:gd name="T17" fmla="*/ 330 h 3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028" h="330">
                  <a:moveTo>
                    <a:pt x="0" y="252"/>
                  </a:moveTo>
                  <a:cubicBezTo>
                    <a:pt x="28" y="245"/>
                    <a:pt x="115" y="225"/>
                    <a:pt x="174" y="210"/>
                  </a:cubicBezTo>
                  <a:cubicBezTo>
                    <a:pt x="233" y="195"/>
                    <a:pt x="280" y="183"/>
                    <a:pt x="357" y="164"/>
                  </a:cubicBezTo>
                  <a:cubicBezTo>
                    <a:pt x="434" y="145"/>
                    <a:pt x="511" y="123"/>
                    <a:pt x="634" y="97"/>
                  </a:cubicBezTo>
                  <a:cubicBezTo>
                    <a:pt x="757" y="71"/>
                    <a:pt x="975" y="12"/>
                    <a:pt x="1098" y="6"/>
                  </a:cubicBezTo>
                  <a:cubicBezTo>
                    <a:pt x="1221" y="0"/>
                    <a:pt x="1302" y="41"/>
                    <a:pt x="1374" y="60"/>
                  </a:cubicBezTo>
                  <a:cubicBezTo>
                    <a:pt x="1446" y="79"/>
                    <a:pt x="1469" y="94"/>
                    <a:pt x="1531" y="119"/>
                  </a:cubicBezTo>
                  <a:cubicBezTo>
                    <a:pt x="1593" y="144"/>
                    <a:pt x="1663" y="175"/>
                    <a:pt x="1746" y="210"/>
                  </a:cubicBezTo>
                  <a:cubicBezTo>
                    <a:pt x="1829" y="245"/>
                    <a:pt x="1969" y="305"/>
                    <a:pt x="2028" y="330"/>
                  </a:cubicBezTo>
                </a:path>
              </a:pathLst>
            </a:custGeom>
            <a:noFill/>
            <a:ln w="5715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2"/>
            <p:cNvSpPr>
              <a:spLocks noChangeShapeType="1"/>
            </p:cNvSpPr>
            <p:nvPr/>
          </p:nvSpPr>
          <p:spPr bwMode="auto">
            <a:xfrm>
              <a:off x="2089307" y="1510305"/>
              <a:ext cx="687917" cy="376238"/>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3"/>
            <p:cNvSpPr>
              <a:spLocks noChangeShapeType="1"/>
            </p:cNvSpPr>
            <p:nvPr/>
          </p:nvSpPr>
          <p:spPr bwMode="auto">
            <a:xfrm>
              <a:off x="7293397" y="2381843"/>
              <a:ext cx="665559" cy="457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4"/>
            <p:cNvSpPr>
              <a:spLocks noChangeShapeType="1"/>
            </p:cNvSpPr>
            <p:nvPr/>
          </p:nvSpPr>
          <p:spPr bwMode="auto">
            <a:xfrm flipV="1">
              <a:off x="2022235" y="2150069"/>
              <a:ext cx="498740" cy="331787"/>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5"/>
            <p:cNvSpPr>
              <a:spLocks noChangeShapeType="1"/>
            </p:cNvSpPr>
            <p:nvPr/>
          </p:nvSpPr>
          <p:spPr bwMode="auto">
            <a:xfrm flipV="1">
              <a:off x="7319193" y="1576981"/>
              <a:ext cx="675879" cy="390525"/>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6"/>
            <p:cNvSpPr txBox="1">
              <a:spLocks noChangeArrowheads="1"/>
            </p:cNvSpPr>
            <p:nvPr/>
          </p:nvSpPr>
          <p:spPr bwMode="auto">
            <a:xfrm>
              <a:off x="6894404" y="1534119"/>
              <a:ext cx="514946"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30" name="Text Box 27"/>
            <p:cNvSpPr txBox="1">
              <a:spLocks noChangeArrowheads="1"/>
            </p:cNvSpPr>
            <p:nvPr/>
          </p:nvSpPr>
          <p:spPr bwMode="auto">
            <a:xfrm>
              <a:off x="5021552" y="1622189"/>
              <a:ext cx="52036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B</a:t>
              </a:r>
            </a:p>
          </p:txBody>
        </p:sp>
        <p:sp>
          <p:nvSpPr>
            <p:cNvPr id="31" name="Text Box 28"/>
            <p:cNvSpPr txBox="1">
              <a:spLocks noChangeArrowheads="1"/>
            </p:cNvSpPr>
            <p:nvPr/>
          </p:nvSpPr>
          <p:spPr bwMode="auto">
            <a:xfrm>
              <a:off x="2677476" y="1438869"/>
              <a:ext cx="53931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32" name="Text Box 29"/>
            <p:cNvSpPr txBox="1">
              <a:spLocks noChangeArrowheads="1"/>
            </p:cNvSpPr>
            <p:nvPr/>
          </p:nvSpPr>
          <p:spPr bwMode="auto">
            <a:xfrm>
              <a:off x="866428" y="12166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33" name="Text Box 30"/>
            <p:cNvSpPr txBox="1">
              <a:spLocks noChangeArrowheads="1"/>
            </p:cNvSpPr>
            <p:nvPr/>
          </p:nvSpPr>
          <p:spPr bwMode="auto">
            <a:xfrm>
              <a:off x="6209929" y="2283418"/>
              <a:ext cx="485163"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34" name="Text Box 31"/>
            <p:cNvSpPr txBox="1">
              <a:spLocks noChangeArrowheads="1"/>
            </p:cNvSpPr>
            <p:nvPr/>
          </p:nvSpPr>
          <p:spPr bwMode="auto">
            <a:xfrm>
              <a:off x="3760945" y="2204044"/>
              <a:ext cx="55284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35" name="Text Box 32"/>
            <p:cNvSpPr txBox="1">
              <a:spLocks noChangeArrowheads="1"/>
            </p:cNvSpPr>
            <p:nvPr/>
          </p:nvSpPr>
          <p:spPr bwMode="auto">
            <a:xfrm>
              <a:off x="844070" y="2375494"/>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36" name="Text Box 33"/>
            <p:cNvSpPr txBox="1">
              <a:spLocks noChangeArrowheads="1"/>
            </p:cNvSpPr>
            <p:nvPr/>
          </p:nvSpPr>
          <p:spPr bwMode="auto">
            <a:xfrm>
              <a:off x="8612641" y="1256306"/>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3</a:t>
              </a:r>
            </a:p>
          </p:txBody>
        </p:sp>
        <p:sp>
          <p:nvSpPr>
            <p:cNvPr id="37" name="Text Box 34"/>
            <p:cNvSpPr txBox="1">
              <a:spLocks noChangeArrowheads="1"/>
            </p:cNvSpPr>
            <p:nvPr/>
          </p:nvSpPr>
          <p:spPr bwMode="auto">
            <a:xfrm>
              <a:off x="8579965" y="24612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38" name="Text Box 35"/>
            <p:cNvSpPr txBox="1">
              <a:spLocks noChangeArrowheads="1"/>
            </p:cNvSpPr>
            <p:nvPr/>
          </p:nvSpPr>
          <p:spPr bwMode="auto">
            <a:xfrm>
              <a:off x="1683219" y="3062978"/>
              <a:ext cx="687730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传统路由选择协议使最短路径 </a:t>
              </a:r>
              <a:r>
                <a:rPr kumimoji="1" lang="en-US" altLang="zh-CN" sz="1400" b="1" dirty="0">
                  <a:latin typeface="微软雅黑" pitchFamily="34" charset="-122"/>
                  <a:ea typeface="微软雅黑" pitchFamily="34" charset="-122"/>
                </a:rPr>
                <a:t>A→B→C </a:t>
              </a:r>
              <a:r>
                <a:rPr kumimoji="1" lang="zh-CN" altLang="en-US" sz="1400" b="1" dirty="0">
                  <a:latin typeface="微软雅黑" pitchFamily="34" charset="-122"/>
                  <a:ea typeface="微软雅黑" pitchFamily="34" charset="-122"/>
                </a:rPr>
                <a:t>过载 </a:t>
              </a:r>
            </a:p>
          </p:txBody>
        </p:sp>
      </p:grpSp>
      <p:pic>
        <p:nvPicPr>
          <p:cNvPr id="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83314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833148"/>
            <a:ext cx="367811" cy="367811"/>
          </a:xfrm>
          <a:prstGeom prst="rect">
            <a:avLst/>
          </a:prstGeom>
          <a:noFill/>
          <a:extLst>
            <a:ext uri="{909E8E84-426E-40DD-AFC4-6F175D3DCCD1}">
              <a14:hiddenFill xmlns:a14="http://schemas.microsoft.com/office/drawing/2010/main">
                <a:solidFill>
                  <a:srgbClr val="FFFFFF"/>
                </a:solidFill>
              </a14:hiddenFill>
            </a:ext>
          </a:extLst>
        </p:spPr>
      </p:pic>
      <p:grpSp>
        <p:nvGrpSpPr>
          <p:cNvPr id="79" name="组合 78"/>
          <p:cNvGrpSpPr/>
          <p:nvPr/>
        </p:nvGrpSpPr>
        <p:grpSpPr>
          <a:xfrm>
            <a:off x="2073199" y="2513283"/>
            <a:ext cx="5004768" cy="1672143"/>
            <a:chOff x="2073199" y="2603813"/>
            <a:chExt cx="5004768" cy="1672143"/>
          </a:xfrm>
        </p:grpSpPr>
        <p:grpSp>
          <p:nvGrpSpPr>
            <p:cNvPr id="39" name="Group 36"/>
            <p:cNvGrpSpPr>
              <a:grpSpLocks/>
            </p:cNvGrpSpPr>
            <p:nvPr/>
          </p:nvGrpSpPr>
          <p:grpSpPr bwMode="auto">
            <a:xfrm>
              <a:off x="2073199" y="2603813"/>
              <a:ext cx="5004768" cy="1672143"/>
              <a:chOff x="477" y="2240"/>
              <a:chExt cx="4915" cy="1779"/>
            </a:xfrm>
          </p:grpSpPr>
          <p:sp>
            <p:nvSpPr>
              <p:cNvPr id="40" name="Line 37"/>
              <p:cNvSpPr>
                <a:spLocks noChangeShapeType="1"/>
              </p:cNvSpPr>
              <p:nvPr/>
            </p:nvSpPr>
            <p:spPr bwMode="auto">
              <a:xfrm>
                <a:off x="1000" y="2621"/>
                <a:ext cx="617" cy="34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1" name="Line 38"/>
              <p:cNvSpPr>
                <a:spLocks noChangeShapeType="1"/>
              </p:cNvSpPr>
              <p:nvPr/>
            </p:nvSpPr>
            <p:spPr bwMode="auto">
              <a:xfrm flipV="1">
                <a:off x="1000" y="2993"/>
                <a:ext cx="684" cy="49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39"/>
              <p:cNvSpPr>
                <a:spLocks noChangeShapeType="1"/>
              </p:cNvSpPr>
              <p:nvPr/>
            </p:nvSpPr>
            <p:spPr bwMode="auto">
              <a:xfrm flipV="1">
                <a:off x="1721" y="2630"/>
                <a:ext cx="1352" cy="33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Line 40"/>
              <p:cNvSpPr>
                <a:spLocks noChangeShapeType="1"/>
              </p:cNvSpPr>
              <p:nvPr/>
            </p:nvSpPr>
            <p:spPr bwMode="auto">
              <a:xfrm>
                <a:off x="3111" y="2621"/>
                <a:ext cx="1044" cy="41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4" name="Line 41"/>
              <p:cNvSpPr>
                <a:spLocks noChangeShapeType="1"/>
              </p:cNvSpPr>
              <p:nvPr/>
            </p:nvSpPr>
            <p:spPr bwMode="auto">
              <a:xfrm>
                <a:off x="1669" y="2968"/>
                <a:ext cx="656" cy="494"/>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42"/>
              <p:cNvSpPr>
                <a:spLocks noChangeShapeType="1"/>
              </p:cNvSpPr>
              <p:nvPr/>
            </p:nvSpPr>
            <p:spPr bwMode="auto">
              <a:xfrm flipV="1">
                <a:off x="2389" y="3478"/>
                <a:ext cx="1339" cy="1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43"/>
              <p:cNvSpPr>
                <a:spLocks noChangeShapeType="1"/>
              </p:cNvSpPr>
              <p:nvPr/>
            </p:nvSpPr>
            <p:spPr bwMode="auto">
              <a:xfrm flipV="1">
                <a:off x="3781" y="3036"/>
                <a:ext cx="423" cy="396"/>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7" name="Line 44"/>
              <p:cNvSpPr>
                <a:spLocks noChangeShapeType="1"/>
              </p:cNvSpPr>
              <p:nvPr/>
            </p:nvSpPr>
            <p:spPr bwMode="auto">
              <a:xfrm flipV="1">
                <a:off x="4246" y="2650"/>
                <a:ext cx="576" cy="3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45"/>
              <p:cNvSpPr>
                <a:spLocks noChangeShapeType="1"/>
              </p:cNvSpPr>
              <p:nvPr/>
            </p:nvSpPr>
            <p:spPr bwMode="auto">
              <a:xfrm>
                <a:off x="4244" y="3056"/>
                <a:ext cx="538" cy="38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Text Box 50"/>
              <p:cNvSpPr txBox="1">
                <a:spLocks noChangeArrowheads="1"/>
              </p:cNvSpPr>
              <p:nvPr/>
            </p:nvSpPr>
            <p:spPr bwMode="auto">
              <a:xfrm>
                <a:off x="4052" y="2506"/>
                <a:ext cx="2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54" name="Text Box 51"/>
              <p:cNvSpPr txBox="1">
                <a:spLocks noChangeArrowheads="1"/>
              </p:cNvSpPr>
              <p:nvPr/>
            </p:nvSpPr>
            <p:spPr bwMode="auto">
              <a:xfrm>
                <a:off x="2683" y="2240"/>
                <a:ext cx="303"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B</a:t>
                </a:r>
              </a:p>
            </p:txBody>
          </p:sp>
          <p:sp>
            <p:nvSpPr>
              <p:cNvPr id="55" name="Text Box 52"/>
              <p:cNvSpPr txBox="1">
                <a:spLocks noChangeArrowheads="1"/>
              </p:cNvSpPr>
              <p:nvPr/>
            </p:nvSpPr>
            <p:spPr bwMode="auto">
              <a:xfrm>
                <a:off x="1518" y="2461"/>
                <a:ext cx="314"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56" name="Text Box 53"/>
              <p:cNvSpPr txBox="1">
                <a:spLocks noChangeArrowheads="1"/>
              </p:cNvSpPr>
              <p:nvPr/>
            </p:nvSpPr>
            <p:spPr bwMode="auto">
              <a:xfrm>
                <a:off x="484" y="2426"/>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57" name="Text Box 54"/>
              <p:cNvSpPr txBox="1">
                <a:spLocks noChangeArrowheads="1"/>
              </p:cNvSpPr>
              <p:nvPr/>
            </p:nvSpPr>
            <p:spPr bwMode="auto">
              <a:xfrm>
                <a:off x="477" y="3180"/>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58" name="Text Box 55"/>
              <p:cNvSpPr txBox="1">
                <a:spLocks noChangeArrowheads="1"/>
              </p:cNvSpPr>
              <p:nvPr/>
            </p:nvSpPr>
            <p:spPr bwMode="auto">
              <a:xfrm>
                <a:off x="4993" y="2467"/>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3</a:t>
                </a:r>
              </a:p>
            </p:txBody>
          </p:sp>
          <p:sp>
            <p:nvSpPr>
              <p:cNvPr id="59" name="Text Box 56"/>
              <p:cNvSpPr txBox="1">
                <a:spLocks noChangeArrowheads="1"/>
              </p:cNvSpPr>
              <p:nvPr/>
            </p:nvSpPr>
            <p:spPr bwMode="auto">
              <a:xfrm>
                <a:off x="4972" y="3225"/>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60" name="Text Box 57"/>
              <p:cNvSpPr txBox="1">
                <a:spLocks noChangeArrowheads="1"/>
              </p:cNvSpPr>
              <p:nvPr/>
            </p:nvSpPr>
            <p:spPr bwMode="auto">
              <a:xfrm>
                <a:off x="2196" y="2971"/>
                <a:ext cx="321"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61" name="Text Box 58"/>
              <p:cNvSpPr txBox="1">
                <a:spLocks noChangeArrowheads="1"/>
              </p:cNvSpPr>
              <p:nvPr/>
            </p:nvSpPr>
            <p:spPr bwMode="auto">
              <a:xfrm>
                <a:off x="3569" y="2893"/>
                <a:ext cx="282"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62" name="Text Box 59"/>
              <p:cNvSpPr txBox="1">
                <a:spLocks noChangeArrowheads="1"/>
              </p:cNvSpPr>
              <p:nvPr/>
            </p:nvSpPr>
            <p:spPr bwMode="auto">
              <a:xfrm>
                <a:off x="1150" y="3692"/>
                <a:ext cx="397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设置两种 </a:t>
                </a:r>
                <a:r>
                  <a:rPr kumimoji="1" lang="en-US" altLang="zh-CN" sz="1400" b="1" dirty="0">
                    <a:latin typeface="微软雅黑" pitchFamily="34" charset="-122"/>
                    <a:ea typeface="微软雅黑" pitchFamily="34" charset="-122"/>
                  </a:rPr>
                  <a:t>FEC</a:t>
                </a:r>
                <a:r>
                  <a:rPr kumimoji="1" lang="zh-CN" altLang="en-US" sz="1400" b="1" dirty="0">
                    <a:latin typeface="微软雅黑" pitchFamily="34" charset="-122"/>
                    <a:ea typeface="微软雅黑" pitchFamily="34" charset="-122"/>
                  </a:rPr>
                  <a:t>，利用 </a:t>
                </a:r>
                <a:r>
                  <a:rPr kumimoji="1" lang="en-US" altLang="zh-CN" sz="1400" b="1" dirty="0">
                    <a:latin typeface="微软雅黑" pitchFamily="34" charset="-122"/>
                    <a:ea typeface="微软雅黑" pitchFamily="34" charset="-122"/>
                  </a:rPr>
                  <a:t>FEC </a:t>
                </a:r>
                <a:r>
                  <a:rPr kumimoji="1" lang="zh-CN" altLang="en-US" sz="1400" b="1" dirty="0">
                    <a:latin typeface="微软雅黑" pitchFamily="34" charset="-122"/>
                    <a:ea typeface="微软雅黑" pitchFamily="34" charset="-122"/>
                  </a:rPr>
                  <a:t>使通信量较为均衡 </a:t>
                </a:r>
              </a:p>
            </p:txBody>
          </p:sp>
          <p:pic>
            <p:nvPicPr>
              <p:cNvPr id="63" name="Picture 6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59" y="283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4" name="Picture 6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265" y="329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5" name="Picture 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71" y="2460"/>
                <a:ext cx="259" cy="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6" name="Picture 6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28" y="332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3" y="2910"/>
                <a:ext cx="259"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8" name="Freeform 65"/>
              <p:cNvSpPr>
                <a:spLocks/>
              </p:cNvSpPr>
              <p:nvPr/>
            </p:nvSpPr>
            <p:spPr bwMode="auto">
              <a:xfrm>
                <a:off x="1200" y="2545"/>
                <a:ext cx="3463" cy="393"/>
              </a:xfrm>
              <a:custGeom>
                <a:avLst/>
                <a:gdLst>
                  <a:gd name="T0" fmla="*/ 0 w 3228"/>
                  <a:gd name="T1" fmla="*/ 96 h 326"/>
                  <a:gd name="T2" fmla="*/ 288 w 3228"/>
                  <a:gd name="T3" fmla="*/ 234 h 326"/>
                  <a:gd name="T4" fmla="*/ 480 w 3228"/>
                  <a:gd name="T5" fmla="*/ 264 h 326"/>
                  <a:gd name="T6" fmla="*/ 792 w 3228"/>
                  <a:gd name="T7" fmla="*/ 210 h 326"/>
                  <a:gd name="T8" fmla="*/ 975 w 3228"/>
                  <a:gd name="T9" fmla="*/ 164 h 326"/>
                  <a:gd name="T10" fmla="*/ 1252 w 3228"/>
                  <a:gd name="T11" fmla="*/ 97 h 326"/>
                  <a:gd name="T12" fmla="*/ 1716 w 3228"/>
                  <a:gd name="T13" fmla="*/ 6 h 326"/>
                  <a:gd name="T14" fmla="*/ 1992 w 3228"/>
                  <a:gd name="T15" fmla="*/ 60 h 326"/>
                  <a:gd name="T16" fmla="*/ 2149 w 3228"/>
                  <a:gd name="T17" fmla="*/ 119 h 326"/>
                  <a:gd name="T18" fmla="*/ 2364 w 3228"/>
                  <a:gd name="T19" fmla="*/ 210 h 326"/>
                  <a:gd name="T20" fmla="*/ 2646 w 3228"/>
                  <a:gd name="T21" fmla="*/ 312 h 326"/>
                  <a:gd name="T22" fmla="*/ 2874 w 3228"/>
                  <a:gd name="T23" fmla="*/ 294 h 326"/>
                  <a:gd name="T24" fmla="*/ 3060 w 3228"/>
                  <a:gd name="T25" fmla="*/ 204 h 326"/>
                  <a:gd name="T26" fmla="*/ 3228 w 3228"/>
                  <a:gd name="T27" fmla="*/ 108 h 3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28" h="326">
                    <a:moveTo>
                      <a:pt x="0" y="96"/>
                    </a:moveTo>
                    <a:cubicBezTo>
                      <a:pt x="49" y="119"/>
                      <a:pt x="208" y="206"/>
                      <a:pt x="288" y="234"/>
                    </a:cubicBezTo>
                    <a:cubicBezTo>
                      <a:pt x="368" y="262"/>
                      <a:pt x="396" y="268"/>
                      <a:pt x="480" y="264"/>
                    </a:cubicBezTo>
                    <a:cubicBezTo>
                      <a:pt x="564" y="260"/>
                      <a:pt x="710" y="227"/>
                      <a:pt x="792" y="210"/>
                    </a:cubicBezTo>
                    <a:cubicBezTo>
                      <a:pt x="874" y="193"/>
                      <a:pt x="898" y="183"/>
                      <a:pt x="975" y="164"/>
                    </a:cubicBezTo>
                    <a:cubicBezTo>
                      <a:pt x="1052" y="145"/>
                      <a:pt x="1129" y="123"/>
                      <a:pt x="1252" y="97"/>
                    </a:cubicBezTo>
                    <a:cubicBezTo>
                      <a:pt x="1375" y="71"/>
                      <a:pt x="1593" y="12"/>
                      <a:pt x="1716" y="6"/>
                    </a:cubicBezTo>
                    <a:cubicBezTo>
                      <a:pt x="1839" y="0"/>
                      <a:pt x="1920" y="41"/>
                      <a:pt x="1992" y="60"/>
                    </a:cubicBezTo>
                    <a:cubicBezTo>
                      <a:pt x="2064" y="79"/>
                      <a:pt x="2087" y="94"/>
                      <a:pt x="2149" y="119"/>
                    </a:cubicBezTo>
                    <a:cubicBezTo>
                      <a:pt x="2211" y="144"/>
                      <a:pt x="2281" y="178"/>
                      <a:pt x="2364" y="210"/>
                    </a:cubicBezTo>
                    <a:cubicBezTo>
                      <a:pt x="2447" y="242"/>
                      <a:pt x="2561" y="298"/>
                      <a:pt x="2646" y="312"/>
                    </a:cubicBezTo>
                    <a:cubicBezTo>
                      <a:pt x="2731" y="326"/>
                      <a:pt x="2805" y="312"/>
                      <a:pt x="2874" y="294"/>
                    </a:cubicBezTo>
                    <a:cubicBezTo>
                      <a:pt x="2943" y="276"/>
                      <a:pt x="3001" y="235"/>
                      <a:pt x="3060" y="204"/>
                    </a:cubicBezTo>
                    <a:cubicBezTo>
                      <a:pt x="3119" y="173"/>
                      <a:pt x="3193" y="128"/>
                      <a:pt x="3228" y="108"/>
                    </a:cubicBezTo>
                  </a:path>
                </a:pathLst>
              </a:custGeom>
              <a:noFill/>
              <a:ln w="3810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Freeform 66"/>
              <p:cNvSpPr>
                <a:spLocks/>
              </p:cNvSpPr>
              <p:nvPr/>
            </p:nvSpPr>
            <p:spPr bwMode="auto">
              <a:xfrm>
                <a:off x="1155" y="3130"/>
                <a:ext cx="3522" cy="470"/>
              </a:xfrm>
              <a:custGeom>
                <a:avLst/>
                <a:gdLst>
                  <a:gd name="T0" fmla="*/ 0 w 3282"/>
                  <a:gd name="T1" fmla="*/ 259 h 391"/>
                  <a:gd name="T2" fmla="*/ 240 w 3282"/>
                  <a:gd name="T3" fmla="*/ 116 h 391"/>
                  <a:gd name="T4" fmla="*/ 498 w 3282"/>
                  <a:gd name="T5" fmla="*/ 7 h 391"/>
                  <a:gd name="T6" fmla="*/ 756 w 3282"/>
                  <a:gd name="T7" fmla="*/ 157 h 391"/>
                  <a:gd name="T8" fmla="*/ 1026 w 3282"/>
                  <a:gd name="T9" fmla="*/ 349 h 391"/>
                  <a:gd name="T10" fmla="*/ 1245 w 3282"/>
                  <a:gd name="T11" fmla="*/ 385 h 391"/>
                  <a:gd name="T12" fmla="*/ 1626 w 3282"/>
                  <a:gd name="T13" fmla="*/ 385 h 391"/>
                  <a:gd name="T14" fmla="*/ 2124 w 3282"/>
                  <a:gd name="T15" fmla="*/ 385 h 391"/>
                  <a:gd name="T16" fmla="*/ 2442 w 3282"/>
                  <a:gd name="T17" fmla="*/ 349 h 391"/>
                  <a:gd name="T18" fmla="*/ 2592 w 3282"/>
                  <a:gd name="T19" fmla="*/ 277 h 391"/>
                  <a:gd name="T20" fmla="*/ 2796 w 3282"/>
                  <a:gd name="T21" fmla="*/ 91 h 391"/>
                  <a:gd name="T22" fmla="*/ 2946 w 3282"/>
                  <a:gd name="T23" fmla="*/ 67 h 391"/>
                  <a:gd name="T24" fmla="*/ 3101 w 3282"/>
                  <a:gd name="T25" fmla="*/ 160 h 391"/>
                  <a:gd name="T26" fmla="*/ 3282 w 3282"/>
                  <a:gd name="T27" fmla="*/ 271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82" h="391">
                    <a:moveTo>
                      <a:pt x="0" y="259"/>
                    </a:moveTo>
                    <a:cubicBezTo>
                      <a:pt x="39" y="235"/>
                      <a:pt x="157" y="158"/>
                      <a:pt x="240" y="116"/>
                    </a:cubicBezTo>
                    <a:cubicBezTo>
                      <a:pt x="323" y="74"/>
                      <a:pt x="412" y="0"/>
                      <a:pt x="498" y="7"/>
                    </a:cubicBezTo>
                    <a:cubicBezTo>
                      <a:pt x="584" y="14"/>
                      <a:pt x="668" y="100"/>
                      <a:pt x="756" y="157"/>
                    </a:cubicBezTo>
                    <a:cubicBezTo>
                      <a:pt x="844" y="214"/>
                      <a:pt x="945" y="311"/>
                      <a:pt x="1026" y="349"/>
                    </a:cubicBezTo>
                    <a:cubicBezTo>
                      <a:pt x="1107" y="387"/>
                      <a:pt x="1145" y="379"/>
                      <a:pt x="1245" y="385"/>
                    </a:cubicBezTo>
                    <a:cubicBezTo>
                      <a:pt x="1345" y="391"/>
                      <a:pt x="1480" y="385"/>
                      <a:pt x="1626" y="385"/>
                    </a:cubicBezTo>
                    <a:cubicBezTo>
                      <a:pt x="1772" y="385"/>
                      <a:pt x="1988" y="391"/>
                      <a:pt x="2124" y="385"/>
                    </a:cubicBezTo>
                    <a:cubicBezTo>
                      <a:pt x="2260" y="379"/>
                      <a:pt x="2364" y="367"/>
                      <a:pt x="2442" y="349"/>
                    </a:cubicBezTo>
                    <a:cubicBezTo>
                      <a:pt x="2520" y="331"/>
                      <a:pt x="2533" y="320"/>
                      <a:pt x="2592" y="277"/>
                    </a:cubicBezTo>
                    <a:cubicBezTo>
                      <a:pt x="2651" y="234"/>
                      <a:pt x="2737" y="126"/>
                      <a:pt x="2796" y="91"/>
                    </a:cubicBezTo>
                    <a:cubicBezTo>
                      <a:pt x="2855" y="56"/>
                      <a:pt x="2895" y="55"/>
                      <a:pt x="2946" y="67"/>
                    </a:cubicBezTo>
                    <a:cubicBezTo>
                      <a:pt x="2997" y="79"/>
                      <a:pt x="3045" y="126"/>
                      <a:pt x="3101" y="160"/>
                    </a:cubicBezTo>
                    <a:cubicBezTo>
                      <a:pt x="3157" y="194"/>
                      <a:pt x="3244" y="248"/>
                      <a:pt x="3282" y="27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356227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3562278"/>
              <a:ext cx="367811" cy="367811"/>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矩形 19"/>
          <p:cNvSpPr/>
          <p:nvPr/>
        </p:nvSpPr>
        <p:spPr>
          <a:xfrm>
            <a:off x="1408438" y="4200668"/>
            <a:ext cx="6449959" cy="584775"/>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自定义的 </a:t>
            </a:r>
            <a:r>
              <a:rPr lang="en-US" altLang="zh-CN" sz="1600" b="1" dirty="0">
                <a:latin typeface="微软雅黑" panose="020B0503020204020204" pitchFamily="34" charset="-122"/>
                <a:ea typeface="微软雅黑" panose="020B0503020204020204" pitchFamily="34" charset="-122"/>
              </a:rPr>
              <a:t>FEC </a:t>
            </a:r>
            <a:r>
              <a:rPr lang="zh-CN" altLang="en-US" sz="1600" b="1" dirty="0">
                <a:latin typeface="微软雅黑" panose="020B0503020204020204" pitchFamily="34" charset="-122"/>
                <a:ea typeface="微软雅黑" panose="020B0503020204020204" pitchFamily="34" charset="-122"/>
              </a:rPr>
              <a:t>可以更好地管理网络的资源。这种均衡网络负载的做法也称为</a:t>
            </a:r>
            <a:r>
              <a:rPr lang="zh-CN" altLang="en-US" sz="1600" b="1" dirty="0">
                <a:solidFill>
                  <a:srgbClr val="C00000"/>
                </a:solidFill>
                <a:latin typeface="微软雅黑" panose="020B0503020204020204" pitchFamily="34" charset="-122"/>
                <a:ea typeface="微软雅黑" panose="020B0503020204020204" pitchFamily="34" charset="-122"/>
              </a:rPr>
              <a:t>流量工程 </a:t>
            </a:r>
            <a:r>
              <a:rPr lang="en-US" altLang="zh-CN" sz="1600" b="1" dirty="0">
                <a:solidFill>
                  <a:srgbClr val="C00000"/>
                </a:solidFill>
                <a:latin typeface="微软雅黑" panose="020B0503020204020204" pitchFamily="34" charset="-122"/>
                <a:ea typeface="微软雅黑" panose="020B0503020204020204" pitchFamily="34" charset="-122"/>
              </a:rPr>
              <a:t>TE </a:t>
            </a:r>
            <a:r>
              <a:rPr lang="en-US" altLang="zh-CN" sz="1600" b="1" dirty="0">
                <a:latin typeface="微软雅黑" panose="020B0503020204020204" pitchFamily="34" charset="-122"/>
                <a:ea typeface="微软雅黑" panose="020B0503020204020204" pitchFamily="34" charset="-122"/>
              </a:rPr>
              <a:t>(Traffic Engineering) </a:t>
            </a:r>
            <a:r>
              <a:rPr lang="zh-CN" altLang="en-US" sz="1600" b="1" dirty="0">
                <a:latin typeface="微软雅黑" panose="020B0503020204020204" pitchFamily="34" charset="-122"/>
                <a:ea typeface="微软雅黑" panose="020B0503020204020204" pitchFamily="34" charset="-122"/>
              </a:rPr>
              <a:t>或通信量工程。</a:t>
            </a:r>
          </a:p>
        </p:txBody>
      </p:sp>
      <p:sp>
        <p:nvSpPr>
          <p:cNvPr id="21" name="标题 20">
            <a:extLst>
              <a:ext uri="{FF2B5EF4-FFF2-40B4-BE49-F238E27FC236}">
                <a16:creationId xmlns:a16="http://schemas.microsoft.com/office/drawing/2014/main" id="{AF4CD3BC-DCCA-1174-C30F-E3B939F352B0}"/>
              </a:ext>
            </a:extLst>
          </p:cNvPr>
          <p:cNvSpPr>
            <a:spLocks noGrp="1"/>
          </p:cNvSpPr>
          <p:nvPr>
            <p:ph type="title"/>
          </p:nvPr>
        </p:nvSpPr>
        <p:spPr>
          <a:xfrm>
            <a:off x="486000" y="550723"/>
            <a:ext cx="8172000" cy="338554"/>
          </a:xfrm>
        </p:spPr>
        <p:txBody>
          <a:bodyPr/>
          <a:lstStyle/>
          <a:p>
            <a:r>
              <a:rPr lang="en-US" altLang="zh-CN" dirty="0"/>
              <a:t>FEC </a:t>
            </a:r>
            <a:r>
              <a:rPr lang="zh-CN" altLang="en-US" dirty="0"/>
              <a:t>用于负载平衡</a:t>
            </a:r>
          </a:p>
        </p:txBody>
      </p:sp>
    </p:spTree>
    <p:extLst>
      <p:ext uri="{BB962C8B-B14F-4D97-AF65-F5344CB8AC3E}">
        <p14:creationId xmlns:p14="http://schemas.microsoft.com/office/powerpoint/2010/main" val="36291298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内容占位符 12">
            <a:extLst>
              <a:ext uri="{FF2B5EF4-FFF2-40B4-BE49-F238E27FC236}">
                <a16:creationId xmlns:a16="http://schemas.microsoft.com/office/drawing/2014/main" id="{6D89897B-70FF-C4A4-78EC-E345872CA60A}"/>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不要求下层的网络都使用面向连接的技术</a:t>
            </a:r>
          </a:p>
          <a:p>
            <a:r>
              <a:rPr lang="en-US" altLang="zh-CN" dirty="0"/>
              <a:t>MPLS </a:t>
            </a:r>
            <a:r>
              <a:rPr lang="zh-CN" altLang="en-US" dirty="0"/>
              <a:t>采用封装技术：在把 </a:t>
            </a:r>
            <a:r>
              <a:rPr lang="en-US" altLang="zh-CN" dirty="0"/>
              <a:t>IP </a:t>
            </a:r>
            <a:r>
              <a:rPr lang="zh-CN" altLang="en-US" dirty="0"/>
              <a:t>数据报封装成以太网帧之前，先要插入一个 </a:t>
            </a:r>
            <a:r>
              <a:rPr lang="en-US" altLang="zh-CN" dirty="0"/>
              <a:t>MPLS </a:t>
            </a:r>
            <a:r>
              <a:rPr lang="zh-CN" altLang="en-US" dirty="0"/>
              <a:t>首部</a:t>
            </a:r>
          </a:p>
          <a:p>
            <a:endParaRPr lang="zh-CN" altLang="en-US" dirty="0"/>
          </a:p>
        </p:txBody>
      </p:sp>
      <p:grpSp>
        <p:nvGrpSpPr>
          <p:cNvPr id="5" name="组合 4"/>
          <p:cNvGrpSpPr/>
          <p:nvPr/>
        </p:nvGrpSpPr>
        <p:grpSpPr>
          <a:xfrm>
            <a:off x="3340857" y="2138316"/>
            <a:ext cx="2880170" cy="1356547"/>
            <a:chOff x="3728864" y="4437112"/>
            <a:chExt cx="3376226" cy="1311134"/>
          </a:xfrm>
        </p:grpSpPr>
        <p:sp>
          <p:nvSpPr>
            <p:cNvPr id="6" name="矩形 5"/>
            <p:cNvSpPr/>
            <p:nvPr/>
          </p:nvSpPr>
          <p:spPr bwMode="auto">
            <a:xfrm>
              <a:off x="3728864" y="4437112"/>
              <a:ext cx="2160240" cy="447038"/>
            </a:xfrm>
            <a:prstGeom prst="rect">
              <a:avLst/>
            </a:prstGeom>
            <a:solidFill>
              <a:srgbClr val="00FF99"/>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网络层</a:t>
              </a:r>
            </a:p>
          </p:txBody>
        </p:sp>
        <p:sp>
          <p:nvSpPr>
            <p:cNvPr id="7" name="矩形 6"/>
            <p:cNvSpPr/>
            <p:nvPr/>
          </p:nvSpPr>
          <p:spPr bwMode="auto">
            <a:xfrm>
              <a:off x="3728864" y="4884150"/>
              <a:ext cx="2160240" cy="432048"/>
            </a:xfrm>
            <a:prstGeom prst="rect">
              <a:avLst/>
            </a:prstGeom>
            <a:solidFill>
              <a:srgbClr val="FF66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i="0" u="none" strike="noStrike" cap="none" normalizeH="0" baseline="0" dirty="0">
                  <a:ln>
                    <a:noFill/>
                  </a:ln>
                  <a:solidFill>
                    <a:schemeClr val="tx1"/>
                  </a:solidFill>
                  <a:effectLst/>
                  <a:latin typeface="Montserrat" panose="00000500000000000000" pitchFamily="2" charset="0"/>
                  <a:ea typeface="微软雅黑" pitchFamily="34" charset="-122"/>
                </a:rPr>
                <a:t>MPLS </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首部</a:t>
              </a:r>
            </a:p>
          </p:txBody>
        </p:sp>
        <p:sp>
          <p:nvSpPr>
            <p:cNvPr id="8" name="矩形 7"/>
            <p:cNvSpPr/>
            <p:nvPr/>
          </p:nvSpPr>
          <p:spPr bwMode="auto">
            <a:xfrm>
              <a:off x="3728864" y="5316198"/>
              <a:ext cx="2160240" cy="432048"/>
            </a:xfrm>
            <a:prstGeom prst="rect">
              <a:avLst/>
            </a:prstGeom>
            <a:solidFill>
              <a:srgbClr val="66CC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zh-CN" altLang="en-US" sz="1400" dirty="0">
                  <a:latin typeface="Montserrat" panose="00000500000000000000" pitchFamily="2" charset="0"/>
                  <a:ea typeface="微软雅黑" pitchFamily="34" charset="-122"/>
                </a:rPr>
                <a:t>数据链路</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层</a:t>
              </a:r>
            </a:p>
          </p:txBody>
        </p:sp>
        <p:sp>
          <p:nvSpPr>
            <p:cNvPr id="9" name="左箭头 8"/>
            <p:cNvSpPr/>
            <p:nvPr/>
          </p:nvSpPr>
          <p:spPr bwMode="auto">
            <a:xfrm>
              <a:off x="5961112" y="5013176"/>
              <a:ext cx="504056" cy="216024"/>
            </a:xfrm>
            <a:prstGeom prst="leftArrow">
              <a:avLst/>
            </a:prstGeom>
            <a:solidFill>
              <a:srgbClr val="FFFF00"/>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i="0" u="none" strike="noStrike" cap="none" normalizeH="0" baseline="0">
                <a:ln>
                  <a:noFill/>
                </a:ln>
                <a:solidFill>
                  <a:schemeClr val="tx1"/>
                </a:solidFill>
                <a:effectLst/>
                <a:latin typeface="Montserrat" panose="00000500000000000000" pitchFamily="2" charset="0"/>
                <a:ea typeface="微软雅黑" pitchFamily="34" charset="-122"/>
              </a:endParaRPr>
            </a:p>
          </p:txBody>
        </p:sp>
        <p:sp>
          <p:nvSpPr>
            <p:cNvPr id="10" name="TextBox 9"/>
            <p:cNvSpPr txBox="1"/>
            <p:nvPr/>
          </p:nvSpPr>
          <p:spPr>
            <a:xfrm>
              <a:off x="6467702" y="4915476"/>
              <a:ext cx="637388" cy="297474"/>
            </a:xfrm>
            <a:prstGeom prst="rect">
              <a:avLst/>
            </a:prstGeom>
            <a:noFill/>
          </p:spPr>
          <p:txBody>
            <a:bodyPr wrap="none" rtlCol="0">
              <a:spAutoFit/>
            </a:bodyPr>
            <a:lstStyle/>
            <a:p>
              <a:r>
                <a:rPr lang="zh-CN" altLang="en-US" sz="1400" dirty="0">
                  <a:latin typeface="Montserrat" panose="00000500000000000000" pitchFamily="2" charset="0"/>
                  <a:ea typeface="微软雅黑" pitchFamily="34" charset="-122"/>
                </a:rPr>
                <a:t>插入</a:t>
              </a:r>
            </a:p>
          </p:txBody>
        </p:sp>
      </p:grpSp>
      <p:sp>
        <p:nvSpPr>
          <p:cNvPr id="11" name="矩形 10"/>
          <p:cNvSpPr/>
          <p:nvPr/>
        </p:nvSpPr>
        <p:spPr>
          <a:xfrm>
            <a:off x="1937505" y="3738010"/>
            <a:ext cx="5268990" cy="307777"/>
          </a:xfrm>
          <a:prstGeom prst="rect">
            <a:avLst/>
          </a:prstGeom>
          <a:noFill/>
          <a:ln>
            <a:noFill/>
          </a:ln>
          <a:effectLst/>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r>
              <a:rPr lang="zh-CN" altLang="en-US" sz="1400" dirty="0">
                <a:solidFill>
                  <a:schemeClr val="tx1"/>
                </a:solidFill>
                <a:latin typeface="Montserrat" panose="00000500000000000000" pitchFamily="2" charset="0"/>
                <a:ea typeface="微软雅黑" panose="020B0503020204020204" pitchFamily="34" charset="-122"/>
              </a:rPr>
              <a:t>从层次的角度看，</a:t>
            </a:r>
            <a:r>
              <a:rPr lang="en-US" altLang="zh-CN" sz="1400" dirty="0">
                <a:solidFill>
                  <a:schemeClr val="tx1"/>
                </a:solidFill>
                <a:latin typeface="Montserrat" panose="00000500000000000000" pitchFamily="2" charset="0"/>
                <a:ea typeface="微软雅黑" panose="020B0503020204020204" pitchFamily="34" charset="-122"/>
              </a:rPr>
              <a:t>MPLS </a:t>
            </a:r>
            <a:r>
              <a:rPr lang="zh-CN" altLang="en-US" sz="1400" dirty="0">
                <a:solidFill>
                  <a:schemeClr val="tx1"/>
                </a:solidFill>
                <a:latin typeface="Montserrat" panose="00000500000000000000" pitchFamily="2" charset="0"/>
                <a:ea typeface="微软雅黑" panose="020B0503020204020204" pitchFamily="34" charset="-122"/>
              </a:rPr>
              <a:t>首部处在第二层和第三层之间</a:t>
            </a:r>
          </a:p>
        </p:txBody>
      </p:sp>
      <p:sp>
        <p:nvSpPr>
          <p:cNvPr id="12" name="标题 11">
            <a:extLst>
              <a:ext uri="{FF2B5EF4-FFF2-40B4-BE49-F238E27FC236}">
                <a16:creationId xmlns:a16="http://schemas.microsoft.com/office/drawing/2014/main" id="{FB4D27F5-4CC7-4F7A-4726-84BA3125126A}"/>
              </a:ext>
            </a:extLst>
          </p:cNvPr>
          <p:cNvSpPr>
            <a:spLocks noGrp="1"/>
          </p:cNvSpPr>
          <p:nvPr>
            <p:ph type="title"/>
          </p:nvPr>
        </p:nvSpPr>
        <p:spPr>
          <a:xfrm>
            <a:off x="486000" y="550723"/>
            <a:ext cx="8172000" cy="338554"/>
          </a:xfrm>
        </p:spPr>
        <p:txBody>
          <a:bodyPr/>
          <a:lstStyle/>
          <a:p>
            <a:r>
              <a:rPr lang="en-US" altLang="zh-CN" dirty="0"/>
              <a:t>4.9.2  MPLS </a:t>
            </a:r>
            <a:r>
              <a:rPr lang="zh-CN" altLang="en-US" dirty="0"/>
              <a:t>首部的位置与格式</a:t>
            </a:r>
          </a:p>
        </p:txBody>
      </p:sp>
    </p:spTree>
    <p:extLst>
      <p:ext uri="{BB962C8B-B14F-4D97-AF65-F5344CB8AC3E}">
        <p14:creationId xmlns:p14="http://schemas.microsoft.com/office/powerpoint/2010/main" val="21508877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FEC03DAF-28CA-4EC9-63F7-B3AFC2337054}"/>
              </a:ext>
            </a:extLst>
          </p:cNvPr>
          <p:cNvSpPr>
            <a:spLocks noGrp="1"/>
          </p:cNvSpPr>
          <p:nvPr>
            <p:ph type="title"/>
          </p:nvPr>
        </p:nvSpPr>
        <p:spPr/>
        <p:txBody>
          <a:bodyPr/>
          <a:lstStyle/>
          <a:p>
            <a:r>
              <a:rPr lang="en-US" altLang="zh-CN" dirty="0"/>
              <a:t>MPLS </a:t>
            </a:r>
            <a:r>
              <a:rPr lang="zh-CN" altLang="en-US" dirty="0"/>
              <a:t>首部的格式</a:t>
            </a:r>
          </a:p>
        </p:txBody>
      </p:sp>
      <p:sp>
        <p:nvSpPr>
          <p:cNvPr id="41" name="矩形 40">
            <a:extLst>
              <a:ext uri="{FF2B5EF4-FFF2-40B4-BE49-F238E27FC236}">
                <a16:creationId xmlns:a16="http://schemas.microsoft.com/office/drawing/2014/main" id="{A33E8033-5315-A24D-B599-9015F1DCAB96}"/>
              </a:ext>
            </a:extLst>
          </p:cNvPr>
          <p:cNvSpPr/>
          <p:nvPr/>
        </p:nvSpPr>
        <p:spPr>
          <a:xfrm>
            <a:off x="561315" y="3457987"/>
            <a:ext cx="8021370" cy="383054"/>
          </a:xfrm>
          <a:prstGeom prst="rect">
            <a:avLst/>
          </a:prstGeom>
        </p:spPr>
        <p:txBody>
          <a:bodyPr wrap="square">
            <a:spAutoFit/>
          </a:bodyPr>
          <a:lstStyle/>
          <a:p>
            <a:pPr algn="ctr">
              <a:lnSpc>
                <a:spcPts val="2500"/>
              </a:lnSpc>
            </a:pPr>
            <a:r>
              <a:rPr lang="zh-CN" altLang="en-US" sz="1600" dirty="0">
                <a:latin typeface="Montserrat" panose="00000500000000000000" pitchFamily="2" charset="0"/>
                <a:ea typeface="微软雅黑" pitchFamily="34" charset="-122"/>
              </a:rPr>
              <a:t>给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数据报打标记：在以太网帧首部和 </a:t>
            </a:r>
            <a:r>
              <a:rPr lang="en-US" altLang="zh-CN" sz="1600" dirty="0">
                <a:latin typeface="Montserrat" panose="00000500000000000000" pitchFamily="2" charset="0"/>
                <a:ea typeface="微软雅黑" pitchFamily="34" charset="-122"/>
              </a:rPr>
              <a:t>IP </a:t>
            </a:r>
            <a:r>
              <a:rPr lang="zh-CN" altLang="en-US" sz="1600" dirty="0">
                <a:latin typeface="Montserrat" panose="00000500000000000000" pitchFamily="2" charset="0"/>
                <a:ea typeface="微软雅黑" pitchFamily="34" charset="-122"/>
              </a:rPr>
              <a:t>数据报首部之间插入一个 </a:t>
            </a: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字节的首部</a:t>
            </a:r>
          </a:p>
        </p:txBody>
      </p:sp>
    </p:spTree>
    <p:extLst>
      <p:ext uri="{BB962C8B-B14F-4D97-AF65-F5344CB8AC3E}">
        <p14:creationId xmlns:p14="http://schemas.microsoft.com/office/powerpoint/2010/main" val="34262388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reeform 41"/>
          <p:cNvSpPr>
            <a:spLocks/>
          </p:cNvSpPr>
          <p:nvPr/>
        </p:nvSpPr>
        <p:spPr bwMode="auto">
          <a:xfrm>
            <a:off x="1629850" y="1809875"/>
            <a:ext cx="6201738" cy="485641"/>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 name="Line 2"/>
          <p:cNvSpPr>
            <a:spLocks noChangeShapeType="1"/>
          </p:cNvSpPr>
          <p:nvPr/>
        </p:nvSpPr>
        <p:spPr bwMode="auto">
          <a:xfrm flipV="1">
            <a:off x="3872467" y="1830724"/>
            <a:ext cx="3969750" cy="46602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 name="Text Box 6"/>
          <p:cNvSpPr txBox="1">
            <a:spLocks noChangeArrowheads="1"/>
          </p:cNvSpPr>
          <p:nvPr/>
        </p:nvSpPr>
        <p:spPr bwMode="auto">
          <a:xfrm>
            <a:off x="3073297" y="1980341"/>
            <a:ext cx="492443" cy="27699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栈顶</a:t>
            </a:r>
          </a:p>
        </p:txBody>
      </p:sp>
      <p:sp>
        <p:nvSpPr>
          <p:cNvPr id="9" name="Rectangle 8"/>
          <p:cNvSpPr>
            <a:spLocks noChangeArrowheads="1"/>
          </p:cNvSpPr>
          <p:nvPr/>
        </p:nvSpPr>
        <p:spPr bwMode="auto">
          <a:xfrm>
            <a:off x="2027092" y="2296744"/>
            <a:ext cx="758609" cy="372816"/>
          </a:xfrm>
          <a:prstGeom prst="rect">
            <a:avLst/>
          </a:prstGeom>
          <a:noFill/>
          <a:ln w="9525">
            <a:solidFill>
              <a:schemeClr val="tx1"/>
            </a:solidFill>
            <a:miter lim="800000"/>
            <a:headEnd/>
            <a:tailEnd/>
          </a:ln>
          <a:effectLst/>
        </p:spPr>
        <p:txBody>
          <a:bodyPr wrap="none" anchor="ctr"/>
          <a:lstStyle/>
          <a:p>
            <a:pPr algn="just"/>
            <a:r>
              <a:rPr kumimoji="1" lang="zh-CN" altLang="en-US" sz="1200" dirty="0">
                <a:latin typeface="Montserrat" panose="00000500000000000000" pitchFamily="2" charset="0"/>
                <a:ea typeface="微软雅黑 Light" panose="020B0502040204020203" pitchFamily="34" charset="-122"/>
              </a:rPr>
              <a:t>帧首部  </a:t>
            </a:r>
          </a:p>
        </p:txBody>
      </p:sp>
      <p:sp>
        <p:nvSpPr>
          <p:cNvPr id="10" name="Rectangle 9"/>
          <p:cNvSpPr>
            <a:spLocks noChangeArrowheads="1"/>
          </p:cNvSpPr>
          <p:nvPr/>
        </p:nvSpPr>
        <p:spPr bwMode="auto">
          <a:xfrm>
            <a:off x="1621879" y="1403948"/>
            <a:ext cx="6209709" cy="405927"/>
          </a:xfrm>
          <a:prstGeom prst="rect">
            <a:avLst/>
          </a:prstGeom>
          <a:noFill/>
          <a:ln w="9525">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a:off x="5502616" y="1403948"/>
            <a:ext cx="0"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2" name="Line 11"/>
          <p:cNvSpPr>
            <a:spLocks noChangeShapeType="1"/>
          </p:cNvSpPr>
          <p:nvPr/>
        </p:nvSpPr>
        <p:spPr bwMode="auto">
          <a:xfrm>
            <a:off x="6095155" y="1403948"/>
            <a:ext cx="5314"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Line 12"/>
          <p:cNvSpPr>
            <a:spLocks noChangeShapeType="1"/>
          </p:cNvSpPr>
          <p:nvPr/>
        </p:nvSpPr>
        <p:spPr bwMode="auto">
          <a:xfrm>
            <a:off x="6279825" y="1403948"/>
            <a:ext cx="0"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4" name="Text Box 13"/>
          <p:cNvSpPr txBox="1">
            <a:spLocks noChangeArrowheads="1"/>
          </p:cNvSpPr>
          <p:nvPr/>
        </p:nvSpPr>
        <p:spPr bwMode="auto">
          <a:xfrm>
            <a:off x="3228181" y="1468412"/>
            <a:ext cx="6062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Label</a:t>
            </a:r>
            <a:endParaRPr kumimoji="1" lang="zh-CN" altLang="en-US" sz="1200" dirty="0">
              <a:latin typeface="Montserrat" panose="00000500000000000000" pitchFamily="2" charset="0"/>
              <a:ea typeface="微软雅黑 Light" panose="020B0502040204020203" pitchFamily="34" charset="-122"/>
            </a:endParaRPr>
          </a:p>
        </p:txBody>
      </p:sp>
      <p:sp>
        <p:nvSpPr>
          <p:cNvPr id="15" name="Text Box 14"/>
          <p:cNvSpPr txBox="1">
            <a:spLocks noChangeArrowheads="1"/>
          </p:cNvSpPr>
          <p:nvPr/>
        </p:nvSpPr>
        <p:spPr bwMode="auto">
          <a:xfrm>
            <a:off x="6772109" y="1468412"/>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TTL</a:t>
            </a:r>
          </a:p>
        </p:txBody>
      </p:sp>
      <p:sp>
        <p:nvSpPr>
          <p:cNvPr id="16" name="Text Box 15"/>
          <p:cNvSpPr txBox="1">
            <a:spLocks noChangeArrowheads="1"/>
          </p:cNvSpPr>
          <p:nvPr/>
        </p:nvSpPr>
        <p:spPr bwMode="auto">
          <a:xfrm>
            <a:off x="5576199" y="1468412"/>
            <a:ext cx="3834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TC</a:t>
            </a:r>
            <a:endParaRPr kumimoji="1" lang="zh-CN" altLang="en-US" sz="1200" dirty="0">
              <a:latin typeface="Montserrat" panose="00000500000000000000" pitchFamily="2" charset="0"/>
              <a:ea typeface="微软雅黑 Light" panose="020B0502040204020203" pitchFamily="34" charset="-122"/>
            </a:endParaRPr>
          </a:p>
        </p:txBody>
      </p:sp>
      <p:sp>
        <p:nvSpPr>
          <p:cNvPr id="17" name="Text Box 16"/>
          <p:cNvSpPr txBox="1">
            <a:spLocks noChangeArrowheads="1"/>
          </p:cNvSpPr>
          <p:nvPr/>
        </p:nvSpPr>
        <p:spPr bwMode="auto">
          <a:xfrm>
            <a:off x="6044670" y="1468412"/>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S</a:t>
            </a:r>
          </a:p>
        </p:txBody>
      </p:sp>
      <p:sp>
        <p:nvSpPr>
          <p:cNvPr id="18" name="Text Box 17"/>
          <p:cNvSpPr txBox="1">
            <a:spLocks noChangeArrowheads="1"/>
          </p:cNvSpPr>
          <p:nvPr/>
        </p:nvSpPr>
        <p:spPr bwMode="auto">
          <a:xfrm>
            <a:off x="1621879" y="1142751"/>
            <a:ext cx="620971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          20                                                    3         1                     8</a:t>
            </a:r>
          </a:p>
        </p:txBody>
      </p:sp>
      <p:sp>
        <p:nvSpPr>
          <p:cNvPr id="19" name="Line 19"/>
          <p:cNvSpPr>
            <a:spLocks noChangeShapeType="1"/>
          </p:cNvSpPr>
          <p:nvPr/>
        </p:nvSpPr>
        <p:spPr bwMode="auto">
          <a:xfrm>
            <a:off x="3873131" y="2700172"/>
            <a:ext cx="0" cy="37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0" name="Line 21"/>
          <p:cNvSpPr>
            <a:spLocks noChangeShapeType="1"/>
          </p:cNvSpPr>
          <p:nvPr/>
        </p:nvSpPr>
        <p:spPr bwMode="auto">
          <a:xfrm>
            <a:off x="1621879" y="1820913"/>
            <a:ext cx="1174451" cy="47583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1" name="Line 22"/>
          <p:cNvSpPr>
            <a:spLocks noChangeShapeType="1"/>
          </p:cNvSpPr>
          <p:nvPr/>
        </p:nvSpPr>
        <p:spPr bwMode="auto">
          <a:xfrm>
            <a:off x="6771625" y="2713345"/>
            <a:ext cx="0" cy="37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 name="Line 33"/>
          <p:cNvSpPr>
            <a:spLocks noChangeShapeType="1"/>
          </p:cNvSpPr>
          <p:nvPr/>
        </p:nvSpPr>
        <p:spPr bwMode="auto">
          <a:xfrm>
            <a:off x="3870756" y="2964991"/>
            <a:ext cx="2900869" cy="0"/>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3" name="Text Box 34"/>
          <p:cNvSpPr txBox="1">
            <a:spLocks noChangeArrowheads="1"/>
          </p:cNvSpPr>
          <p:nvPr/>
        </p:nvSpPr>
        <p:spPr bwMode="auto">
          <a:xfrm>
            <a:off x="4821662" y="2733480"/>
            <a:ext cx="843501" cy="276999"/>
          </a:xfrm>
          <a:prstGeom prst="rect">
            <a:avLst/>
          </a:prstGeom>
          <a:no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sp>
        <p:nvSpPr>
          <p:cNvPr id="27" name="Rectangle 8"/>
          <p:cNvSpPr>
            <a:spLocks noChangeArrowheads="1"/>
          </p:cNvSpPr>
          <p:nvPr/>
        </p:nvSpPr>
        <p:spPr bwMode="auto">
          <a:xfrm>
            <a:off x="2785701" y="2296744"/>
            <a:ext cx="1086766" cy="372816"/>
          </a:xfrm>
          <a:prstGeom prst="rect">
            <a:avLst/>
          </a:prstGeom>
          <a:solidFill>
            <a:srgbClr val="E46C0A"/>
          </a:solidFill>
          <a:ln w="9525">
            <a:solidFill>
              <a:schemeClr val="tx1"/>
            </a:solidFill>
            <a:miter lim="800000"/>
            <a:headEnd/>
            <a:tailEnd/>
          </a:ln>
          <a:effectLst/>
        </p:spPr>
        <p:txBody>
          <a:bodyPr wrap="none" anchor="ctr"/>
          <a:lstStyle/>
          <a:p>
            <a:pPr lvl="0" algn="just"/>
            <a:r>
              <a:rPr kumimoji="1" lang="en-US" altLang="zh-CN" sz="1200" dirty="0">
                <a:solidFill>
                  <a:schemeClr val="bg1"/>
                </a:solidFill>
                <a:latin typeface="Montserrat" panose="00000500000000000000" pitchFamily="2" charset="0"/>
                <a:ea typeface="微软雅黑 Light" panose="020B0502040204020203" pitchFamily="34" charset="-122"/>
              </a:rPr>
              <a:t>MPLS </a:t>
            </a:r>
            <a:r>
              <a:rPr kumimoji="1" lang="zh-CN" altLang="en-US" sz="1200" dirty="0">
                <a:solidFill>
                  <a:schemeClr val="bg1"/>
                </a:solidFill>
                <a:latin typeface="Montserrat" panose="00000500000000000000" pitchFamily="2" charset="0"/>
                <a:ea typeface="微软雅黑 Light" panose="020B0502040204020203" pitchFamily="34" charset="-122"/>
              </a:rPr>
              <a:t>首部</a:t>
            </a:r>
          </a:p>
        </p:txBody>
      </p:sp>
      <p:sp>
        <p:nvSpPr>
          <p:cNvPr id="28" name="Rectangle 8"/>
          <p:cNvSpPr>
            <a:spLocks noChangeArrowheads="1"/>
          </p:cNvSpPr>
          <p:nvPr/>
        </p:nvSpPr>
        <p:spPr bwMode="auto">
          <a:xfrm>
            <a:off x="3873131" y="2296744"/>
            <a:ext cx="703418" cy="372816"/>
          </a:xfrm>
          <a:prstGeom prst="rect">
            <a:avLst/>
          </a:prstGeom>
          <a:noFill/>
          <a:ln w="9525">
            <a:solidFill>
              <a:schemeClr val="tx1"/>
            </a:solidFill>
            <a:miter lim="800000"/>
            <a:headEnd/>
            <a:tailEnd/>
          </a:ln>
          <a:effectLst/>
        </p:spPr>
        <p:txBody>
          <a:bodyPr wrap="none" anchor="ctr"/>
          <a:lstStyle/>
          <a:p>
            <a:pPr lvl="0" algn="just"/>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首部</a:t>
            </a:r>
          </a:p>
        </p:txBody>
      </p:sp>
      <p:sp>
        <p:nvSpPr>
          <p:cNvPr id="29" name="Rectangle 8"/>
          <p:cNvSpPr>
            <a:spLocks noChangeArrowheads="1"/>
          </p:cNvSpPr>
          <p:nvPr/>
        </p:nvSpPr>
        <p:spPr bwMode="auto">
          <a:xfrm>
            <a:off x="4576549" y="2296744"/>
            <a:ext cx="2195075" cy="372816"/>
          </a:xfrm>
          <a:prstGeom prst="rect">
            <a:avLst/>
          </a:prstGeom>
          <a:noFill/>
          <a:ln w="9525">
            <a:solidFill>
              <a:schemeClr val="tx1"/>
            </a:solidFill>
            <a:miter lim="800000"/>
            <a:headEnd/>
            <a:tailEnd/>
          </a:ln>
          <a:effectLst/>
        </p:spPr>
        <p:txBody>
          <a:bodyPr wrap="none" anchor="ctr"/>
          <a:lstStyle/>
          <a:p>
            <a:pPr lvl="0" algn="just"/>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  据  部  分</a:t>
            </a:r>
          </a:p>
        </p:txBody>
      </p:sp>
      <p:sp>
        <p:nvSpPr>
          <p:cNvPr id="30" name="Rectangle 8"/>
          <p:cNvSpPr>
            <a:spLocks noChangeArrowheads="1"/>
          </p:cNvSpPr>
          <p:nvPr/>
        </p:nvSpPr>
        <p:spPr bwMode="auto">
          <a:xfrm>
            <a:off x="6771625" y="2296744"/>
            <a:ext cx="758609" cy="372816"/>
          </a:xfrm>
          <a:prstGeom prst="rect">
            <a:avLst/>
          </a:prstGeom>
          <a:noFill/>
          <a:ln w="9525">
            <a:solidFill>
              <a:schemeClr val="tx1"/>
            </a:solidFill>
            <a:miter lim="800000"/>
            <a:headEnd/>
            <a:tailEnd/>
          </a:ln>
          <a:effectLst/>
        </p:spPr>
        <p:txBody>
          <a:bodyPr wrap="none" anchor="ctr"/>
          <a:lstStyle/>
          <a:p>
            <a:pPr algn="just"/>
            <a:r>
              <a:rPr kumimoji="1" lang="zh-CN" altLang="en-US" sz="1200" dirty="0">
                <a:latin typeface="Montserrat" panose="00000500000000000000" pitchFamily="2" charset="0"/>
                <a:ea typeface="微软雅黑 Light" panose="020B0502040204020203" pitchFamily="34" charset="-122"/>
              </a:rPr>
              <a:t>帧尾部  </a:t>
            </a:r>
          </a:p>
        </p:txBody>
      </p:sp>
      <p:sp>
        <p:nvSpPr>
          <p:cNvPr id="7" name="标题 6">
            <a:extLst>
              <a:ext uri="{FF2B5EF4-FFF2-40B4-BE49-F238E27FC236}">
                <a16:creationId xmlns:a16="http://schemas.microsoft.com/office/drawing/2014/main" id="{5D3466B4-EB45-77CF-AFB2-AAF7A083FD5C}"/>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FFDAC93D-2DBA-F722-3827-7238DDE721E4}"/>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标签值（占 </a:t>
            </a:r>
            <a:r>
              <a:rPr lang="en-US" altLang="zh-CN" sz="1600" dirty="0">
                <a:latin typeface="Montserrat" panose="00000500000000000000" pitchFamily="2" charset="0"/>
                <a:ea typeface="微软雅黑" pitchFamily="34" charset="-122"/>
              </a:rPr>
              <a:t>20 </a:t>
            </a:r>
            <a:r>
              <a:rPr lang="zh-CN" altLang="en-US" sz="1600" dirty="0">
                <a:latin typeface="Montserrat" panose="00000500000000000000" pitchFamily="2" charset="0"/>
                <a:ea typeface="微软雅黑" pitchFamily="34" charset="-122"/>
              </a:rPr>
              <a:t>位），可以同时容纳高达 </a:t>
            </a:r>
            <a:r>
              <a:rPr lang="en-US" altLang="zh-CN" sz="1600" dirty="0">
                <a:latin typeface="Montserrat" panose="00000500000000000000" pitchFamily="2" charset="0"/>
                <a:ea typeface="微软雅黑" pitchFamily="34" charset="-122"/>
              </a:rPr>
              <a:t>220 </a:t>
            </a:r>
            <a:r>
              <a:rPr lang="zh-CN" altLang="en-US" sz="1600" dirty="0">
                <a:latin typeface="Montserrat" panose="00000500000000000000" pitchFamily="2" charset="0"/>
                <a:ea typeface="微软雅黑" pitchFamily="34" charset="-122"/>
              </a:rPr>
              <a:t>个流（即 </a:t>
            </a:r>
            <a:r>
              <a:rPr lang="en-US" altLang="zh-CN" sz="1600" dirty="0">
                <a:latin typeface="Montserrat" panose="00000500000000000000" pitchFamily="2" charset="0"/>
                <a:ea typeface="微软雅黑" pitchFamily="34" charset="-122"/>
              </a:rPr>
              <a:t>1048576 </a:t>
            </a:r>
            <a:r>
              <a:rPr lang="zh-CN" altLang="en-US" sz="1600" dirty="0">
                <a:latin typeface="Montserrat" panose="00000500000000000000" pitchFamily="2" charset="0"/>
                <a:ea typeface="微软雅黑" pitchFamily="34" charset="-122"/>
              </a:rPr>
              <a:t>个流）</a:t>
            </a:r>
          </a:p>
        </p:txBody>
      </p:sp>
    </p:spTree>
    <p:extLst>
      <p:ext uri="{BB962C8B-B14F-4D97-AF65-F5344CB8AC3E}">
        <p14:creationId xmlns:p14="http://schemas.microsoft.com/office/powerpoint/2010/main" val="14149732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a:t>
              </a:r>
              <a:r>
                <a:rPr kumimoji="1" lang="en-US" altLang="zh-CN" sz="1400" b="1" dirty="0">
                  <a:solidFill>
                    <a:srgbClr val="0000FF"/>
                  </a:solidFill>
                  <a:latin typeface="微软雅黑" pitchFamily="34" charset="-122"/>
                  <a:ea typeface="微软雅黑" pitchFamily="34" charset="-122"/>
                </a:rPr>
                <a:t>3</a:t>
              </a:r>
              <a:r>
                <a:rPr kumimoji="1" lang="en-US" altLang="zh-CN" sz="1400" b="1" dirty="0">
                  <a:solidFill>
                    <a:srgbClr val="000099"/>
                  </a:solidFill>
                  <a:latin typeface="微软雅黑" pitchFamily="34" charset="-122"/>
                  <a:ea typeface="微软雅黑" pitchFamily="34" charset="-122"/>
                </a:rPr>
                <a:t>      1             8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7" name="标题 6">
            <a:extLst>
              <a:ext uri="{FF2B5EF4-FFF2-40B4-BE49-F238E27FC236}">
                <a16:creationId xmlns:a16="http://schemas.microsoft.com/office/drawing/2014/main" id="{5F237A42-0DEB-3925-8656-32C0F270F507}"/>
              </a:ext>
            </a:extLst>
          </p:cNvPr>
          <p:cNvSpPr>
            <a:spLocks noGrp="1"/>
          </p:cNvSpPr>
          <p:nvPr>
            <p:ph type="title"/>
          </p:nvPr>
        </p:nvSpPr>
        <p:spPr/>
        <p:txBody>
          <a:bodyPr/>
          <a:lstStyle/>
          <a:p>
            <a:r>
              <a:rPr lang="en-US" altLang="zh-CN" dirty="0"/>
              <a:t>MPLS </a:t>
            </a:r>
            <a:r>
              <a:rPr lang="zh-CN" altLang="en-US" dirty="0"/>
              <a:t>首部的格式</a:t>
            </a:r>
          </a:p>
        </p:txBody>
      </p:sp>
      <p:sp>
        <p:nvSpPr>
          <p:cNvPr id="36" name="矩形 35">
            <a:extLst>
              <a:ext uri="{FF2B5EF4-FFF2-40B4-BE49-F238E27FC236}">
                <a16:creationId xmlns:a16="http://schemas.microsoft.com/office/drawing/2014/main" id="{AF39FA8E-A35A-88CE-801C-99426573B96F}"/>
              </a:ext>
            </a:extLst>
          </p:cNvPr>
          <p:cNvSpPr/>
          <p:nvPr/>
        </p:nvSpPr>
        <p:spPr>
          <a:xfrm>
            <a:off x="561315" y="3457987"/>
            <a:ext cx="8021370" cy="383054"/>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(2) </a:t>
            </a:r>
            <a:r>
              <a:rPr lang="zh-CN" altLang="en-US" sz="1600" dirty="0">
                <a:latin typeface="Montserrat" panose="00000500000000000000" pitchFamily="2" charset="0"/>
                <a:ea typeface="微软雅黑" pitchFamily="34" charset="-122"/>
              </a:rPr>
              <a:t>试验（占 </a:t>
            </a: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位）。保留用作试验</a:t>
            </a:r>
          </a:p>
        </p:txBody>
      </p:sp>
    </p:spTree>
    <p:extLst>
      <p:ext uri="{BB962C8B-B14F-4D97-AF65-F5344CB8AC3E}">
        <p14:creationId xmlns:p14="http://schemas.microsoft.com/office/powerpoint/2010/main" val="17290280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Text Box 6"/>
            <p:cNvSpPr txBox="1">
              <a:spLocks noChangeArrowheads="1"/>
            </p:cNvSpPr>
            <p:nvPr/>
          </p:nvSpPr>
          <p:spPr bwMode="auto">
            <a:xfrm>
              <a:off x="2935072" y="2421284"/>
              <a:ext cx="703856" cy="39840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栈顶</a:t>
              </a: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生存时间 </a:t>
              </a:r>
              <a:r>
                <a:rPr kumimoji="1" lang="en-US" altLang="zh-CN" sz="1400" b="1" dirty="0">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a:t>
              </a:r>
              <a:r>
                <a:rPr kumimoji="1" lang="en-US" altLang="zh-CN" sz="1400" b="1" dirty="0">
                  <a:solidFill>
                    <a:srgbClr val="0000FF"/>
                  </a:solidFill>
                  <a:latin typeface="微软雅黑" pitchFamily="34" charset="-122"/>
                  <a:ea typeface="微软雅黑" pitchFamily="34" charset="-122"/>
                </a:rPr>
                <a:t>1</a:t>
              </a:r>
              <a:r>
                <a:rPr kumimoji="1" lang="en-US" altLang="zh-CN" sz="1400" b="1" dirty="0">
                  <a:solidFill>
                    <a:srgbClr val="000099"/>
                  </a:solidFill>
                  <a:latin typeface="微软雅黑" pitchFamily="34" charset="-122"/>
                  <a:ea typeface="微软雅黑" pitchFamily="34" charset="-122"/>
                </a:rPr>
                <a:t>             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457987"/>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(3) </a:t>
            </a:r>
            <a:r>
              <a:rPr lang="zh-CN" altLang="en-US" sz="1600" dirty="0">
                <a:latin typeface="Montserrat" panose="00000500000000000000" pitchFamily="2" charset="0"/>
                <a:ea typeface="微软雅黑" pitchFamily="34" charset="-122"/>
              </a:rPr>
              <a:t>栈</a:t>
            </a:r>
            <a:r>
              <a:rPr lang="en-US" altLang="zh-CN" sz="1600" dirty="0">
                <a:latin typeface="Montserrat" panose="00000500000000000000" pitchFamily="2" charset="0"/>
                <a:ea typeface="微软雅黑" pitchFamily="34" charset="-122"/>
              </a:rPr>
              <a:t>S</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位）。在有“标签栈”时使用</a:t>
            </a:r>
          </a:p>
        </p:txBody>
      </p:sp>
      <p:sp>
        <p:nvSpPr>
          <p:cNvPr id="7" name="标题 6">
            <a:extLst>
              <a:ext uri="{FF2B5EF4-FFF2-40B4-BE49-F238E27FC236}">
                <a16:creationId xmlns:a16="http://schemas.microsoft.com/office/drawing/2014/main" id="{D5883224-BBE6-D315-6773-D3163F3411B2}"/>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1735084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组合 30"/>
          <p:cNvGrpSpPr/>
          <p:nvPr/>
        </p:nvGrpSpPr>
        <p:grpSpPr>
          <a:xfrm>
            <a:off x="1150083" y="1142751"/>
            <a:ext cx="6692134" cy="2202496"/>
            <a:chOff x="445521" y="1337046"/>
            <a:chExt cx="8662793" cy="2851073"/>
          </a:xfrm>
        </p:grpSpPr>
        <p:sp>
          <p:nvSpPr>
            <p:cNvPr id="5" name="Freeform 41"/>
            <p:cNvSpPr>
              <a:spLocks/>
            </p:cNvSpPr>
            <p:nvPr/>
          </p:nvSpPr>
          <p:spPr bwMode="auto">
            <a:xfrm>
              <a:off x="1066567" y="2200621"/>
              <a:ext cx="8027988" cy="628650"/>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rgbClr val="00B050"/>
                </a:gs>
                <a:gs pos="100000">
                  <a:srgbClr val="00FFFF"/>
                </a:gs>
              </a:gsLst>
              <a:lin ang="5400000" scaled="1"/>
            </a:gra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6" name="Line 2"/>
            <p:cNvSpPr>
              <a:spLocks noChangeShapeType="1"/>
            </p:cNvSpPr>
            <p:nvPr/>
          </p:nvSpPr>
          <p:spPr bwMode="auto">
            <a:xfrm flipV="1">
              <a:off x="3969576" y="2227609"/>
              <a:ext cx="5138738" cy="6032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Rectangle 8"/>
            <p:cNvSpPr>
              <a:spLocks noChangeArrowheads="1"/>
            </p:cNvSpPr>
            <p:nvPr/>
          </p:nvSpPr>
          <p:spPr bwMode="auto">
            <a:xfrm>
              <a:off x="1580786"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帧首部  </a:t>
              </a:r>
            </a:p>
          </p:txBody>
        </p:sp>
        <p:sp>
          <p:nvSpPr>
            <p:cNvPr id="10" name="Rectangle 9"/>
            <p:cNvSpPr>
              <a:spLocks noChangeArrowheads="1"/>
            </p:cNvSpPr>
            <p:nvPr/>
          </p:nvSpPr>
          <p:spPr bwMode="auto">
            <a:xfrm>
              <a:off x="1056249" y="1675159"/>
              <a:ext cx="8038306" cy="525462"/>
            </a:xfrm>
            <a:prstGeom prst="rect">
              <a:avLst/>
            </a:prstGeom>
            <a:solidFill>
              <a:srgbClr val="99FFCC"/>
            </a:solidFill>
            <a:ln w="9525">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Line 10"/>
            <p:cNvSpPr>
              <a:spLocks noChangeShapeType="1"/>
            </p:cNvSpPr>
            <p:nvPr/>
          </p:nvSpPr>
          <p:spPr bwMode="auto">
            <a:xfrm>
              <a:off x="6079761"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11"/>
            <p:cNvSpPr>
              <a:spLocks noChangeShapeType="1"/>
            </p:cNvSpPr>
            <p:nvPr/>
          </p:nvSpPr>
          <p:spPr bwMode="auto">
            <a:xfrm>
              <a:off x="6846788" y="1675159"/>
              <a:ext cx="6879"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2"/>
            <p:cNvSpPr>
              <a:spLocks noChangeShapeType="1"/>
            </p:cNvSpPr>
            <p:nvPr/>
          </p:nvSpPr>
          <p:spPr bwMode="auto">
            <a:xfrm>
              <a:off x="7085838" y="1675159"/>
              <a:ext cx="0" cy="52546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13"/>
            <p:cNvSpPr txBox="1">
              <a:spLocks noChangeArrowheads="1"/>
            </p:cNvSpPr>
            <p:nvPr/>
          </p:nvSpPr>
          <p:spPr bwMode="auto">
            <a:xfrm>
              <a:off x="2935323" y="1729647"/>
              <a:ext cx="1347120"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标   签   值</a:t>
              </a:r>
            </a:p>
          </p:txBody>
        </p:sp>
        <p:sp>
          <p:nvSpPr>
            <p:cNvPr id="15" name="Text Box 14"/>
            <p:cNvSpPr txBox="1">
              <a:spLocks noChangeArrowheads="1"/>
            </p:cNvSpPr>
            <p:nvPr/>
          </p:nvSpPr>
          <p:spPr bwMode="auto">
            <a:xfrm>
              <a:off x="7298742" y="1729647"/>
              <a:ext cx="165912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生存时间 </a:t>
              </a:r>
              <a:r>
                <a:rPr kumimoji="1" lang="en-US" altLang="zh-CN" sz="1400" b="1" dirty="0">
                  <a:solidFill>
                    <a:srgbClr val="0000FF"/>
                  </a:solidFill>
                  <a:latin typeface="微软雅黑" pitchFamily="34" charset="-122"/>
                  <a:ea typeface="微软雅黑" pitchFamily="34" charset="-122"/>
                </a:rPr>
                <a:t>TTL</a:t>
              </a:r>
            </a:p>
          </p:txBody>
        </p:sp>
        <p:sp>
          <p:nvSpPr>
            <p:cNvPr id="16" name="Text Box 15"/>
            <p:cNvSpPr txBox="1">
              <a:spLocks noChangeArrowheads="1"/>
            </p:cNvSpPr>
            <p:nvPr/>
          </p:nvSpPr>
          <p:spPr bwMode="auto">
            <a:xfrm>
              <a:off x="6075411" y="1729647"/>
              <a:ext cx="772332"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试 验</a:t>
              </a:r>
            </a:p>
          </p:txBody>
        </p:sp>
        <p:sp>
          <p:nvSpPr>
            <p:cNvPr id="17" name="Text Box 16"/>
            <p:cNvSpPr txBox="1">
              <a:spLocks noChangeArrowheads="1"/>
            </p:cNvSpPr>
            <p:nvPr/>
          </p:nvSpPr>
          <p:spPr bwMode="auto">
            <a:xfrm>
              <a:off x="6781436" y="1729647"/>
              <a:ext cx="378074"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S</a:t>
              </a:r>
            </a:p>
          </p:txBody>
        </p:sp>
        <p:sp>
          <p:nvSpPr>
            <p:cNvPr id="18" name="Text Box 17"/>
            <p:cNvSpPr txBox="1">
              <a:spLocks noChangeArrowheads="1"/>
            </p:cNvSpPr>
            <p:nvPr/>
          </p:nvSpPr>
          <p:spPr bwMode="auto">
            <a:xfrm>
              <a:off x="704530" y="1337046"/>
              <a:ext cx="8390027"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rgbClr val="000099"/>
                  </a:solidFill>
                  <a:latin typeface="微软雅黑" pitchFamily="34" charset="-122"/>
                  <a:ea typeface="微软雅黑" pitchFamily="34" charset="-122"/>
                </a:rPr>
                <a:t>位                              </a:t>
              </a:r>
              <a:r>
                <a:rPr kumimoji="1" lang="en-US" altLang="zh-CN" sz="1400" b="1" dirty="0">
                  <a:solidFill>
                    <a:srgbClr val="000099"/>
                  </a:solidFill>
                  <a:latin typeface="微软雅黑" pitchFamily="34" charset="-122"/>
                  <a:ea typeface="微软雅黑" pitchFamily="34" charset="-122"/>
                </a:rPr>
                <a:t>20                                            3      1             </a:t>
              </a:r>
              <a:r>
                <a:rPr kumimoji="1" lang="en-US" altLang="zh-CN" sz="1400" b="1" dirty="0">
                  <a:solidFill>
                    <a:srgbClr val="0000FF"/>
                  </a:solidFill>
                  <a:latin typeface="微软雅黑" pitchFamily="34" charset="-122"/>
                  <a:ea typeface="微软雅黑" pitchFamily="34" charset="-122"/>
                </a:rPr>
                <a:t>8</a:t>
              </a:r>
            </a:p>
          </p:txBody>
        </p:sp>
        <p:sp>
          <p:nvSpPr>
            <p:cNvPr id="19" name="Line 19"/>
            <p:cNvSpPr>
              <a:spLocks noChangeShapeType="1"/>
            </p:cNvSpPr>
            <p:nvPr/>
          </p:nvSpPr>
          <p:spPr bwMode="auto">
            <a:xfrm>
              <a:off x="3970436" y="3353087"/>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Line 21"/>
            <p:cNvSpPr>
              <a:spLocks noChangeShapeType="1"/>
            </p:cNvSpPr>
            <p:nvPr/>
          </p:nvSpPr>
          <p:spPr bwMode="auto">
            <a:xfrm>
              <a:off x="1056249" y="2214909"/>
              <a:ext cx="1520296" cy="61595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22"/>
            <p:cNvSpPr>
              <a:spLocks noChangeShapeType="1"/>
            </p:cNvSpPr>
            <p:nvPr/>
          </p:nvSpPr>
          <p:spPr bwMode="auto">
            <a:xfrm>
              <a:off x="7722460" y="3370138"/>
              <a:ext cx="0" cy="4826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33"/>
            <p:cNvSpPr>
              <a:spLocks noChangeShapeType="1"/>
            </p:cNvSpPr>
            <p:nvPr/>
          </p:nvSpPr>
          <p:spPr bwMode="auto">
            <a:xfrm>
              <a:off x="3967361" y="3695887"/>
              <a:ext cx="3755099" cy="0"/>
            </a:xfrm>
            <a:prstGeom prst="line">
              <a:avLst/>
            </a:prstGeom>
            <a:noFill/>
            <a:ln w="1905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34"/>
            <p:cNvSpPr txBox="1">
              <a:spLocks noChangeArrowheads="1"/>
            </p:cNvSpPr>
            <p:nvPr/>
          </p:nvSpPr>
          <p:spPr bwMode="auto">
            <a:xfrm>
              <a:off x="5198284" y="3460937"/>
              <a:ext cx="1237143" cy="39840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IP </a:t>
              </a:r>
              <a:r>
                <a:rPr kumimoji="1" lang="zh-CN" altLang="en-US" sz="1400" b="1" dirty="0">
                  <a:solidFill>
                    <a:srgbClr val="000099"/>
                  </a:solidFill>
                  <a:latin typeface="微软雅黑" pitchFamily="34" charset="-122"/>
                  <a:ea typeface="微软雅黑" pitchFamily="34" charset="-122"/>
                </a:rPr>
                <a:t>数据报</a:t>
              </a:r>
            </a:p>
          </p:txBody>
        </p:sp>
        <p:sp>
          <p:nvSpPr>
            <p:cNvPr id="24" name="Text Box 35"/>
            <p:cNvSpPr txBox="1">
              <a:spLocks noChangeArrowheads="1"/>
            </p:cNvSpPr>
            <p:nvPr/>
          </p:nvSpPr>
          <p:spPr bwMode="auto">
            <a:xfrm>
              <a:off x="445521" y="2865786"/>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99"/>
                  </a:solidFill>
                  <a:latin typeface="微软雅黑" pitchFamily="34" charset="-122"/>
                  <a:ea typeface="微软雅黑" pitchFamily="34" charset="-122"/>
                </a:rPr>
                <a:t>以太网帧</a:t>
              </a:r>
            </a:p>
          </p:txBody>
        </p:sp>
        <p:sp>
          <p:nvSpPr>
            <p:cNvPr id="25" name="Text Box 37"/>
            <p:cNvSpPr txBox="1">
              <a:spLocks noChangeArrowheads="1"/>
            </p:cNvSpPr>
            <p:nvPr/>
          </p:nvSpPr>
          <p:spPr bwMode="auto">
            <a:xfrm>
              <a:off x="879110" y="3789710"/>
              <a:ext cx="1168665" cy="39840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99"/>
                  </a:solidFill>
                  <a:latin typeface="微软雅黑" pitchFamily="34" charset="-122"/>
                  <a:ea typeface="微软雅黑" pitchFamily="34" charset="-122"/>
                </a:rPr>
                <a:t>发送在前</a:t>
              </a:r>
            </a:p>
          </p:txBody>
        </p:sp>
        <p:sp>
          <p:nvSpPr>
            <p:cNvPr id="26" name="Line 38"/>
            <p:cNvSpPr>
              <a:spLocks noChangeShapeType="1"/>
            </p:cNvSpPr>
            <p:nvPr/>
          </p:nvSpPr>
          <p:spPr bwMode="auto">
            <a:xfrm flipV="1">
              <a:off x="1580786" y="3357910"/>
              <a:ext cx="0" cy="50323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Rectangle 8"/>
            <p:cNvSpPr>
              <a:spLocks noChangeArrowheads="1"/>
            </p:cNvSpPr>
            <p:nvPr/>
          </p:nvSpPr>
          <p:spPr bwMode="auto">
            <a:xfrm>
              <a:off x="2562786" y="2830860"/>
              <a:ext cx="1406790" cy="482600"/>
            </a:xfrm>
            <a:prstGeom prst="rect">
              <a:avLst/>
            </a:prstGeom>
            <a:solidFill>
              <a:srgbClr val="FF66FF"/>
            </a:solidFill>
            <a:ln w="19050">
              <a:solidFill>
                <a:schemeClr val="tx1"/>
              </a:solidFill>
              <a:miter lim="800000"/>
              <a:headEnd/>
              <a:tailEnd/>
            </a:ln>
            <a:effectLst/>
          </p:spPr>
          <p:txBody>
            <a:bodyPr wrap="none" anchor="ctr"/>
            <a:lstStyle/>
            <a:p>
              <a:pPr lvl="0" algn="just"/>
              <a:r>
                <a:rPr kumimoji="1" lang="en-US" altLang="zh-CN" sz="1400" b="1" dirty="0">
                  <a:latin typeface="微软雅黑" pitchFamily="34" charset="-122"/>
                  <a:ea typeface="微软雅黑" pitchFamily="34" charset="-122"/>
                </a:rPr>
                <a:t>MPLS </a:t>
              </a:r>
              <a:r>
                <a:rPr kumimoji="1" lang="zh-CN" altLang="en-US" sz="1400" b="1" dirty="0">
                  <a:latin typeface="微软雅黑" pitchFamily="34" charset="-122"/>
                  <a:ea typeface="微软雅黑" pitchFamily="34" charset="-122"/>
                </a:rPr>
                <a:t>首部</a:t>
              </a:r>
            </a:p>
          </p:txBody>
        </p:sp>
        <p:sp>
          <p:nvSpPr>
            <p:cNvPr id="28" name="Rectangle 8"/>
            <p:cNvSpPr>
              <a:spLocks noChangeArrowheads="1"/>
            </p:cNvSpPr>
            <p:nvPr/>
          </p:nvSpPr>
          <p:spPr bwMode="auto">
            <a:xfrm>
              <a:off x="3970436" y="2830859"/>
              <a:ext cx="910556"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首部</a:t>
              </a:r>
            </a:p>
          </p:txBody>
        </p:sp>
        <p:sp>
          <p:nvSpPr>
            <p:cNvPr id="29" name="Rectangle 8"/>
            <p:cNvSpPr>
              <a:spLocks noChangeArrowheads="1"/>
            </p:cNvSpPr>
            <p:nvPr/>
          </p:nvSpPr>
          <p:spPr bwMode="auto">
            <a:xfrm>
              <a:off x="4880992" y="2830859"/>
              <a:ext cx="2841468"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just"/>
              <a:r>
                <a:rPr kumimoji="1" lang="zh-CN" altLang="en-US" sz="1400" b="1" dirty="0">
                  <a:solidFill>
                    <a:schemeClr val="bg1"/>
                  </a:solidFill>
                  <a:latin typeface="微软雅黑" pitchFamily="34" charset="-122"/>
                  <a:ea typeface="微软雅黑" pitchFamily="34" charset="-122"/>
                </a:rPr>
                <a:t>         </a:t>
              </a:r>
              <a:r>
                <a:rPr kumimoji="1" lang="en-US" altLang="zh-CN" sz="1400" b="1" dirty="0">
                  <a:solidFill>
                    <a:schemeClr val="bg1"/>
                  </a:solidFill>
                  <a:latin typeface="微软雅黑" pitchFamily="34" charset="-122"/>
                  <a:ea typeface="微软雅黑" pitchFamily="34" charset="-122"/>
                </a:rPr>
                <a:t>IP  </a:t>
              </a:r>
              <a:r>
                <a:rPr kumimoji="1" lang="zh-CN" altLang="en-US" sz="1400" b="1" dirty="0">
                  <a:solidFill>
                    <a:schemeClr val="bg1"/>
                  </a:solidFill>
                  <a:latin typeface="微软雅黑" pitchFamily="34" charset="-122"/>
                  <a:ea typeface="微软雅黑" pitchFamily="34" charset="-122"/>
                </a:rPr>
                <a:t>数  据  部  分</a:t>
              </a:r>
            </a:p>
          </p:txBody>
        </p:sp>
        <p:sp>
          <p:nvSpPr>
            <p:cNvPr id="30" name="Rectangle 8"/>
            <p:cNvSpPr>
              <a:spLocks noChangeArrowheads="1"/>
            </p:cNvSpPr>
            <p:nvPr/>
          </p:nvSpPr>
          <p:spPr bwMode="auto">
            <a:xfrm>
              <a:off x="7722460" y="2830859"/>
              <a:ext cx="982000" cy="482600"/>
            </a:xfrm>
            <a:prstGeom prst="rect">
              <a:avLst/>
            </a:prstGeom>
            <a:solidFill>
              <a:srgbClr val="0070C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just"/>
              <a:r>
                <a:rPr kumimoji="1" lang="zh-CN" altLang="en-US" sz="1400" b="1" dirty="0">
                  <a:solidFill>
                    <a:schemeClr val="bg1"/>
                  </a:solidFill>
                  <a:latin typeface="微软雅黑" pitchFamily="34" charset="-122"/>
                  <a:ea typeface="微软雅黑" pitchFamily="34" charset="-122"/>
                </a:rPr>
                <a:t>帧尾部  </a:t>
              </a:r>
            </a:p>
          </p:txBody>
        </p:sp>
      </p:grpSp>
      <p:sp>
        <p:nvSpPr>
          <p:cNvPr id="33" name="矩形 32"/>
          <p:cNvSpPr/>
          <p:nvPr/>
        </p:nvSpPr>
        <p:spPr>
          <a:xfrm>
            <a:off x="561315" y="3751215"/>
            <a:ext cx="8021370" cy="387735"/>
          </a:xfrm>
          <a:prstGeom prst="rect">
            <a:avLst/>
          </a:prstGeom>
        </p:spPr>
        <p:txBody>
          <a:bodyPr wrap="square">
            <a:spAutoFit/>
          </a:bodyPr>
          <a:lstStyle/>
          <a:p>
            <a:pPr algn="ctr">
              <a:lnSpc>
                <a:spcPts val="2500"/>
              </a:lnSpc>
            </a:pPr>
            <a:r>
              <a:rPr lang="en-US" altLang="zh-CN" sz="1600" dirty="0">
                <a:latin typeface="Montserrat" panose="00000500000000000000" pitchFamily="2" charset="0"/>
                <a:ea typeface="微软雅黑" pitchFamily="34" charset="-122"/>
              </a:rPr>
              <a:t>(4) </a:t>
            </a:r>
            <a:r>
              <a:rPr lang="zh-CN" altLang="en-US" sz="1600" dirty="0">
                <a:latin typeface="Montserrat" panose="00000500000000000000" pitchFamily="2" charset="0"/>
                <a:ea typeface="微软雅黑" pitchFamily="34" charset="-122"/>
              </a:rPr>
              <a:t>生存时间 </a:t>
            </a:r>
            <a:r>
              <a:rPr lang="en-US" altLang="zh-CN" sz="1600" dirty="0">
                <a:latin typeface="Montserrat" panose="00000500000000000000" pitchFamily="2" charset="0"/>
                <a:ea typeface="微软雅黑" pitchFamily="34" charset="-122"/>
              </a:rPr>
              <a:t>TTL</a:t>
            </a:r>
            <a:r>
              <a:rPr lang="zh-CN" altLang="en-US" sz="1600" dirty="0">
                <a:latin typeface="Montserrat" panose="00000500000000000000" pitchFamily="2" charset="0"/>
                <a:ea typeface="微软雅黑" pitchFamily="34" charset="-122"/>
              </a:rPr>
              <a:t>（占 </a:t>
            </a:r>
            <a:r>
              <a:rPr lang="en-US" altLang="zh-CN" sz="1600" dirty="0">
                <a:latin typeface="Montserrat" panose="00000500000000000000" pitchFamily="2" charset="0"/>
                <a:ea typeface="微软雅黑" pitchFamily="34" charset="-122"/>
              </a:rPr>
              <a:t>8 </a:t>
            </a:r>
            <a:r>
              <a:rPr lang="zh-CN" altLang="en-US" sz="1600" dirty="0">
                <a:latin typeface="Montserrat" panose="00000500000000000000" pitchFamily="2" charset="0"/>
                <a:ea typeface="微软雅黑" pitchFamily="34" charset="-122"/>
              </a:rPr>
              <a:t>位），用来防止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分组在 </a:t>
            </a:r>
            <a:r>
              <a:rPr lang="en-US" altLang="zh-CN" sz="1600" dirty="0">
                <a:latin typeface="Montserrat" panose="00000500000000000000" pitchFamily="2" charset="0"/>
                <a:ea typeface="微软雅黑" pitchFamily="34" charset="-122"/>
              </a:rPr>
              <a:t>MPLS </a:t>
            </a:r>
            <a:r>
              <a:rPr lang="zh-CN" altLang="en-US" sz="1600" dirty="0">
                <a:latin typeface="Montserrat" panose="00000500000000000000" pitchFamily="2" charset="0"/>
                <a:ea typeface="微软雅黑" pitchFamily="34" charset="-122"/>
              </a:rPr>
              <a:t>域中兜圈子</a:t>
            </a:r>
          </a:p>
        </p:txBody>
      </p:sp>
      <p:sp>
        <p:nvSpPr>
          <p:cNvPr id="7" name="标题 6">
            <a:extLst>
              <a:ext uri="{FF2B5EF4-FFF2-40B4-BE49-F238E27FC236}">
                <a16:creationId xmlns:a16="http://schemas.microsoft.com/office/drawing/2014/main" id="{2DE76318-D9BD-9177-56DD-71310CC9935C}"/>
              </a:ext>
            </a:extLst>
          </p:cNvPr>
          <p:cNvSpPr>
            <a:spLocks noGrp="1"/>
          </p:cNvSpPr>
          <p:nvPr>
            <p:ph type="title"/>
          </p:nvPr>
        </p:nvSpPr>
        <p:spPr>
          <a:xfrm>
            <a:off x="486000" y="550723"/>
            <a:ext cx="8172000" cy="338554"/>
          </a:xfrm>
        </p:spPr>
        <p:txBody>
          <a:bodyPr/>
          <a:lstStyle/>
          <a:p>
            <a:r>
              <a:rPr lang="en-US" altLang="zh-CN" dirty="0"/>
              <a:t>MPLS </a:t>
            </a:r>
            <a:r>
              <a:rPr lang="zh-CN" altLang="en-US" dirty="0"/>
              <a:t>首部的格式</a:t>
            </a:r>
          </a:p>
        </p:txBody>
      </p:sp>
    </p:spTree>
    <p:extLst>
      <p:ext uri="{BB962C8B-B14F-4D97-AF65-F5344CB8AC3E}">
        <p14:creationId xmlns:p14="http://schemas.microsoft.com/office/powerpoint/2010/main" val="38878653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BD9F427-D469-02C5-F71E-81FA11ABCC02}"/>
              </a:ext>
            </a:extLst>
          </p:cNvPr>
          <p:cNvSpPr>
            <a:spLocks noGrp="1"/>
          </p:cNvSpPr>
          <p:nvPr>
            <p:ph type="title"/>
          </p:nvPr>
        </p:nvSpPr>
        <p:spPr>
          <a:xfrm>
            <a:off x="486000" y="550723"/>
            <a:ext cx="8172000" cy="338554"/>
          </a:xfrm>
        </p:spPr>
        <p:txBody>
          <a:bodyPr/>
          <a:lstStyle/>
          <a:p>
            <a:r>
              <a:rPr lang="en-US" altLang="zh-CN" dirty="0"/>
              <a:t>4.9.3  </a:t>
            </a:r>
            <a:r>
              <a:rPr lang="zh-CN" altLang="en-US" dirty="0"/>
              <a:t>新一代的 </a:t>
            </a:r>
            <a:r>
              <a:rPr lang="en-US" altLang="zh-CN" dirty="0"/>
              <a:t>MPLS</a:t>
            </a:r>
            <a:endParaRPr lang="zh-CN" altLang="en-US" dirty="0"/>
          </a:p>
        </p:txBody>
      </p:sp>
      <p:sp>
        <p:nvSpPr>
          <p:cNvPr id="6" name="内容占位符 5">
            <a:extLst>
              <a:ext uri="{FF2B5EF4-FFF2-40B4-BE49-F238E27FC236}">
                <a16:creationId xmlns:a16="http://schemas.microsoft.com/office/drawing/2014/main" id="{CE521168-5210-6293-69B4-FAB9E170E0ED}"/>
              </a:ext>
            </a:extLst>
          </p:cNvPr>
          <p:cNvSpPr>
            <a:spLocks noGrp="1"/>
          </p:cNvSpPr>
          <p:nvPr>
            <p:ph sz="quarter" idx="11"/>
          </p:nvPr>
        </p:nvSpPr>
        <p:spPr>
          <a:xfrm>
            <a:off x="486000" y="900000"/>
            <a:ext cx="8172000" cy="3703500"/>
          </a:xfrm>
        </p:spPr>
        <p:txBody>
          <a:bodyPr/>
          <a:lstStyle/>
          <a:p>
            <a:r>
              <a:rPr lang="en-US" altLang="zh-CN" dirty="0"/>
              <a:t>MPLS </a:t>
            </a:r>
            <a:r>
              <a:rPr lang="zh-CN" altLang="en-US" dirty="0"/>
              <a:t>存在的问题：</a:t>
            </a:r>
            <a:endParaRPr lang="en-US" altLang="zh-CN" dirty="0"/>
          </a:p>
          <a:p>
            <a:pPr lvl="1"/>
            <a:r>
              <a:rPr lang="zh-CN" altLang="en-US" dirty="0"/>
              <a:t>控制协议（如 </a:t>
            </a:r>
            <a:r>
              <a:rPr lang="en-US" altLang="zh-CN" dirty="0"/>
              <a:t>LDP</a:t>
            </a:r>
            <a:r>
              <a:rPr lang="zh-CN" altLang="en-US" dirty="0"/>
              <a:t>）比较复杂，扩展性差，运行维护较困难</a:t>
            </a:r>
            <a:endParaRPr lang="en-US" altLang="zh-CN" dirty="0"/>
          </a:p>
          <a:p>
            <a:pPr lvl="1"/>
            <a:r>
              <a:rPr lang="zh-CN" altLang="en-US" dirty="0"/>
              <a:t>协议 </a:t>
            </a:r>
            <a:r>
              <a:rPr lang="en-US" altLang="zh-CN" dirty="0"/>
              <a:t>LDP </a:t>
            </a:r>
            <a:r>
              <a:rPr lang="zh-CN" altLang="en-US" dirty="0"/>
              <a:t>无法做到基于时延或带宽等要求的流量调度</a:t>
            </a:r>
            <a:endParaRPr lang="en-US" altLang="zh-CN" dirty="0"/>
          </a:p>
          <a:p>
            <a:pPr lvl="1"/>
            <a:r>
              <a:rPr lang="zh-CN" altLang="en-US" dirty="0"/>
              <a:t>为灵活地选择流量的转发路径，还需要再使用资源预留协议 </a:t>
            </a:r>
            <a:r>
              <a:rPr lang="en-US" altLang="zh-CN" dirty="0"/>
              <a:t>RSVP</a:t>
            </a:r>
          </a:p>
          <a:p>
            <a:r>
              <a:rPr lang="zh-CN" altLang="en-US" dirty="0"/>
              <a:t>但是：</a:t>
            </a:r>
            <a:endParaRPr lang="en-US" altLang="zh-CN" dirty="0"/>
          </a:p>
          <a:p>
            <a:pPr lvl="1"/>
            <a:r>
              <a:rPr lang="en-US" altLang="zh-CN" dirty="0"/>
              <a:t>RSVP </a:t>
            </a:r>
            <a:r>
              <a:rPr lang="zh-CN" altLang="en-US" dirty="0"/>
              <a:t>的信令非常复杂，每个节点都要维护一个庞大的链路信息数据库</a:t>
            </a:r>
            <a:endParaRPr lang="en-US" altLang="zh-CN" dirty="0"/>
          </a:p>
          <a:p>
            <a:pPr lvl="1"/>
            <a:r>
              <a:rPr lang="en-US" altLang="zh-CN" dirty="0"/>
              <a:t>RSVP </a:t>
            </a:r>
            <a:r>
              <a:rPr lang="zh-CN" altLang="en-US" dirty="0"/>
              <a:t>只会选择一条最优路径，不支持等价多路径路由选择 </a:t>
            </a:r>
            <a:r>
              <a:rPr lang="en-US" altLang="zh-CN" dirty="0"/>
              <a:t>ECMP (Equal-Cost Multipath Routing)</a:t>
            </a:r>
            <a:r>
              <a:rPr lang="zh-CN" altLang="en-US" dirty="0"/>
              <a:t> </a:t>
            </a:r>
            <a:endParaRPr lang="en-US" altLang="zh-CN" dirty="0"/>
          </a:p>
          <a:p>
            <a:endParaRPr lang="zh-CN" altLang="en-US" dirty="0"/>
          </a:p>
        </p:txBody>
      </p:sp>
    </p:spTree>
    <p:extLst>
      <p:ext uri="{BB962C8B-B14F-4D97-AF65-F5344CB8AC3E}">
        <p14:creationId xmlns:p14="http://schemas.microsoft.com/office/powerpoint/2010/main" val="24564655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9C4A673-4C4E-9620-2D92-89C45B6B7BB8}"/>
              </a:ext>
            </a:extLst>
          </p:cNvPr>
          <p:cNvSpPr>
            <a:spLocks noGrp="1"/>
          </p:cNvSpPr>
          <p:nvPr>
            <p:ph type="title"/>
          </p:nvPr>
        </p:nvSpPr>
        <p:spPr>
          <a:xfrm>
            <a:off x="486000" y="550723"/>
            <a:ext cx="8172000" cy="338554"/>
          </a:xfrm>
        </p:spPr>
        <p:txBody>
          <a:bodyPr/>
          <a:lstStyle/>
          <a:p>
            <a:r>
              <a:rPr lang="zh-CN" altLang="en-US" dirty="0"/>
              <a:t>段路由选择协议 </a:t>
            </a:r>
            <a:r>
              <a:rPr lang="en-US" altLang="zh-CN" dirty="0"/>
              <a:t>SR </a:t>
            </a:r>
            <a:endParaRPr lang="zh-CN" altLang="en-US" dirty="0"/>
          </a:p>
        </p:txBody>
      </p:sp>
      <p:sp>
        <p:nvSpPr>
          <p:cNvPr id="3" name="内容占位符 2">
            <a:extLst>
              <a:ext uri="{FF2B5EF4-FFF2-40B4-BE49-F238E27FC236}">
                <a16:creationId xmlns:a16="http://schemas.microsoft.com/office/drawing/2014/main" id="{B298C34C-22A5-8718-AC3B-6639EEF1A68B}"/>
              </a:ext>
            </a:extLst>
          </p:cNvPr>
          <p:cNvSpPr>
            <a:spLocks noGrp="1"/>
          </p:cNvSpPr>
          <p:nvPr>
            <p:ph sz="quarter" idx="11"/>
          </p:nvPr>
        </p:nvSpPr>
        <p:spPr>
          <a:xfrm>
            <a:off x="486000" y="900000"/>
            <a:ext cx="8172000" cy="3703500"/>
          </a:xfrm>
        </p:spPr>
        <p:txBody>
          <a:bodyPr/>
          <a:lstStyle/>
          <a:p>
            <a:r>
              <a:rPr lang="zh-CN" altLang="en-US" dirty="0"/>
              <a:t>新一代的 </a:t>
            </a:r>
            <a:r>
              <a:rPr lang="en-US" altLang="zh-CN" dirty="0"/>
              <a:t>MPLS</a:t>
            </a:r>
            <a:r>
              <a:rPr lang="zh-CN" altLang="en-US" dirty="0"/>
              <a:t>：段路由选择协议 </a:t>
            </a:r>
            <a:r>
              <a:rPr lang="en-US" altLang="zh-CN" dirty="0"/>
              <a:t>SR</a:t>
            </a:r>
            <a:r>
              <a:rPr lang="zh-CN" altLang="en-US" dirty="0"/>
              <a:t> </a:t>
            </a:r>
            <a:r>
              <a:rPr lang="en-US" altLang="zh-CN" dirty="0"/>
              <a:t>(Segment Routing)</a:t>
            </a:r>
          </a:p>
          <a:p>
            <a:r>
              <a:rPr lang="zh-CN" altLang="en-US" dirty="0"/>
              <a:t>段 </a:t>
            </a:r>
            <a:r>
              <a:rPr lang="en-US" altLang="zh-CN" dirty="0"/>
              <a:t>(segment)</a:t>
            </a:r>
            <a:r>
              <a:rPr lang="zh-CN" altLang="en-US" dirty="0"/>
              <a:t>：标签，是转发指令的一种标识符</a:t>
            </a:r>
            <a:endParaRPr lang="en-US" altLang="zh-CN" dirty="0"/>
          </a:p>
          <a:p>
            <a:r>
              <a:rPr lang="en-US" altLang="zh-CN" dirty="0"/>
              <a:t>SR </a:t>
            </a:r>
            <a:r>
              <a:rPr lang="zh-CN" altLang="en-US" dirty="0"/>
              <a:t>工作原理：</a:t>
            </a:r>
            <a:endParaRPr lang="en-US" altLang="zh-CN" dirty="0"/>
          </a:p>
          <a:p>
            <a:pPr lvl="1"/>
            <a:r>
              <a:rPr lang="zh-CN" altLang="en-US" dirty="0"/>
              <a:t>基于标签交换，但不需要使用协议 </a:t>
            </a:r>
            <a:r>
              <a:rPr lang="en-US" altLang="zh-CN" dirty="0"/>
              <a:t>LDP</a:t>
            </a:r>
          </a:p>
          <a:p>
            <a:pPr lvl="1"/>
            <a:r>
              <a:rPr lang="zh-CN" altLang="en-US" dirty="0"/>
              <a:t>由源节点为发送的报文指定路径，并将路径转换成有序的段列表 </a:t>
            </a:r>
            <a:r>
              <a:rPr lang="en-US" altLang="zh-CN" dirty="0"/>
              <a:t>(Segment List)</a:t>
            </a:r>
            <a:r>
              <a:rPr lang="zh-CN" altLang="en-US" dirty="0"/>
              <a:t>，即 </a:t>
            </a:r>
            <a:r>
              <a:rPr lang="en-US" altLang="zh-CN" dirty="0"/>
              <a:t>MPLS </a:t>
            </a:r>
            <a:r>
              <a:rPr lang="zh-CN" altLang="en-US" dirty="0"/>
              <a:t>标签栈，它被封装在分组首部</a:t>
            </a:r>
            <a:endParaRPr lang="en-US" altLang="zh-CN" dirty="0"/>
          </a:p>
          <a:p>
            <a:pPr lvl="1"/>
            <a:r>
              <a:rPr lang="zh-CN" altLang="en-US" dirty="0"/>
              <a:t>网络中的其他节点就执行首部中的指令（即标签）进行转发</a:t>
            </a:r>
            <a:endParaRPr lang="en-US" altLang="zh-CN" dirty="0"/>
          </a:p>
          <a:p>
            <a:endParaRPr lang="zh-CN" altLang="en-US" dirty="0"/>
          </a:p>
        </p:txBody>
      </p:sp>
    </p:spTree>
    <p:extLst>
      <p:ext uri="{BB962C8B-B14F-4D97-AF65-F5344CB8AC3E}">
        <p14:creationId xmlns:p14="http://schemas.microsoft.com/office/powerpoint/2010/main" val="973399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9D010235-EE26-C60F-9EF1-FD6187D5E385}"/>
              </a:ext>
            </a:extLst>
          </p:cNvPr>
          <p:cNvSpPr>
            <a:spLocks noGrp="1"/>
          </p:cNvSpPr>
          <p:nvPr>
            <p:ph type="title"/>
          </p:nvPr>
        </p:nvSpPr>
        <p:spPr>
          <a:xfrm>
            <a:off x="486000" y="550723"/>
            <a:ext cx="8172000" cy="338554"/>
          </a:xfrm>
        </p:spPr>
        <p:txBody>
          <a:bodyPr/>
          <a:lstStyle/>
          <a:p>
            <a:r>
              <a:rPr lang="zh-CN" altLang="en-US" dirty="0"/>
              <a:t>控制器</a:t>
            </a:r>
          </a:p>
        </p:txBody>
      </p:sp>
      <p:sp>
        <p:nvSpPr>
          <p:cNvPr id="7" name="内容占位符 6">
            <a:extLst>
              <a:ext uri="{FF2B5EF4-FFF2-40B4-BE49-F238E27FC236}">
                <a16:creationId xmlns:a16="http://schemas.microsoft.com/office/drawing/2014/main" id="{C966A802-4A4D-DF49-5104-9280F624B5DE}"/>
              </a:ext>
            </a:extLst>
          </p:cNvPr>
          <p:cNvSpPr>
            <a:spLocks noGrp="1"/>
          </p:cNvSpPr>
          <p:nvPr>
            <p:ph sz="quarter" idx="11"/>
          </p:nvPr>
        </p:nvSpPr>
        <p:spPr>
          <a:xfrm>
            <a:off x="486000" y="900000"/>
            <a:ext cx="8172000" cy="3703500"/>
          </a:xfrm>
        </p:spPr>
        <p:txBody>
          <a:bodyPr/>
          <a:lstStyle/>
          <a:p>
            <a:r>
              <a:rPr lang="zh-CN" altLang="en-US" dirty="0"/>
              <a:t>即 </a:t>
            </a:r>
            <a:r>
              <a:rPr lang="en-US" altLang="zh-CN" dirty="0"/>
              <a:t>SDN </a:t>
            </a:r>
            <a:r>
              <a:rPr lang="zh-CN" altLang="en-US" dirty="0"/>
              <a:t>控制器。负责：</a:t>
            </a:r>
          </a:p>
          <a:p>
            <a:pPr lvl="1"/>
            <a:r>
              <a:rPr lang="zh-CN" altLang="en-US" dirty="0"/>
              <a:t>收集并掌握全网的拓扑信息和链路状态信息，计算出分组应传送的整个路径</a:t>
            </a:r>
            <a:endParaRPr lang="en-US" altLang="zh-CN" dirty="0"/>
          </a:p>
          <a:p>
            <a:pPr lvl="1"/>
            <a:r>
              <a:rPr lang="zh-CN" altLang="en-US" dirty="0"/>
              <a:t>给分组分配 </a:t>
            </a:r>
            <a:r>
              <a:rPr lang="en-US" altLang="zh-CN" dirty="0"/>
              <a:t>SR </a:t>
            </a:r>
            <a:r>
              <a:rPr lang="zh-CN" altLang="en-US" dirty="0"/>
              <a:t>标签，指明分组从源点到终点的路径</a:t>
            </a:r>
            <a:endParaRPr lang="en-US" altLang="zh-CN" dirty="0"/>
          </a:p>
          <a:p>
            <a:r>
              <a:rPr lang="en-US" altLang="zh-CN" dirty="0"/>
              <a:t>SR </a:t>
            </a:r>
            <a:r>
              <a:rPr lang="zh-CN" altLang="en-US" dirty="0"/>
              <a:t>向 </a:t>
            </a:r>
            <a:r>
              <a:rPr lang="en-US" altLang="zh-CN" dirty="0"/>
              <a:t>IPv6 </a:t>
            </a:r>
            <a:r>
              <a:rPr lang="zh-CN" altLang="en-US" dirty="0"/>
              <a:t>演进，这就是 </a:t>
            </a:r>
            <a:r>
              <a:rPr lang="en-US" altLang="zh-CN" dirty="0"/>
              <a:t>SRv6</a:t>
            </a:r>
          </a:p>
          <a:p>
            <a:r>
              <a:rPr lang="en-US" altLang="zh-CN" dirty="0"/>
              <a:t>SRv6 </a:t>
            </a:r>
            <a:r>
              <a:rPr lang="zh-CN" altLang="en-US" dirty="0"/>
              <a:t>直接利用 </a:t>
            </a:r>
            <a:r>
              <a:rPr lang="en-US" altLang="zh-CN" dirty="0"/>
              <a:t>IPv6 </a:t>
            </a:r>
            <a:r>
              <a:rPr lang="zh-CN" altLang="en-US" dirty="0"/>
              <a:t>字段作为标签寻址 </a:t>
            </a:r>
            <a:r>
              <a:rPr lang="en-US" altLang="zh-CN" dirty="0"/>
              <a:t>(Locator)</a:t>
            </a:r>
            <a:endParaRPr lang="zh-CN" altLang="en-US" dirty="0"/>
          </a:p>
          <a:p>
            <a:endParaRPr lang="en-US" altLang="zh-CN" dirty="0"/>
          </a:p>
          <a:p>
            <a:endParaRPr lang="zh-CN" altLang="en-US" dirty="0"/>
          </a:p>
        </p:txBody>
      </p:sp>
    </p:spTree>
    <p:extLst>
      <p:ext uri="{BB962C8B-B14F-4D97-AF65-F5344CB8AC3E}">
        <p14:creationId xmlns:p14="http://schemas.microsoft.com/office/powerpoint/2010/main" val="1623281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占位符 17">
            <a:extLst>
              <a:ext uri="{FF2B5EF4-FFF2-40B4-BE49-F238E27FC236}">
                <a16:creationId xmlns:a16="http://schemas.microsoft.com/office/drawing/2014/main" id="{69F581E4-B529-8BA0-DECC-532B607E2757}"/>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BFCA0809-883B-4CF0-2177-3A072508BEF5}"/>
              </a:ext>
            </a:extLst>
          </p:cNvPr>
          <p:cNvSpPr>
            <a:spLocks noGrp="1"/>
          </p:cNvSpPr>
          <p:nvPr>
            <p:ph type="title"/>
          </p:nvPr>
        </p:nvSpPr>
        <p:spPr>
          <a:xfrm>
            <a:off x="628650" y="1790739"/>
            <a:ext cx="4320000" cy="553998"/>
          </a:xfrm>
        </p:spPr>
        <p:txBody>
          <a:bodyPr/>
          <a:lstStyle/>
          <a:p>
            <a:r>
              <a:rPr lang="fr-FR" altLang="zh-CN" dirty="0"/>
              <a:t>4.10</a:t>
            </a:r>
            <a:r>
              <a:rPr lang="zh-CN" altLang="en-US" dirty="0"/>
              <a:t> </a:t>
            </a:r>
            <a:r>
              <a:rPr lang="en-US" altLang="zh-CN" dirty="0"/>
              <a:t>SDN</a:t>
            </a:r>
            <a:endParaRPr lang="zh-CN" altLang="en-US" dirty="0"/>
          </a:p>
        </p:txBody>
      </p:sp>
      <p:sp>
        <p:nvSpPr>
          <p:cNvPr id="6" name="文本占位符 5">
            <a:extLst>
              <a:ext uri="{FF2B5EF4-FFF2-40B4-BE49-F238E27FC236}">
                <a16:creationId xmlns:a16="http://schemas.microsoft.com/office/drawing/2014/main" id="{D656AD38-CFEF-0F23-F4F4-1A441D80C692}"/>
              </a:ext>
            </a:extLst>
          </p:cNvPr>
          <p:cNvSpPr>
            <a:spLocks noGrp="1"/>
          </p:cNvSpPr>
          <p:nvPr>
            <p:ph type="body" sz="quarter" idx="11"/>
          </p:nvPr>
        </p:nvSpPr>
        <p:spPr>
          <a:xfrm>
            <a:off x="628100" y="2344736"/>
            <a:ext cx="4320000" cy="1870075"/>
          </a:xfrm>
        </p:spPr>
        <p:txBody>
          <a:bodyPr/>
          <a:lstStyle/>
          <a:p>
            <a:r>
              <a:rPr lang="zh-CN" altLang="en-US" dirty="0"/>
              <a:t>软件定义网络</a:t>
            </a:r>
            <a:endParaRPr lang="en-US" altLang="zh-CN" dirty="0"/>
          </a:p>
          <a:p>
            <a:r>
              <a:rPr lang="en-US" altLang="zh-CN" dirty="0"/>
              <a:t>· SDN </a:t>
            </a:r>
            <a:r>
              <a:rPr lang="zh-CN" altLang="en-US" dirty="0"/>
              <a:t>与协议 </a:t>
            </a:r>
            <a:r>
              <a:rPr lang="en-US" altLang="zh-CN" dirty="0"/>
              <a:t>OpenFlow</a:t>
            </a:r>
            <a:endParaRPr lang="zh-CN" altLang="en-US" dirty="0"/>
          </a:p>
          <a:p>
            <a:r>
              <a:rPr lang="en-US" altLang="zh-CN" dirty="0"/>
              <a:t>· SDN </a:t>
            </a:r>
            <a:r>
              <a:rPr lang="zh-CN" altLang="en-US" dirty="0"/>
              <a:t>体系结构</a:t>
            </a:r>
            <a:endParaRPr lang="en-US" altLang="zh-CN" dirty="0"/>
          </a:p>
          <a:p>
            <a:r>
              <a:rPr lang="en-US" altLang="zh-CN" dirty="0"/>
              <a:t>· SDN </a:t>
            </a:r>
            <a:r>
              <a:rPr lang="zh-CN" altLang="en-US" dirty="0"/>
              <a:t>控制器</a:t>
            </a:r>
            <a:endParaRPr lang="en-US" altLang="zh-CN" dirty="0"/>
          </a:p>
          <a:p>
            <a:endParaRPr lang="zh-CN" altLang="en-US" dirty="0"/>
          </a:p>
        </p:txBody>
      </p:sp>
    </p:spTree>
    <p:extLst>
      <p:ext uri="{BB962C8B-B14F-4D97-AF65-F5344CB8AC3E}">
        <p14:creationId xmlns:p14="http://schemas.microsoft.com/office/powerpoint/2010/main" val="21457250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AC9C574-9A27-2DFF-B44E-5C6F7F246F9D}"/>
              </a:ext>
            </a:extLst>
          </p:cNvPr>
          <p:cNvSpPr>
            <a:spLocks noGrp="1"/>
          </p:cNvSpPr>
          <p:nvPr>
            <p:ph type="title"/>
          </p:nvPr>
        </p:nvSpPr>
        <p:spPr>
          <a:xfrm>
            <a:off x="486000" y="550723"/>
            <a:ext cx="8172000" cy="338554"/>
          </a:xfrm>
        </p:spPr>
        <p:txBody>
          <a:bodyPr/>
          <a:lstStyle/>
          <a:p>
            <a:r>
              <a:rPr lang="en-US" altLang="zh-CN" dirty="0"/>
              <a:t>4.10   </a:t>
            </a:r>
            <a:r>
              <a:rPr lang="zh-CN" altLang="en-US" dirty="0"/>
              <a:t>软件定义网络 </a:t>
            </a:r>
            <a:r>
              <a:rPr lang="en-US" altLang="zh-CN" dirty="0"/>
              <a:t>SDN </a:t>
            </a:r>
            <a:r>
              <a:rPr lang="zh-CN" altLang="en-US" dirty="0"/>
              <a:t>简介</a:t>
            </a:r>
          </a:p>
        </p:txBody>
      </p:sp>
      <p:sp>
        <p:nvSpPr>
          <p:cNvPr id="3" name="内容占位符 2">
            <a:extLst>
              <a:ext uri="{FF2B5EF4-FFF2-40B4-BE49-F238E27FC236}">
                <a16:creationId xmlns:a16="http://schemas.microsoft.com/office/drawing/2014/main" id="{E941C5F4-9542-B189-1180-6D1A89EF9367}"/>
              </a:ext>
            </a:extLst>
          </p:cNvPr>
          <p:cNvSpPr>
            <a:spLocks noGrp="1"/>
          </p:cNvSpPr>
          <p:nvPr>
            <p:ph sz="quarter" idx="11"/>
          </p:nvPr>
        </p:nvSpPr>
        <p:spPr>
          <a:xfrm>
            <a:off x="486000" y="900000"/>
            <a:ext cx="8172000" cy="3703500"/>
          </a:xfrm>
        </p:spPr>
        <p:txBody>
          <a:bodyPr/>
          <a:lstStyle/>
          <a:p>
            <a:r>
              <a:rPr lang="zh-CN" altLang="en-US" dirty="0"/>
              <a:t>软件定义网络 </a:t>
            </a:r>
            <a:r>
              <a:rPr lang="en-US" altLang="zh-CN" dirty="0"/>
              <a:t>SDN</a:t>
            </a:r>
            <a:r>
              <a:rPr lang="zh-CN" altLang="en-US" dirty="0"/>
              <a:t>（</a:t>
            </a:r>
            <a:r>
              <a:rPr lang="en-US" altLang="zh-CN" dirty="0"/>
              <a:t>Software Defined Network</a:t>
            </a:r>
            <a:r>
              <a:rPr lang="zh-CN" altLang="en-US" dirty="0"/>
              <a:t>）由斯坦福大学</a:t>
            </a:r>
            <a:r>
              <a:rPr lang="en-US" altLang="zh-CN" dirty="0"/>
              <a:t>N. McKeown </a:t>
            </a:r>
            <a:r>
              <a:rPr lang="zh-CN" altLang="en-US" dirty="0"/>
              <a:t>于 </a:t>
            </a:r>
            <a:r>
              <a:rPr lang="en-US" altLang="zh-CN" dirty="0"/>
              <a:t>2009 </a:t>
            </a:r>
            <a:r>
              <a:rPr lang="zh-CN" altLang="en-US" dirty="0"/>
              <a:t>年首先提出</a:t>
            </a:r>
            <a:endParaRPr lang="en-US" altLang="zh-CN" dirty="0"/>
          </a:p>
          <a:p>
            <a:r>
              <a:rPr lang="zh-CN" altLang="en-US" dirty="0"/>
              <a:t>谷歌于 </a:t>
            </a:r>
            <a:r>
              <a:rPr lang="en-US" altLang="zh-CN" dirty="0"/>
              <a:t>2010 ~ 2012 </a:t>
            </a:r>
            <a:r>
              <a:rPr lang="zh-CN" altLang="en-US" dirty="0"/>
              <a:t>年的数据中心网络 </a:t>
            </a:r>
            <a:r>
              <a:rPr lang="en-US" altLang="zh-CN" dirty="0"/>
              <a:t>B4 </a:t>
            </a:r>
            <a:r>
              <a:rPr lang="zh-CN" altLang="en-US" dirty="0"/>
              <a:t>进行了运行验证</a:t>
            </a:r>
            <a:endParaRPr lang="en-US" altLang="zh-CN" dirty="0"/>
          </a:p>
          <a:p>
            <a:r>
              <a:rPr lang="zh-CN" altLang="en-US" dirty="0"/>
              <a:t>优点：</a:t>
            </a:r>
            <a:endParaRPr lang="en-US" altLang="zh-CN" dirty="0"/>
          </a:p>
          <a:p>
            <a:pPr lvl="1"/>
            <a:r>
              <a:rPr lang="zh-CN" altLang="en-US" dirty="0"/>
              <a:t>提高网络带宽利用率</a:t>
            </a:r>
            <a:endParaRPr lang="en-US" altLang="zh-CN" dirty="0"/>
          </a:p>
          <a:p>
            <a:pPr lvl="1"/>
            <a:r>
              <a:rPr lang="zh-CN" altLang="en-US" dirty="0"/>
              <a:t>网络运行更加稳定</a:t>
            </a:r>
            <a:endParaRPr lang="en-US" altLang="zh-CN" dirty="0"/>
          </a:p>
          <a:p>
            <a:pPr lvl="1"/>
            <a:r>
              <a:rPr lang="zh-CN" altLang="en-US" dirty="0"/>
              <a:t>管理更加高效简化</a:t>
            </a:r>
            <a:endParaRPr lang="en-US" altLang="zh-CN" dirty="0"/>
          </a:p>
          <a:p>
            <a:pPr lvl="1"/>
            <a:r>
              <a:rPr lang="zh-CN" altLang="en-US" dirty="0"/>
              <a:t>运行费用明显降低</a:t>
            </a:r>
            <a:endParaRPr lang="en-US" altLang="zh-CN" dirty="0"/>
          </a:p>
          <a:p>
            <a:endParaRPr lang="zh-CN" altLang="en-US" dirty="0"/>
          </a:p>
        </p:txBody>
      </p:sp>
    </p:spTree>
    <p:extLst>
      <p:ext uri="{BB962C8B-B14F-4D97-AF65-F5344CB8AC3E}">
        <p14:creationId xmlns:p14="http://schemas.microsoft.com/office/powerpoint/2010/main" val="4040709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图示 8"/>
          <p:cNvGraphicFramePr/>
          <p:nvPr>
            <p:extLst>
              <p:ext uri="{D42A27DB-BD31-4B8C-83A1-F6EECF244321}">
                <p14:modId xmlns:p14="http://schemas.microsoft.com/office/powerpoint/2010/main" val="407750988"/>
              </p:ext>
            </p:extLst>
          </p:nvPr>
        </p:nvGraphicFramePr>
        <p:xfrm>
          <a:off x="553229" y="1023308"/>
          <a:ext cx="5105643" cy="35939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5793163" y="3169636"/>
            <a:ext cx="2677191" cy="1118255"/>
          </a:xfrm>
          <a:prstGeom prst="rect">
            <a:avLst/>
          </a:prstGeom>
          <a:solidFill>
            <a:schemeClr val="accent6">
              <a:lumMod val="60000"/>
              <a:lumOff val="40000"/>
            </a:schemeClr>
          </a:solidFill>
        </p:spPr>
        <p:txBody>
          <a:bodyPr wrap="square">
            <a:spAutoFit/>
          </a:bodyPr>
          <a:lstStyle/>
          <a:p>
            <a:pPr>
              <a:lnSpc>
                <a:spcPts val="2000"/>
              </a:lnSpc>
            </a:pPr>
            <a:r>
              <a:rPr lang="zh-CN" altLang="en-US" sz="1400" dirty="0">
                <a:solidFill>
                  <a:srgbClr val="0000FF"/>
                </a:solidFill>
                <a:latin typeface="微软雅黑" panose="020B0503020204020204" pitchFamily="34" charset="-122"/>
                <a:ea typeface="微软雅黑" panose="020B0503020204020204" pitchFamily="34" charset="-122"/>
              </a:rPr>
              <a:t>注意：</a:t>
            </a:r>
            <a:endParaRPr lang="en-US" altLang="zh-CN" sz="1400" dirty="0">
              <a:solidFill>
                <a:srgbClr val="0000FF"/>
              </a:solidFill>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不是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endParaRPr lang="en-US" altLang="zh-CN" sz="1400"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dirty="0">
                <a:latin typeface="微软雅黑" panose="020B0503020204020204" pitchFamily="34" charset="-122"/>
                <a:ea typeface="微软雅黑" panose="020B0503020204020204" pitchFamily="34" charset="-122"/>
              </a:rPr>
              <a:t>SDN </a:t>
            </a:r>
            <a:r>
              <a:rPr lang="zh-CN" altLang="en-US" sz="1400" dirty="0">
                <a:latin typeface="微软雅黑" panose="020B0503020204020204" pitchFamily="34" charset="-122"/>
                <a:ea typeface="微软雅黑" panose="020B0503020204020204" pitchFamily="34" charset="-122"/>
              </a:rPr>
              <a:t>未规定必须使用 </a:t>
            </a:r>
            <a:r>
              <a:rPr lang="en-US" altLang="zh-CN" sz="1400" dirty="0" err="1">
                <a:latin typeface="微软雅黑" panose="020B0503020204020204" pitchFamily="34" charset="-122"/>
                <a:ea typeface="微软雅黑" panose="020B0503020204020204" pitchFamily="34" charset="-122"/>
              </a:rPr>
              <a:t>OpenFlow</a:t>
            </a:r>
            <a:r>
              <a:rPr lang="zh-CN" altLang="en-US" sz="1400" dirty="0">
                <a:latin typeface="微软雅黑" panose="020B0503020204020204" pitchFamily="34" charset="-122"/>
                <a:ea typeface="微软雅黑" panose="020B0503020204020204" pitchFamily="34" charset="-122"/>
              </a:rPr>
              <a:t>。</a:t>
            </a:r>
          </a:p>
        </p:txBody>
      </p:sp>
      <p:grpSp>
        <p:nvGrpSpPr>
          <p:cNvPr id="17" name="组合 16"/>
          <p:cNvGrpSpPr/>
          <p:nvPr/>
        </p:nvGrpSpPr>
        <p:grpSpPr>
          <a:xfrm>
            <a:off x="5766005" y="1330858"/>
            <a:ext cx="3264210" cy="1614020"/>
            <a:chOff x="5766005" y="1330858"/>
            <a:chExt cx="3264210" cy="1614020"/>
          </a:xfrm>
        </p:grpSpPr>
        <p:grpSp>
          <p:nvGrpSpPr>
            <p:cNvPr id="7" name="组合 6"/>
            <p:cNvGrpSpPr/>
            <p:nvPr/>
          </p:nvGrpSpPr>
          <p:grpSpPr>
            <a:xfrm>
              <a:off x="5766005" y="1330858"/>
              <a:ext cx="2656528" cy="1614020"/>
              <a:chOff x="5423026" y="1627121"/>
              <a:chExt cx="3755520" cy="1728192"/>
            </a:xfrm>
          </p:grpSpPr>
          <p:sp>
            <p:nvSpPr>
              <p:cNvPr id="8" name="圆角矩形 7"/>
              <p:cNvSpPr/>
              <p:nvPr/>
            </p:nvSpPr>
            <p:spPr>
              <a:xfrm>
                <a:off x="5423026" y="2995273"/>
                <a:ext cx="3456384" cy="360040"/>
              </a:xfrm>
              <a:prstGeom prst="roundRect">
                <a:avLst/>
              </a:prstGeom>
              <a:solidFill>
                <a:srgbClr val="33CC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数据层面</a:t>
                </a:r>
              </a:p>
            </p:txBody>
          </p:sp>
          <p:sp>
            <p:nvSpPr>
              <p:cNvPr id="10" name="圆角矩形 9"/>
              <p:cNvSpPr/>
              <p:nvPr/>
            </p:nvSpPr>
            <p:spPr>
              <a:xfrm>
                <a:off x="5423026" y="2131177"/>
                <a:ext cx="3456384" cy="360040"/>
              </a:xfrm>
              <a:prstGeom prst="roundRect">
                <a:avLst/>
              </a:prstGeom>
              <a:solidFill>
                <a:srgbClr val="66FF3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控制层面（网络操作系统）</a:t>
                </a:r>
              </a:p>
            </p:txBody>
          </p:sp>
          <p:cxnSp>
            <p:nvCxnSpPr>
              <p:cNvPr id="11" name="直接箭头连接符 10"/>
              <p:cNvCxnSpPr>
                <a:stCxn id="10" idx="2"/>
                <a:endCxn id="8" idx="0"/>
              </p:cNvCxnSpPr>
              <p:nvPr/>
            </p:nvCxnSpPr>
            <p:spPr>
              <a:xfrm>
                <a:off x="7151218" y="2491217"/>
                <a:ext cx="0" cy="504056"/>
              </a:xfrm>
              <a:prstGeom prst="straightConnector1">
                <a:avLst/>
              </a:prstGeom>
              <a:ln w="28575">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 name="TextBox 8"/>
              <p:cNvSpPr txBox="1"/>
              <p:nvPr/>
            </p:nvSpPr>
            <p:spPr>
              <a:xfrm>
                <a:off x="7100027" y="2572919"/>
                <a:ext cx="2078519" cy="329548"/>
              </a:xfrm>
              <a:prstGeom prst="rect">
                <a:avLst/>
              </a:prstGeom>
              <a:noFill/>
            </p:spPr>
            <p:txBody>
              <a:bodyPr wrap="none" rtlCol="0">
                <a:spAutoFit/>
              </a:bodyPr>
              <a:lstStyle/>
              <a:p>
                <a:r>
                  <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rPr>
                  <a:t>协议 </a:t>
                </a:r>
                <a:r>
                  <a:rPr lang="en-US" altLang="zh-CN" sz="1400" dirty="0" err="1">
                    <a:solidFill>
                      <a:srgbClr val="C00000"/>
                    </a:solidFill>
                    <a:latin typeface="微软雅黑" panose="020B0503020204020204" pitchFamily="34" charset="-122"/>
                    <a:ea typeface="微软雅黑" panose="020B0503020204020204" pitchFamily="34" charset="-122"/>
                    <a:cs typeface="Times New Roman" pitchFamily="18" charset="0"/>
                  </a:rPr>
                  <a:t>OpenFlow</a:t>
                </a:r>
                <a:endParaRPr lang="zh-CN" altLang="en-US" sz="1400"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13" name="圆角矩形 12"/>
              <p:cNvSpPr/>
              <p:nvPr/>
            </p:nvSpPr>
            <p:spPr>
              <a:xfrm>
                <a:off x="6143106"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1</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4" name="圆角矩形 13"/>
              <p:cNvSpPr/>
              <p:nvPr/>
            </p:nvSpPr>
            <p:spPr>
              <a:xfrm>
                <a:off x="7295234"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微软雅黑" panose="020B0503020204020204" pitchFamily="34" charset="-122"/>
                    <a:ea typeface="微软雅黑" panose="020B0503020204020204" pitchFamily="34" charset="-122"/>
                    <a:cs typeface="Times New Roman" pitchFamily="18" charset="0"/>
                  </a:rPr>
                  <a:t>AP</a:t>
                </a:r>
                <a:r>
                  <a:rPr lang="en-US" altLang="zh-CN" sz="1400" baseline="-25000" dirty="0">
                    <a:solidFill>
                      <a:schemeClr val="tx1"/>
                    </a:solidFill>
                    <a:latin typeface="微软雅黑" panose="020B0503020204020204" pitchFamily="34" charset="-122"/>
                    <a:ea typeface="微软雅黑" panose="020B0503020204020204" pitchFamily="34" charset="-122"/>
                    <a:cs typeface="Times New Roman" pitchFamily="18" charset="0"/>
                  </a:rPr>
                  <a:t>2</a:t>
                </a:r>
                <a:endParaRPr lang="zh-CN" altLang="en-US" sz="1400" baseline="-25000"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grpSp>
        <p:sp>
          <p:nvSpPr>
            <p:cNvPr id="3" name="右大括号 2"/>
            <p:cNvSpPr/>
            <p:nvPr/>
          </p:nvSpPr>
          <p:spPr>
            <a:xfrm>
              <a:off x="8361044" y="1330858"/>
              <a:ext cx="137776" cy="1614020"/>
            </a:xfrm>
            <a:prstGeom prst="rightBrace">
              <a:avLst>
                <a:gd name="adj1" fmla="val 47251"/>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8443195" y="1989414"/>
              <a:ext cx="587020" cy="307777"/>
            </a:xfrm>
            <a:prstGeom prst="rect">
              <a:avLst/>
            </a:prstGeom>
          </p:spPr>
          <p:txBody>
            <a:bodyPr wrap="none">
              <a:spAutoFit/>
            </a:bodyPr>
            <a:lstStyle/>
            <a:p>
              <a:pPr lvl="0"/>
              <a:r>
                <a:rPr lang="en-US" altLang="en-US" sz="1400" dirty="0">
                  <a:latin typeface="微软雅黑" panose="020B0503020204020204" pitchFamily="34" charset="-122"/>
                  <a:ea typeface="微软雅黑" panose="020B0503020204020204" pitchFamily="34" charset="-122"/>
                </a:rPr>
                <a:t>SDN</a:t>
              </a:r>
              <a:endParaRPr lang="zh-CN" altLang="en-US" sz="1400" dirty="0"/>
            </a:p>
          </p:txBody>
        </p:sp>
      </p:grpSp>
      <p:sp>
        <p:nvSpPr>
          <p:cNvPr id="5" name="标题 4">
            <a:extLst>
              <a:ext uri="{FF2B5EF4-FFF2-40B4-BE49-F238E27FC236}">
                <a16:creationId xmlns:a16="http://schemas.microsoft.com/office/drawing/2014/main" id="{783B52CB-D906-7462-AE96-30C10868F402}"/>
              </a:ext>
            </a:extLst>
          </p:cNvPr>
          <p:cNvSpPr>
            <a:spLocks noGrp="1"/>
          </p:cNvSpPr>
          <p:nvPr>
            <p:ph type="title"/>
          </p:nvPr>
        </p:nvSpPr>
        <p:spPr>
          <a:xfrm>
            <a:off x="486000" y="550723"/>
            <a:ext cx="8172000" cy="338554"/>
          </a:xfrm>
        </p:spPr>
        <p:txBody>
          <a:bodyPr/>
          <a:lstStyle/>
          <a:p>
            <a:r>
              <a:rPr lang="en-US" altLang="zh-CN" dirty="0"/>
              <a:t>4.10.1  SDN </a:t>
            </a:r>
            <a:r>
              <a:rPr lang="zh-CN" altLang="en-US" dirty="0"/>
              <a:t>与 协议 </a:t>
            </a:r>
            <a:r>
              <a:rPr lang="en-US" altLang="zh-CN" dirty="0"/>
              <a:t>OpenFlow</a:t>
            </a:r>
            <a:endParaRPr lang="zh-CN" altLang="en-US" dirty="0"/>
          </a:p>
        </p:txBody>
      </p:sp>
    </p:spTree>
    <p:extLst>
      <p:ext uri="{BB962C8B-B14F-4D97-AF65-F5344CB8AC3E}">
        <p14:creationId xmlns:p14="http://schemas.microsoft.com/office/powerpoint/2010/main" val="39912420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597536" y="1176950"/>
            <a:ext cx="7849347" cy="2181885"/>
            <a:chOff x="414667" y="1233660"/>
            <a:chExt cx="8294767" cy="2270031"/>
          </a:xfrm>
        </p:grpSpPr>
        <p:sp>
          <p:nvSpPr>
            <p:cNvPr id="4" name="燕尾形箭头 3"/>
            <p:cNvSpPr/>
            <p:nvPr/>
          </p:nvSpPr>
          <p:spPr>
            <a:xfrm>
              <a:off x="616716" y="1879360"/>
              <a:ext cx="8092718" cy="860934"/>
            </a:xfrm>
            <a:prstGeom prst="notchedRightArrow">
              <a:avLst/>
            </a:prstGeom>
          </p:spPr>
          <p:style>
            <a:lnRef idx="0">
              <a:schemeClr val="dk1">
                <a:hueOff val="0"/>
                <a:satOff val="0"/>
                <a:lumOff val="0"/>
                <a:alphaOff val="0"/>
              </a:schemeClr>
            </a:lnRef>
            <a:fillRef idx="1">
              <a:schemeClr val="accent2">
                <a:tint val="40000"/>
                <a:hueOff val="0"/>
                <a:satOff val="0"/>
                <a:lumOff val="0"/>
                <a:alphaOff val="0"/>
              </a:schemeClr>
            </a:fillRef>
            <a:effectRef idx="0">
              <a:schemeClr val="accent2">
                <a:tint val="40000"/>
                <a:hueOff val="0"/>
                <a:satOff val="0"/>
                <a:lumOff val="0"/>
                <a:alphaOff val="0"/>
              </a:schemeClr>
            </a:effectRef>
            <a:fontRef idx="minor">
              <a:schemeClr val="dk1">
                <a:hueOff val="0"/>
                <a:satOff val="0"/>
                <a:lumOff val="0"/>
                <a:alphaOff val="0"/>
              </a:schemeClr>
            </a:fontRef>
          </p:style>
        </p:sp>
        <p:sp>
          <p:nvSpPr>
            <p:cNvPr id="15" name="任意多边形 14"/>
            <p:cNvSpPr/>
            <p:nvPr/>
          </p:nvSpPr>
          <p:spPr>
            <a:xfrm>
              <a:off x="414667" y="1233660"/>
              <a:ext cx="1565781" cy="860934"/>
            </a:xfrm>
            <a:custGeom>
              <a:avLst/>
              <a:gdLst>
                <a:gd name="connsiteX0" fmla="*/ 0 w 1144364"/>
                <a:gd name="connsiteY0" fmla="*/ 0 h 860934"/>
                <a:gd name="connsiteX1" fmla="*/ 1144364 w 1144364"/>
                <a:gd name="connsiteY1" fmla="*/ 0 h 860934"/>
                <a:gd name="connsiteX2" fmla="*/ 1144364 w 1144364"/>
                <a:gd name="connsiteY2" fmla="*/ 860934 h 860934"/>
                <a:gd name="connsiteX3" fmla="*/ 0 w 1144364"/>
                <a:gd name="connsiteY3" fmla="*/ 860934 h 860934"/>
                <a:gd name="connsiteX4" fmla="*/ 0 w 1144364"/>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4364" h="860934">
                  <a:moveTo>
                    <a:pt x="0" y="0"/>
                  </a:moveTo>
                  <a:lnTo>
                    <a:pt x="1144364" y="0"/>
                  </a:lnTo>
                  <a:lnTo>
                    <a:pt x="1144364"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1.0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2009</a:t>
              </a:r>
              <a:endParaRPr lang="zh-CN" altLang="en-US" sz="1400" kern="1200" dirty="0">
                <a:latin typeface="微软雅黑" panose="020B0503020204020204" pitchFamily="34" charset="-122"/>
                <a:ea typeface="微软雅黑" panose="020B0503020204020204" pitchFamily="34" charset="-122"/>
              </a:endParaRPr>
            </a:p>
          </p:txBody>
        </p:sp>
        <p:sp>
          <p:nvSpPr>
            <p:cNvPr id="16" name="椭圆 15"/>
            <p:cNvSpPr/>
            <p:nvPr/>
          </p:nvSpPr>
          <p:spPr>
            <a:xfrm>
              <a:off x="1086351" y="2202210"/>
              <a:ext cx="215233" cy="215233"/>
            </a:xfrm>
            <a:prstGeom prst="ellipse">
              <a:avLst/>
            </a:prstGeom>
          </p:spPr>
          <p:style>
            <a:lnRef idx="2">
              <a:schemeClr val="lt1">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sp>
        <p:sp>
          <p:nvSpPr>
            <p:cNvPr id="17" name="任意多边形 16"/>
            <p:cNvSpPr/>
            <p:nvPr/>
          </p:nvSpPr>
          <p:spPr>
            <a:xfrm>
              <a:off x="1558551" y="2525062"/>
              <a:ext cx="2164906" cy="978629"/>
            </a:xfrm>
            <a:custGeom>
              <a:avLst/>
              <a:gdLst>
                <a:gd name="connsiteX0" fmla="*/ 0 w 1506485"/>
                <a:gd name="connsiteY0" fmla="*/ 0 h 860934"/>
                <a:gd name="connsiteX1" fmla="*/ 1506485 w 1506485"/>
                <a:gd name="connsiteY1" fmla="*/ 0 h 860934"/>
                <a:gd name="connsiteX2" fmla="*/ 1506485 w 1506485"/>
                <a:gd name="connsiteY2" fmla="*/ 860934 h 860934"/>
                <a:gd name="connsiteX3" fmla="*/ 0 w 1506485"/>
                <a:gd name="connsiteY3" fmla="*/ 860934 h 860934"/>
                <a:gd name="connsiteX4" fmla="*/ 0 w 15064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6485" h="860934">
                  <a:moveTo>
                    <a:pt x="0" y="0"/>
                  </a:moveTo>
                  <a:lnTo>
                    <a:pt x="1506485" y="0"/>
                  </a:lnTo>
                  <a:lnTo>
                    <a:pt x="15064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2 </a:t>
              </a:r>
            </a:p>
            <a:p>
              <a:pPr lvl="0" algn="ctr" defTabSz="488950">
                <a:lnSpc>
                  <a:spcPts val="2000"/>
                </a:lnSpc>
                <a:spcBef>
                  <a:spcPct val="0"/>
                </a:spcBef>
                <a:spcAft>
                  <a:spcPts val="0"/>
                </a:spcAft>
              </a:pPr>
              <a:r>
                <a:rPr lang="en-US" altLang="zh-CN" sz="1400" kern="1200" dirty="0">
                  <a:latin typeface="微软雅黑" panose="020B0503020204020204" pitchFamily="34" charset="-122"/>
                  <a:ea typeface="微软雅黑" panose="020B0503020204020204" pitchFamily="34" charset="-122"/>
                </a:rPr>
                <a:t>2011-12 </a:t>
              </a:r>
            </a:p>
            <a:p>
              <a:pPr lvl="0" algn="ctr" defTabSz="488950">
                <a:lnSpc>
                  <a:spcPts val="2000"/>
                </a:lnSpc>
                <a:spcBef>
                  <a:spcPct val="0"/>
                </a:spcBef>
                <a:spcAft>
                  <a:spcPts val="0"/>
                </a:spcAft>
              </a:pPr>
              <a:r>
                <a:rPr lang="zh-CN" altLang="en-US" sz="1400" kern="1200" dirty="0">
                  <a:latin typeface="微软雅黑" panose="020B0503020204020204" pitchFamily="34" charset="-122"/>
                  <a:ea typeface="微软雅黑" panose="020B0503020204020204" pitchFamily="34" charset="-122"/>
                </a:rPr>
                <a:t>开放网络基金会 </a:t>
              </a:r>
              <a:r>
                <a:rPr lang="en-US" altLang="en-US" sz="1400" kern="1200" dirty="0">
                  <a:latin typeface="微软雅黑" panose="020B0503020204020204" pitchFamily="34" charset="-122"/>
                  <a:ea typeface="微软雅黑" panose="020B0503020204020204" pitchFamily="34" charset="-122"/>
                </a:rPr>
                <a:t>ONF</a:t>
              </a:r>
              <a:r>
                <a:rPr lang="zh-CN" altLang="en-US" sz="1400" kern="1200" dirty="0">
                  <a:latin typeface="微软雅黑" panose="020B0503020204020204" pitchFamily="34" charset="-122"/>
                  <a:ea typeface="微软雅黑" panose="020B0503020204020204" pitchFamily="34" charset="-122"/>
                </a:rPr>
                <a:t>（</a:t>
              </a:r>
              <a:r>
                <a:rPr lang="en-US" altLang="en-US" sz="1400" kern="1200" dirty="0">
                  <a:latin typeface="微软雅黑" panose="020B0503020204020204" pitchFamily="34" charset="-122"/>
                  <a:ea typeface="微软雅黑" panose="020B0503020204020204" pitchFamily="34" charset="-122"/>
                </a:rPr>
                <a:t>Open Networking Foundation</a:t>
              </a:r>
              <a:r>
                <a:rPr lang="zh-CN" altLang="en-US" sz="1400" kern="1200" dirty="0">
                  <a:latin typeface="微软雅黑" panose="020B0503020204020204" pitchFamily="34" charset="-122"/>
                  <a:ea typeface="微软雅黑" panose="020B0503020204020204" pitchFamily="34" charset="-122"/>
                </a:rPr>
                <a:t>）发布</a:t>
              </a:r>
            </a:p>
          </p:txBody>
        </p:sp>
        <p:sp>
          <p:nvSpPr>
            <p:cNvPr id="18" name="椭圆 17"/>
            <p:cNvSpPr/>
            <p:nvPr/>
          </p:nvSpPr>
          <p:spPr>
            <a:xfrm>
              <a:off x="2460142" y="2202210"/>
              <a:ext cx="215233" cy="215233"/>
            </a:xfrm>
            <a:prstGeom prst="ellipse">
              <a:avLst/>
            </a:prstGeom>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sp>
        <p:sp>
          <p:nvSpPr>
            <p:cNvPr id="19" name="任意多边形 18"/>
            <p:cNvSpPr/>
            <p:nvPr/>
          </p:nvSpPr>
          <p:spPr>
            <a:xfrm>
              <a:off x="3245000" y="1233660"/>
              <a:ext cx="1696146" cy="860934"/>
            </a:xfrm>
            <a:custGeom>
              <a:avLst/>
              <a:gdLst>
                <a:gd name="connsiteX0" fmla="*/ 0 w 1420885"/>
                <a:gd name="connsiteY0" fmla="*/ 0 h 860934"/>
                <a:gd name="connsiteX1" fmla="*/ 1420885 w 1420885"/>
                <a:gd name="connsiteY1" fmla="*/ 0 h 860934"/>
                <a:gd name="connsiteX2" fmla="*/ 1420885 w 1420885"/>
                <a:gd name="connsiteY2" fmla="*/ 860934 h 860934"/>
                <a:gd name="connsiteX3" fmla="*/ 0 w 1420885"/>
                <a:gd name="connsiteY3" fmla="*/ 860934 h 860934"/>
                <a:gd name="connsiteX4" fmla="*/ 0 w 14208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0885" h="860934">
                  <a:moveTo>
                    <a:pt x="0" y="0"/>
                  </a:moveTo>
                  <a:lnTo>
                    <a:pt x="1420885" y="0"/>
                  </a:lnTo>
                  <a:lnTo>
                    <a:pt x="14208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a:t>
              </a:r>
              <a:r>
                <a:rPr lang="en-US" altLang="zh-CN" sz="1400" kern="1200" dirty="0">
                  <a:latin typeface="微软雅黑" panose="020B0503020204020204" pitchFamily="34" charset="-122"/>
                  <a:ea typeface="微软雅黑" panose="020B0503020204020204" pitchFamily="34" charset="-122"/>
                </a:rPr>
                <a:t>x</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2</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4</a:t>
              </a:r>
              <a:endParaRPr lang="zh-CN" altLang="en-US" sz="1400" kern="1200" dirty="0">
                <a:latin typeface="微软雅黑" panose="020B0503020204020204" pitchFamily="34" charset="-122"/>
                <a:ea typeface="微软雅黑" panose="020B0503020204020204" pitchFamily="34" charset="-122"/>
              </a:endParaRPr>
            </a:p>
          </p:txBody>
        </p:sp>
        <p:sp>
          <p:nvSpPr>
            <p:cNvPr id="20" name="椭圆 19"/>
            <p:cNvSpPr/>
            <p:nvPr/>
          </p:nvSpPr>
          <p:spPr>
            <a:xfrm>
              <a:off x="3972194" y="2202210"/>
              <a:ext cx="215233" cy="215233"/>
            </a:xfrm>
            <a:prstGeom prst="ellipse">
              <a:avLst/>
            </a:prstGeom>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sp>
        <p:sp>
          <p:nvSpPr>
            <p:cNvPr id="21" name="任意多边形 20"/>
            <p:cNvSpPr/>
            <p:nvPr/>
          </p:nvSpPr>
          <p:spPr>
            <a:xfrm>
              <a:off x="4695119" y="2525062"/>
              <a:ext cx="1708624" cy="860934"/>
            </a:xfrm>
            <a:custGeom>
              <a:avLst/>
              <a:gdLst>
                <a:gd name="connsiteX0" fmla="*/ 0 w 1421921"/>
                <a:gd name="connsiteY0" fmla="*/ 0 h 860934"/>
                <a:gd name="connsiteX1" fmla="*/ 1421921 w 1421921"/>
                <a:gd name="connsiteY1" fmla="*/ 0 h 860934"/>
                <a:gd name="connsiteX2" fmla="*/ 1421921 w 1421921"/>
                <a:gd name="connsiteY2" fmla="*/ 860934 h 860934"/>
                <a:gd name="connsiteX3" fmla="*/ 0 w 1421921"/>
                <a:gd name="connsiteY3" fmla="*/ 860934 h 860934"/>
                <a:gd name="connsiteX4" fmla="*/ 0 w 1421921"/>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1921" h="860934">
                  <a:moveTo>
                    <a:pt x="0" y="0"/>
                  </a:moveTo>
                  <a:lnTo>
                    <a:pt x="1421921" y="0"/>
                  </a:lnTo>
                  <a:lnTo>
                    <a:pt x="1421921"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a:t>
              </a:r>
              <a:r>
                <a:rPr lang="en-US" altLang="zh-CN" sz="1400" kern="1200" dirty="0">
                  <a:latin typeface="微软雅黑" panose="020B0503020204020204" pitchFamily="34" charset="-122"/>
                  <a:ea typeface="微软雅黑" panose="020B0503020204020204" pitchFamily="34" charset="-122"/>
                </a:rPr>
                <a:t>4</a:t>
              </a:r>
              <a:r>
                <a:rPr lang="en-US" altLang="en-US" sz="1400" kern="1200" dirty="0">
                  <a:latin typeface="微软雅黑" panose="020B0503020204020204" pitchFamily="34" charset="-122"/>
                  <a:ea typeface="微软雅黑" panose="020B0503020204020204" pitchFamily="34" charset="-122"/>
                </a:rPr>
                <a:t>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a:t>
              </a:r>
              <a:r>
                <a:rPr lang="en-US" altLang="zh-CN" sz="1400" kern="1200" dirty="0">
                  <a:latin typeface="微软雅黑" panose="020B0503020204020204" pitchFamily="34" charset="-122"/>
                  <a:ea typeface="微软雅黑" panose="020B0503020204020204" pitchFamily="34" charset="-122"/>
                </a:rPr>
                <a:t>3</a:t>
              </a:r>
              <a:r>
                <a:rPr lang="en-US" altLang="en-US" sz="1400" kern="1200" dirty="0">
                  <a:latin typeface="微软雅黑" panose="020B0503020204020204" pitchFamily="34" charset="-122"/>
                  <a:ea typeface="微软雅黑" panose="020B0503020204020204" pitchFamily="34" charset="-122"/>
                </a:rPr>
                <a:t>-0</a:t>
              </a:r>
              <a:r>
                <a:rPr lang="en-US" altLang="zh-CN" sz="1400" kern="1200" dirty="0">
                  <a:latin typeface="微软雅黑" panose="020B0503020204020204" pitchFamily="34" charset="-122"/>
                  <a:ea typeface="微软雅黑" panose="020B0503020204020204" pitchFamily="34" charset="-122"/>
                </a:rPr>
                <a:t>8</a:t>
              </a:r>
              <a:endParaRPr lang="zh-CN" altLang="en-US" sz="1400" kern="1200" dirty="0">
                <a:latin typeface="微软雅黑" panose="020B0503020204020204" pitchFamily="34" charset="-122"/>
                <a:ea typeface="微软雅黑" panose="020B0503020204020204" pitchFamily="34" charset="-122"/>
              </a:endParaRPr>
            </a:p>
          </p:txBody>
        </p:sp>
        <p:sp>
          <p:nvSpPr>
            <p:cNvPr id="22" name="椭圆 21"/>
            <p:cNvSpPr/>
            <p:nvPr/>
          </p:nvSpPr>
          <p:spPr>
            <a:xfrm>
              <a:off x="5441964" y="2202210"/>
              <a:ext cx="215233" cy="215233"/>
            </a:xfrm>
            <a:prstGeom prst="ellipse">
              <a:avLst/>
            </a:prstGeom>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sp>
        <p:sp>
          <p:nvSpPr>
            <p:cNvPr id="23" name="任意多边形 22"/>
            <p:cNvSpPr/>
            <p:nvPr/>
          </p:nvSpPr>
          <p:spPr>
            <a:xfrm>
              <a:off x="6184541" y="1233660"/>
              <a:ext cx="1893465" cy="860934"/>
            </a:xfrm>
            <a:custGeom>
              <a:avLst/>
              <a:gdLst>
                <a:gd name="connsiteX0" fmla="*/ 0 w 1586183"/>
                <a:gd name="connsiteY0" fmla="*/ 0 h 860934"/>
                <a:gd name="connsiteX1" fmla="*/ 1586183 w 1586183"/>
                <a:gd name="connsiteY1" fmla="*/ 0 h 860934"/>
                <a:gd name="connsiteX2" fmla="*/ 1586183 w 1586183"/>
                <a:gd name="connsiteY2" fmla="*/ 860934 h 860934"/>
                <a:gd name="connsiteX3" fmla="*/ 0 w 1586183"/>
                <a:gd name="connsiteY3" fmla="*/ 860934 h 860934"/>
                <a:gd name="connsiteX4" fmla="*/ 0 w 1586183"/>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6183" h="860934">
                  <a:moveTo>
                    <a:pt x="0" y="0"/>
                  </a:moveTo>
                  <a:lnTo>
                    <a:pt x="1586183" y="0"/>
                  </a:lnTo>
                  <a:lnTo>
                    <a:pt x="1586183"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微软雅黑" panose="020B0503020204020204" pitchFamily="34" charset="-122"/>
                  <a:ea typeface="微软雅黑" panose="020B0503020204020204" pitchFamily="34" charset="-122"/>
                </a:rPr>
                <a:t>OpenFlow</a:t>
              </a:r>
              <a:r>
                <a:rPr lang="en-US" altLang="en-US" sz="1400" kern="1200" dirty="0">
                  <a:latin typeface="微软雅黑" panose="020B0503020204020204" pitchFamily="34" charset="-122"/>
                  <a:ea typeface="微软雅黑" panose="020B0503020204020204" pitchFamily="34" charset="-122"/>
                </a:rPr>
                <a:t> 1.5.1 </a:t>
              </a:r>
            </a:p>
            <a:p>
              <a:pPr lvl="0" algn="ctr" defTabSz="488950">
                <a:lnSpc>
                  <a:spcPts val="2000"/>
                </a:lnSpc>
                <a:spcBef>
                  <a:spcPct val="0"/>
                </a:spcBef>
                <a:spcAft>
                  <a:spcPts val="0"/>
                </a:spcAft>
              </a:pPr>
              <a:r>
                <a:rPr lang="en-US" altLang="en-US" sz="1400" kern="1200" dirty="0">
                  <a:latin typeface="微软雅黑" panose="020B0503020204020204" pitchFamily="34" charset="-122"/>
                  <a:ea typeface="微软雅黑" panose="020B0503020204020204" pitchFamily="34" charset="-122"/>
                </a:rPr>
                <a:t>2015</a:t>
              </a:r>
              <a:r>
                <a:rPr lang="en-US" altLang="zh-CN" sz="1400" kern="1200" dirty="0">
                  <a:latin typeface="微软雅黑" panose="020B0503020204020204" pitchFamily="34" charset="-122"/>
                  <a:ea typeface="微软雅黑" panose="020B0503020204020204" pitchFamily="34" charset="-122"/>
                </a:rPr>
                <a:t>-03</a:t>
              </a:r>
              <a:endParaRPr lang="zh-CN" altLang="en-US" sz="1400" kern="1200" dirty="0">
                <a:latin typeface="微软雅黑" panose="020B0503020204020204" pitchFamily="34" charset="-122"/>
                <a:ea typeface="微软雅黑" panose="020B0503020204020204" pitchFamily="34" charset="-122"/>
              </a:endParaRPr>
            </a:p>
          </p:txBody>
        </p:sp>
        <p:sp>
          <p:nvSpPr>
            <p:cNvPr id="24" name="椭圆 23"/>
            <p:cNvSpPr/>
            <p:nvPr/>
          </p:nvSpPr>
          <p:spPr>
            <a:xfrm>
              <a:off x="6994383" y="2202210"/>
              <a:ext cx="215233" cy="215233"/>
            </a:xfrm>
            <a:prstGeom prst="ellipse">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sp>
      </p:grpSp>
      <p:sp>
        <p:nvSpPr>
          <p:cNvPr id="2" name="标题 1">
            <a:extLst>
              <a:ext uri="{FF2B5EF4-FFF2-40B4-BE49-F238E27FC236}">
                <a16:creationId xmlns:a16="http://schemas.microsoft.com/office/drawing/2014/main" id="{E0C1DA34-CB51-BB3B-66E1-5757180BFE16}"/>
              </a:ext>
            </a:extLst>
          </p:cNvPr>
          <p:cNvSpPr>
            <a:spLocks noGrp="1"/>
          </p:cNvSpPr>
          <p:nvPr>
            <p:ph type="title"/>
          </p:nvPr>
        </p:nvSpPr>
        <p:spPr>
          <a:xfrm>
            <a:off x="486000" y="550723"/>
            <a:ext cx="8172000" cy="338554"/>
          </a:xfrm>
        </p:spPr>
        <p:txBody>
          <a:bodyPr/>
          <a:lstStyle/>
          <a:p>
            <a:r>
              <a:rPr lang="zh-CN" altLang="en-US" dirty="0"/>
              <a:t>协议 </a:t>
            </a:r>
            <a:r>
              <a:rPr lang="en-US" altLang="zh-CN" dirty="0"/>
              <a:t>OpenFlow</a:t>
            </a:r>
            <a:endParaRPr lang="zh-CN" altLang="en-US" dirty="0"/>
          </a:p>
        </p:txBody>
      </p:sp>
    </p:spTree>
    <p:extLst>
      <p:ext uri="{BB962C8B-B14F-4D97-AF65-F5344CB8AC3E}">
        <p14:creationId xmlns:p14="http://schemas.microsoft.com/office/powerpoint/2010/main" val="593779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a:extLst>
              <a:ext uri="{FF2B5EF4-FFF2-40B4-BE49-F238E27FC236}">
                <a16:creationId xmlns:a16="http://schemas.microsoft.com/office/drawing/2014/main" id="{BD697D92-FFA7-1520-2761-957BB85C1909}"/>
              </a:ext>
            </a:extLst>
          </p:cNvPr>
          <p:cNvGrpSpPr/>
          <p:nvPr/>
        </p:nvGrpSpPr>
        <p:grpSpPr>
          <a:xfrm>
            <a:off x="1569337" y="1921942"/>
            <a:ext cx="6005326" cy="2545603"/>
            <a:chOff x="2038537" y="1921942"/>
            <a:chExt cx="5066923" cy="2545603"/>
          </a:xfrm>
        </p:grpSpPr>
        <p:sp>
          <p:nvSpPr>
            <p:cNvPr id="10" name="任意多边形: 形状 9">
              <a:extLst>
                <a:ext uri="{FF2B5EF4-FFF2-40B4-BE49-F238E27FC236}">
                  <a16:creationId xmlns:a16="http://schemas.microsoft.com/office/drawing/2014/main" id="{287D2798-42E4-71B7-E8BB-4FAFD8277676}"/>
                </a:ext>
              </a:extLst>
            </p:cNvPr>
            <p:cNvSpPr/>
            <p:nvPr/>
          </p:nvSpPr>
          <p:spPr>
            <a:xfrm>
              <a:off x="2038537" y="192194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0"/>
                <a:satOff val="0"/>
                <a:lumOff val="0"/>
                <a:alphaOff val="0"/>
              </a:schemeClr>
            </a:fillRef>
            <a:effectRef idx="2">
              <a:schemeClr val="accent5">
                <a:hueOff val="0"/>
                <a:satOff val="0"/>
                <a:lumOff val="0"/>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匹配</a:t>
              </a:r>
            </a:p>
          </p:txBody>
        </p:sp>
        <p:sp>
          <p:nvSpPr>
            <p:cNvPr id="11" name="任意多边形: 形状 10">
              <a:extLst>
                <a:ext uri="{FF2B5EF4-FFF2-40B4-BE49-F238E27FC236}">
                  <a16:creationId xmlns:a16="http://schemas.microsoft.com/office/drawing/2014/main" id="{01C39E66-DE13-51F2-4FA8-E4BF21FF22A1}"/>
                </a:ext>
              </a:extLst>
            </p:cNvPr>
            <p:cNvSpPr/>
            <p:nvPr/>
          </p:nvSpPr>
          <p:spPr>
            <a:xfrm>
              <a:off x="2038537" y="2597681"/>
              <a:ext cx="5066923" cy="778837"/>
            </a:xfrm>
            <a:custGeom>
              <a:avLst/>
              <a:gdLst>
                <a:gd name="connsiteX0" fmla="*/ 0 w 5066923"/>
                <a:gd name="connsiteY0" fmla="*/ 0 h 778837"/>
                <a:gd name="connsiteX1" fmla="*/ 5066923 w 5066923"/>
                <a:gd name="connsiteY1" fmla="*/ 0 h 778837"/>
                <a:gd name="connsiteX2" fmla="*/ 5066923 w 5066923"/>
                <a:gd name="connsiteY2" fmla="*/ 778837 h 778837"/>
                <a:gd name="connsiteX3" fmla="*/ 0 w 5066923"/>
                <a:gd name="connsiteY3" fmla="*/ 778837 h 778837"/>
                <a:gd name="connsiteX4" fmla="*/ 0 w 5066923"/>
                <a:gd name="connsiteY4" fmla="*/ 0 h 7788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778837">
                  <a:moveTo>
                    <a:pt x="0" y="0"/>
                  </a:moveTo>
                  <a:lnTo>
                    <a:pt x="5066923" y="0"/>
                  </a:lnTo>
                  <a:lnTo>
                    <a:pt x="5066923" y="778837"/>
                  </a:lnTo>
                  <a:lnTo>
                    <a:pt x="0" y="778837"/>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对不同层次（链路层，网络层，运输层）首部中的字段进行匹配</a:t>
              </a:r>
            </a:p>
          </p:txBody>
        </p:sp>
        <p:sp>
          <p:nvSpPr>
            <p:cNvPr id="12" name="任意多边形: 形状 11">
              <a:extLst>
                <a:ext uri="{FF2B5EF4-FFF2-40B4-BE49-F238E27FC236}">
                  <a16:creationId xmlns:a16="http://schemas.microsoft.com/office/drawing/2014/main" id="{A3D337B3-AA73-C481-604B-D53F080BEC5A}"/>
                </a:ext>
              </a:extLst>
            </p:cNvPr>
            <p:cNvSpPr/>
            <p:nvPr/>
          </p:nvSpPr>
          <p:spPr>
            <a:xfrm>
              <a:off x="2038537" y="324078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9933876"/>
                <a:satOff val="39811"/>
                <a:lumOff val="8628"/>
                <a:alphaOff val="0"/>
              </a:schemeClr>
            </a:fillRef>
            <a:effectRef idx="2">
              <a:schemeClr val="accent5">
                <a:hueOff val="-9933876"/>
                <a:satOff val="39811"/>
                <a:lumOff val="8628"/>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动作</a:t>
              </a:r>
            </a:p>
          </p:txBody>
        </p:sp>
        <p:sp>
          <p:nvSpPr>
            <p:cNvPr id="13" name="任意多边形: 形状 12">
              <a:extLst>
                <a:ext uri="{FF2B5EF4-FFF2-40B4-BE49-F238E27FC236}">
                  <a16:creationId xmlns:a16="http://schemas.microsoft.com/office/drawing/2014/main" id="{D773BAF8-2530-B1C0-C761-8C8672F47130}"/>
                </a:ext>
              </a:extLst>
            </p:cNvPr>
            <p:cNvSpPr/>
            <p:nvPr/>
          </p:nvSpPr>
          <p:spPr>
            <a:xfrm>
              <a:off x="2038537" y="3887945"/>
              <a:ext cx="5066923" cy="579600"/>
            </a:xfrm>
            <a:custGeom>
              <a:avLst/>
              <a:gdLst>
                <a:gd name="connsiteX0" fmla="*/ 0 w 5066923"/>
                <a:gd name="connsiteY0" fmla="*/ 0 h 579600"/>
                <a:gd name="connsiteX1" fmla="*/ 5066923 w 5066923"/>
                <a:gd name="connsiteY1" fmla="*/ 0 h 579600"/>
                <a:gd name="connsiteX2" fmla="*/ 5066923 w 5066923"/>
                <a:gd name="connsiteY2" fmla="*/ 579600 h 579600"/>
                <a:gd name="connsiteX3" fmla="*/ 0 w 5066923"/>
                <a:gd name="connsiteY3" fmla="*/ 579600 h 579600"/>
                <a:gd name="connsiteX4" fmla="*/ 0 w 5066923"/>
                <a:gd name="connsiteY4" fmla="*/ 0 h 579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579600">
                  <a:moveTo>
                    <a:pt x="0" y="0"/>
                  </a:moveTo>
                  <a:lnTo>
                    <a:pt x="5066923" y="0"/>
                  </a:lnTo>
                  <a:lnTo>
                    <a:pt x="5066923" y="579600"/>
                  </a:lnTo>
                  <a:lnTo>
                    <a:pt x="0" y="5796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转发，重写，丢弃等</a:t>
              </a:r>
            </a:p>
          </p:txBody>
        </p:sp>
      </p:grpSp>
      <p:sp>
        <p:nvSpPr>
          <p:cNvPr id="3" name="标题 2">
            <a:extLst>
              <a:ext uri="{FF2B5EF4-FFF2-40B4-BE49-F238E27FC236}">
                <a16:creationId xmlns:a16="http://schemas.microsoft.com/office/drawing/2014/main" id="{7AF57C4D-0574-8F4B-39D5-BD65E2B24941}"/>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数据层面：匹配 </a:t>
            </a:r>
            <a:r>
              <a:rPr lang="en-US" altLang="zh-CN" dirty="0"/>
              <a:t>+ </a:t>
            </a:r>
            <a:r>
              <a:rPr lang="zh-CN" altLang="en-US" dirty="0"/>
              <a:t>动作</a:t>
            </a:r>
          </a:p>
        </p:txBody>
      </p:sp>
      <p:sp>
        <p:nvSpPr>
          <p:cNvPr id="4" name="内容占位符 3">
            <a:extLst>
              <a:ext uri="{FF2B5EF4-FFF2-40B4-BE49-F238E27FC236}">
                <a16:creationId xmlns:a16="http://schemas.microsoft.com/office/drawing/2014/main" id="{1C76B1E0-E72D-CF0C-D30D-D683A4A7037A}"/>
              </a:ext>
            </a:extLst>
          </p:cNvPr>
          <p:cNvSpPr>
            <a:spLocks noGrp="1"/>
          </p:cNvSpPr>
          <p:nvPr>
            <p:ph sz="quarter" idx="11"/>
          </p:nvPr>
        </p:nvSpPr>
        <p:spPr>
          <a:xfrm>
            <a:off x="486000" y="900000"/>
            <a:ext cx="8172000" cy="3703500"/>
          </a:xfrm>
        </p:spPr>
        <p:txBody>
          <a:bodyPr/>
          <a:lstStyle/>
          <a:p>
            <a:r>
              <a:rPr lang="zh-CN" altLang="en-US" dirty="0"/>
              <a:t>数据层面的分组交换机或 </a:t>
            </a:r>
            <a:r>
              <a:rPr lang="en-US" altLang="zh-CN" dirty="0"/>
              <a:t>OpenFlow </a:t>
            </a:r>
            <a:r>
              <a:rPr lang="zh-CN" altLang="en-US" dirty="0"/>
              <a:t>交换机完成“匹配 </a:t>
            </a:r>
            <a:r>
              <a:rPr lang="en-US" altLang="zh-CN" dirty="0"/>
              <a:t>+ </a:t>
            </a:r>
            <a:r>
              <a:rPr lang="zh-CN" altLang="en-US" dirty="0"/>
              <a:t>动作”</a:t>
            </a:r>
            <a:endParaRPr lang="en-US" altLang="zh-CN" dirty="0"/>
          </a:p>
          <a:p>
            <a:r>
              <a:rPr lang="zh-CN" altLang="en-US" dirty="0"/>
              <a:t>称为广义转发</a:t>
            </a:r>
            <a:endParaRPr lang="en-US" altLang="zh-CN" dirty="0"/>
          </a:p>
          <a:p>
            <a:endParaRPr lang="zh-CN" altLang="en-US" dirty="0"/>
          </a:p>
        </p:txBody>
      </p:sp>
    </p:spTree>
    <p:extLst>
      <p:ext uri="{BB962C8B-B14F-4D97-AF65-F5344CB8AC3E}">
        <p14:creationId xmlns:p14="http://schemas.microsoft.com/office/powerpoint/2010/main" val="1853390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0" name="组合 89"/>
          <p:cNvGrpSpPr/>
          <p:nvPr/>
        </p:nvGrpSpPr>
        <p:grpSpPr>
          <a:xfrm>
            <a:off x="1136453" y="2380307"/>
            <a:ext cx="4630848" cy="1687541"/>
            <a:chOff x="1136453" y="2380307"/>
            <a:chExt cx="4630848" cy="1687541"/>
          </a:xfrm>
        </p:grpSpPr>
        <p:sp>
          <p:nvSpPr>
            <p:cNvPr id="16" name="矩形 15"/>
            <p:cNvSpPr/>
            <p:nvPr/>
          </p:nvSpPr>
          <p:spPr>
            <a:xfrm>
              <a:off x="1136453"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7" name="矩形 16"/>
            <p:cNvSpPr/>
            <p:nvPr/>
          </p:nvSpPr>
          <p:spPr>
            <a:xfrm>
              <a:off x="1136453"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8" name="矩形 17"/>
            <p:cNvSpPr/>
            <p:nvPr/>
          </p:nvSpPr>
          <p:spPr>
            <a:xfrm>
              <a:off x="1136453"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9" name="矩形 18"/>
            <p:cNvSpPr/>
            <p:nvPr/>
          </p:nvSpPr>
          <p:spPr>
            <a:xfrm>
              <a:off x="1136453"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0" name="矩形 19"/>
            <p:cNvSpPr/>
            <p:nvPr/>
          </p:nvSpPr>
          <p:spPr>
            <a:xfrm>
              <a:off x="5183600"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1" name="矩形 20"/>
            <p:cNvSpPr/>
            <p:nvPr/>
          </p:nvSpPr>
          <p:spPr>
            <a:xfrm>
              <a:off x="5183600"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2" name="矩形 21"/>
            <p:cNvSpPr/>
            <p:nvPr/>
          </p:nvSpPr>
          <p:spPr>
            <a:xfrm>
              <a:off x="5183600"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3" name="矩形 22"/>
            <p:cNvSpPr/>
            <p:nvPr/>
          </p:nvSpPr>
          <p:spPr>
            <a:xfrm>
              <a:off x="5183600"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 name="矩形 1"/>
            <p:cNvSpPr/>
            <p:nvPr/>
          </p:nvSpPr>
          <p:spPr>
            <a:xfrm>
              <a:off x="1665837" y="2402010"/>
              <a:ext cx="3603280" cy="1665838"/>
            </a:xfrm>
            <a:prstGeom prst="rect">
              <a:avLst/>
            </a:prstGeom>
            <a:solidFill>
              <a:schemeClr val="accent1">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2416786" y="2380307"/>
              <a:ext cx="2119491" cy="369332"/>
            </a:xfrm>
            <a:prstGeom prst="rect">
              <a:avLst/>
            </a:prstGeom>
          </p:spPr>
          <p:txBody>
            <a:bodyPr wrap="none">
              <a:spAutoFit/>
            </a:bodyPr>
            <a:lstStyle/>
            <a:p>
              <a:r>
                <a:rPr lang="en-US" altLang="zh-CN" b="1" dirty="0" err="1">
                  <a:solidFill>
                    <a:srgbClr val="000066"/>
                  </a:solidFill>
                  <a:latin typeface="微软雅黑" pitchFamily="34" charset="-122"/>
                  <a:ea typeface="微软雅黑" pitchFamily="34" charset="-122"/>
                </a:rPr>
                <a:t>OpenFlow</a:t>
              </a:r>
              <a:r>
                <a:rPr lang="en-US" altLang="zh-CN" b="1" dirty="0">
                  <a:solidFill>
                    <a:srgbClr val="000066"/>
                  </a:solidFill>
                  <a:latin typeface="微软雅黑" pitchFamily="34" charset="-122"/>
                  <a:ea typeface="微软雅黑" pitchFamily="34" charset="-122"/>
                </a:rPr>
                <a:t> </a:t>
              </a:r>
              <a:r>
                <a:rPr lang="zh-CN" altLang="en-US" b="1" dirty="0">
                  <a:solidFill>
                    <a:srgbClr val="000066"/>
                  </a:solidFill>
                  <a:latin typeface="微软雅黑" pitchFamily="34" charset="-122"/>
                  <a:ea typeface="微软雅黑" pitchFamily="34" charset="-122"/>
                </a:rPr>
                <a:t>交换机</a:t>
              </a:r>
              <a:endParaRPr lang="zh-CN" altLang="en-US" dirty="0">
                <a:solidFill>
                  <a:srgbClr val="000066"/>
                </a:solidFill>
              </a:endParaRPr>
            </a:p>
          </p:txBody>
        </p:sp>
        <p:sp>
          <p:nvSpPr>
            <p:cNvPr id="7" name="矩形 6"/>
            <p:cNvSpPr/>
            <p:nvPr/>
          </p:nvSpPr>
          <p:spPr>
            <a:xfrm>
              <a:off x="1783534" y="2727935"/>
              <a:ext cx="3349782" cy="1240324"/>
            </a:xfrm>
            <a:prstGeom prst="rect">
              <a:avLst/>
            </a:prstGeom>
            <a:solidFill>
              <a:schemeClr val="tx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1204985"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sp>
          <p:nvSpPr>
            <p:cNvPr id="25" name="文本框 24"/>
            <p:cNvSpPr txBox="1"/>
            <p:nvPr/>
          </p:nvSpPr>
          <p:spPr>
            <a:xfrm>
              <a:off x="5285327"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grpSp>
          <p:nvGrpSpPr>
            <p:cNvPr id="85" name="组合 84"/>
            <p:cNvGrpSpPr/>
            <p:nvPr/>
          </p:nvGrpSpPr>
          <p:grpSpPr>
            <a:xfrm>
              <a:off x="2201693" y="2811687"/>
              <a:ext cx="2548801" cy="957158"/>
              <a:chOff x="3469178" y="2781685"/>
              <a:chExt cx="2548801" cy="957158"/>
            </a:xfrm>
          </p:grpSpPr>
          <p:sp>
            <p:nvSpPr>
              <p:cNvPr id="26" name="文本框 25"/>
              <p:cNvSpPr txBox="1"/>
              <p:nvPr/>
            </p:nvSpPr>
            <p:spPr>
              <a:xfrm>
                <a:off x="5144460" y="2781685"/>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M</a:t>
                </a:r>
                <a:endParaRPr lang="zh-CN" altLang="en-US" sz="1050" b="1" dirty="0">
                  <a:latin typeface="微软雅黑" panose="020B0503020204020204" pitchFamily="34" charset="-122"/>
                  <a:ea typeface="微软雅黑" panose="020B0503020204020204" pitchFamily="34" charset="-122"/>
                </a:endParaRPr>
              </a:p>
            </p:txBody>
          </p:sp>
          <p:sp>
            <p:nvSpPr>
              <p:cNvPr id="27" name="文本框 26"/>
              <p:cNvSpPr txBox="1"/>
              <p:nvPr/>
            </p:nvSpPr>
            <p:spPr>
              <a:xfrm>
                <a:off x="4310468" y="2880609"/>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2</a:t>
                </a:r>
                <a:endParaRPr lang="zh-CN" altLang="en-US" sz="1050" b="1" dirty="0">
                  <a:latin typeface="微软雅黑" panose="020B0503020204020204" pitchFamily="34" charset="-122"/>
                  <a:ea typeface="微软雅黑" panose="020B0503020204020204" pitchFamily="34" charset="-122"/>
                </a:endParaRPr>
              </a:p>
            </p:txBody>
          </p:sp>
          <p:sp>
            <p:nvSpPr>
              <p:cNvPr id="28" name="文本框 27"/>
              <p:cNvSpPr txBox="1"/>
              <p:nvPr/>
            </p:nvSpPr>
            <p:spPr>
              <a:xfrm>
                <a:off x="3528272" y="2980374"/>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1</a:t>
                </a:r>
                <a:endParaRPr lang="zh-CN" altLang="en-US" sz="1050" b="1" dirty="0">
                  <a:latin typeface="微软雅黑" panose="020B0503020204020204" pitchFamily="34" charset="-122"/>
                  <a:ea typeface="微软雅黑" panose="020B0503020204020204" pitchFamily="34" charset="-122"/>
                </a:endParaRPr>
              </a:p>
            </p:txBody>
          </p:sp>
          <p:grpSp>
            <p:nvGrpSpPr>
              <p:cNvPr id="41" name="组合 40"/>
              <p:cNvGrpSpPr/>
              <p:nvPr/>
            </p:nvGrpSpPr>
            <p:grpSpPr>
              <a:xfrm>
                <a:off x="5081576" y="2975406"/>
                <a:ext cx="936403" cy="553846"/>
                <a:chOff x="1035978" y="3132726"/>
                <a:chExt cx="936403" cy="553846"/>
              </a:xfrm>
              <a:solidFill>
                <a:schemeClr val="bg1"/>
              </a:solidFill>
            </p:grpSpPr>
            <p:sp>
              <p:nvSpPr>
                <p:cNvPr id="8" name="矩形 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0" name="直接连接符 29"/>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2" name="直接连接符 31"/>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3" name="直接连接符 32"/>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4" name="直接连接符 33"/>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9" name="直接连接符 38"/>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40" name="直接连接符 39"/>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51" name="组合 50"/>
              <p:cNvGrpSpPr/>
              <p:nvPr/>
            </p:nvGrpSpPr>
            <p:grpSpPr>
              <a:xfrm>
                <a:off x="4257707" y="3082248"/>
                <a:ext cx="936403" cy="553846"/>
                <a:chOff x="1035978" y="3132726"/>
                <a:chExt cx="936403" cy="553846"/>
              </a:xfrm>
              <a:solidFill>
                <a:schemeClr val="bg1"/>
              </a:solidFill>
            </p:grpSpPr>
            <p:sp>
              <p:nvSpPr>
                <p:cNvPr id="52" name="矩形 51"/>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3" name="直接连接符 52"/>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4" name="直接连接符 53"/>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5" name="直接连接符 54"/>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6" name="直接连接符 55"/>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7" name="直接连接符 56"/>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8" name="直接连接符 57"/>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77" name="组合 76"/>
              <p:cNvGrpSpPr/>
              <p:nvPr/>
            </p:nvGrpSpPr>
            <p:grpSpPr>
              <a:xfrm>
                <a:off x="3469178" y="3184997"/>
                <a:ext cx="936403" cy="553846"/>
                <a:chOff x="1035978" y="3132726"/>
                <a:chExt cx="936403" cy="553846"/>
              </a:xfrm>
              <a:solidFill>
                <a:schemeClr val="bg1"/>
              </a:solidFill>
            </p:grpSpPr>
            <p:sp>
              <p:nvSpPr>
                <p:cNvPr id="78" name="矩形 7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9" name="直接连接符 78"/>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0" name="直接连接符 79"/>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1" name="直接连接符 80"/>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2" name="直接连接符 81"/>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4" name="直接连接符 83"/>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grpSp>
      <p:sp>
        <p:nvSpPr>
          <p:cNvPr id="88" name="线形标注 1 87"/>
          <p:cNvSpPr/>
          <p:nvPr/>
        </p:nvSpPr>
        <p:spPr>
          <a:xfrm>
            <a:off x="5906458" y="2160643"/>
            <a:ext cx="2359355" cy="588996"/>
          </a:xfrm>
          <a:prstGeom prst="borderCallout1">
            <a:avLst>
              <a:gd name="adj1" fmla="val 30697"/>
              <a:gd name="adj2" fmla="val -156"/>
              <a:gd name="adj3" fmla="val 126334"/>
              <a:gd name="adj4" fmla="val -41727"/>
            </a:avLst>
          </a:prstGeom>
          <a:solidFill>
            <a:srgbClr val="33CC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 </a:t>
            </a:r>
            <a:r>
              <a:rPr lang="en-US" altLang="zh-CN" sz="1400" dirty="0" err="1">
                <a:solidFill>
                  <a:schemeClr val="tx1"/>
                </a:solidFill>
                <a:latin typeface="微软雅黑" panose="020B0503020204020204" pitchFamily="34" charset="-122"/>
                <a:ea typeface="微软雅黑" panose="020B0503020204020204" pitchFamily="34" charset="-122"/>
              </a:rPr>
              <a:t>OpenFlow</a:t>
            </a:r>
            <a:r>
              <a:rPr lang="en-US" altLang="zh-CN" sz="1400" dirty="0">
                <a:solidFill>
                  <a:schemeClr val="tx1"/>
                </a:solidFill>
                <a:latin typeface="微软雅黑" panose="020B0503020204020204" pitchFamily="34" charset="-122"/>
                <a:ea typeface="微软雅黑" panose="020B0503020204020204" pitchFamily="34" charset="-122"/>
              </a:rPr>
              <a:t> </a:t>
            </a:r>
            <a:r>
              <a:rPr lang="zh-CN" altLang="en-US" sz="1400" dirty="0">
                <a:solidFill>
                  <a:schemeClr val="tx1"/>
                </a:solidFill>
                <a:latin typeface="微软雅黑" panose="020B0503020204020204" pitchFamily="34" charset="-122"/>
                <a:ea typeface="微软雅黑" panose="020B0503020204020204" pitchFamily="34" charset="-122"/>
              </a:rPr>
              <a:t>交换机有一个或一个以上的流表。</a:t>
            </a:r>
          </a:p>
        </p:txBody>
      </p:sp>
      <p:sp>
        <p:nvSpPr>
          <p:cNvPr id="89" name="线形标注 1 88"/>
          <p:cNvSpPr/>
          <p:nvPr/>
        </p:nvSpPr>
        <p:spPr>
          <a:xfrm>
            <a:off x="5906458" y="2964611"/>
            <a:ext cx="2359355" cy="588996"/>
          </a:xfrm>
          <a:prstGeom prst="borderCallout1">
            <a:avLst>
              <a:gd name="adj1" fmla="val 30697"/>
              <a:gd name="adj2" fmla="val -156"/>
              <a:gd name="adj3" fmla="val 64850"/>
              <a:gd name="adj4" fmla="val -55157"/>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每个流表可以包括多个流表项 </a:t>
            </a:r>
            <a:r>
              <a:rPr lang="en-US" altLang="zh-CN" sz="1400" dirty="0">
                <a:solidFill>
                  <a:schemeClr val="tx1"/>
                </a:solidFill>
                <a:latin typeface="微软雅黑" panose="020B0503020204020204" pitchFamily="34" charset="-122"/>
                <a:ea typeface="微软雅黑" panose="020B0503020204020204" pitchFamily="34" charset="-122"/>
              </a:rPr>
              <a:t>(flow entry)</a:t>
            </a:r>
            <a:r>
              <a:rPr lang="zh-CN" altLang="en-US" sz="1400" dirty="0">
                <a:solidFill>
                  <a:schemeClr val="tx1"/>
                </a:solidFill>
                <a:latin typeface="微软雅黑" panose="020B0503020204020204" pitchFamily="34" charset="-122"/>
                <a:ea typeface="微软雅黑" panose="020B0503020204020204" pitchFamily="34" charset="-122"/>
              </a:rPr>
              <a:t>。</a:t>
            </a:r>
          </a:p>
        </p:txBody>
      </p:sp>
      <p:sp>
        <p:nvSpPr>
          <p:cNvPr id="9" name="标题 8">
            <a:extLst>
              <a:ext uri="{FF2B5EF4-FFF2-40B4-BE49-F238E27FC236}">
                <a16:creationId xmlns:a16="http://schemas.microsoft.com/office/drawing/2014/main" id="{12471DA8-7933-8A7B-FCAE-5FF7633492B5}"/>
              </a:ext>
            </a:extLst>
          </p:cNvPr>
          <p:cNvSpPr>
            <a:spLocks noGrp="1"/>
          </p:cNvSpPr>
          <p:nvPr>
            <p:ph type="title"/>
          </p:nvPr>
        </p:nvSpPr>
        <p:spPr>
          <a:xfrm>
            <a:off x="486000" y="550723"/>
            <a:ext cx="8172000" cy="338554"/>
          </a:xfrm>
        </p:spPr>
        <p:txBody>
          <a:bodyPr/>
          <a:lstStyle/>
          <a:p>
            <a:r>
              <a:rPr lang="en-US" altLang="zh-CN" dirty="0"/>
              <a:t>OpenFlow </a:t>
            </a:r>
            <a:r>
              <a:rPr lang="zh-CN" altLang="en-US" dirty="0"/>
              <a:t>数据层面：流表</a:t>
            </a:r>
          </a:p>
        </p:txBody>
      </p:sp>
      <p:sp>
        <p:nvSpPr>
          <p:cNvPr id="10" name="内容占位符 9">
            <a:extLst>
              <a:ext uri="{FF2B5EF4-FFF2-40B4-BE49-F238E27FC236}">
                <a16:creationId xmlns:a16="http://schemas.microsoft.com/office/drawing/2014/main" id="{0CF52E68-5FDE-1B3F-8EBC-25379AE1F9B0}"/>
              </a:ext>
            </a:extLst>
          </p:cNvPr>
          <p:cNvSpPr>
            <a:spLocks noGrp="1"/>
          </p:cNvSpPr>
          <p:nvPr>
            <p:ph sz="quarter" idx="11"/>
          </p:nvPr>
        </p:nvSpPr>
        <p:spPr>
          <a:xfrm>
            <a:off x="486000" y="900000"/>
            <a:ext cx="8172000" cy="3703500"/>
          </a:xfrm>
        </p:spPr>
        <p:txBody>
          <a:bodyPr/>
          <a:lstStyle/>
          <a:p>
            <a:r>
              <a:rPr lang="zh-CN" altLang="en-US" dirty="0"/>
              <a:t>流表 </a:t>
            </a:r>
            <a:r>
              <a:rPr lang="en-US" altLang="zh-CN" dirty="0"/>
              <a:t>(flow table)</a:t>
            </a:r>
            <a:r>
              <a:rPr lang="zh-CN" altLang="en-US" dirty="0"/>
              <a:t>：匹配 </a:t>
            </a:r>
            <a:r>
              <a:rPr lang="en-US" altLang="zh-CN" dirty="0"/>
              <a:t>+ </a:t>
            </a:r>
            <a:r>
              <a:rPr lang="zh-CN" altLang="en-US" dirty="0"/>
              <a:t>动作</a:t>
            </a:r>
            <a:endParaRPr lang="en-US" altLang="zh-CN" dirty="0"/>
          </a:p>
          <a:p>
            <a:r>
              <a:rPr lang="zh-CN" altLang="en-US" dirty="0"/>
              <a:t>流：穿过网络的一种分组序列，而在此序列中的分组都共享分组首部某些字段的值</a:t>
            </a:r>
            <a:endParaRPr lang="en-US" altLang="zh-CN" dirty="0"/>
          </a:p>
          <a:p>
            <a:endParaRPr lang="zh-CN" altLang="en-US" dirty="0"/>
          </a:p>
        </p:txBody>
      </p:sp>
    </p:spTree>
    <p:extLst>
      <p:ext uri="{BB962C8B-B14F-4D97-AF65-F5344CB8AC3E}">
        <p14:creationId xmlns:p14="http://schemas.microsoft.com/office/powerpoint/2010/main" val="3869779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2" name="直接连接符 21"/>
          <p:cNvCxnSpPr/>
          <p:nvPr/>
        </p:nvCxnSpPr>
        <p:spPr>
          <a:xfrm flipV="1">
            <a:off x="2426329" y="3451033"/>
            <a:ext cx="769605" cy="547845"/>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flipV="1">
            <a:off x="3190528" y="3491459"/>
            <a:ext cx="240541" cy="498159"/>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flipH="1" flipV="1">
            <a:off x="3981708" y="3420850"/>
            <a:ext cx="782989" cy="578028"/>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flipV="1">
            <a:off x="3779596" y="3491459"/>
            <a:ext cx="242953" cy="487391"/>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1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0835"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95216"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959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6397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180"/>
          <p:cNvSpPr txBox="1"/>
          <p:nvPr/>
        </p:nvSpPr>
        <p:spPr>
          <a:xfrm>
            <a:off x="2769530" y="1829956"/>
            <a:ext cx="1649811"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rPr>
              <a:t>交换机</a:t>
            </a:r>
          </a:p>
        </p:txBody>
      </p:sp>
      <p:pic>
        <p:nvPicPr>
          <p:cNvPr id="9" name="Picture 21"/>
          <p:cNvPicPr>
            <a:picLocks noChangeArrowheads="1"/>
          </p:cNvPicPr>
          <p:nvPr/>
        </p:nvPicPr>
        <p:blipFill>
          <a:blip r:embed="rId3" cstate="print"/>
          <a:srcRect/>
          <a:stretch>
            <a:fillRect/>
          </a:stretch>
        </p:blipFill>
        <p:spPr bwMode="auto">
          <a:xfrm>
            <a:off x="5871741" y="2101272"/>
            <a:ext cx="347989" cy="818828"/>
          </a:xfrm>
          <a:prstGeom prst="rect">
            <a:avLst/>
          </a:prstGeom>
          <a:noFill/>
          <a:ln w="12699">
            <a:noFill/>
            <a:miter lim="800000"/>
            <a:headEnd/>
            <a:tailEnd/>
          </a:ln>
          <a:effectLst/>
        </p:spPr>
      </p:pic>
      <p:sp>
        <p:nvSpPr>
          <p:cNvPr id="10" name="圆柱形 9"/>
          <p:cNvSpPr/>
          <p:nvPr/>
        </p:nvSpPr>
        <p:spPr>
          <a:xfrm>
            <a:off x="2973315" y="2128012"/>
            <a:ext cx="1224136" cy="1440160"/>
          </a:xfrm>
          <a:prstGeom prst="can">
            <a:avLst/>
          </a:prstGeom>
          <a:gradFill flip="none" rotWithShape="1">
            <a:gsLst>
              <a:gs pos="0">
                <a:schemeClr val="tx2">
                  <a:lumMod val="60000"/>
                  <a:lumOff val="40000"/>
                  <a:shade val="30000"/>
                  <a:satMod val="115000"/>
                </a:schemeClr>
              </a:gs>
              <a:gs pos="50000">
                <a:schemeClr val="tx2">
                  <a:lumMod val="60000"/>
                  <a:lumOff val="40000"/>
                  <a:shade val="67500"/>
                  <a:satMod val="115000"/>
                </a:schemeClr>
              </a:gs>
              <a:gs pos="100000">
                <a:schemeClr val="tx2">
                  <a:lumMod val="60000"/>
                  <a:lumOff val="40000"/>
                  <a:shade val="100000"/>
                  <a:satMod val="115000"/>
                </a:schemeClr>
              </a:gs>
            </a:gsLst>
            <a:lin ang="0" scaled="1"/>
            <a:tileRect/>
          </a:gra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11" name="直接连接符 10"/>
          <p:cNvCxnSpPr/>
          <p:nvPr/>
        </p:nvCxnSpPr>
        <p:spPr>
          <a:xfrm>
            <a:off x="3117331" y="2920100"/>
            <a:ext cx="936104"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2" name="矩形 11"/>
          <p:cNvSpPr/>
          <p:nvPr/>
        </p:nvSpPr>
        <p:spPr>
          <a:xfrm>
            <a:off x="3082516" y="2500350"/>
            <a:ext cx="1008112"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安全信道</a:t>
            </a:r>
          </a:p>
        </p:txBody>
      </p:sp>
      <p:sp>
        <p:nvSpPr>
          <p:cNvPr id="13" name="矩形 12"/>
          <p:cNvSpPr/>
          <p:nvPr/>
        </p:nvSpPr>
        <p:spPr>
          <a:xfrm>
            <a:off x="3190528" y="3064116"/>
            <a:ext cx="792088"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流表</a:t>
            </a:r>
          </a:p>
        </p:txBody>
      </p:sp>
      <p:sp>
        <p:nvSpPr>
          <p:cNvPr id="14" name="TextBox 73"/>
          <p:cNvSpPr txBox="1"/>
          <p:nvPr/>
        </p:nvSpPr>
        <p:spPr>
          <a:xfrm>
            <a:off x="5054762" y="2915744"/>
            <a:ext cx="2117561" cy="307777"/>
          </a:xfrm>
          <a:prstGeom prst="rect">
            <a:avLst/>
          </a:prstGeom>
          <a:noFill/>
        </p:spPr>
        <p:txBody>
          <a:bodyPr wrap="square" rtlCol="0">
            <a:spAutoFit/>
          </a:bodyPr>
          <a:lstStyle/>
          <a:p>
            <a:pPr algn="ctr"/>
            <a:r>
              <a:rPr lang="en-US" altLang="zh-CN" sz="1400" dirty="0">
                <a:latin typeface="微软雅黑" panose="020B0503020204020204" pitchFamily="34" charset="-122"/>
                <a:ea typeface="微软雅黑" panose="020B0503020204020204" pitchFamily="34" charset="-122"/>
                <a:cs typeface="Times New Roman" pitchFamily="18" charset="0"/>
              </a:rPr>
              <a:t>SDN</a:t>
            </a:r>
            <a:r>
              <a:rPr lang="en-US" altLang="zh-CN" sz="1400" dirty="0">
                <a:latin typeface="微软雅黑" panose="020B0503020204020204" pitchFamily="34" charset="-122"/>
                <a:ea typeface="微软雅黑" panose="020B0503020204020204" pitchFamily="34" charset="-122"/>
              </a:rPr>
              <a:t> </a:t>
            </a:r>
            <a:r>
              <a:rPr lang="zh-CN" altLang="en-US" sz="1400" dirty="0">
                <a:latin typeface="微软雅黑" panose="020B0503020204020204" pitchFamily="34" charset="-122"/>
                <a:ea typeface="微软雅黑" panose="020B0503020204020204" pitchFamily="34" charset="-122"/>
              </a:rPr>
              <a:t>远程控制器</a:t>
            </a:r>
          </a:p>
        </p:txBody>
      </p:sp>
      <p:sp>
        <p:nvSpPr>
          <p:cNvPr id="15" name="TextBox 85"/>
          <p:cNvSpPr txBox="1"/>
          <p:nvPr/>
        </p:nvSpPr>
        <p:spPr>
          <a:xfrm rot="21129718">
            <a:off x="4290299" y="2238088"/>
            <a:ext cx="1470274" cy="307777"/>
          </a:xfrm>
          <a:prstGeom prst="rect">
            <a:avLst/>
          </a:prstGeom>
          <a:noFill/>
        </p:spPr>
        <p:txBody>
          <a:bodyPr wrap="none" rtlCol="0">
            <a:spAutoFit/>
          </a:bodyPr>
          <a:lstStyle/>
          <a:p>
            <a:pPr algn="ctr"/>
            <a:r>
              <a:rPr lang="en-US" altLang="zh-CN" sz="1400" dirty="0" err="1">
                <a:latin typeface="微软雅黑" panose="020B0503020204020204" pitchFamily="34" charset="-122"/>
                <a:ea typeface="微软雅黑" panose="020B0503020204020204" pitchFamily="34" charset="-122"/>
                <a:cs typeface="Times New Roman" pitchFamily="18" charset="0"/>
              </a:rPr>
              <a:t>OpenFlow</a:t>
            </a:r>
            <a:r>
              <a:rPr lang="en-US" altLang="zh-CN" sz="1400" dirty="0">
                <a:latin typeface="微软雅黑" panose="020B0503020204020204" pitchFamily="34" charset="-122"/>
                <a:ea typeface="微软雅黑" panose="020B0503020204020204" pitchFamily="34" charset="-122"/>
                <a:cs typeface="Times New Roman" pitchFamily="18" charset="0"/>
              </a:rPr>
              <a:t> </a:t>
            </a:r>
            <a:r>
              <a:rPr lang="zh-CN" altLang="en-US" sz="1400" dirty="0">
                <a:latin typeface="微软雅黑" panose="020B0503020204020204" pitchFamily="34" charset="-122"/>
                <a:ea typeface="微软雅黑" panose="020B0503020204020204" pitchFamily="34" charset="-122"/>
                <a:cs typeface="Times New Roman" pitchFamily="18" charset="0"/>
              </a:rPr>
              <a:t>协议</a:t>
            </a:r>
            <a:endParaRPr lang="zh-CN" altLang="en-US" sz="1400" dirty="0">
              <a:latin typeface="微软雅黑" panose="020B0503020204020204" pitchFamily="34" charset="-122"/>
              <a:ea typeface="微软雅黑" panose="020B0503020204020204" pitchFamily="34" charset="-122"/>
            </a:endParaRPr>
          </a:p>
        </p:txBody>
      </p:sp>
      <p:sp>
        <p:nvSpPr>
          <p:cNvPr id="7" name="Line 107"/>
          <p:cNvSpPr>
            <a:spLocks noChangeShapeType="1"/>
          </p:cNvSpPr>
          <p:nvPr/>
        </p:nvSpPr>
        <p:spPr bwMode="auto">
          <a:xfrm flipH="1">
            <a:off x="4090627" y="2404539"/>
            <a:ext cx="1795973" cy="251403"/>
          </a:xfrm>
          <a:prstGeom prst="line">
            <a:avLst/>
          </a:prstGeom>
          <a:noFill/>
          <a:ln w="9525">
            <a:solidFill>
              <a:schemeClr val="tx1"/>
            </a:solidFill>
            <a:round/>
            <a:headEnd type="triangle" w="sm" len="lg"/>
            <a:tailEnd type="triangle" w="sm" len="lg"/>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 name="标题 2">
            <a:extLst>
              <a:ext uri="{FF2B5EF4-FFF2-40B4-BE49-F238E27FC236}">
                <a16:creationId xmlns:a16="http://schemas.microsoft.com/office/drawing/2014/main" id="{72FD12C9-4920-F4EE-0C61-1F09E8719A90}"/>
              </a:ext>
            </a:extLst>
          </p:cNvPr>
          <p:cNvSpPr>
            <a:spLocks noGrp="1"/>
          </p:cNvSpPr>
          <p:nvPr>
            <p:ph type="title"/>
          </p:nvPr>
        </p:nvSpPr>
        <p:spPr>
          <a:xfrm>
            <a:off x="486000" y="550723"/>
            <a:ext cx="8172000" cy="338554"/>
          </a:xfrm>
        </p:spPr>
        <p:txBody>
          <a:bodyPr/>
          <a:lstStyle/>
          <a:p>
            <a:r>
              <a:rPr lang="zh-CN" altLang="en-US" dirty="0"/>
              <a:t>流表由远程控制器管理</a:t>
            </a:r>
          </a:p>
        </p:txBody>
      </p:sp>
      <p:sp>
        <p:nvSpPr>
          <p:cNvPr id="4" name="内容占位符 3">
            <a:extLst>
              <a:ext uri="{FF2B5EF4-FFF2-40B4-BE49-F238E27FC236}">
                <a16:creationId xmlns:a16="http://schemas.microsoft.com/office/drawing/2014/main" id="{192CEA44-95AC-B8C2-97BD-111C0A3D4869}"/>
              </a:ext>
            </a:extLst>
          </p:cNvPr>
          <p:cNvSpPr>
            <a:spLocks noGrp="1"/>
          </p:cNvSpPr>
          <p:nvPr>
            <p:ph sz="quarter" idx="11"/>
          </p:nvPr>
        </p:nvSpPr>
        <p:spPr>
          <a:xfrm>
            <a:off x="486000" y="900000"/>
            <a:ext cx="8172000" cy="3703500"/>
          </a:xfrm>
        </p:spPr>
        <p:txBody>
          <a:bodyPr/>
          <a:lstStyle/>
          <a:p>
            <a:r>
              <a:rPr lang="en-US" altLang="zh-CN" dirty="0"/>
              <a:t>SDN </a:t>
            </a:r>
            <a:r>
              <a:rPr lang="zh-CN" altLang="zh-CN" dirty="0"/>
              <a:t>远程控制器通过一个安全信道，使用</a:t>
            </a:r>
            <a:r>
              <a:rPr lang="en-US" altLang="zh-CN" dirty="0"/>
              <a:t> OpenFlow </a:t>
            </a:r>
            <a:r>
              <a:rPr lang="zh-CN" altLang="zh-CN" dirty="0"/>
              <a:t>协议来管理</a:t>
            </a:r>
            <a:r>
              <a:rPr lang="en-US" altLang="zh-CN" dirty="0"/>
              <a:t> OpenFlow </a:t>
            </a:r>
            <a:r>
              <a:rPr lang="zh-CN" altLang="zh-CN" dirty="0"/>
              <a:t>交换机中的流表</a:t>
            </a:r>
            <a:endParaRPr lang="zh-CN" altLang="en-US" dirty="0"/>
          </a:p>
          <a:p>
            <a:endParaRPr lang="zh-CN" altLang="en-US" dirty="0"/>
          </a:p>
        </p:txBody>
      </p:sp>
    </p:spTree>
    <p:extLst>
      <p:ext uri="{BB962C8B-B14F-4D97-AF65-F5344CB8AC3E}">
        <p14:creationId xmlns:p14="http://schemas.microsoft.com/office/powerpoint/2010/main" val="13204582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首部字段值：一组字段（</a:t>
            </a:r>
            <a:r>
              <a:rPr lang="en-US" altLang="zh-CN" sz="1400" dirty="0">
                <a:latin typeface="Montserrat" panose="00000500000000000000" pitchFamily="2" charset="0"/>
                <a:ea typeface="微软雅黑" pitchFamily="34" charset="-122"/>
              </a:rPr>
              <a:t>12 </a:t>
            </a:r>
            <a:r>
              <a:rPr lang="zh-CN" altLang="en-US" sz="1400" dirty="0">
                <a:latin typeface="Montserrat" panose="00000500000000000000" pitchFamily="2" charset="0"/>
                <a:ea typeface="微软雅黑" pitchFamily="34" charset="-122"/>
              </a:rPr>
              <a:t>个），用来使入分组的对应首部与之相匹配。匹配不上的分组被丢弃，或发送到远程控制器做更多的处理</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0BE9E5B7-C308-90D9-5275-3B1530B62FD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4180261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6088"/>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(2) </a:t>
            </a:r>
            <a:r>
              <a:rPr lang="zh-CN" altLang="en-US" sz="1400" dirty="0">
                <a:latin typeface="Montserrat" panose="00000500000000000000" pitchFamily="2" charset="0"/>
                <a:ea typeface="微软雅黑" pitchFamily="34" charset="-122"/>
              </a:rPr>
              <a:t>计数器：一组计数器，可包括已经与该表项匹配的分组数量，以及从该表项上次更新到现在经历的时间</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2ACD12C3-5611-A4FD-7D34-C6CA316CD472}"/>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2406456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动作：一组动作。当分组匹配某个流表项时，把分组转发到指明的端口，或丢弃该分组，或把分组进行复制后再从多个端口转发出去，或重写分组的首部字段（第二、三和四层的首部字段）等</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58BC59E5-6C78-7554-E195-48E8C5DA9C7A}"/>
              </a:ext>
            </a:extLst>
          </p:cNvPr>
          <p:cNvSpPr>
            <a:spLocks noGrp="1"/>
          </p:cNvSpPr>
          <p:nvPr>
            <p:ph type="title"/>
          </p:nvPr>
        </p:nvSpPr>
        <p:spPr>
          <a:xfrm>
            <a:off x="486000" y="550723"/>
            <a:ext cx="8172000" cy="338554"/>
          </a:xfrm>
        </p:spPr>
        <p:txBody>
          <a:bodyPr/>
          <a:lstStyle/>
          <a:p>
            <a:r>
              <a:rPr lang="zh-CN" altLang="en-US" dirty="0"/>
              <a:t>流表结构</a:t>
            </a:r>
          </a:p>
        </p:txBody>
      </p:sp>
    </p:spTree>
    <p:extLst>
      <p:ext uri="{BB962C8B-B14F-4D97-AF65-F5344CB8AC3E}">
        <p14:creationId xmlns:p14="http://schemas.microsoft.com/office/powerpoint/2010/main" val="3822493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D24B88-EF89-1C65-1124-24688DF66AB2}"/>
              </a:ext>
            </a:extLst>
          </p:cNvPr>
          <p:cNvSpPr>
            <a:spLocks noGrp="1"/>
          </p:cNvSpPr>
          <p:nvPr>
            <p:ph type="title"/>
          </p:nvPr>
        </p:nvSpPr>
        <p:spPr/>
        <p:txBody>
          <a:bodyPr/>
          <a:lstStyle/>
          <a:p>
            <a:r>
              <a:rPr lang="en-US" altLang="zh-CN" dirty="0"/>
              <a:t>OpenFlow </a:t>
            </a:r>
            <a:r>
              <a:rPr lang="zh-CN" altLang="en-US" dirty="0"/>
              <a:t>控制器</a:t>
            </a:r>
            <a:endParaRPr lang="en-US" altLang="zh-CN" dirty="0"/>
          </a:p>
        </p:txBody>
      </p:sp>
      <p:sp>
        <p:nvSpPr>
          <p:cNvPr id="9" name="Line 23"/>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1" name="Line 25"/>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2" name="Line 26"/>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3" name="Line 27"/>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4" name="Line 30"/>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7" name="Text Box 65"/>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18" name="Text Box 65"/>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19" name="Text Box 65"/>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23" name="Text Box 69"/>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24" name="Text Box 69"/>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26" name="Text Box 69"/>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27" name="Text Box 69"/>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28" name="Text Box 69"/>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29" name="Line 23"/>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0" name="Line 26"/>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1" name="Line 26"/>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2" name="Line 26"/>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48"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2" name="Text Box 69"/>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3" name="Text Box 69"/>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4" name="Text Box 69"/>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55" name="Text Box 69"/>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56" name="Text Box 69"/>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57" name="Text Box 69"/>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58" name="Text Box 69"/>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59" name="Text Box 69"/>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60" name="Text Box 69"/>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61" name="Text Box 69"/>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62" name="Text Box 69"/>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4" name="直接连接符 3"/>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10" name="Line 24"/>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3" name="Line 24"/>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4" name="Line 24"/>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8" name="图片 7">
            <a:extLst>
              <a:ext uri="{FF2B5EF4-FFF2-40B4-BE49-F238E27FC236}">
                <a16:creationId xmlns:a16="http://schemas.microsoft.com/office/drawing/2014/main" id="{557C2A2F-6405-C44C-65EF-98094CDD130B}"/>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65" name="图片 64">
            <a:extLst>
              <a:ext uri="{FF2B5EF4-FFF2-40B4-BE49-F238E27FC236}">
                <a16:creationId xmlns:a16="http://schemas.microsoft.com/office/drawing/2014/main" id="{9E86F9CE-948D-E6C5-4F78-7D90B8913ED7}"/>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67" name="图片 66">
            <a:extLst>
              <a:ext uri="{FF2B5EF4-FFF2-40B4-BE49-F238E27FC236}">
                <a16:creationId xmlns:a16="http://schemas.microsoft.com/office/drawing/2014/main" id="{D52B059A-4EB3-FEBB-CB0D-2268E128127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68" name="图片 67">
            <a:extLst>
              <a:ext uri="{FF2B5EF4-FFF2-40B4-BE49-F238E27FC236}">
                <a16:creationId xmlns:a16="http://schemas.microsoft.com/office/drawing/2014/main" id="{32C0ECED-38FD-2E39-33F1-E2A45281D30B}"/>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69" name="图片 68">
            <a:extLst>
              <a:ext uri="{FF2B5EF4-FFF2-40B4-BE49-F238E27FC236}">
                <a16:creationId xmlns:a16="http://schemas.microsoft.com/office/drawing/2014/main" id="{A5022D63-E0B4-AEFC-9D22-200B57C77F40}"/>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70" name="图片 69">
            <a:extLst>
              <a:ext uri="{FF2B5EF4-FFF2-40B4-BE49-F238E27FC236}">
                <a16:creationId xmlns:a16="http://schemas.microsoft.com/office/drawing/2014/main" id="{9315541C-A874-1215-245C-EA56227AB143}"/>
              </a:ext>
            </a:extLst>
          </p:cNvPr>
          <p:cNvPicPr>
            <a:picLocks noChangeAspect="1"/>
          </p:cNvPicPr>
          <p:nvPr/>
        </p:nvPicPr>
        <p:blipFill>
          <a:blip r:embed="rId3"/>
          <a:stretch>
            <a:fillRect/>
          </a:stretch>
        </p:blipFill>
        <p:spPr>
          <a:xfrm>
            <a:off x="5065380" y="3634713"/>
            <a:ext cx="392727" cy="360000"/>
          </a:xfrm>
          <a:prstGeom prst="rect">
            <a:avLst/>
          </a:prstGeom>
        </p:spPr>
      </p:pic>
      <p:sp>
        <p:nvSpPr>
          <p:cNvPr id="22" name="Text Box 67"/>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35" name="Text Box 67"/>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38" name="Text Box 67"/>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41" name="Text Box 67"/>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44" name="Text Box 67"/>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47" name="Text Box 67"/>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75" name="直接箭头连接符 74">
            <a:extLst>
              <a:ext uri="{FF2B5EF4-FFF2-40B4-BE49-F238E27FC236}">
                <a16:creationId xmlns:a16="http://schemas.microsoft.com/office/drawing/2014/main" id="{956463EA-52CC-A666-F7DB-4B41C2F26CC2}"/>
              </a:ext>
            </a:extLst>
          </p:cNvPr>
          <p:cNvCxnSpPr>
            <a:cxnSpLocks/>
          </p:cNvCxnSpPr>
          <p:nvPr/>
        </p:nvCxnSpPr>
        <p:spPr>
          <a:xfrm>
            <a:off x="3822988" y="2911853"/>
            <a:ext cx="273769" cy="20516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78" name="直接箭头连接符 77">
            <a:extLst>
              <a:ext uri="{FF2B5EF4-FFF2-40B4-BE49-F238E27FC236}">
                <a16:creationId xmlns:a16="http://schemas.microsoft.com/office/drawing/2014/main" id="{CDFF460C-EF24-781E-68CD-04D44EA25C14}"/>
              </a:ext>
            </a:extLst>
          </p:cNvPr>
          <p:cNvCxnSpPr>
            <a:cxnSpLocks/>
          </p:cNvCxnSpPr>
          <p:nvPr/>
        </p:nvCxnSpPr>
        <p:spPr>
          <a:xfrm flipV="1">
            <a:off x="4567537" y="2855825"/>
            <a:ext cx="239724" cy="23926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85" name="直接箭头连接符 84">
            <a:extLst>
              <a:ext uri="{FF2B5EF4-FFF2-40B4-BE49-F238E27FC236}">
                <a16:creationId xmlns:a16="http://schemas.microsoft.com/office/drawing/2014/main" id="{F6CACA05-4E6C-1F9C-2CFD-CB4F1DA0813E}"/>
              </a:ext>
            </a:extLst>
          </p:cNvPr>
          <p:cNvCxnSpPr>
            <a:cxnSpLocks/>
          </p:cNvCxnSpPr>
          <p:nvPr/>
        </p:nvCxnSpPr>
        <p:spPr>
          <a:xfrm>
            <a:off x="2792875" y="2637752"/>
            <a:ext cx="340074" cy="5122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88" name="直接箭头连接符 87">
            <a:extLst>
              <a:ext uri="{FF2B5EF4-FFF2-40B4-BE49-F238E27FC236}">
                <a16:creationId xmlns:a16="http://schemas.microsoft.com/office/drawing/2014/main" id="{74CCB2C1-5A19-1351-947A-3145ABBB86DA}"/>
              </a:ext>
            </a:extLst>
          </p:cNvPr>
          <p:cNvCxnSpPr>
            <a:cxnSpLocks/>
          </p:cNvCxnSpPr>
          <p:nvPr/>
        </p:nvCxnSpPr>
        <p:spPr>
          <a:xfrm>
            <a:off x="5601171" y="2740551"/>
            <a:ext cx="281193" cy="12939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694186AA-A26E-6D62-F2F5-C88DCA966098}"/>
              </a:ext>
            </a:extLst>
          </p:cNvPr>
          <p:cNvCxnSpPr>
            <a:cxnSpLocks/>
          </p:cNvCxnSpPr>
          <p:nvPr/>
        </p:nvCxnSpPr>
        <p:spPr>
          <a:xfrm flipV="1">
            <a:off x="5526647" y="2520319"/>
            <a:ext cx="316129" cy="86050"/>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94" name="直接箭头连接符 93">
            <a:extLst>
              <a:ext uri="{FF2B5EF4-FFF2-40B4-BE49-F238E27FC236}">
                <a16:creationId xmlns:a16="http://schemas.microsoft.com/office/drawing/2014/main" id="{4D040A4C-97DD-2DF5-A749-269430616018}"/>
              </a:ext>
            </a:extLst>
          </p:cNvPr>
          <p:cNvCxnSpPr>
            <a:cxnSpLocks/>
          </p:cNvCxnSpPr>
          <p:nvPr/>
        </p:nvCxnSpPr>
        <p:spPr>
          <a:xfrm flipV="1">
            <a:off x="2883992" y="2889375"/>
            <a:ext cx="263242" cy="2004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96" name="Text Box 69">
            <a:extLst>
              <a:ext uri="{FF2B5EF4-FFF2-40B4-BE49-F238E27FC236}">
                <a16:creationId xmlns:a16="http://schemas.microsoft.com/office/drawing/2014/main" id="{A85D70BB-4ADE-ED76-34EA-FDA906F13899}"/>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5580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734355" y="1203586"/>
            <a:ext cx="2562706" cy="1220847"/>
          </a:xfrm>
          <a:prstGeom prst="rect">
            <a:avLst/>
          </a:prstGeom>
          <a:solidFill>
            <a:schemeClr val="bg1"/>
          </a:solidFill>
        </p:spPr>
        <p:txBody>
          <a:bodyPr wrap="square">
            <a:spAutoFit/>
          </a:bodyPr>
          <a:lstStyle/>
          <a:p>
            <a:pPr>
              <a:lnSpc>
                <a:spcPts val="2200"/>
              </a:lnSpc>
            </a:pPr>
            <a:r>
              <a:rPr lang="zh-CN" altLang="en-US" sz="1600" dirty="0">
                <a:solidFill>
                  <a:srgbClr val="0000FF"/>
                </a:solidFill>
                <a:latin typeface="Montserrat" panose="00000500000000000000" pitchFamily="2" charset="0"/>
                <a:ea typeface="微软雅黑" panose="020B0503020204020204" pitchFamily="34" charset="-122"/>
              </a:rPr>
              <a:t>转发规则：</a:t>
            </a:r>
            <a:endParaRPr lang="en-US" altLang="zh-CN" sz="16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600" dirty="0">
                <a:latin typeface="Montserrat" panose="00000500000000000000" pitchFamily="2" charset="0"/>
                <a:ea typeface="微软雅黑" panose="020B0503020204020204" pitchFamily="34" charset="-122"/>
              </a:rPr>
              <a:t>源：</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5</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6</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目的：</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4</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路径：</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1</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2</a:t>
            </a:r>
            <a:r>
              <a:rPr lang="zh-CN" altLang="en-US" sz="1600" dirty="0">
                <a:latin typeface="Montserrat" panose="00000500000000000000" pitchFamily="2" charset="0"/>
                <a:ea typeface="微软雅黑" panose="020B0503020204020204" pitchFamily="34" charset="-122"/>
              </a:rPr>
              <a:t>。</a:t>
            </a:r>
          </a:p>
        </p:txBody>
      </p:sp>
      <p:graphicFrame>
        <p:nvGraphicFramePr>
          <p:cNvPr id="5" name="表格 4"/>
          <p:cNvGraphicFramePr>
            <a:graphicFrameLocks noGrp="1"/>
          </p:cNvGraphicFramePr>
          <p:nvPr>
            <p:extLst>
              <p:ext uri="{D42A27DB-BD31-4B8C-83A1-F6EECF244321}">
                <p14:modId xmlns:p14="http://schemas.microsoft.com/office/powerpoint/2010/main" val="4163695321"/>
              </p:ext>
            </p:extLst>
          </p:nvPr>
        </p:nvGraphicFramePr>
        <p:xfrm>
          <a:off x="642298" y="3159763"/>
          <a:ext cx="3812007" cy="574548"/>
        </p:xfrm>
        <a:graphic>
          <a:graphicData uri="http://schemas.openxmlformats.org/drawingml/2006/table">
            <a:tbl>
              <a:tblPr firstRow="1" firstCol="1" bandRow="1"/>
              <a:tblGrid>
                <a:gridCol w="3123944">
                  <a:extLst>
                    <a:ext uri="{9D8B030D-6E8A-4147-A177-3AD203B41FA5}">
                      <a16:colId xmlns:a16="http://schemas.microsoft.com/office/drawing/2014/main" val="369496196"/>
                    </a:ext>
                  </a:extLst>
                </a:gridCol>
                <a:gridCol w="688063">
                  <a:extLst>
                    <a:ext uri="{9D8B030D-6E8A-4147-A177-3AD203B41FA5}">
                      <a16:colId xmlns:a16="http://schemas.microsoft.com/office/drawing/2014/main" val="3538432755"/>
                    </a:ext>
                  </a:extLst>
                </a:gridCol>
              </a:tblGrid>
              <a:tr h="135248">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05501919"/>
                  </a:ext>
                </a:extLst>
              </a:tr>
              <a:tr h="277086">
                <a:tc>
                  <a:txBody>
                    <a:bodyPr/>
                    <a:lstStyle/>
                    <a:p>
                      <a:pPr marL="0" indent="0" algn="just"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源地址</a:t>
                      </a:r>
                      <a:r>
                        <a:rPr lang="en-US" sz="1100" b="1" kern="500" dirty="0">
                          <a:effectLst/>
                          <a:latin typeface="微软雅黑" panose="020B0503020204020204" pitchFamily="34" charset="-122"/>
                          <a:ea typeface="微软雅黑" panose="020B0503020204020204" pitchFamily="34" charset="-122"/>
                        </a:rPr>
                        <a:t> = 10.3.*.*</a:t>
                      </a:r>
                      <a:r>
                        <a:rPr lang="zh-CN" sz="1100" b="1" kern="500" dirty="0">
                          <a:effectLst/>
                          <a:latin typeface="微软雅黑" panose="020B0503020204020204" pitchFamily="34" charset="-122"/>
                          <a:ea typeface="微软雅黑" panose="020B0503020204020204" pitchFamily="34" charset="-122"/>
                        </a:rPr>
                        <a:t>；</a:t>
                      </a: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目的地址</a:t>
                      </a:r>
                      <a:r>
                        <a:rPr lang="en-US" sz="1100" b="1" kern="500" dirty="0">
                          <a:effectLst/>
                          <a:latin typeface="微软雅黑" panose="020B0503020204020204" pitchFamily="34" charset="-122"/>
                          <a:ea typeface="微软雅黑" panose="020B0503020204020204" pitchFamily="34" charset="-122"/>
                        </a:rPr>
                        <a:t> = 10.2.*.*</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转发</a:t>
                      </a:r>
                      <a:r>
                        <a:rPr lang="en-US" sz="1100" b="1" kern="500" dirty="0">
                          <a:effectLst/>
                          <a:latin typeface="微软雅黑" panose="020B0503020204020204" pitchFamily="34" charset="-122"/>
                          <a:ea typeface="微软雅黑" panose="020B0503020204020204" pitchFamily="34" charset="-122"/>
                        </a:rPr>
                        <a:t>(3)</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31699035"/>
                  </a:ext>
                </a:extLst>
              </a:tr>
            </a:tbl>
          </a:graphicData>
        </a:graphic>
      </p:graphicFrame>
      <p:graphicFrame>
        <p:nvGraphicFramePr>
          <p:cNvPr id="6" name="表格 5"/>
          <p:cNvGraphicFramePr>
            <a:graphicFrameLocks noGrp="1"/>
          </p:cNvGraphicFramePr>
          <p:nvPr>
            <p:extLst>
              <p:ext uri="{D42A27DB-BD31-4B8C-83A1-F6EECF244321}">
                <p14:modId xmlns:p14="http://schemas.microsoft.com/office/powerpoint/2010/main" val="2853904915"/>
              </p:ext>
            </p:extLst>
          </p:nvPr>
        </p:nvGraphicFramePr>
        <p:xfrm>
          <a:off x="656924" y="4023330"/>
          <a:ext cx="4802315" cy="574548"/>
        </p:xfrm>
        <a:graphic>
          <a:graphicData uri="http://schemas.openxmlformats.org/drawingml/2006/table">
            <a:tbl>
              <a:tblPr firstRow="1" firstCol="1" bandRow="1"/>
              <a:tblGrid>
                <a:gridCol w="4014664">
                  <a:extLst>
                    <a:ext uri="{9D8B030D-6E8A-4147-A177-3AD203B41FA5}">
                      <a16:colId xmlns:a16="http://schemas.microsoft.com/office/drawing/2014/main" val="2854143695"/>
                    </a:ext>
                  </a:extLst>
                </a:gridCol>
                <a:gridCol w="787651">
                  <a:extLst>
                    <a:ext uri="{9D8B030D-6E8A-4147-A177-3AD203B41FA5}">
                      <a16:colId xmlns:a16="http://schemas.microsoft.com/office/drawing/2014/main" val="1097916237"/>
                    </a:ext>
                  </a:extLst>
                </a:gridCol>
              </a:tblGrid>
              <a:tr h="181607">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8085059"/>
                  </a:ext>
                </a:extLst>
              </a:tr>
              <a:tr h="334282">
                <a:tc>
                  <a:txBody>
                    <a:bodyPr/>
                    <a:lstStyle/>
                    <a:p>
                      <a:pPr marL="0" indent="0" algn="l" defTabSz="914400" rtl="0" eaLnBrk="1" fontAlgn="base" latinLnBrk="0" hangingPunct="1">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入端口</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defTabSz="914400" rtl="0" eaLnBrk="1" fontAlgn="base" latinLnBrk="0" hangingPunct="1">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54572938"/>
                  </a:ext>
                </a:extLst>
              </a:tr>
            </a:tbl>
          </a:graphicData>
        </a:graphic>
      </p:graphicFrame>
      <p:graphicFrame>
        <p:nvGraphicFramePr>
          <p:cNvPr id="66" name="表格 65"/>
          <p:cNvGraphicFramePr>
            <a:graphicFrameLocks noGrp="1"/>
          </p:cNvGraphicFramePr>
          <p:nvPr>
            <p:extLst>
              <p:ext uri="{D42A27DB-BD31-4B8C-83A1-F6EECF244321}">
                <p14:modId xmlns:p14="http://schemas.microsoft.com/office/powerpoint/2010/main" val="4144984359"/>
              </p:ext>
            </p:extLst>
          </p:nvPr>
        </p:nvGraphicFramePr>
        <p:xfrm>
          <a:off x="4733515" y="3159763"/>
          <a:ext cx="3812975" cy="777748"/>
        </p:xfrm>
        <a:graphic>
          <a:graphicData uri="http://schemas.openxmlformats.org/drawingml/2006/table">
            <a:tbl>
              <a:tblPr firstRow="1" firstCol="1" bandRow="1"/>
              <a:tblGrid>
                <a:gridCol w="3106302">
                  <a:extLst>
                    <a:ext uri="{9D8B030D-6E8A-4147-A177-3AD203B41FA5}">
                      <a16:colId xmlns:a16="http://schemas.microsoft.com/office/drawing/2014/main" val="3081916040"/>
                    </a:ext>
                  </a:extLst>
                </a:gridCol>
                <a:gridCol w="706673">
                  <a:extLst>
                    <a:ext uri="{9D8B030D-6E8A-4147-A177-3AD203B41FA5}">
                      <a16:colId xmlns:a16="http://schemas.microsoft.com/office/drawing/2014/main" val="1076454317"/>
                    </a:ext>
                  </a:extLst>
                </a:gridCol>
              </a:tblGrid>
              <a:tr h="166399">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530612">
                <a:tc>
                  <a:txBody>
                    <a:bodyPr/>
                    <a:lstStyle/>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7" name="矩形 66"/>
          <p:cNvSpPr/>
          <p:nvPr/>
        </p:nvSpPr>
        <p:spPr>
          <a:xfrm>
            <a:off x="2239562"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3</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8" name="矩形 67"/>
          <p:cNvSpPr/>
          <p:nvPr/>
        </p:nvSpPr>
        <p:spPr>
          <a:xfrm>
            <a:off x="6298280"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9" name="矩形 68"/>
          <p:cNvSpPr/>
          <p:nvPr/>
        </p:nvSpPr>
        <p:spPr>
          <a:xfrm>
            <a:off x="2239562" y="3789316"/>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1</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AFCAFB28-CF8F-A5A0-7F32-E8C2CAB4E82A}"/>
              </a:ext>
            </a:extLst>
          </p:cNvPr>
          <p:cNvSpPr>
            <a:spLocks noGrp="1"/>
          </p:cNvSpPr>
          <p:nvPr>
            <p:ph type="title"/>
          </p:nvPr>
        </p:nvSpPr>
        <p:spPr>
          <a:xfrm>
            <a:off x="486000" y="550723"/>
            <a:ext cx="8172000" cy="338554"/>
          </a:xfrm>
        </p:spPr>
        <p:txBody>
          <a:bodyPr/>
          <a:lstStyle/>
          <a:p>
            <a:r>
              <a:rPr lang="zh-CN" altLang="en-US" dirty="0"/>
              <a:t>例子：简单转发</a:t>
            </a:r>
          </a:p>
        </p:txBody>
      </p:sp>
    </p:spTree>
    <p:extLst>
      <p:ext uri="{BB962C8B-B14F-4D97-AF65-F5344CB8AC3E}">
        <p14:creationId xmlns:p14="http://schemas.microsoft.com/office/powerpoint/2010/main" val="2522219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7"/>
                                        </p:tgtEl>
                                        <p:attrNameLst>
                                          <p:attrName>style.visibility</p:attrName>
                                        </p:attrNameLst>
                                      </p:cBhvr>
                                      <p:to>
                                        <p:strVal val="visible"/>
                                      </p:to>
                                    </p:set>
                                    <p:animEffect transition="in" filter="wipe(up)">
                                      <p:cBhvr>
                                        <p:cTn id="7" dur="1000"/>
                                        <p:tgtEl>
                                          <p:spTgt spid="6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69"/>
                                        </p:tgtEl>
                                        <p:attrNameLst>
                                          <p:attrName>style.visibility</p:attrName>
                                        </p:attrNameLst>
                                      </p:cBhvr>
                                      <p:to>
                                        <p:strVal val="visible"/>
                                      </p:to>
                                    </p:set>
                                    <p:animEffect transition="in" filter="wipe(up)">
                                      <p:cBhvr>
                                        <p:cTn id="16" dur="1000"/>
                                        <p:tgtEl>
                                          <p:spTgt spid="69"/>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wipe(up)">
                                      <p:cBhvr>
                                        <p:cTn id="20" dur="1000"/>
                                        <p:tgtEl>
                                          <p:spTgt spid="6"/>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grpId="0" nodeType="clickEffect">
                                  <p:stCondLst>
                                    <p:cond delay="0"/>
                                  </p:stCondLst>
                                  <p:childTnLst>
                                    <p:set>
                                      <p:cBhvr>
                                        <p:cTn id="24" dur="1" fill="hold">
                                          <p:stCondLst>
                                            <p:cond delay="0"/>
                                          </p:stCondLst>
                                        </p:cTn>
                                        <p:tgtEl>
                                          <p:spTgt spid="68"/>
                                        </p:tgtEl>
                                        <p:attrNameLst>
                                          <p:attrName>style.visibility</p:attrName>
                                        </p:attrNameLst>
                                      </p:cBhvr>
                                      <p:to>
                                        <p:strVal val="visible"/>
                                      </p:to>
                                    </p:set>
                                    <p:animEffect transition="in" filter="wipe(up)">
                                      <p:cBhvr>
                                        <p:cTn id="25" dur="1000"/>
                                        <p:tgtEl>
                                          <p:spTgt spid="68"/>
                                        </p:tgtEl>
                                      </p:cBhvr>
                                    </p:animEffect>
                                  </p:childTnLst>
                                </p:cTn>
                              </p:par>
                            </p:childTnLst>
                          </p:cTn>
                        </p:par>
                        <p:par>
                          <p:cTn id="26" fill="hold">
                            <p:stCondLst>
                              <p:cond delay="1000"/>
                            </p:stCondLst>
                            <p:childTnLst>
                              <p:par>
                                <p:cTn id="27" presetID="22" presetClass="entr" presetSubtype="1" fill="hold" nodeType="after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wipe(up)">
                                      <p:cBhvr>
                                        <p:cTn id="29"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p:bldP spid="68" grpId="0"/>
      <p:bldP spid="69" grpId="0"/>
    </p:bldLst>
  </p:timing>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0F259E5-AF0D-A416-2F77-62FCCB2CAF2D}"/>
              </a:ext>
            </a:extLst>
          </p:cNvPr>
          <p:cNvSpPr>
            <a:spLocks noGrp="1"/>
          </p:cNvSpPr>
          <p:nvPr>
            <p:ph type="title"/>
          </p:nvPr>
        </p:nvSpPr>
        <p:spPr>
          <a:xfrm>
            <a:off x="486000" y="550723"/>
            <a:ext cx="8172000" cy="338554"/>
          </a:xfrm>
        </p:spPr>
        <p:txBody>
          <a:bodyPr/>
          <a:lstStyle/>
          <a:p>
            <a:r>
              <a:rPr lang="zh-CN" altLang="en-US" dirty="0"/>
              <a:t>例子：负载均衡</a:t>
            </a:r>
          </a:p>
        </p:txBody>
      </p:sp>
      <p:sp>
        <p:nvSpPr>
          <p:cNvPr id="59" name="内容占位符 58">
            <a:extLst>
              <a:ext uri="{FF2B5EF4-FFF2-40B4-BE49-F238E27FC236}">
                <a16:creationId xmlns:a16="http://schemas.microsoft.com/office/drawing/2014/main" id="{C81CF1FE-4140-34AF-17C0-EF9EFB0793BA}"/>
              </a:ext>
            </a:extLst>
          </p:cNvPr>
          <p:cNvSpPr>
            <a:spLocks noGrp="1"/>
          </p:cNvSpPr>
          <p:nvPr>
            <p:ph sz="quarter" idx="11"/>
          </p:nvPr>
        </p:nvSpPr>
        <p:spPr>
          <a:xfrm>
            <a:off x="486000" y="900000"/>
            <a:ext cx="8172000" cy="3703500"/>
          </a:xfrm>
        </p:spPr>
        <p:txBody>
          <a:bodyPr/>
          <a:lstStyle/>
          <a:p>
            <a:r>
              <a:rPr lang="zh-CN" altLang="en-US" dirty="0"/>
              <a:t>转发规则：</a:t>
            </a:r>
            <a:endParaRPr lang="en-US" altLang="zh-CN" dirty="0"/>
          </a:p>
          <a:p>
            <a:endParaRPr lang="zh-CN" altLang="en-US" dirty="0"/>
          </a:p>
        </p:txBody>
      </p:sp>
      <p:sp>
        <p:nvSpPr>
          <p:cNvPr id="3" name="Line 23">
            <a:extLst>
              <a:ext uri="{FF2B5EF4-FFF2-40B4-BE49-F238E27FC236}">
                <a16:creationId xmlns:a16="http://schemas.microsoft.com/office/drawing/2014/main" id="{9A960BCF-391E-D525-91F1-5AEA699BBC88}"/>
              </a:ext>
            </a:extLst>
          </p:cNvPr>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4" name="Line 25">
            <a:extLst>
              <a:ext uri="{FF2B5EF4-FFF2-40B4-BE49-F238E27FC236}">
                <a16:creationId xmlns:a16="http://schemas.microsoft.com/office/drawing/2014/main" id="{33AE862A-3899-87AD-981D-57EBD4AD9090}"/>
              </a:ext>
            </a:extLst>
          </p:cNvPr>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 name="Line 26">
            <a:extLst>
              <a:ext uri="{FF2B5EF4-FFF2-40B4-BE49-F238E27FC236}">
                <a16:creationId xmlns:a16="http://schemas.microsoft.com/office/drawing/2014/main" id="{EB7F6E31-A964-EAFC-19F7-C31AA1549CDE}"/>
              </a:ext>
            </a:extLst>
          </p:cNvPr>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 name="Line 27">
            <a:extLst>
              <a:ext uri="{FF2B5EF4-FFF2-40B4-BE49-F238E27FC236}">
                <a16:creationId xmlns:a16="http://schemas.microsoft.com/office/drawing/2014/main" id="{68CA5E78-9BFB-C685-6EEC-42202384352A}"/>
              </a:ext>
            </a:extLst>
          </p:cNvPr>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 name="Line 30">
            <a:extLst>
              <a:ext uri="{FF2B5EF4-FFF2-40B4-BE49-F238E27FC236}">
                <a16:creationId xmlns:a16="http://schemas.microsoft.com/office/drawing/2014/main" id="{B862673B-6B7F-08B2-ED5A-D67801BC1DB9}"/>
              </a:ext>
            </a:extLst>
          </p:cNvPr>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 name="Text Box 65">
            <a:extLst>
              <a:ext uri="{FF2B5EF4-FFF2-40B4-BE49-F238E27FC236}">
                <a16:creationId xmlns:a16="http://schemas.microsoft.com/office/drawing/2014/main" id="{2DDFC5A5-E25D-2F37-1126-2BED6567D09B}"/>
              </a:ext>
            </a:extLst>
          </p:cNvPr>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9" name="Text Box 65">
            <a:extLst>
              <a:ext uri="{FF2B5EF4-FFF2-40B4-BE49-F238E27FC236}">
                <a16:creationId xmlns:a16="http://schemas.microsoft.com/office/drawing/2014/main" id="{97B957A4-55AE-0909-9A69-8354335F3122}"/>
              </a:ext>
            </a:extLst>
          </p:cNvPr>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10" name="Text Box 65">
            <a:extLst>
              <a:ext uri="{FF2B5EF4-FFF2-40B4-BE49-F238E27FC236}">
                <a16:creationId xmlns:a16="http://schemas.microsoft.com/office/drawing/2014/main" id="{4600610E-4025-67C0-AAC4-A705DBDE545A}"/>
              </a:ext>
            </a:extLst>
          </p:cNvPr>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11" name="Text Box 69">
            <a:extLst>
              <a:ext uri="{FF2B5EF4-FFF2-40B4-BE49-F238E27FC236}">
                <a16:creationId xmlns:a16="http://schemas.microsoft.com/office/drawing/2014/main" id="{15BBBF82-37AD-C975-09F8-AA7D1DFA240A}"/>
              </a:ext>
            </a:extLst>
          </p:cNvPr>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12" name="Text Box 69">
            <a:extLst>
              <a:ext uri="{FF2B5EF4-FFF2-40B4-BE49-F238E27FC236}">
                <a16:creationId xmlns:a16="http://schemas.microsoft.com/office/drawing/2014/main" id="{9E55DEC4-D39E-9EE8-2D67-D815568EDA6B}"/>
              </a:ext>
            </a:extLst>
          </p:cNvPr>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13" name="Text Box 69">
            <a:extLst>
              <a:ext uri="{FF2B5EF4-FFF2-40B4-BE49-F238E27FC236}">
                <a16:creationId xmlns:a16="http://schemas.microsoft.com/office/drawing/2014/main" id="{95DC343D-BCC0-ED48-D7A5-3C18C14B4E9B}"/>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
        <p:nvSpPr>
          <p:cNvPr id="14" name="Text Box 69">
            <a:extLst>
              <a:ext uri="{FF2B5EF4-FFF2-40B4-BE49-F238E27FC236}">
                <a16:creationId xmlns:a16="http://schemas.microsoft.com/office/drawing/2014/main" id="{D1F7B81A-FDEE-5DA9-1CE2-B8ED09E4284B}"/>
              </a:ext>
            </a:extLst>
          </p:cNvPr>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15" name="Text Box 69">
            <a:extLst>
              <a:ext uri="{FF2B5EF4-FFF2-40B4-BE49-F238E27FC236}">
                <a16:creationId xmlns:a16="http://schemas.microsoft.com/office/drawing/2014/main" id="{C33470E9-144F-7E38-494A-CBEC68B2958E}"/>
              </a:ext>
            </a:extLst>
          </p:cNvPr>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16" name="Text Box 69">
            <a:extLst>
              <a:ext uri="{FF2B5EF4-FFF2-40B4-BE49-F238E27FC236}">
                <a16:creationId xmlns:a16="http://schemas.microsoft.com/office/drawing/2014/main" id="{1CB5880E-08E5-BA08-517F-DA11B8606EE6}"/>
              </a:ext>
            </a:extLst>
          </p:cNvPr>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17" name="Line 23">
            <a:extLst>
              <a:ext uri="{FF2B5EF4-FFF2-40B4-BE49-F238E27FC236}">
                <a16:creationId xmlns:a16="http://schemas.microsoft.com/office/drawing/2014/main" id="{679D3E80-E83C-4F5D-EAB9-4ECBFC71BC64}"/>
              </a:ext>
            </a:extLst>
          </p:cNvPr>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8" name="Line 26">
            <a:extLst>
              <a:ext uri="{FF2B5EF4-FFF2-40B4-BE49-F238E27FC236}">
                <a16:creationId xmlns:a16="http://schemas.microsoft.com/office/drawing/2014/main" id="{4B78EB88-E315-F63B-98F9-27BFC4378D82}"/>
              </a:ext>
            </a:extLst>
          </p:cNvPr>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9" name="Line 26">
            <a:extLst>
              <a:ext uri="{FF2B5EF4-FFF2-40B4-BE49-F238E27FC236}">
                <a16:creationId xmlns:a16="http://schemas.microsoft.com/office/drawing/2014/main" id="{2F6025E8-535D-D2F5-61BD-CA4F8DF9B656}"/>
              </a:ext>
            </a:extLst>
          </p:cNvPr>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20" name="Line 26">
            <a:extLst>
              <a:ext uri="{FF2B5EF4-FFF2-40B4-BE49-F238E27FC236}">
                <a16:creationId xmlns:a16="http://schemas.microsoft.com/office/drawing/2014/main" id="{3D6ACBAF-06BB-6338-CC11-C0832476BBAE}"/>
              </a:ext>
            </a:extLst>
          </p:cNvPr>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21" name="Picture 5">
            <a:extLst>
              <a:ext uri="{FF2B5EF4-FFF2-40B4-BE49-F238E27FC236}">
                <a16:creationId xmlns:a16="http://schemas.microsoft.com/office/drawing/2014/main" id="{A3D695CD-BB26-B499-4F3E-09A5E73A0B1B}"/>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2" name="Picture 5">
            <a:extLst>
              <a:ext uri="{FF2B5EF4-FFF2-40B4-BE49-F238E27FC236}">
                <a16:creationId xmlns:a16="http://schemas.microsoft.com/office/drawing/2014/main" id="{B579B8CA-D254-26A6-A214-FD5FFBC1E79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3" name="Picture 5">
            <a:extLst>
              <a:ext uri="{FF2B5EF4-FFF2-40B4-BE49-F238E27FC236}">
                <a16:creationId xmlns:a16="http://schemas.microsoft.com/office/drawing/2014/main" id="{401F1B23-7AC5-8CCF-CB8D-F645312D030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4" name="Text Box 69">
            <a:extLst>
              <a:ext uri="{FF2B5EF4-FFF2-40B4-BE49-F238E27FC236}">
                <a16:creationId xmlns:a16="http://schemas.microsoft.com/office/drawing/2014/main" id="{56A0C9D2-9094-9368-E082-278F56C4D1E5}"/>
              </a:ext>
            </a:extLst>
          </p:cNvPr>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5" name="Text Box 69">
            <a:extLst>
              <a:ext uri="{FF2B5EF4-FFF2-40B4-BE49-F238E27FC236}">
                <a16:creationId xmlns:a16="http://schemas.microsoft.com/office/drawing/2014/main" id="{EB65EF40-01A2-76D1-4CED-A45C39EFAA91}"/>
              </a:ext>
            </a:extLst>
          </p:cNvPr>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6" name="Text Box 69">
            <a:extLst>
              <a:ext uri="{FF2B5EF4-FFF2-40B4-BE49-F238E27FC236}">
                <a16:creationId xmlns:a16="http://schemas.microsoft.com/office/drawing/2014/main" id="{741836B3-B0BF-EB0E-9BC7-EE6CC037A540}"/>
              </a:ext>
            </a:extLst>
          </p:cNvPr>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7" name="Text Box 69">
            <a:extLst>
              <a:ext uri="{FF2B5EF4-FFF2-40B4-BE49-F238E27FC236}">
                <a16:creationId xmlns:a16="http://schemas.microsoft.com/office/drawing/2014/main" id="{F8B0FDD4-12CE-0082-5670-265F83D7ECDD}"/>
              </a:ext>
            </a:extLst>
          </p:cNvPr>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28" name="Text Box 69">
            <a:extLst>
              <a:ext uri="{FF2B5EF4-FFF2-40B4-BE49-F238E27FC236}">
                <a16:creationId xmlns:a16="http://schemas.microsoft.com/office/drawing/2014/main" id="{4D3B31DC-FA16-02C6-0D55-8EAA3C69A423}"/>
              </a:ext>
            </a:extLst>
          </p:cNvPr>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29" name="Text Box 69">
            <a:extLst>
              <a:ext uri="{FF2B5EF4-FFF2-40B4-BE49-F238E27FC236}">
                <a16:creationId xmlns:a16="http://schemas.microsoft.com/office/drawing/2014/main" id="{F6A776C2-3A03-5C10-DA72-16EAD0523A32}"/>
              </a:ext>
            </a:extLst>
          </p:cNvPr>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30" name="Text Box 69">
            <a:extLst>
              <a:ext uri="{FF2B5EF4-FFF2-40B4-BE49-F238E27FC236}">
                <a16:creationId xmlns:a16="http://schemas.microsoft.com/office/drawing/2014/main" id="{FA6E7DC6-FF32-9D56-5A57-C5E5B83BAEA7}"/>
              </a:ext>
            </a:extLst>
          </p:cNvPr>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31" name="Text Box 69">
            <a:extLst>
              <a:ext uri="{FF2B5EF4-FFF2-40B4-BE49-F238E27FC236}">
                <a16:creationId xmlns:a16="http://schemas.microsoft.com/office/drawing/2014/main" id="{90C29910-D626-CC4F-6414-4B5BDF9D8E63}"/>
              </a:ext>
            </a:extLst>
          </p:cNvPr>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32" name="Text Box 69">
            <a:extLst>
              <a:ext uri="{FF2B5EF4-FFF2-40B4-BE49-F238E27FC236}">
                <a16:creationId xmlns:a16="http://schemas.microsoft.com/office/drawing/2014/main" id="{A3EECBE2-CE3E-79AF-916A-1E9D142F85A8}"/>
              </a:ext>
            </a:extLst>
          </p:cNvPr>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33" name="Text Box 69">
            <a:extLst>
              <a:ext uri="{FF2B5EF4-FFF2-40B4-BE49-F238E27FC236}">
                <a16:creationId xmlns:a16="http://schemas.microsoft.com/office/drawing/2014/main" id="{32D89E9F-CEFD-7F1B-878C-0934B8EF8535}"/>
              </a:ext>
            </a:extLst>
          </p:cNvPr>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34" name="Text Box 69">
            <a:extLst>
              <a:ext uri="{FF2B5EF4-FFF2-40B4-BE49-F238E27FC236}">
                <a16:creationId xmlns:a16="http://schemas.microsoft.com/office/drawing/2014/main" id="{771C7174-5F69-C84B-E230-F363F60E26C5}"/>
              </a:ext>
            </a:extLst>
          </p:cNvPr>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35" name="Text Box 69">
            <a:extLst>
              <a:ext uri="{FF2B5EF4-FFF2-40B4-BE49-F238E27FC236}">
                <a16:creationId xmlns:a16="http://schemas.microsoft.com/office/drawing/2014/main" id="{DDB2A721-B710-ADB5-4FAD-E870865A6620}"/>
              </a:ext>
            </a:extLst>
          </p:cNvPr>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36" name="直接连接符 35">
            <a:extLst>
              <a:ext uri="{FF2B5EF4-FFF2-40B4-BE49-F238E27FC236}">
                <a16:creationId xmlns:a16="http://schemas.microsoft.com/office/drawing/2014/main" id="{0F4BF497-C786-AA57-B472-B42EAB04CFD9}"/>
              </a:ext>
            </a:extLst>
          </p:cNvPr>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37" name="Line 24">
            <a:extLst>
              <a:ext uri="{FF2B5EF4-FFF2-40B4-BE49-F238E27FC236}">
                <a16:creationId xmlns:a16="http://schemas.microsoft.com/office/drawing/2014/main" id="{D397457E-5139-BC63-F375-801F2ECC733E}"/>
              </a:ext>
            </a:extLst>
          </p:cNvPr>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8" name="Line 24">
            <a:extLst>
              <a:ext uri="{FF2B5EF4-FFF2-40B4-BE49-F238E27FC236}">
                <a16:creationId xmlns:a16="http://schemas.microsoft.com/office/drawing/2014/main" id="{6A0E9BF1-75D0-680A-4066-D811A5CF232C}"/>
              </a:ext>
            </a:extLst>
          </p:cNvPr>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9" name="Line 24">
            <a:extLst>
              <a:ext uri="{FF2B5EF4-FFF2-40B4-BE49-F238E27FC236}">
                <a16:creationId xmlns:a16="http://schemas.microsoft.com/office/drawing/2014/main" id="{5F61612A-3DE9-E613-357B-92D7E0FDEDA8}"/>
              </a:ext>
            </a:extLst>
          </p:cNvPr>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40" name="图片 39">
            <a:extLst>
              <a:ext uri="{FF2B5EF4-FFF2-40B4-BE49-F238E27FC236}">
                <a16:creationId xmlns:a16="http://schemas.microsoft.com/office/drawing/2014/main" id="{489C1177-332D-CBA4-A0DE-B10727927383}"/>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41" name="图片 40">
            <a:extLst>
              <a:ext uri="{FF2B5EF4-FFF2-40B4-BE49-F238E27FC236}">
                <a16:creationId xmlns:a16="http://schemas.microsoft.com/office/drawing/2014/main" id="{C968A867-5A50-7CC9-B5E6-D2AB9AF9B1A7}"/>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42" name="图片 41">
            <a:extLst>
              <a:ext uri="{FF2B5EF4-FFF2-40B4-BE49-F238E27FC236}">
                <a16:creationId xmlns:a16="http://schemas.microsoft.com/office/drawing/2014/main" id="{E2E0F0EA-F615-153C-98E1-D4C5A837222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43" name="图片 42">
            <a:extLst>
              <a:ext uri="{FF2B5EF4-FFF2-40B4-BE49-F238E27FC236}">
                <a16:creationId xmlns:a16="http://schemas.microsoft.com/office/drawing/2014/main" id="{3E468086-9402-C4A9-8AA6-2CEB1E6ADE04}"/>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44" name="图片 43">
            <a:extLst>
              <a:ext uri="{FF2B5EF4-FFF2-40B4-BE49-F238E27FC236}">
                <a16:creationId xmlns:a16="http://schemas.microsoft.com/office/drawing/2014/main" id="{45F2D0AC-6108-4775-2ADB-B302A22CFC15}"/>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45" name="图片 44">
            <a:extLst>
              <a:ext uri="{FF2B5EF4-FFF2-40B4-BE49-F238E27FC236}">
                <a16:creationId xmlns:a16="http://schemas.microsoft.com/office/drawing/2014/main" id="{E55B1E70-0356-0801-89B9-FF52680C5869}"/>
              </a:ext>
            </a:extLst>
          </p:cNvPr>
          <p:cNvPicPr>
            <a:picLocks noChangeAspect="1"/>
          </p:cNvPicPr>
          <p:nvPr/>
        </p:nvPicPr>
        <p:blipFill>
          <a:blip r:embed="rId3"/>
          <a:stretch>
            <a:fillRect/>
          </a:stretch>
        </p:blipFill>
        <p:spPr>
          <a:xfrm>
            <a:off x="5065380" y="3634713"/>
            <a:ext cx="392727" cy="360000"/>
          </a:xfrm>
          <a:prstGeom prst="rect">
            <a:avLst/>
          </a:prstGeom>
        </p:spPr>
      </p:pic>
      <p:sp>
        <p:nvSpPr>
          <p:cNvPr id="46" name="Text Box 67">
            <a:extLst>
              <a:ext uri="{FF2B5EF4-FFF2-40B4-BE49-F238E27FC236}">
                <a16:creationId xmlns:a16="http://schemas.microsoft.com/office/drawing/2014/main" id="{C86EDCA1-0F66-414C-926A-6BA048BE31D7}"/>
              </a:ext>
            </a:extLst>
          </p:cNvPr>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47" name="Text Box 67">
            <a:extLst>
              <a:ext uri="{FF2B5EF4-FFF2-40B4-BE49-F238E27FC236}">
                <a16:creationId xmlns:a16="http://schemas.microsoft.com/office/drawing/2014/main" id="{0E023835-A076-564D-9FAF-1ED104A5EA23}"/>
              </a:ext>
            </a:extLst>
          </p:cNvPr>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48" name="Text Box 67">
            <a:extLst>
              <a:ext uri="{FF2B5EF4-FFF2-40B4-BE49-F238E27FC236}">
                <a16:creationId xmlns:a16="http://schemas.microsoft.com/office/drawing/2014/main" id="{6136F69B-E916-FF59-9561-A7583378B836}"/>
              </a:ext>
            </a:extLst>
          </p:cNvPr>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49" name="Text Box 67">
            <a:extLst>
              <a:ext uri="{FF2B5EF4-FFF2-40B4-BE49-F238E27FC236}">
                <a16:creationId xmlns:a16="http://schemas.microsoft.com/office/drawing/2014/main" id="{C5D091DA-4176-CEFA-2E5A-8243735246F4}"/>
              </a:ext>
            </a:extLst>
          </p:cNvPr>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50" name="Text Box 67">
            <a:extLst>
              <a:ext uri="{FF2B5EF4-FFF2-40B4-BE49-F238E27FC236}">
                <a16:creationId xmlns:a16="http://schemas.microsoft.com/office/drawing/2014/main" id="{55373C80-D5AE-A34B-53EC-829088B73FAB}"/>
              </a:ext>
            </a:extLst>
          </p:cNvPr>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51" name="Text Box 67">
            <a:extLst>
              <a:ext uri="{FF2B5EF4-FFF2-40B4-BE49-F238E27FC236}">
                <a16:creationId xmlns:a16="http://schemas.microsoft.com/office/drawing/2014/main" id="{99464A3B-F433-2B90-E850-85BD0CF83865}"/>
              </a:ext>
            </a:extLst>
          </p:cNvPr>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52" name="Picture 21">
            <a:extLst>
              <a:ext uri="{FF2B5EF4-FFF2-40B4-BE49-F238E27FC236}">
                <a16:creationId xmlns:a16="http://schemas.microsoft.com/office/drawing/2014/main" id="{90E14CE0-3914-B2D0-B89A-FB90595373CE}"/>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53" name="直接箭头连接符 52">
            <a:extLst>
              <a:ext uri="{FF2B5EF4-FFF2-40B4-BE49-F238E27FC236}">
                <a16:creationId xmlns:a16="http://schemas.microsoft.com/office/drawing/2014/main" id="{86DE129D-7478-5F99-A4B6-A74E7F0F3E24}"/>
              </a:ext>
            </a:extLst>
          </p:cNvPr>
          <p:cNvCxnSpPr>
            <a:cxnSpLocks/>
          </p:cNvCxnSpPr>
          <p:nvPr/>
        </p:nvCxnSpPr>
        <p:spPr>
          <a:xfrm>
            <a:off x="3822988" y="2911853"/>
            <a:ext cx="273769" cy="205164"/>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cxnSp>
        <p:nvCxnSpPr>
          <p:cNvPr id="54" name="直接箭头连接符 53">
            <a:extLst>
              <a:ext uri="{FF2B5EF4-FFF2-40B4-BE49-F238E27FC236}">
                <a16:creationId xmlns:a16="http://schemas.microsoft.com/office/drawing/2014/main" id="{E1BD6AA5-A074-0ACF-2EB2-2CFF2CCA2433}"/>
              </a:ext>
            </a:extLst>
          </p:cNvPr>
          <p:cNvCxnSpPr>
            <a:cxnSpLocks/>
          </p:cNvCxnSpPr>
          <p:nvPr/>
        </p:nvCxnSpPr>
        <p:spPr>
          <a:xfrm flipH="1">
            <a:off x="4560733" y="2861351"/>
            <a:ext cx="244260" cy="2355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接箭头连接符 54">
            <a:extLst>
              <a:ext uri="{FF2B5EF4-FFF2-40B4-BE49-F238E27FC236}">
                <a16:creationId xmlns:a16="http://schemas.microsoft.com/office/drawing/2014/main" id="{5458B062-2B6A-CB75-5E06-E20942B01917}"/>
              </a:ext>
            </a:extLst>
          </p:cNvPr>
          <p:cNvCxnSpPr>
            <a:cxnSpLocks/>
          </p:cNvCxnSpPr>
          <p:nvPr/>
        </p:nvCxnSpPr>
        <p:spPr>
          <a:xfrm flipH="1">
            <a:off x="3943785" y="2543772"/>
            <a:ext cx="497649" cy="14931"/>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cxnSp>
        <p:nvCxnSpPr>
          <p:cNvPr id="56" name="直接箭头连接符 55">
            <a:extLst>
              <a:ext uri="{FF2B5EF4-FFF2-40B4-BE49-F238E27FC236}">
                <a16:creationId xmlns:a16="http://schemas.microsoft.com/office/drawing/2014/main" id="{F14AA36B-B178-1CA9-BCB7-8079C49FAD83}"/>
              </a:ext>
            </a:extLst>
          </p:cNvPr>
          <p:cNvCxnSpPr>
            <a:cxnSpLocks/>
          </p:cNvCxnSpPr>
          <p:nvPr/>
        </p:nvCxnSpPr>
        <p:spPr>
          <a:xfrm flipH="1" flipV="1">
            <a:off x="5557709" y="2727301"/>
            <a:ext cx="358523" cy="16547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接箭头连接符 56">
            <a:extLst>
              <a:ext uri="{FF2B5EF4-FFF2-40B4-BE49-F238E27FC236}">
                <a16:creationId xmlns:a16="http://schemas.microsoft.com/office/drawing/2014/main" id="{5311E11C-3DB7-0252-1EAD-91AFC93ED146}"/>
              </a:ext>
            </a:extLst>
          </p:cNvPr>
          <p:cNvCxnSpPr>
            <a:cxnSpLocks/>
          </p:cNvCxnSpPr>
          <p:nvPr/>
        </p:nvCxnSpPr>
        <p:spPr>
          <a:xfrm flipH="1">
            <a:off x="5412071" y="2426744"/>
            <a:ext cx="324899" cy="93901"/>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01731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502976"/>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4</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p>
        </p:txBody>
      </p:sp>
      <p:graphicFrame>
        <p:nvGraphicFramePr>
          <p:cNvPr id="66" name="表格 65"/>
          <p:cNvGraphicFramePr>
            <a:graphicFrameLocks noGrp="1"/>
          </p:cNvGraphicFramePr>
          <p:nvPr>
            <p:extLst>
              <p:ext uri="{D42A27DB-BD31-4B8C-83A1-F6EECF244321}">
                <p14:modId xmlns:p14="http://schemas.microsoft.com/office/powerpoint/2010/main" val="743162934"/>
              </p:ext>
            </p:extLst>
          </p:nvPr>
        </p:nvGraphicFramePr>
        <p:xfrm>
          <a:off x="2286140" y="3232121"/>
          <a:ext cx="4096553" cy="796672"/>
        </p:xfrm>
        <a:graphic>
          <a:graphicData uri="http://schemas.openxmlformats.org/drawingml/2006/table">
            <a:tbl>
              <a:tblPr firstRow="1" firstCol="1" bandRow="1"/>
              <a:tblGrid>
                <a:gridCol w="3145939">
                  <a:extLst>
                    <a:ext uri="{9D8B030D-6E8A-4147-A177-3AD203B41FA5}">
                      <a16:colId xmlns:a16="http://schemas.microsoft.com/office/drawing/2014/main" val="3081916040"/>
                    </a:ext>
                  </a:extLst>
                </a:gridCol>
                <a:gridCol w="950614">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p>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4</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endParaRPr lang="en-US"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2</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1</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395860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31B7B8FA-8E96-BCD6-4DAD-687F5EAB7419}"/>
              </a:ext>
            </a:extLst>
          </p:cNvPr>
          <p:cNvSpPr>
            <a:spLocks noGrp="1"/>
          </p:cNvSpPr>
          <p:nvPr>
            <p:ph type="title"/>
          </p:nvPr>
        </p:nvSpPr>
        <p:spPr>
          <a:xfrm>
            <a:off x="486000" y="550723"/>
            <a:ext cx="8172000" cy="338554"/>
          </a:xfrm>
        </p:spPr>
        <p:txBody>
          <a:bodyPr/>
          <a:lstStyle/>
          <a:p>
            <a:r>
              <a:rPr lang="zh-CN" altLang="en-US" dirty="0"/>
              <a:t>例子：负载均衡</a:t>
            </a:r>
          </a:p>
        </p:txBody>
      </p:sp>
    </p:spTree>
    <p:extLst>
      <p:ext uri="{BB962C8B-B14F-4D97-AF65-F5344CB8AC3E}">
        <p14:creationId xmlns:p14="http://schemas.microsoft.com/office/powerpoint/2010/main" val="275898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Lst>
  </p:timing>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765FCD8-7E72-51A8-5147-5F5C849F09AD}"/>
              </a:ext>
            </a:extLst>
          </p:cNvPr>
          <p:cNvSpPr>
            <a:spLocks noGrp="1"/>
          </p:cNvSpPr>
          <p:nvPr>
            <p:ph type="title"/>
          </p:nvPr>
        </p:nvSpPr>
        <p:spPr/>
        <p:txBody>
          <a:bodyPr/>
          <a:lstStyle/>
          <a:p>
            <a:r>
              <a:rPr lang="zh-CN" altLang="en-US" dirty="0"/>
              <a:t>例子：防火墙</a:t>
            </a:r>
          </a:p>
        </p:txBody>
      </p:sp>
      <p:sp>
        <p:nvSpPr>
          <p:cNvPr id="58" name="Line 23">
            <a:extLst>
              <a:ext uri="{FF2B5EF4-FFF2-40B4-BE49-F238E27FC236}">
                <a16:creationId xmlns:a16="http://schemas.microsoft.com/office/drawing/2014/main" id="{00C14131-BBB1-A78F-2B6B-D2EE09AB8CE1}"/>
              </a:ext>
            </a:extLst>
          </p:cNvPr>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9" name="Line 25">
            <a:extLst>
              <a:ext uri="{FF2B5EF4-FFF2-40B4-BE49-F238E27FC236}">
                <a16:creationId xmlns:a16="http://schemas.microsoft.com/office/drawing/2014/main" id="{0501E549-276F-F924-DC47-F70D3BE1718A}"/>
              </a:ext>
            </a:extLst>
          </p:cNvPr>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0" name="Line 26">
            <a:extLst>
              <a:ext uri="{FF2B5EF4-FFF2-40B4-BE49-F238E27FC236}">
                <a16:creationId xmlns:a16="http://schemas.microsoft.com/office/drawing/2014/main" id="{E59F0FB3-ABCF-3F2F-EBA9-DEC2CFF2C21B}"/>
              </a:ext>
            </a:extLst>
          </p:cNvPr>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1" name="Line 27">
            <a:extLst>
              <a:ext uri="{FF2B5EF4-FFF2-40B4-BE49-F238E27FC236}">
                <a16:creationId xmlns:a16="http://schemas.microsoft.com/office/drawing/2014/main" id="{CFBCD0FD-01FB-C641-FE53-2005625ECEB8}"/>
              </a:ext>
            </a:extLst>
          </p:cNvPr>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2" name="Line 30">
            <a:extLst>
              <a:ext uri="{FF2B5EF4-FFF2-40B4-BE49-F238E27FC236}">
                <a16:creationId xmlns:a16="http://schemas.microsoft.com/office/drawing/2014/main" id="{F2359ACC-0C0C-3816-E3FE-D74FDA0B5300}"/>
              </a:ext>
            </a:extLst>
          </p:cNvPr>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3" name="Text Box 65">
            <a:extLst>
              <a:ext uri="{FF2B5EF4-FFF2-40B4-BE49-F238E27FC236}">
                <a16:creationId xmlns:a16="http://schemas.microsoft.com/office/drawing/2014/main" id="{FF62DBBE-34E8-19AD-4D1B-F571E0294DEE}"/>
              </a:ext>
            </a:extLst>
          </p:cNvPr>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64" name="Text Box 65">
            <a:extLst>
              <a:ext uri="{FF2B5EF4-FFF2-40B4-BE49-F238E27FC236}">
                <a16:creationId xmlns:a16="http://schemas.microsoft.com/office/drawing/2014/main" id="{EB0B87BE-6938-9624-F135-00041975E19F}"/>
              </a:ext>
            </a:extLst>
          </p:cNvPr>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65" name="Text Box 65">
            <a:extLst>
              <a:ext uri="{FF2B5EF4-FFF2-40B4-BE49-F238E27FC236}">
                <a16:creationId xmlns:a16="http://schemas.microsoft.com/office/drawing/2014/main" id="{0CC9C5FE-019A-EF15-8A31-1D1BD816A063}"/>
              </a:ext>
            </a:extLst>
          </p:cNvPr>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66" name="Text Box 69">
            <a:extLst>
              <a:ext uri="{FF2B5EF4-FFF2-40B4-BE49-F238E27FC236}">
                <a16:creationId xmlns:a16="http://schemas.microsoft.com/office/drawing/2014/main" id="{861940A9-C875-27AB-7405-4FF550CA5072}"/>
              </a:ext>
            </a:extLst>
          </p:cNvPr>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67" name="Text Box 69">
            <a:extLst>
              <a:ext uri="{FF2B5EF4-FFF2-40B4-BE49-F238E27FC236}">
                <a16:creationId xmlns:a16="http://schemas.microsoft.com/office/drawing/2014/main" id="{B200A085-2ECA-31E4-45A1-EDA23F4A06A9}"/>
              </a:ext>
            </a:extLst>
          </p:cNvPr>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68" name="Text Box 69">
            <a:extLst>
              <a:ext uri="{FF2B5EF4-FFF2-40B4-BE49-F238E27FC236}">
                <a16:creationId xmlns:a16="http://schemas.microsoft.com/office/drawing/2014/main" id="{C4CF1D3F-5685-875F-06A4-EB22647C5F2A}"/>
              </a:ext>
            </a:extLst>
          </p:cNvPr>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69" name="Text Box 69">
            <a:extLst>
              <a:ext uri="{FF2B5EF4-FFF2-40B4-BE49-F238E27FC236}">
                <a16:creationId xmlns:a16="http://schemas.microsoft.com/office/drawing/2014/main" id="{02A542EA-0334-783C-FC6E-4F1FC2120A55}"/>
              </a:ext>
            </a:extLst>
          </p:cNvPr>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70" name="Text Box 69">
            <a:extLst>
              <a:ext uri="{FF2B5EF4-FFF2-40B4-BE49-F238E27FC236}">
                <a16:creationId xmlns:a16="http://schemas.microsoft.com/office/drawing/2014/main" id="{7E08AF8A-E1B7-3356-1388-DCD6F8530CD7}"/>
              </a:ext>
            </a:extLst>
          </p:cNvPr>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71" name="Line 23">
            <a:extLst>
              <a:ext uri="{FF2B5EF4-FFF2-40B4-BE49-F238E27FC236}">
                <a16:creationId xmlns:a16="http://schemas.microsoft.com/office/drawing/2014/main" id="{961228C7-2F4D-6AB1-D277-931748B7199A}"/>
              </a:ext>
            </a:extLst>
          </p:cNvPr>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2" name="Line 26">
            <a:extLst>
              <a:ext uri="{FF2B5EF4-FFF2-40B4-BE49-F238E27FC236}">
                <a16:creationId xmlns:a16="http://schemas.microsoft.com/office/drawing/2014/main" id="{DC866906-A967-C56F-82C5-51375E6BFA0F}"/>
              </a:ext>
            </a:extLst>
          </p:cNvPr>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3" name="Line 26">
            <a:extLst>
              <a:ext uri="{FF2B5EF4-FFF2-40B4-BE49-F238E27FC236}">
                <a16:creationId xmlns:a16="http://schemas.microsoft.com/office/drawing/2014/main" id="{34A1498D-1A9B-65A0-9A84-1B2410B44F8B}"/>
              </a:ext>
            </a:extLst>
          </p:cNvPr>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4" name="Line 26">
            <a:extLst>
              <a:ext uri="{FF2B5EF4-FFF2-40B4-BE49-F238E27FC236}">
                <a16:creationId xmlns:a16="http://schemas.microsoft.com/office/drawing/2014/main" id="{6E9FE117-4EC4-A19F-32CC-06DAE98FABE4}"/>
              </a:ext>
            </a:extLst>
          </p:cNvPr>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75" name="Picture 5">
            <a:extLst>
              <a:ext uri="{FF2B5EF4-FFF2-40B4-BE49-F238E27FC236}">
                <a16:creationId xmlns:a16="http://schemas.microsoft.com/office/drawing/2014/main" id="{A24C7CD1-9642-08DB-06DC-9B79DB2EE13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6" name="Picture 5">
            <a:extLst>
              <a:ext uri="{FF2B5EF4-FFF2-40B4-BE49-F238E27FC236}">
                <a16:creationId xmlns:a16="http://schemas.microsoft.com/office/drawing/2014/main" id="{447C4351-BCB1-94EF-9319-6992898C999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7" name="Picture 5">
            <a:extLst>
              <a:ext uri="{FF2B5EF4-FFF2-40B4-BE49-F238E27FC236}">
                <a16:creationId xmlns:a16="http://schemas.microsoft.com/office/drawing/2014/main" id="{F07F82E0-4E38-BA82-E01F-80ECCABFD35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78" name="Text Box 69">
            <a:extLst>
              <a:ext uri="{FF2B5EF4-FFF2-40B4-BE49-F238E27FC236}">
                <a16:creationId xmlns:a16="http://schemas.microsoft.com/office/drawing/2014/main" id="{8D362045-201A-239F-7FDF-8DFBE1CF8409}"/>
              </a:ext>
            </a:extLst>
          </p:cNvPr>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79" name="Text Box 69">
            <a:extLst>
              <a:ext uri="{FF2B5EF4-FFF2-40B4-BE49-F238E27FC236}">
                <a16:creationId xmlns:a16="http://schemas.microsoft.com/office/drawing/2014/main" id="{185B97BC-23AB-691E-9770-E6C4EC366E41}"/>
              </a:ext>
            </a:extLst>
          </p:cNvPr>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80" name="Text Box 69">
            <a:extLst>
              <a:ext uri="{FF2B5EF4-FFF2-40B4-BE49-F238E27FC236}">
                <a16:creationId xmlns:a16="http://schemas.microsoft.com/office/drawing/2014/main" id="{49E253AF-145B-E754-73C1-FCF861BB1325}"/>
              </a:ext>
            </a:extLst>
          </p:cNvPr>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81" name="Text Box 69">
            <a:extLst>
              <a:ext uri="{FF2B5EF4-FFF2-40B4-BE49-F238E27FC236}">
                <a16:creationId xmlns:a16="http://schemas.microsoft.com/office/drawing/2014/main" id="{04F78ED2-C211-E399-10AF-AEB2237C5ABD}"/>
              </a:ext>
            </a:extLst>
          </p:cNvPr>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82" name="Text Box 69">
            <a:extLst>
              <a:ext uri="{FF2B5EF4-FFF2-40B4-BE49-F238E27FC236}">
                <a16:creationId xmlns:a16="http://schemas.microsoft.com/office/drawing/2014/main" id="{D3E9405B-4578-2C71-4084-B329CD966A32}"/>
              </a:ext>
            </a:extLst>
          </p:cNvPr>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83" name="Text Box 69">
            <a:extLst>
              <a:ext uri="{FF2B5EF4-FFF2-40B4-BE49-F238E27FC236}">
                <a16:creationId xmlns:a16="http://schemas.microsoft.com/office/drawing/2014/main" id="{52D551FE-E9B8-733C-30FD-578445934DB2}"/>
              </a:ext>
            </a:extLst>
          </p:cNvPr>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84" name="Text Box 69">
            <a:extLst>
              <a:ext uri="{FF2B5EF4-FFF2-40B4-BE49-F238E27FC236}">
                <a16:creationId xmlns:a16="http://schemas.microsoft.com/office/drawing/2014/main" id="{A325190F-99DF-5192-ABE0-6493F9A817EE}"/>
              </a:ext>
            </a:extLst>
          </p:cNvPr>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85" name="Text Box 69">
            <a:extLst>
              <a:ext uri="{FF2B5EF4-FFF2-40B4-BE49-F238E27FC236}">
                <a16:creationId xmlns:a16="http://schemas.microsoft.com/office/drawing/2014/main" id="{8E5075F9-72F7-3CD6-C334-1BFECFC93EDC}"/>
              </a:ext>
            </a:extLst>
          </p:cNvPr>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86" name="Text Box 69">
            <a:extLst>
              <a:ext uri="{FF2B5EF4-FFF2-40B4-BE49-F238E27FC236}">
                <a16:creationId xmlns:a16="http://schemas.microsoft.com/office/drawing/2014/main" id="{92B5A1B8-31C6-A08D-3E9C-F9E63CA045FA}"/>
              </a:ext>
            </a:extLst>
          </p:cNvPr>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87" name="Text Box 69">
            <a:extLst>
              <a:ext uri="{FF2B5EF4-FFF2-40B4-BE49-F238E27FC236}">
                <a16:creationId xmlns:a16="http://schemas.microsoft.com/office/drawing/2014/main" id="{20537050-DE14-0B8F-2774-D6A96384F815}"/>
              </a:ext>
            </a:extLst>
          </p:cNvPr>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88" name="Text Box 69">
            <a:extLst>
              <a:ext uri="{FF2B5EF4-FFF2-40B4-BE49-F238E27FC236}">
                <a16:creationId xmlns:a16="http://schemas.microsoft.com/office/drawing/2014/main" id="{0B34B3B0-F311-8640-B311-D9DB47C5AE4E}"/>
              </a:ext>
            </a:extLst>
          </p:cNvPr>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89" name="Text Box 69">
            <a:extLst>
              <a:ext uri="{FF2B5EF4-FFF2-40B4-BE49-F238E27FC236}">
                <a16:creationId xmlns:a16="http://schemas.microsoft.com/office/drawing/2014/main" id="{AFB669ED-760B-AD0B-2422-898F38B6CAFB}"/>
              </a:ext>
            </a:extLst>
          </p:cNvPr>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90" name="直接连接符 89">
            <a:extLst>
              <a:ext uri="{FF2B5EF4-FFF2-40B4-BE49-F238E27FC236}">
                <a16:creationId xmlns:a16="http://schemas.microsoft.com/office/drawing/2014/main" id="{471EC9AF-E65F-AA76-6DF7-518DC8C80E6F}"/>
              </a:ext>
            </a:extLst>
          </p:cNvPr>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91" name="Line 24">
            <a:extLst>
              <a:ext uri="{FF2B5EF4-FFF2-40B4-BE49-F238E27FC236}">
                <a16:creationId xmlns:a16="http://schemas.microsoft.com/office/drawing/2014/main" id="{52A5AB57-167E-409E-C886-59E59BD7647F}"/>
              </a:ext>
            </a:extLst>
          </p:cNvPr>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2" name="Line 24">
            <a:extLst>
              <a:ext uri="{FF2B5EF4-FFF2-40B4-BE49-F238E27FC236}">
                <a16:creationId xmlns:a16="http://schemas.microsoft.com/office/drawing/2014/main" id="{8DF865C3-0A33-8194-ADC4-45C4029FEEEB}"/>
              </a:ext>
            </a:extLst>
          </p:cNvPr>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3" name="Line 24">
            <a:extLst>
              <a:ext uri="{FF2B5EF4-FFF2-40B4-BE49-F238E27FC236}">
                <a16:creationId xmlns:a16="http://schemas.microsoft.com/office/drawing/2014/main" id="{D0396AB7-EFF4-00CA-CA93-5FD3A9EF9250}"/>
              </a:ext>
            </a:extLst>
          </p:cNvPr>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94" name="图片 93">
            <a:extLst>
              <a:ext uri="{FF2B5EF4-FFF2-40B4-BE49-F238E27FC236}">
                <a16:creationId xmlns:a16="http://schemas.microsoft.com/office/drawing/2014/main" id="{7D434696-1472-9937-8CFC-9630BA0E2988}"/>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95" name="图片 94">
            <a:extLst>
              <a:ext uri="{FF2B5EF4-FFF2-40B4-BE49-F238E27FC236}">
                <a16:creationId xmlns:a16="http://schemas.microsoft.com/office/drawing/2014/main" id="{ED30D52A-3032-1BE1-837E-8B2D8EBF1CE5}"/>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96" name="图片 95">
            <a:extLst>
              <a:ext uri="{FF2B5EF4-FFF2-40B4-BE49-F238E27FC236}">
                <a16:creationId xmlns:a16="http://schemas.microsoft.com/office/drawing/2014/main" id="{25C6DA85-ABDD-6731-37C3-4998BCA5C83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97" name="图片 96">
            <a:extLst>
              <a:ext uri="{FF2B5EF4-FFF2-40B4-BE49-F238E27FC236}">
                <a16:creationId xmlns:a16="http://schemas.microsoft.com/office/drawing/2014/main" id="{81B1A17A-0AD0-D2C7-2523-296C581BFAB7}"/>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98" name="图片 97">
            <a:extLst>
              <a:ext uri="{FF2B5EF4-FFF2-40B4-BE49-F238E27FC236}">
                <a16:creationId xmlns:a16="http://schemas.microsoft.com/office/drawing/2014/main" id="{6F0A3AA2-CC65-78A3-7439-3E54A1460C2A}"/>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99" name="图片 98">
            <a:extLst>
              <a:ext uri="{FF2B5EF4-FFF2-40B4-BE49-F238E27FC236}">
                <a16:creationId xmlns:a16="http://schemas.microsoft.com/office/drawing/2014/main" id="{1A9E18C5-97A1-2231-4091-9C2C3E440517}"/>
              </a:ext>
            </a:extLst>
          </p:cNvPr>
          <p:cNvPicPr>
            <a:picLocks noChangeAspect="1"/>
          </p:cNvPicPr>
          <p:nvPr/>
        </p:nvPicPr>
        <p:blipFill>
          <a:blip r:embed="rId3"/>
          <a:stretch>
            <a:fillRect/>
          </a:stretch>
        </p:blipFill>
        <p:spPr>
          <a:xfrm>
            <a:off x="5065380" y="3634713"/>
            <a:ext cx="392727" cy="360000"/>
          </a:xfrm>
          <a:prstGeom prst="rect">
            <a:avLst/>
          </a:prstGeom>
        </p:spPr>
      </p:pic>
      <p:sp>
        <p:nvSpPr>
          <p:cNvPr id="100" name="Text Box 67">
            <a:extLst>
              <a:ext uri="{FF2B5EF4-FFF2-40B4-BE49-F238E27FC236}">
                <a16:creationId xmlns:a16="http://schemas.microsoft.com/office/drawing/2014/main" id="{CA56EC78-C4FD-1FFA-1111-BC7FB2A12E1F}"/>
              </a:ext>
            </a:extLst>
          </p:cNvPr>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101" name="Text Box 67">
            <a:extLst>
              <a:ext uri="{FF2B5EF4-FFF2-40B4-BE49-F238E27FC236}">
                <a16:creationId xmlns:a16="http://schemas.microsoft.com/office/drawing/2014/main" id="{C6131FC4-6E9D-857E-7F0C-788541038CE0}"/>
              </a:ext>
            </a:extLst>
          </p:cNvPr>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102" name="Text Box 67">
            <a:extLst>
              <a:ext uri="{FF2B5EF4-FFF2-40B4-BE49-F238E27FC236}">
                <a16:creationId xmlns:a16="http://schemas.microsoft.com/office/drawing/2014/main" id="{3637ECB9-3DE3-7991-E6F2-099C3FA579C7}"/>
              </a:ext>
            </a:extLst>
          </p:cNvPr>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103" name="Text Box 67">
            <a:extLst>
              <a:ext uri="{FF2B5EF4-FFF2-40B4-BE49-F238E27FC236}">
                <a16:creationId xmlns:a16="http://schemas.microsoft.com/office/drawing/2014/main" id="{A764B98E-C667-F5EA-FBA1-98E6B4A82441}"/>
              </a:ext>
            </a:extLst>
          </p:cNvPr>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104" name="Text Box 67">
            <a:extLst>
              <a:ext uri="{FF2B5EF4-FFF2-40B4-BE49-F238E27FC236}">
                <a16:creationId xmlns:a16="http://schemas.microsoft.com/office/drawing/2014/main" id="{C1F1EA6C-93A2-A946-6BDA-8A39901B1348}"/>
              </a:ext>
            </a:extLst>
          </p:cNvPr>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105" name="Text Box 67">
            <a:extLst>
              <a:ext uri="{FF2B5EF4-FFF2-40B4-BE49-F238E27FC236}">
                <a16:creationId xmlns:a16="http://schemas.microsoft.com/office/drawing/2014/main" id="{C9E9FC93-61D9-9539-4D9B-CBCADDEEB35B}"/>
              </a:ext>
            </a:extLst>
          </p:cNvPr>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106" name="Picture 21">
            <a:extLst>
              <a:ext uri="{FF2B5EF4-FFF2-40B4-BE49-F238E27FC236}">
                <a16:creationId xmlns:a16="http://schemas.microsoft.com/office/drawing/2014/main" id="{843FDB31-7438-2AF9-DD33-4BC2EBF9D795}"/>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07" name="直接箭头连接符 106">
            <a:extLst>
              <a:ext uri="{FF2B5EF4-FFF2-40B4-BE49-F238E27FC236}">
                <a16:creationId xmlns:a16="http://schemas.microsoft.com/office/drawing/2014/main" id="{1A1F7AE5-89B2-27BB-7D91-C9DA98B85C7E}"/>
              </a:ext>
            </a:extLst>
          </p:cNvPr>
          <p:cNvCxnSpPr>
            <a:cxnSpLocks/>
          </p:cNvCxnSpPr>
          <p:nvPr/>
        </p:nvCxnSpPr>
        <p:spPr>
          <a:xfrm flipV="1">
            <a:off x="3993622" y="2527331"/>
            <a:ext cx="505912" cy="2084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接箭头连接符 108">
            <a:extLst>
              <a:ext uri="{FF2B5EF4-FFF2-40B4-BE49-F238E27FC236}">
                <a16:creationId xmlns:a16="http://schemas.microsoft.com/office/drawing/2014/main" id="{33A33B55-7A04-B432-F554-DB0747651C8C}"/>
              </a:ext>
            </a:extLst>
          </p:cNvPr>
          <p:cNvCxnSpPr>
            <a:cxnSpLocks/>
          </p:cNvCxnSpPr>
          <p:nvPr/>
        </p:nvCxnSpPr>
        <p:spPr>
          <a:xfrm>
            <a:off x="2792875" y="2637752"/>
            <a:ext cx="340074" cy="5122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859EF805-D4A5-BD4A-AB78-732E687AF2A2}"/>
              </a:ext>
            </a:extLst>
          </p:cNvPr>
          <p:cNvCxnSpPr>
            <a:cxnSpLocks/>
          </p:cNvCxnSpPr>
          <p:nvPr/>
        </p:nvCxnSpPr>
        <p:spPr>
          <a:xfrm>
            <a:off x="5601171" y="2740551"/>
            <a:ext cx="281193" cy="12939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直接箭头连接符 110">
            <a:extLst>
              <a:ext uri="{FF2B5EF4-FFF2-40B4-BE49-F238E27FC236}">
                <a16:creationId xmlns:a16="http://schemas.microsoft.com/office/drawing/2014/main" id="{541C7617-40F7-2572-A5AC-4F7CFFEE155F}"/>
              </a:ext>
            </a:extLst>
          </p:cNvPr>
          <p:cNvCxnSpPr>
            <a:cxnSpLocks/>
          </p:cNvCxnSpPr>
          <p:nvPr/>
        </p:nvCxnSpPr>
        <p:spPr>
          <a:xfrm flipV="1">
            <a:off x="5526647" y="2520319"/>
            <a:ext cx="316129" cy="86050"/>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直接箭头连接符 111">
            <a:extLst>
              <a:ext uri="{FF2B5EF4-FFF2-40B4-BE49-F238E27FC236}">
                <a16:creationId xmlns:a16="http://schemas.microsoft.com/office/drawing/2014/main" id="{1B792542-D327-7ADF-0A24-9EA8C8A8D55E}"/>
              </a:ext>
            </a:extLst>
          </p:cNvPr>
          <p:cNvCxnSpPr>
            <a:cxnSpLocks/>
          </p:cNvCxnSpPr>
          <p:nvPr/>
        </p:nvCxnSpPr>
        <p:spPr>
          <a:xfrm flipV="1">
            <a:off x="2883992" y="2889375"/>
            <a:ext cx="263242" cy="2004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113" name="Text Box 69">
            <a:extLst>
              <a:ext uri="{FF2B5EF4-FFF2-40B4-BE49-F238E27FC236}">
                <a16:creationId xmlns:a16="http://schemas.microsoft.com/office/drawing/2014/main" id="{D5AD02DA-63C1-6B57-C9CF-71EF206D2765}"/>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3877921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220847"/>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中设置了防火墙。</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此防火墙的作用是仅仅接收来自与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相连的主机所发送的分组。</a:t>
            </a:r>
          </a:p>
        </p:txBody>
      </p:sp>
      <p:graphicFrame>
        <p:nvGraphicFramePr>
          <p:cNvPr id="66" name="表格 65"/>
          <p:cNvGraphicFramePr>
            <a:graphicFrameLocks noGrp="1"/>
          </p:cNvGraphicFramePr>
          <p:nvPr>
            <p:extLst>
              <p:ext uri="{D42A27DB-BD31-4B8C-83A1-F6EECF244321}">
                <p14:modId xmlns:p14="http://schemas.microsoft.com/office/powerpoint/2010/main" val="299693614"/>
              </p:ext>
            </p:extLst>
          </p:nvPr>
        </p:nvGraphicFramePr>
        <p:xfrm>
          <a:off x="2286140" y="3232121"/>
          <a:ext cx="4513012" cy="796672"/>
        </p:xfrm>
        <a:graphic>
          <a:graphicData uri="http://schemas.openxmlformats.org/drawingml/2006/table">
            <a:tbl>
              <a:tblPr firstRow="1" firstCol="1" bandRow="1"/>
              <a:tblGrid>
                <a:gridCol w="3548226">
                  <a:extLst>
                    <a:ext uri="{9D8B030D-6E8A-4147-A177-3AD203B41FA5}">
                      <a16:colId xmlns:a16="http://schemas.microsoft.com/office/drawing/2014/main" val="3081916040"/>
                    </a:ext>
                  </a:extLst>
                </a:gridCol>
                <a:gridCol w="964786">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10.2.0.3</a:t>
                      </a:r>
                    </a:p>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10.2.0.4</a:t>
                      </a: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3</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4</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418454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矩形 3"/>
          <p:cNvSpPr/>
          <p:nvPr/>
        </p:nvSpPr>
        <p:spPr>
          <a:xfrm>
            <a:off x="1457064" y="4184380"/>
            <a:ext cx="6322390" cy="369332"/>
          </a:xfrm>
          <a:prstGeom prst="rect">
            <a:avLst/>
          </a:prstGeom>
          <a:solidFill>
            <a:srgbClr val="000099"/>
          </a:solidFill>
        </p:spPr>
        <p:txBody>
          <a:bodyPr wrap="square">
            <a:spAutoFit/>
          </a:bodyPr>
          <a:lstStyle/>
          <a:p>
            <a:r>
              <a:rPr lang="zh-CN" altLang="en-US" b="1" dirty="0">
                <a:solidFill>
                  <a:schemeClr val="bg1"/>
                </a:solidFill>
                <a:latin typeface="微软雅黑" panose="020B0503020204020204" pitchFamily="34" charset="-122"/>
                <a:ea typeface="微软雅黑" panose="020B0503020204020204" pitchFamily="34" charset="-122"/>
              </a:rPr>
              <a:t>可见：广义转发具有多样性和灵活性。其优点是显而易见的。</a:t>
            </a:r>
          </a:p>
        </p:txBody>
      </p:sp>
      <p:sp>
        <p:nvSpPr>
          <p:cNvPr id="5" name="标题 4">
            <a:extLst>
              <a:ext uri="{FF2B5EF4-FFF2-40B4-BE49-F238E27FC236}">
                <a16:creationId xmlns:a16="http://schemas.microsoft.com/office/drawing/2014/main" id="{30BCFA6D-37AE-9EAB-A73E-004E9F9502F3}"/>
              </a:ext>
            </a:extLst>
          </p:cNvPr>
          <p:cNvSpPr>
            <a:spLocks noGrp="1"/>
          </p:cNvSpPr>
          <p:nvPr>
            <p:ph type="title"/>
          </p:nvPr>
        </p:nvSpPr>
        <p:spPr>
          <a:xfrm>
            <a:off x="486000" y="550723"/>
            <a:ext cx="8172000" cy="338554"/>
          </a:xfrm>
        </p:spPr>
        <p:txBody>
          <a:bodyPr/>
          <a:lstStyle/>
          <a:p>
            <a:r>
              <a:rPr lang="zh-CN" altLang="en-US" dirty="0"/>
              <a:t>例子：防火墙</a:t>
            </a:r>
          </a:p>
        </p:txBody>
      </p:sp>
    </p:spTree>
    <p:extLst>
      <p:ext uri="{BB962C8B-B14F-4D97-AF65-F5344CB8AC3E}">
        <p14:creationId xmlns:p14="http://schemas.microsoft.com/office/powerpoint/2010/main" val="6860528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P spid="4" grpId="0" animBg="1"/>
    </p:bldLst>
  </p:timing>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206"/>
          <p:cNvGrpSpPr>
            <a:grpSpLocks/>
          </p:cNvGrpSpPr>
          <p:nvPr/>
        </p:nvGrpSpPr>
        <p:grpSpPr bwMode="auto">
          <a:xfrm>
            <a:off x="3314765" y="3403348"/>
            <a:ext cx="2434239" cy="713383"/>
            <a:chOff x="912" y="768"/>
            <a:chExt cx="2400" cy="1584"/>
          </a:xfrm>
          <a:solidFill>
            <a:srgbClr val="00CCFF"/>
          </a:solidFill>
        </p:grpSpPr>
        <p:sp>
          <p:nvSpPr>
            <p:cNvPr id="23" name="Oval 207"/>
            <p:cNvSpPr>
              <a:spLocks noChangeArrowheads="1"/>
            </p:cNvSpPr>
            <p:nvPr/>
          </p:nvSpPr>
          <p:spPr bwMode="auto">
            <a:xfrm>
              <a:off x="1751" y="799"/>
              <a:ext cx="1026" cy="628"/>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4" name="Oval 208"/>
            <p:cNvSpPr>
              <a:spLocks noChangeArrowheads="1"/>
            </p:cNvSpPr>
            <p:nvPr/>
          </p:nvSpPr>
          <p:spPr bwMode="auto">
            <a:xfrm>
              <a:off x="1172" y="972"/>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6" name="Oval 209"/>
            <p:cNvSpPr>
              <a:spLocks noChangeArrowheads="1"/>
            </p:cNvSpPr>
            <p:nvPr/>
          </p:nvSpPr>
          <p:spPr bwMode="auto">
            <a:xfrm>
              <a:off x="926" y="1364"/>
              <a:ext cx="521" cy="502"/>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7" name="Oval 210"/>
            <p:cNvSpPr>
              <a:spLocks noChangeArrowheads="1"/>
            </p:cNvSpPr>
            <p:nvPr/>
          </p:nvSpPr>
          <p:spPr bwMode="auto">
            <a:xfrm>
              <a:off x="1085" y="1599"/>
              <a:ext cx="796"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8" name="Oval 211"/>
            <p:cNvSpPr>
              <a:spLocks noChangeArrowheads="1"/>
            </p:cNvSpPr>
            <p:nvPr/>
          </p:nvSpPr>
          <p:spPr bwMode="auto">
            <a:xfrm>
              <a:off x="1664" y="1693"/>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9" name="Oval 212"/>
            <p:cNvSpPr>
              <a:spLocks noChangeArrowheads="1"/>
            </p:cNvSpPr>
            <p:nvPr/>
          </p:nvSpPr>
          <p:spPr bwMode="auto">
            <a:xfrm>
              <a:off x="2445" y="988"/>
              <a:ext cx="751"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0" name="Oval 213"/>
            <p:cNvSpPr>
              <a:spLocks noChangeArrowheads="1"/>
            </p:cNvSpPr>
            <p:nvPr/>
          </p:nvSpPr>
          <p:spPr bwMode="auto">
            <a:xfrm>
              <a:off x="2560" y="1317"/>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1" name="Oval 214"/>
            <p:cNvSpPr>
              <a:spLocks noChangeArrowheads="1"/>
            </p:cNvSpPr>
            <p:nvPr/>
          </p:nvSpPr>
          <p:spPr bwMode="auto">
            <a:xfrm>
              <a:off x="2488" y="1427"/>
              <a:ext cx="752"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2" name="Oval 215"/>
            <p:cNvSpPr>
              <a:spLocks noChangeArrowheads="1"/>
            </p:cNvSpPr>
            <p:nvPr/>
          </p:nvSpPr>
          <p:spPr bwMode="auto">
            <a:xfrm>
              <a:off x="1360" y="1176"/>
              <a:ext cx="1547"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nvGrpSpPr>
            <p:cNvPr id="33" name="Group 216"/>
            <p:cNvGrpSpPr>
              <a:grpSpLocks/>
            </p:cNvGrpSpPr>
            <p:nvPr/>
          </p:nvGrpSpPr>
          <p:grpSpPr bwMode="auto">
            <a:xfrm>
              <a:off x="912" y="768"/>
              <a:ext cx="2386" cy="1553"/>
              <a:chOff x="912" y="768"/>
              <a:chExt cx="2386" cy="1553"/>
            </a:xfrm>
            <a:grpFill/>
          </p:grpSpPr>
          <p:sp>
            <p:nvSpPr>
              <p:cNvPr id="34" name="Oval 217"/>
              <p:cNvSpPr>
                <a:spLocks noChangeArrowheads="1"/>
              </p:cNvSpPr>
              <p:nvPr/>
            </p:nvSpPr>
            <p:spPr bwMode="auto">
              <a:xfrm>
                <a:off x="1736" y="768"/>
                <a:ext cx="1027"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5" name="Oval 218"/>
              <p:cNvSpPr>
                <a:spLocks noChangeArrowheads="1"/>
              </p:cNvSpPr>
              <p:nvPr/>
            </p:nvSpPr>
            <p:spPr bwMode="auto">
              <a:xfrm>
                <a:off x="1158" y="941"/>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6" name="Oval 219"/>
              <p:cNvSpPr>
                <a:spLocks noChangeArrowheads="1"/>
              </p:cNvSpPr>
              <p:nvPr/>
            </p:nvSpPr>
            <p:spPr bwMode="auto">
              <a:xfrm>
                <a:off x="912" y="1333"/>
                <a:ext cx="520" cy="501"/>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7" name="Oval 220"/>
              <p:cNvSpPr>
                <a:spLocks noChangeArrowheads="1"/>
              </p:cNvSpPr>
              <p:nvPr/>
            </p:nvSpPr>
            <p:spPr bwMode="auto">
              <a:xfrm>
                <a:off x="1071" y="1568"/>
                <a:ext cx="795"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8" name="Oval 221"/>
              <p:cNvSpPr>
                <a:spLocks noChangeArrowheads="1"/>
              </p:cNvSpPr>
              <p:nvPr/>
            </p:nvSpPr>
            <p:spPr bwMode="auto">
              <a:xfrm>
                <a:off x="1649" y="1662"/>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9" name="Oval 222"/>
              <p:cNvSpPr>
                <a:spLocks noChangeArrowheads="1"/>
              </p:cNvSpPr>
              <p:nvPr/>
            </p:nvSpPr>
            <p:spPr bwMode="auto">
              <a:xfrm>
                <a:off x="2430" y="95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0" name="Oval 223"/>
              <p:cNvSpPr>
                <a:spLocks noChangeArrowheads="1"/>
              </p:cNvSpPr>
              <p:nvPr/>
            </p:nvSpPr>
            <p:spPr bwMode="auto">
              <a:xfrm>
                <a:off x="2546" y="128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1" name="Oval 224"/>
              <p:cNvSpPr>
                <a:spLocks noChangeArrowheads="1"/>
              </p:cNvSpPr>
              <p:nvPr/>
            </p:nvSpPr>
            <p:spPr bwMode="auto">
              <a:xfrm>
                <a:off x="2473" y="1395"/>
                <a:ext cx="752"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2" name="Oval 225"/>
              <p:cNvSpPr>
                <a:spLocks noChangeArrowheads="1"/>
              </p:cNvSpPr>
              <p:nvPr/>
            </p:nvSpPr>
            <p:spPr bwMode="auto">
              <a:xfrm>
                <a:off x="1346" y="1144"/>
                <a:ext cx="1547"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sp>
        <p:nvSpPr>
          <p:cNvPr id="11" name="Line 151"/>
          <p:cNvSpPr>
            <a:spLocks noChangeShapeType="1"/>
          </p:cNvSpPr>
          <p:nvPr/>
        </p:nvSpPr>
        <p:spPr bwMode="auto">
          <a:xfrm>
            <a:off x="4308332" y="3553534"/>
            <a:ext cx="745175" cy="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 name="Line 99"/>
          <p:cNvSpPr>
            <a:spLocks noChangeShapeType="1"/>
          </p:cNvSpPr>
          <p:nvPr/>
        </p:nvSpPr>
        <p:spPr bwMode="auto">
          <a:xfrm>
            <a:off x="3563157" y="3778813"/>
            <a:ext cx="894210"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3" name="Line 100"/>
          <p:cNvSpPr>
            <a:spLocks noChangeShapeType="1"/>
          </p:cNvSpPr>
          <p:nvPr/>
        </p:nvSpPr>
        <p:spPr bwMode="auto">
          <a:xfrm>
            <a:off x="3613041" y="3779083"/>
            <a:ext cx="1823881" cy="8395"/>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4" name="Line 101"/>
          <p:cNvSpPr>
            <a:spLocks noChangeShapeType="1"/>
          </p:cNvSpPr>
          <p:nvPr/>
        </p:nvSpPr>
        <p:spPr bwMode="auto">
          <a:xfrm>
            <a:off x="5003829" y="3553534"/>
            <a:ext cx="397427"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 name="Line 102"/>
          <p:cNvSpPr>
            <a:spLocks noChangeShapeType="1"/>
          </p:cNvSpPr>
          <p:nvPr/>
        </p:nvSpPr>
        <p:spPr bwMode="auto">
          <a:xfrm flipV="1">
            <a:off x="4606403" y="3853906"/>
            <a:ext cx="894210" cy="150186"/>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613041" y="3553533"/>
            <a:ext cx="645613" cy="18830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258654" y="3553534"/>
            <a:ext cx="298070" cy="450558"/>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402759" y="3703759"/>
            <a:ext cx="359231" cy="149824"/>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4109619" y="3478441"/>
            <a:ext cx="359231" cy="149824"/>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4358010" y="3928999"/>
            <a:ext cx="359231" cy="149824"/>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5301899" y="3741266"/>
            <a:ext cx="359231" cy="149824"/>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854794" y="3478441"/>
            <a:ext cx="359231" cy="149824"/>
          </a:xfrm>
          <a:prstGeom prst="rect">
            <a:avLst/>
          </a:prstGeom>
          <a:noFill/>
          <a:ln w="12699">
            <a:noFill/>
            <a:miter lim="800000"/>
            <a:headEnd/>
            <a:tailEnd/>
          </a:ln>
        </p:spPr>
      </p:pic>
      <p:sp>
        <p:nvSpPr>
          <p:cNvPr id="43" name="TextBox 175"/>
          <p:cNvSpPr txBox="1"/>
          <p:nvPr/>
        </p:nvSpPr>
        <p:spPr>
          <a:xfrm>
            <a:off x="3380724" y="1112814"/>
            <a:ext cx="1826142" cy="338554"/>
          </a:xfrm>
          <a:prstGeom prst="rect">
            <a:avLst/>
          </a:prstGeom>
          <a:noFill/>
        </p:spPr>
        <p:txBody>
          <a:bodyPr wrap="none" rtlCol="0">
            <a:spAutoFit/>
          </a:bodyPr>
          <a:lstStyle/>
          <a:p>
            <a:pPr algn="ctr"/>
            <a:r>
              <a:rPr lang="zh-CN" altLang="en-US" sz="1600" b="1" dirty="0">
                <a:solidFill>
                  <a:srgbClr val="CC00CC"/>
                </a:solidFill>
                <a:latin typeface="微软雅黑" panose="020B0503020204020204" pitchFamily="34" charset="-122"/>
                <a:ea typeface="微软雅黑" panose="020B0503020204020204" pitchFamily="34" charset="-122"/>
              </a:rPr>
              <a:t>网络控制应用程序</a:t>
            </a:r>
          </a:p>
        </p:txBody>
      </p:sp>
      <p:cxnSp>
        <p:nvCxnSpPr>
          <p:cNvPr id="44" name="直接箭头连接符 43"/>
          <p:cNvCxnSpPr/>
          <p:nvPr/>
        </p:nvCxnSpPr>
        <p:spPr>
          <a:xfrm>
            <a:off x="1978771" y="1482702"/>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1791522" y="3293597"/>
            <a:ext cx="4581645"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46" name="矩形 45"/>
          <p:cNvSpPr/>
          <p:nvPr/>
        </p:nvSpPr>
        <p:spPr>
          <a:xfrm>
            <a:off x="3065099" y="2580214"/>
            <a:ext cx="2995986" cy="548756"/>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SDN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控制器</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（网络操作系统）</a:t>
            </a:r>
          </a:p>
        </p:txBody>
      </p:sp>
      <p:sp>
        <p:nvSpPr>
          <p:cNvPr id="47" name="圆角矩形 46"/>
          <p:cNvSpPr/>
          <p:nvPr/>
        </p:nvSpPr>
        <p:spPr>
          <a:xfrm>
            <a:off x="2877850"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路由选择</a:t>
            </a:r>
          </a:p>
        </p:txBody>
      </p:sp>
      <p:sp>
        <p:nvSpPr>
          <p:cNvPr id="48" name="圆角矩形 47"/>
          <p:cNvSpPr/>
          <p:nvPr/>
        </p:nvSpPr>
        <p:spPr>
          <a:xfrm>
            <a:off x="4313427"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接入控制</a:t>
            </a:r>
          </a:p>
        </p:txBody>
      </p:sp>
      <p:sp>
        <p:nvSpPr>
          <p:cNvPr id="49" name="圆角矩形 48"/>
          <p:cNvSpPr/>
          <p:nvPr/>
        </p:nvSpPr>
        <p:spPr>
          <a:xfrm>
            <a:off x="5436922"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负载均衡</a:t>
            </a:r>
          </a:p>
        </p:txBody>
      </p:sp>
      <p:sp>
        <p:nvSpPr>
          <p:cNvPr id="50" name="TextBox 106"/>
          <p:cNvSpPr txBox="1"/>
          <p:nvPr/>
        </p:nvSpPr>
        <p:spPr>
          <a:xfrm>
            <a:off x="3869567" y="1866831"/>
            <a:ext cx="38664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51" name="TextBox 109"/>
          <p:cNvSpPr txBox="1"/>
          <p:nvPr/>
        </p:nvSpPr>
        <p:spPr>
          <a:xfrm>
            <a:off x="6062677" y="3135911"/>
            <a:ext cx="1593074" cy="492443"/>
          </a:xfrm>
          <a:prstGeom prst="rect">
            <a:avLst/>
          </a:prstGeom>
          <a:noFill/>
        </p:spPr>
        <p:txBody>
          <a:bodyPr wrap="squar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南向 </a:t>
            </a:r>
            <a:r>
              <a:rPr lang="en-US" altLang="zh-CN" sz="1400" b="1" dirty="0">
                <a:solidFill>
                  <a:srgbClr val="0000FF"/>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err="1">
                <a:latin typeface="微软雅黑" panose="020B0503020204020204" pitchFamily="34" charset="-122"/>
                <a:ea typeface="微软雅黑" panose="020B0503020204020204" pitchFamily="34" charset="-122"/>
                <a:cs typeface="Times New Roman" pitchFamily="18" charset="0"/>
              </a:rPr>
              <a:t>OpenFlow</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2" name="直接连接符 51"/>
          <p:cNvCxnSpPr/>
          <p:nvPr/>
        </p:nvCxnSpPr>
        <p:spPr>
          <a:xfrm>
            <a:off x="2690601" y="2377086"/>
            <a:ext cx="3682566"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53" name="TextBox 112"/>
          <p:cNvSpPr txBox="1"/>
          <p:nvPr/>
        </p:nvSpPr>
        <p:spPr>
          <a:xfrm>
            <a:off x="6126180" y="2219044"/>
            <a:ext cx="1520285" cy="677108"/>
          </a:xfrm>
          <a:prstGeom prst="rect">
            <a:avLst/>
          </a:prstGeom>
          <a:noFill/>
        </p:spPr>
        <p:txBody>
          <a:bodyPr wrap="square" rtlCol="0">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北向 </a:t>
            </a:r>
            <a:r>
              <a:rPr lang="en-US" altLang="zh-CN" sz="1400" b="1" dirty="0">
                <a:solidFill>
                  <a:srgbClr val="C00000"/>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a:latin typeface="微软雅黑" panose="020B0503020204020204" pitchFamily="34" charset="-122"/>
                <a:ea typeface="微软雅黑" panose="020B0503020204020204" pitchFamily="34" charset="-122"/>
                <a:cs typeface="Times New Roman" pitchFamily="18" charset="0"/>
              </a:rPr>
              <a:t>GUI</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Java</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Python</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APP</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4" name="直接连接符 53"/>
          <p:cNvCxnSpPr/>
          <p:nvPr/>
        </p:nvCxnSpPr>
        <p:spPr>
          <a:xfrm>
            <a:off x="5492411" y="3122581"/>
            <a:ext cx="6605" cy="616996"/>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5033363" y="3122581"/>
            <a:ext cx="1992" cy="36120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flipH="1">
            <a:off x="4547246" y="3128388"/>
            <a:ext cx="649" cy="79005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flipH="1">
            <a:off x="3588532" y="3128388"/>
            <a:ext cx="1638" cy="58999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4283047" y="3131292"/>
            <a:ext cx="3951" cy="35887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pic>
        <p:nvPicPr>
          <p:cNvPr id="59" name="Picture 21"/>
          <p:cNvPicPr>
            <a:picLocks noChangeArrowheads="1"/>
          </p:cNvPicPr>
          <p:nvPr/>
        </p:nvPicPr>
        <p:blipFill>
          <a:blip r:embed="rId4"/>
          <a:srcRect/>
          <a:stretch>
            <a:fillRect/>
          </a:stretch>
        </p:blipFill>
        <p:spPr bwMode="auto">
          <a:xfrm>
            <a:off x="2690601" y="1482702"/>
            <a:ext cx="249063" cy="459023"/>
          </a:xfrm>
          <a:prstGeom prst="rect">
            <a:avLst/>
          </a:prstGeom>
          <a:noFill/>
          <a:ln w="12699">
            <a:noFill/>
            <a:miter lim="800000"/>
            <a:headEnd/>
            <a:tailEnd/>
          </a:ln>
        </p:spPr>
      </p:pic>
      <p:pic>
        <p:nvPicPr>
          <p:cNvPr id="60" name="Picture 21"/>
          <p:cNvPicPr>
            <a:picLocks noChangeArrowheads="1"/>
          </p:cNvPicPr>
          <p:nvPr/>
        </p:nvPicPr>
        <p:blipFill>
          <a:blip r:embed="rId4"/>
          <a:srcRect/>
          <a:stretch>
            <a:fillRect/>
          </a:stretch>
        </p:blipFill>
        <p:spPr bwMode="auto">
          <a:xfrm>
            <a:off x="4188594" y="1482702"/>
            <a:ext cx="249063" cy="459023"/>
          </a:xfrm>
          <a:prstGeom prst="rect">
            <a:avLst/>
          </a:prstGeom>
          <a:noFill/>
          <a:ln w="12699">
            <a:noFill/>
            <a:miter lim="800000"/>
            <a:headEnd/>
            <a:tailEnd/>
          </a:ln>
        </p:spPr>
      </p:pic>
      <p:pic>
        <p:nvPicPr>
          <p:cNvPr id="61" name="Picture 21"/>
          <p:cNvPicPr>
            <a:picLocks noChangeArrowheads="1"/>
          </p:cNvPicPr>
          <p:nvPr/>
        </p:nvPicPr>
        <p:blipFill>
          <a:blip r:embed="rId4"/>
          <a:srcRect/>
          <a:stretch>
            <a:fillRect/>
          </a:stretch>
        </p:blipFill>
        <p:spPr bwMode="auto">
          <a:xfrm>
            <a:off x="5312089" y="1482702"/>
            <a:ext cx="249063" cy="459023"/>
          </a:xfrm>
          <a:prstGeom prst="rect">
            <a:avLst/>
          </a:prstGeom>
          <a:noFill/>
          <a:ln w="12699">
            <a:noFill/>
            <a:miter lim="800000"/>
            <a:headEnd/>
            <a:tailEnd/>
          </a:ln>
        </p:spPr>
      </p:pic>
      <p:pic>
        <p:nvPicPr>
          <p:cNvPr id="62" name="Picture 21"/>
          <p:cNvPicPr>
            <a:picLocks noChangeArrowheads="1"/>
          </p:cNvPicPr>
          <p:nvPr/>
        </p:nvPicPr>
        <p:blipFill>
          <a:blip r:embed="rId4"/>
          <a:srcRect/>
          <a:stretch>
            <a:fillRect/>
          </a:stretch>
        </p:blipFill>
        <p:spPr bwMode="auto">
          <a:xfrm>
            <a:off x="2877850" y="2415587"/>
            <a:ext cx="249063" cy="459023"/>
          </a:xfrm>
          <a:prstGeom prst="rect">
            <a:avLst/>
          </a:prstGeom>
          <a:noFill/>
          <a:ln w="12699">
            <a:noFill/>
            <a:miter lim="800000"/>
            <a:headEnd/>
            <a:tailEnd/>
          </a:ln>
        </p:spPr>
      </p:pic>
      <p:cxnSp>
        <p:nvCxnSpPr>
          <p:cNvPr id="63" name="直接连接符 62"/>
          <p:cNvCxnSpPr/>
          <p:nvPr/>
        </p:nvCxnSpPr>
        <p:spPr>
          <a:xfrm flipH="1">
            <a:off x="3317594" y="2225136"/>
            <a:ext cx="8072" cy="354984"/>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4778945" y="2224727"/>
            <a:ext cx="126" cy="36219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5" name="直接连接符 64"/>
          <p:cNvCxnSpPr>
            <a:stCxn id="49" idx="2"/>
          </p:cNvCxnSpPr>
          <p:nvPr/>
        </p:nvCxnSpPr>
        <p:spPr>
          <a:xfrm flipH="1">
            <a:off x="5900309" y="2222247"/>
            <a:ext cx="4735" cy="36467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6" name="直接箭头连接符 65"/>
          <p:cNvCxnSpPr/>
          <p:nvPr/>
        </p:nvCxnSpPr>
        <p:spPr>
          <a:xfrm>
            <a:off x="2228436" y="1482702"/>
            <a:ext cx="0" cy="181089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67" name="TextBox 179"/>
          <p:cNvSpPr txBox="1"/>
          <p:nvPr/>
        </p:nvSpPr>
        <p:spPr>
          <a:xfrm>
            <a:off x="1791522" y="2212459"/>
            <a:ext cx="909736" cy="307777"/>
          </a:xfrm>
          <a:prstGeom prst="rect">
            <a:avLst/>
          </a:prstGeom>
          <a:solidFill>
            <a:srgbClr val="C3E3F9"/>
          </a:solid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控制层面</a:t>
            </a:r>
          </a:p>
        </p:txBody>
      </p:sp>
      <p:cxnSp>
        <p:nvCxnSpPr>
          <p:cNvPr id="68" name="直接箭头连接符 67"/>
          <p:cNvCxnSpPr/>
          <p:nvPr/>
        </p:nvCxnSpPr>
        <p:spPr>
          <a:xfrm>
            <a:off x="2228436" y="3293597"/>
            <a:ext cx="0" cy="93288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69" name="直接箭头连接符 68"/>
          <p:cNvCxnSpPr/>
          <p:nvPr/>
        </p:nvCxnSpPr>
        <p:spPr>
          <a:xfrm>
            <a:off x="1978771" y="4226483"/>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0" name="TextBox 180"/>
          <p:cNvSpPr txBox="1"/>
          <p:nvPr/>
        </p:nvSpPr>
        <p:spPr>
          <a:xfrm>
            <a:off x="1775857" y="3677727"/>
            <a:ext cx="902811" cy="307777"/>
          </a:xfrm>
          <a:prstGeom prst="rect">
            <a:avLst/>
          </a:prstGeom>
          <a:solidFill>
            <a:srgbClr val="C3E3F9"/>
          </a:solidFill>
        </p:spPr>
        <p:txBody>
          <a:bodyPr wrap="none" rtlCol="0">
            <a:spAutoFit/>
          </a:bodyPr>
          <a:lstStyle/>
          <a:p>
            <a:pPr algn="ctr"/>
            <a:r>
              <a:rPr lang="zh-CN" altLang="en-US" sz="1400" b="1">
                <a:latin typeface="微软雅黑" panose="020B0503020204020204" pitchFamily="34" charset="-122"/>
                <a:ea typeface="微软雅黑" panose="020B0503020204020204" pitchFamily="34" charset="-122"/>
              </a:rPr>
              <a:t>数据层面</a:t>
            </a:r>
            <a:endParaRPr lang="zh-CN" altLang="en-US" sz="1400" b="1" dirty="0">
              <a:latin typeface="微软雅黑" panose="020B0503020204020204" pitchFamily="34" charset="-122"/>
              <a:ea typeface="微软雅黑" panose="020B0503020204020204" pitchFamily="34" charset="-122"/>
            </a:endParaRPr>
          </a:p>
        </p:txBody>
      </p:sp>
      <p:sp>
        <p:nvSpPr>
          <p:cNvPr id="71" name="TextBox 217"/>
          <p:cNvSpPr txBox="1"/>
          <p:nvPr/>
        </p:nvSpPr>
        <p:spPr>
          <a:xfrm>
            <a:off x="3790740" y="4096713"/>
            <a:ext cx="1499128" cy="276999"/>
          </a:xfrm>
          <a:prstGeom prst="rect">
            <a:avLst/>
          </a:prstGeom>
          <a:noFill/>
        </p:spPr>
        <p:txBody>
          <a:bodyPr wrap="non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SDN </a:t>
            </a:r>
            <a:r>
              <a:rPr lang="zh-CN" altLang="en-US" sz="1200" b="1" dirty="0">
                <a:latin typeface="微软雅黑" panose="020B0503020204020204" pitchFamily="34" charset="-122"/>
                <a:ea typeface="微软雅黑" panose="020B0503020204020204" pitchFamily="34" charset="-122"/>
                <a:cs typeface="Times New Roman" pitchFamily="18" charset="0"/>
              </a:rPr>
              <a:t>控制的交换机</a:t>
            </a:r>
          </a:p>
        </p:txBody>
      </p:sp>
      <p:sp>
        <p:nvSpPr>
          <p:cNvPr id="2" name="标题 1">
            <a:extLst>
              <a:ext uri="{FF2B5EF4-FFF2-40B4-BE49-F238E27FC236}">
                <a16:creationId xmlns:a16="http://schemas.microsoft.com/office/drawing/2014/main" id="{8E4005B7-606E-95DB-61A8-7BD47DC30C06}"/>
              </a:ext>
            </a:extLst>
          </p:cNvPr>
          <p:cNvSpPr>
            <a:spLocks noGrp="1"/>
          </p:cNvSpPr>
          <p:nvPr>
            <p:ph type="title"/>
          </p:nvPr>
        </p:nvSpPr>
        <p:spPr>
          <a:xfrm>
            <a:off x="486000" y="550723"/>
            <a:ext cx="8172000" cy="338554"/>
          </a:xfrm>
        </p:spPr>
        <p:txBody>
          <a:bodyPr/>
          <a:lstStyle/>
          <a:p>
            <a:r>
              <a:rPr lang="en-US" altLang="zh-CN" dirty="0"/>
              <a:t>4.10.2  SDN </a:t>
            </a:r>
            <a:r>
              <a:rPr lang="zh-CN" altLang="en-US" dirty="0"/>
              <a:t>体系结构</a:t>
            </a:r>
          </a:p>
        </p:txBody>
      </p:sp>
    </p:spTree>
    <p:extLst>
      <p:ext uri="{BB962C8B-B14F-4D97-AF65-F5344CB8AC3E}">
        <p14:creationId xmlns:p14="http://schemas.microsoft.com/office/powerpoint/2010/main" val="4169596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896174792"/>
              </p:ext>
            </p:extLst>
          </p:nvPr>
        </p:nvGraphicFramePr>
        <p:xfrm>
          <a:off x="1242646" y="1014254"/>
          <a:ext cx="6764216" cy="320605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1D865D4-C307-A5FE-1FE2-5774F7888923}"/>
              </a:ext>
            </a:extLst>
          </p:cNvPr>
          <p:cNvSpPr>
            <a:spLocks noGrp="1"/>
          </p:cNvSpPr>
          <p:nvPr>
            <p:ph type="title"/>
          </p:nvPr>
        </p:nvSpPr>
        <p:spPr>
          <a:xfrm>
            <a:off x="486000" y="550723"/>
            <a:ext cx="8172000" cy="338554"/>
          </a:xfrm>
        </p:spPr>
        <p:txBody>
          <a:bodyPr/>
          <a:lstStyle/>
          <a:p>
            <a:r>
              <a:rPr lang="en-US" altLang="zh-CN" dirty="0"/>
              <a:t>SDN </a:t>
            </a:r>
            <a:r>
              <a:rPr lang="zh-CN" altLang="en-US" dirty="0"/>
              <a:t>体系结构的四个关键特征</a:t>
            </a:r>
          </a:p>
        </p:txBody>
      </p:sp>
    </p:spTree>
    <p:extLst>
      <p:ext uri="{BB962C8B-B14F-4D97-AF65-F5344CB8AC3E}">
        <p14:creationId xmlns:p14="http://schemas.microsoft.com/office/powerpoint/2010/main" val="7468857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581133694"/>
              </p:ext>
            </p:extLst>
          </p:nvPr>
        </p:nvGraphicFramePr>
        <p:xfrm>
          <a:off x="485775" y="1108040"/>
          <a:ext cx="8172450" cy="297159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D5EC7C4B-6851-9FCC-ADB0-BB35BF7753E0}"/>
              </a:ext>
            </a:extLst>
          </p:cNvPr>
          <p:cNvSpPr>
            <a:spLocks noGrp="1"/>
          </p:cNvSpPr>
          <p:nvPr>
            <p:ph type="title"/>
          </p:nvPr>
        </p:nvSpPr>
        <p:spPr>
          <a:xfrm>
            <a:off x="486000" y="550723"/>
            <a:ext cx="8172000" cy="338554"/>
          </a:xfrm>
        </p:spPr>
        <p:txBody>
          <a:bodyPr/>
          <a:lstStyle/>
          <a:p>
            <a:r>
              <a:rPr lang="en-US" altLang="zh-CN" dirty="0"/>
              <a:t>SDN </a:t>
            </a:r>
            <a:r>
              <a:rPr lang="zh-CN" altLang="en-US" dirty="0"/>
              <a:t>与传统网络的差别</a:t>
            </a:r>
          </a:p>
        </p:txBody>
      </p:sp>
    </p:spTree>
    <p:extLst>
      <p:ext uri="{BB962C8B-B14F-4D97-AF65-F5344CB8AC3E}">
        <p14:creationId xmlns:p14="http://schemas.microsoft.com/office/powerpoint/2010/main" val="2599733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337392"/>
          </a:xfrm>
          <a:prstGeom prst="borderCallout1">
            <a:avLst>
              <a:gd name="adj1" fmla="val 65378"/>
              <a:gd name="adj2" fmla="val -486"/>
              <a:gd name="adj3" fmla="val 88938"/>
              <a:gd name="adj4" fmla="val -44830"/>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82563" indent="-182563">
              <a:lnSpc>
                <a:spcPts val="2000"/>
              </a:lnSpc>
              <a:buFont typeface="Wingdings" panose="05000000000000000000" pitchFamily="2" charset="2"/>
              <a:buChar char="l"/>
            </a:pPr>
            <a:r>
              <a:rPr lang="zh-CN" altLang="zh-CN" sz="1400" dirty="0">
                <a:solidFill>
                  <a:schemeClr val="tx1"/>
                </a:solidFill>
                <a:latin typeface="Montserrat" panose="00000500000000000000" pitchFamily="2" charset="0"/>
                <a:ea typeface="微软雅黑" panose="020B0503020204020204" pitchFamily="34" charset="-122"/>
              </a:rPr>
              <a:t>完成</a:t>
            </a:r>
            <a:r>
              <a:rPr lang="en-US" altLang="zh-CN" sz="1400" dirty="0">
                <a:solidFill>
                  <a:schemeClr val="tx1"/>
                </a:solidFill>
                <a:latin typeface="Montserrat" panose="00000500000000000000" pitchFamily="2" charset="0"/>
                <a:ea typeface="微软雅黑" panose="020B0503020204020204" pitchFamily="34" charset="-122"/>
              </a:rPr>
              <a:t> SDN </a:t>
            </a:r>
            <a:r>
              <a:rPr lang="zh-CN" altLang="zh-CN" sz="1400" dirty="0">
                <a:solidFill>
                  <a:schemeClr val="tx1"/>
                </a:solidFill>
                <a:latin typeface="Montserrat" panose="00000500000000000000" pitchFamily="2" charset="0"/>
                <a:ea typeface="微软雅黑" panose="020B0503020204020204" pitchFamily="34" charset="-122"/>
              </a:rPr>
              <a:t>控制器与受控网络设备之间的通信。</a:t>
            </a:r>
            <a:endParaRPr lang="en-US" altLang="zh-CN" sz="1400" dirty="0">
              <a:solidFill>
                <a:schemeClr val="tx1"/>
              </a:solidFill>
              <a:latin typeface="Montserrat" panose="00000500000000000000" pitchFamily="2" charset="0"/>
              <a:ea typeface="微软雅黑" panose="020B0503020204020204" pitchFamily="34" charset="-122"/>
            </a:endParaRPr>
          </a:p>
          <a:p>
            <a:pPr marL="182563" indent="-18256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通信层与数据层面的接口叫做南向接口，基本上采用 </a:t>
            </a:r>
            <a:r>
              <a:rPr lang="en-US" altLang="zh-CN" sz="1400" dirty="0" err="1">
                <a:solidFill>
                  <a:schemeClr val="tx1"/>
                </a:solidFill>
                <a:latin typeface="Montserrat" panose="00000500000000000000" pitchFamily="2" charset="0"/>
                <a:ea typeface="微软雅黑" panose="020B0503020204020204" pitchFamily="34" charset="-122"/>
              </a:rPr>
              <a:t>OpenFlow</a:t>
            </a:r>
            <a:r>
              <a:rPr lang="zh-CN" altLang="en-US" sz="1400" dirty="0">
                <a:solidFill>
                  <a:schemeClr val="tx1"/>
                </a:solidFill>
                <a:latin typeface="Montserrat" panose="00000500000000000000" pitchFamily="2" charset="0"/>
                <a:ea typeface="微软雅黑" panose="020B0503020204020204" pitchFamily="34" charset="-122"/>
              </a:rPr>
              <a:t>。</a:t>
            </a:r>
          </a:p>
        </p:txBody>
      </p:sp>
      <p:sp>
        <p:nvSpPr>
          <p:cNvPr id="2" name="标题 1">
            <a:extLst>
              <a:ext uri="{FF2B5EF4-FFF2-40B4-BE49-F238E27FC236}">
                <a16:creationId xmlns:a16="http://schemas.microsoft.com/office/drawing/2014/main" id="{C5D36720-9657-1AC2-8EC9-3094BFDC30A5}"/>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338592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091064"/>
          </a:xfrm>
          <a:prstGeom prst="borderCallout1">
            <a:avLst>
              <a:gd name="adj1" fmla="val 78231"/>
              <a:gd name="adj2" fmla="val 599"/>
              <a:gd name="adj3" fmla="val 47524"/>
              <a:gd name="adj4" fmla="val -46457"/>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Montserrat" panose="00000500000000000000" pitchFamily="2" charset="0"/>
                <a:ea typeface="微软雅黑" panose="020B0503020204020204" pitchFamily="34" charset="-122"/>
              </a:rPr>
              <a:t>完成核心功能。</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管理和维护链路、主机、交换机等网络状态；</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确定和维护流表等。</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83AD1CF1-A496-27CF-CDA1-39A8184C70C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9126801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1643699"/>
            <a:ext cx="2248021" cy="1853964"/>
          </a:xfrm>
          <a:prstGeom prst="borderCallout1">
            <a:avLst>
              <a:gd name="adj1" fmla="val 37959"/>
              <a:gd name="adj2" fmla="val 78"/>
              <a:gd name="adj3" fmla="val 23190"/>
              <a:gd name="adj4" fmla="val -41242"/>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6213" indent="-176213">
              <a:lnSpc>
                <a:spcPts val="2000"/>
              </a:lnSpc>
              <a:buFont typeface="Wingdings" panose="05000000000000000000" pitchFamily="2" charset="2"/>
              <a:buChar char="l"/>
            </a:pPr>
            <a:r>
              <a:rPr lang="en-US" altLang="zh-CN" sz="1400" dirty="0">
                <a:solidFill>
                  <a:schemeClr val="tx1"/>
                </a:solidFill>
                <a:latin typeface="Montserrat" panose="00000500000000000000" pitchFamily="2" charset="0"/>
                <a:ea typeface="微软雅黑" panose="020B0503020204020204" pitchFamily="34" charset="-122"/>
              </a:rPr>
              <a:t>SDN </a:t>
            </a:r>
            <a:r>
              <a:rPr lang="zh-CN" altLang="en-US" sz="1400" dirty="0">
                <a:solidFill>
                  <a:schemeClr val="tx1"/>
                </a:solidFill>
                <a:latin typeface="Montserrat" panose="00000500000000000000" pitchFamily="2" charset="0"/>
                <a:ea typeface="微软雅黑" panose="020B0503020204020204" pitchFamily="34" charset="-122"/>
              </a:rPr>
              <a:t>控制器与网络控制应用程序交互的接口称为北向接口。</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该 </a:t>
            </a:r>
            <a:r>
              <a:rPr lang="en-US" altLang="zh-CN" sz="1400" dirty="0">
                <a:solidFill>
                  <a:schemeClr val="tx1"/>
                </a:solidFill>
                <a:latin typeface="Montserrat" panose="00000500000000000000" pitchFamily="2" charset="0"/>
                <a:ea typeface="微软雅黑" panose="020B0503020204020204" pitchFamily="34" charset="-122"/>
              </a:rPr>
              <a:t>API </a:t>
            </a:r>
            <a:r>
              <a:rPr lang="zh-CN" altLang="en-US" sz="1400" dirty="0">
                <a:solidFill>
                  <a:schemeClr val="tx1"/>
                </a:solidFill>
                <a:latin typeface="Montserrat" panose="00000500000000000000" pitchFamily="2" charset="0"/>
                <a:ea typeface="微软雅黑" panose="020B0503020204020204" pitchFamily="34" charset="-122"/>
              </a:rPr>
              <a:t>接口允许网络控制应用程序对状态管理层里的网络状态和流表进行读写操作。</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DA8F45A5-E103-E306-1027-863ACCFDB65F}"/>
              </a:ext>
            </a:extLst>
          </p:cNvPr>
          <p:cNvSpPr>
            <a:spLocks noGrp="1"/>
          </p:cNvSpPr>
          <p:nvPr>
            <p:ph type="title"/>
          </p:nvPr>
        </p:nvSpPr>
        <p:spPr>
          <a:xfrm>
            <a:off x="486000" y="550723"/>
            <a:ext cx="8172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13064479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6350">
          <a:solidFill>
            <a:schemeClr val="tx1"/>
          </a:solidFill>
        </a:ln>
      </a:spPr>
      <a:bodyPr rtlCol="0" anchor="ctr"/>
      <a:lstStyle>
        <a:defPPr algn="ctr">
          <a:defRPr sz="1200" dirty="0" smtClean="0">
            <a:solidFill>
              <a:schemeClr val="tx1"/>
            </a:solidFill>
            <a:latin typeface="Montserrat" panose="00000500000000000000" pitchFamily="2" charset="0"/>
            <a:ea typeface="微软雅黑 Light" panose="020B0502040204020203" pitchFamily="34" charset="-122"/>
          </a:defRPr>
        </a:defPPr>
      </a:lstStyle>
      <a:style>
        <a:lnRef idx="2">
          <a:schemeClr val="accent1">
            <a:shade val="15000"/>
          </a:schemeClr>
        </a:lnRef>
        <a:fillRef idx="1">
          <a:schemeClr val="accent1"/>
        </a:fillRef>
        <a:effectRef idx="0">
          <a:schemeClr val="accent1"/>
        </a:effectRef>
        <a:fontRef idx="minor">
          <a:schemeClr val="lt1"/>
        </a:fontRef>
      </a:style>
    </a:spDef>
    <a:lnDef>
      <a:spPr>
        <a:ln w="28575">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ctr">
          <a:defRPr sz="1200" dirty="0" smtClean="0">
            <a:latin typeface="Montserrat" panose="00000500000000000000" pitchFamily="2" charset="0"/>
            <a:ea typeface="微软雅黑 Light" panose="020B0502040204020203" pitchFamily="34" charset="-122"/>
          </a:defRPr>
        </a:defPPr>
      </a:lstStyle>
    </a:txDef>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6911</TotalTime>
  <Words>26903</Words>
  <Application>Microsoft Office PowerPoint</Application>
  <PresentationFormat>全屏显示(16:9)</PresentationFormat>
  <Paragraphs>5936</Paragraphs>
  <Slides>344</Slides>
  <Notes>111</Notes>
  <HiddenSlides>1</HiddenSlides>
  <MMClips>0</MMClips>
  <ScaleCrop>false</ScaleCrop>
  <HeadingPairs>
    <vt:vector size="8" baseType="variant">
      <vt:variant>
        <vt:lpstr>已用的字体</vt:lpstr>
      </vt:variant>
      <vt:variant>
        <vt:i4>13</vt:i4>
      </vt:variant>
      <vt:variant>
        <vt:lpstr>主题</vt:lpstr>
      </vt:variant>
      <vt:variant>
        <vt:i4>1</vt:i4>
      </vt:variant>
      <vt:variant>
        <vt:lpstr>嵌入 OLE 服务器</vt:lpstr>
      </vt:variant>
      <vt:variant>
        <vt:i4>2</vt:i4>
      </vt:variant>
      <vt:variant>
        <vt:lpstr>幻灯片标题</vt:lpstr>
      </vt:variant>
      <vt:variant>
        <vt:i4>344</vt:i4>
      </vt:variant>
    </vt:vector>
  </HeadingPairs>
  <TitlesOfParts>
    <vt:vector size="360" baseType="lpstr">
      <vt:lpstr>Tahoma</vt:lpstr>
      <vt:lpstr>微软雅黑</vt:lpstr>
      <vt:lpstr>宋体</vt:lpstr>
      <vt:lpstr>Montserrat</vt:lpstr>
      <vt:lpstr>Times New Roman</vt:lpstr>
      <vt:lpstr>Courier New</vt:lpstr>
      <vt:lpstr>Symbol</vt:lpstr>
      <vt:lpstr>Arial</vt:lpstr>
      <vt:lpstr>Calibri</vt:lpstr>
      <vt:lpstr>微软雅黑 Light</vt:lpstr>
      <vt:lpstr>微软雅黑</vt:lpstr>
      <vt:lpstr>Wingdings</vt:lpstr>
      <vt:lpstr>黑体</vt:lpstr>
      <vt:lpstr>Office 主题​​</vt:lpstr>
      <vt:lpstr>Visio</vt:lpstr>
      <vt:lpstr>VISIO</vt:lpstr>
      <vt:lpstr>PowerPoint 演示文稿</vt:lpstr>
      <vt:lpstr>计算机网络体系结构</vt:lpstr>
      <vt:lpstr>PowerPoint 演示文稿</vt:lpstr>
      <vt:lpstr>PowerPoint 演示文稿</vt:lpstr>
      <vt:lpstr>4.1.1 网络层提供的两种服务</vt:lpstr>
      <vt:lpstr>一种观点：让网络负责可靠交付</vt:lpstr>
      <vt:lpstr>虚电路服务</vt:lpstr>
      <vt:lpstr>另一种观点：网络提供数据报服务</vt:lpstr>
      <vt:lpstr>数据报服务</vt:lpstr>
      <vt:lpstr>虚电路服务与数据报服务的对比</vt:lpstr>
      <vt:lpstr>4.1.2 网络层的两个层面</vt:lpstr>
      <vt:lpstr>4.1.2 网络层的两个层面</vt:lpstr>
      <vt:lpstr>数据层面和控制层面</vt:lpstr>
      <vt:lpstr>软件定义网络 SDN (Software Defined Network)</vt:lpstr>
      <vt:lpstr>软件定义网络 SDN (Software Defined Network)</vt:lpstr>
      <vt:lpstr>PowerPoint 演示文稿</vt:lpstr>
      <vt:lpstr>4.2  网际协议 IP </vt:lpstr>
      <vt:lpstr>4.2.1  虚拟互连网络</vt:lpstr>
      <vt:lpstr>实现异构网络的互连互通方法，哪种好？</vt:lpstr>
      <vt:lpstr>使用中间设备进行互连</vt:lpstr>
      <vt:lpstr>使用转发器或网桥不称为网络互连</vt:lpstr>
      <vt:lpstr>网络互连使用路由器</vt:lpstr>
      <vt:lpstr>互连网络与虚拟互连网络</vt:lpstr>
      <vt:lpstr>IP 网的意义</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协议 Protocol</vt:lpstr>
      <vt:lpstr>协议 Protocol</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默认路由</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4.4 网际控制报文协议</vt:lpstr>
      <vt:lpstr>4.4  网际控制报文协议 ICMP </vt:lpstr>
      <vt:lpstr>PowerPoint 演示文稿</vt:lpstr>
      <vt:lpstr>ICMP 报文的格式 </vt:lpstr>
      <vt:lpstr>4.4.1  ICMP 报文的种类</vt:lpstr>
      <vt:lpstr>ICMP 差错报告报文的数据字段的内容</vt:lpstr>
      <vt:lpstr>不应发送 ICMP 差错报告报文的几种情况</vt:lpstr>
      <vt:lpstr>ICMP 询问报文</vt:lpstr>
      <vt:lpstr>4.4.2  ICMP 的应用举例</vt:lpstr>
      <vt:lpstr>PING 的应用举例</vt:lpstr>
      <vt:lpstr>4.4.2  ICMP 的应用举例</vt:lpstr>
      <vt:lpstr>4.4.2  ICMP 的应用举例</vt:lpstr>
      <vt:lpstr>4.5 IPv6</vt:lpstr>
      <vt:lpstr>4.5  IPv6</vt:lpstr>
      <vt:lpstr>4.5.1  IPv6 的基本首部</vt:lpstr>
      <vt:lpstr>IPv6 数据报的一般形式</vt:lpstr>
      <vt:lpstr>IPv6 数据报的基本首部</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IPv6 的六种扩展首部</vt:lpstr>
      <vt:lpstr>4.5.2  IPv6 的地址</vt:lpstr>
      <vt:lpstr>节点与接口</vt:lpstr>
      <vt:lpstr>冒号十六进制记法</vt:lpstr>
      <vt:lpstr>PowerPoint 演示文稿</vt:lpstr>
      <vt:lpstr>PowerPoint 演示文稿</vt:lpstr>
      <vt:lpstr>IPv6 地址分类</vt:lpstr>
      <vt:lpstr>IPv6 单播地址的划分方法</vt:lpstr>
      <vt:lpstr>4.5.3  从 IPv4 向 IPv6 过渡</vt:lpstr>
      <vt:lpstr>双协议栈</vt:lpstr>
      <vt:lpstr>双协议栈</vt:lpstr>
      <vt:lpstr>隧道技术</vt:lpstr>
      <vt:lpstr>4.5.4  ICMPv6</vt:lpstr>
      <vt:lpstr>ICMPv6 报文的分类</vt:lpstr>
      <vt:lpstr>4.6路由选择协议</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自治系统和内部网关协议、外部网关协议 </vt:lpstr>
      <vt:lpstr>PowerPoint 演示文稿</vt:lpstr>
      <vt:lpstr>PowerPoint 演示文稿</vt:lpstr>
      <vt:lpstr>4.6.2  内部网关协议 RIP</vt:lpstr>
      <vt:lpstr>1. 协议 RIP 的工作原理</vt:lpstr>
      <vt:lpstr>PowerPoint 演示文稿</vt:lpstr>
      <vt:lpstr>距离</vt:lpstr>
      <vt:lpstr>RIP“距离”的定义</vt:lpstr>
      <vt:lpstr>RIP 协议的三个特点</vt:lpstr>
      <vt:lpstr>路由表的建立</vt:lpstr>
      <vt:lpstr>路由表主要信息和更新规则</vt:lpstr>
      <vt:lpstr>PowerPoint 演示文稿</vt:lpstr>
      <vt:lpstr>2. 距离向量算法</vt:lpstr>
      <vt:lpstr>2. 距离向量算法</vt:lpstr>
      <vt:lpstr>PowerPoint 演示文稿</vt:lpstr>
      <vt:lpstr>PowerPoint 演示文稿</vt:lpstr>
      <vt:lpstr>RIP2 报文</vt:lpstr>
      <vt:lpstr>RIP2 报文</vt:lpstr>
      <vt:lpstr>3. 坏消息传播得慢</vt:lpstr>
      <vt:lpstr>PowerPoint 演示文稿</vt:lpstr>
      <vt:lpstr>PowerPoint 演示文稿</vt:lpstr>
      <vt:lpstr>PowerPoint 演示文稿</vt:lpstr>
      <vt:lpstr>PowerPoint 演示文稿</vt:lpstr>
      <vt:lpstr>PowerPoint 演示文稿</vt:lpstr>
      <vt:lpstr>RIP 协议的优缺点</vt:lpstr>
      <vt:lpstr>4.6.3  内部网关协议 OSPF</vt:lpstr>
      <vt:lpstr>4.6.3  内部网关协议 OSPF</vt:lpstr>
      <vt:lpstr>三个主要特点</vt:lpstr>
      <vt:lpstr>链路状态数据库 link-state database</vt:lpstr>
      <vt:lpstr>OSPF 自治系统</vt:lpstr>
      <vt:lpstr>划分区域优点和缺点</vt:lpstr>
      <vt:lpstr>其他特点</vt:lpstr>
      <vt:lpstr>2. OSPF 的五种分组类型</vt:lpstr>
      <vt:lpstr>OSPF 分组用 IP 数据报传送</vt:lpstr>
      <vt:lpstr>OSPF 工作过程</vt:lpstr>
      <vt:lpstr>OSPF 工作过程</vt:lpstr>
      <vt:lpstr>PowerPoint 演示文稿</vt:lpstr>
      <vt:lpstr>指定路由器 DR </vt:lpstr>
      <vt:lpstr>4.6.4  外部网关协议 BGP</vt:lpstr>
      <vt:lpstr>4.6.4  外部网关协议 BGP</vt:lpstr>
      <vt:lpstr>BGP 发言者 (BGP speaker)</vt:lpstr>
      <vt:lpstr>eBGP 连接和 iBGP 连接</vt:lpstr>
      <vt:lpstr>IGP vs iBGP vs eBGP</vt:lpstr>
      <vt:lpstr> eBGP vs iBGP</vt:lpstr>
      <vt:lpstr> eBGP vs iBGP</vt:lpstr>
      <vt:lpstr>BGP 路由信息</vt:lpstr>
      <vt:lpstr>BGP 路由信息</vt:lpstr>
      <vt:lpstr>BGP 路由信息</vt:lpstr>
      <vt:lpstr>BGP 路由信息</vt:lpstr>
      <vt:lpstr>BGP 路由信息</vt:lpstr>
      <vt:lpstr>3. 三种不同的自治系统 AS</vt:lpstr>
      <vt:lpstr>BGP 路由如何避免兜圈子？</vt:lpstr>
      <vt:lpstr>4. BGP 的路由选择</vt:lpstr>
      <vt:lpstr>本地偏好 (local preference) 值最高</vt:lpstr>
      <vt:lpstr>PowerPoint 演示文稿</vt:lpstr>
      <vt:lpstr>AS 跳数最小</vt:lpstr>
      <vt:lpstr>AS 跳数最小</vt:lpstr>
      <vt:lpstr>PowerPoint 演示文稿</vt:lpstr>
      <vt:lpstr>热土豆路由选择算法</vt:lpstr>
      <vt:lpstr>PowerPoint 演示文稿</vt:lpstr>
      <vt:lpstr>5.  BGP-4 的四种报文</vt:lpstr>
      <vt:lpstr>BGP 报文具有通用首部</vt:lpstr>
      <vt:lpstr>4.6.5  路由器的构成</vt:lpstr>
      <vt:lpstr>1. 路由器的结构</vt:lpstr>
      <vt:lpstr>转发和路由选择</vt:lpstr>
      <vt:lpstr>输入端口对线路上收到的分组的处理 </vt:lpstr>
      <vt:lpstr>输出端口将交换结构传送来的分组发送到线路 </vt:lpstr>
      <vt:lpstr>2. 交换结构</vt:lpstr>
      <vt:lpstr>通过存储器</vt:lpstr>
      <vt:lpstr>通过总线 BUS</vt:lpstr>
      <vt:lpstr>通过纵横交换结构 (crossbar switch fabric)</vt:lpstr>
      <vt:lpstr>4.7 IP多播</vt:lpstr>
      <vt:lpstr>4.7.1  IP 多播的基本概念</vt:lpstr>
      <vt:lpstr>多播可大大节约网络资源</vt:lpstr>
      <vt:lpstr>多播可大大节约网络资源</vt:lpstr>
      <vt:lpstr>IP 多播</vt:lpstr>
      <vt:lpstr>多播 IP 地址</vt:lpstr>
      <vt:lpstr>多播数据报</vt:lpstr>
      <vt:lpstr>4.7.2  在局域网上进行硬件多播</vt:lpstr>
      <vt:lpstr>D 类 IP 地址与以太网多播地址的映射关系 </vt:lpstr>
      <vt:lpstr>4.7.3  网际组管理协议 IGMP 和多播路由选择协议</vt:lpstr>
      <vt:lpstr>IGMP 使多播路由器知道多播组成员信息 </vt:lpstr>
      <vt:lpstr>多播路由选择协议更为复杂</vt:lpstr>
      <vt:lpstr>多播路由选择协议更为复杂</vt:lpstr>
      <vt:lpstr>2.  网际组管理协议 IGMP</vt:lpstr>
      <vt:lpstr>IGMP 使用 IP 数据报传递其报文</vt:lpstr>
      <vt:lpstr>IGMP 工作可分为两个阶段</vt:lpstr>
      <vt:lpstr>第一阶段：加入多播组</vt:lpstr>
      <vt:lpstr>第二阶段：探询组成员变化情况</vt:lpstr>
      <vt:lpstr>第二阶段：探询组成员变化情况</vt:lpstr>
      <vt:lpstr>IGMP 采用的一些具体措施，以避免增加大量开销</vt:lpstr>
      <vt:lpstr>3.  多播路由选择</vt:lpstr>
      <vt:lpstr>3.  多播路由选择</vt:lpstr>
      <vt:lpstr>(1) 洪泛与剪除</vt:lpstr>
      <vt:lpstr>RPB 的要点</vt:lpstr>
      <vt:lpstr>RPB 的要点</vt:lpstr>
      <vt:lpstr>RPB 的要点：剪枝与嫁接</vt:lpstr>
      <vt:lpstr>PowerPoint 演示文稿</vt:lpstr>
      <vt:lpstr>(2) 隧道技术 (tunneling) </vt:lpstr>
      <vt:lpstr>(3) 基于核心的发现技术 </vt:lpstr>
      <vt:lpstr>(3) 基于核心的发现技术 </vt:lpstr>
      <vt:lpstr>几种多播路由选择协议</vt:lpstr>
      <vt:lpstr>4.8.1 虚拟专用网</vt:lpstr>
      <vt:lpstr>4.8.1  虚拟专用网 VPN</vt:lpstr>
      <vt:lpstr>本地地址 vs 全球地址</vt:lpstr>
      <vt:lpstr>专用 IP 地址块</vt:lpstr>
      <vt:lpstr>专用网</vt:lpstr>
      <vt:lpstr>虚拟专用网 VPN</vt:lpstr>
      <vt:lpstr>虚拟专用网 VPN 的构建</vt:lpstr>
      <vt:lpstr>用隧道技术实现虚拟专用网</vt:lpstr>
      <vt:lpstr>PowerPoint 演示文稿</vt:lpstr>
      <vt:lpstr>VPN 类型</vt:lpstr>
      <vt:lpstr>4.8.2 网络地址转换 </vt:lpstr>
      <vt:lpstr>4.8.2   网络地址转换 NAT</vt:lpstr>
      <vt:lpstr>网络地址转换</vt:lpstr>
      <vt:lpstr>网络地址转换的过程</vt:lpstr>
      <vt:lpstr>网络地址转换的过程</vt:lpstr>
      <vt:lpstr>网络地址转换 NAT</vt:lpstr>
      <vt:lpstr>网络地址与端口号转换 NAPT</vt:lpstr>
      <vt:lpstr>NAPT 地址转换表</vt:lpstr>
      <vt:lpstr>4.9 MPLS</vt:lpstr>
      <vt:lpstr>4.9  多协议标签交换 MPLS</vt:lpstr>
      <vt:lpstr>MPLS 特点</vt:lpstr>
      <vt:lpstr>4.9.1  MPLS 的工作原理</vt:lpstr>
      <vt:lpstr>1.  MPLS 基本工作过程</vt:lpstr>
      <vt:lpstr>MPLS 协议的基本原理</vt:lpstr>
      <vt:lpstr>MPLS 域</vt:lpstr>
      <vt:lpstr>MPLS 的基本工作过程</vt:lpstr>
      <vt:lpstr>MPLS 的基本工作过程</vt:lpstr>
      <vt:lpstr>MPLS 的基本工作过程</vt:lpstr>
      <vt:lpstr>2. 转发等价类 FEC</vt:lpstr>
      <vt:lpstr>2. 转发等价类 FEC</vt:lpstr>
      <vt:lpstr>2. 转发等价类 FEC</vt:lpstr>
      <vt:lpstr>FEC 用于负载平衡</vt:lpstr>
      <vt:lpstr>4.9.2  MPLS 首部的位置与格式</vt:lpstr>
      <vt:lpstr>MPLS 首部的格式</vt:lpstr>
      <vt:lpstr>MPLS 首部的格式</vt:lpstr>
      <vt:lpstr>MPLS 首部的格式</vt:lpstr>
      <vt:lpstr>MPLS 首部的格式</vt:lpstr>
      <vt:lpstr>MPLS 首部的格式</vt:lpstr>
      <vt:lpstr>4.9.3  新一代的 MPLS</vt:lpstr>
      <vt:lpstr>段路由选择协议 SR </vt:lpstr>
      <vt:lpstr>控制器</vt:lpstr>
      <vt:lpstr>4.10 SDN</vt:lpstr>
      <vt:lpstr>4.10   软件定义网络 SDN 简介</vt:lpstr>
      <vt:lpstr>4.10.1  SDN 与 协议 OpenFlow</vt:lpstr>
      <vt:lpstr>协议 OpenFlow</vt:lpstr>
      <vt:lpstr>OpenFlow 数据层面：匹配 + 动作</vt:lpstr>
      <vt:lpstr>OpenFlow 数据层面：流表</vt:lpstr>
      <vt:lpstr>流表由远程控制器管理</vt:lpstr>
      <vt:lpstr>流表结构</vt:lpstr>
      <vt:lpstr>流表结构</vt:lpstr>
      <vt:lpstr>流表结构</vt:lpstr>
      <vt:lpstr>OpenFlow 控制器</vt:lpstr>
      <vt:lpstr>例子：简单转发</vt:lpstr>
      <vt:lpstr>例子：负载均衡</vt:lpstr>
      <vt:lpstr>例子：负载均衡</vt:lpstr>
      <vt:lpstr>例子：防火墙</vt:lpstr>
      <vt:lpstr>例子：防火墙</vt:lpstr>
      <vt:lpstr>4.10.2  SDN 体系结构</vt:lpstr>
      <vt:lpstr>SDN 体系结构的四个关键特征</vt:lpstr>
      <vt:lpstr>SDN 与传统网络的差别</vt:lpstr>
      <vt:lpstr>4.10.3  SDN 控制器</vt:lpstr>
      <vt:lpstr>4.10.3  SDN 控制器</vt:lpstr>
      <vt:lpstr>4.10.3  SDN 控制器</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ZF</dc:creator>
  <cp:lastModifiedBy>cn plaman</cp:lastModifiedBy>
  <cp:revision>427</cp:revision>
  <dcterms:modified xsi:type="dcterms:W3CDTF">2025-11-18T14:37:37Z</dcterms:modified>
</cp:coreProperties>
</file>