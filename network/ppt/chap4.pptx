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2"/>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352" r:id="rId124"/>
    <p:sldId id="355" r:id="rId125"/>
    <p:sldId id="357" r:id="rId126"/>
    <p:sldId id="691" r:id="rId127"/>
    <p:sldId id="694" r:id="rId128"/>
    <p:sldId id="695" r:id="rId129"/>
    <p:sldId id="697" r:id="rId130"/>
    <p:sldId id="698" r:id="rId131"/>
    <p:sldId id="699" r:id="rId132"/>
    <p:sldId id="700" r:id="rId133"/>
    <p:sldId id="701" r:id="rId134"/>
    <p:sldId id="703" r:id="rId135"/>
    <p:sldId id="704" r:id="rId136"/>
    <p:sldId id="705" r:id="rId137"/>
    <p:sldId id="706" r:id="rId138"/>
    <p:sldId id="707" r:id="rId139"/>
    <p:sldId id="708" r:id="rId140"/>
    <p:sldId id="709" r:id="rId141"/>
    <p:sldId id="710" r:id="rId142"/>
    <p:sldId id="711" r:id="rId143"/>
    <p:sldId id="712" r:id="rId144"/>
    <p:sldId id="714" r:id="rId145"/>
    <p:sldId id="715" r:id="rId146"/>
    <p:sldId id="716" r:id="rId147"/>
    <p:sldId id="717" r:id="rId148"/>
    <p:sldId id="718" r:id="rId149"/>
    <p:sldId id="719" r:id="rId150"/>
    <p:sldId id="720" r:id="rId151"/>
    <p:sldId id="721" r:id="rId152"/>
    <p:sldId id="722" r:id="rId153"/>
    <p:sldId id="723" r:id="rId154"/>
    <p:sldId id="724" r:id="rId155"/>
    <p:sldId id="725" r:id="rId156"/>
    <p:sldId id="727" r:id="rId157"/>
    <p:sldId id="728" r:id="rId158"/>
    <p:sldId id="729" r:id="rId159"/>
    <p:sldId id="730" r:id="rId160"/>
    <p:sldId id="731" r:id="rId161"/>
    <p:sldId id="732" r:id="rId162"/>
    <p:sldId id="735" r:id="rId163"/>
    <p:sldId id="736" r:id="rId164"/>
    <p:sldId id="737" r:id="rId165"/>
    <p:sldId id="738" r:id="rId166"/>
    <p:sldId id="740" r:id="rId167"/>
    <p:sldId id="741" r:id="rId168"/>
    <p:sldId id="743" r:id="rId169"/>
    <p:sldId id="415" r:id="rId170"/>
    <p:sldId id="416" r:id="rId171"/>
    <p:sldId id="745" r:id="rId172"/>
    <p:sldId id="746" r:id="rId173"/>
    <p:sldId id="747" r:id="rId174"/>
    <p:sldId id="419" r:id="rId175"/>
    <p:sldId id="421" r:id="rId176"/>
    <p:sldId id="422" r:id="rId177"/>
    <p:sldId id="423" r:id="rId178"/>
    <p:sldId id="426" r:id="rId179"/>
    <p:sldId id="748" r:id="rId180"/>
    <p:sldId id="427" r:id="rId181"/>
    <p:sldId id="749" r:id="rId182"/>
    <p:sldId id="429" r:id="rId183"/>
    <p:sldId id="430" r:id="rId184"/>
    <p:sldId id="750" r:id="rId185"/>
    <p:sldId id="431" r:id="rId186"/>
    <p:sldId id="432" r:id="rId187"/>
    <p:sldId id="434" r:id="rId188"/>
    <p:sldId id="435" r:id="rId189"/>
    <p:sldId id="436" r:id="rId190"/>
    <p:sldId id="437" r:id="rId191"/>
    <p:sldId id="751" r:id="rId192"/>
    <p:sldId id="440" r:id="rId193"/>
    <p:sldId id="442" r:id="rId194"/>
    <p:sldId id="441" r:id="rId195"/>
    <p:sldId id="443" r:id="rId196"/>
    <p:sldId id="444" r:id="rId197"/>
    <p:sldId id="445" r:id="rId198"/>
    <p:sldId id="446" r:id="rId199"/>
    <p:sldId id="447" r:id="rId200"/>
    <p:sldId id="753" r:id="rId201"/>
    <p:sldId id="449" r:id="rId202"/>
    <p:sldId id="450" r:id="rId203"/>
    <p:sldId id="452" r:id="rId204"/>
    <p:sldId id="455" r:id="rId205"/>
    <p:sldId id="754" r:id="rId206"/>
    <p:sldId id="755" r:id="rId207"/>
    <p:sldId id="453" r:id="rId208"/>
    <p:sldId id="457" r:id="rId209"/>
    <p:sldId id="459" r:id="rId210"/>
    <p:sldId id="458" r:id="rId211"/>
    <p:sldId id="460" r:id="rId212"/>
    <p:sldId id="758" r:id="rId213"/>
    <p:sldId id="756" r:id="rId214"/>
    <p:sldId id="461" r:id="rId215"/>
    <p:sldId id="463" r:id="rId216"/>
    <p:sldId id="464" r:id="rId217"/>
    <p:sldId id="759" r:id="rId218"/>
    <p:sldId id="465" r:id="rId219"/>
    <p:sldId id="760" r:id="rId220"/>
    <p:sldId id="761" r:id="rId221"/>
    <p:sldId id="762" r:id="rId222"/>
    <p:sldId id="764" r:id="rId223"/>
    <p:sldId id="763" r:id="rId224"/>
    <p:sldId id="766" r:id="rId225"/>
    <p:sldId id="765" r:id="rId226"/>
    <p:sldId id="769" r:id="rId227"/>
    <p:sldId id="770" r:id="rId228"/>
    <p:sldId id="771" r:id="rId229"/>
    <p:sldId id="467" r:id="rId230"/>
    <p:sldId id="469" r:id="rId231"/>
    <p:sldId id="773" r:id="rId232"/>
    <p:sldId id="774" r:id="rId233"/>
    <p:sldId id="858" r:id="rId234"/>
    <p:sldId id="859" r:id="rId235"/>
    <p:sldId id="860" r:id="rId236"/>
    <p:sldId id="777" r:id="rId237"/>
    <p:sldId id="778" r:id="rId238"/>
    <p:sldId id="776" r:id="rId239"/>
    <p:sldId id="474" r:id="rId240"/>
    <p:sldId id="475" r:id="rId241"/>
    <p:sldId id="476" r:id="rId242"/>
    <p:sldId id="781" r:id="rId243"/>
    <p:sldId id="782" r:id="rId244"/>
    <p:sldId id="483" r:id="rId245"/>
    <p:sldId id="485" r:id="rId246"/>
    <p:sldId id="487" r:id="rId247"/>
    <p:sldId id="488" r:id="rId248"/>
    <p:sldId id="784" r:id="rId249"/>
    <p:sldId id="785" r:id="rId250"/>
    <p:sldId id="526" r:id="rId251"/>
    <p:sldId id="527" r:id="rId252"/>
    <p:sldId id="528" r:id="rId253"/>
    <p:sldId id="529" r:id="rId254"/>
    <p:sldId id="530" r:id="rId255"/>
    <p:sldId id="531" r:id="rId256"/>
    <p:sldId id="532" r:id="rId257"/>
    <p:sldId id="533" r:id="rId258"/>
    <p:sldId id="534" r:id="rId259"/>
    <p:sldId id="786" r:id="rId260"/>
    <p:sldId id="537" r:id="rId261"/>
    <p:sldId id="539" r:id="rId262"/>
    <p:sldId id="540" r:id="rId263"/>
    <p:sldId id="541" r:id="rId264"/>
    <p:sldId id="542" r:id="rId265"/>
    <p:sldId id="789" r:id="rId266"/>
    <p:sldId id="790" r:id="rId267"/>
    <p:sldId id="791" r:id="rId268"/>
    <p:sldId id="792" r:id="rId269"/>
    <p:sldId id="545" r:id="rId270"/>
    <p:sldId id="794" r:id="rId271"/>
    <p:sldId id="548" r:id="rId272"/>
    <p:sldId id="549" r:id="rId273"/>
    <p:sldId id="550" r:id="rId274"/>
    <p:sldId id="797" r:id="rId275"/>
    <p:sldId id="796" r:id="rId276"/>
    <p:sldId id="552" r:id="rId277"/>
    <p:sldId id="553" r:id="rId278"/>
    <p:sldId id="554" r:id="rId279"/>
    <p:sldId id="800" r:id="rId280"/>
    <p:sldId id="555" r:id="rId281"/>
    <p:sldId id="556" r:id="rId282"/>
    <p:sldId id="557" r:id="rId283"/>
    <p:sldId id="558" r:id="rId284"/>
    <p:sldId id="560" r:id="rId285"/>
    <p:sldId id="561" r:id="rId286"/>
    <p:sldId id="562" r:id="rId287"/>
    <p:sldId id="563" r:id="rId288"/>
    <p:sldId id="564" r:id="rId289"/>
    <p:sldId id="565" r:id="rId290"/>
    <p:sldId id="566" r:id="rId291"/>
    <p:sldId id="568" r:id="rId292"/>
    <p:sldId id="569" r:id="rId293"/>
    <p:sldId id="570" r:id="rId294"/>
    <p:sldId id="572" r:id="rId295"/>
    <p:sldId id="573" r:id="rId296"/>
    <p:sldId id="574" r:id="rId297"/>
    <p:sldId id="575" r:id="rId298"/>
    <p:sldId id="576" r:id="rId299"/>
    <p:sldId id="578" r:id="rId300"/>
    <p:sldId id="579" r:id="rId301"/>
    <p:sldId id="581" r:id="rId302"/>
    <p:sldId id="582" r:id="rId303"/>
    <p:sldId id="584" r:id="rId304"/>
    <p:sldId id="583" r:id="rId305"/>
    <p:sldId id="585" r:id="rId306"/>
    <p:sldId id="805" r:id="rId307"/>
    <p:sldId id="806" r:id="rId308"/>
    <p:sldId id="588" r:id="rId309"/>
    <p:sldId id="808" r:id="rId310"/>
    <p:sldId id="809" r:id="rId311"/>
    <p:sldId id="590" r:id="rId312"/>
    <p:sldId id="592" r:id="rId313"/>
    <p:sldId id="593" r:id="rId314"/>
    <p:sldId id="810" r:id="rId315"/>
    <p:sldId id="811" r:id="rId316"/>
    <p:sldId id="812" r:id="rId317"/>
    <p:sldId id="813" r:id="rId318"/>
    <p:sldId id="814" r:id="rId319"/>
    <p:sldId id="815" r:id="rId320"/>
    <p:sldId id="816" r:id="rId321"/>
    <p:sldId id="818" r:id="rId322"/>
    <p:sldId id="817" r:id="rId323"/>
    <p:sldId id="821" r:id="rId324"/>
    <p:sldId id="820" r:id="rId325"/>
    <p:sldId id="822" r:id="rId326"/>
    <p:sldId id="823" r:id="rId327"/>
    <p:sldId id="824" r:id="rId328"/>
    <p:sldId id="826" r:id="rId329"/>
    <p:sldId id="827" r:id="rId330"/>
    <p:sldId id="828" r:id="rId331"/>
    <p:sldId id="825" r:id="rId332"/>
    <p:sldId id="829" r:id="rId333"/>
    <p:sldId id="830" r:id="rId334"/>
    <p:sldId id="831" r:id="rId335"/>
    <p:sldId id="835" r:id="rId336"/>
    <p:sldId id="833" r:id="rId337"/>
    <p:sldId id="836" r:id="rId338"/>
    <p:sldId id="834" r:id="rId339"/>
    <p:sldId id="838" r:id="rId340"/>
    <p:sldId id="839" r:id="rId341"/>
  </p:sldIdLst>
  <p:sldSz cx="9144000" cy="5143500" type="screen16x9"/>
  <p:notesSz cx="6858000" cy="9144000"/>
  <p:embeddedFontLst>
    <p:embeddedFont>
      <p:font typeface="Montserrat" panose="00000500000000000000" pitchFamily="2" charset="0"/>
      <p:regular r:id="rId343"/>
    </p:embeddedFont>
    <p:embeddedFont>
      <p:font typeface="Tahoma" panose="020B0604030504040204" pitchFamily="34" charset="0"/>
      <p:regular r:id="rId344"/>
      <p:bold r:id="rId345"/>
    </p:embeddedFont>
    <p:embeddedFont>
      <p:font typeface="黑体" panose="02010609060101010101" pitchFamily="49" charset="-122"/>
      <p:regular r:id="rId346"/>
    </p:embeddedFont>
    <p:embeddedFont>
      <p:font typeface="微软雅黑" panose="020B0503020204020204" pitchFamily="34" charset="-122"/>
      <p:regular r:id="rId347"/>
      <p:bold r:id="rId3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99"/>
    <a:srgbClr val="00B0F0"/>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varScale="1">
        <p:scale>
          <a:sx n="134" d="100"/>
          <a:sy n="134" d="100"/>
        </p:scale>
        <p:origin x="126" y="37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4.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6.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presProps" Target="presProp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viewProps" Target="viewProp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theme" Target="theme/theme1.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notesMaster" Target="notesMasters/notesMaster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1.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3.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5.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diagrams/_rels/data12.xml.rels><?xml version="1.0" encoding="UTF-8" standalone="yes"?>
<Relationships xmlns="http://schemas.openxmlformats.org/package/2006/relationships"><Relationship Id="rId1" Type="http://schemas.openxmlformats.org/officeDocument/2006/relationships/image" Target="../media/image33.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33.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1" dirty="0">
              <a:latin typeface="微软雅黑" panose="020B0503020204020204" pitchFamily="34" charset="-122"/>
              <a:ea typeface="微软雅黑" panose="020B0503020204020204" pitchFamily="34" charset="-122"/>
            </a:rPr>
            <a:t>1</a:t>
          </a:r>
          <a:endParaRPr lang="zh-CN" altLang="en-US" sz="1600" b="1"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1" dirty="0">
              <a:latin typeface="微软雅黑" panose="020B0503020204020204" pitchFamily="34" charset="-122"/>
              <a:ea typeface="微软雅黑" panose="020B0503020204020204" pitchFamily="34" charset="-122"/>
            </a:rPr>
            <a:t>本地偏好 </a:t>
          </a:r>
          <a:r>
            <a:rPr lang="en-US" altLang="en-US" sz="1600" b="1" dirty="0">
              <a:latin typeface="微软雅黑" panose="020B0503020204020204" pitchFamily="34" charset="-122"/>
              <a:ea typeface="微软雅黑" panose="020B0503020204020204" pitchFamily="34" charset="-122"/>
            </a:rPr>
            <a:t>(local preference) </a:t>
          </a:r>
          <a:r>
            <a:rPr lang="zh-CN" altLang="en-US" sz="1600" b="1" dirty="0">
              <a:latin typeface="微软雅黑" panose="020B0503020204020204" pitchFamily="34" charset="-122"/>
              <a:ea typeface="微软雅黑" panose="020B0503020204020204" pitchFamily="34" charset="-122"/>
            </a:rPr>
            <a:t>值最高的路由 （默认值</a:t>
          </a:r>
          <a:r>
            <a:rPr lang="en-US" altLang="zh-CN"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100</a:t>
          </a:r>
          <a:r>
            <a:rPr lang="zh-CN" altLang="en-US" sz="1600" b="1" dirty="0">
              <a:latin typeface="微软雅黑" panose="020B0503020204020204" pitchFamily="34" charset="-122"/>
              <a:ea typeface="微软雅黑" panose="020B0503020204020204"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1" dirty="0">
              <a:latin typeface="微软雅黑" panose="020B0503020204020204" pitchFamily="34" charset="-122"/>
              <a:ea typeface="微软雅黑" panose="020B0503020204020204" pitchFamily="34" charset="-122"/>
            </a:rPr>
            <a:t>2</a:t>
          </a:r>
          <a:endParaRPr lang="zh-CN" altLang="en-US" sz="1600" b="1"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1" dirty="0">
              <a:latin typeface="微软雅黑" panose="020B0503020204020204" pitchFamily="34" charset="-122"/>
              <a:ea typeface="微软雅黑" panose="020B0503020204020204" pitchFamily="34" charset="-122"/>
            </a:rPr>
            <a:t>3</a:t>
          </a:r>
          <a:endParaRPr lang="zh-CN" altLang="en-US" sz="1600" b="1"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1" dirty="0">
              <a:latin typeface="微软雅黑" panose="020B0503020204020204" pitchFamily="34" charset="-122"/>
              <a:ea typeface="微软雅黑" panose="020B0503020204020204" pitchFamily="34" charset="-122"/>
            </a:rPr>
            <a:t>4</a:t>
          </a:r>
          <a:endParaRPr lang="zh-CN" altLang="en-US" sz="1600" b="1"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r>
            <a:rPr lang="zh-CN" altLang="en-US" sz="1600" b="1" dirty="0">
              <a:latin typeface="微软雅黑" panose="020B0503020204020204" pitchFamily="34" charset="-122"/>
              <a:ea typeface="微软雅黑" panose="020B0503020204020204" pitchFamily="34" charset="-122"/>
            </a:rPr>
            <a:t>使用热土豆路由选择算法（分组在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r>
            <a:rPr lang="zh-CN" altLang="en-US" sz="1600" b="1" dirty="0">
              <a:latin typeface="微软雅黑" panose="020B0503020204020204" pitchFamily="34" charset="-122"/>
              <a:ea typeface="微软雅黑" panose="020B0503020204020204" pitchFamily="34" charset="-122"/>
            </a:rPr>
            <a:t>路由器 </a:t>
          </a:r>
          <a:r>
            <a:rPr lang="en-US" altLang="en-US" sz="1600" b="1" dirty="0">
              <a:latin typeface="微软雅黑" panose="020B0503020204020204" pitchFamily="34" charset="-122"/>
              <a:ea typeface="微软雅黑" panose="020B0503020204020204" pitchFamily="34" charset="-122"/>
            </a:rPr>
            <a:t>BGP </a:t>
          </a:r>
          <a:r>
            <a:rPr lang="en-US" altLang="zh-CN" sz="1600" b="1" dirty="0">
              <a:latin typeface="微软雅黑" panose="020B0503020204020204" pitchFamily="34" charset="-122"/>
              <a:ea typeface="微软雅黑" panose="020B0503020204020204" pitchFamily="34" charset="-122"/>
            </a:rPr>
            <a:t>ID </a:t>
          </a:r>
          <a:r>
            <a:rPr lang="zh-CN" altLang="en-US" sz="1600" b="1" dirty="0">
              <a:latin typeface="微软雅黑" panose="020B0503020204020204" pitchFamily="34" charset="-122"/>
              <a:ea typeface="微软雅黑" panose="020B0503020204020204" pitchFamily="34" charset="-122"/>
            </a:rPr>
            <a:t>数值最小的路由。具有多个接口的路由器有多个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en-US" altLang="en-US" sz="1600" b="1" dirty="0">
              <a:latin typeface="微软雅黑" panose="020B0503020204020204" pitchFamily="34" charset="-122"/>
              <a:ea typeface="微软雅黑" panose="020B0503020204020204" pitchFamily="34" charset="-122"/>
            </a:rPr>
            <a:t>BGP ID </a:t>
          </a:r>
          <a:r>
            <a:rPr lang="zh-CN" altLang="en-US" sz="1600" b="1" dirty="0">
              <a:latin typeface="微软雅黑" panose="020B0503020204020204" pitchFamily="34" charset="-122"/>
              <a:ea typeface="微软雅黑" panose="020B0503020204020204" pitchFamily="34" charset="-122"/>
            </a:rPr>
            <a:t>就使用该路由器的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800" b="1" dirty="0">
              <a:latin typeface="微软雅黑" panose="020B0503020204020204" pitchFamily="34" charset="-122"/>
              <a:ea typeface="微软雅黑" panose="020B0503020204020204" pitchFamily="34" charset="-122"/>
            </a:rPr>
            <a:t>划分 </a:t>
          </a:r>
          <a:r>
            <a:rPr lang="en-US" altLang="en-US" sz="1800" b="1" dirty="0">
              <a:latin typeface="微软雅黑" panose="020B0503020204020204" pitchFamily="34" charset="-122"/>
              <a:ea typeface="微软雅黑" panose="020B0503020204020204" pitchFamily="34" charset="-122"/>
            </a:rPr>
            <a:t>FEC </a:t>
          </a:r>
          <a:r>
            <a:rPr lang="zh-CN" altLang="en-US" sz="1800" b="1"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800" b="1" dirty="0">
              <a:latin typeface="微软雅黑" panose="020B0503020204020204" pitchFamily="34" charset="-122"/>
              <a:ea typeface="微软雅黑" panose="020B0503020204020204" pitchFamily="34" charset="-122"/>
            </a:rPr>
            <a:t>入口节点并不是给每一个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数据报指派一个不同的标签，而是将属于同样 </a:t>
          </a:r>
          <a:r>
            <a:rPr lang="en-US" altLang="en-US" sz="1800" b="1" dirty="0">
              <a:latin typeface="微软雅黑" panose="020B0503020204020204" pitchFamily="34" charset="-122"/>
              <a:ea typeface="微软雅黑" panose="020B0503020204020204" pitchFamily="34" charset="-122"/>
            </a:rPr>
            <a:t>FEC </a:t>
          </a:r>
          <a:r>
            <a:rPr lang="zh-CN" altLang="en-US" sz="1800" b="1" dirty="0">
              <a:latin typeface="微软雅黑" panose="020B0503020204020204" pitchFamily="34" charset="-122"/>
              <a:ea typeface="微软雅黑" panose="020B0503020204020204" pitchFamily="34" charset="-122"/>
            </a:rPr>
            <a:t>的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800" b="1" dirty="0">
              <a:latin typeface="微软雅黑" panose="020B0503020204020204" pitchFamily="34" charset="-122"/>
              <a:ea typeface="微软雅黑" panose="020B0503020204020204" pitchFamily="34" charset="-122"/>
            </a:rPr>
            <a:t>FEC </a:t>
          </a:r>
          <a:r>
            <a:rPr lang="zh-CN" altLang="en-US" sz="1800" b="1"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en-US" sz="1600" b="1" kern="1200" dirty="0">
              <a:latin typeface="微软雅黑" panose="020B0503020204020204" pitchFamily="34" charset="-122"/>
              <a:ea typeface="微软雅黑" panose="020B0503020204020204" pitchFamily="34" charset="-122"/>
            </a:rPr>
            <a:t>数据层面</a:t>
          </a: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路由器根据本路由器生成的</a:t>
          </a:r>
          <a:r>
            <a:rPr lang="zh-CN" altLang="en-US" sz="1600" b="1" kern="1200" dirty="0">
              <a:solidFill>
                <a:srgbClr val="C00000"/>
              </a:solidFill>
              <a:latin typeface="微软雅黑" panose="020B0503020204020204" pitchFamily="34" charset="-122"/>
              <a:ea typeface="微软雅黑" panose="020B0503020204020204" pitchFamily="34" charset="-122"/>
            </a:rPr>
            <a:t>转发表，</a:t>
          </a:r>
          <a:r>
            <a:rPr lang="zh-CN" altLang="en-US" sz="1600" b="1" kern="1200" dirty="0">
              <a:latin typeface="微软雅黑" panose="020B0503020204020204" pitchFamily="34" charset="-122"/>
              <a:ea typeface="微软雅黑" panose="020B0503020204020204" pitchFamily="34" charset="-122"/>
            </a:rPr>
            <a:t>把收到的分组从查找到的对应接口</a:t>
          </a:r>
          <a:r>
            <a:rPr lang="zh-CN" altLang="en-US" sz="1600" b="1" kern="1200" dirty="0">
              <a:solidFill>
                <a:srgbClr val="C00000"/>
              </a:solidFill>
              <a:latin typeface="微软雅黑" panose="020B0503020204020204" pitchFamily="34" charset="-122"/>
              <a:ea typeface="微软雅黑" panose="020B0503020204020204" pitchFamily="34" charset="-122"/>
            </a:rPr>
            <a:t>转发</a:t>
          </a:r>
          <a:r>
            <a:rPr lang="zh-CN" altLang="en-US" sz="1600" b="1" kern="1200" dirty="0">
              <a:latin typeface="微软雅黑" panose="020B0503020204020204" pitchFamily="34" charset="-122"/>
              <a:ea typeface="微软雅黑" panose="020B0503020204020204" pitchFamily="34" charset="-122"/>
            </a:rPr>
            <a:t>出去。</a:t>
          </a: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根据路由选择协议所用的路由算法</a:t>
          </a:r>
          <a:r>
            <a:rPr lang="zh-CN" altLang="en-US"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latin typeface="微软雅黑" panose="020B0503020204020204" pitchFamily="34" charset="-122"/>
              <a:ea typeface="微软雅黑" panose="020B0503020204020204" pitchFamily="34" charset="-122"/>
            </a:rPr>
            <a:t>创建出本路由器的</a:t>
          </a:r>
          <a:r>
            <a:rPr lang="zh-CN" altLang="en-US" sz="1800" b="1" kern="1200" dirty="0">
              <a:solidFill>
                <a:srgbClr val="C00000"/>
              </a:solidFill>
              <a:latin typeface="微软雅黑" panose="020B0503020204020204" pitchFamily="34" charset="-122"/>
              <a:ea typeface="微软雅黑" panose="020B0503020204020204" pitchFamily="34" charset="-122"/>
            </a:rPr>
            <a:t>路由表。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1</a:t>
          </a:r>
          <a:endParaRPr lang="zh-CN" altLang="en-US" sz="1600" b="1"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本地偏好 </a:t>
          </a:r>
          <a:r>
            <a:rPr lang="en-US" altLang="en-US" sz="1600" b="1" kern="1200" dirty="0">
              <a:latin typeface="微软雅黑" panose="020B0503020204020204" pitchFamily="34" charset="-122"/>
              <a:ea typeface="微软雅黑" panose="020B0503020204020204" pitchFamily="34" charset="-122"/>
            </a:rPr>
            <a:t>(local preference) </a:t>
          </a:r>
          <a:r>
            <a:rPr lang="zh-CN" altLang="en-US" sz="1600" b="1" kern="1200" dirty="0">
              <a:latin typeface="微软雅黑" panose="020B0503020204020204" pitchFamily="34" charset="-122"/>
              <a:ea typeface="微软雅黑" panose="020B0503020204020204" pitchFamily="34" charset="-122"/>
            </a:rPr>
            <a:t>值最高的路由 （默认值</a:t>
          </a:r>
          <a:r>
            <a:rPr lang="en-US" altLang="zh-CN"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100</a:t>
          </a:r>
          <a:r>
            <a:rPr lang="zh-CN" altLang="en-US" sz="1600" b="1" kern="1200" dirty="0">
              <a:latin typeface="微软雅黑" panose="020B0503020204020204" pitchFamily="34" charset="-122"/>
              <a:ea typeface="微软雅黑" panose="020B0503020204020204"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2</a:t>
          </a:r>
          <a:endParaRPr lang="zh-CN" altLang="en-US" sz="1600" b="1"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1" kern="1200" dirty="0">
              <a:latin typeface="微软雅黑" panose="020B0503020204020204" pitchFamily="34" charset="-122"/>
              <a:ea typeface="微软雅黑" panose="020B0503020204020204" pitchFamily="34" charset="-122"/>
            </a:rPr>
            <a:t>AS </a:t>
          </a:r>
          <a:r>
            <a:rPr lang="zh-CN" altLang="en-US" sz="1600" b="1" kern="1200" dirty="0">
              <a:latin typeface="微软雅黑" panose="020B0503020204020204" pitchFamily="34" charset="-122"/>
              <a:ea typeface="微软雅黑" panose="020B0503020204020204" pitchFamily="34" charset="-122"/>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3</a:t>
          </a:r>
          <a:endParaRPr lang="zh-CN" altLang="en-US" sz="1600" b="1"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使用热土豆路由选择算法（分组在 </a:t>
          </a:r>
          <a:r>
            <a:rPr lang="en-US" altLang="zh-CN" sz="1600" b="1" kern="1200" dirty="0">
              <a:latin typeface="微软雅黑" panose="020B0503020204020204" pitchFamily="34" charset="-122"/>
              <a:ea typeface="微软雅黑" panose="020B0503020204020204" pitchFamily="34" charset="-122"/>
            </a:rPr>
            <a:t>AS </a:t>
          </a:r>
          <a:r>
            <a:rPr lang="zh-CN" altLang="en-US" sz="1600" b="1" kern="1200" dirty="0">
              <a:latin typeface="微软雅黑" panose="020B0503020204020204" pitchFamily="34" charset="-122"/>
              <a:ea typeface="微软雅黑" panose="020B0503020204020204" pitchFamily="34" charset="-122"/>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4</a:t>
          </a:r>
          <a:endParaRPr lang="zh-CN" altLang="en-US" sz="1600" b="1"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路由器 </a:t>
          </a:r>
          <a:r>
            <a:rPr lang="en-US" altLang="en-US" sz="1600" b="1" kern="1200" dirty="0">
              <a:latin typeface="微软雅黑" panose="020B0503020204020204" pitchFamily="34" charset="-122"/>
              <a:ea typeface="微软雅黑" panose="020B0503020204020204" pitchFamily="34" charset="-122"/>
            </a:rPr>
            <a:t>BGP </a:t>
          </a:r>
          <a:r>
            <a:rPr lang="en-US" altLang="zh-CN" sz="1600" b="1" kern="1200" dirty="0">
              <a:latin typeface="微软雅黑" panose="020B0503020204020204" pitchFamily="34" charset="-122"/>
              <a:ea typeface="微软雅黑" panose="020B0503020204020204" pitchFamily="34" charset="-122"/>
            </a:rPr>
            <a:t>ID </a:t>
          </a:r>
          <a:r>
            <a:rPr lang="zh-CN" altLang="en-US" sz="1600" b="1" kern="1200" dirty="0">
              <a:latin typeface="微软雅黑" panose="020B0503020204020204" pitchFamily="34" charset="-122"/>
              <a:ea typeface="微软雅黑" panose="020B0503020204020204" pitchFamily="34" charset="-122"/>
            </a:rPr>
            <a:t>数值最小的路由。具有多个接口的路由器有多个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en-US" altLang="en-US" sz="1600" b="1" kern="1200" dirty="0">
              <a:latin typeface="微软雅黑" panose="020B0503020204020204" pitchFamily="34" charset="-122"/>
              <a:ea typeface="微软雅黑" panose="020B0503020204020204" pitchFamily="34" charset="-122"/>
            </a:rPr>
            <a:t>BGP ID </a:t>
          </a:r>
          <a:r>
            <a:rPr lang="zh-CN" altLang="en-US" sz="1600" b="1" kern="1200" dirty="0">
              <a:latin typeface="微软雅黑" panose="020B0503020204020204" pitchFamily="34" charset="-122"/>
              <a:ea typeface="微软雅黑" panose="020B0503020204020204" pitchFamily="34" charset="-122"/>
            </a:rPr>
            <a:t>就使用该路由器的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8580" rIns="128016"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划分 </a:t>
          </a:r>
          <a:r>
            <a:rPr lang="en-US" altLang="en-US" sz="1800" b="1" kern="1200" dirty="0">
              <a:latin typeface="微软雅黑" panose="020B0503020204020204" pitchFamily="34" charset="-122"/>
              <a:ea typeface="微软雅黑" panose="020B0503020204020204" pitchFamily="34" charset="-122"/>
            </a:rPr>
            <a:t>FEC </a:t>
          </a:r>
          <a:r>
            <a:rPr lang="zh-CN" altLang="en-US" sz="1800" b="1"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8580" rIns="128016"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入口节点并不是给每一个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数据报指派一个不同的标签，而是将属于同样 </a:t>
          </a:r>
          <a:r>
            <a:rPr lang="en-US" altLang="en-US" sz="1800" b="1" kern="1200" dirty="0">
              <a:latin typeface="微软雅黑" panose="020B0503020204020204" pitchFamily="34" charset="-122"/>
              <a:ea typeface="微软雅黑" panose="020B0503020204020204" pitchFamily="34" charset="-122"/>
            </a:rPr>
            <a:t>FEC </a:t>
          </a:r>
          <a:r>
            <a:rPr lang="zh-CN" altLang="en-US" sz="1800" b="1" kern="1200" dirty="0">
              <a:latin typeface="微软雅黑" panose="020B0503020204020204" pitchFamily="34" charset="-122"/>
              <a:ea typeface="微软雅黑" panose="020B0503020204020204" pitchFamily="34" charset="-122"/>
            </a:rPr>
            <a:t>的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8580" rIns="128016" bIns="6858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latin typeface="微软雅黑" panose="020B0503020204020204" pitchFamily="34" charset="-122"/>
              <a:ea typeface="微软雅黑" panose="020B0503020204020204" pitchFamily="34" charset="-122"/>
            </a:rPr>
            <a:t>FEC </a:t>
          </a:r>
          <a:r>
            <a:rPr lang="zh-CN" altLang="en-US" sz="1800" b="1"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133</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155</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162</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179</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185</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273</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274</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293</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301</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303</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320</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337</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338</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340</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1" r:id="rId1"/>
    <p:sldLayoutId id="2147483649" r:id="rId2"/>
    <p:sldLayoutId id="2147483652" r:id="rId3"/>
    <p:sldLayoutId id="2147483650" r:id="rId4"/>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23.emf"/></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7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8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9.wmf"/><Relationship Id="rId1" Type="http://schemas.openxmlformats.org/officeDocument/2006/relationships/slideLayout" Target="../slideLayouts/slideLayout4.xml"/><Relationship Id="rId4" Type="http://schemas.openxmlformats.org/officeDocument/2006/relationships/image" Target="../media/image8.wmf"/></Relationships>
</file>

<file path=ppt/slides/_rels/slide181.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4.xml"/><Relationship Id="rId5" Type="http://schemas.openxmlformats.org/officeDocument/2006/relationships/image" Target="../media/image8.wmf"/><Relationship Id="rId4" Type="http://schemas.openxmlformats.org/officeDocument/2006/relationships/image" Target="../media/image24.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2.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20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0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0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1.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23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23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23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25.png"/><Relationship Id="rId1" Type="http://schemas.openxmlformats.org/officeDocument/2006/relationships/slideLayout" Target="../slideLayouts/slideLayout1.xml"/><Relationship Id="rId5" Type="http://schemas.openxmlformats.org/officeDocument/2006/relationships/image" Target="../media/image19.wmf"/><Relationship Id="rId4" Type="http://schemas.openxmlformats.org/officeDocument/2006/relationships/image" Target="../media/image7.png"/></Relationships>
</file>

<file path=ppt/slides/_rels/slide25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25.png"/><Relationship Id="rId1" Type="http://schemas.openxmlformats.org/officeDocument/2006/relationships/slideLayout" Target="../slideLayouts/slideLayout1.xml"/><Relationship Id="rId5" Type="http://schemas.openxmlformats.org/officeDocument/2006/relationships/image" Target="../media/image19.wmf"/><Relationship Id="rId4" Type="http://schemas.openxmlformats.org/officeDocument/2006/relationships/image" Target="../media/image7.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1.xml"/><Relationship Id="rId4" Type="http://schemas.openxmlformats.org/officeDocument/2006/relationships/image" Target="../media/image19.wmf"/></Relationships>
</file>

<file path=ppt/slides/_rels/slide26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19.wmf"/></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67.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68.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274.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275.xml.rels><?xml version="1.0" encoding="UTF-8" standalone="yes"?>
<Relationships xmlns="http://schemas.openxmlformats.org/package/2006/relationships"><Relationship Id="rId2" Type="http://schemas.openxmlformats.org/officeDocument/2006/relationships/image" Target="../media/image28.wmf"/><Relationship Id="rId1" Type="http://schemas.openxmlformats.org/officeDocument/2006/relationships/slideLayout" Target="../slideLayouts/slideLayout4.xml"/></Relationships>
</file>

<file path=ppt/slides/_rels/slide27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77.x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oleObject" Target="../embeddings/oleObject2.bin"/><Relationship Id="rId1" Type="http://schemas.openxmlformats.org/officeDocument/2006/relationships/slideLayout" Target="../slideLayouts/slideLayout1.xml"/><Relationship Id="rId4" Type="http://schemas.openxmlformats.org/officeDocument/2006/relationships/image" Target="../media/image6.wmf"/></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6.wmf"/><Relationship Id="rId4" Type="http://schemas.openxmlformats.org/officeDocument/2006/relationships/image" Target="../media/image29.wmf"/></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0.png"/><Relationship Id="rId1" Type="http://schemas.openxmlformats.org/officeDocument/2006/relationships/slideLayout" Target="../slideLayouts/slideLayout4.xml"/><Relationship Id="rId5" Type="http://schemas.openxmlformats.org/officeDocument/2006/relationships/image" Target="../media/image6.wmf"/><Relationship Id="rId4" Type="http://schemas.openxmlformats.org/officeDocument/2006/relationships/image" Target="../media/image29.wmf"/></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1.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29.wmf"/></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9.xml.rels><?xml version="1.0" encoding="UTF-8" standalone="yes"?>
<Relationships xmlns="http://schemas.openxmlformats.org/package/2006/relationships"><Relationship Id="rId2" Type="http://schemas.openxmlformats.org/officeDocument/2006/relationships/image" Target="../media/image31.wmf"/><Relationship Id="rId1" Type="http://schemas.openxmlformats.org/officeDocument/2006/relationships/slideLayout" Target="../slideLayouts/slideLayout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1.xml.rels><?xml version="1.0" encoding="UTF-8" standalone="yes"?>
<Relationships xmlns="http://schemas.openxmlformats.org/package/2006/relationships"><Relationship Id="rId3" Type="http://schemas.openxmlformats.org/officeDocument/2006/relationships/image" Target="../media/image31.wmf"/><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4.xml"/><Relationship Id="rId5" Type="http://schemas.openxmlformats.org/officeDocument/2006/relationships/image" Target="../media/image30.png"/><Relationship Id="rId4" Type="http://schemas.openxmlformats.org/officeDocument/2006/relationships/image" Target="../media/image31.wmf"/></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6.wmf"/><Relationship Id="rId1" Type="http://schemas.openxmlformats.org/officeDocument/2006/relationships/slideLayout" Target="../slideLayouts/slideLayout4.xml"/><Relationship Id="rId4" Type="http://schemas.openxmlformats.org/officeDocument/2006/relationships/image" Target="../media/image31.wmf"/></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1.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3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3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36.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7.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1.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34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16859" y="61192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计算机网络体系结构</a:t>
            </a:r>
          </a:p>
        </p:txBody>
      </p:sp>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5176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4195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
        <p:nvSpPr>
          <p:cNvPr id="10" name="标题 9">
            <a:extLst>
              <a:ext uri="{FF2B5EF4-FFF2-40B4-BE49-F238E27FC236}">
                <a16:creationId xmlns:a16="http://schemas.microsoft.com/office/drawing/2014/main" id="{839F743E-2BC4-600B-DF8A-BC284957DFCF}"/>
              </a:ext>
            </a:extLst>
          </p:cNvPr>
          <p:cNvSpPr>
            <a:spLocks noGrp="1"/>
          </p:cNvSpPr>
          <p:nvPr>
            <p:ph type="title"/>
          </p:nvPr>
        </p:nvSpPr>
        <p:spPr/>
        <p:txBody>
          <a:bodyPr/>
          <a:lstStyle/>
          <a:p>
            <a:endParaRPr lang="zh-CN" altLang="en-US"/>
          </a:p>
        </p:txBody>
      </p:sp>
      <p:sp>
        <p:nvSpPr>
          <p:cNvPr id="11" name="内容占位符 10">
            <a:extLst>
              <a:ext uri="{FF2B5EF4-FFF2-40B4-BE49-F238E27FC236}">
                <a16:creationId xmlns:a16="http://schemas.microsoft.com/office/drawing/2014/main" id="{84BECE1E-5FF8-4754-62F5-BD4B4B7C5EF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523204" y="553141"/>
            <a:ext cx="40975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4.1.1 </a:t>
            </a:r>
            <a:r>
              <a:rPr lang="zh-CN" altLang="en-US" sz="2400" b="1" dirty="0">
                <a:solidFill>
                  <a:schemeClr val="bg1"/>
                </a:solidFill>
                <a:latin typeface="微软雅黑" pitchFamily="34" charset="-122"/>
                <a:ea typeface="微软雅黑" pitchFamily="34" charset="-122"/>
              </a:rPr>
              <a:t>网络层提供的两种服务</a:t>
            </a:r>
          </a:p>
        </p:txBody>
      </p:sp>
      <p:sp>
        <p:nvSpPr>
          <p:cNvPr id="4" name="Rectangle 8"/>
          <p:cNvSpPr>
            <a:spLocks noChangeArrowheads="1"/>
          </p:cNvSpPr>
          <p:nvPr/>
        </p:nvSpPr>
        <p:spPr bwMode="auto">
          <a:xfrm>
            <a:off x="466346" y="1004505"/>
            <a:ext cx="8129014"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000"/>
              </a:lnSpc>
              <a:buClr>
                <a:srgbClr val="0070C0"/>
              </a:buClr>
            </a:pPr>
            <a:r>
              <a:rPr lang="zh-CN" altLang="en-US" sz="2000" b="1" dirty="0">
                <a:solidFill>
                  <a:srgbClr val="C00000"/>
                </a:solidFill>
                <a:latin typeface="微软雅黑" pitchFamily="34" charset="-122"/>
                <a:ea typeface="微软雅黑" pitchFamily="34" charset="-122"/>
              </a:rPr>
              <a:t>争论：</a:t>
            </a:r>
            <a:endParaRPr lang="en-US" altLang="zh-CN" sz="2000" b="1" dirty="0">
              <a:solidFill>
                <a:srgbClr val="C00000"/>
              </a:solidFill>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网络层应该向运输层提供怎样的服务？</a:t>
            </a:r>
            <a:r>
              <a:rPr lang="zh-CN" altLang="en-US" sz="2000" b="1" dirty="0">
                <a:solidFill>
                  <a:srgbClr val="C00000"/>
                </a:solidFill>
                <a:latin typeface="微软雅黑" pitchFamily="34" charset="-122"/>
                <a:ea typeface="微软雅黑" pitchFamily="34" charset="-122"/>
              </a:rPr>
              <a:t>面向连接</a:t>
            </a:r>
            <a:r>
              <a:rPr lang="zh-CN" altLang="en-US" sz="2000" b="1" dirty="0">
                <a:latin typeface="微软雅黑" pitchFamily="34" charset="-122"/>
                <a:ea typeface="微软雅黑" pitchFamily="34" charset="-122"/>
              </a:rPr>
              <a:t>还是</a:t>
            </a:r>
            <a:r>
              <a:rPr lang="zh-CN" altLang="en-US" sz="2000" b="1" dirty="0">
                <a:solidFill>
                  <a:srgbClr val="C00000"/>
                </a:solidFill>
                <a:latin typeface="微软雅黑" pitchFamily="34" charset="-122"/>
                <a:ea typeface="微软雅黑" pitchFamily="34" charset="-122"/>
              </a:rPr>
              <a:t>无连接？</a:t>
            </a:r>
            <a:endParaRPr lang="en-US" altLang="zh-CN" sz="2000" b="1" dirty="0">
              <a:solidFill>
                <a:srgbClr val="C00000"/>
              </a:solidFill>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在计算机通信中，</a:t>
            </a:r>
            <a:r>
              <a:rPr lang="zh-CN" altLang="en-US" sz="2000" b="1" dirty="0">
                <a:solidFill>
                  <a:srgbClr val="C00000"/>
                </a:solidFill>
                <a:latin typeface="微软雅黑" pitchFamily="34" charset="-122"/>
                <a:ea typeface="微软雅黑" pitchFamily="34" charset="-122"/>
              </a:rPr>
              <a:t>可靠交付</a:t>
            </a:r>
            <a:r>
              <a:rPr lang="zh-CN" altLang="en-US" sz="2000" b="1" dirty="0">
                <a:latin typeface="微软雅黑" pitchFamily="34" charset="-122"/>
                <a:ea typeface="微软雅黑" pitchFamily="34" charset="-122"/>
              </a:rPr>
              <a:t>应当由谁来负责？是</a:t>
            </a:r>
            <a:r>
              <a:rPr lang="zh-CN" altLang="en-US" sz="2000" b="1" dirty="0">
                <a:solidFill>
                  <a:srgbClr val="C00000"/>
                </a:solidFill>
                <a:latin typeface="微软雅黑" pitchFamily="34" charset="-122"/>
                <a:ea typeface="微软雅黑" pitchFamily="34" charset="-122"/>
              </a:rPr>
              <a:t>网络</a:t>
            </a:r>
            <a:r>
              <a:rPr lang="zh-CN" altLang="en-US" sz="2000" b="1" dirty="0">
                <a:latin typeface="微软雅黑" pitchFamily="34" charset="-122"/>
                <a:ea typeface="微软雅黑" pitchFamily="34" charset="-122"/>
              </a:rPr>
              <a:t>还是</a:t>
            </a:r>
            <a:r>
              <a:rPr lang="zh-CN" altLang="en-US" sz="2000" b="1" dirty="0">
                <a:solidFill>
                  <a:srgbClr val="C00000"/>
                </a:solidFill>
                <a:latin typeface="微软雅黑" pitchFamily="34" charset="-122"/>
                <a:ea typeface="微软雅黑" pitchFamily="34" charset="-122"/>
              </a:rPr>
              <a:t>端系统？</a:t>
            </a:r>
            <a:endParaRPr lang="en-US" altLang="zh-CN" sz="2000" b="1" dirty="0">
              <a:solidFill>
                <a:srgbClr val="C00000"/>
              </a:solidFill>
              <a:latin typeface="微软雅黑" pitchFamily="34" charset="-122"/>
              <a:ea typeface="微软雅黑" pitchFamily="34" charset="-122"/>
            </a:endParaRPr>
          </a:p>
        </p:txBody>
      </p:sp>
      <p:sp>
        <p:nvSpPr>
          <p:cNvPr id="5" name="Rectangle 8"/>
          <p:cNvSpPr>
            <a:spLocks noChangeArrowheads="1"/>
          </p:cNvSpPr>
          <p:nvPr/>
        </p:nvSpPr>
        <p:spPr bwMode="auto">
          <a:xfrm>
            <a:off x="466346" y="2358122"/>
            <a:ext cx="8129014"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000"/>
              </a:lnSpc>
              <a:buClr>
                <a:srgbClr val="0070C0"/>
              </a:buClr>
            </a:pPr>
            <a:r>
              <a:rPr lang="en-US" altLang="zh-CN" sz="2000" b="1" dirty="0">
                <a:solidFill>
                  <a:srgbClr val="0000FF"/>
                </a:solidFill>
                <a:latin typeface="微软雅黑" pitchFamily="34" charset="-122"/>
                <a:ea typeface="微软雅黑" pitchFamily="34" charset="-122"/>
              </a:rPr>
              <a:t>2 </a:t>
            </a:r>
            <a:r>
              <a:rPr lang="zh-CN" altLang="en-US" sz="2000" b="1" dirty="0">
                <a:solidFill>
                  <a:srgbClr val="0000FF"/>
                </a:solidFill>
                <a:latin typeface="微软雅黑" pitchFamily="34" charset="-122"/>
                <a:ea typeface="微软雅黑" pitchFamily="34" charset="-122"/>
              </a:rPr>
              <a:t>种观点：</a:t>
            </a:r>
            <a:endParaRPr lang="en-US" altLang="zh-CN" sz="2000" b="1" dirty="0">
              <a:solidFill>
                <a:srgbClr val="0000FF"/>
              </a:solidFill>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面向连接的可靠交付。</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无连接的、尽最大努力交付的数据报服务，不提供服务质量的承诺。</a:t>
            </a:r>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43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55182" y="593221"/>
            <a:ext cx="3852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一种观点：让网络负责可靠交付</a:t>
            </a:r>
          </a:p>
        </p:txBody>
      </p:sp>
      <p:sp>
        <p:nvSpPr>
          <p:cNvPr id="7" name="Rectangle 68"/>
          <p:cNvSpPr>
            <a:spLocks noChangeArrowheads="1"/>
          </p:cNvSpPr>
          <p:nvPr/>
        </p:nvSpPr>
        <p:spPr bwMode="auto">
          <a:xfrm>
            <a:off x="556963" y="995747"/>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计算机网络</a:t>
            </a:r>
            <a:r>
              <a:rPr lang="zh-CN" altLang="en-US" sz="2000" b="1" dirty="0">
                <a:solidFill>
                  <a:srgbClr val="0000FF"/>
                </a:solidFill>
                <a:latin typeface="微软雅黑" pitchFamily="34" charset="-122"/>
                <a:ea typeface="微软雅黑" pitchFamily="34" charset="-122"/>
              </a:rPr>
              <a:t>模仿电信网络，</a:t>
            </a:r>
            <a:r>
              <a:rPr lang="zh-CN" altLang="en-US" sz="2000" b="1" dirty="0">
                <a:latin typeface="微软雅黑" pitchFamily="34" charset="-122"/>
                <a:ea typeface="微软雅黑" pitchFamily="34" charset="-122"/>
              </a:rPr>
              <a:t>使用</a:t>
            </a:r>
            <a:r>
              <a:rPr lang="zh-CN" altLang="en-US" sz="2000" b="1" dirty="0">
                <a:solidFill>
                  <a:srgbClr val="0000FF"/>
                </a:solidFill>
                <a:latin typeface="微软雅黑" pitchFamily="34" charset="-122"/>
                <a:ea typeface="微软雅黑" pitchFamily="34" charset="-122"/>
              </a:rPr>
              <a:t>面向连接</a:t>
            </a:r>
            <a:r>
              <a:rPr lang="zh-CN" altLang="en-US" sz="2000" b="1" dirty="0">
                <a:latin typeface="微软雅黑" pitchFamily="34" charset="-122"/>
                <a:ea typeface="微软雅黑" pitchFamily="34" charset="-122"/>
              </a:rPr>
              <a:t>的通信方式。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通信之前先建立</a:t>
            </a:r>
            <a:r>
              <a:rPr lang="zh-CN" altLang="en-US" sz="2000" b="1" dirty="0">
                <a:solidFill>
                  <a:srgbClr val="0000FF"/>
                </a:solidFill>
                <a:latin typeface="微软雅黑" pitchFamily="34" charset="-122"/>
                <a:ea typeface="微软雅黑" pitchFamily="34" charset="-122"/>
              </a:rPr>
              <a:t>虚电路 </a:t>
            </a:r>
            <a:r>
              <a:rPr lang="en-US" altLang="zh-CN" sz="2000" b="1" dirty="0">
                <a:solidFill>
                  <a:srgbClr val="0000FF"/>
                </a:solidFill>
                <a:latin typeface="微软雅黑" pitchFamily="34" charset="-122"/>
                <a:ea typeface="微软雅黑" pitchFamily="34" charset="-122"/>
              </a:rPr>
              <a:t>VC</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(Virtual Circuit) (</a:t>
            </a:r>
            <a:r>
              <a:rPr lang="zh-CN" altLang="en-US" sz="2000" b="1" dirty="0">
                <a:latin typeface="微软雅黑" pitchFamily="34" charset="-122"/>
                <a:ea typeface="微软雅黑" pitchFamily="34" charset="-122"/>
              </a:rPr>
              <a:t>即连接</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，以保证双方通信所需的一切网络资源。 </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如果再使用</a:t>
            </a:r>
            <a:r>
              <a:rPr lang="zh-CN" altLang="en-US" sz="2000" b="1" dirty="0">
                <a:solidFill>
                  <a:srgbClr val="C00000"/>
                </a:solidFill>
                <a:latin typeface="微软雅黑" pitchFamily="34" charset="-122"/>
                <a:ea typeface="微软雅黑" pitchFamily="34" charset="-122"/>
              </a:rPr>
              <a:t>可靠传输</a:t>
            </a:r>
            <a:r>
              <a:rPr lang="zh-CN" altLang="en-US" sz="2000" b="1" dirty="0">
                <a:latin typeface="微软雅黑" pitchFamily="34" charset="-122"/>
                <a:ea typeface="微软雅黑" pitchFamily="34" charset="-122"/>
              </a:rPr>
              <a:t>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圆角矩形 10"/>
          <p:cNvSpPr/>
          <p:nvPr/>
        </p:nvSpPr>
        <p:spPr>
          <a:xfrm>
            <a:off x="545144" y="1048114"/>
            <a:ext cx="8053711" cy="2669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9" name="AutoShape 5"/>
          <p:cNvSpPr>
            <a:spLocks noChangeArrowheads="1"/>
          </p:cNvSpPr>
          <p:nvPr/>
        </p:nvSpPr>
        <p:spPr bwMode="auto">
          <a:xfrm>
            <a:off x="545144" y="630799"/>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 name="Rectangle 6"/>
          <p:cNvSpPr>
            <a:spLocks noChangeArrowheads="1"/>
          </p:cNvSpPr>
          <p:nvPr/>
        </p:nvSpPr>
        <p:spPr bwMode="auto">
          <a:xfrm>
            <a:off x="3829821" y="607709"/>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a:t>
            </a: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3329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565414" y="600079"/>
            <a:ext cx="403187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另一种观点：网络提供数据报服务</a:t>
            </a:r>
          </a:p>
        </p:txBody>
      </p:sp>
      <p:sp>
        <p:nvSpPr>
          <p:cNvPr id="8" name="Rectangle 68"/>
          <p:cNvSpPr>
            <a:spLocks noChangeArrowheads="1"/>
          </p:cNvSpPr>
          <p:nvPr/>
        </p:nvSpPr>
        <p:spPr bwMode="auto">
          <a:xfrm>
            <a:off x="556963" y="985348"/>
            <a:ext cx="8048776" cy="37087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300"/>
              </a:lnSpc>
              <a:buClr>
                <a:srgbClr val="0070C0"/>
              </a:buClr>
            </a:pPr>
            <a:r>
              <a:rPr lang="zh-CN" altLang="en-US" sz="2000" b="1" dirty="0">
                <a:solidFill>
                  <a:srgbClr val="0000FF"/>
                </a:solidFill>
                <a:latin typeface="微软雅黑" pitchFamily="34" charset="-122"/>
                <a:ea typeface="微软雅黑" pitchFamily="34" charset="-122"/>
              </a:rPr>
              <a:t>互联网采用的设计思路：</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网络层</a:t>
            </a:r>
            <a:r>
              <a:rPr lang="zh-CN" altLang="en-US" sz="2000" b="1" dirty="0">
                <a:latin typeface="微软雅黑" pitchFamily="34" charset="-122"/>
                <a:ea typeface="微软雅黑" pitchFamily="34" charset="-122"/>
              </a:rPr>
              <a:t>要设计得尽量</a:t>
            </a:r>
            <a:r>
              <a:rPr lang="zh-CN" altLang="en-US" sz="2000" b="1" dirty="0">
                <a:solidFill>
                  <a:srgbClr val="C00000"/>
                </a:solidFill>
                <a:latin typeface="微软雅黑" pitchFamily="34" charset="-122"/>
                <a:ea typeface="微软雅黑" pitchFamily="34" charset="-122"/>
              </a:rPr>
              <a:t>简单，</a:t>
            </a:r>
            <a:r>
              <a:rPr lang="zh-CN" altLang="en-US" sz="2000" b="1" dirty="0">
                <a:latin typeface="微软雅黑" pitchFamily="34" charset="-122"/>
                <a:ea typeface="微软雅黑" pitchFamily="34" charset="-122"/>
              </a:rPr>
              <a:t>向其上层只提供简单灵活的、</a:t>
            </a:r>
            <a:r>
              <a:rPr lang="zh-CN" altLang="en-US" sz="2000" b="1" dirty="0">
                <a:solidFill>
                  <a:srgbClr val="C00000"/>
                </a:solidFill>
                <a:latin typeface="微软雅黑" pitchFamily="34" charset="-122"/>
                <a:ea typeface="微软雅黑" pitchFamily="34" charset="-122"/>
              </a:rPr>
              <a:t>无连接的、</a:t>
            </a:r>
            <a:r>
              <a:rPr lang="zh-CN" altLang="en-US" sz="2000" b="1" dirty="0">
                <a:latin typeface="微软雅黑" pitchFamily="34" charset="-122"/>
                <a:ea typeface="微软雅黑" pitchFamily="34" charset="-122"/>
              </a:rPr>
              <a:t>尽最大努力交付的</a:t>
            </a:r>
            <a:r>
              <a:rPr lang="zh-CN" altLang="en-US" sz="2000" b="1" dirty="0">
                <a:solidFill>
                  <a:srgbClr val="C00000"/>
                </a:solidFill>
                <a:latin typeface="微软雅黑" pitchFamily="34" charset="-122"/>
                <a:ea typeface="微软雅黑" pitchFamily="34" charset="-122"/>
              </a:rPr>
              <a:t>数据报服务。</a:t>
            </a: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网络在发送分组时不需要先建立连接。</a:t>
            </a:r>
            <a:endParaRPr lang="en-US" altLang="zh-CN" sz="2000" b="1" dirty="0">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每一个分组（即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数据报）独立发送，与其前后的分组无关（不进行编号）。</a:t>
            </a: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网络层不提供服务质量的承诺。即所传送的分组可能出错、丢失、重复和失序（不按序到达终点），也不保证分组传送的时限。</a:t>
            </a:r>
            <a:endParaRPr lang="en-US" altLang="zh-CN" sz="2000" b="1" dirty="0">
              <a:latin typeface="微软雅黑" pitchFamily="34" charset="-122"/>
              <a:ea typeface="微软雅黑" pitchFamily="34" charset="-122"/>
            </a:endParaRPr>
          </a:p>
          <a:p>
            <a:pPr marL="268288" indent="-268288">
              <a:lnSpc>
                <a:spcPts val="3300"/>
              </a:lnSpc>
              <a:buClr>
                <a:srgbClr val="0070C0"/>
              </a:buClr>
              <a:buSzPct val="75000"/>
              <a:buFont typeface="Wingdings" pitchFamily="2" charset="2"/>
              <a:buChar char="l"/>
            </a:pPr>
            <a:r>
              <a:rPr lang="zh-CN" altLang="en-US" sz="2000" b="1" dirty="0">
                <a:latin typeface="微软雅黑" pitchFamily="34" charset="-122"/>
                <a:ea typeface="微软雅黑" pitchFamily="34" charset="-122"/>
              </a:rPr>
              <a:t>由主机中的</a:t>
            </a:r>
            <a:r>
              <a:rPr lang="zh-CN" altLang="en-US" sz="2000" b="1" dirty="0">
                <a:solidFill>
                  <a:srgbClr val="C00000"/>
                </a:solidFill>
                <a:latin typeface="微软雅黑" pitchFamily="34" charset="-122"/>
                <a:ea typeface="微软雅黑" pitchFamily="34" charset="-122"/>
              </a:rPr>
              <a:t>运输层</a:t>
            </a:r>
            <a:r>
              <a:rPr lang="zh-CN" altLang="en-US" sz="2000" b="1" dirty="0">
                <a:latin typeface="微软雅黑" pitchFamily="34" charset="-122"/>
                <a:ea typeface="微软雅黑" pitchFamily="34" charset="-122"/>
              </a:rPr>
              <a:t>负责可靠的通信。 </a:t>
            </a:r>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4" y="1048114"/>
            <a:ext cx="8053711" cy="292003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AutoShape 5"/>
          <p:cNvSpPr>
            <a:spLocks noChangeArrowheads="1"/>
          </p:cNvSpPr>
          <p:nvPr/>
        </p:nvSpPr>
        <p:spPr bwMode="auto">
          <a:xfrm>
            <a:off x="545144" y="630799"/>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p:cNvSpPr>
            <a:spLocks noChangeArrowheads="1"/>
          </p:cNvSpPr>
          <p:nvPr/>
        </p:nvSpPr>
        <p:spPr bwMode="auto">
          <a:xfrm>
            <a:off x="3829820" y="607709"/>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zh-CN" sz="2000" b="1" dirty="0">
                <a:solidFill>
                  <a:schemeClr val="bg1"/>
                </a:solidFill>
                <a:ea typeface="微软雅黑" pitchFamily="34" charset="-122"/>
              </a:rPr>
              <a:t>数据报服务</a:t>
            </a:r>
            <a:endParaRPr lang="zh-CN" altLang="en-US" sz="2000" b="1" dirty="0">
              <a:solidFill>
                <a:schemeClr val="bg1"/>
              </a:solidFill>
              <a:ea typeface="微软雅黑" pitchFamily="34" charset="-122"/>
            </a:endParaRPr>
          </a:p>
        </p:txBody>
      </p:sp>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9"/>
          <p:cNvSpPr>
            <a:spLocks noChangeArrowheads="1"/>
          </p:cNvSpPr>
          <p:nvPr/>
        </p:nvSpPr>
        <p:spPr bwMode="auto">
          <a:xfrm>
            <a:off x="2629135" y="123377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5" name="Rectangle 10"/>
          <p:cNvSpPr>
            <a:spLocks noChangeArrowheads="1"/>
          </p:cNvSpPr>
          <p:nvPr/>
        </p:nvSpPr>
        <p:spPr bwMode="auto">
          <a:xfrm>
            <a:off x="2629135" y="184019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8" name="Rectangle 8"/>
          <p:cNvSpPr>
            <a:spLocks noChangeArrowheads="1"/>
          </p:cNvSpPr>
          <p:nvPr/>
        </p:nvSpPr>
        <p:spPr bwMode="auto">
          <a:xfrm>
            <a:off x="2700573" y="1199227"/>
            <a:ext cx="557429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4.4.1                                   ICMP </a:t>
            </a:r>
            <a:r>
              <a:rPr lang="zh-CN" altLang="en-US" sz="2000" b="1" dirty="0">
                <a:solidFill>
                  <a:schemeClr val="bg1"/>
                </a:solidFill>
                <a:latin typeface="微软雅黑" pitchFamily="34" charset="-122"/>
                <a:ea typeface="微软雅黑" pitchFamily="34" charset="-122"/>
              </a:rPr>
              <a:t>报文的种类</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4.4.2                                   ICMP </a:t>
            </a:r>
            <a:r>
              <a:rPr lang="zh-CN" altLang="en-US" sz="2000" b="1" dirty="0">
                <a:solidFill>
                  <a:schemeClr val="bg1"/>
                </a:solidFill>
                <a:latin typeface="微软雅黑" pitchFamily="34" charset="-122"/>
                <a:ea typeface="微软雅黑" pitchFamily="34" charset="-122"/>
              </a:rPr>
              <a:t>的应用举例</a:t>
            </a:r>
          </a:p>
        </p:txBody>
      </p:sp>
      <p:sp>
        <p:nvSpPr>
          <p:cNvPr id="39" name="Rectangle 27"/>
          <p:cNvSpPr>
            <a:spLocks noChangeArrowheads="1"/>
          </p:cNvSpPr>
          <p:nvPr/>
        </p:nvSpPr>
        <p:spPr bwMode="auto">
          <a:xfrm>
            <a:off x="639730" y="123377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40" name="Rectangle 29"/>
          <p:cNvSpPr>
            <a:spLocks noChangeArrowheads="1"/>
          </p:cNvSpPr>
          <p:nvPr/>
        </p:nvSpPr>
        <p:spPr bwMode="auto">
          <a:xfrm>
            <a:off x="648619" y="1328703"/>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4.4</a:t>
            </a:r>
          </a:p>
          <a:p>
            <a:r>
              <a:rPr lang="zh-CN" altLang="en-US" sz="2000" b="1" dirty="0">
                <a:solidFill>
                  <a:schemeClr val="bg1"/>
                </a:solidFill>
                <a:latin typeface="微软雅黑" pitchFamily="34" charset="-122"/>
                <a:ea typeface="微软雅黑" pitchFamily="34" charset="-122"/>
              </a:rPr>
              <a:t>网际控制</a:t>
            </a:r>
            <a:endParaRPr lang="en-US" altLang="zh-CN" sz="2000" b="1" dirty="0">
              <a:solidFill>
                <a:schemeClr val="bg1"/>
              </a:solidFill>
              <a:latin typeface="微软雅黑" pitchFamily="34" charset="-122"/>
              <a:ea typeface="微软雅黑" pitchFamily="34" charset="-122"/>
            </a:endParaRPr>
          </a:p>
          <a:p>
            <a:r>
              <a:rPr lang="zh-CN" altLang="en-US" sz="2000" b="1" dirty="0">
                <a:solidFill>
                  <a:schemeClr val="bg1"/>
                </a:solidFill>
                <a:latin typeface="微软雅黑" pitchFamily="34" charset="-122"/>
                <a:ea typeface="微软雅黑" pitchFamily="34" charset="-122"/>
              </a:rPr>
              <a:t>报文协议 </a:t>
            </a:r>
            <a:r>
              <a:rPr lang="en-US" altLang="zh-CN" sz="2000" b="1" dirty="0">
                <a:solidFill>
                  <a:schemeClr val="bg1"/>
                </a:solidFill>
                <a:latin typeface="微软雅黑" pitchFamily="34" charset="-122"/>
                <a:ea typeface="微软雅黑" pitchFamily="34" charset="-122"/>
              </a:rPr>
              <a:t>ICMP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17216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77859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639730" y="117216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648619" y="1267101"/>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a:t>
            </a:r>
            <a:r>
              <a:rPr lang="en-US" altLang="zh-CN" sz="2000" b="1" dirty="0">
                <a:solidFill>
                  <a:srgbClr val="FFFF00"/>
                </a:solidFill>
                <a:latin typeface="微软雅黑" pitchFamily="34" charset="-122"/>
                <a:ea typeface="微软雅黑" pitchFamily="34" charset="-122"/>
              </a:rPr>
              <a:t>5</a:t>
            </a:r>
            <a:endParaRPr lang="fr-FR" altLang="zh-CN" sz="2000" b="1" dirty="0">
              <a:solidFill>
                <a:srgbClr val="FFFF00"/>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IPv6</a:t>
            </a:r>
            <a:endParaRPr lang="zh-CN" altLang="en-US" sz="2000" b="1" dirty="0">
              <a:solidFill>
                <a:schemeClr val="bg1"/>
              </a:solidFill>
              <a:latin typeface="微软雅黑" pitchFamily="34" charset="-122"/>
              <a:ea typeface="微软雅黑" pitchFamily="34" charset="-122"/>
            </a:endParaRPr>
          </a:p>
        </p:txBody>
      </p:sp>
      <p:sp>
        <p:nvSpPr>
          <p:cNvPr id="6" name="Rectangle 9"/>
          <p:cNvSpPr>
            <a:spLocks noChangeArrowheads="1"/>
          </p:cNvSpPr>
          <p:nvPr/>
        </p:nvSpPr>
        <p:spPr bwMode="auto">
          <a:xfrm>
            <a:off x="2629135" y="239180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99823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091496"/>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137625"/>
            <a:ext cx="5621391"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4.5.1                                     IPv6 </a:t>
            </a:r>
            <a:r>
              <a:rPr lang="zh-CN" altLang="en-US" sz="2000" b="1" dirty="0">
                <a:solidFill>
                  <a:schemeClr val="bg1"/>
                </a:solidFill>
                <a:latin typeface="微软雅黑" pitchFamily="34" charset="-122"/>
                <a:ea typeface="微软雅黑" pitchFamily="34" charset="-122"/>
              </a:rPr>
              <a:t>的基本首部</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4.5.2                                            IPv6 </a:t>
            </a:r>
            <a:r>
              <a:rPr lang="zh-CN" altLang="en-US" sz="2000" b="1" dirty="0">
                <a:solidFill>
                  <a:schemeClr val="bg1"/>
                </a:solidFill>
                <a:latin typeface="微软雅黑" pitchFamily="34" charset="-122"/>
                <a:ea typeface="微软雅黑" pitchFamily="34" charset="-122"/>
              </a:rPr>
              <a:t>的地址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4.5.3                              </a:t>
            </a:r>
            <a:r>
              <a:rPr lang="zh-CN" altLang="en-US" sz="2000" b="1" dirty="0">
                <a:solidFill>
                  <a:schemeClr val="bg1"/>
                </a:solidFill>
                <a:latin typeface="微软雅黑" pitchFamily="34" charset="-122"/>
                <a:ea typeface="微软雅黑" pitchFamily="34" charset="-122"/>
              </a:rPr>
              <a:t>从 </a:t>
            </a:r>
            <a:r>
              <a:rPr lang="en-US" altLang="zh-CN" sz="2000" b="1" dirty="0">
                <a:solidFill>
                  <a:schemeClr val="bg1"/>
                </a:solidFill>
                <a:latin typeface="微软雅黑" pitchFamily="34" charset="-122"/>
                <a:ea typeface="微软雅黑" pitchFamily="34" charset="-122"/>
              </a:rPr>
              <a:t>IPv4 </a:t>
            </a:r>
            <a:r>
              <a:rPr lang="zh-CN" altLang="en-US" sz="2000" b="1" dirty="0">
                <a:solidFill>
                  <a:schemeClr val="bg1"/>
                </a:solidFill>
                <a:latin typeface="微软雅黑" pitchFamily="34" charset="-122"/>
                <a:ea typeface="微软雅黑" pitchFamily="34" charset="-122"/>
              </a:rPr>
              <a:t>向 </a:t>
            </a:r>
            <a:r>
              <a:rPr lang="en-US" altLang="zh-CN" sz="2000" b="1" dirty="0">
                <a:solidFill>
                  <a:schemeClr val="bg1"/>
                </a:solidFill>
                <a:latin typeface="微软雅黑" pitchFamily="34" charset="-122"/>
                <a:ea typeface="微软雅黑" pitchFamily="34" charset="-122"/>
              </a:rPr>
              <a:t>IPv6 </a:t>
            </a:r>
            <a:r>
              <a:rPr lang="zh-CN" altLang="en-US" sz="2000" b="1" dirty="0">
                <a:solidFill>
                  <a:schemeClr val="bg1"/>
                </a:solidFill>
                <a:latin typeface="微软雅黑" pitchFamily="34" charset="-122"/>
                <a:ea typeface="微软雅黑" pitchFamily="34" charset="-122"/>
              </a:rPr>
              <a:t>过渡</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4.5.4                                                 ICMPv6</a:t>
            </a:r>
          </a:p>
        </p:txBody>
      </p:sp>
    </p:spTree>
    <p:extLst>
      <p:ext uri="{BB962C8B-B14F-4D97-AF65-F5344CB8AC3E}">
        <p14:creationId xmlns:p14="http://schemas.microsoft.com/office/powerpoint/2010/main" val="1228854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05890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66533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27"/>
          <p:cNvSpPr>
            <a:spLocks noChangeArrowheads="1"/>
          </p:cNvSpPr>
          <p:nvPr/>
        </p:nvSpPr>
        <p:spPr bwMode="auto">
          <a:xfrm>
            <a:off x="639730" y="105890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15384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a:t>
            </a:r>
            <a:r>
              <a:rPr lang="en-US" altLang="zh-CN" sz="2000" b="1" dirty="0">
                <a:solidFill>
                  <a:srgbClr val="FFFF00"/>
                </a:solidFill>
                <a:latin typeface="微软雅黑" pitchFamily="34" charset="-122"/>
                <a:ea typeface="微软雅黑" pitchFamily="34" charset="-122"/>
              </a:rPr>
              <a:t>6</a:t>
            </a:r>
            <a:endParaRPr lang="fr-FR" altLang="zh-CN" sz="2000" b="1" dirty="0">
              <a:solidFill>
                <a:srgbClr val="FFFF00"/>
              </a:solidFill>
              <a:latin typeface="微软雅黑" pitchFamily="34" charset="-122"/>
              <a:ea typeface="微软雅黑" pitchFamily="34" charset="-122"/>
            </a:endParaRPr>
          </a:p>
          <a:p>
            <a:r>
              <a:rPr lang="zh-CN" altLang="en-US" sz="2000" b="1" dirty="0">
                <a:solidFill>
                  <a:schemeClr val="bg1"/>
                </a:solidFill>
                <a:latin typeface="微软雅黑" pitchFamily="34" charset="-122"/>
                <a:ea typeface="微软雅黑" pitchFamily="34" charset="-122"/>
              </a:rPr>
              <a:t>互连网的路由选择协议</a:t>
            </a:r>
          </a:p>
        </p:txBody>
      </p:sp>
      <p:sp>
        <p:nvSpPr>
          <p:cNvPr id="8" name="Rectangle 9"/>
          <p:cNvSpPr>
            <a:spLocks noChangeArrowheads="1"/>
          </p:cNvSpPr>
          <p:nvPr/>
        </p:nvSpPr>
        <p:spPr bwMode="auto">
          <a:xfrm>
            <a:off x="2629135" y="22785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Rectangle 10"/>
          <p:cNvSpPr>
            <a:spLocks noChangeArrowheads="1"/>
          </p:cNvSpPr>
          <p:nvPr/>
        </p:nvSpPr>
        <p:spPr bwMode="auto">
          <a:xfrm>
            <a:off x="2629135" y="28849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9"/>
          <p:cNvSpPr>
            <a:spLocks noChangeArrowheads="1"/>
          </p:cNvSpPr>
          <p:nvPr/>
        </p:nvSpPr>
        <p:spPr bwMode="auto">
          <a:xfrm>
            <a:off x="2629135" y="349453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987472"/>
            <a:ext cx="0" cy="2963298"/>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8"/>
          <p:cNvSpPr>
            <a:spLocks noChangeArrowheads="1"/>
          </p:cNvSpPr>
          <p:nvPr/>
        </p:nvSpPr>
        <p:spPr bwMode="auto">
          <a:xfrm>
            <a:off x="2700573" y="1024365"/>
            <a:ext cx="5574294"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4.6.1            </a:t>
            </a:r>
            <a:r>
              <a:rPr lang="zh-CN" altLang="en-US" sz="2000" b="1" dirty="0">
                <a:solidFill>
                  <a:schemeClr val="bg1"/>
                </a:solidFill>
                <a:latin typeface="微软雅黑" pitchFamily="34" charset="-122"/>
                <a:ea typeface="微软雅黑" pitchFamily="34" charset="-122"/>
              </a:rPr>
              <a:t>有关路由选择协议的几个基本概念</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4.6.2                                   </a:t>
            </a:r>
            <a:r>
              <a:rPr lang="zh-CN" altLang="en-US" sz="2000" b="1" dirty="0">
                <a:solidFill>
                  <a:schemeClr val="bg1"/>
                </a:solidFill>
                <a:latin typeface="微软雅黑" pitchFamily="34" charset="-122"/>
                <a:ea typeface="微软雅黑" pitchFamily="34" charset="-122"/>
              </a:rPr>
              <a:t>内部网关协议 </a:t>
            </a:r>
            <a:r>
              <a:rPr lang="en-US" altLang="zh-CN" sz="2000" b="1" dirty="0">
                <a:solidFill>
                  <a:schemeClr val="bg1"/>
                </a:solidFill>
                <a:latin typeface="微软雅黑" pitchFamily="34" charset="-122"/>
                <a:ea typeface="微软雅黑" pitchFamily="34" charset="-122"/>
              </a:rPr>
              <a:t>RIP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4.6.3                                </a:t>
            </a:r>
            <a:r>
              <a:rPr lang="zh-CN" altLang="en-US" sz="2000" b="1" dirty="0">
                <a:solidFill>
                  <a:schemeClr val="bg1"/>
                </a:solidFill>
                <a:latin typeface="微软雅黑" pitchFamily="34" charset="-122"/>
                <a:ea typeface="微软雅黑" pitchFamily="34" charset="-122"/>
              </a:rPr>
              <a:t>内部网关协议 </a:t>
            </a:r>
            <a:r>
              <a:rPr lang="en-US" altLang="zh-CN" sz="2000" b="1" dirty="0">
                <a:solidFill>
                  <a:schemeClr val="bg1"/>
                </a:solidFill>
                <a:latin typeface="微软雅黑" pitchFamily="34" charset="-122"/>
                <a:ea typeface="微软雅黑" pitchFamily="34" charset="-122"/>
              </a:rPr>
              <a:t>OSPF</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4.6.4                                  </a:t>
            </a:r>
            <a:r>
              <a:rPr lang="zh-CN" altLang="en-US" sz="2000" b="1" dirty="0">
                <a:solidFill>
                  <a:schemeClr val="bg1"/>
                </a:solidFill>
                <a:latin typeface="微软雅黑" pitchFamily="34" charset="-122"/>
                <a:ea typeface="微软雅黑" pitchFamily="34" charset="-122"/>
              </a:rPr>
              <a:t>外部网关协议 </a:t>
            </a:r>
            <a:r>
              <a:rPr lang="en-US" altLang="zh-CN" sz="2000" b="1" dirty="0">
                <a:solidFill>
                  <a:schemeClr val="bg1"/>
                </a:solidFill>
                <a:latin typeface="微软雅黑" pitchFamily="34" charset="-122"/>
                <a:ea typeface="微软雅黑" pitchFamily="34" charset="-122"/>
              </a:rPr>
              <a:t>BGP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4.6.5                                          </a:t>
            </a:r>
            <a:r>
              <a:rPr lang="zh-CN" altLang="en-US" sz="2000" b="1" dirty="0">
                <a:solidFill>
                  <a:schemeClr val="bg1"/>
                </a:solidFill>
                <a:latin typeface="微软雅黑" pitchFamily="34" charset="-122"/>
                <a:ea typeface="微软雅黑" pitchFamily="34" charset="-122"/>
              </a:rPr>
              <a:t>路由器的构成</a:t>
            </a:r>
          </a:p>
        </p:txBody>
      </p:sp>
    </p:spTree>
    <p:extLst>
      <p:ext uri="{BB962C8B-B14F-4D97-AF65-F5344CB8AC3E}">
        <p14:creationId xmlns:p14="http://schemas.microsoft.com/office/powerpoint/2010/main" val="12880163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222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787698" y="572569"/>
            <a:ext cx="35686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4.6.2  </a:t>
            </a:r>
            <a:r>
              <a:rPr lang="zh-CN" altLang="en-US" sz="2400" b="1" dirty="0">
                <a:solidFill>
                  <a:schemeClr val="bg1"/>
                </a:solidFill>
                <a:latin typeface="微软雅黑" pitchFamily="34" charset="-122"/>
                <a:ea typeface="微软雅黑" pitchFamily="34" charset="-122"/>
              </a:rPr>
              <a:t>内部网关协议 </a:t>
            </a:r>
            <a:r>
              <a:rPr lang="en-US" altLang="zh-CN" sz="2400" b="1" dirty="0">
                <a:solidFill>
                  <a:schemeClr val="bg1"/>
                </a:solidFill>
                <a:latin typeface="微软雅黑" pitchFamily="34" charset="-122"/>
                <a:ea typeface="微软雅黑" pitchFamily="34" charset="-122"/>
              </a:rPr>
              <a:t>RIP</a:t>
            </a:r>
            <a:endParaRPr lang="zh-CN" altLang="en-US" sz="2400" b="1" dirty="0">
              <a:solidFill>
                <a:schemeClr val="bg1"/>
              </a:solidFill>
              <a:latin typeface="微软雅黑" pitchFamily="34" charset="-122"/>
              <a:ea typeface="微软雅黑" pitchFamily="34" charset="-122"/>
            </a:endParaRPr>
          </a:p>
        </p:txBody>
      </p:sp>
      <p:grpSp>
        <p:nvGrpSpPr>
          <p:cNvPr id="28" name="组合 27"/>
          <p:cNvGrpSpPr/>
          <p:nvPr/>
        </p:nvGrpSpPr>
        <p:grpSpPr>
          <a:xfrm>
            <a:off x="1442748" y="1258813"/>
            <a:ext cx="6258503" cy="2809692"/>
            <a:chOff x="1113847" y="1369650"/>
            <a:chExt cx="6258503" cy="2809692"/>
          </a:xfrm>
        </p:grpSpPr>
        <p:sp>
          <p:nvSpPr>
            <p:cNvPr id="8" name="矩形 7"/>
            <p:cNvSpPr/>
            <p:nvPr/>
          </p:nvSpPr>
          <p:spPr>
            <a:xfrm>
              <a:off x="3408795" y="1369650"/>
              <a:ext cx="2540000" cy="424873"/>
            </a:xfrm>
            <a:prstGeom prst="rect">
              <a:avLst/>
            </a:prstGeom>
            <a:solidFill>
              <a:srgbClr val="009900"/>
            </a:solidFill>
            <a:ln w="1905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latin typeface="微软雅黑" panose="020B0503020204020204" pitchFamily="34" charset="-122"/>
                  <a:ea typeface="微软雅黑" panose="020B0503020204020204" pitchFamily="34" charset="-122"/>
                </a:rPr>
                <a:t>互联网路由选择协议</a:t>
              </a:r>
            </a:p>
          </p:txBody>
        </p:sp>
        <p:sp>
          <p:nvSpPr>
            <p:cNvPr id="10" name="矩形 9"/>
            <p:cNvSpPr/>
            <p:nvPr/>
          </p:nvSpPr>
          <p:spPr>
            <a:xfrm>
              <a:off x="2156303" y="2239529"/>
              <a:ext cx="1802444" cy="424873"/>
            </a:xfrm>
            <a:prstGeom prst="rect">
              <a:avLst/>
            </a:prstGeom>
            <a:solidFill>
              <a:srgbClr val="0099CC"/>
            </a:solidFill>
            <a:ln w="1905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latin typeface="微软雅黑" panose="020B0503020204020204" pitchFamily="34" charset="-122"/>
                  <a:ea typeface="微软雅黑" panose="020B0503020204020204" pitchFamily="34" charset="-122"/>
                </a:rPr>
                <a:t>域内路由选择</a:t>
              </a:r>
            </a:p>
          </p:txBody>
        </p:sp>
        <p:sp>
          <p:nvSpPr>
            <p:cNvPr id="11" name="矩形 10"/>
            <p:cNvSpPr/>
            <p:nvPr/>
          </p:nvSpPr>
          <p:spPr>
            <a:xfrm>
              <a:off x="5569906" y="2239530"/>
              <a:ext cx="1802444" cy="424873"/>
            </a:xfrm>
            <a:prstGeom prst="rect">
              <a:avLst/>
            </a:prstGeom>
            <a:solidFill>
              <a:srgbClr val="0099CC"/>
            </a:solidFill>
            <a:ln w="1905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latin typeface="微软雅黑" panose="020B0503020204020204" pitchFamily="34" charset="-122"/>
                  <a:ea typeface="微软雅黑" panose="020B0503020204020204" pitchFamily="34" charset="-122"/>
                </a:rPr>
                <a:t>域间路由选择</a:t>
              </a:r>
            </a:p>
          </p:txBody>
        </p:sp>
        <p:sp>
          <p:nvSpPr>
            <p:cNvPr id="12" name="矩形 11"/>
            <p:cNvSpPr/>
            <p:nvPr/>
          </p:nvSpPr>
          <p:spPr>
            <a:xfrm>
              <a:off x="1113847" y="3109407"/>
              <a:ext cx="1802444" cy="670653"/>
            </a:xfrm>
            <a:prstGeom prst="rect">
              <a:avLst/>
            </a:prstGeom>
            <a:solidFill>
              <a:srgbClr val="CC6600"/>
            </a:solidFill>
            <a:ln w="1905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solidFill>
                    <a:srgbClr val="000099"/>
                  </a:solidFill>
                  <a:latin typeface="微软雅黑" panose="020B0503020204020204" pitchFamily="34" charset="-122"/>
                  <a:ea typeface="微软雅黑" panose="020B0503020204020204" pitchFamily="34" charset="-122"/>
                </a:rPr>
                <a:t>距离向量</a:t>
              </a:r>
              <a:endParaRPr lang="en-US" altLang="zh-CN" b="1" dirty="0">
                <a:solidFill>
                  <a:srgbClr val="000099"/>
                </a:solidFill>
                <a:latin typeface="微软雅黑" panose="020B0503020204020204" pitchFamily="34" charset="-122"/>
                <a:ea typeface="微软雅黑" panose="020B0503020204020204" pitchFamily="34" charset="-122"/>
              </a:endParaRPr>
            </a:p>
            <a:p>
              <a:pPr algn="ctr"/>
              <a:r>
                <a:rPr lang="en-US" altLang="zh-CN" sz="1400" b="1" dirty="0">
                  <a:solidFill>
                    <a:srgbClr val="000099"/>
                  </a:solidFill>
                  <a:latin typeface="微软雅黑" panose="020B0503020204020204" pitchFamily="34" charset="-122"/>
                  <a:ea typeface="微软雅黑" panose="020B0503020204020204" pitchFamily="34" charset="-122"/>
                </a:rPr>
                <a:t>(Distance Vector)</a:t>
              </a:r>
              <a:endParaRPr lang="zh-CN" altLang="en-US" sz="1400" b="1" dirty="0">
                <a:solidFill>
                  <a:srgbClr val="000099"/>
                </a:solidFill>
                <a:latin typeface="微软雅黑" panose="020B0503020204020204" pitchFamily="34" charset="-122"/>
                <a:ea typeface="微软雅黑" panose="020B0503020204020204" pitchFamily="34" charset="-122"/>
              </a:endParaRPr>
            </a:p>
          </p:txBody>
        </p:sp>
        <p:sp>
          <p:nvSpPr>
            <p:cNvPr id="13" name="矩形 12"/>
            <p:cNvSpPr/>
            <p:nvPr/>
          </p:nvSpPr>
          <p:spPr>
            <a:xfrm>
              <a:off x="3220430" y="3109408"/>
              <a:ext cx="1802444" cy="670653"/>
            </a:xfrm>
            <a:prstGeom prst="rect">
              <a:avLst/>
            </a:prstGeom>
            <a:solidFill>
              <a:srgbClr val="CC6600"/>
            </a:solidFill>
            <a:ln w="1905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latin typeface="微软雅黑" panose="020B0503020204020204" pitchFamily="34" charset="-122"/>
                  <a:ea typeface="微软雅黑" panose="020B0503020204020204" pitchFamily="34" charset="-122"/>
                </a:rPr>
                <a:t>链路状态</a:t>
              </a:r>
              <a:endParaRPr lang="en-US" altLang="zh-CN" b="1" dirty="0">
                <a:latin typeface="微软雅黑" panose="020B0503020204020204" pitchFamily="34" charset="-122"/>
                <a:ea typeface="微软雅黑" panose="020B0503020204020204" pitchFamily="34" charset="-122"/>
              </a:endParaRPr>
            </a:p>
            <a:p>
              <a:pPr algn="ctr"/>
              <a:r>
                <a:rPr lang="en-US" altLang="zh-CN" b="1" dirty="0">
                  <a:latin typeface="微软雅黑" panose="020B0503020204020204" pitchFamily="34" charset="-122"/>
                  <a:ea typeface="微软雅黑" panose="020B0503020204020204" pitchFamily="34" charset="-122"/>
                </a:rPr>
                <a:t>(Link State)</a:t>
              </a:r>
              <a:endParaRPr lang="zh-CN" altLang="en-US" b="1" dirty="0">
                <a:latin typeface="微软雅黑" panose="020B0503020204020204" pitchFamily="34" charset="-122"/>
                <a:ea typeface="微软雅黑" panose="020B0503020204020204" pitchFamily="34" charset="-122"/>
              </a:endParaRPr>
            </a:p>
          </p:txBody>
        </p:sp>
        <p:sp>
          <p:nvSpPr>
            <p:cNvPr id="14" name="矩形 13"/>
            <p:cNvSpPr/>
            <p:nvPr/>
          </p:nvSpPr>
          <p:spPr>
            <a:xfrm>
              <a:off x="5569907" y="3109408"/>
              <a:ext cx="1802443" cy="671608"/>
            </a:xfrm>
            <a:prstGeom prst="rect">
              <a:avLst/>
            </a:prstGeom>
            <a:solidFill>
              <a:srgbClr val="CC6600"/>
            </a:solidFill>
            <a:ln w="1905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latin typeface="微软雅黑" panose="020B0503020204020204" pitchFamily="34" charset="-122"/>
                  <a:ea typeface="微软雅黑" panose="020B0503020204020204" pitchFamily="34" charset="-122"/>
                </a:rPr>
                <a:t>路径向量</a:t>
              </a:r>
              <a:endParaRPr lang="en-US" altLang="zh-CN" b="1" dirty="0">
                <a:latin typeface="微软雅黑" panose="020B0503020204020204" pitchFamily="34" charset="-122"/>
                <a:ea typeface="微软雅黑" panose="020B0503020204020204" pitchFamily="34" charset="-122"/>
              </a:endParaRPr>
            </a:p>
            <a:p>
              <a:pPr algn="ctr"/>
              <a:r>
                <a:rPr lang="en-US" altLang="zh-CN" b="1" dirty="0">
                  <a:latin typeface="微软雅黑" panose="020B0503020204020204" pitchFamily="34" charset="-122"/>
                  <a:ea typeface="微软雅黑" panose="020B0503020204020204" pitchFamily="34" charset="-122"/>
                </a:rPr>
                <a:t>(path vector)</a:t>
              </a:r>
              <a:endParaRPr lang="zh-CN" altLang="en-US" b="1" dirty="0">
                <a:latin typeface="微软雅黑" panose="020B0503020204020204" pitchFamily="34" charset="-122"/>
                <a:ea typeface="微软雅黑" panose="020B0503020204020204" pitchFamily="34" charset="-122"/>
              </a:endParaRPr>
            </a:p>
          </p:txBody>
        </p:sp>
        <p:cxnSp>
          <p:nvCxnSpPr>
            <p:cNvPr id="15" name="直接连接符 14"/>
            <p:cNvCxnSpPr>
              <a:endCxn id="10" idx="0"/>
            </p:cNvCxnSpPr>
            <p:nvPr/>
          </p:nvCxnSpPr>
          <p:spPr>
            <a:xfrm flipH="1">
              <a:off x="3057525" y="1794523"/>
              <a:ext cx="1009650" cy="4450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11" idx="0"/>
            </p:cNvCxnSpPr>
            <p:nvPr/>
          </p:nvCxnSpPr>
          <p:spPr>
            <a:xfrm>
              <a:off x="5461478" y="1794523"/>
              <a:ext cx="1009650" cy="44500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a:stCxn id="10" idx="2"/>
              <a:endCxn id="12" idx="0"/>
            </p:cNvCxnSpPr>
            <p:nvPr/>
          </p:nvCxnSpPr>
          <p:spPr>
            <a:xfrm flipH="1">
              <a:off x="2015069" y="2664402"/>
              <a:ext cx="1042456" cy="4450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a:stCxn id="10" idx="2"/>
              <a:endCxn id="13" idx="0"/>
            </p:cNvCxnSpPr>
            <p:nvPr/>
          </p:nvCxnSpPr>
          <p:spPr>
            <a:xfrm>
              <a:off x="3057525" y="2664402"/>
              <a:ext cx="1064127" cy="4450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a:stCxn id="11" idx="2"/>
              <a:endCxn id="14" idx="0"/>
            </p:cNvCxnSpPr>
            <p:nvPr/>
          </p:nvCxnSpPr>
          <p:spPr>
            <a:xfrm>
              <a:off x="6471128" y="2664403"/>
              <a:ext cx="1" cy="4450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1727169" y="3779232"/>
              <a:ext cx="619080" cy="400110"/>
            </a:xfrm>
            <a:prstGeom prst="rect">
              <a:avLst/>
            </a:prstGeom>
          </p:spPr>
          <p:txBody>
            <a:bodyPr wrap="none">
              <a:spAutoFit/>
            </a:bodyPr>
            <a:lstStyle/>
            <a:p>
              <a:r>
                <a:rPr lang="en-US" altLang="zh-CN" sz="2000" b="1" dirty="0">
                  <a:solidFill>
                    <a:srgbClr val="000099"/>
                  </a:solidFill>
                  <a:latin typeface="微软雅黑" pitchFamily="34" charset="-122"/>
                  <a:ea typeface="微软雅黑" pitchFamily="34" charset="-122"/>
                </a:rPr>
                <a:t>RIP</a:t>
              </a:r>
              <a:endParaRPr lang="zh-CN" altLang="en-US" sz="2000" dirty="0">
                <a:solidFill>
                  <a:srgbClr val="000099"/>
                </a:solidFill>
              </a:endParaRPr>
            </a:p>
          </p:txBody>
        </p:sp>
        <p:sp>
          <p:nvSpPr>
            <p:cNvPr id="29" name="矩形 28"/>
            <p:cNvSpPr/>
            <p:nvPr/>
          </p:nvSpPr>
          <p:spPr>
            <a:xfrm>
              <a:off x="3691886" y="3779232"/>
              <a:ext cx="859531" cy="400110"/>
            </a:xfrm>
            <a:prstGeom prst="rect">
              <a:avLst/>
            </a:prstGeom>
          </p:spPr>
          <p:txBody>
            <a:bodyPr wrap="none">
              <a:spAutoFit/>
            </a:bodyPr>
            <a:lstStyle/>
            <a:p>
              <a:r>
                <a:rPr lang="en-US" altLang="zh-CN" sz="2000" b="1" dirty="0">
                  <a:latin typeface="微软雅黑" pitchFamily="34" charset="-122"/>
                  <a:ea typeface="微软雅黑" pitchFamily="34" charset="-122"/>
                </a:rPr>
                <a:t>OSPF</a:t>
              </a:r>
              <a:endParaRPr lang="zh-CN" altLang="en-US" sz="2000" dirty="0"/>
            </a:p>
          </p:txBody>
        </p:sp>
        <p:sp>
          <p:nvSpPr>
            <p:cNvPr id="30" name="矩形 29"/>
            <p:cNvSpPr/>
            <p:nvPr/>
          </p:nvSpPr>
          <p:spPr>
            <a:xfrm>
              <a:off x="5974036" y="3779232"/>
              <a:ext cx="994183" cy="400110"/>
            </a:xfrm>
            <a:prstGeom prst="rect">
              <a:avLst/>
            </a:prstGeom>
          </p:spPr>
          <p:txBody>
            <a:bodyPr wrap="none">
              <a:spAutoFit/>
            </a:bodyPr>
            <a:lstStyle/>
            <a:p>
              <a:r>
                <a:rPr lang="en-US" altLang="zh-CN" sz="2000" b="1" dirty="0">
                  <a:latin typeface="微软雅黑" pitchFamily="34" charset="-122"/>
                  <a:ea typeface="微软雅黑" pitchFamily="34" charset="-122"/>
                </a:rPr>
                <a:t>BGP-4</a:t>
              </a:r>
              <a:endParaRPr lang="zh-CN" altLang="en-US" sz="2000" dirty="0"/>
            </a:p>
          </p:txBody>
        </p:sp>
      </p:gr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1001699"/>
            <a:ext cx="8053711"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路由信息协议 </a:t>
            </a:r>
            <a:r>
              <a:rPr lang="en-US" altLang="zh-CN" sz="2000" b="1" dirty="0">
                <a:latin typeface="微软雅黑" pitchFamily="34" charset="-122"/>
                <a:ea typeface="微软雅黑" pitchFamily="34" charset="-122"/>
              </a:rPr>
              <a:t>RIP (Routing Information Protocol) </a:t>
            </a:r>
            <a:r>
              <a:rPr lang="zh-CN" altLang="en-US" sz="2000" b="1" dirty="0">
                <a:latin typeface="微软雅黑" pitchFamily="34" charset="-122"/>
                <a:ea typeface="微软雅黑" pitchFamily="34" charset="-122"/>
              </a:rPr>
              <a:t>是一种</a:t>
            </a:r>
            <a:r>
              <a:rPr lang="zh-CN" altLang="en-US" sz="2000" b="1" dirty="0">
                <a:solidFill>
                  <a:srgbClr val="0000FF"/>
                </a:solidFill>
                <a:latin typeface="微软雅黑" pitchFamily="34" charset="-122"/>
                <a:ea typeface="微软雅黑" pitchFamily="34" charset="-122"/>
              </a:rPr>
              <a:t>分布式的、基于距离向量的</a:t>
            </a:r>
            <a:r>
              <a:rPr lang="zh-CN" altLang="en-US" sz="2000" b="1" dirty="0">
                <a:latin typeface="微软雅黑" pitchFamily="34" charset="-122"/>
                <a:ea typeface="微软雅黑" pitchFamily="34" charset="-122"/>
              </a:rPr>
              <a:t>路由选择协议。</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互联网的标准协议。</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最大优点：</a:t>
            </a:r>
            <a:r>
              <a:rPr lang="zh-CN" altLang="en-US" sz="2000" b="1" dirty="0">
                <a:solidFill>
                  <a:srgbClr val="C00000"/>
                </a:solidFill>
                <a:latin typeface="微软雅黑" pitchFamily="34" charset="-122"/>
                <a:ea typeface="微软雅黑" pitchFamily="34" charset="-122"/>
              </a:rPr>
              <a:t>简单。</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要求网络中的每个路由器都要</a:t>
            </a:r>
            <a:r>
              <a:rPr lang="zh-CN" altLang="en-US" sz="2000" b="1" dirty="0">
                <a:solidFill>
                  <a:srgbClr val="C00000"/>
                </a:solidFill>
                <a:latin typeface="微软雅黑" pitchFamily="34" charset="-122"/>
                <a:ea typeface="微软雅黑" pitchFamily="34" charset="-122"/>
              </a:rPr>
              <a:t>维护</a:t>
            </a:r>
            <a:r>
              <a:rPr lang="zh-CN" altLang="en-US" sz="2000" b="1" dirty="0">
                <a:latin typeface="微软雅黑" pitchFamily="34" charset="-122"/>
                <a:ea typeface="微软雅黑" pitchFamily="34" charset="-122"/>
              </a:rPr>
              <a:t>从它自己到其他每一个目的网络的</a:t>
            </a:r>
            <a:r>
              <a:rPr lang="zh-CN" altLang="en-US" sz="2000" b="1" dirty="0">
                <a:solidFill>
                  <a:srgbClr val="C00000"/>
                </a:solidFill>
                <a:latin typeface="微软雅黑" pitchFamily="34" charset="-122"/>
                <a:ea typeface="微软雅黑" pitchFamily="34" charset="-122"/>
              </a:rPr>
              <a:t>距离记录。 </a:t>
            </a:r>
          </a:p>
        </p:txBody>
      </p:sp>
      <p:sp>
        <p:nvSpPr>
          <p:cNvPr id="5" name="AutoShape 5"/>
          <p:cNvSpPr>
            <a:spLocks noChangeArrowheads="1"/>
          </p:cNvSpPr>
          <p:nvPr/>
        </p:nvSpPr>
        <p:spPr bwMode="auto">
          <a:xfrm>
            <a:off x="545144" y="61467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146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协议 </a:t>
            </a:r>
            <a:r>
              <a:rPr lang="en-US" altLang="zh-CN" sz="2000" b="1" dirty="0">
                <a:solidFill>
                  <a:schemeClr val="bg1"/>
                </a:solidFill>
                <a:latin typeface="微软雅黑" pitchFamily="34" charset="-122"/>
                <a:ea typeface="微软雅黑" pitchFamily="34" charset="-122"/>
              </a:rPr>
              <a:t>RIP </a:t>
            </a:r>
            <a:r>
              <a:rPr lang="zh-CN" altLang="en-US" sz="2000" b="1" dirty="0">
                <a:solidFill>
                  <a:schemeClr val="bg1"/>
                </a:solidFill>
                <a:latin typeface="微软雅黑" pitchFamily="34" charset="-122"/>
                <a:ea typeface="微软雅黑" pitchFamily="34" charset="-122"/>
              </a:rPr>
              <a:t>的工作原理</a:t>
            </a:r>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45144" y="617573"/>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58805"/>
            <a:ext cx="2492990" cy="400110"/>
          </a:xfrm>
          <a:prstGeom prst="rect">
            <a:avLst/>
          </a:prstGeom>
        </p:spPr>
        <p:txBody>
          <a:bodyPr wrap="none">
            <a:spAutoFit/>
          </a:bodyPr>
          <a:lstStyle/>
          <a:p>
            <a:r>
              <a:rPr lang="en-US" altLang="zh-CN" sz="2000" b="1" dirty="0">
                <a:latin typeface="微软雅黑" pitchFamily="34" charset="-122"/>
                <a:ea typeface="微软雅黑" pitchFamily="34" charset="-122"/>
              </a:rPr>
              <a:t>RIP</a:t>
            </a:r>
            <a:r>
              <a:rPr lang="zh-CN" altLang="en-US" sz="2000" b="1" dirty="0">
                <a:latin typeface="微软雅黑" pitchFamily="34" charset="-122"/>
                <a:ea typeface="微软雅黑" pitchFamily="34" charset="-122"/>
              </a:rPr>
              <a:t>“距离”的定义</a:t>
            </a:r>
          </a:p>
        </p:txBody>
      </p:sp>
      <p:sp>
        <p:nvSpPr>
          <p:cNvPr id="4" name="矩形 3"/>
          <p:cNvSpPr/>
          <p:nvPr/>
        </p:nvSpPr>
        <p:spPr>
          <a:xfrm>
            <a:off x="545144" y="932661"/>
            <a:ext cx="8053712" cy="1528624"/>
          </a:xfrm>
          <a:prstGeom prst="rect">
            <a:avLst/>
          </a:prstGeom>
        </p:spPr>
        <p:txBody>
          <a:bodyPr wrap="square">
            <a:spAutoFit/>
          </a:bodyPr>
          <a:lstStyle/>
          <a:p>
            <a:pPr marL="285750" indent="-28575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路由器到</a:t>
            </a:r>
            <a:r>
              <a:rPr lang="zh-CN" altLang="en-US" sz="2000" b="1" dirty="0">
                <a:solidFill>
                  <a:srgbClr val="0000FF"/>
                </a:solidFill>
                <a:latin typeface="微软雅黑" pitchFamily="34" charset="-122"/>
                <a:ea typeface="微软雅黑" pitchFamily="34" charset="-122"/>
              </a:rPr>
              <a:t>直接连接</a:t>
            </a:r>
            <a:r>
              <a:rPr lang="zh-CN" altLang="en-US" sz="2000" b="1" dirty="0">
                <a:latin typeface="微软雅黑" pitchFamily="34" charset="-122"/>
                <a:ea typeface="微软雅黑" pitchFamily="34" charset="-122"/>
              </a:rPr>
              <a:t>的网络的距离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a:t>
            </a:r>
          </a:p>
          <a:p>
            <a:pPr marL="285750" indent="-28575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路由器到</a:t>
            </a:r>
            <a:r>
              <a:rPr lang="zh-CN" altLang="en-US" sz="2000" b="1" dirty="0">
                <a:solidFill>
                  <a:srgbClr val="0000FF"/>
                </a:solidFill>
                <a:latin typeface="微软雅黑" pitchFamily="34" charset="-122"/>
                <a:ea typeface="微软雅黑" pitchFamily="34" charset="-122"/>
              </a:rPr>
              <a:t>非直接连接</a:t>
            </a:r>
            <a:r>
              <a:rPr lang="zh-CN" altLang="en-US" sz="2000" b="1" dirty="0">
                <a:latin typeface="微软雅黑" pitchFamily="34" charset="-122"/>
                <a:ea typeface="微软雅黑" pitchFamily="34" charset="-122"/>
              </a:rPr>
              <a:t>的网络的距离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所经过的路由器数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a:p>
            <a:pPr marL="285750" indent="-285750">
              <a:lnSpc>
                <a:spcPts val="2800"/>
              </a:lnSpc>
              <a:buClr>
                <a:srgbClr val="0070C0"/>
              </a:buClr>
              <a:buFont typeface="Wingdings" pitchFamily="2" charset="2"/>
              <a:buChar char="l"/>
            </a:pPr>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协议中的“距离”也称为“</a:t>
            </a:r>
            <a:r>
              <a:rPr lang="zh-CN" altLang="en-US" sz="2000" b="1" dirty="0">
                <a:solidFill>
                  <a:srgbClr val="0000FF"/>
                </a:solidFill>
                <a:latin typeface="微软雅黑" pitchFamily="34" charset="-122"/>
                <a:ea typeface="微软雅黑" pitchFamily="34" charset="-122"/>
              </a:rPr>
              <a:t>跳数</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(hop count)</a:t>
            </a:r>
            <a:r>
              <a:rPr lang="zh-CN" altLang="en-US" sz="2000" b="1" dirty="0">
                <a:latin typeface="微软雅黑" pitchFamily="34" charset="-122"/>
                <a:ea typeface="微软雅黑" pitchFamily="34" charset="-122"/>
              </a:rPr>
              <a:t>，每经过一个路由器，跳数就加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1887135" y="4206537"/>
            <a:ext cx="5753498" cy="3744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200"/>
              </a:lnSpc>
            </a:pPr>
            <a:r>
              <a:rPr kumimoji="1" lang="zh-CN" altLang="en-US" b="1" dirty="0">
                <a:latin typeface="微软雅黑" pitchFamily="34" charset="-122"/>
                <a:ea typeface="微软雅黑" pitchFamily="34" charset="-122"/>
              </a:rPr>
              <a:t>路由 </a:t>
            </a:r>
            <a:r>
              <a:rPr kumimoji="1" lang="en-US" altLang="zh-CN" b="1" dirty="0">
                <a:latin typeface="微软雅黑" pitchFamily="34" charset="-122"/>
                <a:ea typeface="微软雅黑" pitchFamily="34" charset="-122"/>
              </a:rPr>
              <a:t>A-B-E </a:t>
            </a:r>
            <a:r>
              <a:rPr kumimoji="1" lang="zh-CN" altLang="en-US" b="1" dirty="0">
                <a:latin typeface="微软雅黑" pitchFamily="34" charset="-122"/>
                <a:ea typeface="微软雅黑" pitchFamily="34" charset="-122"/>
              </a:rPr>
              <a:t>的距离 </a:t>
            </a:r>
            <a:r>
              <a:rPr kumimoji="1" lang="en-US" altLang="zh-CN" b="1" dirty="0">
                <a:latin typeface="微软雅黑" pitchFamily="34" charset="-122"/>
                <a:ea typeface="微软雅黑" pitchFamily="34" charset="-122"/>
              </a:rPr>
              <a:t>= 2</a:t>
            </a:r>
            <a:r>
              <a:rPr kumimoji="1" lang="zh-CN" altLang="en-US" b="1" dirty="0">
                <a:latin typeface="微软雅黑" pitchFamily="34" charset="-122"/>
                <a:ea typeface="微软雅黑" pitchFamily="34" charset="-122"/>
              </a:rPr>
              <a:t>，路由 </a:t>
            </a:r>
            <a:r>
              <a:rPr kumimoji="1" lang="en-US" altLang="zh-CN" b="1" dirty="0">
                <a:latin typeface="微软雅黑" pitchFamily="34" charset="-122"/>
                <a:ea typeface="微软雅黑" pitchFamily="34" charset="-122"/>
              </a:rPr>
              <a:t>A-C-D-E </a:t>
            </a:r>
            <a:r>
              <a:rPr kumimoji="1" lang="zh-CN" altLang="en-US" b="1" dirty="0">
                <a:latin typeface="微软雅黑" pitchFamily="34" charset="-122"/>
                <a:ea typeface="微软雅黑" pitchFamily="34" charset="-122"/>
              </a:rPr>
              <a:t>的距离 </a:t>
            </a:r>
            <a:r>
              <a:rPr kumimoji="1" lang="en-US" altLang="zh-CN" b="1" dirty="0">
                <a:latin typeface="微软雅黑" pitchFamily="34" charset="-122"/>
                <a:ea typeface="微软雅黑" pitchFamily="34" charset="-122"/>
              </a:rPr>
              <a:t>= 3</a:t>
            </a:r>
            <a:r>
              <a:rPr kumimoji="1" lang="zh-CN" altLang="en-US" b="1" dirty="0">
                <a:latin typeface="微软雅黑" pitchFamily="34" charset="-122"/>
                <a:ea typeface="微软雅黑" pitchFamily="34" charset="-122"/>
              </a:rPr>
              <a:t>。</a:t>
            </a:r>
            <a:endParaRPr kumimoji="1" lang="en-US"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45144" y="617573"/>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58805"/>
            <a:ext cx="2492990" cy="400110"/>
          </a:xfrm>
          <a:prstGeom prst="rect">
            <a:avLst/>
          </a:prstGeom>
        </p:spPr>
        <p:txBody>
          <a:bodyPr wrap="none">
            <a:spAutoFit/>
          </a:bodyPr>
          <a:lstStyle/>
          <a:p>
            <a:r>
              <a:rPr lang="en-US" altLang="zh-CN" sz="2000" b="1" dirty="0">
                <a:latin typeface="微软雅黑" pitchFamily="34" charset="-122"/>
                <a:ea typeface="微软雅黑" pitchFamily="34" charset="-122"/>
              </a:rPr>
              <a:t>RIP</a:t>
            </a:r>
            <a:r>
              <a:rPr lang="zh-CN" altLang="en-US" sz="2000" b="1" dirty="0">
                <a:latin typeface="微软雅黑" pitchFamily="34" charset="-122"/>
                <a:ea typeface="微软雅黑" pitchFamily="34" charset="-122"/>
              </a:rPr>
              <a:t>“距离”的定义</a:t>
            </a:r>
          </a:p>
        </p:txBody>
      </p:sp>
      <p:sp>
        <p:nvSpPr>
          <p:cNvPr id="4" name="矩形 3"/>
          <p:cNvSpPr/>
          <p:nvPr/>
        </p:nvSpPr>
        <p:spPr>
          <a:xfrm>
            <a:off x="545144" y="932661"/>
            <a:ext cx="8053712" cy="1528624"/>
          </a:xfrm>
          <a:prstGeom prst="rect">
            <a:avLst/>
          </a:prstGeom>
        </p:spPr>
        <p:txBody>
          <a:bodyPr wrap="square">
            <a:spAutoFit/>
          </a:bodyPr>
          <a:lstStyle/>
          <a:p>
            <a:pPr marL="285750" indent="-28575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好路由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“距离短”的路由。</a:t>
            </a:r>
            <a:r>
              <a:rPr lang="zh-CN" altLang="en-US" b="1" dirty="0">
                <a:solidFill>
                  <a:srgbClr val="C00000"/>
                </a:solidFill>
                <a:latin typeface="微软雅黑" pitchFamily="34" charset="-122"/>
                <a:ea typeface="微软雅黑" pitchFamily="34" charset="-122"/>
              </a:rPr>
              <a:t>最佳路由 </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“距离最短”的路由。</a:t>
            </a:r>
            <a:endParaRPr lang="en-US" altLang="zh-CN" b="1" dirty="0">
              <a:solidFill>
                <a:srgbClr val="C00000"/>
              </a:solidFill>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一条路径</a:t>
            </a:r>
            <a:r>
              <a:rPr lang="zh-CN" altLang="en-US" b="1" dirty="0">
                <a:solidFill>
                  <a:srgbClr val="C00000"/>
                </a:solidFill>
                <a:latin typeface="微软雅黑" pitchFamily="34" charset="-122"/>
                <a:ea typeface="微软雅黑" pitchFamily="34" charset="-122"/>
              </a:rPr>
              <a:t>最多</a:t>
            </a:r>
            <a:r>
              <a:rPr lang="zh-CN" altLang="en-US" b="1" dirty="0">
                <a:latin typeface="微软雅黑" pitchFamily="34" charset="-122"/>
                <a:ea typeface="微软雅黑" pitchFamily="34" charset="-122"/>
              </a:rPr>
              <a:t>只能包含 </a:t>
            </a:r>
            <a:r>
              <a:rPr lang="en-US" altLang="zh-CN" b="1" dirty="0">
                <a:solidFill>
                  <a:srgbClr val="C00000"/>
                </a:solidFill>
                <a:latin typeface="微软雅黑" pitchFamily="34" charset="-122"/>
                <a:ea typeface="微软雅黑" pitchFamily="34" charset="-122"/>
              </a:rPr>
              <a:t>15</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个路由器。</a:t>
            </a:r>
            <a:endParaRPr lang="en-US" altLang="zh-CN" b="1" dirty="0">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“距离”的</a:t>
            </a:r>
            <a:r>
              <a:rPr lang="zh-CN" altLang="en-US" b="1" dirty="0">
                <a:solidFill>
                  <a:srgbClr val="C00000"/>
                </a:solidFill>
                <a:latin typeface="微软雅黑" pitchFamily="34" charset="-122"/>
                <a:ea typeface="微软雅黑" pitchFamily="34" charset="-122"/>
              </a:rPr>
              <a:t>最大值</a:t>
            </a:r>
            <a:r>
              <a:rPr lang="zh-CN" altLang="en-US" b="1" dirty="0">
                <a:latin typeface="微软雅黑" pitchFamily="34" charset="-122"/>
                <a:ea typeface="微软雅黑" pitchFamily="34" charset="-122"/>
              </a:rPr>
              <a:t>为 </a:t>
            </a:r>
            <a:r>
              <a:rPr lang="en-US" altLang="zh-CN" b="1" dirty="0">
                <a:solidFill>
                  <a:srgbClr val="C00000"/>
                </a:solidFill>
                <a:latin typeface="微软雅黑" pitchFamily="34" charset="-122"/>
                <a:ea typeface="微软雅黑" pitchFamily="34" charset="-122"/>
              </a:rPr>
              <a:t>16</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时即相当于</a:t>
            </a:r>
            <a:r>
              <a:rPr lang="zh-CN" altLang="en-US" b="1" dirty="0">
                <a:solidFill>
                  <a:srgbClr val="C00000"/>
                </a:solidFill>
                <a:latin typeface="微软雅黑" pitchFamily="34" charset="-122"/>
                <a:ea typeface="微软雅黑" pitchFamily="34" charset="-122"/>
              </a:rPr>
              <a:t>不可达。</a:t>
            </a:r>
            <a:endParaRPr lang="en-US" altLang="zh-CN" b="1" dirty="0">
              <a:solidFill>
                <a:srgbClr val="C00000"/>
              </a:solidFill>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en-US" altLang="zh-CN" b="1" dirty="0">
                <a:latin typeface="微软雅黑" pitchFamily="34" charset="-122"/>
                <a:ea typeface="微软雅黑" pitchFamily="34" charset="-122"/>
              </a:rPr>
              <a:t>RIP </a:t>
            </a:r>
            <a:r>
              <a:rPr lang="zh-CN" altLang="en-US" b="1" dirty="0">
                <a:solidFill>
                  <a:srgbClr val="C00000"/>
                </a:solidFill>
                <a:latin typeface="微软雅黑" pitchFamily="34" charset="-122"/>
                <a:ea typeface="微软雅黑" pitchFamily="34" charset="-122"/>
              </a:rPr>
              <a:t>不能</a:t>
            </a:r>
            <a:r>
              <a:rPr lang="zh-CN" altLang="en-US" b="1" dirty="0">
                <a:latin typeface="微软雅黑" pitchFamily="34" charset="-122"/>
                <a:ea typeface="微软雅黑" pitchFamily="34" charset="-122"/>
              </a:rPr>
              <a:t>在两个网络之间同时使用多条路由，</a:t>
            </a:r>
            <a:r>
              <a:rPr lang="zh-CN" altLang="en-US" b="1" dirty="0">
                <a:solidFill>
                  <a:srgbClr val="C00000"/>
                </a:solidFill>
                <a:latin typeface="微软雅黑" pitchFamily="34" charset="-122"/>
                <a:ea typeface="微软雅黑" pitchFamily="34" charset="-122"/>
              </a:rPr>
              <a:t>只选择</a:t>
            </a:r>
            <a:r>
              <a:rPr lang="zh-CN" altLang="en-US" b="1" dirty="0">
                <a:latin typeface="微软雅黑" pitchFamily="34" charset="-122"/>
                <a:ea typeface="微软雅黑" pitchFamily="34" charset="-122"/>
              </a:rPr>
              <a:t>距离最短”的路由。</a:t>
            </a:r>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1887135" y="4206537"/>
            <a:ext cx="5753498" cy="6565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200"/>
              </a:lnSpc>
            </a:pPr>
            <a:r>
              <a:rPr kumimoji="1" lang="zh-CN" altLang="en-US" b="1" dirty="0">
                <a:latin typeface="微软雅黑" pitchFamily="34" charset="-122"/>
                <a:ea typeface="微软雅黑" pitchFamily="34" charset="-122"/>
              </a:rPr>
              <a:t>路由 </a:t>
            </a:r>
            <a:r>
              <a:rPr kumimoji="1" lang="en-US" altLang="zh-CN" b="1" dirty="0">
                <a:latin typeface="微软雅黑" pitchFamily="34" charset="-122"/>
                <a:ea typeface="微软雅黑" pitchFamily="34" charset="-122"/>
              </a:rPr>
              <a:t>A-B-E </a:t>
            </a:r>
            <a:r>
              <a:rPr kumimoji="1" lang="zh-CN" altLang="en-US" b="1" dirty="0">
                <a:latin typeface="微软雅黑" pitchFamily="34" charset="-122"/>
                <a:ea typeface="微软雅黑" pitchFamily="34" charset="-122"/>
              </a:rPr>
              <a:t>的距离 </a:t>
            </a:r>
            <a:r>
              <a:rPr kumimoji="1" lang="en-US" altLang="zh-CN" b="1" dirty="0">
                <a:latin typeface="微软雅黑" pitchFamily="34" charset="-122"/>
                <a:ea typeface="微软雅黑" pitchFamily="34" charset="-122"/>
              </a:rPr>
              <a:t>= 2</a:t>
            </a:r>
            <a:r>
              <a:rPr kumimoji="1" lang="zh-CN" altLang="en-US" b="1" dirty="0">
                <a:latin typeface="微软雅黑" pitchFamily="34" charset="-122"/>
                <a:ea typeface="微软雅黑" pitchFamily="34" charset="-122"/>
              </a:rPr>
              <a:t>，路由 </a:t>
            </a:r>
            <a:r>
              <a:rPr kumimoji="1" lang="en-US" altLang="zh-CN" b="1" dirty="0">
                <a:latin typeface="微软雅黑" pitchFamily="34" charset="-122"/>
                <a:ea typeface="微软雅黑" pitchFamily="34" charset="-122"/>
              </a:rPr>
              <a:t>A-C-D-E </a:t>
            </a:r>
            <a:r>
              <a:rPr kumimoji="1" lang="zh-CN" altLang="en-US" b="1" dirty="0">
                <a:latin typeface="微软雅黑" pitchFamily="34" charset="-122"/>
                <a:ea typeface="微软雅黑" pitchFamily="34" charset="-122"/>
              </a:rPr>
              <a:t>的距离 </a:t>
            </a:r>
            <a:r>
              <a:rPr kumimoji="1" lang="en-US" altLang="zh-CN" b="1" dirty="0">
                <a:latin typeface="微软雅黑" pitchFamily="34" charset="-122"/>
                <a:ea typeface="微软雅黑" pitchFamily="34" charset="-122"/>
              </a:rPr>
              <a:t>= 3</a:t>
            </a:r>
            <a:r>
              <a:rPr kumimoji="1" lang="zh-CN" altLang="en-US" b="1" dirty="0">
                <a:latin typeface="微软雅黑" pitchFamily="34" charset="-122"/>
                <a:ea typeface="微软雅黑" pitchFamily="34" charset="-122"/>
              </a:rPr>
              <a:t>。</a:t>
            </a:r>
            <a:endParaRPr kumimoji="1" lang="en-US" altLang="zh-CN" b="1" dirty="0">
              <a:latin typeface="微软雅黑" pitchFamily="34" charset="-122"/>
              <a:ea typeface="微软雅黑" pitchFamily="34" charset="-122"/>
            </a:endParaRPr>
          </a:p>
          <a:p>
            <a:pPr>
              <a:lnSpc>
                <a:spcPts val="2200"/>
              </a:lnSpc>
            </a:pPr>
            <a:r>
              <a:rPr kumimoji="1" lang="zh-CN" altLang="en-US" b="1" dirty="0">
                <a:solidFill>
                  <a:srgbClr val="C00000"/>
                </a:solidFill>
                <a:latin typeface="微软雅黑" pitchFamily="34" charset="-122"/>
                <a:ea typeface="微软雅黑" pitchFamily="34" charset="-122"/>
              </a:rPr>
              <a:t>最佳路由为 </a:t>
            </a:r>
            <a:r>
              <a:rPr kumimoji="1" lang="en-US" altLang="zh-CN" b="1" dirty="0">
                <a:solidFill>
                  <a:srgbClr val="C00000"/>
                </a:solidFill>
                <a:latin typeface="微软雅黑" pitchFamily="34" charset="-122"/>
                <a:ea typeface="微软雅黑" pitchFamily="34" charset="-122"/>
              </a:rPr>
              <a:t>A-B-E</a:t>
            </a:r>
            <a:r>
              <a:rPr kumimoji="1" lang="zh-CN" altLang="en-US" b="1" dirty="0">
                <a:solidFill>
                  <a:srgbClr val="C00000"/>
                </a:solidFill>
                <a:latin typeface="微软雅黑" pitchFamily="34" charset="-122"/>
                <a:ea typeface="微软雅黑" pitchFamily="34" charset="-122"/>
              </a:rPr>
              <a:t>。</a:t>
            </a:r>
            <a:endParaRPr kumimoji="1" lang="en-US" altLang="zh-CN" b="1" dirty="0">
              <a:solidFill>
                <a:srgbClr val="C00000"/>
              </a:solidFill>
              <a:latin typeface="微软雅黑" pitchFamily="34" charset="-122"/>
              <a:ea typeface="微软雅黑" pitchFamily="34" charset="-122"/>
            </a:endParaRPr>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57720"/>
            <a:ext cx="2491388" cy="400110"/>
          </a:xfrm>
          <a:prstGeom prst="rect">
            <a:avLst/>
          </a:prstGeom>
        </p:spPr>
        <p:txBody>
          <a:bodyPr wrap="none">
            <a:spAutoFit/>
          </a:bodyPr>
          <a:lstStyle/>
          <a:p>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协议的三个特点</a:t>
            </a:r>
          </a:p>
        </p:txBody>
      </p:sp>
      <p:sp>
        <p:nvSpPr>
          <p:cNvPr id="4" name="矩形 3"/>
          <p:cNvSpPr/>
          <p:nvPr/>
        </p:nvSpPr>
        <p:spPr>
          <a:xfrm>
            <a:off x="616084" y="950048"/>
            <a:ext cx="7957547" cy="1692258"/>
          </a:xfrm>
          <a:prstGeom prst="rect">
            <a:avLst/>
          </a:prstGeom>
        </p:spPr>
        <p:txBody>
          <a:bodyPr wrap="square">
            <a:spAutoFit/>
          </a:bodyPr>
          <a:lstStyle/>
          <a:p>
            <a:pPr marL="36036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仅和</a:t>
            </a:r>
            <a:r>
              <a:rPr lang="zh-CN" altLang="en-US" sz="2000" b="1" dirty="0">
                <a:solidFill>
                  <a:srgbClr val="C00000"/>
                </a:solidFill>
                <a:latin typeface="微软雅黑" pitchFamily="34" charset="-122"/>
                <a:ea typeface="微软雅黑" pitchFamily="34" charset="-122"/>
              </a:rPr>
              <a:t>相邻</a:t>
            </a:r>
            <a:r>
              <a:rPr lang="zh-CN" altLang="en-US" sz="2000" b="1" dirty="0">
                <a:latin typeface="微软雅黑" pitchFamily="34" charset="-122"/>
                <a:ea typeface="微软雅黑" pitchFamily="34" charset="-122"/>
              </a:rPr>
              <a:t>路由器交换信息。 </a:t>
            </a:r>
          </a:p>
          <a:p>
            <a:pPr marL="36036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交换的信息是当前本路由器所知道的</a:t>
            </a:r>
            <a:r>
              <a:rPr lang="zh-CN" altLang="en-US" sz="2000" b="1" dirty="0">
                <a:solidFill>
                  <a:srgbClr val="C00000"/>
                </a:solidFill>
                <a:latin typeface="微软雅黑" pitchFamily="34" charset="-122"/>
                <a:ea typeface="微软雅黑" pitchFamily="34" charset="-122"/>
              </a:rPr>
              <a:t>全部</a:t>
            </a:r>
            <a:r>
              <a:rPr lang="zh-CN" altLang="en-US" sz="2000" b="1" dirty="0">
                <a:latin typeface="微软雅黑" pitchFamily="34" charset="-122"/>
                <a:ea typeface="微软雅黑" pitchFamily="34" charset="-122"/>
              </a:rPr>
              <a:t>信息，即自己的路由表。 </a:t>
            </a:r>
          </a:p>
          <a:p>
            <a:pPr marL="36036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固定时间间隔</a:t>
            </a:r>
            <a:r>
              <a:rPr lang="zh-CN" altLang="en-US" sz="2000" b="1" dirty="0">
                <a:latin typeface="微软雅黑" pitchFamily="34" charset="-122"/>
                <a:ea typeface="微软雅黑" pitchFamily="34" charset="-122"/>
              </a:rPr>
              <a:t>交换路由信息，例如，每隔 </a:t>
            </a:r>
            <a:r>
              <a:rPr lang="en-US" altLang="zh-CN" sz="2000" b="1" dirty="0">
                <a:latin typeface="微软雅黑" pitchFamily="34" charset="-122"/>
                <a:ea typeface="微软雅黑" pitchFamily="34" charset="-122"/>
              </a:rPr>
              <a:t>30 </a:t>
            </a:r>
            <a:r>
              <a:rPr lang="zh-CN" altLang="en-US" sz="2000" b="1" dirty="0">
                <a:latin typeface="微软雅黑" pitchFamily="34" charset="-122"/>
                <a:ea typeface="微软雅黑" pitchFamily="34" charset="-122"/>
              </a:rPr>
              <a:t>秒。当网络拓扑发生变化时，路由器也及时向相邻路由器通告拓扑变化后的路由信息。</a:t>
            </a:r>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58102"/>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路由表的建立</a:t>
            </a:r>
          </a:p>
        </p:txBody>
      </p:sp>
      <p:sp>
        <p:nvSpPr>
          <p:cNvPr id="7" name="矩形 6"/>
          <p:cNvSpPr/>
          <p:nvPr/>
        </p:nvSpPr>
        <p:spPr>
          <a:xfrm>
            <a:off x="545144" y="950430"/>
            <a:ext cx="8053712" cy="3477875"/>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路由器在</a:t>
            </a:r>
            <a:r>
              <a:rPr lang="zh-CN" altLang="en-US" sz="2000" b="1" dirty="0">
                <a:solidFill>
                  <a:srgbClr val="0000FF"/>
                </a:solidFill>
                <a:latin typeface="微软雅黑" pitchFamily="34" charset="-122"/>
                <a:ea typeface="微软雅黑" pitchFamily="34" charset="-122"/>
              </a:rPr>
              <a:t>刚刚开始工作</a:t>
            </a:r>
            <a:r>
              <a:rPr lang="zh-CN" altLang="en-US" sz="2000" b="1" dirty="0">
                <a:latin typeface="微软雅黑" pitchFamily="34" charset="-122"/>
                <a:ea typeface="微软雅黑" pitchFamily="34" charset="-122"/>
              </a:rPr>
              <a:t>时，</a:t>
            </a:r>
            <a:r>
              <a:rPr lang="zh-CN" altLang="en-US" sz="2000" b="1" dirty="0">
                <a:solidFill>
                  <a:srgbClr val="0000FF"/>
                </a:solidFill>
                <a:latin typeface="微软雅黑" pitchFamily="34" charset="-122"/>
                <a:ea typeface="微软雅黑" pitchFamily="34" charset="-122"/>
              </a:rPr>
              <a:t>路由表是空的</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然后，得到</a:t>
            </a:r>
            <a:r>
              <a:rPr lang="zh-CN" altLang="en-US" sz="2000" b="1" dirty="0">
                <a:solidFill>
                  <a:srgbClr val="0000FF"/>
                </a:solidFill>
                <a:latin typeface="微软雅黑" pitchFamily="34" charset="-122"/>
                <a:ea typeface="微软雅黑" pitchFamily="34" charset="-122"/>
              </a:rPr>
              <a:t>直接连接</a:t>
            </a:r>
            <a:r>
              <a:rPr lang="zh-CN" altLang="en-US" sz="2000" b="1" dirty="0">
                <a:latin typeface="微软雅黑" pitchFamily="34" charset="-122"/>
                <a:ea typeface="微软雅黑" pitchFamily="34" charset="-122"/>
              </a:rPr>
              <a:t>的网络的距离（此距离定义为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之后，每一个路由器也只和数目非常有限的相邻路由器</a:t>
            </a:r>
            <a:r>
              <a:rPr lang="zh-CN" altLang="en-US" sz="2000" b="1" dirty="0">
                <a:solidFill>
                  <a:srgbClr val="0000FF"/>
                </a:solidFill>
                <a:latin typeface="微软雅黑" pitchFamily="34" charset="-122"/>
                <a:ea typeface="微软雅黑" pitchFamily="34" charset="-122"/>
              </a:rPr>
              <a:t>交换并更新</a:t>
            </a:r>
            <a:r>
              <a:rPr lang="zh-CN" altLang="en-US" sz="2000" b="1" dirty="0">
                <a:latin typeface="微软雅黑" pitchFamily="34" charset="-122"/>
                <a:ea typeface="微软雅黑" pitchFamily="34" charset="-122"/>
              </a:rPr>
              <a:t>路由信息。</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经过若干次更新后，所有的路由器</a:t>
            </a:r>
            <a:r>
              <a:rPr lang="zh-CN" altLang="en-US" sz="2000" b="1" dirty="0">
                <a:solidFill>
                  <a:srgbClr val="0000FF"/>
                </a:solidFill>
                <a:latin typeface="微软雅黑" pitchFamily="34" charset="-122"/>
                <a:ea typeface="微软雅黑" pitchFamily="34" charset="-122"/>
              </a:rPr>
              <a:t>最终</a:t>
            </a:r>
            <a:r>
              <a:rPr lang="zh-CN" altLang="en-US" sz="2000" b="1" dirty="0">
                <a:latin typeface="微软雅黑" pitchFamily="34" charset="-122"/>
                <a:ea typeface="微软雅黑" pitchFamily="34" charset="-122"/>
              </a:rPr>
              <a:t>都会知道到达本自治系统中任何一个网络的</a:t>
            </a:r>
            <a:r>
              <a:rPr lang="zh-CN" altLang="en-US" sz="2000" b="1" dirty="0">
                <a:solidFill>
                  <a:srgbClr val="0000FF"/>
                </a:solidFill>
                <a:latin typeface="微软雅黑" pitchFamily="34" charset="-122"/>
                <a:ea typeface="微软雅黑" pitchFamily="34" charset="-122"/>
              </a:rPr>
              <a:t>最短距离</a:t>
            </a:r>
            <a:r>
              <a:rPr lang="zh-CN" altLang="en-US" sz="2000" b="1" dirty="0">
                <a:latin typeface="微软雅黑" pitchFamily="34" charset="-122"/>
                <a:ea typeface="微软雅黑" pitchFamily="34" charset="-122"/>
              </a:rPr>
              <a:t>和下一跳路由器的地址。</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协议的</a:t>
            </a:r>
            <a:r>
              <a:rPr lang="zh-CN" altLang="en-US" sz="2000" b="1" dirty="0">
                <a:solidFill>
                  <a:srgbClr val="0000FF"/>
                </a:solidFill>
                <a:latin typeface="微软雅黑" pitchFamily="34" charset="-122"/>
                <a:ea typeface="微软雅黑" pitchFamily="34" charset="-122"/>
              </a:rPr>
              <a:t>收敛</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(convergence) </a:t>
            </a:r>
            <a:r>
              <a:rPr lang="zh-CN" altLang="en-US" sz="2000" b="1" dirty="0">
                <a:latin typeface="微软雅黑" pitchFamily="34" charset="-122"/>
                <a:ea typeface="微软雅黑" pitchFamily="34" charset="-122"/>
              </a:rPr>
              <a:t>过程较快。“收敛”就是在自治系统中所有的结点都得到正确的路由选择信息的过程。 </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58102"/>
            <a:ext cx="3262432" cy="400110"/>
          </a:xfrm>
          <a:prstGeom prst="rect">
            <a:avLst/>
          </a:prstGeom>
        </p:spPr>
        <p:txBody>
          <a:bodyPr wrap="none">
            <a:spAutoFit/>
          </a:bodyPr>
          <a:lstStyle/>
          <a:p>
            <a:r>
              <a:rPr lang="zh-CN" altLang="en-US" sz="2000" b="1" dirty="0">
                <a:latin typeface="微软雅黑" pitchFamily="34" charset="-122"/>
                <a:ea typeface="微软雅黑" pitchFamily="34" charset="-122"/>
              </a:rPr>
              <a:t>路由表主要信息和更新规则</a:t>
            </a:r>
          </a:p>
        </p:txBody>
      </p:sp>
      <p:sp>
        <p:nvSpPr>
          <p:cNvPr id="7" name="矩形 6"/>
          <p:cNvSpPr/>
          <p:nvPr/>
        </p:nvSpPr>
        <p:spPr>
          <a:xfrm>
            <a:off x="545144" y="950430"/>
            <a:ext cx="8053712" cy="3054682"/>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路由表主要信息：</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路由表更新规则：</a:t>
            </a:r>
            <a:endParaRPr lang="en-US" altLang="zh-CN" sz="2000" b="1" dirty="0">
              <a:latin typeface="微软雅黑" pitchFamily="34" charset="-122"/>
              <a:ea typeface="微软雅黑" pitchFamily="34" charset="-122"/>
            </a:endParaRPr>
          </a:p>
          <a:p>
            <a:pPr>
              <a:lnSpc>
                <a:spcPts val="3300"/>
              </a:lnSpc>
              <a:buClr>
                <a:srgbClr val="0070C0"/>
              </a:buClr>
            </a:pP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使用</a:t>
            </a:r>
            <a:r>
              <a:rPr lang="zh-CN" altLang="en-US" sz="2000" b="1" dirty="0">
                <a:solidFill>
                  <a:srgbClr val="0000FF"/>
                </a:solidFill>
                <a:latin typeface="微软雅黑" pitchFamily="34" charset="-122"/>
                <a:ea typeface="微软雅黑" pitchFamily="34" charset="-122"/>
              </a:rPr>
              <a:t>距离向量算法</a:t>
            </a:r>
            <a:r>
              <a:rPr lang="zh-CN" altLang="en-US" sz="2000" b="1" dirty="0">
                <a:solidFill>
                  <a:srgbClr val="C00000"/>
                </a:solidFill>
                <a:latin typeface="微软雅黑" pitchFamily="34" charset="-122"/>
                <a:ea typeface="微软雅黑" pitchFamily="34" charset="-122"/>
              </a:rPr>
              <a:t>找出到达每个目的网络的</a:t>
            </a:r>
            <a:r>
              <a:rPr lang="zh-CN" altLang="en-US" sz="2000" b="1" dirty="0">
                <a:solidFill>
                  <a:srgbClr val="0000FF"/>
                </a:solidFill>
                <a:latin typeface="微软雅黑" pitchFamily="34" charset="-122"/>
                <a:ea typeface="微软雅黑" pitchFamily="34" charset="-122"/>
              </a:rPr>
              <a:t>最短距离。</a:t>
            </a:r>
          </a:p>
        </p:txBody>
      </p:sp>
      <p:graphicFrame>
        <p:nvGraphicFramePr>
          <p:cNvPr id="2" name="表格 1"/>
          <p:cNvGraphicFramePr>
            <a:graphicFrameLocks noGrp="1"/>
          </p:cNvGraphicFramePr>
          <p:nvPr>
            <p:extLst>
              <p:ext uri="{D42A27DB-BD31-4B8C-83A1-F6EECF244321}">
                <p14:modId xmlns:p14="http://schemas.microsoft.com/office/powerpoint/2010/main" val="1311060397"/>
              </p:ext>
            </p:extLst>
          </p:nvPr>
        </p:nvGraphicFramePr>
        <p:xfrm>
          <a:off x="1413164" y="1518804"/>
          <a:ext cx="6096000" cy="1341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600" dirty="0">
                          <a:solidFill>
                            <a:schemeClr val="bg1"/>
                          </a:solidFill>
                          <a:latin typeface="微软雅黑" panose="020B0503020204020204" pitchFamily="34" charset="-122"/>
                          <a:ea typeface="微软雅黑" panose="020B0503020204020204" pitchFamily="34" charset="-122"/>
                        </a:rPr>
                        <a:t>目的网络</a:t>
                      </a:r>
                      <a:endParaRPr lang="zh-CN" altLang="en-US" sz="1600" b="1" dirty="0">
                        <a:solidFill>
                          <a:schemeClr val="bg1"/>
                        </a:solidFill>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dirty="0">
                          <a:solidFill>
                            <a:schemeClr val="bg1"/>
                          </a:solidFill>
                          <a:latin typeface="微软雅黑" panose="020B0503020204020204" pitchFamily="34" charset="-122"/>
                          <a:ea typeface="微软雅黑" panose="020B0503020204020204" pitchFamily="34" charset="-122"/>
                        </a:rPr>
                        <a:t>距离（最短）</a:t>
                      </a:r>
                      <a:endParaRPr lang="zh-CN" altLang="en-US" sz="1600" b="1" dirty="0">
                        <a:solidFill>
                          <a:schemeClr val="bg1"/>
                        </a:solidFill>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dirty="0">
                          <a:solidFill>
                            <a:schemeClr val="bg1"/>
                          </a:solidFill>
                          <a:latin typeface="微软雅黑" panose="020B0503020204020204" pitchFamily="34" charset="-122"/>
                          <a:ea typeface="微软雅黑" panose="020B0503020204020204" pitchFamily="34" charset="-122"/>
                        </a:rPr>
                        <a:t>下一跳地址</a:t>
                      </a:r>
                      <a:endParaRPr lang="zh-CN" altLang="en-US" sz="1600" b="1" dirty="0">
                        <a:solidFill>
                          <a:schemeClr val="bg1"/>
                        </a:solidFill>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687519655"/>
                  </a:ext>
                </a:extLst>
              </a:tr>
              <a:tr h="283008">
                <a:tc>
                  <a:txBody>
                    <a:bodyPr/>
                    <a:lstStyle/>
                    <a:p>
                      <a:pPr algn="ctr"/>
                      <a:endParaRPr lang="zh-CN" altLang="en-US" sz="1600" b="1">
                        <a:solidFill>
                          <a:schemeClr val="tx1"/>
                        </a:solidFill>
                        <a:latin typeface="微软雅黑" panose="020B0503020204020204" pitchFamily="34" charset="-122"/>
                        <a:ea typeface="微软雅黑" panose="020B0503020204020204" pitchFamily="34" charset="-122"/>
                      </a:endParaRPr>
                    </a:p>
                  </a:txBody>
                  <a:tcPr anchor="ctr"/>
                </a:tc>
                <a:tc>
                  <a:txBody>
                    <a:bodyPr/>
                    <a:lstStyle/>
                    <a:p>
                      <a:pPr algn="ctr"/>
                      <a:endParaRPr lang="zh-CN" altLang="en-US" sz="1600" b="1">
                        <a:solidFill>
                          <a:schemeClr val="tx1"/>
                        </a:solidFill>
                        <a:latin typeface="微软雅黑" panose="020B0503020204020204" pitchFamily="34" charset="-122"/>
                        <a:ea typeface="微软雅黑" panose="020B0503020204020204" pitchFamily="34" charset="-122"/>
                      </a:endParaRPr>
                    </a:p>
                  </a:txBody>
                  <a:tcPr anchor="ctr"/>
                </a:tc>
                <a:tc>
                  <a:txBody>
                    <a:bodyPr/>
                    <a:lstStyle/>
                    <a:p>
                      <a:pPr algn="ctr"/>
                      <a:endParaRPr lang="zh-CN" altLang="en-US" sz="1600" b="1">
                        <a:solidFill>
                          <a:schemeClr val="tx1"/>
                        </a:solidFill>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600" b="1">
                        <a:solidFill>
                          <a:schemeClr val="tx1"/>
                        </a:solidFill>
                        <a:latin typeface="微软雅黑" panose="020B0503020204020204" pitchFamily="34" charset="-122"/>
                        <a:ea typeface="微软雅黑" panose="020B0503020204020204" pitchFamily="34" charset="-122"/>
                      </a:endParaRPr>
                    </a:p>
                  </a:txBody>
                  <a:tcPr anchor="ctr"/>
                </a:tc>
                <a:tc>
                  <a:txBody>
                    <a:bodyPr/>
                    <a:lstStyle/>
                    <a:p>
                      <a:pPr algn="ctr"/>
                      <a:endParaRPr lang="zh-CN" altLang="en-US" sz="1600" b="1">
                        <a:solidFill>
                          <a:schemeClr val="tx1"/>
                        </a:solidFill>
                        <a:latin typeface="微软雅黑" panose="020B0503020204020204" pitchFamily="34" charset="-122"/>
                        <a:ea typeface="微软雅黑" panose="020B0503020204020204" pitchFamily="34" charset="-122"/>
                      </a:endParaRPr>
                    </a:p>
                  </a:txBody>
                  <a:tcPr anchor="ctr"/>
                </a:tc>
                <a:tc>
                  <a:txBody>
                    <a:bodyPr/>
                    <a:lstStyle/>
                    <a:p>
                      <a:pPr algn="ctr"/>
                      <a:endParaRPr lang="zh-CN" altLang="en-US" sz="1600" b="1" dirty="0">
                        <a:solidFill>
                          <a:schemeClr val="tx1"/>
                        </a:solidFill>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600" b="1">
                        <a:solidFill>
                          <a:schemeClr val="tx1"/>
                        </a:solidFill>
                        <a:latin typeface="微软雅黑" panose="020B0503020204020204" pitchFamily="34" charset="-122"/>
                        <a:ea typeface="微软雅黑" panose="020B0503020204020204" pitchFamily="34" charset="-122"/>
                      </a:endParaRPr>
                    </a:p>
                  </a:txBody>
                  <a:tcPr anchor="ctr"/>
                </a:tc>
                <a:tc>
                  <a:txBody>
                    <a:bodyPr/>
                    <a:lstStyle/>
                    <a:p>
                      <a:pPr algn="ctr"/>
                      <a:endParaRPr lang="zh-CN" altLang="en-US" sz="1600" b="1">
                        <a:solidFill>
                          <a:schemeClr val="tx1"/>
                        </a:solidFill>
                        <a:latin typeface="微软雅黑" panose="020B0503020204020204" pitchFamily="34" charset="-122"/>
                        <a:ea typeface="微软雅黑" panose="020B0503020204020204" pitchFamily="34" charset="-122"/>
                      </a:endParaRPr>
                    </a:p>
                  </a:txBody>
                  <a:tcPr anchor="ctr"/>
                </a:tc>
                <a:tc>
                  <a:txBody>
                    <a:bodyPr/>
                    <a:lstStyle/>
                    <a:p>
                      <a:pPr algn="ctr"/>
                      <a:endParaRPr lang="zh-CN" altLang="en-US" sz="1600" b="1" dirty="0">
                        <a:solidFill>
                          <a:schemeClr val="tx1"/>
                        </a:solidFill>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3" y="622831"/>
            <a:ext cx="8053713"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962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距离向量算法</a:t>
            </a:r>
          </a:p>
        </p:txBody>
      </p:sp>
      <p:sp>
        <p:nvSpPr>
          <p:cNvPr id="5" name="圆角矩形 4"/>
          <p:cNvSpPr/>
          <p:nvPr/>
        </p:nvSpPr>
        <p:spPr>
          <a:xfrm>
            <a:off x="545143" y="1328084"/>
            <a:ext cx="8053713" cy="3114607"/>
          </a:xfrm>
          <a:prstGeom prst="roundRect">
            <a:avLst>
              <a:gd name="adj" fmla="val 10626"/>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Text Box 3"/>
          <p:cNvSpPr txBox="1">
            <a:spLocks noChangeArrowheads="1"/>
          </p:cNvSpPr>
          <p:nvPr/>
        </p:nvSpPr>
        <p:spPr bwMode="auto">
          <a:xfrm>
            <a:off x="696617" y="1343256"/>
            <a:ext cx="7763892" cy="3041858"/>
          </a:xfrm>
          <a:prstGeom prst="rect">
            <a:avLst/>
          </a:prstGeom>
          <a:noFill/>
          <a:ln w="9525">
            <a:noFill/>
            <a:miter lim="800000"/>
            <a:headEnd/>
            <a:tailEnd/>
          </a:ln>
          <a:effectLst/>
        </p:spPr>
        <p:txBody>
          <a:bodyPr wrap="square">
            <a:spAutoFit/>
          </a:bodyPr>
          <a:lstStyle/>
          <a:p>
            <a:pPr>
              <a:lnSpc>
                <a:spcPts val="2300"/>
              </a:lnSpc>
            </a:pPr>
            <a:r>
              <a:rPr kumimoji="0" lang="en-US" altLang="zh-CN" sz="1500" b="1" dirty="0">
                <a:latin typeface="微软雅黑" pitchFamily="34" charset="-122"/>
                <a:ea typeface="微软雅黑" pitchFamily="34" charset="-122"/>
              </a:rPr>
              <a:t>(1) </a:t>
            </a:r>
            <a:r>
              <a:rPr kumimoji="0" lang="zh-CN" altLang="en-US" sz="1500" b="1" dirty="0">
                <a:solidFill>
                  <a:srgbClr val="C00000"/>
                </a:solidFill>
                <a:latin typeface="微软雅黑" pitchFamily="34" charset="-122"/>
                <a:ea typeface="微软雅黑" pitchFamily="34" charset="-122"/>
              </a:rPr>
              <a:t>修改</a:t>
            </a:r>
            <a:r>
              <a:rPr kumimoji="0" lang="zh-CN" altLang="en-US" sz="1500" b="1" dirty="0">
                <a:latin typeface="微软雅黑" pitchFamily="34" charset="-122"/>
                <a:ea typeface="微软雅黑" pitchFamily="34" charset="-122"/>
              </a:rPr>
              <a:t> </a:t>
            </a:r>
            <a:r>
              <a:rPr kumimoji="0" lang="en-US" altLang="zh-CN" sz="1500" b="1" dirty="0">
                <a:latin typeface="微软雅黑" pitchFamily="34" charset="-122"/>
                <a:ea typeface="微软雅黑" pitchFamily="34" charset="-122"/>
              </a:rPr>
              <a:t>RIP </a:t>
            </a:r>
            <a:r>
              <a:rPr kumimoji="0" lang="zh-CN" altLang="en-US" sz="1500" b="1" dirty="0">
                <a:latin typeface="微软雅黑" pitchFamily="34" charset="-122"/>
                <a:ea typeface="微软雅黑" pitchFamily="34" charset="-122"/>
              </a:rPr>
              <a:t>报文中的所有项目（即路由）：把“下一跳”字段中的地址都改为 </a:t>
            </a:r>
            <a:r>
              <a:rPr kumimoji="0" lang="en-US" altLang="zh-CN" sz="1500" b="1" dirty="0">
                <a:latin typeface="微软雅黑" pitchFamily="34" charset="-122"/>
                <a:ea typeface="微软雅黑" pitchFamily="34" charset="-122"/>
              </a:rPr>
              <a:t>X</a:t>
            </a:r>
            <a:r>
              <a:rPr kumimoji="0" lang="zh-CN" altLang="en-US" sz="1500" b="1" dirty="0">
                <a:latin typeface="微软雅黑" pitchFamily="34" charset="-122"/>
                <a:ea typeface="微软雅黑" pitchFamily="34" charset="-122"/>
              </a:rPr>
              <a:t>，并把所有的“距离”字段的值加 </a:t>
            </a:r>
            <a:r>
              <a:rPr kumimoji="0" lang="en-US" altLang="zh-CN" sz="1500" b="1" dirty="0">
                <a:latin typeface="微软雅黑" pitchFamily="34" charset="-122"/>
                <a:ea typeface="微软雅黑" pitchFamily="34" charset="-122"/>
              </a:rPr>
              <a:t>1</a:t>
            </a:r>
            <a:r>
              <a:rPr kumimoji="0" lang="zh-CN" altLang="en-US" sz="1500" b="1" dirty="0">
                <a:latin typeface="微软雅黑" pitchFamily="34" charset="-122"/>
                <a:ea typeface="微软雅黑" pitchFamily="34" charset="-122"/>
              </a:rPr>
              <a:t>。</a:t>
            </a:r>
          </a:p>
          <a:p>
            <a:pPr>
              <a:lnSpc>
                <a:spcPts val="2300"/>
              </a:lnSpc>
            </a:pPr>
            <a:r>
              <a:rPr kumimoji="0" lang="en-US" altLang="zh-CN" sz="1500" b="1" dirty="0">
                <a:latin typeface="微软雅黑" pitchFamily="34" charset="-122"/>
                <a:ea typeface="微软雅黑" pitchFamily="34" charset="-122"/>
              </a:rPr>
              <a:t>(2) </a:t>
            </a:r>
            <a:r>
              <a:rPr kumimoji="0" lang="zh-CN" altLang="en-US" sz="1500" b="1" dirty="0">
                <a:latin typeface="微软雅黑" pitchFamily="34" charset="-122"/>
                <a:ea typeface="微软雅黑" pitchFamily="34" charset="-122"/>
              </a:rPr>
              <a:t>对修改后的 </a:t>
            </a:r>
            <a:r>
              <a:rPr kumimoji="0" lang="en-US" altLang="zh-CN" sz="1500" b="1" dirty="0">
                <a:latin typeface="微软雅黑" pitchFamily="34" charset="-122"/>
                <a:ea typeface="微软雅黑" pitchFamily="34" charset="-122"/>
              </a:rPr>
              <a:t>RIP </a:t>
            </a:r>
            <a:r>
              <a:rPr kumimoji="0" lang="zh-CN" altLang="en-US" sz="1500" b="1" dirty="0">
                <a:latin typeface="微软雅黑" pitchFamily="34" charset="-122"/>
                <a:ea typeface="微软雅黑" pitchFamily="34" charset="-122"/>
              </a:rPr>
              <a:t>报文中的每一个项目，</a:t>
            </a:r>
            <a:r>
              <a:rPr kumimoji="0" lang="zh-CN" altLang="en-US" sz="1500" b="1" dirty="0">
                <a:solidFill>
                  <a:srgbClr val="C00000"/>
                </a:solidFill>
                <a:latin typeface="微软雅黑" pitchFamily="34" charset="-122"/>
                <a:ea typeface="微软雅黑" pitchFamily="34" charset="-122"/>
              </a:rPr>
              <a:t>重复以下步骤：</a:t>
            </a:r>
            <a:endParaRPr kumimoji="0" lang="en-US" altLang="zh-CN" sz="1500" b="1" dirty="0">
              <a:solidFill>
                <a:srgbClr val="C00000"/>
              </a:solidFill>
              <a:latin typeface="微软雅黑" pitchFamily="34" charset="-122"/>
              <a:ea typeface="微软雅黑" pitchFamily="34" charset="-122"/>
            </a:endParaRPr>
          </a:p>
          <a:p>
            <a:pPr>
              <a:lnSpc>
                <a:spcPts val="2300"/>
              </a:lnSpc>
            </a:pPr>
            <a:r>
              <a:rPr lang="en-US" altLang="zh-CN" sz="1500" b="1" dirty="0">
                <a:solidFill>
                  <a:srgbClr val="000099"/>
                </a:solidFill>
                <a:latin typeface="微软雅黑" pitchFamily="34" charset="-122"/>
                <a:ea typeface="微软雅黑" pitchFamily="34" charset="-122"/>
              </a:rPr>
              <a:t>    </a:t>
            </a:r>
            <a:r>
              <a:rPr lang="zh-CN" altLang="en-US" sz="1400" b="1" dirty="0">
                <a:solidFill>
                  <a:srgbClr val="000099"/>
                </a:solidFill>
                <a:latin typeface="微软雅黑" pitchFamily="34" charset="-122"/>
                <a:ea typeface="微软雅黑" pitchFamily="34" charset="-122"/>
              </a:rPr>
              <a:t>若路由表中</a:t>
            </a:r>
            <a:r>
              <a:rPr lang="zh-CN" altLang="en-US" sz="1400" b="1" dirty="0">
                <a:solidFill>
                  <a:srgbClr val="C00000"/>
                </a:solidFill>
                <a:latin typeface="微软雅黑" pitchFamily="34" charset="-122"/>
                <a:ea typeface="微软雅黑" pitchFamily="34" charset="-122"/>
              </a:rPr>
              <a:t>没有</a:t>
            </a:r>
            <a:r>
              <a:rPr lang="zh-CN" altLang="en-US" sz="1400" b="1" dirty="0">
                <a:solidFill>
                  <a:srgbClr val="000099"/>
                </a:solidFill>
                <a:latin typeface="微软雅黑" pitchFamily="34" charset="-122"/>
                <a:ea typeface="微软雅黑" pitchFamily="34" charset="-122"/>
              </a:rPr>
              <a:t>目的网络</a:t>
            </a:r>
            <a:r>
              <a:rPr lang="en-US" altLang="zh-CN" sz="1400" b="1" dirty="0">
                <a:solidFill>
                  <a:srgbClr val="000099"/>
                </a:solidFill>
                <a:latin typeface="微软雅黑" pitchFamily="34" charset="-122"/>
                <a:ea typeface="微软雅黑" pitchFamily="34" charset="-122"/>
              </a:rPr>
              <a:t>N</a:t>
            </a:r>
            <a:r>
              <a:rPr lang="zh-CN" altLang="en-US" sz="1400" b="1" dirty="0">
                <a:solidFill>
                  <a:srgbClr val="000099"/>
                </a:solidFill>
                <a:latin typeface="微软雅黑" pitchFamily="34" charset="-122"/>
                <a:ea typeface="微软雅黑" pitchFamily="34" charset="-122"/>
              </a:rPr>
              <a:t>，</a:t>
            </a:r>
            <a:r>
              <a:rPr kumimoji="0" lang="zh-CN" altLang="en-US" sz="1400" b="1" dirty="0">
                <a:solidFill>
                  <a:srgbClr val="000099"/>
                </a:solidFill>
                <a:latin typeface="微软雅黑" pitchFamily="34" charset="-122"/>
                <a:ea typeface="微软雅黑" pitchFamily="34" charset="-122"/>
              </a:rPr>
              <a:t>则把该项目</a:t>
            </a:r>
            <a:r>
              <a:rPr lang="zh-CN" altLang="en-US" sz="1400" b="1" dirty="0">
                <a:solidFill>
                  <a:srgbClr val="C00000"/>
                </a:solidFill>
                <a:latin typeface="微软雅黑" pitchFamily="34" charset="-122"/>
                <a:ea typeface="微软雅黑" pitchFamily="34" charset="-122"/>
              </a:rPr>
              <a:t>添加</a:t>
            </a:r>
            <a:r>
              <a:rPr kumimoji="0" lang="zh-CN" altLang="en-US" sz="1400" b="1" dirty="0">
                <a:solidFill>
                  <a:srgbClr val="000099"/>
                </a:solidFill>
                <a:latin typeface="微软雅黑" pitchFamily="34" charset="-122"/>
                <a:ea typeface="微软雅黑" pitchFamily="34" charset="-122"/>
              </a:rPr>
              <a:t>到路由表中</a:t>
            </a:r>
            <a:r>
              <a:rPr lang="zh-CN" altLang="en-US" sz="1400" b="1" dirty="0">
                <a:solidFill>
                  <a:srgbClr val="000099"/>
                </a:solidFill>
                <a:latin typeface="微软雅黑" pitchFamily="34" charset="-122"/>
                <a:ea typeface="微软雅黑" pitchFamily="34" charset="-122"/>
              </a:rPr>
              <a:t>。否则</a:t>
            </a:r>
            <a:endParaRPr lang="en-US" altLang="zh-CN" sz="1400" b="1" dirty="0">
              <a:solidFill>
                <a:srgbClr val="000099"/>
              </a:solidFill>
              <a:latin typeface="微软雅黑" pitchFamily="34" charset="-122"/>
              <a:ea typeface="微软雅黑" pitchFamily="34" charset="-122"/>
            </a:endParaRPr>
          </a:p>
          <a:p>
            <a:pPr>
              <a:lnSpc>
                <a:spcPts val="2300"/>
              </a:lnSpc>
            </a:pPr>
            <a:r>
              <a:rPr kumimoji="0" lang="en-US" altLang="zh-CN" sz="1400" b="1" dirty="0">
                <a:solidFill>
                  <a:srgbClr val="000099"/>
                </a:solidFill>
                <a:latin typeface="微软雅黑" pitchFamily="34" charset="-122"/>
                <a:ea typeface="微软雅黑" pitchFamily="34" charset="-122"/>
              </a:rPr>
              <a:t>        </a:t>
            </a:r>
            <a:r>
              <a:rPr lang="zh-CN" altLang="en-US" sz="1400" b="1" dirty="0">
                <a:solidFill>
                  <a:srgbClr val="000099"/>
                </a:solidFill>
                <a:latin typeface="微软雅黑" pitchFamily="34" charset="-122"/>
                <a:ea typeface="微软雅黑" pitchFamily="34" charset="-122"/>
              </a:rPr>
              <a:t>若路由表中网络 </a:t>
            </a:r>
            <a:r>
              <a:rPr lang="en-US" altLang="zh-CN" sz="1400" b="1" dirty="0">
                <a:solidFill>
                  <a:srgbClr val="000099"/>
                </a:solidFill>
                <a:latin typeface="微软雅黑" pitchFamily="34" charset="-122"/>
                <a:ea typeface="微软雅黑" pitchFamily="34" charset="-122"/>
              </a:rPr>
              <a:t>N </a:t>
            </a:r>
            <a:r>
              <a:rPr lang="zh-CN" altLang="en-US" sz="1400" b="1" dirty="0">
                <a:solidFill>
                  <a:srgbClr val="000099"/>
                </a:solidFill>
                <a:latin typeface="微软雅黑" pitchFamily="34" charset="-122"/>
                <a:ea typeface="微软雅黑" pitchFamily="34" charset="-122"/>
              </a:rPr>
              <a:t>的</a:t>
            </a:r>
            <a:r>
              <a:rPr kumimoji="0" lang="zh-CN" altLang="en-US" sz="1400" b="1" dirty="0">
                <a:solidFill>
                  <a:srgbClr val="C00000"/>
                </a:solidFill>
                <a:latin typeface="微软雅黑" pitchFamily="34" charset="-122"/>
                <a:ea typeface="微软雅黑" pitchFamily="34" charset="-122"/>
              </a:rPr>
              <a:t>下一跳</a:t>
            </a:r>
            <a:r>
              <a:rPr lang="zh-CN" altLang="en-US" sz="1400" b="1" dirty="0">
                <a:solidFill>
                  <a:srgbClr val="000099"/>
                </a:solidFill>
                <a:latin typeface="微软雅黑" pitchFamily="34" charset="-122"/>
                <a:ea typeface="微软雅黑" pitchFamily="34" charset="-122"/>
              </a:rPr>
              <a:t>路由器</a:t>
            </a:r>
            <a:r>
              <a:rPr kumimoji="0" lang="zh-CN" altLang="en-US" sz="1400" b="1" dirty="0">
                <a:solidFill>
                  <a:srgbClr val="000099"/>
                </a:solidFill>
                <a:latin typeface="微软雅黑" pitchFamily="34" charset="-122"/>
                <a:ea typeface="微软雅黑" pitchFamily="34" charset="-122"/>
              </a:rPr>
              <a:t>为 </a:t>
            </a:r>
            <a:r>
              <a:rPr kumimoji="0" lang="en-US" altLang="zh-CN" sz="1400" b="1" dirty="0">
                <a:solidFill>
                  <a:srgbClr val="000099"/>
                </a:solidFill>
                <a:latin typeface="微软雅黑" pitchFamily="34" charset="-122"/>
                <a:ea typeface="微软雅黑" pitchFamily="34" charset="-122"/>
              </a:rPr>
              <a:t>X</a:t>
            </a:r>
            <a:r>
              <a:rPr kumimoji="0" lang="zh-CN" altLang="en-US" sz="1400" b="1" dirty="0">
                <a:solidFill>
                  <a:srgbClr val="000099"/>
                </a:solidFill>
                <a:latin typeface="微软雅黑" pitchFamily="34" charset="-122"/>
                <a:ea typeface="微软雅黑" pitchFamily="34" charset="-122"/>
              </a:rPr>
              <a:t>，则用收到的项目</a:t>
            </a:r>
            <a:r>
              <a:rPr kumimoji="0" lang="zh-CN" altLang="en-US" sz="1400" b="1" dirty="0">
                <a:solidFill>
                  <a:srgbClr val="C00000"/>
                </a:solidFill>
                <a:latin typeface="微软雅黑" pitchFamily="34" charset="-122"/>
                <a:ea typeface="微软雅黑" pitchFamily="34" charset="-122"/>
              </a:rPr>
              <a:t>替换</a:t>
            </a:r>
            <a:r>
              <a:rPr kumimoji="0" lang="zh-CN" altLang="en-US" sz="1400" b="1" dirty="0">
                <a:solidFill>
                  <a:srgbClr val="000099"/>
                </a:solidFill>
                <a:latin typeface="微软雅黑" pitchFamily="34" charset="-122"/>
                <a:ea typeface="微软雅黑" pitchFamily="34" charset="-122"/>
              </a:rPr>
              <a:t>原路由表中的项目。</a:t>
            </a:r>
            <a:r>
              <a:rPr lang="zh-CN" altLang="en-US" sz="1400" b="1" dirty="0">
                <a:solidFill>
                  <a:srgbClr val="000099"/>
                </a:solidFill>
                <a:latin typeface="微软雅黑" pitchFamily="34" charset="-122"/>
                <a:ea typeface="微软雅黑" pitchFamily="34" charset="-122"/>
              </a:rPr>
              <a:t>否则</a:t>
            </a:r>
            <a:endParaRPr lang="en-US" altLang="zh-CN" sz="1400" b="1" dirty="0">
              <a:solidFill>
                <a:srgbClr val="000099"/>
              </a:solidFill>
              <a:latin typeface="微软雅黑" pitchFamily="34" charset="-122"/>
              <a:ea typeface="微软雅黑" pitchFamily="34" charset="-122"/>
            </a:endParaRPr>
          </a:p>
          <a:p>
            <a:pPr>
              <a:lnSpc>
                <a:spcPts val="2300"/>
              </a:lnSpc>
            </a:pPr>
            <a:r>
              <a:rPr kumimoji="0" lang="en-US" altLang="zh-CN" sz="1400" b="1" dirty="0">
                <a:solidFill>
                  <a:srgbClr val="000099"/>
                </a:solidFill>
                <a:latin typeface="微软雅黑" pitchFamily="34" charset="-122"/>
                <a:ea typeface="微软雅黑" pitchFamily="34" charset="-122"/>
              </a:rPr>
              <a:t>           </a:t>
            </a:r>
            <a:r>
              <a:rPr kumimoji="0" lang="zh-CN" altLang="en-US" sz="1400" b="1" dirty="0">
                <a:solidFill>
                  <a:srgbClr val="000099"/>
                </a:solidFill>
                <a:latin typeface="微软雅黑" pitchFamily="34" charset="-122"/>
                <a:ea typeface="微软雅黑" pitchFamily="34" charset="-122"/>
              </a:rPr>
              <a:t>若收到项目中的距离</a:t>
            </a:r>
            <a:r>
              <a:rPr kumimoji="0" lang="zh-CN" altLang="en-US" sz="1400" b="1" dirty="0">
                <a:solidFill>
                  <a:srgbClr val="C00000"/>
                </a:solidFill>
                <a:latin typeface="微软雅黑" pitchFamily="34" charset="-122"/>
                <a:ea typeface="微软雅黑" pitchFamily="34" charset="-122"/>
              </a:rPr>
              <a:t>小于</a:t>
            </a:r>
            <a:r>
              <a:rPr kumimoji="0" lang="zh-CN" altLang="en-US" sz="1400" b="1" dirty="0">
                <a:solidFill>
                  <a:srgbClr val="000099"/>
                </a:solidFill>
                <a:latin typeface="微软雅黑" pitchFamily="34" charset="-122"/>
                <a:ea typeface="微软雅黑" pitchFamily="34" charset="-122"/>
              </a:rPr>
              <a:t>路由表中的距离，</a:t>
            </a:r>
            <a:r>
              <a:rPr lang="zh-CN" altLang="en-US" sz="1400" b="1" dirty="0">
                <a:solidFill>
                  <a:srgbClr val="000099"/>
                </a:solidFill>
                <a:latin typeface="微软雅黑" pitchFamily="34" charset="-122"/>
                <a:ea typeface="微软雅黑" pitchFamily="34" charset="-122"/>
              </a:rPr>
              <a:t>则用收到项目</a:t>
            </a:r>
            <a:r>
              <a:rPr lang="zh-CN" altLang="en-US" sz="1400" b="1" dirty="0">
                <a:solidFill>
                  <a:srgbClr val="C00000"/>
                </a:solidFill>
                <a:latin typeface="微软雅黑" pitchFamily="34" charset="-122"/>
                <a:ea typeface="微软雅黑" pitchFamily="34" charset="-122"/>
              </a:rPr>
              <a:t>更新</a:t>
            </a:r>
            <a:r>
              <a:rPr lang="zh-CN" altLang="en-US" sz="1400" b="1" dirty="0">
                <a:solidFill>
                  <a:srgbClr val="000099"/>
                </a:solidFill>
                <a:latin typeface="微软雅黑" pitchFamily="34" charset="-122"/>
                <a:ea typeface="微软雅黑" pitchFamily="34" charset="-122"/>
              </a:rPr>
              <a:t>原路由表中的项目。</a:t>
            </a:r>
            <a:r>
              <a:rPr kumimoji="0" lang="zh-CN" altLang="en-US" sz="1400" b="1" dirty="0">
                <a:solidFill>
                  <a:srgbClr val="000099"/>
                </a:solidFill>
                <a:latin typeface="微软雅黑" pitchFamily="34" charset="-122"/>
                <a:ea typeface="微软雅黑" pitchFamily="34" charset="-122"/>
              </a:rPr>
              <a:t>否则</a:t>
            </a:r>
            <a:endParaRPr kumimoji="0" lang="en-US" altLang="zh-CN" sz="1400" b="1" dirty="0">
              <a:solidFill>
                <a:srgbClr val="000099"/>
              </a:solidFill>
              <a:latin typeface="微软雅黑" pitchFamily="34" charset="-122"/>
              <a:ea typeface="微软雅黑" pitchFamily="34" charset="-122"/>
            </a:endParaRPr>
          </a:p>
          <a:p>
            <a:pPr>
              <a:lnSpc>
                <a:spcPts val="2300"/>
              </a:lnSpc>
            </a:pPr>
            <a:r>
              <a:rPr kumimoji="0" lang="zh-CN" altLang="en-US" sz="1400" b="1" dirty="0">
                <a:solidFill>
                  <a:srgbClr val="000099"/>
                </a:solidFill>
                <a:latin typeface="微软雅黑" pitchFamily="34" charset="-122"/>
                <a:ea typeface="微软雅黑" pitchFamily="34" charset="-122"/>
              </a:rPr>
              <a:t>               什么也不做。</a:t>
            </a:r>
          </a:p>
          <a:p>
            <a:pPr>
              <a:lnSpc>
                <a:spcPts val="2300"/>
              </a:lnSpc>
            </a:pPr>
            <a:r>
              <a:rPr kumimoji="0" lang="en-US" altLang="zh-CN" sz="1500" b="1" dirty="0">
                <a:latin typeface="微软雅黑" pitchFamily="34" charset="-122"/>
                <a:ea typeface="微软雅黑" pitchFamily="34" charset="-122"/>
              </a:rPr>
              <a:t>(3) </a:t>
            </a:r>
            <a:r>
              <a:rPr kumimoji="0" lang="zh-CN" altLang="en-US" sz="1500" b="1" dirty="0">
                <a:latin typeface="微软雅黑" pitchFamily="34" charset="-122"/>
                <a:ea typeface="微软雅黑" pitchFamily="34" charset="-122"/>
              </a:rPr>
              <a:t>若 </a:t>
            </a:r>
            <a:r>
              <a:rPr kumimoji="0" lang="en-US" altLang="zh-CN" sz="1500" b="1" dirty="0">
                <a:latin typeface="微软雅黑" pitchFamily="34" charset="-122"/>
                <a:ea typeface="微软雅黑" pitchFamily="34" charset="-122"/>
              </a:rPr>
              <a:t>3 </a:t>
            </a:r>
            <a:r>
              <a:rPr kumimoji="0" lang="zh-CN" altLang="en-US" sz="1500" b="1" dirty="0">
                <a:latin typeface="微软雅黑" pitchFamily="34" charset="-122"/>
                <a:ea typeface="微软雅黑" pitchFamily="34" charset="-122"/>
              </a:rPr>
              <a:t>分钟还未收到相邻路由器的更新路由表，则把此相邻路由器记为</a:t>
            </a:r>
            <a:r>
              <a:rPr kumimoji="0" lang="zh-CN" altLang="en-US" sz="1500" b="1" dirty="0">
                <a:solidFill>
                  <a:srgbClr val="C00000"/>
                </a:solidFill>
                <a:latin typeface="微软雅黑" pitchFamily="34" charset="-122"/>
                <a:ea typeface="微软雅黑" pitchFamily="34" charset="-122"/>
              </a:rPr>
              <a:t>不可达</a:t>
            </a:r>
            <a:r>
              <a:rPr kumimoji="0" lang="zh-CN" altLang="en-US" sz="1500" b="1" dirty="0">
                <a:latin typeface="微软雅黑" pitchFamily="34" charset="-122"/>
                <a:ea typeface="微软雅黑" pitchFamily="34" charset="-122"/>
              </a:rPr>
              <a:t>路由器，即将距离置为 </a:t>
            </a:r>
            <a:r>
              <a:rPr kumimoji="0" lang="en-US" altLang="zh-CN" sz="1500" b="1" dirty="0">
                <a:latin typeface="微软雅黑" pitchFamily="34" charset="-122"/>
                <a:ea typeface="微软雅黑" pitchFamily="34" charset="-122"/>
              </a:rPr>
              <a:t>16</a:t>
            </a:r>
            <a:r>
              <a:rPr kumimoji="0" lang="zh-CN" altLang="en-US" sz="1500" b="1" dirty="0">
                <a:latin typeface="微软雅黑" pitchFamily="34" charset="-122"/>
                <a:ea typeface="微软雅黑" pitchFamily="34" charset="-122"/>
              </a:rPr>
              <a:t>（表示不可达）。</a:t>
            </a:r>
          </a:p>
          <a:p>
            <a:pPr>
              <a:lnSpc>
                <a:spcPts val="2300"/>
              </a:lnSpc>
            </a:pPr>
            <a:r>
              <a:rPr kumimoji="0" lang="en-US" altLang="zh-CN" sz="1500" b="1" dirty="0">
                <a:latin typeface="微软雅黑" pitchFamily="34" charset="-122"/>
                <a:ea typeface="微软雅黑" pitchFamily="34" charset="-122"/>
              </a:rPr>
              <a:t>(4) </a:t>
            </a:r>
            <a:r>
              <a:rPr kumimoji="0" lang="zh-CN" altLang="en-US" sz="1500" b="1" dirty="0">
                <a:latin typeface="微软雅黑" pitchFamily="34" charset="-122"/>
                <a:ea typeface="微软雅黑" pitchFamily="34" charset="-122"/>
              </a:rPr>
              <a:t>返回。</a:t>
            </a:r>
          </a:p>
        </p:txBody>
      </p:sp>
      <p:sp>
        <p:nvSpPr>
          <p:cNvPr id="2" name="矩形 1"/>
          <p:cNvSpPr/>
          <p:nvPr/>
        </p:nvSpPr>
        <p:spPr>
          <a:xfrm>
            <a:off x="545142" y="983146"/>
            <a:ext cx="8053713"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对每个相邻路由器（假设其地址为 </a:t>
            </a:r>
            <a:r>
              <a:rPr lang="en-US" altLang="zh-CN" sz="1600" b="1" dirty="0">
                <a:latin typeface="微软雅黑" panose="020B0503020204020204" pitchFamily="34" charset="-122"/>
                <a:ea typeface="微软雅黑" panose="020B0503020204020204" pitchFamily="34" charset="-122"/>
              </a:rPr>
              <a:t>X</a:t>
            </a:r>
            <a:r>
              <a:rPr lang="zh-CN" altLang="en-US" sz="1600" b="1" dirty="0">
                <a:latin typeface="微软雅黑" panose="020B0503020204020204" pitchFamily="34" charset="-122"/>
                <a:ea typeface="微软雅黑" panose="020B0503020204020204" pitchFamily="34" charset="-122"/>
              </a:rPr>
              <a:t>）发送过来的 </a:t>
            </a:r>
            <a:r>
              <a:rPr lang="en-US" altLang="zh-CN" sz="1600" b="1" dirty="0">
                <a:latin typeface="微软雅黑" panose="020B0503020204020204" pitchFamily="34" charset="-122"/>
                <a:ea typeface="微软雅黑" panose="020B0503020204020204" pitchFamily="34" charset="-122"/>
              </a:rPr>
              <a:t>RIP </a:t>
            </a:r>
            <a:r>
              <a:rPr lang="zh-CN" altLang="en-US" sz="1600" b="1" dirty="0">
                <a:latin typeface="微软雅黑" panose="020B0503020204020204" pitchFamily="34" charset="-122"/>
                <a:ea typeface="微软雅黑" panose="020B0503020204020204" pitchFamily="34" charset="-122"/>
              </a:rPr>
              <a:t>报文，路由器：</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4269"/>
            <a:ext cx="8053711" cy="21026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算法基础：</a:t>
            </a:r>
            <a:r>
              <a:rPr lang="en-US" altLang="zh-CN" sz="2000" b="1" dirty="0">
                <a:latin typeface="微软雅黑" pitchFamily="34" charset="-122"/>
                <a:ea typeface="微软雅黑" pitchFamily="34" charset="-122"/>
              </a:rPr>
              <a:t>Bellman-Ford </a:t>
            </a:r>
            <a:r>
              <a:rPr lang="zh-CN" altLang="en-US" sz="2000" b="1" dirty="0">
                <a:latin typeface="微软雅黑" pitchFamily="34" charset="-122"/>
                <a:ea typeface="微软雅黑" pitchFamily="34" charset="-122"/>
              </a:rPr>
              <a:t>算法（或 </a:t>
            </a:r>
            <a:r>
              <a:rPr lang="en-US" altLang="zh-CN" sz="2000" b="1" dirty="0">
                <a:latin typeface="微软雅黑" pitchFamily="34" charset="-122"/>
                <a:ea typeface="微软雅黑" pitchFamily="34" charset="-122"/>
              </a:rPr>
              <a:t>Ford-Fulkerson </a:t>
            </a:r>
            <a:r>
              <a:rPr lang="zh-CN" altLang="en-US" sz="2000" b="1" dirty="0">
                <a:latin typeface="微软雅黑" pitchFamily="34" charset="-122"/>
                <a:ea typeface="微软雅黑" pitchFamily="34" charset="-122"/>
              </a:rPr>
              <a:t>算法）。</a:t>
            </a:r>
            <a:endParaRPr lang="en-US" altLang="zh-CN" sz="2000" b="1" dirty="0">
              <a:latin typeface="微软雅黑" pitchFamily="34" charset="-122"/>
              <a:ea typeface="微软雅黑" pitchFamily="34" charset="-122"/>
            </a:endParaRPr>
          </a:p>
          <a:p>
            <a:pPr marL="285750" indent="-28575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算法要点：</a:t>
            </a:r>
          </a:p>
          <a:p>
            <a:pPr marL="273050">
              <a:lnSpc>
                <a:spcPts val="3200"/>
              </a:lnSpc>
              <a:buClr>
                <a:srgbClr val="0070C0"/>
              </a:buClr>
            </a:pPr>
            <a:r>
              <a:rPr lang="zh-CN" altLang="en-US" sz="2000" b="1" dirty="0">
                <a:latin typeface="微软雅黑" pitchFamily="34" charset="-122"/>
                <a:ea typeface="微软雅黑" pitchFamily="34" charset="-122"/>
              </a:rPr>
              <a:t>设 </a:t>
            </a:r>
            <a:r>
              <a:rPr lang="en-US" altLang="zh-CN" sz="2000" b="1" dirty="0">
                <a:latin typeface="微软雅黑" pitchFamily="34" charset="-122"/>
                <a:ea typeface="微软雅黑" pitchFamily="34" charset="-122"/>
              </a:rPr>
              <a:t>X </a:t>
            </a:r>
            <a:r>
              <a:rPr lang="zh-CN" altLang="en-US" sz="2000" b="1" dirty="0">
                <a:latin typeface="微软雅黑" pitchFamily="34" charset="-122"/>
                <a:ea typeface="微软雅黑" pitchFamily="34" charset="-122"/>
              </a:rPr>
              <a:t>是结点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到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的最短路径上的一个结点。</a:t>
            </a:r>
          </a:p>
          <a:p>
            <a:pPr marL="273050">
              <a:lnSpc>
                <a:spcPts val="3200"/>
              </a:lnSpc>
              <a:buClr>
                <a:srgbClr val="0070C0"/>
              </a:buClr>
            </a:pPr>
            <a:r>
              <a:rPr lang="zh-CN" altLang="en-US" sz="2000" b="1" dirty="0">
                <a:latin typeface="微软雅黑" pitchFamily="34" charset="-122"/>
                <a:ea typeface="微软雅黑" pitchFamily="34" charset="-122"/>
              </a:rPr>
              <a:t>若把路径 </a:t>
            </a:r>
            <a:r>
              <a:rPr lang="en-US" altLang="zh-CN" sz="2000" b="1" dirty="0">
                <a:latin typeface="微软雅黑" pitchFamily="34" charset="-122"/>
                <a:ea typeface="微软雅黑" pitchFamily="34" charset="-122"/>
              </a:rPr>
              <a:t>A→B </a:t>
            </a:r>
            <a:r>
              <a:rPr lang="zh-CN" altLang="en-US" sz="2000" b="1" dirty="0">
                <a:latin typeface="微软雅黑" pitchFamily="34" charset="-122"/>
                <a:ea typeface="微软雅黑" pitchFamily="34" charset="-122"/>
              </a:rPr>
              <a:t>拆成两段路径 </a:t>
            </a:r>
            <a:r>
              <a:rPr lang="en-US" altLang="zh-CN" sz="2000" b="1" dirty="0">
                <a:latin typeface="微软雅黑" pitchFamily="34" charset="-122"/>
                <a:ea typeface="微软雅黑" pitchFamily="34" charset="-122"/>
              </a:rPr>
              <a:t>A→X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X→B</a:t>
            </a:r>
            <a:r>
              <a:rPr lang="zh-CN" altLang="en-US" sz="2000" b="1" dirty="0">
                <a:latin typeface="微软雅黑" pitchFamily="34" charset="-122"/>
                <a:ea typeface="微软雅黑" pitchFamily="34" charset="-122"/>
              </a:rPr>
              <a:t>，则每一段路径 </a:t>
            </a:r>
            <a:r>
              <a:rPr lang="en-US" altLang="zh-CN" sz="2000" b="1" dirty="0">
                <a:latin typeface="微软雅黑" pitchFamily="34" charset="-122"/>
                <a:ea typeface="微软雅黑" pitchFamily="34" charset="-122"/>
              </a:rPr>
              <a:t>A→X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X→B </a:t>
            </a:r>
            <a:r>
              <a:rPr lang="zh-CN" altLang="en-US" sz="2000" b="1" dirty="0">
                <a:latin typeface="微软雅黑" pitchFamily="34" charset="-122"/>
                <a:ea typeface="微软雅黑" pitchFamily="34" charset="-122"/>
              </a:rPr>
              <a:t>也都分别是结点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到 </a:t>
            </a:r>
            <a:r>
              <a:rPr lang="en-US" altLang="zh-CN" sz="2000" b="1" dirty="0">
                <a:latin typeface="微软雅黑" pitchFamily="34" charset="-122"/>
                <a:ea typeface="微软雅黑" pitchFamily="34" charset="-122"/>
              </a:rPr>
              <a:t>X </a:t>
            </a:r>
            <a:r>
              <a:rPr lang="zh-CN" altLang="en-US" sz="2000" b="1" dirty="0">
                <a:latin typeface="微软雅黑" pitchFamily="34" charset="-122"/>
                <a:ea typeface="微软雅黑" pitchFamily="34" charset="-122"/>
              </a:rPr>
              <a:t>和结点 </a:t>
            </a:r>
            <a:r>
              <a:rPr lang="en-US" altLang="zh-CN" sz="2000" b="1" dirty="0">
                <a:latin typeface="微软雅黑" pitchFamily="34" charset="-122"/>
                <a:ea typeface="微软雅黑" pitchFamily="34" charset="-122"/>
              </a:rPr>
              <a:t>X </a:t>
            </a:r>
            <a:r>
              <a:rPr lang="zh-CN" altLang="en-US" sz="2000" b="1" dirty="0">
                <a:latin typeface="微软雅黑" pitchFamily="34" charset="-122"/>
                <a:ea typeface="微软雅黑" pitchFamily="34" charset="-122"/>
              </a:rPr>
              <a:t>到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的最短路径。</a:t>
            </a:r>
          </a:p>
        </p:txBody>
      </p:sp>
      <p:sp>
        <p:nvSpPr>
          <p:cNvPr id="3" name="AutoShape 5"/>
          <p:cNvSpPr>
            <a:spLocks noChangeArrowheads="1"/>
          </p:cNvSpPr>
          <p:nvPr/>
        </p:nvSpPr>
        <p:spPr bwMode="auto">
          <a:xfrm>
            <a:off x="545144" y="614952"/>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097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距离向量算法</a:t>
            </a:r>
          </a:p>
        </p:txBody>
      </p:sp>
      <p:grpSp>
        <p:nvGrpSpPr>
          <p:cNvPr id="28" name="组合 27"/>
          <p:cNvGrpSpPr/>
          <p:nvPr/>
        </p:nvGrpSpPr>
        <p:grpSpPr>
          <a:xfrm>
            <a:off x="2488044" y="3332202"/>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623146" y="3179095"/>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268691" y="3523989"/>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468067" y="4079010"/>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078118" y="4079010"/>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006620" y="3777666"/>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5969020" y="3777666"/>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3803106" y="3837702"/>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5462"/>
            <a:ext cx="8053712" cy="37281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6449"/>
            <a:ext cx="8053712" cy="37785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45145" y="1088764"/>
            <a:ext cx="8053710" cy="3244544"/>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1218957" y="4331211"/>
            <a:ext cx="6929549" cy="338554"/>
          </a:xfrm>
          <a:prstGeom prst="rect">
            <a:avLst/>
          </a:prstGeom>
          <a:solidFill>
            <a:schemeClr val="bg1"/>
          </a:solidFill>
        </p:spPr>
        <p:txBody>
          <a:bodyPr wrap="square">
            <a:spAutoFit/>
          </a:bodyPr>
          <a:lstStyle/>
          <a:p>
            <a:pPr algn="ctr"/>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的报文用使用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传送（使用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端口 </a:t>
            </a:r>
            <a:r>
              <a:rPr lang="en-US" altLang="zh-CN" sz="1600" b="1" dirty="0">
                <a:latin typeface="微软雅黑" panose="020B0503020204020204" pitchFamily="34" charset="-122"/>
                <a:ea typeface="微软雅黑" panose="020B0503020204020204" pitchFamily="34" charset="-122"/>
              </a:rPr>
              <a:t>520</a:t>
            </a:r>
            <a:r>
              <a:rPr lang="zh-CN" altLang="en-US" sz="1600" b="1" dirty="0">
                <a:latin typeface="微软雅黑" panose="020B0503020204020204" pitchFamily="34" charset="-122"/>
                <a:ea typeface="微软雅黑" panose="020B0503020204020204" pitchFamily="34" charset="-122"/>
              </a:rPr>
              <a:t>）。</a:t>
            </a:r>
          </a:p>
        </p:txBody>
      </p:sp>
      <p:sp>
        <p:nvSpPr>
          <p:cNvPr id="61" name="AutoShape 5"/>
          <p:cNvSpPr>
            <a:spLocks noChangeArrowheads="1"/>
          </p:cNvSpPr>
          <p:nvPr/>
        </p:nvSpPr>
        <p:spPr bwMode="auto">
          <a:xfrm>
            <a:off x="545144" y="62576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 name="矩形 61"/>
          <p:cNvSpPr/>
          <p:nvPr/>
        </p:nvSpPr>
        <p:spPr>
          <a:xfrm>
            <a:off x="616085" y="575793"/>
            <a:ext cx="1367682" cy="400110"/>
          </a:xfrm>
          <a:prstGeom prst="rect">
            <a:avLst/>
          </a:prstGeom>
        </p:spPr>
        <p:txBody>
          <a:bodyPr wrap="none">
            <a:spAutoFit/>
          </a:bodyPr>
          <a:lstStyle/>
          <a:p>
            <a:r>
              <a:rPr lang="en-US" altLang="zh-CN" sz="2000" b="1" dirty="0">
                <a:latin typeface="微软雅黑" pitchFamily="34" charset="-122"/>
                <a:ea typeface="微软雅黑" pitchFamily="34" charset="-122"/>
              </a:rPr>
              <a:t>RIP2 </a:t>
            </a:r>
            <a:r>
              <a:rPr lang="zh-CN" altLang="en-US" sz="2000" b="1" dirty="0">
                <a:latin typeface="微软雅黑" pitchFamily="34" charset="-122"/>
                <a:ea typeface="微软雅黑" pitchFamily="34" charset="-122"/>
              </a:rPr>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576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5793"/>
            <a:ext cx="1367682" cy="400110"/>
          </a:xfrm>
          <a:prstGeom prst="rect">
            <a:avLst/>
          </a:prstGeom>
        </p:spPr>
        <p:txBody>
          <a:bodyPr wrap="none">
            <a:spAutoFit/>
          </a:bodyPr>
          <a:lstStyle/>
          <a:p>
            <a:r>
              <a:rPr lang="en-US" altLang="zh-CN" sz="2000" b="1" dirty="0">
                <a:latin typeface="微软雅黑" pitchFamily="34" charset="-122"/>
                <a:ea typeface="微软雅黑" pitchFamily="34" charset="-122"/>
              </a:rPr>
              <a:t>RIP2 </a:t>
            </a:r>
            <a:r>
              <a:rPr lang="zh-CN" altLang="en-US" sz="2000" b="1" dirty="0">
                <a:latin typeface="微软雅黑" pitchFamily="34" charset="-122"/>
                <a:ea typeface="微软雅黑" pitchFamily="34" charset="-122"/>
              </a:rPr>
              <a:t>报文</a:t>
            </a:r>
          </a:p>
        </p:txBody>
      </p:sp>
      <p:sp>
        <p:nvSpPr>
          <p:cNvPr id="4" name="矩形 3"/>
          <p:cNvSpPr/>
          <p:nvPr/>
        </p:nvSpPr>
        <p:spPr>
          <a:xfrm>
            <a:off x="545144" y="924161"/>
            <a:ext cx="8257111" cy="3554819"/>
          </a:xfrm>
          <a:prstGeom prst="rect">
            <a:avLst/>
          </a:prstGeom>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组成：</a:t>
            </a:r>
            <a:r>
              <a:rPr lang="zh-CN" altLang="en-US" sz="2000" b="1" dirty="0">
                <a:solidFill>
                  <a:srgbClr val="0000FF"/>
                </a:solidFill>
                <a:latin typeface="微软雅黑" pitchFamily="34" charset="-122"/>
                <a:ea typeface="微软雅黑" pitchFamily="34" charset="-122"/>
              </a:rPr>
              <a:t>首部</a:t>
            </a:r>
            <a:r>
              <a:rPr lang="zh-CN" altLang="en-US" sz="2000" b="1" dirty="0">
                <a:latin typeface="微软雅黑" pitchFamily="34" charset="-122"/>
                <a:ea typeface="微软雅黑" pitchFamily="34" charset="-122"/>
              </a:rPr>
              <a:t>和</a:t>
            </a:r>
            <a:r>
              <a:rPr lang="zh-CN" altLang="en-US" sz="2000" b="1" dirty="0">
                <a:solidFill>
                  <a:srgbClr val="0000FF"/>
                </a:solidFill>
                <a:latin typeface="微软雅黑" pitchFamily="34" charset="-122"/>
                <a:ea typeface="微软雅黑" pitchFamily="34" charset="-122"/>
              </a:rPr>
              <a:t>路由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个部分。</a:t>
            </a: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路由部分：</a:t>
            </a:r>
            <a:r>
              <a:rPr lang="zh-CN" altLang="en-US" sz="2000" b="1" dirty="0">
                <a:latin typeface="微软雅黑" pitchFamily="34" charset="-122"/>
                <a:ea typeface="微软雅黑" pitchFamily="34" charset="-122"/>
              </a:rPr>
              <a:t>由若干个路由信息组成。每个路由信息共 </a:t>
            </a:r>
            <a:r>
              <a:rPr lang="en-US" altLang="zh-CN" sz="2000" b="1" dirty="0">
                <a:latin typeface="微软雅黑" pitchFamily="34" charset="-122"/>
                <a:ea typeface="微软雅黑" pitchFamily="34" charset="-122"/>
              </a:rPr>
              <a:t>20 </a:t>
            </a:r>
            <a:r>
              <a:rPr lang="zh-CN" altLang="en-US" sz="2000" b="1" dirty="0">
                <a:latin typeface="微软雅黑" pitchFamily="34" charset="-122"/>
                <a:ea typeface="微软雅黑" pitchFamily="34" charset="-122"/>
              </a:rPr>
              <a:t>个字节。</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地址族标识符</a:t>
            </a:r>
            <a:r>
              <a:rPr lang="zh-CN" altLang="en-US" sz="2000" b="1" dirty="0">
                <a:latin typeface="微软雅黑" pitchFamily="34" charset="-122"/>
                <a:ea typeface="微软雅黑" pitchFamily="34" charset="-122"/>
              </a:rPr>
              <a:t>（又称为地址类别）字段用来标志所使用的地址协议。</a:t>
            </a: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路由标记</a:t>
            </a:r>
            <a:r>
              <a:rPr lang="zh-CN" altLang="en-US" sz="2000" b="1" dirty="0">
                <a:latin typeface="微软雅黑" pitchFamily="34" charset="-122"/>
                <a:ea typeface="微软雅黑" pitchFamily="34" charset="-122"/>
              </a:rPr>
              <a:t>填入自治系统的号码。</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后面为</a:t>
            </a:r>
            <a:r>
              <a:rPr lang="zh-CN" altLang="en-US" sz="2000" b="1" dirty="0">
                <a:solidFill>
                  <a:srgbClr val="C00000"/>
                </a:solidFill>
                <a:latin typeface="微软雅黑" pitchFamily="34" charset="-122"/>
                <a:ea typeface="微软雅黑" pitchFamily="34" charset="-122"/>
              </a:rPr>
              <a:t>具体路由</a:t>
            </a:r>
            <a:r>
              <a:rPr lang="zh-CN" altLang="en-US" sz="2000" b="1" dirty="0">
                <a:latin typeface="微软雅黑" pitchFamily="34" charset="-122"/>
                <a:ea typeface="微软雅黑" pitchFamily="34" charset="-122"/>
              </a:rPr>
              <a:t>，指出某个网络地址、该网络的子网掩码、下一跳路由器地址以及到此网络的距离。 </a:t>
            </a:r>
            <a:endParaRPr lang="en-US" altLang="zh-CN" sz="2000" b="1" dirty="0">
              <a:latin typeface="微软雅黑" pitchFamily="34" charset="-122"/>
              <a:ea typeface="微软雅黑" pitchFamily="34" charset="-122"/>
            </a:endParaRPr>
          </a:p>
          <a:p>
            <a:pPr marL="285750" lvl="1" indent="-285750">
              <a:lnSpc>
                <a:spcPts val="3000"/>
              </a:lnSpc>
              <a:buClr>
                <a:srgbClr val="0070C0"/>
              </a:buClr>
              <a:buSzPct val="75000"/>
              <a:buFont typeface="Wingdings" pitchFamily="2" charset="2"/>
              <a:buChar char="l"/>
            </a:pPr>
            <a:r>
              <a:rPr lang="zh-CN" altLang="en-US" sz="2000" b="1" dirty="0">
                <a:latin typeface="微软雅黑" pitchFamily="34" charset="-122"/>
                <a:ea typeface="微软雅黑" pitchFamily="34" charset="-122"/>
              </a:rPr>
              <a:t>一个 </a:t>
            </a:r>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报文</a:t>
            </a:r>
            <a:r>
              <a:rPr lang="zh-CN" altLang="en-US" sz="2000" b="1" dirty="0">
                <a:solidFill>
                  <a:srgbClr val="C00000"/>
                </a:solidFill>
                <a:latin typeface="微软雅黑" pitchFamily="34" charset="-122"/>
                <a:ea typeface="微软雅黑" pitchFamily="34" charset="-122"/>
              </a:rPr>
              <a:t>最多</a:t>
            </a:r>
            <a:r>
              <a:rPr lang="zh-CN" altLang="en-US" sz="2000" b="1" dirty="0">
                <a:latin typeface="微软雅黑" pitchFamily="34" charset="-122"/>
                <a:ea typeface="微软雅黑" pitchFamily="34" charset="-122"/>
              </a:rPr>
              <a:t>可包括 </a:t>
            </a:r>
            <a:r>
              <a:rPr lang="en-US" altLang="zh-CN" sz="2000" b="1" dirty="0">
                <a:latin typeface="微软雅黑" pitchFamily="34" charset="-122"/>
                <a:ea typeface="微软雅黑" pitchFamily="34" charset="-122"/>
              </a:rPr>
              <a:t>25 </a:t>
            </a:r>
            <a:r>
              <a:rPr lang="zh-CN" altLang="en-US" sz="2000" b="1" dirty="0">
                <a:latin typeface="微软雅黑" pitchFamily="34" charset="-122"/>
                <a:ea typeface="微软雅黑" pitchFamily="34" charset="-122"/>
              </a:rPr>
              <a:t>个路由，因而 </a:t>
            </a:r>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报文的最大长度是 </a:t>
            </a:r>
            <a:r>
              <a:rPr lang="en-US" altLang="zh-CN" sz="2000" b="1" dirty="0">
                <a:latin typeface="微软雅黑" pitchFamily="34" charset="-122"/>
                <a:ea typeface="微软雅黑" pitchFamily="34" charset="-122"/>
              </a:rPr>
              <a:t>4+20 x25=504 </a:t>
            </a:r>
            <a:r>
              <a:rPr lang="zh-CN" altLang="en-US" sz="2000" b="1" dirty="0">
                <a:latin typeface="微软雅黑" pitchFamily="34" charset="-122"/>
                <a:ea typeface="微软雅黑" pitchFamily="34" charset="-122"/>
              </a:rPr>
              <a:t>字节。如超过，必须再用一个 </a:t>
            </a:r>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报文来传送。</a:t>
            </a:r>
          </a:p>
          <a:p>
            <a:pPr marL="285750" lvl="1" indent="-285750">
              <a:lnSpc>
                <a:spcPts val="3000"/>
              </a:lnSpc>
              <a:buClr>
                <a:srgbClr val="0070C0"/>
              </a:buClr>
              <a:buSzPct val="75000"/>
              <a:buFont typeface="Wingdings" pitchFamily="2" charset="2"/>
              <a:buChar char="l"/>
            </a:pPr>
            <a:r>
              <a:rPr lang="en-US" altLang="zh-CN" sz="2000" b="1" dirty="0">
                <a:latin typeface="微软雅黑" pitchFamily="34" charset="-122"/>
                <a:ea typeface="微软雅黑" pitchFamily="34" charset="-122"/>
              </a:rPr>
              <a:t>RIP2 </a:t>
            </a:r>
            <a:r>
              <a:rPr lang="zh-CN" altLang="en-US" sz="2000" b="1" dirty="0">
                <a:latin typeface="微软雅黑" pitchFamily="34" charset="-122"/>
                <a:ea typeface="微软雅黑" pitchFamily="34" charset="-122"/>
              </a:rPr>
              <a:t>具有简单的鉴别功能。</a:t>
            </a:r>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179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41968" y="588582"/>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坏消息传播得慢</a:t>
            </a:r>
          </a:p>
        </p:txBody>
      </p:sp>
      <p:sp>
        <p:nvSpPr>
          <p:cNvPr id="5" name="矩形 4"/>
          <p:cNvSpPr/>
          <p:nvPr/>
        </p:nvSpPr>
        <p:spPr>
          <a:xfrm>
            <a:off x="545144" y="986921"/>
            <a:ext cx="8053712" cy="938719"/>
          </a:xfrm>
          <a:prstGeom prst="rect">
            <a:avLst/>
          </a:prstGeom>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协议</a:t>
            </a:r>
            <a:r>
              <a:rPr lang="zh-CN" altLang="en-US" sz="2000" b="1" dirty="0">
                <a:solidFill>
                  <a:srgbClr val="0000FF"/>
                </a:solidFill>
                <a:latin typeface="微软雅黑" pitchFamily="34" charset="-122"/>
                <a:ea typeface="微软雅黑" pitchFamily="34" charset="-122"/>
              </a:rPr>
              <a:t>特点：</a:t>
            </a:r>
            <a:r>
              <a:rPr lang="zh-CN" altLang="en-US" sz="2000" b="1" dirty="0">
                <a:latin typeface="微软雅黑" pitchFamily="34" charset="-122"/>
                <a:ea typeface="微软雅黑" pitchFamily="34" charset="-122"/>
              </a:rPr>
              <a:t>好消息传播得快，坏消息传播得慢。</a:t>
            </a: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坏消息传播得慢（</a:t>
            </a:r>
            <a:r>
              <a:rPr lang="zh-CN" altLang="en-US" sz="2000" b="1" dirty="0">
                <a:solidFill>
                  <a:srgbClr val="C00000"/>
                </a:solidFill>
                <a:latin typeface="微软雅黑" pitchFamily="34" charset="-122"/>
                <a:ea typeface="微软雅黑" pitchFamily="34" charset="-122"/>
              </a:rPr>
              <a:t>慢收敛</a:t>
            </a:r>
            <a:r>
              <a:rPr lang="zh-CN" altLang="en-US" sz="2000" b="1" dirty="0">
                <a:latin typeface="微软雅黑" pitchFamily="34" charset="-122"/>
                <a:ea typeface="微软雅黑" pitchFamily="34" charset="-122"/>
              </a:rPr>
              <a:t>）。</a:t>
            </a:r>
          </a:p>
        </p:txBody>
      </p:sp>
      <p:sp>
        <p:nvSpPr>
          <p:cNvPr id="7" name="对角圆角矩形 6"/>
          <p:cNvSpPr/>
          <p:nvPr/>
        </p:nvSpPr>
        <p:spPr>
          <a:xfrm>
            <a:off x="944686" y="2088650"/>
            <a:ext cx="6813859" cy="1208732"/>
          </a:xfrm>
          <a:prstGeom prst="round2Diag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095486" y="2261225"/>
            <a:ext cx="6542986" cy="861774"/>
          </a:xfrm>
          <a:prstGeom prst="rect">
            <a:avLst/>
          </a:prstGeom>
        </p:spPr>
        <p:txBody>
          <a:bodyPr wrap="square">
            <a:spAutoFit/>
          </a:bodyPr>
          <a:lstStyle/>
          <a:p>
            <a:pPr>
              <a:lnSpc>
                <a:spcPts val="3000"/>
              </a:lnSpc>
            </a:pPr>
            <a:r>
              <a:rPr lang="zh-CN" altLang="en-US" sz="2000" b="1" dirty="0">
                <a:solidFill>
                  <a:schemeClr val="bg1"/>
                </a:solidFill>
                <a:latin typeface="微软雅黑" pitchFamily="34" charset="-122"/>
                <a:ea typeface="微软雅黑" pitchFamily="34" charset="-122"/>
              </a:rPr>
              <a:t>当网络出现故障时，要经过比较长的时间才能将此信息（坏消息）传送到所有的路由器。</a:t>
            </a:r>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圆角矩形 129"/>
          <p:cNvSpPr/>
          <p:nvPr/>
        </p:nvSpPr>
        <p:spPr>
          <a:xfrm>
            <a:off x="545144" y="615462"/>
            <a:ext cx="8053712" cy="37281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7878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solidFill>
                  <a:srgbClr val="0000FF"/>
                </a:solidFill>
                <a:latin typeface="微软雅黑" pitchFamily="34" charset="-122"/>
                <a:ea typeface="微软雅黑" pitchFamily="34" charset="-122"/>
              </a:rPr>
              <a:t>R</a:t>
            </a:r>
            <a:r>
              <a:rPr kumimoji="1" lang="en-US" altLang="zh-CN" sz="1300" b="1" baseline="-25000">
                <a:solidFill>
                  <a:srgbClr val="0000FF"/>
                </a:solidFill>
                <a:latin typeface="微软雅黑" pitchFamily="34" charset="-122"/>
                <a:ea typeface="微软雅黑" pitchFamily="34" charset="-122"/>
              </a:rPr>
              <a:t>2</a:t>
            </a:r>
            <a:endParaRPr kumimoji="1" lang="en-US" altLang="zh-CN" sz="1300" b="1">
              <a:solidFill>
                <a:srgbClr val="0000FF"/>
              </a:solidFill>
              <a:latin typeface="微软雅黑" pitchFamily="34" charset="-122"/>
              <a:ea typeface="微软雅黑" pitchFamily="34" charset="-122"/>
            </a:endParaRPr>
          </a:p>
        </p:txBody>
      </p:sp>
      <p:sp>
        <p:nvSpPr>
          <p:cNvPr id="8" name="Text Box 5"/>
          <p:cNvSpPr txBox="1">
            <a:spLocks noChangeArrowheads="1"/>
          </p:cNvSpPr>
          <p:nvPr/>
        </p:nvSpPr>
        <p:spPr bwMode="auto">
          <a:xfrm>
            <a:off x="319037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dirty="0">
                <a:solidFill>
                  <a:srgbClr val="0000FF"/>
                </a:solidFill>
                <a:latin typeface="微软雅黑" pitchFamily="34" charset="-122"/>
                <a:ea typeface="微软雅黑" pitchFamily="34" charset="-122"/>
              </a:rPr>
              <a:t>R</a:t>
            </a:r>
            <a:r>
              <a:rPr kumimoji="1" lang="en-US" altLang="zh-CN" sz="1300" b="1" baseline="-25000" dirty="0">
                <a:solidFill>
                  <a:srgbClr val="0000FF"/>
                </a:solidFill>
                <a:latin typeface="微软雅黑" pitchFamily="34" charset="-122"/>
                <a:ea typeface="微软雅黑" pitchFamily="34" charset="-122"/>
              </a:rPr>
              <a:t>1</a:t>
            </a:r>
            <a:endParaRPr kumimoji="1" lang="en-US" altLang="zh-CN" sz="1300" b="1" dirty="0">
              <a:solidFill>
                <a:srgbClr val="0000FF"/>
              </a:solidFill>
              <a:latin typeface="微软雅黑" pitchFamily="34" charset="-122"/>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80"/>
            <a:ext cx="783138" cy="526362"/>
            <a:chOff x="4830" y="1752"/>
            <a:chExt cx="667" cy="477"/>
          </a:xfrm>
          <a:solidFill>
            <a:srgbClr val="00FFFF"/>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0000FF"/>
                  </a:solidFill>
                  <a:latin typeface="微软雅黑" pitchFamily="34" charset="-122"/>
                  <a:ea typeface="微软雅黑" pitchFamily="34" charset="-122"/>
                </a:rPr>
                <a:t>网 </a:t>
              </a:r>
              <a:r>
                <a:rPr kumimoji="1" lang="en-US" altLang="zh-CN" sz="1300" b="1" dirty="0">
                  <a:solidFill>
                    <a:srgbClr val="0000FF"/>
                  </a:solidFill>
                  <a:latin typeface="微软雅黑" pitchFamily="34" charset="-122"/>
                  <a:ea typeface="微软雅黑" pitchFamily="34" charset="-122"/>
                </a:rPr>
                <a:t>1</a:t>
              </a:r>
            </a:p>
          </p:txBody>
        </p:sp>
      </p:grpSp>
      <p:grpSp>
        <p:nvGrpSpPr>
          <p:cNvPr id="24" name="Group 21"/>
          <p:cNvGrpSpPr>
            <a:grpSpLocks/>
          </p:cNvGrpSpPr>
          <p:nvPr/>
        </p:nvGrpSpPr>
        <p:grpSpPr bwMode="auto">
          <a:xfrm>
            <a:off x="6444139" y="968580"/>
            <a:ext cx="783138" cy="526362"/>
            <a:chOff x="4830" y="1752"/>
            <a:chExt cx="667" cy="477"/>
          </a:xfrm>
          <a:solidFill>
            <a:srgbClr val="00FFFF"/>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solidFill>
                    <a:srgbClr val="0000FF"/>
                  </a:solidFill>
                  <a:latin typeface="微软雅黑" pitchFamily="34" charset="-122"/>
                  <a:ea typeface="微软雅黑" pitchFamily="34" charset="-122"/>
                </a:rPr>
                <a:t>网 </a:t>
              </a:r>
              <a:r>
                <a:rPr kumimoji="1" lang="en-US" altLang="zh-CN" sz="1300" b="1">
                  <a:solidFill>
                    <a:srgbClr val="0000FF"/>
                  </a:solidFill>
                  <a:latin typeface="微软雅黑" pitchFamily="34" charset="-122"/>
                  <a:ea typeface="微软雅黑" pitchFamily="34" charset="-122"/>
                </a:rPr>
                <a:t>3</a:t>
              </a:r>
            </a:p>
          </p:txBody>
        </p:sp>
      </p:grpSp>
      <p:grpSp>
        <p:nvGrpSpPr>
          <p:cNvPr id="38" name="Group 35"/>
          <p:cNvGrpSpPr>
            <a:grpSpLocks/>
          </p:cNvGrpSpPr>
          <p:nvPr/>
        </p:nvGrpSpPr>
        <p:grpSpPr bwMode="auto">
          <a:xfrm>
            <a:off x="4099995" y="968580"/>
            <a:ext cx="783138" cy="526362"/>
            <a:chOff x="4830" y="1752"/>
            <a:chExt cx="667" cy="477"/>
          </a:xfrm>
          <a:solidFill>
            <a:srgbClr val="00FFFF"/>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solidFill>
                    <a:srgbClr val="0000FF"/>
                  </a:solidFill>
                  <a:latin typeface="微软雅黑" pitchFamily="34" charset="-122"/>
                  <a:ea typeface="微软雅黑" pitchFamily="34" charset="-122"/>
                </a:rPr>
                <a:t>网 </a:t>
              </a:r>
              <a:r>
                <a:rPr kumimoji="1" lang="en-US" altLang="zh-CN" sz="1300" b="1">
                  <a:solidFill>
                    <a:srgbClr val="0000FF"/>
                  </a:solidFill>
                  <a:latin typeface="微软雅黑" pitchFamily="34" charset="-122"/>
                  <a:ea typeface="微软雅黑" pitchFamily="34" charset="-122"/>
                </a:rPr>
                <a:t>2</a:t>
              </a:r>
            </a:p>
          </p:txBody>
        </p:sp>
      </p:grpSp>
      <p:sp>
        <p:nvSpPr>
          <p:cNvPr id="104" name="Text Box 101"/>
          <p:cNvSpPr txBox="1">
            <a:spLocks noChangeArrowheads="1"/>
          </p:cNvSpPr>
          <p:nvPr/>
        </p:nvSpPr>
        <p:spPr bwMode="auto">
          <a:xfrm>
            <a:off x="1486022" y="768154"/>
            <a:ext cx="35137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CC00CC"/>
                </a:solidFill>
                <a:latin typeface="微软雅黑" pitchFamily="34" charset="-122"/>
                <a:ea typeface="微软雅黑" pitchFamily="34" charset="-122"/>
              </a:rPr>
              <a:t>正</a:t>
            </a:r>
          </a:p>
          <a:p>
            <a:r>
              <a:rPr kumimoji="1" lang="zh-CN" altLang="en-US" sz="1300" b="1" dirty="0">
                <a:solidFill>
                  <a:srgbClr val="CC00CC"/>
                </a:solidFill>
                <a:latin typeface="微软雅黑" pitchFamily="34" charset="-122"/>
                <a:ea typeface="微软雅黑" pitchFamily="34" charset="-122"/>
              </a:rPr>
              <a:t>常</a:t>
            </a:r>
          </a:p>
          <a:p>
            <a:r>
              <a:rPr kumimoji="1" lang="zh-CN" altLang="en-US" sz="1300" b="1" dirty="0">
                <a:solidFill>
                  <a:srgbClr val="CC00CC"/>
                </a:solidFill>
                <a:latin typeface="微软雅黑" pitchFamily="34" charset="-122"/>
                <a:ea typeface="微软雅黑" pitchFamily="34" charset="-122"/>
              </a:rPr>
              <a:t>情</a:t>
            </a:r>
          </a:p>
          <a:p>
            <a:r>
              <a:rPr kumimoji="1" lang="zh-CN" altLang="en-US" sz="1300" b="1" dirty="0">
                <a:solidFill>
                  <a:srgbClr val="CC00CC"/>
                </a:solidFill>
                <a:latin typeface="微软雅黑" pitchFamily="34" charset="-122"/>
                <a:ea typeface="微软雅黑" pitchFamily="34" charset="-122"/>
              </a:rPr>
              <a:t>况</a:t>
            </a:r>
          </a:p>
        </p:txBody>
      </p:sp>
      <p:grpSp>
        <p:nvGrpSpPr>
          <p:cNvPr id="105" name="Group 102"/>
          <p:cNvGrpSpPr>
            <a:grpSpLocks/>
          </p:cNvGrpSpPr>
          <p:nvPr/>
        </p:nvGrpSpPr>
        <p:grpSpPr bwMode="auto">
          <a:xfrm>
            <a:off x="2816198" y="886853"/>
            <a:ext cx="977077" cy="191669"/>
            <a:chOff x="1491" y="212"/>
            <a:chExt cx="853" cy="240"/>
          </a:xfrm>
          <a:solidFill>
            <a:srgbClr val="FFFF00"/>
          </a:solidFill>
        </p:grpSpPr>
        <p:sp>
          <p:nvSpPr>
            <p:cNvPr id="106" name="AutoShape 10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07" name="Rectangle 10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8" name="Text Box 105"/>
          <p:cNvSpPr txBox="1">
            <a:spLocks noChangeArrowheads="1"/>
          </p:cNvSpPr>
          <p:nvPr/>
        </p:nvSpPr>
        <p:spPr bwMode="auto">
          <a:xfrm>
            <a:off x="2828846" y="932581"/>
            <a:ext cx="679994" cy="206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a:latin typeface="微软雅黑" pitchFamily="34" charset="-122"/>
                <a:ea typeface="微软雅黑" pitchFamily="34" charset="-122"/>
              </a:rPr>
              <a:t>1  1  </a:t>
            </a:r>
            <a:r>
              <a:rPr kumimoji="1" lang="en-US" altLang="zh-CN" sz="1300" b="1">
                <a:latin typeface="微软雅黑" pitchFamily="34" charset="-122"/>
                <a:ea typeface="微软雅黑" pitchFamily="34" charset="-122"/>
                <a:sym typeface="Symbol" pitchFamily="18" charset="2"/>
              </a:rPr>
              <a:t></a:t>
            </a:r>
            <a:endParaRPr kumimoji="1" lang="en-US" altLang="zh-CN" sz="1300" b="1" baseline="-25000">
              <a:latin typeface="微软雅黑" pitchFamily="34" charset="-122"/>
              <a:ea typeface="微软雅黑" pitchFamily="34" charset="-122"/>
              <a:sym typeface="Symbol" pitchFamily="18" charset="2"/>
            </a:endParaRPr>
          </a:p>
        </p:txBody>
      </p:sp>
      <p:grpSp>
        <p:nvGrpSpPr>
          <p:cNvPr id="114" name="Group 111"/>
          <p:cNvGrpSpPr>
            <a:grpSpLocks/>
          </p:cNvGrpSpPr>
          <p:nvPr/>
        </p:nvGrpSpPr>
        <p:grpSpPr bwMode="auto">
          <a:xfrm flipH="1">
            <a:off x="5027534" y="900474"/>
            <a:ext cx="977077" cy="191669"/>
            <a:chOff x="1491" y="212"/>
            <a:chExt cx="853" cy="240"/>
          </a:xfrm>
          <a:solidFill>
            <a:srgbClr val="66FF66"/>
          </a:solidFill>
        </p:grpSpPr>
        <p:sp>
          <p:nvSpPr>
            <p:cNvPr id="115" name="AutoShape 112"/>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6" name="Rectangle 113"/>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7" name="Text Box 114"/>
          <p:cNvSpPr txBox="1">
            <a:spLocks noChangeArrowheads="1"/>
          </p:cNvSpPr>
          <p:nvPr/>
        </p:nvSpPr>
        <p:spPr bwMode="auto">
          <a:xfrm>
            <a:off x="5286823" y="958851"/>
            <a:ext cx="774571" cy="206980"/>
          </a:xfrm>
          <a:prstGeom prst="rect">
            <a:avLst/>
          </a:prstGeom>
          <a:noFill/>
          <a:ln>
            <a:noFill/>
          </a:ln>
          <a:effec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sp>
        <p:nvSpPr>
          <p:cNvPr id="131" name="Text Box 120"/>
          <p:cNvSpPr txBox="1">
            <a:spLocks noChangeArrowheads="1"/>
          </p:cNvSpPr>
          <p:nvPr/>
        </p:nvSpPr>
        <p:spPr bwMode="auto">
          <a:xfrm>
            <a:off x="1558753" y="2877698"/>
            <a:ext cx="3875634" cy="292388"/>
          </a:xfrm>
          <a:prstGeom prst="rect">
            <a:avLst/>
          </a:prstGeom>
          <a:solidFill>
            <a:srgbClr val="00FFFF"/>
          </a:solidFill>
          <a:ln w="9525">
            <a:solidFill>
              <a:schemeClr val="tx2"/>
            </a:solidFill>
            <a:miter lim="800000"/>
            <a:headEnd/>
            <a:tailEnd/>
          </a:ln>
          <a:effectLst/>
        </p:spPr>
        <p:txBody>
          <a:bodyPr wrap="square">
            <a:spAutoFit/>
          </a:bodyPr>
          <a:lstStyle/>
          <a:p>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说：“我到网 </a:t>
            </a:r>
            <a:r>
              <a:rPr kumimoji="1" lang="en-US" altLang="zh-CN" sz="1300" b="1"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的距离是 </a:t>
            </a:r>
            <a:r>
              <a:rPr kumimoji="1" lang="en-US" altLang="zh-CN" sz="1300" b="1" dirty="0">
                <a:latin typeface="微软雅黑" pitchFamily="34" charset="-122"/>
                <a:ea typeface="微软雅黑" pitchFamily="34" charset="-122"/>
              </a:rPr>
              <a:t>1</a:t>
            </a:r>
            <a:r>
              <a:rPr kumimoji="1" lang="zh-CN" altLang="en-US" sz="1300" b="1" dirty="0">
                <a:latin typeface="微软雅黑" pitchFamily="34" charset="-122"/>
                <a:ea typeface="微软雅黑" pitchFamily="34" charset="-122"/>
              </a:rPr>
              <a:t>，是直接交付。”</a:t>
            </a:r>
          </a:p>
        </p:txBody>
      </p:sp>
      <p:sp>
        <p:nvSpPr>
          <p:cNvPr id="137" name="AutoShape 59"/>
          <p:cNvSpPr>
            <a:spLocks noChangeArrowheads="1"/>
          </p:cNvSpPr>
          <p:nvPr/>
        </p:nvSpPr>
        <p:spPr bwMode="auto">
          <a:xfrm>
            <a:off x="760678" y="1969726"/>
            <a:ext cx="2850203" cy="313225"/>
          </a:xfrm>
          <a:prstGeom prst="wedgeRoundRectCallout">
            <a:avLst>
              <a:gd name="adj1" fmla="val 26072"/>
              <a:gd name="adj2" fmla="val -341672"/>
              <a:gd name="adj3" fmla="val 16667"/>
            </a:avLst>
          </a:prstGeom>
          <a:solidFill>
            <a:srgbClr val="99FFCC"/>
          </a:solidFill>
          <a:ln w="9525">
            <a:solidFill>
              <a:schemeClr val="tx1"/>
            </a:solidFill>
            <a:miter lim="800000"/>
            <a:headEnd/>
            <a:tailEnd/>
          </a:ln>
          <a:effectLst/>
        </p:spPr>
        <p:txBody>
          <a:bodyPr/>
          <a:lstStyle/>
          <a:p>
            <a:pPr algn="ctr"/>
            <a:r>
              <a:rPr lang="en-US" altLang="zh-CN" sz="1400" b="1">
                <a:latin typeface="微软雅黑" pitchFamily="34" charset="-122"/>
                <a:ea typeface="微软雅黑" pitchFamily="34" charset="-122"/>
              </a:rPr>
              <a:t>“1”</a:t>
            </a:r>
            <a:r>
              <a:rPr lang="zh-CN" altLang="en-US" sz="1400" b="1">
                <a:latin typeface="微软雅黑" pitchFamily="34" charset="-122"/>
                <a:ea typeface="微软雅黑" pitchFamily="34" charset="-122"/>
              </a:rPr>
              <a:t>表示“从本路由器到网 </a:t>
            </a:r>
            <a:r>
              <a:rPr lang="en-US" altLang="zh-CN" sz="1400" b="1">
                <a:latin typeface="微软雅黑" pitchFamily="34" charset="-122"/>
                <a:ea typeface="微软雅黑" pitchFamily="34" charset="-122"/>
              </a:rPr>
              <a:t>1”</a:t>
            </a:r>
          </a:p>
        </p:txBody>
      </p:sp>
      <p:sp>
        <p:nvSpPr>
          <p:cNvPr id="138" name="AutoShape 60"/>
          <p:cNvSpPr>
            <a:spLocks noChangeArrowheads="1"/>
          </p:cNvSpPr>
          <p:nvPr/>
        </p:nvSpPr>
        <p:spPr bwMode="auto">
          <a:xfrm>
            <a:off x="3726193" y="2316620"/>
            <a:ext cx="2260298" cy="325803"/>
          </a:xfrm>
          <a:prstGeom prst="wedgeRoundRectCallout">
            <a:avLst>
              <a:gd name="adj1" fmla="val -72610"/>
              <a:gd name="adj2" fmla="val -433233"/>
              <a:gd name="adj3" fmla="val 16667"/>
            </a:avLst>
          </a:prstGeom>
          <a:solidFill>
            <a:srgbClr val="99FFCC"/>
          </a:solidFill>
          <a:ln w="9525">
            <a:solidFill>
              <a:schemeClr val="tx1"/>
            </a:solidFill>
            <a:miter lim="800000"/>
            <a:headEnd/>
            <a:tailEnd/>
          </a:ln>
          <a:effectLst/>
        </p:spPr>
        <p:txBody>
          <a:bodyPr/>
          <a:lstStyle/>
          <a:p>
            <a:pPr algn="ctr"/>
            <a:r>
              <a:rPr lang="en-US" altLang="zh-CN" sz="1400" b="1">
                <a:latin typeface="微软雅黑" pitchFamily="34" charset="-122"/>
                <a:ea typeface="微软雅黑" pitchFamily="34" charset="-122"/>
              </a:rPr>
              <a:t>“1”</a:t>
            </a:r>
            <a:r>
              <a:rPr lang="zh-CN" altLang="en-US" sz="1400" b="1">
                <a:latin typeface="微软雅黑" pitchFamily="34" charset="-122"/>
                <a:ea typeface="微软雅黑" pitchFamily="34" charset="-122"/>
              </a:rPr>
              <a:t>表示“距离是 </a:t>
            </a:r>
            <a:r>
              <a:rPr lang="en-US" altLang="zh-CN" sz="1400" b="1">
                <a:latin typeface="微软雅黑" pitchFamily="34" charset="-122"/>
                <a:ea typeface="微软雅黑" pitchFamily="34" charset="-122"/>
              </a:rPr>
              <a:t>1”</a:t>
            </a:r>
          </a:p>
        </p:txBody>
      </p:sp>
      <p:sp>
        <p:nvSpPr>
          <p:cNvPr id="139" name="AutoShape 61"/>
          <p:cNvSpPr>
            <a:spLocks noChangeArrowheads="1"/>
          </p:cNvSpPr>
          <p:nvPr/>
        </p:nvSpPr>
        <p:spPr bwMode="auto">
          <a:xfrm>
            <a:off x="4914407" y="1828824"/>
            <a:ext cx="2238172" cy="297514"/>
          </a:xfrm>
          <a:prstGeom prst="wedgeRoundRectCallout">
            <a:avLst>
              <a:gd name="adj1" fmla="val -116201"/>
              <a:gd name="adj2" fmla="val -312756"/>
              <a:gd name="adj3" fmla="val 16667"/>
            </a:avLst>
          </a:prstGeom>
          <a:solidFill>
            <a:srgbClr val="99FFCC"/>
          </a:solidFill>
          <a:ln w="9525">
            <a:solidFill>
              <a:schemeClr val="tx1"/>
            </a:solidFill>
            <a:miter lim="800000"/>
            <a:headEnd/>
            <a:tailEnd/>
          </a:ln>
          <a:effectLst/>
        </p:spPr>
        <p:txBody>
          <a:bodyPr/>
          <a:lstStyle/>
          <a:p>
            <a:pPr algn="ctr"/>
            <a:r>
              <a:rPr lang="en-US" altLang="zh-CN" sz="1400" b="1" dirty="0">
                <a:latin typeface="微软雅黑" pitchFamily="34" charset="-122"/>
                <a:ea typeface="微软雅黑" pitchFamily="34" charset="-122"/>
              </a:rPr>
              <a:t>“</a:t>
            </a:r>
            <a:r>
              <a:rPr lang="en-US" altLang="zh-CN" sz="1400" b="1" dirty="0">
                <a:latin typeface="微软雅黑" pitchFamily="34" charset="-122"/>
                <a:ea typeface="微软雅黑" pitchFamily="34" charset="-122"/>
                <a:sym typeface="Symbol" pitchFamily="18" charset="2"/>
              </a:rPr>
              <a:t></a:t>
            </a:r>
            <a:r>
              <a:rPr lang="en-US" altLang="zh-CN" sz="1400" b="1" dirty="0">
                <a:latin typeface="微软雅黑" pitchFamily="34" charset="-122"/>
                <a:ea typeface="微软雅黑" pitchFamily="34" charset="-122"/>
              </a:rPr>
              <a:t>”</a:t>
            </a:r>
            <a:r>
              <a:rPr lang="zh-CN" altLang="en-US" sz="1400" b="1" dirty="0">
                <a:latin typeface="微软雅黑" pitchFamily="34" charset="-122"/>
                <a:ea typeface="微软雅黑" pitchFamily="34" charset="-122"/>
              </a:rPr>
              <a:t>表示“直接交付”</a:t>
            </a:r>
          </a:p>
        </p:txBody>
      </p:sp>
    </p:spTree>
    <p:extLst>
      <p:ext uri="{BB962C8B-B14F-4D97-AF65-F5344CB8AC3E}">
        <p14:creationId xmlns:p14="http://schemas.microsoft.com/office/powerpoint/2010/main" val="1676938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 grpId="0" animBg="1"/>
      <p:bldP spid="138" grpId="0" animBg="1"/>
      <p:bldP spid="139"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圆角矩形 62"/>
          <p:cNvSpPr/>
          <p:nvPr/>
        </p:nvSpPr>
        <p:spPr>
          <a:xfrm>
            <a:off x="545144" y="615462"/>
            <a:ext cx="8053712" cy="37281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7878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solidFill>
                  <a:srgbClr val="0000FF"/>
                </a:solidFill>
                <a:latin typeface="微软雅黑" pitchFamily="34" charset="-122"/>
                <a:ea typeface="微软雅黑" pitchFamily="34" charset="-122"/>
              </a:rPr>
              <a:t>R</a:t>
            </a:r>
            <a:r>
              <a:rPr kumimoji="1" lang="en-US" altLang="zh-CN" sz="1300" b="1" baseline="-25000">
                <a:solidFill>
                  <a:srgbClr val="0000FF"/>
                </a:solidFill>
                <a:latin typeface="微软雅黑" pitchFamily="34" charset="-122"/>
                <a:ea typeface="微软雅黑" pitchFamily="34" charset="-122"/>
              </a:rPr>
              <a:t>2</a:t>
            </a:r>
            <a:endParaRPr kumimoji="1" lang="en-US" altLang="zh-CN" sz="1300" b="1">
              <a:solidFill>
                <a:srgbClr val="0000FF"/>
              </a:solidFill>
              <a:latin typeface="微软雅黑" pitchFamily="34" charset="-122"/>
              <a:ea typeface="微软雅黑" pitchFamily="34" charset="-122"/>
            </a:endParaRPr>
          </a:p>
        </p:txBody>
      </p:sp>
      <p:sp>
        <p:nvSpPr>
          <p:cNvPr id="8" name="Text Box 5"/>
          <p:cNvSpPr txBox="1">
            <a:spLocks noChangeArrowheads="1"/>
          </p:cNvSpPr>
          <p:nvPr/>
        </p:nvSpPr>
        <p:spPr bwMode="auto">
          <a:xfrm>
            <a:off x="319037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dirty="0">
                <a:solidFill>
                  <a:srgbClr val="0000FF"/>
                </a:solidFill>
                <a:latin typeface="微软雅黑" pitchFamily="34" charset="-122"/>
                <a:ea typeface="微软雅黑" pitchFamily="34" charset="-122"/>
              </a:rPr>
              <a:t>R</a:t>
            </a:r>
            <a:r>
              <a:rPr kumimoji="1" lang="en-US" altLang="zh-CN" sz="1300" b="1" baseline="-25000" dirty="0">
                <a:solidFill>
                  <a:srgbClr val="0000FF"/>
                </a:solidFill>
                <a:latin typeface="微软雅黑" pitchFamily="34" charset="-122"/>
                <a:ea typeface="微软雅黑" pitchFamily="34" charset="-122"/>
              </a:rPr>
              <a:t>1</a:t>
            </a:r>
            <a:endParaRPr kumimoji="1" lang="en-US" altLang="zh-CN" sz="1300" b="1" dirty="0">
              <a:solidFill>
                <a:srgbClr val="0000FF"/>
              </a:solidFill>
              <a:latin typeface="微软雅黑" pitchFamily="34" charset="-122"/>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80"/>
            <a:ext cx="783138" cy="526362"/>
            <a:chOff x="4830" y="1752"/>
            <a:chExt cx="667" cy="477"/>
          </a:xfrm>
          <a:solidFill>
            <a:srgbClr val="00FFFF"/>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0000FF"/>
                  </a:solidFill>
                  <a:latin typeface="微软雅黑" pitchFamily="34" charset="-122"/>
                  <a:ea typeface="微软雅黑" pitchFamily="34" charset="-122"/>
                </a:rPr>
                <a:t>网 </a:t>
              </a:r>
              <a:r>
                <a:rPr kumimoji="1" lang="en-US" altLang="zh-CN" sz="1300" b="1" dirty="0">
                  <a:solidFill>
                    <a:srgbClr val="0000FF"/>
                  </a:solidFill>
                  <a:latin typeface="微软雅黑" pitchFamily="34" charset="-122"/>
                  <a:ea typeface="微软雅黑" pitchFamily="34" charset="-122"/>
                </a:rPr>
                <a:t>1</a:t>
              </a:r>
            </a:p>
          </p:txBody>
        </p:sp>
      </p:grpSp>
      <p:grpSp>
        <p:nvGrpSpPr>
          <p:cNvPr id="24" name="Group 21"/>
          <p:cNvGrpSpPr>
            <a:grpSpLocks/>
          </p:cNvGrpSpPr>
          <p:nvPr/>
        </p:nvGrpSpPr>
        <p:grpSpPr bwMode="auto">
          <a:xfrm>
            <a:off x="6444139" y="968580"/>
            <a:ext cx="783138" cy="526362"/>
            <a:chOff x="4830" y="1752"/>
            <a:chExt cx="667" cy="477"/>
          </a:xfrm>
          <a:solidFill>
            <a:srgbClr val="00FFFF"/>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solidFill>
                    <a:srgbClr val="0000FF"/>
                  </a:solidFill>
                  <a:latin typeface="微软雅黑" pitchFamily="34" charset="-122"/>
                  <a:ea typeface="微软雅黑" pitchFamily="34" charset="-122"/>
                </a:rPr>
                <a:t>网 </a:t>
              </a:r>
              <a:r>
                <a:rPr kumimoji="1" lang="en-US" altLang="zh-CN" sz="1300" b="1">
                  <a:solidFill>
                    <a:srgbClr val="0000FF"/>
                  </a:solidFill>
                  <a:latin typeface="微软雅黑" pitchFamily="34" charset="-122"/>
                  <a:ea typeface="微软雅黑" pitchFamily="34" charset="-122"/>
                </a:rPr>
                <a:t>3</a:t>
              </a:r>
            </a:p>
          </p:txBody>
        </p:sp>
      </p:grpSp>
      <p:grpSp>
        <p:nvGrpSpPr>
          <p:cNvPr id="38" name="Group 35"/>
          <p:cNvGrpSpPr>
            <a:grpSpLocks/>
          </p:cNvGrpSpPr>
          <p:nvPr/>
        </p:nvGrpSpPr>
        <p:grpSpPr bwMode="auto">
          <a:xfrm>
            <a:off x="4099995" y="968580"/>
            <a:ext cx="783138" cy="526362"/>
            <a:chOff x="4830" y="1752"/>
            <a:chExt cx="667" cy="477"/>
          </a:xfrm>
          <a:solidFill>
            <a:srgbClr val="00FFFF"/>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solidFill>
                    <a:srgbClr val="0000FF"/>
                  </a:solidFill>
                  <a:latin typeface="微软雅黑" pitchFamily="34" charset="-122"/>
                  <a:ea typeface="微软雅黑" pitchFamily="34" charset="-122"/>
                </a:rPr>
                <a:t>网 </a:t>
              </a:r>
              <a:r>
                <a:rPr kumimoji="1" lang="en-US" altLang="zh-CN" sz="1300" b="1">
                  <a:solidFill>
                    <a:srgbClr val="0000FF"/>
                  </a:solidFill>
                  <a:latin typeface="微软雅黑" pitchFamily="34" charset="-122"/>
                  <a:ea typeface="微软雅黑" pitchFamily="34" charset="-122"/>
                </a:rPr>
                <a:t>2</a:t>
              </a:r>
            </a:p>
          </p:txBody>
        </p:sp>
      </p:grpSp>
      <p:sp>
        <p:nvSpPr>
          <p:cNvPr id="104" name="Text Box 101"/>
          <p:cNvSpPr txBox="1">
            <a:spLocks noChangeArrowheads="1"/>
          </p:cNvSpPr>
          <p:nvPr/>
        </p:nvSpPr>
        <p:spPr bwMode="auto">
          <a:xfrm>
            <a:off x="1486022" y="768154"/>
            <a:ext cx="35137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CC00CC"/>
                </a:solidFill>
                <a:latin typeface="微软雅黑" pitchFamily="34" charset="-122"/>
                <a:ea typeface="微软雅黑" pitchFamily="34" charset="-122"/>
              </a:rPr>
              <a:t>正</a:t>
            </a:r>
          </a:p>
          <a:p>
            <a:r>
              <a:rPr kumimoji="1" lang="zh-CN" altLang="en-US" sz="1300" b="1" dirty="0">
                <a:solidFill>
                  <a:srgbClr val="CC00CC"/>
                </a:solidFill>
                <a:latin typeface="微软雅黑" pitchFamily="34" charset="-122"/>
                <a:ea typeface="微软雅黑" pitchFamily="34" charset="-122"/>
              </a:rPr>
              <a:t>常</a:t>
            </a:r>
          </a:p>
          <a:p>
            <a:r>
              <a:rPr kumimoji="1" lang="zh-CN" altLang="en-US" sz="1300" b="1" dirty="0">
                <a:solidFill>
                  <a:srgbClr val="CC00CC"/>
                </a:solidFill>
                <a:latin typeface="微软雅黑" pitchFamily="34" charset="-122"/>
                <a:ea typeface="微软雅黑" pitchFamily="34" charset="-122"/>
              </a:rPr>
              <a:t>情</a:t>
            </a:r>
          </a:p>
          <a:p>
            <a:r>
              <a:rPr kumimoji="1" lang="zh-CN" altLang="en-US" sz="1300" b="1" dirty="0">
                <a:solidFill>
                  <a:srgbClr val="CC00CC"/>
                </a:solidFill>
                <a:latin typeface="微软雅黑" pitchFamily="34" charset="-122"/>
                <a:ea typeface="微软雅黑" pitchFamily="34" charset="-122"/>
              </a:rPr>
              <a:t>况</a:t>
            </a:r>
          </a:p>
        </p:txBody>
      </p:sp>
      <p:grpSp>
        <p:nvGrpSpPr>
          <p:cNvPr id="105" name="Group 102"/>
          <p:cNvGrpSpPr>
            <a:grpSpLocks/>
          </p:cNvGrpSpPr>
          <p:nvPr/>
        </p:nvGrpSpPr>
        <p:grpSpPr bwMode="auto">
          <a:xfrm>
            <a:off x="2816198" y="886853"/>
            <a:ext cx="977077" cy="191669"/>
            <a:chOff x="1491" y="212"/>
            <a:chExt cx="853" cy="240"/>
          </a:xfrm>
          <a:solidFill>
            <a:srgbClr val="FFFF00"/>
          </a:solidFill>
        </p:grpSpPr>
        <p:sp>
          <p:nvSpPr>
            <p:cNvPr id="106" name="AutoShape 10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07" name="Rectangle 10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8" name="Text Box 105"/>
          <p:cNvSpPr txBox="1">
            <a:spLocks noChangeArrowheads="1"/>
          </p:cNvSpPr>
          <p:nvPr/>
        </p:nvSpPr>
        <p:spPr bwMode="auto">
          <a:xfrm>
            <a:off x="2828846" y="932581"/>
            <a:ext cx="679994" cy="206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a:latin typeface="微软雅黑" pitchFamily="34" charset="-122"/>
                <a:ea typeface="微软雅黑" pitchFamily="34" charset="-122"/>
              </a:rPr>
              <a:t>1  1  </a:t>
            </a:r>
            <a:r>
              <a:rPr kumimoji="1" lang="en-US" altLang="zh-CN" sz="1300" b="1">
                <a:latin typeface="微软雅黑" pitchFamily="34" charset="-122"/>
                <a:ea typeface="微软雅黑" pitchFamily="34" charset="-122"/>
                <a:sym typeface="Symbol" pitchFamily="18" charset="2"/>
              </a:rPr>
              <a:t></a:t>
            </a:r>
            <a:endParaRPr kumimoji="1" lang="en-US" altLang="zh-CN" sz="1300" b="1" baseline="-25000">
              <a:latin typeface="微软雅黑" pitchFamily="34" charset="-122"/>
              <a:ea typeface="微软雅黑" pitchFamily="34" charset="-122"/>
              <a:sym typeface="Symbol" pitchFamily="18" charset="2"/>
            </a:endParaRPr>
          </a:p>
        </p:txBody>
      </p:sp>
      <p:grpSp>
        <p:nvGrpSpPr>
          <p:cNvPr id="114" name="Group 111"/>
          <p:cNvGrpSpPr>
            <a:grpSpLocks/>
          </p:cNvGrpSpPr>
          <p:nvPr/>
        </p:nvGrpSpPr>
        <p:grpSpPr bwMode="auto">
          <a:xfrm flipH="1">
            <a:off x="5027534" y="900474"/>
            <a:ext cx="977077" cy="191669"/>
            <a:chOff x="1491" y="212"/>
            <a:chExt cx="853" cy="240"/>
          </a:xfrm>
          <a:solidFill>
            <a:srgbClr val="66FF66"/>
          </a:solidFill>
        </p:grpSpPr>
        <p:sp>
          <p:nvSpPr>
            <p:cNvPr id="115" name="AutoShape 112"/>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6" name="Rectangle 113"/>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7" name="Text Box 114"/>
          <p:cNvSpPr txBox="1">
            <a:spLocks noChangeArrowheads="1"/>
          </p:cNvSpPr>
          <p:nvPr/>
        </p:nvSpPr>
        <p:spPr bwMode="auto">
          <a:xfrm>
            <a:off x="5286823" y="958851"/>
            <a:ext cx="774571" cy="206980"/>
          </a:xfrm>
          <a:prstGeom prst="rect">
            <a:avLst/>
          </a:prstGeom>
          <a:noFill/>
          <a:ln>
            <a:noFill/>
          </a:ln>
          <a:effec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sp>
        <p:nvSpPr>
          <p:cNvPr id="131" name="Text Box 120"/>
          <p:cNvSpPr txBox="1">
            <a:spLocks noChangeArrowheads="1"/>
          </p:cNvSpPr>
          <p:nvPr/>
        </p:nvSpPr>
        <p:spPr bwMode="auto">
          <a:xfrm>
            <a:off x="1558753" y="2877698"/>
            <a:ext cx="3875634" cy="292388"/>
          </a:xfrm>
          <a:prstGeom prst="rect">
            <a:avLst/>
          </a:prstGeom>
          <a:solidFill>
            <a:srgbClr val="00FFFF"/>
          </a:solidFill>
          <a:ln w="9525">
            <a:solidFill>
              <a:schemeClr val="tx2"/>
            </a:solidFill>
            <a:miter lim="800000"/>
            <a:headEnd/>
            <a:tailEnd/>
          </a:ln>
          <a:effectLst/>
        </p:spPr>
        <p:txBody>
          <a:bodyPr wrap="square">
            <a:spAutoFit/>
          </a:bodyPr>
          <a:lstStyle/>
          <a:p>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说：“我到网 </a:t>
            </a:r>
            <a:r>
              <a:rPr kumimoji="1" lang="en-US" altLang="zh-CN" sz="1300" b="1"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的距离是 </a:t>
            </a:r>
            <a:r>
              <a:rPr kumimoji="1" lang="en-US" altLang="zh-CN" sz="1300" b="1" dirty="0">
                <a:latin typeface="微软雅黑" pitchFamily="34" charset="-122"/>
                <a:ea typeface="微软雅黑" pitchFamily="34" charset="-122"/>
              </a:rPr>
              <a:t>2</a:t>
            </a:r>
            <a:r>
              <a:rPr kumimoji="1" lang="zh-CN" altLang="en-US" sz="1300" b="1" dirty="0">
                <a:latin typeface="微软雅黑" pitchFamily="34" charset="-122"/>
                <a:ea typeface="微软雅黑" pitchFamily="34" charset="-122"/>
              </a:rPr>
              <a:t>，是经过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a:t>
            </a:r>
            <a:r>
              <a:rPr kumimoji="1" lang="zh-CN" altLang="en-US" sz="1300" b="1" dirty="0">
                <a:latin typeface="微软雅黑" pitchFamily="34" charset="-122"/>
                <a:ea typeface="微软雅黑" pitchFamily="34" charset="-122"/>
              </a:rPr>
              <a:t>。”</a:t>
            </a:r>
          </a:p>
        </p:txBody>
      </p:sp>
      <p:sp>
        <p:nvSpPr>
          <p:cNvPr id="137" name="AutoShape 59"/>
          <p:cNvSpPr>
            <a:spLocks noChangeArrowheads="1"/>
          </p:cNvSpPr>
          <p:nvPr/>
        </p:nvSpPr>
        <p:spPr bwMode="auto">
          <a:xfrm>
            <a:off x="2105722" y="1846638"/>
            <a:ext cx="2850203" cy="313225"/>
          </a:xfrm>
          <a:prstGeom prst="wedgeRoundRectCallout">
            <a:avLst>
              <a:gd name="adj1" fmla="val 65558"/>
              <a:gd name="adj2" fmla="val -307988"/>
              <a:gd name="adj3" fmla="val 16667"/>
            </a:avLst>
          </a:prstGeom>
          <a:solidFill>
            <a:srgbClr val="99FFCC"/>
          </a:solidFill>
          <a:ln w="9525">
            <a:solidFill>
              <a:schemeClr val="tx1"/>
            </a:solidFill>
            <a:miter lim="800000"/>
            <a:headEnd/>
            <a:tailEnd/>
          </a:ln>
          <a:effectLst/>
        </p:spPr>
        <p:txBody>
          <a:bodyPr/>
          <a:lstStyle/>
          <a:p>
            <a:pPr algn="ctr"/>
            <a:r>
              <a:rPr lang="zh-CN" altLang="en-US" sz="1400" b="1" dirty="0">
                <a:latin typeface="微软雅黑" pitchFamily="34" charset="-122"/>
                <a:ea typeface="微软雅黑" pitchFamily="34" charset="-122"/>
              </a:rPr>
              <a:t>“</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表示“从本路由器到网 </a:t>
            </a:r>
            <a:r>
              <a:rPr lang="en-US" altLang="zh-CN" sz="1400" b="1" dirty="0">
                <a:latin typeface="微软雅黑" pitchFamily="34" charset="-122"/>
                <a:ea typeface="微软雅黑" pitchFamily="34" charset="-122"/>
              </a:rPr>
              <a:t>1”</a:t>
            </a:r>
          </a:p>
        </p:txBody>
      </p:sp>
      <p:sp>
        <p:nvSpPr>
          <p:cNvPr id="138" name="AutoShape 60"/>
          <p:cNvSpPr>
            <a:spLocks noChangeArrowheads="1"/>
          </p:cNvSpPr>
          <p:nvPr/>
        </p:nvSpPr>
        <p:spPr bwMode="auto">
          <a:xfrm>
            <a:off x="3726193" y="2316620"/>
            <a:ext cx="2260298" cy="325803"/>
          </a:xfrm>
          <a:prstGeom prst="wedgeRoundRectCallout">
            <a:avLst>
              <a:gd name="adj1" fmla="val 34362"/>
              <a:gd name="adj2" fmla="val -422439"/>
              <a:gd name="adj3" fmla="val 16667"/>
            </a:avLst>
          </a:prstGeom>
          <a:solidFill>
            <a:srgbClr val="99FFCC"/>
          </a:solidFill>
          <a:ln w="9525">
            <a:solidFill>
              <a:schemeClr val="tx1"/>
            </a:solidFill>
            <a:miter lim="800000"/>
            <a:headEnd/>
            <a:tailEnd/>
          </a:ln>
          <a:effectLst/>
        </p:spPr>
        <p:txBody>
          <a:bodyPr/>
          <a:lstStyle/>
          <a:p>
            <a:pPr algn="ctr"/>
            <a:r>
              <a:rPr lang="zh-CN" altLang="en-US" sz="1400" b="1" dirty="0">
                <a:latin typeface="微软雅黑" pitchFamily="34" charset="-122"/>
                <a:ea typeface="微软雅黑" pitchFamily="34" charset="-122"/>
              </a:rPr>
              <a:t>“</a:t>
            </a:r>
            <a:r>
              <a:rPr lang="en-US" altLang="zh-CN" sz="1400" b="1"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表示“距离是 </a:t>
            </a:r>
            <a:r>
              <a:rPr lang="en-US" altLang="zh-CN" sz="1400" b="1" dirty="0">
                <a:latin typeface="微软雅黑" pitchFamily="34" charset="-122"/>
                <a:ea typeface="微软雅黑" pitchFamily="34" charset="-122"/>
              </a:rPr>
              <a:t>2”</a:t>
            </a:r>
          </a:p>
        </p:txBody>
      </p:sp>
      <p:sp>
        <p:nvSpPr>
          <p:cNvPr id="139" name="AutoShape 61"/>
          <p:cNvSpPr>
            <a:spLocks noChangeArrowheads="1"/>
          </p:cNvSpPr>
          <p:nvPr/>
        </p:nvSpPr>
        <p:spPr bwMode="auto">
          <a:xfrm>
            <a:off x="6110762" y="1828824"/>
            <a:ext cx="2238172" cy="297514"/>
          </a:xfrm>
          <a:prstGeom prst="wedgeRoundRectCallout">
            <a:avLst>
              <a:gd name="adj1" fmla="val -54919"/>
              <a:gd name="adj2" fmla="val -306845"/>
              <a:gd name="adj3" fmla="val 16667"/>
            </a:avLst>
          </a:prstGeom>
          <a:solidFill>
            <a:srgbClr val="99FFCC"/>
          </a:solidFill>
          <a:ln w="9525">
            <a:solidFill>
              <a:schemeClr val="tx1"/>
            </a:solidFill>
            <a:miter lim="800000"/>
            <a:headEnd/>
            <a:tailEnd/>
          </a:ln>
          <a:effectLst/>
        </p:spPr>
        <p:txBody>
          <a:bodyPr/>
          <a:lstStyle/>
          <a:p>
            <a:pPr algn="ctr"/>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a:t>
            </a:r>
            <a:r>
              <a:rPr lang="zh-CN" altLang="en-US" sz="1400" b="1" dirty="0">
                <a:latin typeface="微软雅黑" pitchFamily="34" charset="-122"/>
                <a:ea typeface="微软雅黑" pitchFamily="34" charset="-122"/>
              </a:rPr>
              <a:t>表示经过 </a:t>
            </a:r>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endParaRPr lang="en-US" altLang="zh-CN" sz="1400" b="1" dirty="0">
              <a:latin typeface="微软雅黑" pitchFamily="34" charset="-122"/>
              <a:ea typeface="微软雅黑" pitchFamily="34" charset="-122"/>
            </a:endParaRPr>
          </a:p>
        </p:txBody>
      </p: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 grpId="0" animBg="1"/>
      <p:bldP spid="138" grpId="0" animBg="1"/>
      <p:bldP spid="139"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615462"/>
            <a:ext cx="8053712" cy="37281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4"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p:cNvSpPr txBox="1">
            <a:spLocks noChangeArrowheads="1"/>
          </p:cNvSpPr>
          <p:nvPr/>
        </p:nvSpPr>
        <p:spPr bwMode="auto">
          <a:xfrm>
            <a:off x="557878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6" name="Text Box 5"/>
          <p:cNvSpPr txBox="1">
            <a:spLocks noChangeArrowheads="1"/>
          </p:cNvSpPr>
          <p:nvPr/>
        </p:nvSpPr>
        <p:spPr bwMode="auto">
          <a:xfrm>
            <a:off x="319037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7"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8" name="Group 7"/>
          <p:cNvGrpSpPr>
            <a:grpSpLocks/>
          </p:cNvGrpSpPr>
          <p:nvPr/>
        </p:nvGrpSpPr>
        <p:grpSpPr bwMode="auto">
          <a:xfrm>
            <a:off x="1793796" y="968580"/>
            <a:ext cx="783138" cy="526362"/>
            <a:chOff x="4830" y="1752"/>
            <a:chExt cx="667" cy="477"/>
          </a:xfrm>
          <a:solidFill>
            <a:srgbClr val="00FFFF"/>
          </a:solidFill>
        </p:grpSpPr>
        <p:grpSp>
          <p:nvGrpSpPr>
            <p:cNvPr id="9" name="Group 8"/>
            <p:cNvGrpSpPr>
              <a:grpSpLocks/>
            </p:cNvGrpSpPr>
            <p:nvPr/>
          </p:nvGrpSpPr>
          <p:grpSpPr bwMode="auto">
            <a:xfrm>
              <a:off x="4830" y="1752"/>
              <a:ext cx="667" cy="477"/>
              <a:chOff x="2949" y="196"/>
              <a:chExt cx="941" cy="598"/>
            </a:xfrm>
            <a:grpFill/>
          </p:grpSpPr>
          <p:sp>
            <p:nvSpPr>
              <p:cNvPr id="11"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2"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3"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4"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5"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8"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20"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21"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0" name="Text Box 20"/>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22" name="Group 21"/>
          <p:cNvGrpSpPr>
            <a:grpSpLocks/>
          </p:cNvGrpSpPr>
          <p:nvPr/>
        </p:nvGrpSpPr>
        <p:grpSpPr bwMode="auto">
          <a:xfrm>
            <a:off x="6444139" y="968580"/>
            <a:ext cx="783138" cy="526362"/>
            <a:chOff x="4830" y="1752"/>
            <a:chExt cx="667" cy="477"/>
          </a:xfrm>
          <a:solidFill>
            <a:srgbClr val="00FFFF"/>
          </a:solidFill>
        </p:grpSpPr>
        <p:grpSp>
          <p:nvGrpSpPr>
            <p:cNvPr id="23" name="Group 22"/>
            <p:cNvGrpSpPr>
              <a:grpSpLocks/>
            </p:cNvGrpSpPr>
            <p:nvPr/>
          </p:nvGrpSpPr>
          <p:grpSpPr bwMode="auto">
            <a:xfrm>
              <a:off x="4830" y="1752"/>
              <a:ext cx="667" cy="477"/>
              <a:chOff x="2949" y="196"/>
              <a:chExt cx="941" cy="598"/>
            </a:xfrm>
            <a:grpFill/>
          </p:grpSpPr>
          <p:sp>
            <p:nvSpPr>
              <p:cNvPr id="25"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6"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7"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8"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9"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0"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1"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2"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3"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34"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35"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24" name="Text Box 34"/>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grpSp>
      <p:grpSp>
        <p:nvGrpSpPr>
          <p:cNvPr id="36" name="Group 35"/>
          <p:cNvGrpSpPr>
            <a:grpSpLocks/>
          </p:cNvGrpSpPr>
          <p:nvPr/>
        </p:nvGrpSpPr>
        <p:grpSpPr bwMode="auto">
          <a:xfrm>
            <a:off x="4099995" y="968580"/>
            <a:ext cx="783138" cy="526362"/>
            <a:chOff x="4830" y="1752"/>
            <a:chExt cx="667" cy="477"/>
          </a:xfrm>
          <a:solidFill>
            <a:srgbClr val="00FFFF"/>
          </a:solidFill>
        </p:grpSpPr>
        <p:grpSp>
          <p:nvGrpSpPr>
            <p:cNvPr id="37" name="Group 36"/>
            <p:cNvGrpSpPr>
              <a:grpSpLocks/>
            </p:cNvGrpSpPr>
            <p:nvPr/>
          </p:nvGrpSpPr>
          <p:grpSpPr bwMode="auto">
            <a:xfrm>
              <a:off x="4830" y="1752"/>
              <a:ext cx="667" cy="477"/>
              <a:chOff x="2949" y="196"/>
              <a:chExt cx="941" cy="598"/>
            </a:xfrm>
            <a:grpFill/>
          </p:grpSpPr>
          <p:sp>
            <p:nvSpPr>
              <p:cNvPr id="39"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0"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1"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2"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3"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4"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5"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6"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7"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48"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49"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38" name="Text Box 48"/>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grpSp>
        <p:nvGrpSpPr>
          <p:cNvPr id="127" name="组合 126"/>
          <p:cNvGrpSpPr/>
          <p:nvPr/>
        </p:nvGrpSpPr>
        <p:grpSpPr>
          <a:xfrm>
            <a:off x="1780094" y="1755788"/>
            <a:ext cx="5447183" cy="669385"/>
            <a:chOff x="1780094" y="1755788"/>
            <a:chExt cx="5447183" cy="669385"/>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53" name="Text Box 53"/>
            <p:cNvSpPr txBox="1">
              <a:spLocks noChangeArrowheads="1"/>
            </p:cNvSpPr>
            <p:nvPr/>
          </p:nvSpPr>
          <p:spPr bwMode="auto">
            <a:xfrm>
              <a:off x="3190375"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00FFFF"/>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69" name="Group 69"/>
            <p:cNvGrpSpPr>
              <a:grpSpLocks/>
            </p:cNvGrpSpPr>
            <p:nvPr/>
          </p:nvGrpSpPr>
          <p:grpSpPr bwMode="auto">
            <a:xfrm>
              <a:off x="6444139" y="1810273"/>
              <a:ext cx="783138" cy="526362"/>
              <a:chOff x="4830" y="1752"/>
              <a:chExt cx="667" cy="477"/>
            </a:xfrm>
            <a:solidFill>
              <a:srgbClr val="00FFFF"/>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71" name="Text Box 82"/>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grpSp>
        <p:grpSp>
          <p:nvGrpSpPr>
            <p:cNvPr id="83" name="Group 83"/>
            <p:cNvGrpSpPr>
              <a:grpSpLocks/>
            </p:cNvGrpSpPr>
            <p:nvPr/>
          </p:nvGrpSpPr>
          <p:grpSpPr bwMode="auto">
            <a:xfrm>
              <a:off x="4099995" y="1810273"/>
              <a:ext cx="783138" cy="526362"/>
              <a:chOff x="4830" y="1752"/>
              <a:chExt cx="667" cy="477"/>
            </a:xfrm>
            <a:solidFill>
              <a:srgbClr val="00FFFF"/>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grpSp>
          <p:nvGrpSpPr>
            <p:cNvPr id="97" name="Group 97"/>
            <p:cNvGrpSpPr>
              <a:grpSpLocks/>
            </p:cNvGrpSpPr>
            <p:nvPr/>
          </p:nvGrpSpPr>
          <p:grpSpPr bwMode="auto">
            <a:xfrm>
              <a:off x="1780094" y="1755788"/>
              <a:ext cx="795786" cy="595441"/>
              <a:chOff x="434" y="1298"/>
              <a:chExt cx="755" cy="612"/>
            </a:xfrm>
          </p:grpSpPr>
          <p:sp>
            <p:nvSpPr>
              <p:cNvPr id="98" name="Line 98"/>
              <p:cNvSpPr>
                <a:spLocks noChangeShapeType="1"/>
              </p:cNvSpPr>
              <p:nvPr/>
            </p:nvSpPr>
            <p:spPr bwMode="auto">
              <a:xfrm>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9" name="Line 99"/>
              <p:cNvSpPr>
                <a:spLocks noChangeShapeType="1"/>
              </p:cNvSpPr>
              <p:nvPr/>
            </p:nvSpPr>
            <p:spPr bwMode="auto">
              <a:xfrm flipH="1">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grpSp>
      <p:sp>
        <p:nvSpPr>
          <p:cNvPr id="100" name="Text Box 100"/>
          <p:cNvSpPr txBox="1">
            <a:spLocks noChangeArrowheads="1"/>
          </p:cNvSpPr>
          <p:nvPr/>
        </p:nvSpPr>
        <p:spPr bwMode="auto">
          <a:xfrm>
            <a:off x="1596284" y="2462144"/>
            <a:ext cx="1220206" cy="272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300" b="1" dirty="0">
                <a:solidFill>
                  <a:srgbClr val="CC00CC"/>
                </a:solidFill>
                <a:latin typeface="微软雅黑" pitchFamily="34" charset="-122"/>
                <a:ea typeface="微软雅黑" pitchFamily="34" charset="-122"/>
              </a:rPr>
              <a:t>网 </a:t>
            </a:r>
            <a:r>
              <a:rPr kumimoji="1" lang="en-US" altLang="zh-CN" sz="1300" b="1" dirty="0">
                <a:solidFill>
                  <a:srgbClr val="CC00CC"/>
                </a:solidFill>
                <a:latin typeface="微软雅黑" pitchFamily="34" charset="-122"/>
                <a:ea typeface="微软雅黑" pitchFamily="34" charset="-122"/>
              </a:rPr>
              <a:t>1 </a:t>
            </a:r>
            <a:r>
              <a:rPr kumimoji="1" lang="zh-CN" altLang="en-US" sz="1300" b="1" dirty="0">
                <a:solidFill>
                  <a:srgbClr val="CC00CC"/>
                </a:solidFill>
                <a:latin typeface="微软雅黑" pitchFamily="34" charset="-122"/>
                <a:ea typeface="微软雅黑" pitchFamily="34" charset="-122"/>
              </a:rPr>
              <a:t>出了故障</a:t>
            </a:r>
          </a:p>
        </p:txBody>
      </p:sp>
      <p:sp>
        <p:nvSpPr>
          <p:cNvPr id="101" name="Text Box 101"/>
          <p:cNvSpPr txBox="1">
            <a:spLocks noChangeArrowheads="1"/>
          </p:cNvSpPr>
          <p:nvPr/>
        </p:nvSpPr>
        <p:spPr bwMode="auto">
          <a:xfrm>
            <a:off x="1486022" y="768154"/>
            <a:ext cx="35137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CC00CC"/>
                </a:solidFill>
                <a:latin typeface="微软雅黑" pitchFamily="34" charset="-122"/>
                <a:ea typeface="微软雅黑" pitchFamily="34" charset="-122"/>
              </a:rPr>
              <a:t>正</a:t>
            </a:r>
          </a:p>
          <a:p>
            <a:r>
              <a:rPr kumimoji="1" lang="zh-CN" altLang="en-US" sz="1300" b="1" dirty="0">
                <a:solidFill>
                  <a:srgbClr val="CC00CC"/>
                </a:solidFill>
                <a:latin typeface="微软雅黑" pitchFamily="34" charset="-122"/>
                <a:ea typeface="微软雅黑" pitchFamily="34" charset="-122"/>
              </a:rPr>
              <a:t>常</a:t>
            </a:r>
          </a:p>
          <a:p>
            <a:r>
              <a:rPr kumimoji="1" lang="zh-CN" altLang="en-US" sz="1300" b="1" dirty="0">
                <a:solidFill>
                  <a:srgbClr val="CC00CC"/>
                </a:solidFill>
                <a:latin typeface="微软雅黑" pitchFamily="34" charset="-122"/>
                <a:ea typeface="微软雅黑" pitchFamily="34" charset="-122"/>
              </a:rPr>
              <a:t>情</a:t>
            </a:r>
          </a:p>
          <a:p>
            <a:r>
              <a:rPr kumimoji="1" lang="zh-CN" altLang="en-US" sz="1300" b="1" dirty="0">
                <a:solidFill>
                  <a:srgbClr val="CC00CC"/>
                </a:solidFill>
                <a:latin typeface="微软雅黑" pitchFamily="34" charset="-122"/>
                <a:ea typeface="微软雅黑" pitchFamily="34" charset="-122"/>
              </a:rPr>
              <a:t>况</a:t>
            </a:r>
          </a:p>
        </p:txBody>
      </p:sp>
      <p:grpSp>
        <p:nvGrpSpPr>
          <p:cNvPr id="102" name="Group 102"/>
          <p:cNvGrpSpPr>
            <a:grpSpLocks/>
          </p:cNvGrpSpPr>
          <p:nvPr/>
        </p:nvGrpSpPr>
        <p:grpSpPr bwMode="auto">
          <a:xfrm>
            <a:off x="2816198" y="886853"/>
            <a:ext cx="977077" cy="191669"/>
            <a:chOff x="1491" y="212"/>
            <a:chExt cx="853" cy="240"/>
          </a:xfrm>
          <a:solidFill>
            <a:srgbClr val="FFFF00"/>
          </a:solidFill>
        </p:grpSpPr>
        <p:sp>
          <p:nvSpPr>
            <p:cNvPr id="103" name="AutoShape 10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04" name="Rectangle 10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5" name="Text Box 105"/>
          <p:cNvSpPr txBox="1">
            <a:spLocks noChangeArrowheads="1"/>
          </p:cNvSpPr>
          <p:nvPr/>
        </p:nvSpPr>
        <p:spPr bwMode="auto">
          <a:xfrm>
            <a:off x="2828846" y="932581"/>
            <a:ext cx="679994" cy="206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a:latin typeface="微软雅黑" pitchFamily="34" charset="-122"/>
                <a:ea typeface="微软雅黑" pitchFamily="34" charset="-122"/>
              </a:rPr>
              <a:t>1  1  </a:t>
            </a:r>
            <a:r>
              <a:rPr kumimoji="1" lang="en-US" altLang="zh-CN" sz="1300" b="1">
                <a:latin typeface="微软雅黑" pitchFamily="34" charset="-122"/>
                <a:ea typeface="微软雅黑" pitchFamily="34" charset="-122"/>
                <a:sym typeface="Symbol" pitchFamily="18" charset="2"/>
              </a:rPr>
              <a:t></a:t>
            </a:r>
            <a:endParaRPr kumimoji="1" lang="en-US" altLang="zh-CN" sz="1300" b="1" baseline="-25000">
              <a:latin typeface="微软雅黑" pitchFamily="34" charset="-122"/>
              <a:ea typeface="微软雅黑" pitchFamily="34" charset="-122"/>
              <a:sym typeface="Symbol" pitchFamily="18" charset="2"/>
            </a:endParaRPr>
          </a:p>
        </p:txBody>
      </p:sp>
      <p:grpSp>
        <p:nvGrpSpPr>
          <p:cNvPr id="106" name="Group 106"/>
          <p:cNvGrpSpPr>
            <a:grpSpLocks/>
          </p:cNvGrpSpPr>
          <p:nvPr/>
        </p:nvGrpSpPr>
        <p:grpSpPr bwMode="auto">
          <a:xfrm>
            <a:off x="2973246" y="2505923"/>
            <a:ext cx="1001320" cy="247128"/>
            <a:chOff x="1566" y="2024"/>
            <a:chExt cx="950" cy="254"/>
          </a:xfrm>
          <a:solidFill>
            <a:srgbClr val="FFFF00"/>
          </a:solidFill>
        </p:grpSpPr>
        <p:grpSp>
          <p:nvGrpSpPr>
            <p:cNvPr id="107" name="Group 107"/>
            <p:cNvGrpSpPr>
              <a:grpSpLocks/>
            </p:cNvGrpSpPr>
            <p:nvPr/>
          </p:nvGrpSpPr>
          <p:grpSpPr bwMode="auto">
            <a:xfrm>
              <a:off x="1589" y="2024"/>
              <a:ext cx="927" cy="197"/>
              <a:chOff x="1491" y="212"/>
              <a:chExt cx="853" cy="240"/>
            </a:xfrm>
            <a:grpFill/>
          </p:grpSpPr>
          <p:sp>
            <p:nvSpPr>
              <p:cNvPr id="109" name="AutoShape 108"/>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0" name="Rectangle 109"/>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8" name="Text Box 110"/>
            <p:cNvSpPr txBox="1">
              <a:spLocks noChangeArrowheads="1"/>
            </p:cNvSpPr>
            <p:nvPr/>
          </p:nvSpPr>
          <p:spPr bwMode="auto">
            <a:xfrm>
              <a:off x="1566" y="2066"/>
              <a:ext cx="742" cy="21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1  16  </a:t>
              </a:r>
              <a:r>
                <a:rPr kumimoji="1" lang="en-US" altLang="zh-CN" sz="1300" b="1" dirty="0">
                  <a:latin typeface="微软雅黑" pitchFamily="34" charset="-122"/>
                  <a:ea typeface="微软雅黑" pitchFamily="34" charset="-122"/>
                  <a:sym typeface="Symbol" pitchFamily="18" charset="2"/>
                </a:rPr>
                <a:t></a:t>
              </a:r>
              <a:endParaRPr kumimoji="1" lang="en-US" altLang="zh-CN" sz="1300" b="1" baseline="-25000" dirty="0">
                <a:latin typeface="微软雅黑" pitchFamily="34" charset="-122"/>
                <a:ea typeface="微软雅黑" pitchFamily="34" charset="-122"/>
                <a:sym typeface="Symbol" pitchFamily="18" charset="2"/>
              </a:endParaRPr>
            </a:p>
          </p:txBody>
        </p:sp>
      </p:grpSp>
      <p:grpSp>
        <p:nvGrpSpPr>
          <p:cNvPr id="111" name="Group 111"/>
          <p:cNvGrpSpPr>
            <a:grpSpLocks/>
          </p:cNvGrpSpPr>
          <p:nvPr/>
        </p:nvGrpSpPr>
        <p:grpSpPr bwMode="auto">
          <a:xfrm flipH="1">
            <a:off x="5027534" y="900474"/>
            <a:ext cx="977077" cy="191669"/>
            <a:chOff x="1491" y="212"/>
            <a:chExt cx="853" cy="240"/>
          </a:xfrm>
          <a:solidFill>
            <a:srgbClr val="66FF66"/>
          </a:solidFill>
        </p:grpSpPr>
        <p:sp>
          <p:nvSpPr>
            <p:cNvPr id="112" name="AutoShape 112"/>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3" name="Rectangle 113"/>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4" name="Text Box 114"/>
          <p:cNvSpPr txBox="1">
            <a:spLocks noChangeArrowheads="1"/>
          </p:cNvSpPr>
          <p:nvPr/>
        </p:nvSpPr>
        <p:spPr bwMode="auto">
          <a:xfrm>
            <a:off x="5286823" y="960619"/>
            <a:ext cx="774571" cy="206980"/>
          </a:xfrm>
          <a:prstGeom prst="rect">
            <a:avLst/>
          </a:prstGeom>
          <a:noFill/>
          <a:ln>
            <a:noFill/>
          </a:ln>
          <a:effec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nvGrpSpPr>
          <p:cNvPr id="115" name="Group 115"/>
          <p:cNvGrpSpPr>
            <a:grpSpLocks/>
          </p:cNvGrpSpPr>
          <p:nvPr/>
        </p:nvGrpSpPr>
        <p:grpSpPr bwMode="auto">
          <a:xfrm>
            <a:off x="5027535" y="2473801"/>
            <a:ext cx="1033995" cy="265611"/>
            <a:chOff x="3515" y="1991"/>
            <a:chExt cx="981" cy="273"/>
          </a:xfrm>
          <a:solidFill>
            <a:srgbClr val="66FF66"/>
          </a:solidFill>
        </p:grpSpPr>
        <p:grpSp>
          <p:nvGrpSpPr>
            <p:cNvPr id="116" name="Group 116"/>
            <p:cNvGrpSpPr>
              <a:grpSpLocks/>
            </p:cNvGrpSpPr>
            <p:nvPr/>
          </p:nvGrpSpPr>
          <p:grpSpPr bwMode="auto">
            <a:xfrm flipH="1">
              <a:off x="3515" y="1991"/>
              <a:ext cx="927" cy="197"/>
              <a:chOff x="1491" y="212"/>
              <a:chExt cx="853" cy="240"/>
            </a:xfrm>
            <a:grpFill/>
          </p:grpSpPr>
          <p:sp>
            <p:nvSpPr>
              <p:cNvPr id="118" name="AutoShape 117"/>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9" name="Rectangle 118"/>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7" name="Text Box 119"/>
            <p:cNvSpPr txBox="1">
              <a:spLocks noChangeArrowheads="1"/>
            </p:cNvSpPr>
            <p:nvPr/>
          </p:nvSpPr>
          <p:spPr bwMode="auto">
            <a:xfrm>
              <a:off x="3761" y="2051"/>
              <a:ext cx="735" cy="213"/>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sp>
        <p:nvSpPr>
          <p:cNvPr id="125" name="Text Box 120"/>
          <p:cNvSpPr txBox="1">
            <a:spLocks noChangeArrowheads="1"/>
          </p:cNvSpPr>
          <p:nvPr/>
        </p:nvSpPr>
        <p:spPr bwMode="auto">
          <a:xfrm>
            <a:off x="1558752" y="3469443"/>
            <a:ext cx="4612010" cy="605294"/>
          </a:xfrm>
          <a:prstGeom prst="rect">
            <a:avLst/>
          </a:prstGeom>
          <a:solidFill>
            <a:srgbClr val="00FF99"/>
          </a:solidFill>
          <a:ln w="9525">
            <a:solidFill>
              <a:schemeClr val="tx2"/>
            </a:solidFill>
            <a:miter lim="800000"/>
            <a:headEnd/>
            <a:tailEnd/>
          </a:ln>
          <a:effectLst/>
        </p:spPr>
        <p:txBody>
          <a:bodyPr wrap="square">
            <a:spAutoFit/>
          </a:bodyPr>
          <a:lstStyle/>
          <a:p>
            <a:pPr>
              <a:lnSpc>
                <a:spcPts val="2000"/>
              </a:lnSpc>
            </a:pPr>
            <a:r>
              <a:rPr kumimoji="1" lang="zh-CN" altLang="en-US" sz="1300" b="1" dirty="0">
                <a:latin typeface="微软雅黑" pitchFamily="34" charset="-122"/>
                <a:ea typeface="微软雅黑" pitchFamily="34" charset="-122"/>
              </a:rPr>
              <a:t>但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在收到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的更新报文之前，还发送原来的报文，</a:t>
            </a:r>
          </a:p>
          <a:p>
            <a:pPr>
              <a:lnSpc>
                <a:spcPts val="2000"/>
              </a:lnSpc>
            </a:pPr>
            <a:r>
              <a:rPr kumimoji="1" lang="zh-CN" altLang="en-US" sz="1300" b="1" dirty="0">
                <a:latin typeface="微软雅黑" pitchFamily="34" charset="-122"/>
                <a:ea typeface="微软雅黑" pitchFamily="34" charset="-122"/>
              </a:rPr>
              <a:t>因为这时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 </a:t>
            </a:r>
            <a:r>
              <a:rPr kumimoji="1" lang="zh-CN" altLang="en-US" sz="1300" b="1" dirty="0">
                <a:latin typeface="微软雅黑" pitchFamily="34" charset="-122"/>
                <a:ea typeface="微软雅黑" pitchFamily="34" charset="-122"/>
              </a:rPr>
              <a:t>并不知道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出了故障。</a:t>
            </a:r>
          </a:p>
        </p:txBody>
      </p:sp>
      <p:sp>
        <p:nvSpPr>
          <p:cNvPr id="126" name="Text Box 120"/>
          <p:cNvSpPr txBox="1">
            <a:spLocks noChangeArrowheads="1"/>
          </p:cNvSpPr>
          <p:nvPr/>
        </p:nvSpPr>
        <p:spPr bwMode="auto">
          <a:xfrm>
            <a:off x="1558752" y="3016928"/>
            <a:ext cx="5237009" cy="348813"/>
          </a:xfrm>
          <a:prstGeom prst="rect">
            <a:avLst/>
          </a:prstGeom>
          <a:solidFill>
            <a:srgbClr val="00FFFF"/>
          </a:solidFill>
          <a:ln w="9525">
            <a:solidFill>
              <a:schemeClr val="tx2"/>
            </a:solidFill>
            <a:miter lim="800000"/>
            <a:headEnd/>
            <a:tailEnd/>
          </a:ln>
          <a:effectLst/>
        </p:spPr>
        <p:txBody>
          <a:bodyPr wrap="square">
            <a:spAutoFit/>
          </a:bodyPr>
          <a:lstStyle/>
          <a:p>
            <a:pPr>
              <a:lnSpc>
                <a:spcPts val="2000"/>
              </a:lnSpc>
            </a:pP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说：“我到网 </a:t>
            </a:r>
            <a:r>
              <a:rPr kumimoji="1" lang="en-US" altLang="zh-CN" sz="1300" b="1"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的距离是 </a:t>
            </a:r>
            <a:r>
              <a:rPr kumimoji="1" lang="en-US" altLang="zh-CN" sz="1300" b="1" dirty="0">
                <a:latin typeface="微软雅黑" pitchFamily="34" charset="-122"/>
                <a:ea typeface="微软雅黑" pitchFamily="34" charset="-122"/>
              </a:rPr>
              <a:t>16 </a:t>
            </a:r>
            <a:r>
              <a:rPr kumimoji="1" lang="zh-CN" altLang="en-US" sz="1300" b="1" dirty="0">
                <a:latin typeface="微软雅黑" pitchFamily="34" charset="-122"/>
                <a:ea typeface="微软雅黑" pitchFamily="34" charset="-122"/>
              </a:rPr>
              <a:t>（表示无法到达），是直接交付。”</a:t>
            </a:r>
          </a:p>
        </p:txBody>
      </p:sp>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6"/>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106"/>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00"/>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nodeType="afterEffect">
                                  <p:stCondLst>
                                    <p:cond delay="0"/>
                                  </p:stCondLst>
                                  <p:childTnLst>
                                    <p:anim calcmode="discrete" valueType="str">
                                      <p:cBhvr>
                                        <p:cTn id="18" dur="1000" fill="hold"/>
                                        <p:tgtEl>
                                          <p:spTgt spid="10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5"/>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nodeType="afterEffect">
                                  <p:stCondLst>
                                    <p:cond delay="0"/>
                                  </p:stCondLst>
                                  <p:childTnLst>
                                    <p:set>
                                      <p:cBhvr>
                                        <p:cTn id="25" dur="1" fill="hold">
                                          <p:stCondLst>
                                            <p:cond delay="0"/>
                                          </p:stCondLst>
                                        </p:cTn>
                                        <p:tgtEl>
                                          <p:spTgt spid="115"/>
                                        </p:tgtEl>
                                        <p:attrNameLst>
                                          <p:attrName>style.visibility</p:attrName>
                                        </p:attrNameLst>
                                      </p:cBhvr>
                                      <p:to>
                                        <p:strVal val="visible"/>
                                      </p:to>
                                    </p:set>
                                  </p:childTnLst>
                                </p:cTn>
                              </p:par>
                            </p:childTnLst>
                          </p:cTn>
                        </p:par>
                        <p:par>
                          <p:cTn id="26" fill="hold">
                            <p:stCondLst>
                              <p:cond delay="0"/>
                            </p:stCondLst>
                            <p:childTnLst>
                              <p:par>
                                <p:cTn id="27" presetID="35" presetClass="emph" presetSubtype="0" repeatCount="3000" fill="hold" nodeType="afterEffect">
                                  <p:stCondLst>
                                    <p:cond delay="0"/>
                                  </p:stCondLst>
                                  <p:childTnLst>
                                    <p:anim calcmode="discrete" valueType="str">
                                      <p:cBhvr>
                                        <p:cTn id="28" dur="1000" fill="hold"/>
                                        <p:tgtEl>
                                          <p:spTgt spid="11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25" grpId="0" animBg="1"/>
      <p:bldP spid="126"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圆角矩形 125"/>
          <p:cNvSpPr/>
          <p:nvPr/>
        </p:nvSpPr>
        <p:spPr>
          <a:xfrm>
            <a:off x="545144" y="615462"/>
            <a:ext cx="8053712" cy="37281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4"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p:cNvSpPr txBox="1">
            <a:spLocks noChangeArrowheads="1"/>
          </p:cNvSpPr>
          <p:nvPr/>
        </p:nvSpPr>
        <p:spPr bwMode="auto">
          <a:xfrm>
            <a:off x="557878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6" name="Text Box 5"/>
          <p:cNvSpPr txBox="1">
            <a:spLocks noChangeArrowheads="1"/>
          </p:cNvSpPr>
          <p:nvPr/>
        </p:nvSpPr>
        <p:spPr bwMode="auto">
          <a:xfrm>
            <a:off x="319037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7"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8" name="Group 7"/>
          <p:cNvGrpSpPr>
            <a:grpSpLocks/>
          </p:cNvGrpSpPr>
          <p:nvPr/>
        </p:nvGrpSpPr>
        <p:grpSpPr bwMode="auto">
          <a:xfrm>
            <a:off x="1793796" y="968580"/>
            <a:ext cx="783138" cy="526362"/>
            <a:chOff x="4830" y="1752"/>
            <a:chExt cx="667" cy="477"/>
          </a:xfrm>
          <a:solidFill>
            <a:srgbClr val="00FFFF"/>
          </a:solidFill>
        </p:grpSpPr>
        <p:grpSp>
          <p:nvGrpSpPr>
            <p:cNvPr id="9" name="Group 8"/>
            <p:cNvGrpSpPr>
              <a:grpSpLocks/>
            </p:cNvGrpSpPr>
            <p:nvPr/>
          </p:nvGrpSpPr>
          <p:grpSpPr bwMode="auto">
            <a:xfrm>
              <a:off x="4830" y="1752"/>
              <a:ext cx="667" cy="477"/>
              <a:chOff x="2949" y="196"/>
              <a:chExt cx="941" cy="598"/>
            </a:xfrm>
            <a:grpFill/>
          </p:grpSpPr>
          <p:sp>
            <p:nvSpPr>
              <p:cNvPr id="11"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2"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3"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4"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5"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8"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20"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21"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0" name="Text Box 20"/>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22" name="Group 21"/>
          <p:cNvGrpSpPr>
            <a:grpSpLocks/>
          </p:cNvGrpSpPr>
          <p:nvPr/>
        </p:nvGrpSpPr>
        <p:grpSpPr bwMode="auto">
          <a:xfrm>
            <a:off x="6444139" y="968580"/>
            <a:ext cx="783138" cy="526362"/>
            <a:chOff x="4830" y="1752"/>
            <a:chExt cx="667" cy="477"/>
          </a:xfrm>
          <a:solidFill>
            <a:srgbClr val="00FFFF"/>
          </a:solidFill>
        </p:grpSpPr>
        <p:grpSp>
          <p:nvGrpSpPr>
            <p:cNvPr id="23" name="Group 22"/>
            <p:cNvGrpSpPr>
              <a:grpSpLocks/>
            </p:cNvGrpSpPr>
            <p:nvPr/>
          </p:nvGrpSpPr>
          <p:grpSpPr bwMode="auto">
            <a:xfrm>
              <a:off x="4830" y="1752"/>
              <a:ext cx="667" cy="477"/>
              <a:chOff x="2949" y="196"/>
              <a:chExt cx="941" cy="598"/>
            </a:xfrm>
            <a:grpFill/>
          </p:grpSpPr>
          <p:sp>
            <p:nvSpPr>
              <p:cNvPr id="25"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6"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7"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8"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9"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0"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1"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2"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3"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34"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35"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24" name="Text Box 34"/>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grpSp>
      <p:grpSp>
        <p:nvGrpSpPr>
          <p:cNvPr id="36" name="Group 35"/>
          <p:cNvGrpSpPr>
            <a:grpSpLocks/>
          </p:cNvGrpSpPr>
          <p:nvPr/>
        </p:nvGrpSpPr>
        <p:grpSpPr bwMode="auto">
          <a:xfrm>
            <a:off x="4099995" y="968580"/>
            <a:ext cx="783138" cy="526362"/>
            <a:chOff x="4830" y="1752"/>
            <a:chExt cx="667" cy="477"/>
          </a:xfrm>
          <a:solidFill>
            <a:srgbClr val="00FFFF"/>
          </a:solidFill>
        </p:grpSpPr>
        <p:grpSp>
          <p:nvGrpSpPr>
            <p:cNvPr id="37" name="Group 36"/>
            <p:cNvGrpSpPr>
              <a:grpSpLocks/>
            </p:cNvGrpSpPr>
            <p:nvPr/>
          </p:nvGrpSpPr>
          <p:grpSpPr bwMode="auto">
            <a:xfrm>
              <a:off x="4830" y="1752"/>
              <a:ext cx="667" cy="477"/>
              <a:chOff x="2949" y="196"/>
              <a:chExt cx="941" cy="598"/>
            </a:xfrm>
            <a:grpFill/>
          </p:grpSpPr>
          <p:sp>
            <p:nvSpPr>
              <p:cNvPr id="39"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0"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1"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2"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3"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4"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5"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6"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7"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48"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49"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38" name="Text Box 48"/>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53" name="Text Box 53"/>
          <p:cNvSpPr txBox="1">
            <a:spLocks noChangeArrowheads="1"/>
          </p:cNvSpPr>
          <p:nvPr/>
        </p:nvSpPr>
        <p:spPr bwMode="auto">
          <a:xfrm>
            <a:off x="3190375"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00FFFF"/>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69" name="Group 69"/>
          <p:cNvGrpSpPr>
            <a:grpSpLocks/>
          </p:cNvGrpSpPr>
          <p:nvPr/>
        </p:nvGrpSpPr>
        <p:grpSpPr bwMode="auto">
          <a:xfrm>
            <a:off x="6444139" y="1810273"/>
            <a:ext cx="783138" cy="526362"/>
            <a:chOff x="4830" y="1752"/>
            <a:chExt cx="667" cy="477"/>
          </a:xfrm>
          <a:solidFill>
            <a:srgbClr val="00FFFF"/>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71" name="Text Box 82"/>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grpSp>
      <p:grpSp>
        <p:nvGrpSpPr>
          <p:cNvPr id="83" name="Group 83"/>
          <p:cNvGrpSpPr>
            <a:grpSpLocks/>
          </p:cNvGrpSpPr>
          <p:nvPr/>
        </p:nvGrpSpPr>
        <p:grpSpPr bwMode="auto">
          <a:xfrm>
            <a:off x="4099995" y="1810273"/>
            <a:ext cx="783138" cy="526362"/>
            <a:chOff x="4830" y="1752"/>
            <a:chExt cx="667" cy="477"/>
          </a:xfrm>
          <a:solidFill>
            <a:srgbClr val="00FFFF"/>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grpSp>
        <p:nvGrpSpPr>
          <p:cNvPr id="97" name="Group 97"/>
          <p:cNvGrpSpPr>
            <a:grpSpLocks/>
          </p:cNvGrpSpPr>
          <p:nvPr/>
        </p:nvGrpSpPr>
        <p:grpSpPr bwMode="auto">
          <a:xfrm>
            <a:off x="1780094" y="1755788"/>
            <a:ext cx="795786" cy="595441"/>
            <a:chOff x="434" y="1298"/>
            <a:chExt cx="755" cy="612"/>
          </a:xfrm>
        </p:grpSpPr>
        <p:sp>
          <p:nvSpPr>
            <p:cNvPr id="98" name="Line 98"/>
            <p:cNvSpPr>
              <a:spLocks noChangeShapeType="1"/>
            </p:cNvSpPr>
            <p:nvPr/>
          </p:nvSpPr>
          <p:spPr bwMode="auto">
            <a:xfrm>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9" name="Line 99"/>
            <p:cNvSpPr>
              <a:spLocks noChangeShapeType="1"/>
            </p:cNvSpPr>
            <p:nvPr/>
          </p:nvSpPr>
          <p:spPr bwMode="auto">
            <a:xfrm flipH="1">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01" name="Text Box 101"/>
          <p:cNvSpPr txBox="1">
            <a:spLocks noChangeArrowheads="1"/>
          </p:cNvSpPr>
          <p:nvPr/>
        </p:nvSpPr>
        <p:spPr bwMode="auto">
          <a:xfrm>
            <a:off x="1486022" y="768154"/>
            <a:ext cx="35137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CC00CC"/>
                </a:solidFill>
                <a:latin typeface="微软雅黑" pitchFamily="34" charset="-122"/>
                <a:ea typeface="微软雅黑" pitchFamily="34" charset="-122"/>
              </a:rPr>
              <a:t>正</a:t>
            </a:r>
          </a:p>
          <a:p>
            <a:r>
              <a:rPr kumimoji="1" lang="zh-CN" altLang="en-US" sz="1300" b="1" dirty="0">
                <a:solidFill>
                  <a:srgbClr val="CC00CC"/>
                </a:solidFill>
                <a:latin typeface="微软雅黑" pitchFamily="34" charset="-122"/>
                <a:ea typeface="微软雅黑" pitchFamily="34" charset="-122"/>
              </a:rPr>
              <a:t>常</a:t>
            </a:r>
          </a:p>
          <a:p>
            <a:r>
              <a:rPr kumimoji="1" lang="zh-CN" altLang="en-US" sz="1300" b="1" dirty="0">
                <a:solidFill>
                  <a:srgbClr val="CC00CC"/>
                </a:solidFill>
                <a:latin typeface="微软雅黑" pitchFamily="34" charset="-122"/>
                <a:ea typeface="微软雅黑" pitchFamily="34" charset="-122"/>
              </a:rPr>
              <a:t>情</a:t>
            </a:r>
          </a:p>
          <a:p>
            <a:r>
              <a:rPr kumimoji="1" lang="zh-CN" altLang="en-US" sz="1300" b="1" dirty="0">
                <a:solidFill>
                  <a:srgbClr val="CC00CC"/>
                </a:solidFill>
                <a:latin typeface="微软雅黑" pitchFamily="34" charset="-122"/>
                <a:ea typeface="微软雅黑" pitchFamily="34" charset="-122"/>
              </a:rPr>
              <a:t>况</a:t>
            </a:r>
          </a:p>
        </p:txBody>
      </p:sp>
      <p:grpSp>
        <p:nvGrpSpPr>
          <p:cNvPr id="102" name="Group 102"/>
          <p:cNvGrpSpPr>
            <a:grpSpLocks/>
          </p:cNvGrpSpPr>
          <p:nvPr/>
        </p:nvGrpSpPr>
        <p:grpSpPr bwMode="auto">
          <a:xfrm>
            <a:off x="2816198" y="886853"/>
            <a:ext cx="977077" cy="191669"/>
            <a:chOff x="1491" y="212"/>
            <a:chExt cx="853" cy="240"/>
          </a:xfrm>
          <a:solidFill>
            <a:srgbClr val="FFFF00"/>
          </a:solidFill>
        </p:grpSpPr>
        <p:sp>
          <p:nvSpPr>
            <p:cNvPr id="103" name="AutoShape 10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04" name="Rectangle 10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5" name="Text Box 105"/>
          <p:cNvSpPr txBox="1">
            <a:spLocks noChangeArrowheads="1"/>
          </p:cNvSpPr>
          <p:nvPr/>
        </p:nvSpPr>
        <p:spPr bwMode="auto">
          <a:xfrm>
            <a:off x="2828846" y="932581"/>
            <a:ext cx="679994" cy="206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a:latin typeface="微软雅黑" pitchFamily="34" charset="-122"/>
                <a:ea typeface="微软雅黑" pitchFamily="34" charset="-122"/>
              </a:rPr>
              <a:t>1  1  </a:t>
            </a:r>
            <a:r>
              <a:rPr kumimoji="1" lang="en-US" altLang="zh-CN" sz="1300" b="1">
                <a:latin typeface="微软雅黑" pitchFamily="34" charset="-122"/>
                <a:ea typeface="微软雅黑" pitchFamily="34" charset="-122"/>
                <a:sym typeface="Symbol" pitchFamily="18" charset="2"/>
              </a:rPr>
              <a:t></a:t>
            </a:r>
            <a:endParaRPr kumimoji="1" lang="en-US" altLang="zh-CN" sz="1300" b="1" baseline="-25000">
              <a:latin typeface="微软雅黑" pitchFamily="34" charset="-122"/>
              <a:ea typeface="微软雅黑" pitchFamily="34" charset="-122"/>
              <a:sym typeface="Symbol" pitchFamily="18" charset="2"/>
            </a:endParaRPr>
          </a:p>
        </p:txBody>
      </p:sp>
      <p:grpSp>
        <p:nvGrpSpPr>
          <p:cNvPr id="106" name="Group 106"/>
          <p:cNvGrpSpPr>
            <a:grpSpLocks/>
          </p:cNvGrpSpPr>
          <p:nvPr/>
        </p:nvGrpSpPr>
        <p:grpSpPr bwMode="auto">
          <a:xfrm>
            <a:off x="2973246" y="2505923"/>
            <a:ext cx="1001320" cy="247128"/>
            <a:chOff x="1566" y="2024"/>
            <a:chExt cx="950" cy="254"/>
          </a:xfrm>
          <a:solidFill>
            <a:srgbClr val="FFFF00"/>
          </a:solidFill>
        </p:grpSpPr>
        <p:grpSp>
          <p:nvGrpSpPr>
            <p:cNvPr id="107" name="Group 107"/>
            <p:cNvGrpSpPr>
              <a:grpSpLocks/>
            </p:cNvGrpSpPr>
            <p:nvPr/>
          </p:nvGrpSpPr>
          <p:grpSpPr bwMode="auto">
            <a:xfrm>
              <a:off x="1589" y="2024"/>
              <a:ext cx="927" cy="197"/>
              <a:chOff x="1491" y="212"/>
              <a:chExt cx="853" cy="240"/>
            </a:xfrm>
            <a:grpFill/>
          </p:grpSpPr>
          <p:sp>
            <p:nvSpPr>
              <p:cNvPr id="109" name="AutoShape 108"/>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0" name="Rectangle 109"/>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8" name="Text Box 110"/>
            <p:cNvSpPr txBox="1">
              <a:spLocks noChangeArrowheads="1"/>
            </p:cNvSpPr>
            <p:nvPr/>
          </p:nvSpPr>
          <p:spPr bwMode="auto">
            <a:xfrm>
              <a:off x="1566" y="2066"/>
              <a:ext cx="742" cy="21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1  16  </a:t>
              </a:r>
              <a:r>
                <a:rPr kumimoji="1" lang="en-US" altLang="zh-CN" sz="1300" b="1" dirty="0">
                  <a:latin typeface="微软雅黑" pitchFamily="34" charset="-122"/>
                  <a:ea typeface="微软雅黑" pitchFamily="34" charset="-122"/>
                  <a:sym typeface="Symbol" pitchFamily="18" charset="2"/>
                </a:rPr>
                <a:t></a:t>
              </a:r>
              <a:endParaRPr kumimoji="1" lang="en-US" altLang="zh-CN" sz="1300" b="1" baseline="-25000" dirty="0">
                <a:latin typeface="微软雅黑" pitchFamily="34" charset="-122"/>
                <a:ea typeface="微软雅黑" pitchFamily="34" charset="-122"/>
                <a:sym typeface="Symbol" pitchFamily="18" charset="2"/>
              </a:endParaRPr>
            </a:p>
          </p:txBody>
        </p:sp>
      </p:grpSp>
      <p:grpSp>
        <p:nvGrpSpPr>
          <p:cNvPr id="111" name="Group 111"/>
          <p:cNvGrpSpPr>
            <a:grpSpLocks/>
          </p:cNvGrpSpPr>
          <p:nvPr/>
        </p:nvGrpSpPr>
        <p:grpSpPr bwMode="auto">
          <a:xfrm flipH="1">
            <a:off x="5027534" y="900474"/>
            <a:ext cx="977077" cy="191669"/>
            <a:chOff x="1491" y="212"/>
            <a:chExt cx="853" cy="240"/>
          </a:xfrm>
          <a:solidFill>
            <a:srgbClr val="66FF66"/>
          </a:solidFill>
        </p:grpSpPr>
        <p:sp>
          <p:nvSpPr>
            <p:cNvPr id="112" name="AutoShape 112"/>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3" name="Rectangle 113"/>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4" name="Text Box 114"/>
          <p:cNvSpPr txBox="1">
            <a:spLocks noChangeArrowheads="1"/>
          </p:cNvSpPr>
          <p:nvPr/>
        </p:nvSpPr>
        <p:spPr bwMode="auto">
          <a:xfrm>
            <a:off x="5286823" y="958851"/>
            <a:ext cx="774571" cy="206980"/>
          </a:xfrm>
          <a:prstGeom prst="rect">
            <a:avLst/>
          </a:prstGeom>
          <a:noFill/>
          <a:ln>
            <a:noFill/>
          </a:ln>
          <a:effec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nvGrpSpPr>
          <p:cNvPr id="115" name="Group 115"/>
          <p:cNvGrpSpPr>
            <a:grpSpLocks/>
          </p:cNvGrpSpPr>
          <p:nvPr/>
        </p:nvGrpSpPr>
        <p:grpSpPr bwMode="auto">
          <a:xfrm>
            <a:off x="5027535" y="2473823"/>
            <a:ext cx="1033995" cy="265614"/>
            <a:chOff x="3515" y="1991"/>
            <a:chExt cx="981" cy="273"/>
          </a:xfrm>
          <a:solidFill>
            <a:srgbClr val="66FF66"/>
          </a:solidFill>
        </p:grpSpPr>
        <p:grpSp>
          <p:nvGrpSpPr>
            <p:cNvPr id="116" name="Group 116"/>
            <p:cNvGrpSpPr>
              <a:grpSpLocks/>
            </p:cNvGrpSpPr>
            <p:nvPr/>
          </p:nvGrpSpPr>
          <p:grpSpPr bwMode="auto">
            <a:xfrm flipH="1">
              <a:off x="3515" y="1991"/>
              <a:ext cx="927" cy="197"/>
              <a:chOff x="1491" y="212"/>
              <a:chExt cx="853" cy="240"/>
            </a:xfrm>
            <a:grpFill/>
          </p:grpSpPr>
          <p:sp>
            <p:nvSpPr>
              <p:cNvPr id="118" name="AutoShape 117"/>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9" name="Rectangle 118"/>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7" name="Text Box 119"/>
            <p:cNvSpPr txBox="1">
              <a:spLocks noChangeArrowheads="1"/>
            </p:cNvSpPr>
            <p:nvPr/>
          </p:nvSpPr>
          <p:spPr bwMode="auto">
            <a:xfrm>
              <a:off x="3761" y="2051"/>
              <a:ext cx="735" cy="213"/>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grpSp>
        <p:nvGrpSpPr>
          <p:cNvPr id="120" name="Group 121"/>
          <p:cNvGrpSpPr>
            <a:grpSpLocks/>
          </p:cNvGrpSpPr>
          <p:nvPr/>
        </p:nvGrpSpPr>
        <p:grpSpPr bwMode="auto">
          <a:xfrm>
            <a:off x="2972193" y="2814357"/>
            <a:ext cx="1002374" cy="246155"/>
            <a:chOff x="1565" y="2478"/>
            <a:chExt cx="951" cy="253"/>
          </a:xfrm>
          <a:solidFill>
            <a:srgbClr val="FFFF00"/>
          </a:solidFill>
        </p:grpSpPr>
        <p:grpSp>
          <p:nvGrpSpPr>
            <p:cNvPr id="121" name="Group 122"/>
            <p:cNvGrpSpPr>
              <a:grpSpLocks/>
            </p:cNvGrpSpPr>
            <p:nvPr/>
          </p:nvGrpSpPr>
          <p:grpSpPr bwMode="auto">
            <a:xfrm>
              <a:off x="1589" y="2478"/>
              <a:ext cx="927" cy="197"/>
              <a:chOff x="1491" y="212"/>
              <a:chExt cx="853" cy="240"/>
            </a:xfrm>
            <a:grpFill/>
          </p:grpSpPr>
          <p:sp>
            <p:nvSpPr>
              <p:cNvPr id="123" name="AutoShape 12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24" name="Rectangle 12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22" name="Text Box 125"/>
            <p:cNvSpPr txBox="1">
              <a:spLocks noChangeArrowheads="1"/>
            </p:cNvSpPr>
            <p:nvPr/>
          </p:nvSpPr>
          <p:spPr bwMode="auto">
            <a:xfrm>
              <a:off x="1565" y="2518"/>
              <a:ext cx="735" cy="213"/>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1  3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2</a:t>
              </a:r>
            </a:p>
          </p:txBody>
        </p:sp>
      </p:grpSp>
      <p:sp>
        <p:nvSpPr>
          <p:cNvPr id="125" name="Text Box 120"/>
          <p:cNvSpPr txBox="1">
            <a:spLocks noChangeArrowheads="1"/>
          </p:cNvSpPr>
          <p:nvPr/>
        </p:nvSpPr>
        <p:spPr bwMode="auto">
          <a:xfrm>
            <a:off x="1839563" y="3273353"/>
            <a:ext cx="4949184" cy="861774"/>
          </a:xfrm>
          <a:prstGeom prst="rect">
            <a:avLst/>
          </a:prstGeom>
          <a:solidFill>
            <a:srgbClr val="00FF99"/>
          </a:solidFill>
          <a:ln w="9525">
            <a:solidFill>
              <a:schemeClr val="tx2"/>
            </a:solidFill>
            <a:miter lim="800000"/>
            <a:headEnd/>
            <a:tailEnd/>
          </a:ln>
          <a:effectLst/>
        </p:spPr>
        <p:txBody>
          <a:bodyPr wrap="square">
            <a:spAutoFit/>
          </a:bodyPr>
          <a:lstStyle/>
          <a:p>
            <a:pPr>
              <a:lnSpc>
                <a:spcPts val="2000"/>
              </a:lnSpc>
            </a:pP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收到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 </a:t>
            </a:r>
            <a:r>
              <a:rPr kumimoji="1" lang="zh-CN" altLang="en-US" sz="1300" b="1" dirty="0">
                <a:latin typeface="微软雅黑" pitchFamily="34" charset="-122"/>
                <a:ea typeface="微软雅黑" pitchFamily="34" charset="-122"/>
              </a:rPr>
              <a:t>的更新报文后，误认为可经过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到达网 </a:t>
            </a:r>
            <a:r>
              <a:rPr kumimoji="1" lang="en-US" altLang="zh-CN" sz="1300" b="1" dirty="0">
                <a:latin typeface="微软雅黑" pitchFamily="34" charset="-122"/>
                <a:ea typeface="微软雅黑" pitchFamily="34" charset="-122"/>
              </a:rPr>
              <a:t>1</a:t>
            </a:r>
            <a:r>
              <a:rPr kumimoji="1" lang="zh-CN" altLang="en-US" sz="1300" b="1" dirty="0">
                <a:latin typeface="微软雅黑" pitchFamily="34" charset="-122"/>
                <a:ea typeface="微软雅黑" pitchFamily="34" charset="-122"/>
              </a:rPr>
              <a:t>，于是更新自己的路由表，说：“我到网 </a:t>
            </a:r>
            <a:r>
              <a:rPr kumimoji="1" lang="en-US" altLang="zh-CN" sz="1300" b="1"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的距离是 </a:t>
            </a:r>
            <a:r>
              <a:rPr kumimoji="1" lang="en-US" altLang="zh-CN" sz="1300" b="1" dirty="0">
                <a:latin typeface="微软雅黑" pitchFamily="34" charset="-122"/>
                <a:ea typeface="微软雅黑" pitchFamily="34" charset="-122"/>
              </a:rPr>
              <a:t>3</a:t>
            </a:r>
            <a:r>
              <a:rPr kumimoji="1" lang="zh-CN" altLang="en-US" sz="1300" b="1" dirty="0">
                <a:latin typeface="微软雅黑" pitchFamily="34" charset="-122"/>
                <a:ea typeface="微软雅黑" pitchFamily="34" charset="-122"/>
              </a:rPr>
              <a:t>，下一跳经过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a:t>
            </a:r>
            <a:r>
              <a:rPr kumimoji="1" lang="en-US" altLang="zh-CN" sz="1300" b="1" dirty="0">
                <a:latin typeface="微软雅黑" pitchFamily="34" charset="-122"/>
                <a:ea typeface="微软雅黑" pitchFamily="34" charset="-122"/>
              </a:rPr>
              <a:t>”</a:t>
            </a:r>
            <a:r>
              <a:rPr kumimoji="1" lang="zh-CN" altLang="en-US" sz="1300" b="1" dirty="0">
                <a:latin typeface="微软雅黑" pitchFamily="34" charset="-122"/>
                <a:ea typeface="微软雅黑" pitchFamily="34" charset="-122"/>
              </a:rPr>
              <a:t>。然后将此更新信息发送给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a:t>
            </a:r>
            <a:r>
              <a:rPr kumimoji="1" lang="zh-CN" altLang="en-US" sz="1300" b="1" dirty="0">
                <a:latin typeface="微软雅黑" pitchFamily="34" charset="-122"/>
                <a:ea typeface="微软雅黑" pitchFamily="34" charset="-122"/>
              </a:rPr>
              <a:t>。</a:t>
            </a:r>
          </a:p>
        </p:txBody>
      </p:sp>
      <p:sp>
        <p:nvSpPr>
          <p:cNvPr id="127" name="Text Box 100"/>
          <p:cNvSpPr txBox="1">
            <a:spLocks noChangeArrowheads="1"/>
          </p:cNvSpPr>
          <p:nvPr/>
        </p:nvSpPr>
        <p:spPr bwMode="auto">
          <a:xfrm>
            <a:off x="1596284" y="2462144"/>
            <a:ext cx="1220206" cy="272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300" b="1" dirty="0">
                <a:solidFill>
                  <a:srgbClr val="CC00CC"/>
                </a:solidFill>
                <a:latin typeface="微软雅黑" pitchFamily="34" charset="-122"/>
                <a:ea typeface="微软雅黑" pitchFamily="34" charset="-122"/>
              </a:rPr>
              <a:t>网 </a:t>
            </a:r>
            <a:r>
              <a:rPr kumimoji="1" lang="en-US" altLang="zh-CN" sz="1300" b="1" dirty="0">
                <a:solidFill>
                  <a:srgbClr val="CC00CC"/>
                </a:solidFill>
                <a:latin typeface="微软雅黑" pitchFamily="34" charset="-122"/>
                <a:ea typeface="微软雅黑" pitchFamily="34" charset="-122"/>
              </a:rPr>
              <a:t>1 </a:t>
            </a:r>
            <a:r>
              <a:rPr kumimoji="1" lang="zh-CN" altLang="en-US" sz="1300" b="1" dirty="0">
                <a:solidFill>
                  <a:srgbClr val="CC00CC"/>
                </a:solidFill>
                <a:latin typeface="微软雅黑" pitchFamily="34" charset="-122"/>
                <a:ea typeface="微软雅黑" pitchFamily="34" charset="-122"/>
              </a:rPr>
              <a:t>出了故障</a:t>
            </a: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20"/>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120"/>
                                        </p:tgtEl>
                                        <p:attrNameLst>
                                          <p:attrName>style.visibility</p:attrName>
                                        </p:attrNameLst>
                                      </p:cBhvr>
                                      <p:tavLst>
                                        <p:tav tm="0">
                                          <p:val>
                                            <p:strVal val="hidden"/>
                                          </p:val>
                                        </p:tav>
                                        <p:tav tm="50000">
                                          <p:val>
                                            <p:strVal val="visible"/>
                                          </p:val>
                                        </p:tav>
                                      </p:tavLst>
                                    </p:anim>
                                  </p:childTnLst>
                                </p:cTn>
                              </p:par>
                              <p:par>
                                <p:cTn id="13" presetID="1" presetClass="entr" presetSubtype="0" fill="hold" grpId="0" nodeType="withEffect">
                                  <p:stCondLst>
                                    <p:cond delay="0"/>
                                  </p:stCondLst>
                                  <p:childTnLst>
                                    <p:set>
                                      <p:cBhvr>
                                        <p:cTn id="14" dur="1" fill="hold">
                                          <p:stCondLst>
                                            <p:cond delay="0"/>
                                          </p:stCondLst>
                                        </p:cTn>
                                        <p:tgtEl>
                                          <p:spTgt spid="1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P spid="127" grpId="0"/>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圆角矩形 130"/>
          <p:cNvSpPr/>
          <p:nvPr/>
        </p:nvSpPr>
        <p:spPr>
          <a:xfrm>
            <a:off x="545144" y="615462"/>
            <a:ext cx="8053712" cy="37281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4"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p:cNvSpPr txBox="1">
            <a:spLocks noChangeArrowheads="1"/>
          </p:cNvSpPr>
          <p:nvPr/>
        </p:nvSpPr>
        <p:spPr bwMode="auto">
          <a:xfrm>
            <a:off x="557878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6" name="Text Box 5"/>
          <p:cNvSpPr txBox="1">
            <a:spLocks noChangeArrowheads="1"/>
          </p:cNvSpPr>
          <p:nvPr/>
        </p:nvSpPr>
        <p:spPr bwMode="auto">
          <a:xfrm>
            <a:off x="319037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7"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8" name="Group 7"/>
          <p:cNvGrpSpPr>
            <a:grpSpLocks/>
          </p:cNvGrpSpPr>
          <p:nvPr/>
        </p:nvGrpSpPr>
        <p:grpSpPr bwMode="auto">
          <a:xfrm>
            <a:off x="1793796" y="968580"/>
            <a:ext cx="783138" cy="526362"/>
            <a:chOff x="4830" y="1752"/>
            <a:chExt cx="667" cy="477"/>
          </a:xfrm>
          <a:solidFill>
            <a:srgbClr val="00FFFF"/>
          </a:solidFill>
        </p:grpSpPr>
        <p:grpSp>
          <p:nvGrpSpPr>
            <p:cNvPr id="9" name="Group 8"/>
            <p:cNvGrpSpPr>
              <a:grpSpLocks/>
            </p:cNvGrpSpPr>
            <p:nvPr/>
          </p:nvGrpSpPr>
          <p:grpSpPr bwMode="auto">
            <a:xfrm>
              <a:off x="4830" y="1752"/>
              <a:ext cx="667" cy="477"/>
              <a:chOff x="2949" y="196"/>
              <a:chExt cx="941" cy="598"/>
            </a:xfrm>
            <a:grpFill/>
          </p:grpSpPr>
          <p:sp>
            <p:nvSpPr>
              <p:cNvPr id="11"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2"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3"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4"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5"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8"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20"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21"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0" name="Text Box 20"/>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22" name="Group 21"/>
          <p:cNvGrpSpPr>
            <a:grpSpLocks/>
          </p:cNvGrpSpPr>
          <p:nvPr/>
        </p:nvGrpSpPr>
        <p:grpSpPr bwMode="auto">
          <a:xfrm>
            <a:off x="6444139" y="968580"/>
            <a:ext cx="783138" cy="526362"/>
            <a:chOff x="4830" y="1752"/>
            <a:chExt cx="667" cy="477"/>
          </a:xfrm>
          <a:solidFill>
            <a:srgbClr val="00FFFF"/>
          </a:solidFill>
        </p:grpSpPr>
        <p:grpSp>
          <p:nvGrpSpPr>
            <p:cNvPr id="23" name="Group 22"/>
            <p:cNvGrpSpPr>
              <a:grpSpLocks/>
            </p:cNvGrpSpPr>
            <p:nvPr/>
          </p:nvGrpSpPr>
          <p:grpSpPr bwMode="auto">
            <a:xfrm>
              <a:off x="4830" y="1752"/>
              <a:ext cx="667" cy="477"/>
              <a:chOff x="2949" y="196"/>
              <a:chExt cx="941" cy="598"/>
            </a:xfrm>
            <a:grpFill/>
          </p:grpSpPr>
          <p:sp>
            <p:nvSpPr>
              <p:cNvPr id="25"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6"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7"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8"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9"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0"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1"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2"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33"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34"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35"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24" name="Text Box 34"/>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grpSp>
      <p:grpSp>
        <p:nvGrpSpPr>
          <p:cNvPr id="36" name="Group 35"/>
          <p:cNvGrpSpPr>
            <a:grpSpLocks/>
          </p:cNvGrpSpPr>
          <p:nvPr/>
        </p:nvGrpSpPr>
        <p:grpSpPr bwMode="auto">
          <a:xfrm>
            <a:off x="4099995" y="968580"/>
            <a:ext cx="783138" cy="526362"/>
            <a:chOff x="4830" y="1752"/>
            <a:chExt cx="667" cy="477"/>
          </a:xfrm>
          <a:solidFill>
            <a:srgbClr val="00FFFF"/>
          </a:solidFill>
        </p:grpSpPr>
        <p:grpSp>
          <p:nvGrpSpPr>
            <p:cNvPr id="37" name="Group 36"/>
            <p:cNvGrpSpPr>
              <a:grpSpLocks/>
            </p:cNvGrpSpPr>
            <p:nvPr/>
          </p:nvGrpSpPr>
          <p:grpSpPr bwMode="auto">
            <a:xfrm>
              <a:off x="4830" y="1752"/>
              <a:ext cx="667" cy="477"/>
              <a:chOff x="2949" y="196"/>
              <a:chExt cx="941" cy="598"/>
            </a:xfrm>
            <a:grpFill/>
          </p:grpSpPr>
          <p:sp>
            <p:nvSpPr>
              <p:cNvPr id="39"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0"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1"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2"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3"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4"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5"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6"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47"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48"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49"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38" name="Text Box 48"/>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53" name="Text Box 53"/>
          <p:cNvSpPr txBox="1">
            <a:spLocks noChangeArrowheads="1"/>
          </p:cNvSpPr>
          <p:nvPr/>
        </p:nvSpPr>
        <p:spPr bwMode="auto">
          <a:xfrm>
            <a:off x="3190375"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00FFFF"/>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69" name="Group 69"/>
          <p:cNvGrpSpPr>
            <a:grpSpLocks/>
          </p:cNvGrpSpPr>
          <p:nvPr/>
        </p:nvGrpSpPr>
        <p:grpSpPr bwMode="auto">
          <a:xfrm>
            <a:off x="6444139" y="1810273"/>
            <a:ext cx="783138" cy="526362"/>
            <a:chOff x="4830" y="1752"/>
            <a:chExt cx="667" cy="477"/>
          </a:xfrm>
          <a:solidFill>
            <a:srgbClr val="00FFFF"/>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71" name="Text Box 82"/>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grpSp>
      <p:grpSp>
        <p:nvGrpSpPr>
          <p:cNvPr id="83" name="Group 83"/>
          <p:cNvGrpSpPr>
            <a:grpSpLocks/>
          </p:cNvGrpSpPr>
          <p:nvPr/>
        </p:nvGrpSpPr>
        <p:grpSpPr bwMode="auto">
          <a:xfrm>
            <a:off x="4099995" y="1810273"/>
            <a:ext cx="783138" cy="526362"/>
            <a:chOff x="4830" y="1752"/>
            <a:chExt cx="667" cy="477"/>
          </a:xfrm>
          <a:solidFill>
            <a:srgbClr val="00FFFF"/>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grpSp>
        <p:nvGrpSpPr>
          <p:cNvPr id="97" name="Group 97"/>
          <p:cNvGrpSpPr>
            <a:grpSpLocks/>
          </p:cNvGrpSpPr>
          <p:nvPr/>
        </p:nvGrpSpPr>
        <p:grpSpPr bwMode="auto">
          <a:xfrm>
            <a:off x="1780094" y="1755788"/>
            <a:ext cx="795786" cy="595441"/>
            <a:chOff x="434" y="1298"/>
            <a:chExt cx="755" cy="612"/>
          </a:xfrm>
        </p:grpSpPr>
        <p:sp>
          <p:nvSpPr>
            <p:cNvPr id="98" name="Line 98"/>
            <p:cNvSpPr>
              <a:spLocks noChangeShapeType="1"/>
            </p:cNvSpPr>
            <p:nvPr/>
          </p:nvSpPr>
          <p:spPr bwMode="auto">
            <a:xfrm>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9" name="Line 99"/>
            <p:cNvSpPr>
              <a:spLocks noChangeShapeType="1"/>
            </p:cNvSpPr>
            <p:nvPr/>
          </p:nvSpPr>
          <p:spPr bwMode="auto">
            <a:xfrm flipH="1">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01" name="Text Box 101"/>
          <p:cNvSpPr txBox="1">
            <a:spLocks noChangeArrowheads="1"/>
          </p:cNvSpPr>
          <p:nvPr/>
        </p:nvSpPr>
        <p:spPr bwMode="auto">
          <a:xfrm>
            <a:off x="1486022" y="768154"/>
            <a:ext cx="35137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CC00CC"/>
                </a:solidFill>
                <a:latin typeface="微软雅黑" pitchFamily="34" charset="-122"/>
                <a:ea typeface="微软雅黑" pitchFamily="34" charset="-122"/>
              </a:rPr>
              <a:t>正</a:t>
            </a:r>
          </a:p>
          <a:p>
            <a:r>
              <a:rPr kumimoji="1" lang="zh-CN" altLang="en-US" sz="1300" b="1" dirty="0">
                <a:solidFill>
                  <a:srgbClr val="CC00CC"/>
                </a:solidFill>
                <a:latin typeface="微软雅黑" pitchFamily="34" charset="-122"/>
                <a:ea typeface="微软雅黑" pitchFamily="34" charset="-122"/>
              </a:rPr>
              <a:t>常</a:t>
            </a:r>
          </a:p>
          <a:p>
            <a:r>
              <a:rPr kumimoji="1" lang="zh-CN" altLang="en-US" sz="1300" b="1" dirty="0">
                <a:solidFill>
                  <a:srgbClr val="CC00CC"/>
                </a:solidFill>
                <a:latin typeface="微软雅黑" pitchFamily="34" charset="-122"/>
                <a:ea typeface="微软雅黑" pitchFamily="34" charset="-122"/>
              </a:rPr>
              <a:t>情</a:t>
            </a:r>
          </a:p>
          <a:p>
            <a:r>
              <a:rPr kumimoji="1" lang="zh-CN" altLang="en-US" sz="1300" b="1" dirty="0">
                <a:solidFill>
                  <a:srgbClr val="CC00CC"/>
                </a:solidFill>
                <a:latin typeface="微软雅黑" pitchFamily="34" charset="-122"/>
                <a:ea typeface="微软雅黑" pitchFamily="34" charset="-122"/>
              </a:rPr>
              <a:t>况</a:t>
            </a:r>
          </a:p>
        </p:txBody>
      </p:sp>
      <p:grpSp>
        <p:nvGrpSpPr>
          <p:cNvPr id="102" name="Group 102"/>
          <p:cNvGrpSpPr>
            <a:grpSpLocks/>
          </p:cNvGrpSpPr>
          <p:nvPr/>
        </p:nvGrpSpPr>
        <p:grpSpPr bwMode="auto">
          <a:xfrm>
            <a:off x="2816198" y="886853"/>
            <a:ext cx="977077" cy="191669"/>
            <a:chOff x="1491" y="212"/>
            <a:chExt cx="853" cy="240"/>
          </a:xfrm>
          <a:solidFill>
            <a:srgbClr val="FFFF00"/>
          </a:solidFill>
        </p:grpSpPr>
        <p:sp>
          <p:nvSpPr>
            <p:cNvPr id="103" name="AutoShape 10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04" name="Rectangle 10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5" name="Text Box 105"/>
          <p:cNvSpPr txBox="1">
            <a:spLocks noChangeArrowheads="1"/>
          </p:cNvSpPr>
          <p:nvPr/>
        </p:nvSpPr>
        <p:spPr bwMode="auto">
          <a:xfrm>
            <a:off x="2828846" y="932581"/>
            <a:ext cx="679994" cy="206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a:latin typeface="微软雅黑" pitchFamily="34" charset="-122"/>
                <a:ea typeface="微软雅黑" pitchFamily="34" charset="-122"/>
              </a:rPr>
              <a:t>1  1  </a:t>
            </a:r>
            <a:r>
              <a:rPr kumimoji="1" lang="en-US" altLang="zh-CN" sz="1300" b="1">
                <a:latin typeface="微软雅黑" pitchFamily="34" charset="-122"/>
                <a:ea typeface="微软雅黑" pitchFamily="34" charset="-122"/>
                <a:sym typeface="Symbol" pitchFamily="18" charset="2"/>
              </a:rPr>
              <a:t></a:t>
            </a:r>
            <a:endParaRPr kumimoji="1" lang="en-US" altLang="zh-CN" sz="1300" b="1" baseline="-25000">
              <a:latin typeface="微软雅黑" pitchFamily="34" charset="-122"/>
              <a:ea typeface="微软雅黑" pitchFamily="34" charset="-122"/>
              <a:sym typeface="Symbol" pitchFamily="18" charset="2"/>
            </a:endParaRPr>
          </a:p>
        </p:txBody>
      </p:sp>
      <p:grpSp>
        <p:nvGrpSpPr>
          <p:cNvPr id="106" name="Group 106"/>
          <p:cNvGrpSpPr>
            <a:grpSpLocks/>
          </p:cNvGrpSpPr>
          <p:nvPr/>
        </p:nvGrpSpPr>
        <p:grpSpPr bwMode="auto">
          <a:xfrm>
            <a:off x="2973246" y="2505923"/>
            <a:ext cx="1001320" cy="247128"/>
            <a:chOff x="1566" y="2024"/>
            <a:chExt cx="950" cy="254"/>
          </a:xfrm>
          <a:solidFill>
            <a:srgbClr val="FFFF00"/>
          </a:solidFill>
        </p:grpSpPr>
        <p:grpSp>
          <p:nvGrpSpPr>
            <p:cNvPr id="107" name="Group 107"/>
            <p:cNvGrpSpPr>
              <a:grpSpLocks/>
            </p:cNvGrpSpPr>
            <p:nvPr/>
          </p:nvGrpSpPr>
          <p:grpSpPr bwMode="auto">
            <a:xfrm>
              <a:off x="1589" y="2024"/>
              <a:ext cx="927" cy="197"/>
              <a:chOff x="1491" y="212"/>
              <a:chExt cx="853" cy="240"/>
            </a:xfrm>
            <a:grpFill/>
          </p:grpSpPr>
          <p:sp>
            <p:nvSpPr>
              <p:cNvPr id="109" name="AutoShape 108"/>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0" name="Rectangle 109"/>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8" name="Text Box 110"/>
            <p:cNvSpPr txBox="1">
              <a:spLocks noChangeArrowheads="1"/>
            </p:cNvSpPr>
            <p:nvPr/>
          </p:nvSpPr>
          <p:spPr bwMode="auto">
            <a:xfrm>
              <a:off x="1566" y="2066"/>
              <a:ext cx="742" cy="21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1  16  </a:t>
              </a:r>
              <a:r>
                <a:rPr kumimoji="1" lang="en-US" altLang="zh-CN" sz="1300" b="1" dirty="0">
                  <a:latin typeface="微软雅黑" pitchFamily="34" charset="-122"/>
                  <a:ea typeface="微软雅黑" pitchFamily="34" charset="-122"/>
                  <a:sym typeface="Symbol" pitchFamily="18" charset="2"/>
                </a:rPr>
                <a:t></a:t>
              </a:r>
              <a:endParaRPr kumimoji="1" lang="en-US" altLang="zh-CN" sz="1300" b="1" baseline="-25000" dirty="0">
                <a:latin typeface="微软雅黑" pitchFamily="34" charset="-122"/>
                <a:ea typeface="微软雅黑" pitchFamily="34" charset="-122"/>
                <a:sym typeface="Symbol" pitchFamily="18" charset="2"/>
              </a:endParaRPr>
            </a:p>
          </p:txBody>
        </p:sp>
      </p:grpSp>
      <p:grpSp>
        <p:nvGrpSpPr>
          <p:cNvPr id="111" name="Group 111"/>
          <p:cNvGrpSpPr>
            <a:grpSpLocks/>
          </p:cNvGrpSpPr>
          <p:nvPr/>
        </p:nvGrpSpPr>
        <p:grpSpPr bwMode="auto">
          <a:xfrm flipH="1">
            <a:off x="5027534" y="900474"/>
            <a:ext cx="977077" cy="191669"/>
            <a:chOff x="1491" y="212"/>
            <a:chExt cx="853" cy="240"/>
          </a:xfrm>
          <a:solidFill>
            <a:srgbClr val="66FF66"/>
          </a:solidFill>
        </p:grpSpPr>
        <p:sp>
          <p:nvSpPr>
            <p:cNvPr id="112" name="AutoShape 112"/>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3" name="Rectangle 113"/>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4" name="Text Box 114"/>
          <p:cNvSpPr txBox="1">
            <a:spLocks noChangeArrowheads="1"/>
          </p:cNvSpPr>
          <p:nvPr/>
        </p:nvSpPr>
        <p:spPr bwMode="auto">
          <a:xfrm>
            <a:off x="5286823" y="958851"/>
            <a:ext cx="774571" cy="206980"/>
          </a:xfrm>
          <a:prstGeom prst="rect">
            <a:avLst/>
          </a:prstGeom>
          <a:noFill/>
          <a:ln>
            <a:noFill/>
          </a:ln>
          <a:effec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nvGrpSpPr>
          <p:cNvPr id="115" name="Group 115"/>
          <p:cNvGrpSpPr>
            <a:grpSpLocks/>
          </p:cNvGrpSpPr>
          <p:nvPr/>
        </p:nvGrpSpPr>
        <p:grpSpPr bwMode="auto">
          <a:xfrm>
            <a:off x="5027535" y="2473823"/>
            <a:ext cx="1033995" cy="265614"/>
            <a:chOff x="3515" y="1991"/>
            <a:chExt cx="981" cy="273"/>
          </a:xfrm>
          <a:solidFill>
            <a:srgbClr val="66FF66"/>
          </a:solidFill>
        </p:grpSpPr>
        <p:grpSp>
          <p:nvGrpSpPr>
            <p:cNvPr id="116" name="Group 116"/>
            <p:cNvGrpSpPr>
              <a:grpSpLocks/>
            </p:cNvGrpSpPr>
            <p:nvPr/>
          </p:nvGrpSpPr>
          <p:grpSpPr bwMode="auto">
            <a:xfrm flipH="1">
              <a:off x="3515" y="1991"/>
              <a:ext cx="927" cy="197"/>
              <a:chOff x="1491" y="212"/>
              <a:chExt cx="853" cy="240"/>
            </a:xfrm>
            <a:grpFill/>
          </p:grpSpPr>
          <p:sp>
            <p:nvSpPr>
              <p:cNvPr id="118" name="AutoShape 117"/>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9" name="Rectangle 118"/>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7" name="Text Box 119"/>
            <p:cNvSpPr txBox="1">
              <a:spLocks noChangeArrowheads="1"/>
            </p:cNvSpPr>
            <p:nvPr/>
          </p:nvSpPr>
          <p:spPr bwMode="auto">
            <a:xfrm>
              <a:off x="3761" y="2051"/>
              <a:ext cx="735" cy="213"/>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grpSp>
        <p:nvGrpSpPr>
          <p:cNvPr id="120" name="Group 121"/>
          <p:cNvGrpSpPr>
            <a:grpSpLocks/>
          </p:cNvGrpSpPr>
          <p:nvPr/>
        </p:nvGrpSpPr>
        <p:grpSpPr bwMode="auto">
          <a:xfrm>
            <a:off x="2972193" y="2814357"/>
            <a:ext cx="1002374" cy="246155"/>
            <a:chOff x="1565" y="2478"/>
            <a:chExt cx="951" cy="253"/>
          </a:xfrm>
          <a:solidFill>
            <a:srgbClr val="FFFF00"/>
          </a:solidFill>
        </p:grpSpPr>
        <p:grpSp>
          <p:nvGrpSpPr>
            <p:cNvPr id="121" name="Group 122"/>
            <p:cNvGrpSpPr>
              <a:grpSpLocks/>
            </p:cNvGrpSpPr>
            <p:nvPr/>
          </p:nvGrpSpPr>
          <p:grpSpPr bwMode="auto">
            <a:xfrm>
              <a:off x="1589" y="2478"/>
              <a:ext cx="927" cy="197"/>
              <a:chOff x="1491" y="212"/>
              <a:chExt cx="853" cy="240"/>
            </a:xfrm>
            <a:grpFill/>
          </p:grpSpPr>
          <p:sp>
            <p:nvSpPr>
              <p:cNvPr id="123" name="AutoShape 12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24" name="Rectangle 12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22" name="Text Box 125"/>
            <p:cNvSpPr txBox="1">
              <a:spLocks noChangeArrowheads="1"/>
            </p:cNvSpPr>
            <p:nvPr/>
          </p:nvSpPr>
          <p:spPr bwMode="auto">
            <a:xfrm>
              <a:off x="1565" y="2518"/>
              <a:ext cx="735" cy="213"/>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1  3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2</a:t>
              </a:r>
            </a:p>
          </p:txBody>
        </p:sp>
      </p:grpSp>
      <p:sp>
        <p:nvSpPr>
          <p:cNvPr id="125" name="Text Box 120"/>
          <p:cNvSpPr txBox="1">
            <a:spLocks noChangeArrowheads="1"/>
          </p:cNvSpPr>
          <p:nvPr/>
        </p:nvSpPr>
        <p:spPr bwMode="auto">
          <a:xfrm>
            <a:off x="1839563" y="3273353"/>
            <a:ext cx="4949184" cy="605294"/>
          </a:xfrm>
          <a:prstGeom prst="rect">
            <a:avLst/>
          </a:prstGeom>
          <a:solidFill>
            <a:srgbClr val="00FF99"/>
          </a:solidFill>
          <a:ln w="9525">
            <a:solidFill>
              <a:schemeClr val="tx2"/>
            </a:solidFill>
            <a:miter lim="800000"/>
            <a:headEnd/>
            <a:tailEnd/>
          </a:ln>
          <a:effectLst/>
        </p:spPr>
        <p:txBody>
          <a:bodyPr wrap="square">
            <a:spAutoFit/>
          </a:bodyPr>
          <a:lstStyle/>
          <a:p>
            <a:pPr>
              <a:lnSpc>
                <a:spcPts val="2000"/>
              </a:lnSpc>
            </a:pP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以后又更新自己的路由表为“</a:t>
            </a:r>
            <a:r>
              <a:rPr kumimoji="1" lang="en-US" altLang="zh-CN" sz="1300" b="1" dirty="0">
                <a:latin typeface="微软雅黑" pitchFamily="34" charset="-122"/>
                <a:ea typeface="微软雅黑" pitchFamily="34" charset="-122"/>
              </a:rPr>
              <a:t>1, 4, R</a:t>
            </a:r>
            <a:r>
              <a:rPr kumimoji="1" lang="en-US" altLang="zh-CN" sz="1300" b="1" baseline="-25000" dirty="0">
                <a:latin typeface="微软雅黑" pitchFamily="34" charset="-122"/>
                <a:ea typeface="微软雅黑" pitchFamily="34" charset="-122"/>
              </a:rPr>
              <a:t>1</a:t>
            </a:r>
            <a:r>
              <a:rPr kumimoji="1" lang="en-US" altLang="zh-CN" sz="1300" b="1" dirty="0">
                <a:latin typeface="微软雅黑" pitchFamily="34" charset="-122"/>
                <a:ea typeface="微软雅黑" pitchFamily="34" charset="-122"/>
              </a:rPr>
              <a:t>”</a:t>
            </a:r>
            <a:r>
              <a:rPr kumimoji="1" lang="zh-CN" altLang="en-US" sz="1300" b="1" dirty="0">
                <a:latin typeface="微软雅黑" pitchFamily="34" charset="-122"/>
                <a:ea typeface="微软雅黑" pitchFamily="34" charset="-122"/>
              </a:rPr>
              <a:t>，表明 “我到网 </a:t>
            </a:r>
            <a:r>
              <a:rPr kumimoji="1" lang="en-US" altLang="zh-CN" sz="1300" b="1"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距离是 </a:t>
            </a:r>
            <a:r>
              <a:rPr kumimoji="1" lang="en-US" altLang="zh-CN" sz="1300" b="1" dirty="0">
                <a:latin typeface="微软雅黑" pitchFamily="34" charset="-122"/>
                <a:ea typeface="微软雅黑" pitchFamily="34" charset="-122"/>
              </a:rPr>
              <a:t>4</a:t>
            </a:r>
            <a:r>
              <a:rPr kumimoji="1" lang="zh-CN" altLang="en-US" sz="1300" b="1" dirty="0">
                <a:latin typeface="微软雅黑" pitchFamily="34" charset="-122"/>
                <a:ea typeface="微软雅黑" pitchFamily="34" charset="-122"/>
              </a:rPr>
              <a:t>，下一跳经过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a:t>
            </a:r>
            <a:r>
              <a:rPr kumimoji="1" lang="en-US" altLang="zh-CN" sz="1300" b="1" dirty="0">
                <a:latin typeface="微软雅黑" pitchFamily="34" charset="-122"/>
                <a:ea typeface="微软雅黑" pitchFamily="34" charset="-122"/>
              </a:rPr>
              <a:t>”</a:t>
            </a:r>
            <a:r>
              <a:rPr kumimoji="1" lang="zh-CN" altLang="en-US" sz="1300" b="1" dirty="0">
                <a:latin typeface="微软雅黑" pitchFamily="34" charset="-122"/>
                <a:ea typeface="微软雅黑" pitchFamily="34" charset="-122"/>
              </a:rPr>
              <a:t>。 </a:t>
            </a:r>
          </a:p>
        </p:txBody>
      </p:sp>
      <p:grpSp>
        <p:nvGrpSpPr>
          <p:cNvPr id="126" name="Group 115"/>
          <p:cNvGrpSpPr>
            <a:grpSpLocks/>
          </p:cNvGrpSpPr>
          <p:nvPr/>
        </p:nvGrpSpPr>
        <p:grpSpPr bwMode="auto">
          <a:xfrm>
            <a:off x="5027535" y="2875695"/>
            <a:ext cx="1033995" cy="251020"/>
            <a:chOff x="3515" y="1991"/>
            <a:chExt cx="981" cy="258"/>
          </a:xfrm>
          <a:solidFill>
            <a:srgbClr val="66FF66"/>
          </a:solidFill>
        </p:grpSpPr>
        <p:grpSp>
          <p:nvGrpSpPr>
            <p:cNvPr id="127" name="Group 116"/>
            <p:cNvGrpSpPr>
              <a:grpSpLocks/>
            </p:cNvGrpSpPr>
            <p:nvPr/>
          </p:nvGrpSpPr>
          <p:grpSpPr bwMode="auto">
            <a:xfrm flipH="1">
              <a:off x="3515" y="1991"/>
              <a:ext cx="927" cy="197"/>
              <a:chOff x="1491" y="212"/>
              <a:chExt cx="853" cy="240"/>
            </a:xfrm>
            <a:grpFill/>
          </p:grpSpPr>
          <p:sp>
            <p:nvSpPr>
              <p:cNvPr id="129" name="AutoShape 117"/>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30" name="Rectangle 118"/>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28" name="Text Box 119"/>
            <p:cNvSpPr txBox="1">
              <a:spLocks noChangeArrowheads="1"/>
            </p:cNvSpPr>
            <p:nvPr/>
          </p:nvSpPr>
          <p:spPr bwMode="auto">
            <a:xfrm>
              <a:off x="3761" y="2051"/>
              <a:ext cx="735" cy="198"/>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1  4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sp>
        <p:nvSpPr>
          <p:cNvPr id="132" name="Text Box 100"/>
          <p:cNvSpPr txBox="1">
            <a:spLocks noChangeArrowheads="1"/>
          </p:cNvSpPr>
          <p:nvPr/>
        </p:nvSpPr>
        <p:spPr bwMode="auto">
          <a:xfrm>
            <a:off x="1596284" y="2462144"/>
            <a:ext cx="1220206" cy="272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300" b="1" dirty="0">
                <a:solidFill>
                  <a:srgbClr val="CC00CC"/>
                </a:solidFill>
                <a:latin typeface="微软雅黑" pitchFamily="34" charset="-122"/>
                <a:ea typeface="微软雅黑" pitchFamily="34" charset="-122"/>
              </a:rPr>
              <a:t>网 </a:t>
            </a:r>
            <a:r>
              <a:rPr kumimoji="1" lang="en-US" altLang="zh-CN" sz="1300" b="1" dirty="0">
                <a:solidFill>
                  <a:srgbClr val="CC00CC"/>
                </a:solidFill>
                <a:latin typeface="微软雅黑" pitchFamily="34" charset="-122"/>
                <a:ea typeface="微软雅黑" pitchFamily="34" charset="-122"/>
              </a:rPr>
              <a:t>1 </a:t>
            </a:r>
            <a:r>
              <a:rPr kumimoji="1" lang="zh-CN" altLang="en-US" sz="1300" b="1" dirty="0">
                <a:solidFill>
                  <a:srgbClr val="CC00CC"/>
                </a:solidFill>
                <a:latin typeface="微软雅黑" pitchFamily="34" charset="-122"/>
                <a:ea typeface="微软雅黑" pitchFamily="34" charset="-122"/>
              </a:rPr>
              <a:t>出了故障</a:t>
            </a: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26"/>
                                        </p:tgtEl>
                                        <p:attrNameLst>
                                          <p:attrName>style.visibility</p:attrName>
                                        </p:attrNameLst>
                                      </p:cBhvr>
                                      <p:tavLst>
                                        <p:tav tm="0">
                                          <p:val>
                                            <p:strVal val="hidden"/>
                                          </p:val>
                                        </p:tav>
                                        <p:tav tm="50000">
                                          <p:val>
                                            <p:strVal val="visible"/>
                                          </p:val>
                                        </p:tav>
                                      </p:tavLst>
                                    </p:anim>
                                  </p:childTnLst>
                                </p:cTn>
                              </p:par>
                              <p:par>
                                <p:cTn id="10" presetID="1" presetClass="entr" presetSubtype="0" fill="hold" grpId="0" nodeType="withEffect">
                                  <p:stCondLst>
                                    <p:cond delay="0"/>
                                  </p:stCondLst>
                                  <p:childTnLst>
                                    <p:set>
                                      <p:cBhvr>
                                        <p:cTn id="11" dur="1" fill="hold">
                                          <p:stCondLst>
                                            <p:cond delay="0"/>
                                          </p:stCondLst>
                                        </p:cTn>
                                        <p:tgtEl>
                                          <p:spTgt spid="1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2" grpId="0"/>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圆角矩形 205"/>
          <p:cNvSpPr/>
          <p:nvPr/>
        </p:nvSpPr>
        <p:spPr>
          <a:xfrm>
            <a:off x="545144" y="615462"/>
            <a:ext cx="8053712" cy="37281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0" name="Line 50"/>
          <p:cNvSpPr>
            <a:spLocks noChangeShapeType="1"/>
          </p:cNvSpPr>
          <p:nvPr/>
        </p:nvSpPr>
        <p:spPr bwMode="auto">
          <a:xfrm>
            <a:off x="2416723" y="1786039"/>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691664"/>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1843443"/>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53" name="Text Box 53"/>
          <p:cNvSpPr txBox="1">
            <a:spLocks noChangeArrowheads="1"/>
          </p:cNvSpPr>
          <p:nvPr/>
        </p:nvSpPr>
        <p:spPr bwMode="auto">
          <a:xfrm>
            <a:off x="3190375" y="1843443"/>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691664"/>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521399"/>
            <a:ext cx="783138" cy="526362"/>
            <a:chOff x="4830" y="1752"/>
            <a:chExt cx="667" cy="477"/>
          </a:xfrm>
          <a:solidFill>
            <a:srgbClr val="00FFFF"/>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69" name="Group 69"/>
          <p:cNvGrpSpPr>
            <a:grpSpLocks/>
          </p:cNvGrpSpPr>
          <p:nvPr/>
        </p:nvGrpSpPr>
        <p:grpSpPr bwMode="auto">
          <a:xfrm>
            <a:off x="6444139" y="1521399"/>
            <a:ext cx="783138" cy="526362"/>
            <a:chOff x="4830" y="1752"/>
            <a:chExt cx="667" cy="477"/>
          </a:xfrm>
          <a:solidFill>
            <a:srgbClr val="00FFFF"/>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71" name="Text Box 82"/>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grpSp>
      <p:grpSp>
        <p:nvGrpSpPr>
          <p:cNvPr id="83" name="Group 83"/>
          <p:cNvGrpSpPr>
            <a:grpSpLocks/>
          </p:cNvGrpSpPr>
          <p:nvPr/>
        </p:nvGrpSpPr>
        <p:grpSpPr bwMode="auto">
          <a:xfrm>
            <a:off x="4099995" y="1521399"/>
            <a:ext cx="783138" cy="526362"/>
            <a:chOff x="4830" y="1752"/>
            <a:chExt cx="667" cy="477"/>
          </a:xfrm>
          <a:solidFill>
            <a:srgbClr val="00FFFF"/>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grpSp>
        <p:nvGrpSpPr>
          <p:cNvPr id="97" name="Group 97"/>
          <p:cNvGrpSpPr>
            <a:grpSpLocks/>
          </p:cNvGrpSpPr>
          <p:nvPr/>
        </p:nvGrpSpPr>
        <p:grpSpPr bwMode="auto">
          <a:xfrm>
            <a:off x="1780094" y="1466914"/>
            <a:ext cx="795786" cy="595441"/>
            <a:chOff x="434" y="1298"/>
            <a:chExt cx="755" cy="612"/>
          </a:xfrm>
        </p:grpSpPr>
        <p:sp>
          <p:nvSpPr>
            <p:cNvPr id="98" name="Line 98"/>
            <p:cNvSpPr>
              <a:spLocks noChangeShapeType="1"/>
            </p:cNvSpPr>
            <p:nvPr/>
          </p:nvSpPr>
          <p:spPr bwMode="auto">
            <a:xfrm>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99" name="Line 99"/>
            <p:cNvSpPr>
              <a:spLocks noChangeShapeType="1"/>
            </p:cNvSpPr>
            <p:nvPr/>
          </p:nvSpPr>
          <p:spPr bwMode="auto">
            <a:xfrm flipH="1">
              <a:off x="434" y="1298"/>
              <a:ext cx="755" cy="612"/>
            </a:xfrm>
            <a:prstGeom prst="line">
              <a:avLst/>
            </a:prstGeom>
            <a:noFill/>
            <a:ln w="5715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00" name="Text Box 100"/>
          <p:cNvSpPr txBox="1">
            <a:spLocks noChangeArrowheads="1"/>
          </p:cNvSpPr>
          <p:nvPr/>
        </p:nvSpPr>
        <p:spPr bwMode="auto">
          <a:xfrm>
            <a:off x="1614756" y="2173270"/>
            <a:ext cx="1220206" cy="272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300" b="1" dirty="0">
                <a:solidFill>
                  <a:srgbClr val="CC00CC"/>
                </a:solidFill>
                <a:latin typeface="微软雅黑" pitchFamily="34" charset="-122"/>
                <a:ea typeface="微软雅黑" pitchFamily="34" charset="-122"/>
              </a:rPr>
              <a:t>网 </a:t>
            </a:r>
            <a:r>
              <a:rPr kumimoji="1" lang="en-US" altLang="zh-CN" sz="1300" b="1" dirty="0">
                <a:solidFill>
                  <a:srgbClr val="CC00CC"/>
                </a:solidFill>
                <a:latin typeface="微软雅黑" pitchFamily="34" charset="-122"/>
                <a:ea typeface="微软雅黑" pitchFamily="34" charset="-122"/>
              </a:rPr>
              <a:t>1 </a:t>
            </a:r>
            <a:r>
              <a:rPr kumimoji="1" lang="zh-CN" altLang="en-US" sz="1300" b="1" dirty="0">
                <a:solidFill>
                  <a:srgbClr val="CC00CC"/>
                </a:solidFill>
                <a:latin typeface="微软雅黑" pitchFamily="34" charset="-122"/>
                <a:ea typeface="微软雅黑" pitchFamily="34" charset="-122"/>
              </a:rPr>
              <a:t>出了故障</a:t>
            </a:r>
          </a:p>
        </p:txBody>
      </p:sp>
      <p:grpSp>
        <p:nvGrpSpPr>
          <p:cNvPr id="106" name="Group 106"/>
          <p:cNvGrpSpPr>
            <a:grpSpLocks/>
          </p:cNvGrpSpPr>
          <p:nvPr/>
        </p:nvGrpSpPr>
        <p:grpSpPr bwMode="auto">
          <a:xfrm>
            <a:off x="2973246" y="2217049"/>
            <a:ext cx="1001320" cy="247128"/>
            <a:chOff x="1566" y="2024"/>
            <a:chExt cx="950" cy="254"/>
          </a:xfrm>
          <a:solidFill>
            <a:srgbClr val="FFFF00"/>
          </a:solidFill>
        </p:grpSpPr>
        <p:grpSp>
          <p:nvGrpSpPr>
            <p:cNvPr id="107" name="Group 107"/>
            <p:cNvGrpSpPr>
              <a:grpSpLocks/>
            </p:cNvGrpSpPr>
            <p:nvPr/>
          </p:nvGrpSpPr>
          <p:grpSpPr bwMode="auto">
            <a:xfrm>
              <a:off x="1589" y="2024"/>
              <a:ext cx="927" cy="197"/>
              <a:chOff x="1491" y="212"/>
              <a:chExt cx="853" cy="240"/>
            </a:xfrm>
            <a:grpFill/>
          </p:grpSpPr>
          <p:sp>
            <p:nvSpPr>
              <p:cNvPr id="109" name="AutoShape 108"/>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0" name="Rectangle 109"/>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08" name="Text Box 110"/>
            <p:cNvSpPr txBox="1">
              <a:spLocks noChangeArrowheads="1"/>
            </p:cNvSpPr>
            <p:nvPr/>
          </p:nvSpPr>
          <p:spPr bwMode="auto">
            <a:xfrm>
              <a:off x="1566" y="2066"/>
              <a:ext cx="742" cy="21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1  16  </a:t>
              </a:r>
              <a:r>
                <a:rPr kumimoji="1" lang="en-US" altLang="zh-CN" sz="1300" b="1" dirty="0">
                  <a:latin typeface="微软雅黑" pitchFamily="34" charset="-122"/>
                  <a:ea typeface="微软雅黑" pitchFamily="34" charset="-122"/>
                  <a:sym typeface="Symbol" pitchFamily="18" charset="2"/>
                </a:rPr>
                <a:t></a:t>
              </a:r>
              <a:endParaRPr kumimoji="1" lang="en-US" altLang="zh-CN" sz="1300" b="1" baseline="-25000" dirty="0">
                <a:latin typeface="微软雅黑" pitchFamily="34" charset="-122"/>
                <a:ea typeface="微软雅黑" pitchFamily="34" charset="-122"/>
                <a:sym typeface="Symbol" pitchFamily="18" charset="2"/>
              </a:endParaRPr>
            </a:p>
          </p:txBody>
        </p:sp>
      </p:grpSp>
      <p:grpSp>
        <p:nvGrpSpPr>
          <p:cNvPr id="115" name="Group 115"/>
          <p:cNvGrpSpPr>
            <a:grpSpLocks/>
          </p:cNvGrpSpPr>
          <p:nvPr/>
        </p:nvGrpSpPr>
        <p:grpSpPr bwMode="auto">
          <a:xfrm>
            <a:off x="5027535" y="2184949"/>
            <a:ext cx="1033995" cy="265614"/>
            <a:chOff x="3515" y="1991"/>
            <a:chExt cx="981" cy="273"/>
          </a:xfrm>
          <a:solidFill>
            <a:srgbClr val="66FF66"/>
          </a:solidFill>
        </p:grpSpPr>
        <p:grpSp>
          <p:nvGrpSpPr>
            <p:cNvPr id="116" name="Group 116"/>
            <p:cNvGrpSpPr>
              <a:grpSpLocks/>
            </p:cNvGrpSpPr>
            <p:nvPr/>
          </p:nvGrpSpPr>
          <p:grpSpPr bwMode="auto">
            <a:xfrm flipH="1">
              <a:off x="3515" y="1991"/>
              <a:ext cx="927" cy="197"/>
              <a:chOff x="1491" y="212"/>
              <a:chExt cx="853" cy="240"/>
            </a:xfrm>
            <a:grpFill/>
          </p:grpSpPr>
          <p:sp>
            <p:nvSpPr>
              <p:cNvPr id="118" name="AutoShape 117"/>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19" name="Rectangle 118"/>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17" name="Text Box 119"/>
            <p:cNvSpPr txBox="1">
              <a:spLocks noChangeArrowheads="1"/>
            </p:cNvSpPr>
            <p:nvPr/>
          </p:nvSpPr>
          <p:spPr bwMode="auto">
            <a:xfrm>
              <a:off x="3761" y="2051"/>
              <a:ext cx="735" cy="213"/>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grpSp>
        <p:nvGrpSpPr>
          <p:cNvPr id="120" name="Group 121"/>
          <p:cNvGrpSpPr>
            <a:grpSpLocks/>
          </p:cNvGrpSpPr>
          <p:nvPr/>
        </p:nvGrpSpPr>
        <p:grpSpPr bwMode="auto">
          <a:xfrm>
            <a:off x="2972193" y="2525483"/>
            <a:ext cx="1002374" cy="246155"/>
            <a:chOff x="1565" y="2478"/>
            <a:chExt cx="951" cy="253"/>
          </a:xfrm>
          <a:solidFill>
            <a:srgbClr val="FFFF00"/>
          </a:solidFill>
        </p:grpSpPr>
        <p:grpSp>
          <p:nvGrpSpPr>
            <p:cNvPr id="121" name="Group 122"/>
            <p:cNvGrpSpPr>
              <a:grpSpLocks/>
            </p:cNvGrpSpPr>
            <p:nvPr/>
          </p:nvGrpSpPr>
          <p:grpSpPr bwMode="auto">
            <a:xfrm>
              <a:off x="1589" y="2478"/>
              <a:ext cx="927" cy="197"/>
              <a:chOff x="1491" y="212"/>
              <a:chExt cx="853" cy="240"/>
            </a:xfrm>
            <a:grpFill/>
          </p:grpSpPr>
          <p:sp>
            <p:nvSpPr>
              <p:cNvPr id="123" name="AutoShape 12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24" name="Rectangle 12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22" name="Text Box 125"/>
            <p:cNvSpPr txBox="1">
              <a:spLocks noChangeArrowheads="1"/>
            </p:cNvSpPr>
            <p:nvPr/>
          </p:nvSpPr>
          <p:spPr bwMode="auto">
            <a:xfrm>
              <a:off x="1565" y="2518"/>
              <a:ext cx="735" cy="213"/>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1  3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2</a:t>
              </a:r>
            </a:p>
          </p:txBody>
        </p:sp>
      </p:grpSp>
      <p:sp>
        <p:nvSpPr>
          <p:cNvPr id="125" name="Text Box 120"/>
          <p:cNvSpPr txBox="1">
            <a:spLocks noChangeArrowheads="1"/>
          </p:cNvSpPr>
          <p:nvPr/>
        </p:nvSpPr>
        <p:spPr bwMode="auto">
          <a:xfrm>
            <a:off x="1839563" y="3704177"/>
            <a:ext cx="4949184" cy="605294"/>
          </a:xfrm>
          <a:prstGeom prst="rect">
            <a:avLst/>
          </a:prstGeom>
          <a:solidFill>
            <a:srgbClr val="00FF99"/>
          </a:solidFill>
          <a:ln w="9525">
            <a:solidFill>
              <a:schemeClr val="tx2"/>
            </a:solidFill>
            <a:miter lim="800000"/>
            <a:headEnd/>
            <a:tailEnd/>
          </a:ln>
          <a:effectLst/>
        </p:spPr>
        <p:txBody>
          <a:bodyPr wrap="square">
            <a:spAutoFit/>
          </a:bodyPr>
          <a:lstStyle/>
          <a:p>
            <a:pPr>
              <a:lnSpc>
                <a:spcPts val="2000"/>
              </a:lnSpc>
            </a:pPr>
            <a:r>
              <a:rPr kumimoji="1" lang="zh-CN" altLang="en-US" sz="1300" b="1" dirty="0">
                <a:latin typeface="微软雅黑" pitchFamily="34" charset="-122"/>
                <a:ea typeface="微软雅黑" pitchFamily="34" charset="-122"/>
              </a:rPr>
              <a:t>这样不断更新下去，直到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1</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和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 </a:t>
            </a:r>
            <a:r>
              <a:rPr kumimoji="1" lang="zh-CN" altLang="en-US" sz="1300" b="1" dirty="0">
                <a:latin typeface="微软雅黑" pitchFamily="34" charset="-122"/>
                <a:ea typeface="微软雅黑" pitchFamily="34" charset="-122"/>
              </a:rPr>
              <a:t>到网 </a:t>
            </a:r>
            <a:r>
              <a:rPr kumimoji="1" lang="en-US" altLang="zh-CN" sz="1300" b="1"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的距离都增大到 </a:t>
            </a:r>
            <a:r>
              <a:rPr kumimoji="1" lang="en-US" altLang="zh-CN" sz="1300" b="1" dirty="0">
                <a:latin typeface="微软雅黑" pitchFamily="34" charset="-122"/>
                <a:ea typeface="微软雅黑" pitchFamily="34" charset="-122"/>
              </a:rPr>
              <a:t>16 </a:t>
            </a:r>
            <a:r>
              <a:rPr kumimoji="1" lang="zh-CN" altLang="en-US" sz="1300" b="1" dirty="0">
                <a:latin typeface="微软雅黑" pitchFamily="34" charset="-122"/>
                <a:ea typeface="微软雅黑" pitchFamily="34" charset="-122"/>
              </a:rPr>
              <a:t>时，</a:t>
            </a:r>
            <a:r>
              <a:rPr kumimoji="1" lang="en-US" altLang="zh-CN" sz="1300" b="1" dirty="0">
                <a:latin typeface="微软雅黑" pitchFamily="34" charset="-122"/>
                <a:ea typeface="微软雅黑" pitchFamily="34" charset="-122"/>
              </a:rPr>
              <a:t> R</a:t>
            </a:r>
            <a:r>
              <a:rPr kumimoji="1" lang="en-US" altLang="zh-CN" sz="1300" b="1" baseline="-25000" dirty="0">
                <a:latin typeface="微软雅黑" pitchFamily="34" charset="-122"/>
                <a:ea typeface="微软雅黑" pitchFamily="34" charset="-122"/>
              </a:rPr>
              <a:t>1</a:t>
            </a:r>
            <a:r>
              <a:rPr kumimoji="1" lang="en-US" altLang="zh-CN" sz="1300" b="1" dirty="0">
                <a:latin typeface="微软雅黑" pitchFamily="34" charset="-122"/>
                <a:ea typeface="微软雅黑" pitchFamily="34" charset="-122"/>
              </a:rPr>
              <a:t> </a:t>
            </a:r>
            <a:r>
              <a:rPr kumimoji="1" lang="zh-CN" altLang="en-US" sz="1300" b="1" dirty="0">
                <a:latin typeface="微软雅黑" pitchFamily="34" charset="-122"/>
                <a:ea typeface="微软雅黑" pitchFamily="34" charset="-122"/>
              </a:rPr>
              <a:t>和 </a:t>
            </a:r>
            <a:r>
              <a:rPr kumimoji="1" lang="en-US" altLang="zh-CN" sz="1300" b="1" dirty="0">
                <a:latin typeface="微软雅黑" pitchFamily="34" charset="-122"/>
                <a:ea typeface="微软雅黑" pitchFamily="34" charset="-122"/>
              </a:rPr>
              <a:t>R</a:t>
            </a:r>
            <a:r>
              <a:rPr kumimoji="1" lang="en-US" altLang="zh-CN" sz="1300" b="1" baseline="-25000" dirty="0">
                <a:latin typeface="微软雅黑" pitchFamily="34" charset="-122"/>
                <a:ea typeface="微软雅黑" pitchFamily="34" charset="-122"/>
              </a:rPr>
              <a:t>2 </a:t>
            </a:r>
            <a:r>
              <a:rPr kumimoji="1" lang="zh-CN" altLang="en-US" sz="1300" b="1" dirty="0">
                <a:latin typeface="微软雅黑" pitchFamily="34" charset="-122"/>
                <a:ea typeface="微软雅黑" pitchFamily="34" charset="-122"/>
              </a:rPr>
              <a:t>才知道网 </a:t>
            </a:r>
            <a:r>
              <a:rPr kumimoji="1" lang="en-US" altLang="zh-CN" sz="1300" b="1" dirty="0">
                <a:latin typeface="微软雅黑" pitchFamily="34" charset="-122"/>
                <a:ea typeface="微软雅黑" pitchFamily="34" charset="-122"/>
              </a:rPr>
              <a:t>1 </a:t>
            </a:r>
            <a:r>
              <a:rPr kumimoji="1" lang="zh-CN" altLang="en-US" sz="1300" b="1" dirty="0">
                <a:latin typeface="微软雅黑" pitchFamily="34" charset="-122"/>
                <a:ea typeface="微软雅黑" pitchFamily="34" charset="-122"/>
              </a:rPr>
              <a:t>是不可达的。 </a:t>
            </a:r>
          </a:p>
        </p:txBody>
      </p:sp>
      <p:grpSp>
        <p:nvGrpSpPr>
          <p:cNvPr id="126" name="Group 115"/>
          <p:cNvGrpSpPr>
            <a:grpSpLocks/>
          </p:cNvGrpSpPr>
          <p:nvPr/>
        </p:nvGrpSpPr>
        <p:grpSpPr bwMode="auto">
          <a:xfrm>
            <a:off x="5027535" y="2586821"/>
            <a:ext cx="1033995" cy="251020"/>
            <a:chOff x="3515" y="1991"/>
            <a:chExt cx="981" cy="258"/>
          </a:xfrm>
          <a:solidFill>
            <a:srgbClr val="66FF66"/>
          </a:solidFill>
        </p:grpSpPr>
        <p:grpSp>
          <p:nvGrpSpPr>
            <p:cNvPr id="127" name="Group 116"/>
            <p:cNvGrpSpPr>
              <a:grpSpLocks/>
            </p:cNvGrpSpPr>
            <p:nvPr/>
          </p:nvGrpSpPr>
          <p:grpSpPr bwMode="auto">
            <a:xfrm flipH="1">
              <a:off x="3515" y="1991"/>
              <a:ext cx="927" cy="197"/>
              <a:chOff x="1491" y="212"/>
              <a:chExt cx="853" cy="240"/>
            </a:xfrm>
            <a:grpFill/>
          </p:grpSpPr>
          <p:sp>
            <p:nvSpPr>
              <p:cNvPr id="129" name="AutoShape 117"/>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30" name="Rectangle 118"/>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28" name="Text Box 119"/>
            <p:cNvSpPr txBox="1">
              <a:spLocks noChangeArrowheads="1"/>
            </p:cNvSpPr>
            <p:nvPr/>
          </p:nvSpPr>
          <p:spPr bwMode="auto">
            <a:xfrm>
              <a:off x="3761" y="2051"/>
              <a:ext cx="735" cy="198"/>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1  4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grpSp>
        <p:nvGrpSpPr>
          <p:cNvPr id="131" name="Group 121"/>
          <p:cNvGrpSpPr>
            <a:grpSpLocks/>
          </p:cNvGrpSpPr>
          <p:nvPr/>
        </p:nvGrpSpPr>
        <p:grpSpPr bwMode="auto">
          <a:xfrm>
            <a:off x="2972193" y="2839686"/>
            <a:ext cx="1002374" cy="231561"/>
            <a:chOff x="1565" y="2478"/>
            <a:chExt cx="951" cy="238"/>
          </a:xfrm>
          <a:solidFill>
            <a:srgbClr val="FFFF00"/>
          </a:solidFill>
        </p:grpSpPr>
        <p:grpSp>
          <p:nvGrpSpPr>
            <p:cNvPr id="132" name="Group 122"/>
            <p:cNvGrpSpPr>
              <a:grpSpLocks/>
            </p:cNvGrpSpPr>
            <p:nvPr/>
          </p:nvGrpSpPr>
          <p:grpSpPr bwMode="auto">
            <a:xfrm>
              <a:off x="1589" y="2478"/>
              <a:ext cx="927" cy="197"/>
              <a:chOff x="1491" y="212"/>
              <a:chExt cx="853" cy="240"/>
            </a:xfrm>
            <a:grpFill/>
          </p:grpSpPr>
          <p:sp>
            <p:nvSpPr>
              <p:cNvPr id="134" name="AutoShape 12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35" name="Rectangle 12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33" name="Text Box 125"/>
            <p:cNvSpPr txBox="1">
              <a:spLocks noChangeArrowheads="1"/>
            </p:cNvSpPr>
            <p:nvPr/>
          </p:nvSpPr>
          <p:spPr bwMode="auto">
            <a:xfrm>
              <a:off x="1565" y="2518"/>
              <a:ext cx="735" cy="198"/>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1  5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2</a:t>
              </a:r>
            </a:p>
          </p:txBody>
        </p:sp>
      </p:grpSp>
      <p:grpSp>
        <p:nvGrpSpPr>
          <p:cNvPr id="137" name="Group 121"/>
          <p:cNvGrpSpPr>
            <a:grpSpLocks/>
          </p:cNvGrpSpPr>
          <p:nvPr/>
        </p:nvGrpSpPr>
        <p:grpSpPr bwMode="auto">
          <a:xfrm>
            <a:off x="2930033" y="3389799"/>
            <a:ext cx="1044534" cy="222804"/>
            <a:chOff x="1525" y="2478"/>
            <a:chExt cx="991" cy="229"/>
          </a:xfrm>
          <a:solidFill>
            <a:srgbClr val="FFFF00"/>
          </a:solidFill>
        </p:grpSpPr>
        <p:grpSp>
          <p:nvGrpSpPr>
            <p:cNvPr id="138" name="Group 122"/>
            <p:cNvGrpSpPr>
              <a:grpSpLocks/>
            </p:cNvGrpSpPr>
            <p:nvPr/>
          </p:nvGrpSpPr>
          <p:grpSpPr bwMode="auto">
            <a:xfrm>
              <a:off x="1589" y="2478"/>
              <a:ext cx="927" cy="197"/>
              <a:chOff x="1491" y="212"/>
              <a:chExt cx="853" cy="240"/>
            </a:xfrm>
            <a:grpFill/>
          </p:grpSpPr>
          <p:sp>
            <p:nvSpPr>
              <p:cNvPr id="140" name="AutoShape 12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41" name="Rectangle 12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39" name="Text Box 125"/>
            <p:cNvSpPr txBox="1">
              <a:spLocks noChangeArrowheads="1"/>
            </p:cNvSpPr>
            <p:nvPr/>
          </p:nvSpPr>
          <p:spPr bwMode="auto">
            <a:xfrm>
              <a:off x="1525" y="2509"/>
              <a:ext cx="832" cy="198"/>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1  16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2</a:t>
              </a:r>
            </a:p>
          </p:txBody>
        </p:sp>
      </p:grpSp>
      <p:grpSp>
        <p:nvGrpSpPr>
          <p:cNvPr id="142" name="Group 115"/>
          <p:cNvGrpSpPr>
            <a:grpSpLocks/>
          </p:cNvGrpSpPr>
          <p:nvPr/>
        </p:nvGrpSpPr>
        <p:grpSpPr bwMode="auto">
          <a:xfrm>
            <a:off x="5027543" y="3389801"/>
            <a:ext cx="1068779" cy="224750"/>
            <a:chOff x="3515" y="1991"/>
            <a:chExt cx="1014" cy="231"/>
          </a:xfrm>
          <a:solidFill>
            <a:srgbClr val="66FF66"/>
          </a:solidFill>
        </p:grpSpPr>
        <p:grpSp>
          <p:nvGrpSpPr>
            <p:cNvPr id="143" name="Group 116"/>
            <p:cNvGrpSpPr>
              <a:grpSpLocks/>
            </p:cNvGrpSpPr>
            <p:nvPr/>
          </p:nvGrpSpPr>
          <p:grpSpPr bwMode="auto">
            <a:xfrm flipH="1">
              <a:off x="3515" y="1991"/>
              <a:ext cx="927" cy="197"/>
              <a:chOff x="1491" y="212"/>
              <a:chExt cx="853" cy="240"/>
            </a:xfrm>
            <a:grpFill/>
          </p:grpSpPr>
          <p:sp>
            <p:nvSpPr>
              <p:cNvPr id="145" name="AutoShape 117"/>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46" name="Rectangle 118"/>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144" name="Text Box 119"/>
            <p:cNvSpPr txBox="1">
              <a:spLocks noChangeArrowheads="1"/>
            </p:cNvSpPr>
            <p:nvPr/>
          </p:nvSpPr>
          <p:spPr bwMode="auto">
            <a:xfrm>
              <a:off x="3697" y="2024"/>
              <a:ext cx="832" cy="198"/>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dirty="0">
                  <a:latin typeface="微软雅黑" pitchFamily="34" charset="-122"/>
                  <a:ea typeface="微软雅黑" pitchFamily="34" charset="-122"/>
                </a:rPr>
                <a:t>1  16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sp>
        <p:nvSpPr>
          <p:cNvPr id="147" name="Text Box 105"/>
          <p:cNvSpPr txBox="1">
            <a:spLocks noChangeArrowheads="1"/>
          </p:cNvSpPr>
          <p:nvPr/>
        </p:nvSpPr>
        <p:spPr bwMode="auto">
          <a:xfrm rot="5400000">
            <a:off x="5545373" y="3055316"/>
            <a:ext cx="3481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b="1" dirty="0">
                <a:latin typeface="+mn-lt"/>
                <a:ea typeface="黑体" pitchFamily="2" charset="-122"/>
              </a:rPr>
              <a:t>…</a:t>
            </a:r>
          </a:p>
        </p:txBody>
      </p:sp>
      <p:sp>
        <p:nvSpPr>
          <p:cNvPr id="148" name="Text Box 142"/>
          <p:cNvSpPr txBox="1">
            <a:spLocks noChangeArrowheads="1"/>
          </p:cNvSpPr>
          <p:nvPr/>
        </p:nvSpPr>
        <p:spPr bwMode="auto">
          <a:xfrm rot="5400000">
            <a:off x="3303952" y="3055316"/>
            <a:ext cx="3481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b="1">
                <a:latin typeface="+mn-lt"/>
                <a:ea typeface="黑体" pitchFamily="2" charset="-122"/>
              </a:rPr>
              <a:t>…</a:t>
            </a:r>
          </a:p>
        </p:txBody>
      </p:sp>
      <p:grpSp>
        <p:nvGrpSpPr>
          <p:cNvPr id="205" name="组合 204"/>
          <p:cNvGrpSpPr/>
          <p:nvPr/>
        </p:nvGrpSpPr>
        <p:grpSpPr>
          <a:xfrm>
            <a:off x="1486022" y="619952"/>
            <a:ext cx="5741255" cy="892552"/>
            <a:chOff x="1486022" y="768154"/>
            <a:chExt cx="5741255" cy="892552"/>
          </a:xfrm>
        </p:grpSpPr>
        <p:sp>
          <p:nvSpPr>
            <p:cNvPr id="149"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50"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1" name="Text Box 4"/>
            <p:cNvSpPr txBox="1">
              <a:spLocks noChangeArrowheads="1"/>
            </p:cNvSpPr>
            <p:nvPr/>
          </p:nvSpPr>
          <p:spPr bwMode="auto">
            <a:xfrm>
              <a:off x="557878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2</a:t>
              </a:r>
              <a:endParaRPr kumimoji="1" lang="en-US" altLang="zh-CN" sz="1300" b="1">
                <a:latin typeface="微软雅黑" pitchFamily="34" charset="-122"/>
                <a:ea typeface="微软雅黑" pitchFamily="34" charset="-122"/>
              </a:endParaRPr>
            </a:p>
          </p:txBody>
        </p:sp>
        <p:sp>
          <p:nvSpPr>
            <p:cNvPr id="152" name="Text Box 5"/>
            <p:cNvSpPr txBox="1">
              <a:spLocks noChangeArrowheads="1"/>
            </p:cNvSpPr>
            <p:nvPr/>
          </p:nvSpPr>
          <p:spPr bwMode="auto">
            <a:xfrm>
              <a:off x="319037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b="1">
                  <a:latin typeface="微软雅黑" pitchFamily="34" charset="-122"/>
                  <a:ea typeface="微软雅黑" pitchFamily="34" charset="-122"/>
                </a:rPr>
                <a:t>R</a:t>
              </a:r>
              <a:r>
                <a:rPr kumimoji="1" lang="en-US" altLang="zh-CN" sz="1300" b="1" baseline="-25000">
                  <a:latin typeface="微软雅黑" pitchFamily="34" charset="-122"/>
                  <a:ea typeface="微软雅黑" pitchFamily="34" charset="-122"/>
                </a:rPr>
                <a:t>1</a:t>
              </a:r>
              <a:endParaRPr kumimoji="1" lang="en-US" altLang="zh-CN" sz="1300" b="1">
                <a:latin typeface="微软雅黑" pitchFamily="34" charset="-122"/>
                <a:ea typeface="微软雅黑" pitchFamily="34" charset="-122"/>
              </a:endParaRPr>
            </a:p>
          </p:txBody>
        </p:sp>
        <p:pic>
          <p:nvPicPr>
            <p:cNvPr id="153"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54" name="Group 7"/>
            <p:cNvGrpSpPr>
              <a:grpSpLocks/>
            </p:cNvGrpSpPr>
            <p:nvPr/>
          </p:nvGrpSpPr>
          <p:grpSpPr bwMode="auto">
            <a:xfrm>
              <a:off x="1793796" y="968580"/>
              <a:ext cx="783138" cy="526362"/>
              <a:chOff x="4830" y="1752"/>
              <a:chExt cx="667" cy="477"/>
            </a:xfrm>
            <a:solidFill>
              <a:srgbClr val="00FFFF"/>
            </a:solidFill>
          </p:grpSpPr>
          <p:grpSp>
            <p:nvGrpSpPr>
              <p:cNvPr id="155" name="Group 8"/>
              <p:cNvGrpSpPr>
                <a:grpSpLocks/>
              </p:cNvGrpSpPr>
              <p:nvPr/>
            </p:nvGrpSpPr>
            <p:grpSpPr bwMode="auto">
              <a:xfrm>
                <a:off x="4830" y="1752"/>
                <a:ext cx="667" cy="477"/>
                <a:chOff x="2949" y="196"/>
                <a:chExt cx="941" cy="598"/>
              </a:xfrm>
              <a:grpFill/>
            </p:grpSpPr>
            <p:sp>
              <p:nvSpPr>
                <p:cNvPr id="157"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58"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59"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0"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1"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2"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3"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4"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65"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166"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167"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56" name="Text Box 20"/>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1</a:t>
                </a:r>
              </a:p>
            </p:txBody>
          </p:sp>
        </p:grpSp>
        <p:grpSp>
          <p:nvGrpSpPr>
            <p:cNvPr id="168" name="Group 21"/>
            <p:cNvGrpSpPr>
              <a:grpSpLocks/>
            </p:cNvGrpSpPr>
            <p:nvPr/>
          </p:nvGrpSpPr>
          <p:grpSpPr bwMode="auto">
            <a:xfrm>
              <a:off x="6444139" y="968580"/>
              <a:ext cx="783138" cy="526362"/>
              <a:chOff x="4830" y="1752"/>
              <a:chExt cx="667" cy="477"/>
            </a:xfrm>
            <a:solidFill>
              <a:srgbClr val="00FFFF"/>
            </a:solidFill>
          </p:grpSpPr>
          <p:grpSp>
            <p:nvGrpSpPr>
              <p:cNvPr id="169" name="Group 22"/>
              <p:cNvGrpSpPr>
                <a:grpSpLocks/>
              </p:cNvGrpSpPr>
              <p:nvPr/>
            </p:nvGrpSpPr>
            <p:grpSpPr bwMode="auto">
              <a:xfrm>
                <a:off x="4830" y="1752"/>
                <a:ext cx="667" cy="477"/>
                <a:chOff x="2949" y="196"/>
                <a:chExt cx="941" cy="598"/>
              </a:xfrm>
              <a:grpFill/>
            </p:grpSpPr>
            <p:sp>
              <p:nvSpPr>
                <p:cNvPr id="171"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2"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3"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4"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5"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6"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7"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8"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79"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180"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181"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70" name="Text Box 34"/>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3</a:t>
                </a:r>
              </a:p>
            </p:txBody>
          </p:sp>
        </p:grpSp>
        <p:grpSp>
          <p:nvGrpSpPr>
            <p:cNvPr id="182" name="Group 35"/>
            <p:cNvGrpSpPr>
              <a:grpSpLocks/>
            </p:cNvGrpSpPr>
            <p:nvPr/>
          </p:nvGrpSpPr>
          <p:grpSpPr bwMode="auto">
            <a:xfrm>
              <a:off x="4099995" y="968580"/>
              <a:ext cx="783138" cy="526362"/>
              <a:chOff x="4830" y="1752"/>
              <a:chExt cx="667" cy="477"/>
            </a:xfrm>
            <a:solidFill>
              <a:srgbClr val="00FFFF"/>
            </a:solidFill>
          </p:grpSpPr>
          <p:grpSp>
            <p:nvGrpSpPr>
              <p:cNvPr id="183" name="Group 36"/>
              <p:cNvGrpSpPr>
                <a:grpSpLocks/>
              </p:cNvGrpSpPr>
              <p:nvPr/>
            </p:nvGrpSpPr>
            <p:grpSpPr bwMode="auto">
              <a:xfrm>
                <a:off x="4830" y="1752"/>
                <a:ext cx="667" cy="477"/>
                <a:chOff x="2949" y="196"/>
                <a:chExt cx="941" cy="598"/>
              </a:xfrm>
              <a:grpFill/>
            </p:grpSpPr>
            <p:sp>
              <p:nvSpPr>
                <p:cNvPr id="185"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86"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87"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88"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89"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0"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1"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2"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3"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194"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sp>
              <p:nvSpPr>
                <p:cNvPr id="195"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grpSp>
          <p:sp>
            <p:nvSpPr>
              <p:cNvPr id="184" name="Text Box 48"/>
              <p:cNvSpPr txBox="1">
                <a:spLocks noChangeArrowheads="1"/>
              </p:cNvSpPr>
              <p:nvPr/>
            </p:nvSpPr>
            <p:spPr bwMode="auto">
              <a:xfrm>
                <a:off x="4967" y="1856"/>
                <a:ext cx="429"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2</a:t>
                </a:r>
              </a:p>
            </p:txBody>
          </p:sp>
        </p:grpSp>
        <p:sp>
          <p:nvSpPr>
            <p:cNvPr id="196" name="Text Box 101"/>
            <p:cNvSpPr txBox="1">
              <a:spLocks noChangeArrowheads="1"/>
            </p:cNvSpPr>
            <p:nvPr/>
          </p:nvSpPr>
          <p:spPr bwMode="auto">
            <a:xfrm>
              <a:off x="1486022" y="768154"/>
              <a:ext cx="35137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300" b="1" dirty="0">
                  <a:solidFill>
                    <a:srgbClr val="CC00CC"/>
                  </a:solidFill>
                  <a:latin typeface="微软雅黑" pitchFamily="34" charset="-122"/>
                  <a:ea typeface="微软雅黑" pitchFamily="34" charset="-122"/>
                </a:rPr>
                <a:t>正</a:t>
              </a:r>
            </a:p>
            <a:p>
              <a:r>
                <a:rPr kumimoji="1" lang="zh-CN" altLang="en-US" sz="1300" b="1" dirty="0">
                  <a:solidFill>
                    <a:srgbClr val="CC00CC"/>
                  </a:solidFill>
                  <a:latin typeface="微软雅黑" pitchFamily="34" charset="-122"/>
                  <a:ea typeface="微软雅黑" pitchFamily="34" charset="-122"/>
                </a:rPr>
                <a:t>常</a:t>
              </a:r>
            </a:p>
            <a:p>
              <a:r>
                <a:rPr kumimoji="1" lang="zh-CN" altLang="en-US" sz="1300" b="1" dirty="0">
                  <a:solidFill>
                    <a:srgbClr val="CC00CC"/>
                  </a:solidFill>
                  <a:latin typeface="微软雅黑" pitchFamily="34" charset="-122"/>
                  <a:ea typeface="微软雅黑" pitchFamily="34" charset="-122"/>
                </a:rPr>
                <a:t>情</a:t>
              </a:r>
            </a:p>
            <a:p>
              <a:r>
                <a:rPr kumimoji="1" lang="zh-CN" altLang="en-US" sz="1300" b="1" dirty="0">
                  <a:solidFill>
                    <a:srgbClr val="CC00CC"/>
                  </a:solidFill>
                  <a:latin typeface="微软雅黑" pitchFamily="34" charset="-122"/>
                  <a:ea typeface="微软雅黑" pitchFamily="34" charset="-122"/>
                </a:rPr>
                <a:t>况</a:t>
              </a:r>
            </a:p>
          </p:txBody>
        </p:sp>
        <p:grpSp>
          <p:nvGrpSpPr>
            <p:cNvPr id="197" name="Group 102"/>
            <p:cNvGrpSpPr>
              <a:grpSpLocks/>
            </p:cNvGrpSpPr>
            <p:nvPr/>
          </p:nvGrpSpPr>
          <p:grpSpPr bwMode="auto">
            <a:xfrm>
              <a:off x="2816198" y="886853"/>
              <a:ext cx="977077" cy="191669"/>
              <a:chOff x="1491" y="212"/>
              <a:chExt cx="853" cy="240"/>
            </a:xfrm>
            <a:solidFill>
              <a:srgbClr val="FFFF00"/>
            </a:solidFill>
          </p:grpSpPr>
          <p:sp>
            <p:nvSpPr>
              <p:cNvPr id="198" name="AutoShape 103"/>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199" name="Rectangle 104"/>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200" name="Text Box 105"/>
            <p:cNvSpPr txBox="1">
              <a:spLocks noChangeArrowheads="1"/>
            </p:cNvSpPr>
            <p:nvPr/>
          </p:nvSpPr>
          <p:spPr bwMode="auto">
            <a:xfrm>
              <a:off x="2828846" y="932581"/>
              <a:ext cx="679994" cy="206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50000"/>
                </a:lnSpc>
              </a:pPr>
              <a:r>
                <a:rPr kumimoji="1" lang="en-US" altLang="zh-CN" sz="1300" b="1">
                  <a:latin typeface="微软雅黑" pitchFamily="34" charset="-122"/>
                  <a:ea typeface="微软雅黑" pitchFamily="34" charset="-122"/>
                </a:rPr>
                <a:t>1  1  </a:t>
              </a:r>
              <a:r>
                <a:rPr kumimoji="1" lang="en-US" altLang="zh-CN" sz="1300" b="1">
                  <a:latin typeface="微软雅黑" pitchFamily="34" charset="-122"/>
                  <a:ea typeface="微软雅黑" pitchFamily="34" charset="-122"/>
                  <a:sym typeface="Symbol" pitchFamily="18" charset="2"/>
                </a:rPr>
                <a:t></a:t>
              </a:r>
              <a:endParaRPr kumimoji="1" lang="en-US" altLang="zh-CN" sz="1300" b="1" baseline="-25000">
                <a:latin typeface="微软雅黑" pitchFamily="34" charset="-122"/>
                <a:ea typeface="微软雅黑" pitchFamily="34" charset="-122"/>
                <a:sym typeface="Symbol" pitchFamily="18" charset="2"/>
              </a:endParaRPr>
            </a:p>
          </p:txBody>
        </p:sp>
        <p:grpSp>
          <p:nvGrpSpPr>
            <p:cNvPr id="201" name="Group 111"/>
            <p:cNvGrpSpPr>
              <a:grpSpLocks/>
            </p:cNvGrpSpPr>
            <p:nvPr/>
          </p:nvGrpSpPr>
          <p:grpSpPr bwMode="auto">
            <a:xfrm flipH="1">
              <a:off x="5027534" y="900474"/>
              <a:ext cx="977077" cy="191669"/>
              <a:chOff x="1491" y="212"/>
              <a:chExt cx="853" cy="240"/>
            </a:xfrm>
            <a:solidFill>
              <a:srgbClr val="66FF66"/>
            </a:solidFill>
          </p:grpSpPr>
          <p:sp>
            <p:nvSpPr>
              <p:cNvPr id="202" name="AutoShape 112"/>
              <p:cNvSpPr>
                <a:spLocks noChangeArrowheads="1"/>
              </p:cNvSpPr>
              <p:nvPr/>
            </p:nvSpPr>
            <p:spPr bwMode="auto">
              <a:xfrm>
                <a:off x="2089" y="271"/>
                <a:ext cx="255" cy="122"/>
              </a:xfrm>
              <a:prstGeom prst="rightArrow">
                <a:avLst>
                  <a:gd name="adj1" fmla="val 50000"/>
                  <a:gd name="adj2" fmla="val 52254"/>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sp>
            <p:nvSpPr>
              <p:cNvPr id="203" name="Rectangle 113"/>
              <p:cNvSpPr>
                <a:spLocks noChangeArrowheads="1"/>
              </p:cNvSpPr>
              <p:nvPr/>
            </p:nvSpPr>
            <p:spPr bwMode="auto">
              <a:xfrm>
                <a:off x="1491" y="212"/>
                <a:ext cx="632"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45791" dir="2021404" algn="ctr" rotWithShape="0">
                        <a:schemeClr val="bg2"/>
                      </a:outerShdw>
                    </a:effectLst>
                  </a14:hiddenEffects>
                </a:ext>
              </a:extLst>
            </p:spPr>
            <p:txBody>
              <a:bodyPr wrap="none" anchor="ctr"/>
              <a:lstStyle/>
              <a:p>
                <a:endParaRPr lang="zh-CN" altLang="en-US" sz="1300" b="1">
                  <a:latin typeface="微软雅黑" pitchFamily="34" charset="-122"/>
                  <a:ea typeface="微软雅黑" pitchFamily="34" charset="-122"/>
                </a:endParaRPr>
              </a:p>
            </p:txBody>
          </p:sp>
        </p:grpSp>
        <p:sp>
          <p:nvSpPr>
            <p:cNvPr id="204" name="Text Box 114"/>
            <p:cNvSpPr txBox="1">
              <a:spLocks noChangeArrowheads="1"/>
            </p:cNvSpPr>
            <p:nvPr/>
          </p:nvSpPr>
          <p:spPr bwMode="auto">
            <a:xfrm>
              <a:off x="5286823" y="958851"/>
              <a:ext cx="774571" cy="206980"/>
            </a:xfrm>
            <a:prstGeom prst="rect">
              <a:avLst/>
            </a:prstGeom>
            <a:noFill/>
            <a:ln>
              <a:noFill/>
            </a:ln>
            <a:effectLst/>
          </p:spPr>
          <p:txBody>
            <a:bodyPr wrap="none">
              <a:spAutoFit/>
            </a:bodyPr>
            <a:lstStyle/>
            <a:p>
              <a:pPr>
                <a:lnSpc>
                  <a:spcPct val="50000"/>
                </a:lnSpc>
              </a:pPr>
              <a:r>
                <a:rPr kumimoji="1" lang="en-US" altLang="zh-CN" sz="1300" b="1" dirty="0">
                  <a:latin typeface="微软雅黑" pitchFamily="34" charset="-122"/>
                  <a:ea typeface="微软雅黑" pitchFamily="34" charset="-122"/>
                </a:rPr>
                <a:t>1  2  </a:t>
              </a:r>
              <a:r>
                <a:rPr kumimoji="1" lang="en-US" altLang="zh-CN" sz="1300" b="1" dirty="0">
                  <a:latin typeface="微软雅黑" pitchFamily="34" charset="-122"/>
                  <a:ea typeface="微软雅黑" pitchFamily="34" charset="-122"/>
                  <a:sym typeface="Symbol" pitchFamily="18" charset="2"/>
                </a:rPr>
                <a:t>R</a:t>
              </a:r>
              <a:r>
                <a:rPr kumimoji="1" lang="en-US" altLang="zh-CN" sz="1300" b="1" baseline="-25000" dirty="0">
                  <a:latin typeface="微软雅黑" pitchFamily="34" charset="-122"/>
                  <a:ea typeface="微软雅黑" pitchFamily="34" charset="-122"/>
                  <a:sym typeface="Symbol" pitchFamily="18" charset="2"/>
                </a:rPr>
                <a:t>1</a:t>
              </a:r>
            </a:p>
          </p:txBody>
        </p:sp>
      </p:grpSp>
      <p:sp>
        <p:nvSpPr>
          <p:cNvPr id="136" name="Text Box 155"/>
          <p:cNvSpPr txBox="1">
            <a:spLocks noChangeArrowheads="1"/>
          </p:cNvSpPr>
          <p:nvPr/>
        </p:nvSpPr>
        <p:spPr bwMode="auto">
          <a:xfrm>
            <a:off x="1298256" y="4354196"/>
            <a:ext cx="6593695" cy="344325"/>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solidFill>
                  <a:srgbClr val="C00000"/>
                </a:solidFill>
                <a:latin typeface="微软雅黑" pitchFamily="34" charset="-122"/>
                <a:ea typeface="微软雅黑" pitchFamily="34" charset="-122"/>
              </a:rPr>
              <a:t>这就是好消息传播得快，而坏消息传播得慢。这是 </a:t>
            </a:r>
            <a:r>
              <a:rPr lang="en-US" altLang="zh-CN" sz="1600" b="1" dirty="0">
                <a:solidFill>
                  <a:srgbClr val="C00000"/>
                </a:solidFill>
                <a:latin typeface="微软雅黑" pitchFamily="34" charset="-122"/>
                <a:ea typeface="微软雅黑" pitchFamily="34" charset="-122"/>
              </a:rPr>
              <a:t>RIP </a:t>
            </a:r>
            <a:r>
              <a:rPr lang="zh-CN" altLang="en-US" sz="1600" b="1" dirty="0">
                <a:solidFill>
                  <a:srgbClr val="C00000"/>
                </a:solidFill>
                <a:latin typeface="微软雅黑" pitchFamily="34" charset="-122"/>
                <a:ea typeface="微软雅黑" pitchFamily="34" charset="-122"/>
              </a:rPr>
              <a:t>的一个</a:t>
            </a:r>
            <a:r>
              <a:rPr lang="zh-CN" altLang="en-US" sz="1600" b="1" dirty="0">
                <a:solidFill>
                  <a:srgbClr val="0000CC"/>
                </a:solidFill>
                <a:latin typeface="微软雅黑" pitchFamily="34" charset="-122"/>
                <a:ea typeface="微软雅黑" pitchFamily="34" charset="-122"/>
              </a:rPr>
              <a:t>主要缺点。 </a:t>
            </a: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32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3906"/>
            <a:ext cx="2234907" cy="400110"/>
          </a:xfrm>
          <a:prstGeom prst="rect">
            <a:avLst/>
          </a:prstGeom>
        </p:spPr>
        <p:txBody>
          <a:bodyPr wrap="none">
            <a:spAutoFit/>
          </a:bodyPr>
          <a:lstStyle/>
          <a:p>
            <a:r>
              <a:rPr lang="en-US" altLang="zh-CN" sz="2000" b="1" dirty="0">
                <a:latin typeface="微软雅黑" pitchFamily="34" charset="-122"/>
                <a:ea typeface="微软雅黑" pitchFamily="34" charset="-122"/>
              </a:rPr>
              <a:t>RIP </a:t>
            </a:r>
            <a:r>
              <a:rPr lang="zh-CN" altLang="en-US" sz="2000" b="1" dirty="0">
                <a:latin typeface="微软雅黑" pitchFamily="34" charset="-122"/>
                <a:ea typeface="微软雅黑" pitchFamily="34" charset="-122"/>
              </a:rPr>
              <a:t>协议的优缺点</a:t>
            </a:r>
          </a:p>
        </p:txBody>
      </p:sp>
      <p:sp>
        <p:nvSpPr>
          <p:cNvPr id="4" name="矩形 3"/>
          <p:cNvSpPr/>
          <p:nvPr/>
        </p:nvSpPr>
        <p:spPr>
          <a:xfrm>
            <a:off x="545144" y="942078"/>
            <a:ext cx="8053711" cy="2554545"/>
          </a:xfrm>
          <a:prstGeom prst="rect">
            <a:avLst/>
          </a:prstGeom>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优点：</a:t>
            </a:r>
          </a:p>
          <a:p>
            <a:pPr marL="623888"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实现简单，开销较小。</a:t>
            </a:r>
          </a:p>
          <a:p>
            <a:pPr marL="285750" indent="-285750">
              <a:lnSpc>
                <a:spcPts val="3200"/>
              </a:lnSpc>
              <a:buClr>
                <a:srgbClr val="0070C0"/>
              </a:buClr>
              <a:buFont typeface="Wingdings" pitchFamily="2" charset="2"/>
              <a:buChar char="l"/>
            </a:pPr>
            <a:r>
              <a:rPr lang="zh-CN" altLang="en-US" sz="2000" b="1" dirty="0">
                <a:solidFill>
                  <a:srgbClr val="0000CC"/>
                </a:solidFill>
                <a:latin typeface="微软雅黑" pitchFamily="34" charset="-122"/>
                <a:ea typeface="微软雅黑" pitchFamily="34" charset="-122"/>
              </a:rPr>
              <a:t>缺点：</a:t>
            </a:r>
          </a:p>
          <a:p>
            <a:pPr marL="623888"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网络规模有限。最大距离为 </a:t>
            </a:r>
            <a:r>
              <a:rPr lang="en-US" altLang="zh-CN" sz="2000" b="1" dirty="0">
                <a:latin typeface="微软雅黑" pitchFamily="34" charset="-122"/>
                <a:ea typeface="微软雅黑" pitchFamily="34" charset="-122"/>
              </a:rPr>
              <a:t>15</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16 </a:t>
            </a:r>
            <a:r>
              <a:rPr lang="zh-CN" altLang="en-US" sz="2000" b="1" dirty="0">
                <a:latin typeface="微软雅黑" pitchFamily="34" charset="-122"/>
                <a:ea typeface="微软雅黑" pitchFamily="34" charset="-122"/>
              </a:rPr>
              <a:t>表示不可达）。</a:t>
            </a:r>
          </a:p>
          <a:p>
            <a:pPr marL="623888"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交换的路由信息为完整路由表，开销较大。 </a:t>
            </a:r>
          </a:p>
          <a:p>
            <a:pPr marL="623888"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坏消息传播得慢，收敛时间过长。</a:t>
            </a:r>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solidFill>
              <a:srgbClr val="0099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solidFill>
              <a:srgbClr val="0099CC"/>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latin typeface="微软雅黑" panose="020B0503020204020204" pitchFamily="34" charset="-122"/>
                  <a:ea typeface="微软雅黑" panose="020B0503020204020204" pitchFamily="34" charset="-122"/>
                </a:rPr>
                <a:t>域内路由选择</a:t>
              </a:r>
            </a:p>
          </p:txBody>
        </p:sp>
        <p:sp>
          <p:nvSpPr>
            <p:cNvPr id="8" name="矩形 7"/>
            <p:cNvSpPr/>
            <p:nvPr/>
          </p:nvSpPr>
          <p:spPr>
            <a:xfrm>
              <a:off x="5569906" y="2239530"/>
              <a:ext cx="1802444" cy="424873"/>
            </a:xfrm>
            <a:prstGeom prst="rect">
              <a:avLst/>
            </a:prstGeom>
            <a:solidFill>
              <a:srgbClr val="0099CC"/>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latin typeface="微软雅黑" panose="020B0503020204020204" pitchFamily="34" charset="-122"/>
                  <a:ea typeface="微软雅黑" panose="020B0503020204020204" pitchFamily="34" charset="-122"/>
                </a:rPr>
                <a:t>域间路由选择</a:t>
              </a:r>
            </a:p>
          </p:txBody>
        </p:sp>
        <p:sp>
          <p:nvSpPr>
            <p:cNvPr id="9" name="矩形 8"/>
            <p:cNvSpPr/>
            <p:nvPr/>
          </p:nvSpPr>
          <p:spPr>
            <a:xfrm>
              <a:off x="1113847" y="3109407"/>
              <a:ext cx="1802444" cy="670653"/>
            </a:xfrm>
            <a:prstGeom prst="rect">
              <a:avLst/>
            </a:prstGeom>
            <a:solidFill>
              <a:srgbClr val="CC66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C66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000099"/>
                  </a:solidFill>
                  <a:latin typeface="微软雅黑" panose="020B0503020204020204" pitchFamily="34" charset="-122"/>
                  <a:ea typeface="微软雅黑" panose="020B0503020204020204" pitchFamily="34" charset="-122"/>
                </a:rPr>
                <a:t>链路状态</a:t>
              </a:r>
              <a:endParaRPr lang="en-US" altLang="zh-CN" sz="1400" dirty="0">
                <a:solidFill>
                  <a:srgbClr val="000099"/>
                </a:solidFill>
                <a:latin typeface="微软雅黑" panose="020B0503020204020204" pitchFamily="34" charset="-122"/>
                <a:ea typeface="微软雅黑" panose="020B0503020204020204" pitchFamily="34" charset="-122"/>
              </a:endParaRPr>
            </a:p>
            <a:p>
              <a:pPr algn="ctr"/>
              <a:r>
                <a:rPr lang="en-US" altLang="zh-CN" sz="1400" dirty="0">
                  <a:solidFill>
                    <a:srgbClr val="000099"/>
                  </a:solidFill>
                  <a:latin typeface="微软雅黑" panose="020B0503020204020204" pitchFamily="34" charset="-122"/>
                  <a:ea typeface="微软雅黑" panose="020B0503020204020204" pitchFamily="34" charset="-122"/>
                </a:rPr>
                <a:t>(Link State)</a:t>
              </a:r>
              <a:endParaRPr lang="zh-CN" altLang="en-US" sz="1400" dirty="0">
                <a:solidFill>
                  <a:srgbClr val="000099"/>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solidFill>
              <a:srgbClr val="CC66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latin typeface="微软雅黑" panose="020B0503020204020204" pitchFamily="34" charset="-122"/>
                  <a:ea typeface="微软雅黑" panose="020B0503020204020204" pitchFamily="34" charset="-122"/>
                </a:rPr>
                <a:t>路径向量</a:t>
              </a:r>
              <a:endParaRPr lang="en-US" altLang="zh-CN" sz="1400" dirty="0">
                <a:latin typeface="微软雅黑" panose="020B0503020204020204" pitchFamily="34" charset="-122"/>
                <a:ea typeface="微软雅黑" panose="020B0503020204020204" pitchFamily="34" charset="-122"/>
              </a:endParaRPr>
            </a:p>
            <a:p>
              <a:pPr algn="ctr"/>
              <a:r>
                <a:rPr lang="en-US" altLang="zh-CN" sz="1400" dirty="0">
                  <a:latin typeface="微软雅黑" panose="020B0503020204020204" pitchFamily="34" charset="-122"/>
                  <a:ea typeface="微软雅黑" panose="020B0503020204020204" pitchFamily="34" charset="-122"/>
                </a:rPr>
                <a:t>(path vector)</a:t>
              </a:r>
              <a:endParaRPr lang="zh-CN" altLang="en-US" sz="1400" dirty="0">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solidFill>
                    <a:srgbClr val="000099"/>
                  </a:solidFill>
                  <a:latin typeface="微软雅黑" pitchFamily="34" charset="-122"/>
                  <a:ea typeface="微软雅黑" pitchFamily="34" charset="-122"/>
                </a:rPr>
                <a:t>OSPF</a:t>
              </a:r>
              <a:endParaRPr lang="zh-CN" altLang="en-US" sz="1400" dirty="0">
                <a:solidFill>
                  <a:srgbClr val="000099"/>
                </a:solidFill>
              </a:endParaRPr>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 </a:t>
            </a:r>
            <a:r>
              <a:rPr lang="en-US" altLang="zh-CN" dirty="0"/>
              <a:t>OSPF (Open Shortest Path First)</a:t>
            </a:r>
            <a:r>
              <a:rPr lang="zh-CN" altLang="en-US" dirty="0"/>
              <a:t>是为克服 </a:t>
            </a:r>
            <a:r>
              <a:rPr lang="en-US" altLang="zh-CN" dirty="0"/>
              <a:t>RIP </a:t>
            </a:r>
            <a:r>
              <a:rPr lang="zh-CN" altLang="en-US" dirty="0"/>
              <a:t>的缺点在 </a:t>
            </a:r>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a:t>
            </a:r>
            <a:r>
              <a:rPr lang="zh-CN" altLang="en-US" dirty="0"/>
              <a:t>，向本自治系统中所有路由器发送信息</a:t>
            </a:r>
          </a:p>
          <a:p>
            <a:r>
              <a:rPr lang="zh-CN" altLang="en-US" dirty="0"/>
              <a:t>发送的信息是与本路由器相邻的所有路由器的链路状态，但这只是路由器所知道的部分信息</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对角圆角矩形 4"/>
          <p:cNvSpPr/>
          <p:nvPr/>
        </p:nvSpPr>
        <p:spPr>
          <a:xfrm>
            <a:off x="667598" y="3131365"/>
            <a:ext cx="7654170" cy="1126599"/>
          </a:xfrm>
          <a:prstGeom prst="round2DiagRect">
            <a:avLst/>
          </a:prstGeom>
          <a:solidFill>
            <a:srgbClr val="0099CC"/>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827633" y="3259904"/>
            <a:ext cx="7355787" cy="861774"/>
          </a:xfrm>
          <a:prstGeom prst="rect">
            <a:avLst/>
          </a:prstGeom>
        </p:spPr>
        <p:txBody>
          <a:bodyPr wrap="square">
            <a:spAutoFit/>
          </a:bodyPr>
          <a:lstStyle/>
          <a:p>
            <a:pPr>
              <a:lnSpc>
                <a:spcPts val="3000"/>
              </a:lnSpc>
            </a:pPr>
            <a:r>
              <a:rPr lang="zh-CN" altLang="en-US" b="1" dirty="0">
                <a:solidFill>
                  <a:schemeClr val="bg1"/>
                </a:solidFill>
                <a:latin typeface="微软雅黑" pitchFamily="34" charset="-122"/>
                <a:ea typeface="微软雅黑" pitchFamily="34" charset="-122"/>
              </a:rPr>
              <a:t>链路状态数据库能较快地进行更新，使各个路由器能及时更新其路由表。</a:t>
            </a:r>
          </a:p>
          <a:p>
            <a:pPr>
              <a:lnSpc>
                <a:spcPts val="3000"/>
              </a:lnSpc>
            </a:pPr>
            <a:r>
              <a:rPr lang="zh-CN" altLang="en-US" b="1" dirty="0">
                <a:solidFill>
                  <a:schemeClr val="bg1"/>
                </a:solidFill>
                <a:latin typeface="微软雅黑" pitchFamily="34" charset="-122"/>
                <a:ea typeface="微软雅黑" pitchFamily="34" charset="-122"/>
              </a:rPr>
              <a:t>重要优点：</a:t>
            </a:r>
            <a:r>
              <a:rPr lang="en-US" altLang="zh-CN" b="1" dirty="0">
                <a:solidFill>
                  <a:srgbClr val="FFFF00"/>
                </a:solidFill>
                <a:latin typeface="微软雅黑" pitchFamily="34" charset="-122"/>
                <a:ea typeface="微软雅黑" pitchFamily="34" charset="-122"/>
              </a:rPr>
              <a:t>OSPF </a:t>
            </a:r>
            <a:r>
              <a:rPr lang="zh-CN" altLang="en-US" b="1" dirty="0">
                <a:solidFill>
                  <a:srgbClr val="FFFF00"/>
                </a:solidFill>
                <a:latin typeface="微软雅黑" pitchFamily="34" charset="-122"/>
                <a:ea typeface="微软雅黑" pitchFamily="34" charset="-122"/>
              </a:rPr>
              <a:t>更新过程收敛速度快。</a:t>
            </a:r>
          </a:p>
        </p:txBody>
      </p:sp>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 </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30095"/>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88911"/>
            <a:ext cx="5611151" cy="400110"/>
          </a:xfrm>
          <a:prstGeom prst="rect">
            <a:avLst/>
          </a:prstGeom>
        </p:spPr>
        <p:txBody>
          <a:bodyPr wrap="none">
            <a:spAutoFit/>
          </a:bodyPr>
          <a:lstStyle/>
          <a:p>
            <a:r>
              <a:rPr lang="en-US" altLang="zh-CN" sz="2000" b="1" dirty="0">
                <a:latin typeface="微软雅黑" pitchFamily="34" charset="-122"/>
                <a:ea typeface="微软雅黑" pitchFamily="34" charset="-122"/>
              </a:rPr>
              <a:t>OSPF </a:t>
            </a:r>
            <a:r>
              <a:rPr lang="zh-CN" altLang="en-US" sz="2000" b="1" dirty="0">
                <a:latin typeface="微软雅黑" pitchFamily="34" charset="-122"/>
                <a:ea typeface="微软雅黑" pitchFamily="34" charset="-122"/>
              </a:rPr>
              <a:t>将自治系统划分为</a:t>
            </a:r>
            <a:r>
              <a:rPr lang="zh-CN" altLang="en-US" sz="2000" b="1" dirty="0">
                <a:solidFill>
                  <a:srgbClr val="C00000"/>
                </a:solidFill>
                <a:latin typeface="微软雅黑" pitchFamily="34" charset="-122"/>
                <a:ea typeface="微软雅黑" pitchFamily="34" charset="-122"/>
              </a:rPr>
              <a:t>两种</a:t>
            </a:r>
            <a:r>
              <a:rPr lang="zh-CN" altLang="en-US" sz="2000" b="1" dirty="0">
                <a:latin typeface="微软雅黑" pitchFamily="34" charset="-122"/>
                <a:ea typeface="微软雅黑" pitchFamily="34" charset="-122"/>
              </a:rPr>
              <a:t>不同的区域 </a:t>
            </a:r>
            <a:r>
              <a:rPr lang="en-US" altLang="zh-CN" sz="2000" b="1" dirty="0">
                <a:latin typeface="微软雅黑" pitchFamily="34" charset="-122"/>
                <a:ea typeface="微软雅黑" pitchFamily="34" charset="-122"/>
              </a:rPr>
              <a:t>(area)</a:t>
            </a:r>
            <a:endParaRPr lang="zh-CN" altLang="en-US" sz="2000" b="1" dirty="0">
              <a:latin typeface="微软雅黑" pitchFamily="34" charset="-122"/>
              <a:ea typeface="微软雅黑" pitchFamily="34" charset="-122"/>
            </a:endParaRPr>
          </a:p>
        </p:txBody>
      </p:sp>
      <p:sp>
        <p:nvSpPr>
          <p:cNvPr id="21" name="AutoShape 3"/>
          <p:cNvSpPr>
            <a:spLocks noChangeArrowheads="1"/>
          </p:cNvSpPr>
          <p:nvPr/>
        </p:nvSpPr>
        <p:spPr bwMode="auto">
          <a:xfrm>
            <a:off x="1018636" y="1402811"/>
            <a:ext cx="7086532" cy="2764456"/>
          </a:xfrm>
          <a:prstGeom prst="roundRect">
            <a:avLst>
              <a:gd name="adj" fmla="val 16667"/>
            </a:avLst>
          </a:prstGeom>
          <a:solidFill>
            <a:schemeClr val="bg1"/>
          </a:solidFill>
          <a:ln w="12700">
            <a:solidFill>
              <a:srgbClr val="00B0F0"/>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1213446" y="1432832"/>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grpSp>
        <p:nvGrpSpPr>
          <p:cNvPr id="182" name="组合 181"/>
          <p:cNvGrpSpPr/>
          <p:nvPr/>
        </p:nvGrpSpPr>
        <p:grpSpPr>
          <a:xfrm>
            <a:off x="1101155" y="1773123"/>
            <a:ext cx="2532718" cy="2064420"/>
            <a:chOff x="1101155" y="1773412"/>
            <a:chExt cx="2532718" cy="2064420"/>
          </a:xfrm>
        </p:grpSpPr>
        <p:sp>
          <p:nvSpPr>
            <p:cNvPr id="24" name="Oval 7"/>
            <p:cNvSpPr>
              <a:spLocks noChangeArrowheads="1"/>
            </p:cNvSpPr>
            <p:nvPr/>
          </p:nvSpPr>
          <p:spPr bwMode="auto">
            <a:xfrm>
              <a:off x="1101155" y="1773412"/>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812343" y="353005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0.0.0.1</a:t>
              </a:r>
            </a:p>
          </p:txBody>
        </p:sp>
      </p:grpSp>
      <p:grpSp>
        <p:nvGrpSpPr>
          <p:cNvPr id="184" name="组合 183"/>
          <p:cNvGrpSpPr/>
          <p:nvPr/>
        </p:nvGrpSpPr>
        <p:grpSpPr>
          <a:xfrm>
            <a:off x="6095497" y="1773123"/>
            <a:ext cx="1923343" cy="2117154"/>
            <a:chOff x="6095497" y="1773412"/>
            <a:chExt cx="1923343" cy="2117154"/>
          </a:xfrm>
        </p:grpSpPr>
        <p:sp>
          <p:nvSpPr>
            <p:cNvPr id="25" name="Oval 8"/>
            <p:cNvSpPr>
              <a:spLocks noChangeArrowheads="1"/>
            </p:cNvSpPr>
            <p:nvPr/>
          </p:nvSpPr>
          <p:spPr bwMode="auto">
            <a:xfrm>
              <a:off x="6095497" y="1773412"/>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496859" y="3582789"/>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0.0.0.3</a:t>
              </a:r>
            </a:p>
          </p:txBody>
        </p:sp>
      </p:grpSp>
      <p:grpSp>
        <p:nvGrpSpPr>
          <p:cNvPr id="181" name="组合 180"/>
          <p:cNvGrpSpPr/>
          <p:nvPr/>
        </p:nvGrpSpPr>
        <p:grpSpPr>
          <a:xfrm>
            <a:off x="3720201" y="1518518"/>
            <a:ext cx="2314358" cy="1421794"/>
            <a:chOff x="3720201" y="1518807"/>
            <a:chExt cx="2314358" cy="1421794"/>
          </a:xfrm>
        </p:grpSpPr>
        <p:sp>
          <p:nvSpPr>
            <p:cNvPr id="23" name="Oval 6"/>
            <p:cNvSpPr>
              <a:spLocks noChangeArrowheads="1"/>
            </p:cNvSpPr>
            <p:nvPr/>
          </p:nvSpPr>
          <p:spPr bwMode="auto">
            <a:xfrm>
              <a:off x="3720201" y="1824975"/>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22740" y="1518807"/>
              <a:ext cx="1552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主干区域 </a:t>
              </a:r>
              <a:r>
                <a:rPr kumimoji="1" lang="en-US" altLang="zh-CN" sz="1400" b="1" dirty="0">
                  <a:solidFill>
                    <a:srgbClr val="C00000"/>
                  </a:solidFill>
                  <a:latin typeface="微软雅黑" pitchFamily="34" charset="-122"/>
                  <a:ea typeface="微软雅黑" pitchFamily="34" charset="-122"/>
                </a:rPr>
                <a:t>0.0.0.0</a:t>
              </a:r>
            </a:p>
          </p:txBody>
        </p:sp>
      </p:grpSp>
      <p:sp>
        <p:nvSpPr>
          <p:cNvPr id="29" name="Line 12"/>
          <p:cNvSpPr>
            <a:spLocks noChangeShapeType="1"/>
          </p:cNvSpPr>
          <p:nvPr/>
        </p:nvSpPr>
        <p:spPr bwMode="auto">
          <a:xfrm flipV="1">
            <a:off x="4878015" y="1317265"/>
            <a:ext cx="851856" cy="71015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5115298" y="1054787"/>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95496" y="2432890"/>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87685" y="2585235"/>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92373" y="2077811"/>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30166" y="2634454"/>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81433" y="2432890"/>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38953" y="2027421"/>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78015" y="2585234"/>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98326" y="2332109"/>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59264" y="2077811"/>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710530" y="2077811"/>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623325" y="2127030"/>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49888" y="2381328"/>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35824" y="2737578"/>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35824" y="2888750"/>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45200" y="2534844"/>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32405" y="2737579"/>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0844" y="1975858"/>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5513" y="2230155"/>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93932" y="1925468"/>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78015" y="2432890"/>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14248" y="2483281"/>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51747" y="2332109"/>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96762" y="3042267"/>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66780" y="2178593"/>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87685" y="1875077"/>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26747" y="3042267"/>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520790" y="2483280"/>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27530" y="221257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605457" y="20778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7</a:t>
            </a:r>
          </a:p>
        </p:txBody>
      </p:sp>
      <p:sp>
        <p:nvSpPr>
          <p:cNvPr id="126" name="Text Box 109"/>
          <p:cNvSpPr txBox="1">
            <a:spLocks noChangeArrowheads="1"/>
          </p:cNvSpPr>
          <p:nvPr/>
        </p:nvSpPr>
        <p:spPr bwMode="auto">
          <a:xfrm>
            <a:off x="5100183" y="183406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6</a:t>
            </a:r>
          </a:p>
        </p:txBody>
      </p:sp>
      <p:sp>
        <p:nvSpPr>
          <p:cNvPr id="127" name="Text Box 110"/>
          <p:cNvSpPr txBox="1">
            <a:spLocks noChangeArrowheads="1"/>
          </p:cNvSpPr>
          <p:nvPr/>
        </p:nvSpPr>
        <p:spPr bwMode="auto">
          <a:xfrm>
            <a:off x="4643151" y="216804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432409" y="257937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p>
        </p:txBody>
      </p:sp>
      <p:sp>
        <p:nvSpPr>
          <p:cNvPr id="129" name="Text Box 112"/>
          <p:cNvSpPr txBox="1">
            <a:spLocks noChangeArrowheads="1"/>
          </p:cNvSpPr>
          <p:nvPr/>
        </p:nvSpPr>
        <p:spPr bwMode="auto">
          <a:xfrm>
            <a:off x="3421861" y="193367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3</a:t>
            </a:r>
          </a:p>
        </p:txBody>
      </p:sp>
      <p:sp>
        <p:nvSpPr>
          <p:cNvPr id="130" name="Text Box 113"/>
          <p:cNvSpPr txBox="1">
            <a:spLocks noChangeArrowheads="1"/>
          </p:cNvSpPr>
          <p:nvPr/>
        </p:nvSpPr>
        <p:spPr bwMode="auto">
          <a:xfrm>
            <a:off x="1525179" y="264851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107895" y="17637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grpSp>
        <p:nvGrpSpPr>
          <p:cNvPr id="183" name="组合 182"/>
          <p:cNvGrpSpPr/>
          <p:nvPr/>
        </p:nvGrpSpPr>
        <p:grpSpPr>
          <a:xfrm>
            <a:off x="3598326" y="3003594"/>
            <a:ext cx="2497171" cy="1046059"/>
            <a:chOff x="3598326" y="3003883"/>
            <a:chExt cx="2497171" cy="1046059"/>
          </a:xfrm>
        </p:grpSpPr>
        <p:sp>
          <p:nvSpPr>
            <p:cNvPr id="138" name="Oval 121"/>
            <p:cNvSpPr>
              <a:spLocks noChangeArrowheads="1"/>
            </p:cNvSpPr>
            <p:nvPr/>
          </p:nvSpPr>
          <p:spPr bwMode="auto">
            <a:xfrm>
              <a:off x="3598326" y="3003883"/>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305485" y="374216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0.0.0.2</a:t>
              </a:r>
            </a:p>
          </p:txBody>
        </p:sp>
      </p:grpSp>
      <p:sp>
        <p:nvSpPr>
          <p:cNvPr id="140" name="Line 123"/>
          <p:cNvSpPr>
            <a:spLocks noChangeShapeType="1"/>
          </p:cNvSpPr>
          <p:nvPr/>
        </p:nvSpPr>
        <p:spPr bwMode="auto">
          <a:xfrm>
            <a:off x="4817078" y="2940312"/>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38953" y="3387969"/>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65516" y="3131328"/>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84557" y="3450079"/>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42076" y="3194610"/>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93932" y="3414922"/>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59070" y="318406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3151" y="284187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61812" y="3068053"/>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915228" y="1904380"/>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37984" y="3077423"/>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89151" y="2554760"/>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505747" y="2200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50398" y="25219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407913" y="321806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72858" y="3277813"/>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
        <p:nvSpPr>
          <p:cNvPr id="5" name="矩形 4"/>
          <p:cNvSpPr/>
          <p:nvPr/>
        </p:nvSpPr>
        <p:spPr>
          <a:xfrm>
            <a:off x="1037109" y="4331760"/>
            <a:ext cx="7174018" cy="374461"/>
          </a:xfrm>
          <a:prstGeom prst="rect">
            <a:avLst/>
          </a:prstGeom>
        </p:spPr>
        <p:txBody>
          <a:bodyPr wrap="square">
            <a:spAutoFit/>
          </a:bodyPr>
          <a:lstStyle/>
          <a:p>
            <a:pPr>
              <a:lnSpc>
                <a:spcPts val="2200"/>
              </a:lnSpc>
              <a:buClr>
                <a:srgbClr val="0070C0"/>
              </a:buClr>
            </a:pPr>
            <a:r>
              <a:rPr lang="zh-CN" altLang="en-US" sz="1600" b="1" dirty="0">
                <a:latin typeface="微软雅黑" pitchFamily="34" charset="-122"/>
                <a:ea typeface="微软雅黑" pitchFamily="34" charset="-122"/>
              </a:rPr>
              <a:t>主干区域 </a:t>
            </a:r>
            <a:r>
              <a:rPr lang="en-US" altLang="zh-CN" sz="1600" b="1" dirty="0">
                <a:latin typeface="微软雅黑" pitchFamily="34" charset="-122"/>
                <a:ea typeface="微软雅黑" pitchFamily="34" charset="-122"/>
              </a:rPr>
              <a:t>(backbone area) </a:t>
            </a:r>
            <a:r>
              <a:rPr lang="zh-CN" altLang="en-US" sz="1600" b="1" dirty="0">
                <a:solidFill>
                  <a:srgbClr val="C00000"/>
                </a:solidFill>
                <a:latin typeface="微软雅黑" pitchFamily="34" charset="-122"/>
                <a:ea typeface="微软雅黑" pitchFamily="34" charset="-122"/>
              </a:rPr>
              <a:t>标识符</a:t>
            </a:r>
            <a:r>
              <a:rPr lang="en-US" altLang="zh-CN" sz="1600" b="1" dirty="0">
                <a:latin typeface="微软雅黑" pitchFamily="34" charset="-122"/>
                <a:ea typeface="微软雅黑" pitchFamily="34" charset="-122"/>
              </a:rPr>
              <a:t>=</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0.0.0.0</a:t>
            </a:r>
            <a:r>
              <a:rPr lang="zh-CN" altLang="en-US" sz="1600" b="1" dirty="0">
                <a:latin typeface="微软雅黑" pitchFamily="34" charset="-122"/>
                <a:ea typeface="微软雅黑" pitchFamily="34" charset="-122"/>
              </a:rPr>
              <a:t>，</a:t>
            </a:r>
            <a:r>
              <a:rPr lang="zh-CN" altLang="en-US" sz="1600" b="1" dirty="0">
                <a:solidFill>
                  <a:srgbClr val="C00000"/>
                </a:solidFill>
                <a:latin typeface="微软雅黑" pitchFamily="34" charset="-122"/>
                <a:ea typeface="微软雅黑" pitchFamily="34" charset="-122"/>
              </a:rPr>
              <a:t>作用</a:t>
            </a:r>
            <a:r>
              <a:rPr lang="en-US" altLang="zh-CN" sz="1600" b="1" dirty="0">
                <a:latin typeface="微软雅黑" pitchFamily="34" charset="-122"/>
                <a:ea typeface="微软雅黑" pitchFamily="34" charset="-122"/>
              </a:rPr>
              <a:t>=</a:t>
            </a:r>
            <a:r>
              <a:rPr lang="zh-CN" altLang="en-US" sz="1600" b="1" dirty="0">
                <a:latin typeface="微软雅黑" pitchFamily="34" charset="-122"/>
                <a:ea typeface="微软雅黑" pitchFamily="34" charset="-122"/>
              </a:rPr>
              <a:t>用来连通其他下层区域。 </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1000"/>
                                  </p:stCondLst>
                                  <p:childTnLst>
                                    <p:set>
                                      <p:cBhvr>
                                        <p:cTn id="6" dur="1" fill="hold">
                                          <p:stCondLst>
                                            <p:cond delay="0"/>
                                          </p:stCondLst>
                                        </p:cTn>
                                        <p:tgtEl>
                                          <p:spTgt spid="181"/>
                                        </p:tgtEl>
                                        <p:attrNameLst>
                                          <p:attrName>style.visibility</p:attrName>
                                        </p:attrNameLst>
                                      </p:cBhvr>
                                      <p:to>
                                        <p:strVal val="visible"/>
                                      </p:to>
                                    </p:set>
                                  </p:childTnLst>
                                </p:cTn>
                              </p:par>
                              <p:par>
                                <p:cTn id="7" presetID="1" presetClass="entr" presetSubtype="0" fill="hold" nodeType="withEffect">
                                  <p:stCondLst>
                                    <p:cond delay="1000"/>
                                  </p:stCondLst>
                                  <p:childTnLst>
                                    <p:set>
                                      <p:cBhvr>
                                        <p:cTn id="8" dur="1" fill="hold">
                                          <p:stCondLst>
                                            <p:cond delay="0"/>
                                          </p:stCondLst>
                                        </p:cTn>
                                        <p:tgtEl>
                                          <p:spTgt spid="182"/>
                                        </p:tgtEl>
                                        <p:attrNameLst>
                                          <p:attrName>style.visibility</p:attrName>
                                        </p:attrNameLst>
                                      </p:cBhvr>
                                      <p:to>
                                        <p:strVal val="visible"/>
                                      </p:to>
                                    </p:set>
                                  </p:childTnLst>
                                </p:cTn>
                              </p:par>
                              <p:par>
                                <p:cTn id="9" presetID="1" presetClass="entr" presetSubtype="0" fill="hold" nodeType="withEffect">
                                  <p:stCondLst>
                                    <p:cond delay="1000"/>
                                  </p:stCondLst>
                                  <p:childTnLst>
                                    <p:set>
                                      <p:cBhvr>
                                        <p:cTn id="10" dur="1" fill="hold">
                                          <p:stCondLst>
                                            <p:cond delay="0"/>
                                          </p:stCondLst>
                                        </p:cTn>
                                        <p:tgtEl>
                                          <p:spTgt spid="183"/>
                                        </p:tgtEl>
                                        <p:attrNameLst>
                                          <p:attrName>style.visibility</p:attrName>
                                        </p:attrNameLst>
                                      </p:cBhvr>
                                      <p:to>
                                        <p:strVal val="visible"/>
                                      </p:to>
                                    </p:set>
                                  </p:childTnLst>
                                </p:cTn>
                              </p:par>
                              <p:par>
                                <p:cTn id="11" presetID="1" presetClass="entr" presetSubtype="0" fill="hold" nodeType="withEffect">
                                  <p:stCondLst>
                                    <p:cond delay="1000"/>
                                  </p:stCondLst>
                                  <p:childTnLst>
                                    <p:set>
                                      <p:cBhvr>
                                        <p:cTn id="12" dur="1" fill="hold">
                                          <p:stCondLst>
                                            <p:cond delay="0"/>
                                          </p:stCondLst>
                                        </p:cTn>
                                        <p:tgtEl>
                                          <p:spTgt spid="184"/>
                                        </p:tgtEl>
                                        <p:attrNameLst>
                                          <p:attrName>style.visibility</p:attrName>
                                        </p:attrNameLst>
                                      </p:cBhvr>
                                      <p:to>
                                        <p:strVal val="visible"/>
                                      </p:to>
                                    </p:set>
                                  </p:childTnLst>
                                </p:cTn>
                              </p:par>
                            </p:childTnLst>
                          </p:cTn>
                        </p:par>
                        <p:par>
                          <p:cTn id="13" fill="hold">
                            <p:stCondLst>
                              <p:cond delay="1000"/>
                            </p:stCondLst>
                            <p:childTnLst>
                              <p:par>
                                <p:cTn id="14" presetID="35" presetClass="emph" presetSubtype="0" repeatCount="3000" fill="hold" nodeType="afterEffect">
                                  <p:stCondLst>
                                    <p:cond delay="0"/>
                                  </p:stCondLst>
                                  <p:childTnLst>
                                    <p:anim calcmode="discrete" valueType="str">
                                      <p:cBhvr>
                                        <p:cTn id="15" dur="1000" fill="hold"/>
                                        <p:tgtEl>
                                          <p:spTgt spid="181"/>
                                        </p:tgtEl>
                                        <p:attrNameLst>
                                          <p:attrName>style.visibility</p:attrName>
                                        </p:attrNameLst>
                                      </p:cBhvr>
                                      <p:tavLst>
                                        <p:tav tm="0">
                                          <p:val>
                                            <p:strVal val="hidden"/>
                                          </p:val>
                                        </p:tav>
                                        <p:tav tm="50000">
                                          <p:val>
                                            <p:strVal val="visible"/>
                                          </p:val>
                                        </p:tav>
                                      </p:tavLst>
                                    </p:anim>
                                  </p:childTnLst>
                                </p:cTn>
                              </p:par>
                              <p:par>
                                <p:cTn id="16" presetID="35" presetClass="emph" presetSubtype="0" repeatCount="3000" fill="hold" nodeType="withEffect">
                                  <p:stCondLst>
                                    <p:cond delay="0"/>
                                  </p:stCondLst>
                                  <p:childTnLst>
                                    <p:anim calcmode="discrete" valueType="str">
                                      <p:cBhvr>
                                        <p:cTn id="17" dur="1000" fill="hold"/>
                                        <p:tgtEl>
                                          <p:spTgt spid="182"/>
                                        </p:tgtEl>
                                        <p:attrNameLst>
                                          <p:attrName>style.visibility</p:attrName>
                                        </p:attrNameLst>
                                      </p:cBhvr>
                                      <p:tavLst>
                                        <p:tav tm="0">
                                          <p:val>
                                            <p:strVal val="hidden"/>
                                          </p:val>
                                        </p:tav>
                                        <p:tav tm="50000">
                                          <p:val>
                                            <p:strVal val="visible"/>
                                          </p:val>
                                        </p:tav>
                                      </p:tavLst>
                                    </p:anim>
                                  </p:childTnLst>
                                </p:cTn>
                              </p:par>
                              <p:par>
                                <p:cTn id="18" presetID="35" presetClass="emph" presetSubtype="0" repeatCount="3000" fill="hold" nodeType="withEffect">
                                  <p:stCondLst>
                                    <p:cond delay="0"/>
                                  </p:stCondLst>
                                  <p:childTnLst>
                                    <p:anim calcmode="discrete" valueType="str">
                                      <p:cBhvr>
                                        <p:cTn id="19" dur="1000" fill="hold"/>
                                        <p:tgtEl>
                                          <p:spTgt spid="183"/>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184"/>
                                        </p:tgtEl>
                                        <p:attrNameLst>
                                          <p:attrName>style.visibility</p:attrName>
                                        </p:attrNameLst>
                                      </p:cBhvr>
                                      <p:tavLst>
                                        <p:tav tm="0">
                                          <p:val>
                                            <p:strVal val="hidden"/>
                                          </p:val>
                                        </p:tav>
                                        <p:tav tm="50000">
                                          <p:val>
                                            <p:strVal val="visible"/>
                                          </p:val>
                                        </p:tav>
                                      </p:tavLst>
                                    </p:anim>
                                  </p:childTnLst>
                                </p:cTn>
                              </p:par>
                            </p:childTnLst>
                          </p:cTn>
                        </p:par>
                        <p:par>
                          <p:cTn id="22" fill="hold">
                            <p:stCondLst>
                              <p:cond delay="4000"/>
                            </p:stCondLst>
                            <p:childTnLst>
                              <p:par>
                                <p:cTn id="23" presetID="10" presetClass="entr" presetSubtype="0" fill="hold" grpId="0"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30673"/>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80697"/>
            <a:ext cx="7556684" cy="400110"/>
          </a:xfrm>
          <a:prstGeom prst="rect">
            <a:avLst/>
          </a:prstGeom>
        </p:spPr>
        <p:txBody>
          <a:bodyPr wrap="none">
            <a:spAutoFit/>
          </a:bodyPr>
          <a:lstStyle/>
          <a:p>
            <a:r>
              <a:rPr lang="en-US" altLang="zh-CN" sz="2000" b="1" dirty="0">
                <a:latin typeface="微软雅黑" pitchFamily="34" charset="-122"/>
                <a:ea typeface="微软雅黑" pitchFamily="34" charset="-122"/>
              </a:rPr>
              <a:t>OSPF </a:t>
            </a:r>
            <a:r>
              <a:rPr lang="zh-CN" altLang="en-US" sz="2000" b="1" dirty="0">
                <a:latin typeface="微软雅黑" pitchFamily="34" charset="-122"/>
                <a:ea typeface="微软雅黑" pitchFamily="34" charset="-122"/>
              </a:rPr>
              <a:t>中的路由器：区域边界路由器 </a:t>
            </a:r>
            <a:r>
              <a:rPr lang="en-US" altLang="zh-CN" sz="2000" b="1" dirty="0">
                <a:solidFill>
                  <a:srgbClr val="0000FF"/>
                </a:solidFill>
                <a:latin typeface="微软雅黑" pitchFamily="34" charset="-122"/>
                <a:ea typeface="微软雅黑" pitchFamily="34" charset="-122"/>
              </a:rPr>
              <a:t>ABR</a:t>
            </a:r>
            <a:r>
              <a:rPr lang="en-US" altLang="zh-CN" sz="2000" b="1" dirty="0">
                <a:latin typeface="微软雅黑" pitchFamily="34" charset="-122"/>
                <a:ea typeface="微软雅黑" pitchFamily="34" charset="-122"/>
              </a:rPr>
              <a:t> (area border router)</a:t>
            </a:r>
            <a:endParaRPr lang="zh-CN" altLang="en-US" sz="2000" b="1" dirty="0">
              <a:latin typeface="微软雅黑" pitchFamily="34" charset="-122"/>
              <a:ea typeface="微软雅黑" pitchFamily="34" charset="-122"/>
            </a:endParaRPr>
          </a:p>
        </p:txBody>
      </p:sp>
      <p:sp>
        <p:nvSpPr>
          <p:cNvPr id="5" name="AutoShape 3"/>
          <p:cNvSpPr>
            <a:spLocks noChangeArrowheads="1"/>
          </p:cNvSpPr>
          <p:nvPr/>
        </p:nvSpPr>
        <p:spPr bwMode="auto">
          <a:xfrm>
            <a:off x="1018636" y="1403100"/>
            <a:ext cx="7086532" cy="2764456"/>
          </a:xfrm>
          <a:prstGeom prst="roundRect">
            <a:avLst>
              <a:gd name="adj" fmla="val 16667"/>
            </a:avLst>
          </a:prstGeom>
          <a:solidFill>
            <a:schemeClr val="bg1"/>
          </a:solidFill>
          <a:ln w="12700">
            <a:solidFill>
              <a:srgbClr val="00B0F0"/>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 name="组合 6"/>
          <p:cNvGrpSpPr/>
          <p:nvPr/>
        </p:nvGrpSpPr>
        <p:grpSpPr>
          <a:xfrm>
            <a:off x="1101155" y="1773412"/>
            <a:ext cx="2532718" cy="2064420"/>
            <a:chOff x="1101155" y="1773412"/>
            <a:chExt cx="2532718" cy="2064420"/>
          </a:xfrm>
        </p:grpSpPr>
        <p:sp>
          <p:nvSpPr>
            <p:cNvPr id="8" name="Oval 7"/>
            <p:cNvSpPr>
              <a:spLocks noChangeArrowheads="1"/>
            </p:cNvSpPr>
            <p:nvPr/>
          </p:nvSpPr>
          <p:spPr bwMode="auto">
            <a:xfrm>
              <a:off x="1101155" y="1773412"/>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9" name="Text Box 9"/>
            <p:cNvSpPr txBox="1">
              <a:spLocks noChangeArrowheads="1"/>
            </p:cNvSpPr>
            <p:nvPr/>
          </p:nvSpPr>
          <p:spPr bwMode="auto">
            <a:xfrm>
              <a:off x="1812343" y="353005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0.0.0.1</a:t>
              </a:r>
            </a:p>
          </p:txBody>
        </p:sp>
      </p:grpSp>
      <p:grpSp>
        <p:nvGrpSpPr>
          <p:cNvPr id="10" name="组合 9"/>
          <p:cNvGrpSpPr/>
          <p:nvPr/>
        </p:nvGrpSpPr>
        <p:grpSpPr>
          <a:xfrm>
            <a:off x="6095497" y="1773412"/>
            <a:ext cx="1923343" cy="2117154"/>
            <a:chOff x="6095497" y="1773412"/>
            <a:chExt cx="1923343" cy="2117154"/>
          </a:xfrm>
        </p:grpSpPr>
        <p:sp>
          <p:nvSpPr>
            <p:cNvPr id="11" name="Oval 8"/>
            <p:cNvSpPr>
              <a:spLocks noChangeArrowheads="1"/>
            </p:cNvSpPr>
            <p:nvPr/>
          </p:nvSpPr>
          <p:spPr bwMode="auto">
            <a:xfrm>
              <a:off x="6095497" y="1773412"/>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2" name="Text Box 10"/>
            <p:cNvSpPr txBox="1">
              <a:spLocks noChangeArrowheads="1"/>
            </p:cNvSpPr>
            <p:nvPr/>
          </p:nvSpPr>
          <p:spPr bwMode="auto">
            <a:xfrm>
              <a:off x="6496859" y="3582789"/>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0.0.0.3</a:t>
              </a:r>
            </a:p>
          </p:txBody>
        </p:sp>
      </p:grpSp>
      <p:grpSp>
        <p:nvGrpSpPr>
          <p:cNvPr id="13" name="组合 12"/>
          <p:cNvGrpSpPr/>
          <p:nvPr/>
        </p:nvGrpSpPr>
        <p:grpSpPr>
          <a:xfrm>
            <a:off x="3720201" y="1518807"/>
            <a:ext cx="2314358" cy="1421794"/>
            <a:chOff x="3720201" y="1518807"/>
            <a:chExt cx="2314358" cy="1421794"/>
          </a:xfrm>
        </p:grpSpPr>
        <p:sp>
          <p:nvSpPr>
            <p:cNvPr id="14" name="Oval 6"/>
            <p:cNvSpPr>
              <a:spLocks noChangeArrowheads="1"/>
            </p:cNvSpPr>
            <p:nvPr/>
          </p:nvSpPr>
          <p:spPr bwMode="auto">
            <a:xfrm>
              <a:off x="3720201" y="1824975"/>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5" name="Text Box 11"/>
            <p:cNvSpPr txBox="1">
              <a:spLocks noChangeArrowheads="1"/>
            </p:cNvSpPr>
            <p:nvPr/>
          </p:nvSpPr>
          <p:spPr bwMode="auto">
            <a:xfrm>
              <a:off x="3722740" y="1518807"/>
              <a:ext cx="1552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主干区域 </a:t>
              </a:r>
              <a:r>
                <a:rPr kumimoji="1" lang="en-US" altLang="zh-CN" sz="1400" b="1" dirty="0">
                  <a:solidFill>
                    <a:srgbClr val="C00000"/>
                  </a:solidFill>
                  <a:latin typeface="微软雅黑" pitchFamily="34" charset="-122"/>
                  <a:ea typeface="微软雅黑" pitchFamily="34" charset="-122"/>
                </a:rPr>
                <a:t>0.0.0.0</a:t>
              </a:r>
            </a:p>
          </p:txBody>
        </p:sp>
      </p:grpSp>
      <p:sp>
        <p:nvSpPr>
          <p:cNvPr id="16" name="Line 12"/>
          <p:cNvSpPr>
            <a:spLocks noChangeShapeType="1"/>
          </p:cNvSpPr>
          <p:nvPr/>
        </p:nvSpPr>
        <p:spPr bwMode="auto">
          <a:xfrm flipV="1">
            <a:off x="4878015" y="1317554"/>
            <a:ext cx="851856" cy="71015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Text Box 13"/>
          <p:cNvSpPr txBox="1">
            <a:spLocks noChangeArrowheads="1"/>
          </p:cNvSpPr>
          <p:nvPr/>
        </p:nvSpPr>
        <p:spPr bwMode="auto">
          <a:xfrm>
            <a:off x="5115298" y="105507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18" name="Line 14"/>
          <p:cNvSpPr>
            <a:spLocks noChangeShapeType="1"/>
          </p:cNvSpPr>
          <p:nvPr/>
        </p:nvSpPr>
        <p:spPr bwMode="auto">
          <a:xfrm>
            <a:off x="6095496" y="2433179"/>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5"/>
          <p:cNvSpPr>
            <a:spLocks noChangeShapeType="1"/>
          </p:cNvSpPr>
          <p:nvPr/>
        </p:nvSpPr>
        <p:spPr bwMode="auto">
          <a:xfrm flipV="1">
            <a:off x="6887685" y="2585524"/>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6"/>
          <p:cNvSpPr>
            <a:spLocks noChangeShapeType="1"/>
          </p:cNvSpPr>
          <p:nvPr/>
        </p:nvSpPr>
        <p:spPr bwMode="auto">
          <a:xfrm>
            <a:off x="7192373" y="2078100"/>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7"/>
          <p:cNvSpPr>
            <a:spLocks noChangeShapeType="1"/>
          </p:cNvSpPr>
          <p:nvPr/>
        </p:nvSpPr>
        <p:spPr bwMode="auto">
          <a:xfrm flipH="1">
            <a:off x="7130166" y="2634743"/>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Line 18"/>
          <p:cNvSpPr>
            <a:spLocks noChangeShapeType="1"/>
          </p:cNvSpPr>
          <p:nvPr/>
        </p:nvSpPr>
        <p:spPr bwMode="auto">
          <a:xfrm flipV="1">
            <a:off x="5181433" y="2433179"/>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3" name="Line 19"/>
          <p:cNvSpPr>
            <a:spLocks noChangeShapeType="1"/>
          </p:cNvSpPr>
          <p:nvPr/>
        </p:nvSpPr>
        <p:spPr bwMode="auto">
          <a:xfrm>
            <a:off x="4938953" y="2027710"/>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20"/>
          <p:cNvSpPr>
            <a:spLocks noChangeShapeType="1"/>
          </p:cNvSpPr>
          <p:nvPr/>
        </p:nvSpPr>
        <p:spPr bwMode="auto">
          <a:xfrm flipH="1">
            <a:off x="4878015" y="2585523"/>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5" name="Line 21"/>
          <p:cNvSpPr>
            <a:spLocks noChangeShapeType="1"/>
          </p:cNvSpPr>
          <p:nvPr/>
        </p:nvSpPr>
        <p:spPr bwMode="auto">
          <a:xfrm>
            <a:off x="3598326" y="2332398"/>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6" name="Line 22"/>
          <p:cNvSpPr>
            <a:spLocks noChangeShapeType="1"/>
          </p:cNvSpPr>
          <p:nvPr/>
        </p:nvSpPr>
        <p:spPr bwMode="auto">
          <a:xfrm flipV="1">
            <a:off x="3659264" y="2078100"/>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Line 23"/>
          <p:cNvSpPr>
            <a:spLocks noChangeShapeType="1"/>
          </p:cNvSpPr>
          <p:nvPr/>
        </p:nvSpPr>
        <p:spPr bwMode="auto">
          <a:xfrm flipH="1">
            <a:off x="1710530" y="2078100"/>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Line 24"/>
          <p:cNvSpPr>
            <a:spLocks noChangeShapeType="1"/>
          </p:cNvSpPr>
          <p:nvPr/>
        </p:nvSpPr>
        <p:spPr bwMode="auto">
          <a:xfrm>
            <a:off x="2623325" y="2127319"/>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25"/>
          <p:cNvSpPr>
            <a:spLocks noChangeShapeType="1"/>
          </p:cNvSpPr>
          <p:nvPr/>
        </p:nvSpPr>
        <p:spPr bwMode="auto">
          <a:xfrm flipV="1">
            <a:off x="3049888" y="2381617"/>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26"/>
          <p:cNvSpPr>
            <a:spLocks noChangeShapeType="1"/>
          </p:cNvSpPr>
          <p:nvPr/>
        </p:nvSpPr>
        <p:spPr bwMode="auto">
          <a:xfrm flipH="1">
            <a:off x="2135824" y="2737867"/>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7"/>
          <p:cNvSpPr>
            <a:spLocks noChangeShapeType="1"/>
          </p:cNvSpPr>
          <p:nvPr/>
        </p:nvSpPr>
        <p:spPr bwMode="auto">
          <a:xfrm>
            <a:off x="2135824" y="2889039"/>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32" name="Group 28"/>
          <p:cNvGrpSpPr>
            <a:grpSpLocks/>
          </p:cNvGrpSpPr>
          <p:nvPr/>
        </p:nvGrpSpPr>
        <p:grpSpPr bwMode="auto">
          <a:xfrm>
            <a:off x="2745200" y="2535133"/>
            <a:ext cx="548438" cy="353907"/>
            <a:chOff x="2949" y="196"/>
            <a:chExt cx="941" cy="598"/>
          </a:xfrm>
          <a:solidFill>
            <a:srgbClr val="00FFFF"/>
          </a:solidFill>
        </p:grpSpPr>
        <p:sp>
          <p:nvSpPr>
            <p:cNvPr id="33"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5"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7"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8"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9"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0"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1"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4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32405" y="2737868"/>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0844" y="1976147"/>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15513" y="2230444"/>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3932" y="1925757"/>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78015" y="2433179"/>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14248" y="2483570"/>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51747" y="2332398"/>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1" name="Group 47"/>
          <p:cNvGrpSpPr>
            <a:grpSpLocks/>
          </p:cNvGrpSpPr>
          <p:nvPr/>
        </p:nvGrpSpPr>
        <p:grpSpPr bwMode="auto">
          <a:xfrm>
            <a:off x="2196762" y="3042556"/>
            <a:ext cx="548438" cy="353907"/>
            <a:chOff x="2949" y="196"/>
            <a:chExt cx="941" cy="598"/>
          </a:xfrm>
          <a:solidFill>
            <a:srgbClr val="00FFFF"/>
          </a:solidFill>
        </p:grpSpPr>
        <p:sp>
          <p:nvSpPr>
            <p:cNvPr id="52"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0"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3" name="Group 59"/>
          <p:cNvGrpSpPr>
            <a:grpSpLocks/>
          </p:cNvGrpSpPr>
          <p:nvPr/>
        </p:nvGrpSpPr>
        <p:grpSpPr bwMode="auto">
          <a:xfrm>
            <a:off x="1466780" y="2178882"/>
            <a:ext cx="548438" cy="356250"/>
            <a:chOff x="2949" y="196"/>
            <a:chExt cx="941" cy="598"/>
          </a:xfrm>
          <a:solidFill>
            <a:srgbClr val="00FFFF"/>
          </a:solidFill>
        </p:grpSpPr>
        <p:sp>
          <p:nvSpPr>
            <p:cNvPr id="64"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3"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71"/>
          <p:cNvGrpSpPr>
            <a:grpSpLocks/>
          </p:cNvGrpSpPr>
          <p:nvPr/>
        </p:nvGrpSpPr>
        <p:grpSpPr bwMode="auto">
          <a:xfrm>
            <a:off x="6887685" y="1875366"/>
            <a:ext cx="547169" cy="355078"/>
            <a:chOff x="2949" y="196"/>
            <a:chExt cx="941" cy="598"/>
          </a:xfrm>
          <a:solidFill>
            <a:srgbClr val="00FFFF"/>
          </a:solidFill>
        </p:grpSpPr>
        <p:sp>
          <p:nvSpPr>
            <p:cNvPr id="76"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7" name="Group 83"/>
          <p:cNvGrpSpPr>
            <a:grpSpLocks/>
          </p:cNvGrpSpPr>
          <p:nvPr/>
        </p:nvGrpSpPr>
        <p:grpSpPr bwMode="auto">
          <a:xfrm>
            <a:off x="6826747" y="3042556"/>
            <a:ext cx="548438" cy="353907"/>
            <a:chOff x="2949" y="196"/>
            <a:chExt cx="941" cy="598"/>
          </a:xfrm>
          <a:solidFill>
            <a:srgbClr val="00FFFF"/>
          </a:solidFill>
        </p:grpSpPr>
        <p:sp>
          <p:nvSpPr>
            <p:cNvPr id="88"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9"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9" name="Group 95"/>
          <p:cNvGrpSpPr>
            <a:grpSpLocks/>
          </p:cNvGrpSpPr>
          <p:nvPr/>
        </p:nvGrpSpPr>
        <p:grpSpPr bwMode="auto">
          <a:xfrm>
            <a:off x="6520790" y="2483569"/>
            <a:ext cx="548438" cy="356250"/>
            <a:chOff x="2949" y="196"/>
            <a:chExt cx="941" cy="598"/>
          </a:xfrm>
          <a:solidFill>
            <a:srgbClr val="00FFFF"/>
          </a:solidFill>
        </p:grpSpPr>
        <p:sp>
          <p:nvSpPr>
            <p:cNvPr id="100"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1"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9"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11" name="Text Box 107"/>
          <p:cNvSpPr txBox="1">
            <a:spLocks noChangeArrowheads="1"/>
          </p:cNvSpPr>
          <p:nvPr/>
        </p:nvSpPr>
        <p:spPr bwMode="auto">
          <a:xfrm>
            <a:off x="7527530" y="22128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grpSp>
        <p:nvGrpSpPr>
          <p:cNvPr id="160" name="组合 159"/>
          <p:cNvGrpSpPr/>
          <p:nvPr/>
        </p:nvGrpSpPr>
        <p:grpSpPr>
          <a:xfrm>
            <a:off x="3421861" y="1933961"/>
            <a:ext cx="2567034" cy="953480"/>
            <a:chOff x="3421861" y="1933961"/>
            <a:chExt cx="2567034" cy="953480"/>
          </a:xfrm>
        </p:grpSpPr>
        <p:sp>
          <p:nvSpPr>
            <p:cNvPr id="112" name="Text Box 108"/>
            <p:cNvSpPr txBox="1">
              <a:spLocks noChangeArrowheads="1"/>
            </p:cNvSpPr>
            <p:nvPr/>
          </p:nvSpPr>
          <p:spPr bwMode="auto">
            <a:xfrm>
              <a:off x="5605457" y="207810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CC00CC"/>
                  </a:solidFill>
                  <a:latin typeface="微软雅黑" pitchFamily="34" charset="-122"/>
                  <a:ea typeface="微软雅黑" pitchFamily="34" charset="-122"/>
                </a:rPr>
                <a:t>R</a:t>
              </a:r>
              <a:r>
                <a:rPr kumimoji="1" lang="en-US" altLang="zh-CN" sz="1400" b="1" baseline="-25000">
                  <a:solidFill>
                    <a:srgbClr val="CC00CC"/>
                  </a:solidFill>
                  <a:latin typeface="微软雅黑" pitchFamily="34" charset="-122"/>
                  <a:ea typeface="微软雅黑" pitchFamily="34" charset="-122"/>
                </a:rPr>
                <a:t>7</a:t>
              </a:r>
            </a:p>
          </p:txBody>
        </p:sp>
        <p:sp>
          <p:nvSpPr>
            <p:cNvPr id="115" name="Text Box 111"/>
            <p:cNvSpPr txBox="1">
              <a:spLocks noChangeArrowheads="1"/>
            </p:cNvSpPr>
            <p:nvPr/>
          </p:nvSpPr>
          <p:spPr bwMode="auto">
            <a:xfrm>
              <a:off x="4432409" y="257966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CC00CC"/>
                  </a:solidFill>
                  <a:latin typeface="微软雅黑" pitchFamily="34" charset="-122"/>
                  <a:ea typeface="微软雅黑" pitchFamily="34" charset="-122"/>
                </a:rPr>
                <a:t>R</a:t>
              </a:r>
              <a:r>
                <a:rPr kumimoji="1" lang="en-US" altLang="zh-CN" sz="1400" b="1" baseline="-25000">
                  <a:solidFill>
                    <a:srgbClr val="CC00CC"/>
                  </a:solidFill>
                  <a:latin typeface="微软雅黑" pitchFamily="34" charset="-122"/>
                  <a:ea typeface="微软雅黑" pitchFamily="34" charset="-122"/>
                </a:rPr>
                <a:t>4</a:t>
              </a:r>
            </a:p>
          </p:txBody>
        </p:sp>
        <p:sp>
          <p:nvSpPr>
            <p:cNvPr id="116" name="Text Box 112"/>
            <p:cNvSpPr txBox="1">
              <a:spLocks noChangeArrowheads="1"/>
            </p:cNvSpPr>
            <p:nvPr/>
          </p:nvSpPr>
          <p:spPr bwMode="auto">
            <a:xfrm>
              <a:off x="3421861" y="193396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C00CC"/>
                  </a:solidFill>
                  <a:latin typeface="微软雅黑" pitchFamily="34" charset="-122"/>
                  <a:ea typeface="微软雅黑" pitchFamily="34" charset="-122"/>
                </a:rPr>
                <a:t>R</a:t>
              </a:r>
              <a:r>
                <a:rPr kumimoji="1" lang="en-US" altLang="zh-CN" sz="1400" b="1" baseline="-25000" dirty="0">
                  <a:solidFill>
                    <a:srgbClr val="CC00CC"/>
                  </a:solidFill>
                  <a:latin typeface="微软雅黑" pitchFamily="34" charset="-122"/>
                  <a:ea typeface="微软雅黑" pitchFamily="34" charset="-122"/>
                </a:rPr>
                <a:t>3</a:t>
              </a:r>
            </a:p>
          </p:txBody>
        </p:sp>
      </p:grpSp>
      <p:sp>
        <p:nvSpPr>
          <p:cNvPr id="117" name="Text Box 113"/>
          <p:cNvSpPr txBox="1">
            <a:spLocks noChangeArrowheads="1"/>
          </p:cNvSpPr>
          <p:nvPr/>
        </p:nvSpPr>
        <p:spPr bwMode="auto">
          <a:xfrm>
            <a:off x="1525179" y="264880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18" name="Text Box 114"/>
          <p:cNvSpPr txBox="1">
            <a:spLocks noChangeArrowheads="1"/>
          </p:cNvSpPr>
          <p:nvPr/>
        </p:nvSpPr>
        <p:spPr bwMode="auto">
          <a:xfrm>
            <a:off x="2107895" y="176403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grpSp>
        <p:nvGrpSpPr>
          <p:cNvPr id="119" name="组合 118"/>
          <p:cNvGrpSpPr/>
          <p:nvPr/>
        </p:nvGrpSpPr>
        <p:grpSpPr>
          <a:xfrm>
            <a:off x="3598326" y="3003883"/>
            <a:ext cx="2497171" cy="1046059"/>
            <a:chOff x="3598326" y="3003883"/>
            <a:chExt cx="2497171" cy="1046059"/>
          </a:xfrm>
        </p:grpSpPr>
        <p:sp>
          <p:nvSpPr>
            <p:cNvPr id="120" name="Oval 121"/>
            <p:cNvSpPr>
              <a:spLocks noChangeArrowheads="1"/>
            </p:cNvSpPr>
            <p:nvPr/>
          </p:nvSpPr>
          <p:spPr bwMode="auto">
            <a:xfrm>
              <a:off x="3598326" y="3003883"/>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21" name="Text Box 122"/>
            <p:cNvSpPr txBox="1">
              <a:spLocks noChangeArrowheads="1"/>
            </p:cNvSpPr>
            <p:nvPr/>
          </p:nvSpPr>
          <p:spPr bwMode="auto">
            <a:xfrm>
              <a:off x="4305485" y="374216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0.0.0.2</a:t>
              </a:r>
            </a:p>
          </p:txBody>
        </p:sp>
      </p:grpSp>
      <p:sp>
        <p:nvSpPr>
          <p:cNvPr id="122" name="Line 123"/>
          <p:cNvSpPr>
            <a:spLocks noChangeShapeType="1"/>
          </p:cNvSpPr>
          <p:nvPr/>
        </p:nvSpPr>
        <p:spPr bwMode="auto">
          <a:xfrm>
            <a:off x="4817078" y="2940601"/>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24"/>
          <p:cNvSpPr>
            <a:spLocks noChangeShapeType="1"/>
          </p:cNvSpPr>
          <p:nvPr/>
        </p:nvSpPr>
        <p:spPr bwMode="auto">
          <a:xfrm flipV="1">
            <a:off x="4938953" y="3388258"/>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24" name="Group 125"/>
          <p:cNvGrpSpPr>
            <a:grpSpLocks/>
          </p:cNvGrpSpPr>
          <p:nvPr/>
        </p:nvGrpSpPr>
        <p:grpSpPr bwMode="auto">
          <a:xfrm>
            <a:off x="5365516" y="3131617"/>
            <a:ext cx="547168" cy="448828"/>
            <a:chOff x="2949" y="196"/>
            <a:chExt cx="941" cy="598"/>
          </a:xfrm>
          <a:solidFill>
            <a:srgbClr val="00FFFF"/>
          </a:solidFill>
        </p:grpSpPr>
        <p:sp>
          <p:nvSpPr>
            <p:cNvPr id="125"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6"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7"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8"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9"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0"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1"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2"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3"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4"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5"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36" name="Line 138"/>
          <p:cNvSpPr>
            <a:spLocks noChangeShapeType="1"/>
          </p:cNvSpPr>
          <p:nvPr/>
        </p:nvSpPr>
        <p:spPr bwMode="auto">
          <a:xfrm>
            <a:off x="4084557" y="3450368"/>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37" name="Group 139"/>
          <p:cNvGrpSpPr>
            <a:grpSpLocks/>
          </p:cNvGrpSpPr>
          <p:nvPr/>
        </p:nvGrpSpPr>
        <p:grpSpPr bwMode="auto">
          <a:xfrm>
            <a:off x="3842076" y="3194899"/>
            <a:ext cx="548438" cy="448828"/>
            <a:chOff x="2949" y="196"/>
            <a:chExt cx="941" cy="598"/>
          </a:xfrm>
          <a:solidFill>
            <a:srgbClr val="00FFFF"/>
          </a:solidFill>
        </p:grpSpPr>
        <p:sp>
          <p:nvSpPr>
            <p:cNvPr id="138"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9"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0"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1"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2"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3"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7"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8"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49" name="Picture 1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3932" y="3415211"/>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0" name="Text Box 153"/>
          <p:cNvSpPr txBox="1">
            <a:spLocks noChangeArrowheads="1"/>
          </p:cNvSpPr>
          <p:nvPr/>
        </p:nvSpPr>
        <p:spPr bwMode="auto">
          <a:xfrm>
            <a:off x="4459070" y="318435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51" name="Picture 1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3151" y="284216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2" name="Text Box 115"/>
          <p:cNvSpPr txBox="1">
            <a:spLocks noChangeArrowheads="1"/>
          </p:cNvSpPr>
          <p:nvPr/>
        </p:nvSpPr>
        <p:spPr bwMode="auto">
          <a:xfrm>
            <a:off x="6861812" y="306834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53" name="Text Box 116"/>
          <p:cNvSpPr txBox="1">
            <a:spLocks noChangeArrowheads="1"/>
          </p:cNvSpPr>
          <p:nvPr/>
        </p:nvSpPr>
        <p:spPr bwMode="auto">
          <a:xfrm>
            <a:off x="6915228" y="190466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54" name="Text Box 117"/>
          <p:cNvSpPr txBox="1">
            <a:spLocks noChangeArrowheads="1"/>
          </p:cNvSpPr>
          <p:nvPr/>
        </p:nvSpPr>
        <p:spPr bwMode="auto">
          <a:xfrm>
            <a:off x="2237984" y="307771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55" name="Text Box 118"/>
          <p:cNvSpPr txBox="1">
            <a:spLocks noChangeArrowheads="1"/>
          </p:cNvSpPr>
          <p:nvPr/>
        </p:nvSpPr>
        <p:spPr bwMode="auto">
          <a:xfrm>
            <a:off x="2789151" y="25550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56" name="Text Box 119"/>
          <p:cNvSpPr txBox="1">
            <a:spLocks noChangeArrowheads="1"/>
          </p:cNvSpPr>
          <p:nvPr/>
        </p:nvSpPr>
        <p:spPr bwMode="auto">
          <a:xfrm>
            <a:off x="1505747" y="2201148"/>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57" name="Text Box 120"/>
          <p:cNvSpPr txBox="1">
            <a:spLocks noChangeArrowheads="1"/>
          </p:cNvSpPr>
          <p:nvPr/>
        </p:nvSpPr>
        <p:spPr bwMode="auto">
          <a:xfrm>
            <a:off x="6550398" y="2522248"/>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58" name="Text Box 137"/>
          <p:cNvSpPr txBox="1">
            <a:spLocks noChangeArrowheads="1"/>
          </p:cNvSpPr>
          <p:nvPr/>
        </p:nvSpPr>
        <p:spPr bwMode="auto">
          <a:xfrm>
            <a:off x="5407913" y="3218354"/>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59" name="Text Box 151"/>
          <p:cNvSpPr txBox="1">
            <a:spLocks noChangeArrowheads="1"/>
          </p:cNvSpPr>
          <p:nvPr/>
        </p:nvSpPr>
        <p:spPr bwMode="auto">
          <a:xfrm>
            <a:off x="3872858" y="327810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
        <p:nvSpPr>
          <p:cNvPr id="161" name="Text Box 109"/>
          <p:cNvSpPr txBox="1">
            <a:spLocks noChangeArrowheads="1"/>
          </p:cNvSpPr>
          <p:nvPr/>
        </p:nvSpPr>
        <p:spPr bwMode="auto">
          <a:xfrm>
            <a:off x="5100183" y="183435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62" name="Text Box 110"/>
          <p:cNvSpPr txBox="1">
            <a:spLocks noChangeArrowheads="1"/>
          </p:cNvSpPr>
          <p:nvPr/>
        </p:nvSpPr>
        <p:spPr bwMode="auto">
          <a:xfrm>
            <a:off x="4643151" y="216833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5</a:t>
            </a:r>
          </a:p>
        </p:txBody>
      </p:sp>
      <p:sp>
        <p:nvSpPr>
          <p:cNvPr id="163" name="Text Box 4"/>
          <p:cNvSpPr txBox="1">
            <a:spLocks noChangeArrowheads="1"/>
          </p:cNvSpPr>
          <p:nvPr/>
        </p:nvSpPr>
        <p:spPr bwMode="auto">
          <a:xfrm>
            <a:off x="1213446" y="1432832"/>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Tree>
    <p:extLst>
      <p:ext uri="{BB962C8B-B14F-4D97-AF65-F5344CB8AC3E}">
        <p14:creationId xmlns:p14="http://schemas.microsoft.com/office/powerpoint/2010/main" val="16541546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5000" fill="hold" nodeType="afterEffect">
                                  <p:stCondLst>
                                    <p:cond delay="0"/>
                                  </p:stCondLst>
                                  <p:childTnLst>
                                    <p:anim calcmode="discrete" valueType="str">
                                      <p:cBhvr>
                                        <p:cTn id="6" dur="1000" fill="hold"/>
                                        <p:tgtEl>
                                          <p:spTgt spid="1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30673"/>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80697"/>
            <a:ext cx="6719468" cy="400110"/>
          </a:xfrm>
          <a:prstGeom prst="rect">
            <a:avLst/>
          </a:prstGeom>
        </p:spPr>
        <p:txBody>
          <a:bodyPr wrap="none">
            <a:spAutoFit/>
          </a:bodyPr>
          <a:lstStyle/>
          <a:p>
            <a:r>
              <a:rPr lang="en-US" altLang="zh-CN" sz="2000" b="1" dirty="0">
                <a:latin typeface="微软雅黑" pitchFamily="34" charset="-122"/>
                <a:ea typeface="微软雅黑" pitchFamily="34" charset="-122"/>
              </a:rPr>
              <a:t>OSPF </a:t>
            </a:r>
            <a:r>
              <a:rPr lang="zh-CN" altLang="en-US" sz="2000" b="1" dirty="0">
                <a:latin typeface="微软雅黑" pitchFamily="34" charset="-122"/>
                <a:ea typeface="微软雅黑" pitchFamily="34" charset="-122"/>
              </a:rPr>
              <a:t>中的路由器：主干路由器 </a:t>
            </a:r>
            <a:r>
              <a:rPr lang="en-US" altLang="zh-CN" sz="2000" b="1" dirty="0">
                <a:solidFill>
                  <a:srgbClr val="0000FF"/>
                </a:solidFill>
                <a:latin typeface="微软雅黑" pitchFamily="34" charset="-122"/>
                <a:ea typeface="微软雅黑" pitchFamily="34" charset="-122"/>
              </a:rPr>
              <a:t>BR</a:t>
            </a:r>
            <a:r>
              <a:rPr lang="en-US" altLang="zh-CN" sz="2000" b="1" dirty="0">
                <a:latin typeface="微软雅黑" pitchFamily="34" charset="-122"/>
                <a:ea typeface="微软雅黑" pitchFamily="34" charset="-122"/>
              </a:rPr>
              <a:t> (backbone router)</a:t>
            </a:r>
            <a:endParaRPr lang="zh-CN" altLang="en-US" sz="2000" b="1" dirty="0">
              <a:latin typeface="微软雅黑" pitchFamily="34" charset="-122"/>
              <a:ea typeface="微软雅黑" pitchFamily="34" charset="-122"/>
            </a:endParaRPr>
          </a:p>
        </p:txBody>
      </p:sp>
      <p:sp>
        <p:nvSpPr>
          <p:cNvPr id="5" name="AutoShape 3"/>
          <p:cNvSpPr>
            <a:spLocks noChangeArrowheads="1"/>
          </p:cNvSpPr>
          <p:nvPr/>
        </p:nvSpPr>
        <p:spPr bwMode="auto">
          <a:xfrm>
            <a:off x="1018636" y="1403100"/>
            <a:ext cx="7086532" cy="2764456"/>
          </a:xfrm>
          <a:prstGeom prst="roundRect">
            <a:avLst>
              <a:gd name="adj" fmla="val 16667"/>
            </a:avLst>
          </a:prstGeom>
          <a:solidFill>
            <a:schemeClr val="bg1"/>
          </a:solidFill>
          <a:ln w="12700">
            <a:solidFill>
              <a:srgbClr val="00B0F0"/>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 name="组合 6"/>
          <p:cNvGrpSpPr/>
          <p:nvPr/>
        </p:nvGrpSpPr>
        <p:grpSpPr>
          <a:xfrm>
            <a:off x="1101155" y="1773412"/>
            <a:ext cx="2532718" cy="2064420"/>
            <a:chOff x="1101155" y="1773412"/>
            <a:chExt cx="2532718" cy="2064420"/>
          </a:xfrm>
        </p:grpSpPr>
        <p:sp>
          <p:nvSpPr>
            <p:cNvPr id="8" name="Oval 7"/>
            <p:cNvSpPr>
              <a:spLocks noChangeArrowheads="1"/>
            </p:cNvSpPr>
            <p:nvPr/>
          </p:nvSpPr>
          <p:spPr bwMode="auto">
            <a:xfrm>
              <a:off x="1101155" y="1773412"/>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9" name="Text Box 9"/>
            <p:cNvSpPr txBox="1">
              <a:spLocks noChangeArrowheads="1"/>
            </p:cNvSpPr>
            <p:nvPr/>
          </p:nvSpPr>
          <p:spPr bwMode="auto">
            <a:xfrm>
              <a:off x="1812343" y="353005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0.0.0.1</a:t>
              </a:r>
            </a:p>
          </p:txBody>
        </p:sp>
      </p:grpSp>
      <p:grpSp>
        <p:nvGrpSpPr>
          <p:cNvPr id="10" name="组合 9"/>
          <p:cNvGrpSpPr/>
          <p:nvPr/>
        </p:nvGrpSpPr>
        <p:grpSpPr>
          <a:xfrm>
            <a:off x="6095497" y="1773412"/>
            <a:ext cx="1923343" cy="2117154"/>
            <a:chOff x="6095497" y="1773412"/>
            <a:chExt cx="1923343" cy="2117154"/>
          </a:xfrm>
        </p:grpSpPr>
        <p:sp>
          <p:nvSpPr>
            <p:cNvPr id="11" name="Oval 8"/>
            <p:cNvSpPr>
              <a:spLocks noChangeArrowheads="1"/>
            </p:cNvSpPr>
            <p:nvPr/>
          </p:nvSpPr>
          <p:spPr bwMode="auto">
            <a:xfrm>
              <a:off x="6095497" y="1773412"/>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2" name="Text Box 10"/>
            <p:cNvSpPr txBox="1">
              <a:spLocks noChangeArrowheads="1"/>
            </p:cNvSpPr>
            <p:nvPr/>
          </p:nvSpPr>
          <p:spPr bwMode="auto">
            <a:xfrm>
              <a:off x="6496859" y="3582789"/>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0.0.0.3</a:t>
              </a:r>
            </a:p>
          </p:txBody>
        </p:sp>
      </p:grpSp>
      <p:grpSp>
        <p:nvGrpSpPr>
          <p:cNvPr id="13" name="组合 12"/>
          <p:cNvGrpSpPr/>
          <p:nvPr/>
        </p:nvGrpSpPr>
        <p:grpSpPr>
          <a:xfrm>
            <a:off x="3720201" y="1518807"/>
            <a:ext cx="2314358" cy="1421794"/>
            <a:chOff x="3720201" y="1518807"/>
            <a:chExt cx="2314358" cy="1421794"/>
          </a:xfrm>
        </p:grpSpPr>
        <p:sp>
          <p:nvSpPr>
            <p:cNvPr id="14" name="Oval 6"/>
            <p:cNvSpPr>
              <a:spLocks noChangeArrowheads="1"/>
            </p:cNvSpPr>
            <p:nvPr/>
          </p:nvSpPr>
          <p:spPr bwMode="auto">
            <a:xfrm>
              <a:off x="3720201" y="1824975"/>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5" name="Text Box 11"/>
            <p:cNvSpPr txBox="1">
              <a:spLocks noChangeArrowheads="1"/>
            </p:cNvSpPr>
            <p:nvPr/>
          </p:nvSpPr>
          <p:spPr bwMode="auto">
            <a:xfrm>
              <a:off x="3722740" y="1518807"/>
              <a:ext cx="1552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主干区域 </a:t>
              </a:r>
              <a:r>
                <a:rPr kumimoji="1" lang="en-US" altLang="zh-CN" sz="1400" b="1" dirty="0">
                  <a:solidFill>
                    <a:srgbClr val="C00000"/>
                  </a:solidFill>
                  <a:latin typeface="微软雅黑" pitchFamily="34" charset="-122"/>
                  <a:ea typeface="微软雅黑" pitchFamily="34" charset="-122"/>
                </a:rPr>
                <a:t>0.0.0.0</a:t>
              </a:r>
            </a:p>
          </p:txBody>
        </p:sp>
      </p:grpSp>
      <p:sp>
        <p:nvSpPr>
          <p:cNvPr id="16" name="Line 12"/>
          <p:cNvSpPr>
            <a:spLocks noChangeShapeType="1"/>
          </p:cNvSpPr>
          <p:nvPr/>
        </p:nvSpPr>
        <p:spPr bwMode="auto">
          <a:xfrm flipV="1">
            <a:off x="4878015" y="1317554"/>
            <a:ext cx="851856" cy="71015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Text Box 13"/>
          <p:cNvSpPr txBox="1">
            <a:spLocks noChangeArrowheads="1"/>
          </p:cNvSpPr>
          <p:nvPr/>
        </p:nvSpPr>
        <p:spPr bwMode="auto">
          <a:xfrm>
            <a:off x="5115298" y="105507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18" name="Line 14"/>
          <p:cNvSpPr>
            <a:spLocks noChangeShapeType="1"/>
          </p:cNvSpPr>
          <p:nvPr/>
        </p:nvSpPr>
        <p:spPr bwMode="auto">
          <a:xfrm>
            <a:off x="6095496" y="2433179"/>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5"/>
          <p:cNvSpPr>
            <a:spLocks noChangeShapeType="1"/>
          </p:cNvSpPr>
          <p:nvPr/>
        </p:nvSpPr>
        <p:spPr bwMode="auto">
          <a:xfrm flipV="1">
            <a:off x="6887685" y="2585524"/>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6"/>
          <p:cNvSpPr>
            <a:spLocks noChangeShapeType="1"/>
          </p:cNvSpPr>
          <p:nvPr/>
        </p:nvSpPr>
        <p:spPr bwMode="auto">
          <a:xfrm>
            <a:off x="7192373" y="2078100"/>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7"/>
          <p:cNvSpPr>
            <a:spLocks noChangeShapeType="1"/>
          </p:cNvSpPr>
          <p:nvPr/>
        </p:nvSpPr>
        <p:spPr bwMode="auto">
          <a:xfrm flipH="1">
            <a:off x="7130166" y="2634743"/>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Line 18"/>
          <p:cNvSpPr>
            <a:spLocks noChangeShapeType="1"/>
          </p:cNvSpPr>
          <p:nvPr/>
        </p:nvSpPr>
        <p:spPr bwMode="auto">
          <a:xfrm flipV="1">
            <a:off x="5181433" y="2433179"/>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3" name="Line 19"/>
          <p:cNvSpPr>
            <a:spLocks noChangeShapeType="1"/>
          </p:cNvSpPr>
          <p:nvPr/>
        </p:nvSpPr>
        <p:spPr bwMode="auto">
          <a:xfrm>
            <a:off x="4938953" y="2027710"/>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20"/>
          <p:cNvSpPr>
            <a:spLocks noChangeShapeType="1"/>
          </p:cNvSpPr>
          <p:nvPr/>
        </p:nvSpPr>
        <p:spPr bwMode="auto">
          <a:xfrm flipH="1">
            <a:off x="4878015" y="2585523"/>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5" name="Line 21"/>
          <p:cNvSpPr>
            <a:spLocks noChangeShapeType="1"/>
          </p:cNvSpPr>
          <p:nvPr/>
        </p:nvSpPr>
        <p:spPr bwMode="auto">
          <a:xfrm>
            <a:off x="3598326" y="2332398"/>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6" name="Line 22"/>
          <p:cNvSpPr>
            <a:spLocks noChangeShapeType="1"/>
          </p:cNvSpPr>
          <p:nvPr/>
        </p:nvSpPr>
        <p:spPr bwMode="auto">
          <a:xfrm flipV="1">
            <a:off x="3659264" y="2078100"/>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Line 23"/>
          <p:cNvSpPr>
            <a:spLocks noChangeShapeType="1"/>
          </p:cNvSpPr>
          <p:nvPr/>
        </p:nvSpPr>
        <p:spPr bwMode="auto">
          <a:xfrm flipH="1">
            <a:off x="1710530" y="2078100"/>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Line 24"/>
          <p:cNvSpPr>
            <a:spLocks noChangeShapeType="1"/>
          </p:cNvSpPr>
          <p:nvPr/>
        </p:nvSpPr>
        <p:spPr bwMode="auto">
          <a:xfrm>
            <a:off x="2623325" y="2127319"/>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25"/>
          <p:cNvSpPr>
            <a:spLocks noChangeShapeType="1"/>
          </p:cNvSpPr>
          <p:nvPr/>
        </p:nvSpPr>
        <p:spPr bwMode="auto">
          <a:xfrm flipV="1">
            <a:off x="3049888" y="2381617"/>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26"/>
          <p:cNvSpPr>
            <a:spLocks noChangeShapeType="1"/>
          </p:cNvSpPr>
          <p:nvPr/>
        </p:nvSpPr>
        <p:spPr bwMode="auto">
          <a:xfrm flipH="1">
            <a:off x="2135824" y="2737867"/>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7"/>
          <p:cNvSpPr>
            <a:spLocks noChangeShapeType="1"/>
          </p:cNvSpPr>
          <p:nvPr/>
        </p:nvSpPr>
        <p:spPr bwMode="auto">
          <a:xfrm>
            <a:off x="2135824" y="2889039"/>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32" name="Group 28"/>
          <p:cNvGrpSpPr>
            <a:grpSpLocks/>
          </p:cNvGrpSpPr>
          <p:nvPr/>
        </p:nvGrpSpPr>
        <p:grpSpPr bwMode="auto">
          <a:xfrm>
            <a:off x="2745200" y="2535133"/>
            <a:ext cx="548438" cy="353907"/>
            <a:chOff x="2949" y="196"/>
            <a:chExt cx="941" cy="598"/>
          </a:xfrm>
          <a:solidFill>
            <a:srgbClr val="00FFFF"/>
          </a:solidFill>
        </p:grpSpPr>
        <p:sp>
          <p:nvSpPr>
            <p:cNvPr id="33"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5"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7"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8"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9"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0"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1"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4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32405" y="2737868"/>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0844" y="1976147"/>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15513" y="2230444"/>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3932" y="1925757"/>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78015" y="2433179"/>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14248" y="2483570"/>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51747" y="2332398"/>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1" name="Group 47"/>
          <p:cNvGrpSpPr>
            <a:grpSpLocks/>
          </p:cNvGrpSpPr>
          <p:nvPr/>
        </p:nvGrpSpPr>
        <p:grpSpPr bwMode="auto">
          <a:xfrm>
            <a:off x="2196762" y="3042556"/>
            <a:ext cx="548438" cy="353907"/>
            <a:chOff x="2949" y="196"/>
            <a:chExt cx="941" cy="598"/>
          </a:xfrm>
          <a:solidFill>
            <a:srgbClr val="00FFFF"/>
          </a:solidFill>
        </p:grpSpPr>
        <p:sp>
          <p:nvSpPr>
            <p:cNvPr id="52"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0"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3" name="Group 59"/>
          <p:cNvGrpSpPr>
            <a:grpSpLocks/>
          </p:cNvGrpSpPr>
          <p:nvPr/>
        </p:nvGrpSpPr>
        <p:grpSpPr bwMode="auto">
          <a:xfrm>
            <a:off x="1466780" y="2178882"/>
            <a:ext cx="548438" cy="356250"/>
            <a:chOff x="2949" y="196"/>
            <a:chExt cx="941" cy="598"/>
          </a:xfrm>
          <a:solidFill>
            <a:srgbClr val="00FFFF"/>
          </a:solidFill>
        </p:grpSpPr>
        <p:sp>
          <p:nvSpPr>
            <p:cNvPr id="64"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3"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71"/>
          <p:cNvGrpSpPr>
            <a:grpSpLocks/>
          </p:cNvGrpSpPr>
          <p:nvPr/>
        </p:nvGrpSpPr>
        <p:grpSpPr bwMode="auto">
          <a:xfrm>
            <a:off x="6887685" y="1875366"/>
            <a:ext cx="547169" cy="355078"/>
            <a:chOff x="2949" y="196"/>
            <a:chExt cx="941" cy="598"/>
          </a:xfrm>
          <a:solidFill>
            <a:srgbClr val="00FFFF"/>
          </a:solidFill>
        </p:grpSpPr>
        <p:sp>
          <p:nvSpPr>
            <p:cNvPr id="76"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7" name="Group 83"/>
          <p:cNvGrpSpPr>
            <a:grpSpLocks/>
          </p:cNvGrpSpPr>
          <p:nvPr/>
        </p:nvGrpSpPr>
        <p:grpSpPr bwMode="auto">
          <a:xfrm>
            <a:off x="6826747" y="3042556"/>
            <a:ext cx="548438" cy="353907"/>
            <a:chOff x="2949" y="196"/>
            <a:chExt cx="941" cy="598"/>
          </a:xfrm>
          <a:solidFill>
            <a:srgbClr val="00FFFF"/>
          </a:solidFill>
        </p:grpSpPr>
        <p:sp>
          <p:nvSpPr>
            <p:cNvPr id="88"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9"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9" name="Group 95"/>
          <p:cNvGrpSpPr>
            <a:grpSpLocks/>
          </p:cNvGrpSpPr>
          <p:nvPr/>
        </p:nvGrpSpPr>
        <p:grpSpPr bwMode="auto">
          <a:xfrm>
            <a:off x="6520790" y="2483569"/>
            <a:ext cx="548438" cy="356250"/>
            <a:chOff x="2949" y="196"/>
            <a:chExt cx="941" cy="598"/>
          </a:xfrm>
          <a:solidFill>
            <a:srgbClr val="00FFFF"/>
          </a:solidFill>
        </p:grpSpPr>
        <p:sp>
          <p:nvSpPr>
            <p:cNvPr id="100"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1"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9"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11" name="Text Box 107"/>
          <p:cNvSpPr txBox="1">
            <a:spLocks noChangeArrowheads="1"/>
          </p:cNvSpPr>
          <p:nvPr/>
        </p:nvSpPr>
        <p:spPr bwMode="auto">
          <a:xfrm>
            <a:off x="7527530" y="22128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17" name="Text Box 113"/>
          <p:cNvSpPr txBox="1">
            <a:spLocks noChangeArrowheads="1"/>
          </p:cNvSpPr>
          <p:nvPr/>
        </p:nvSpPr>
        <p:spPr bwMode="auto">
          <a:xfrm>
            <a:off x="1525179" y="264880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18" name="Text Box 114"/>
          <p:cNvSpPr txBox="1">
            <a:spLocks noChangeArrowheads="1"/>
          </p:cNvSpPr>
          <p:nvPr/>
        </p:nvSpPr>
        <p:spPr bwMode="auto">
          <a:xfrm>
            <a:off x="2107895" y="176403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grpSp>
        <p:nvGrpSpPr>
          <p:cNvPr id="119" name="组合 118"/>
          <p:cNvGrpSpPr/>
          <p:nvPr/>
        </p:nvGrpSpPr>
        <p:grpSpPr>
          <a:xfrm>
            <a:off x="3598326" y="3003883"/>
            <a:ext cx="2497171" cy="1046059"/>
            <a:chOff x="3598326" y="3003883"/>
            <a:chExt cx="2497171" cy="1046059"/>
          </a:xfrm>
        </p:grpSpPr>
        <p:sp>
          <p:nvSpPr>
            <p:cNvPr id="120" name="Oval 121"/>
            <p:cNvSpPr>
              <a:spLocks noChangeArrowheads="1"/>
            </p:cNvSpPr>
            <p:nvPr/>
          </p:nvSpPr>
          <p:spPr bwMode="auto">
            <a:xfrm>
              <a:off x="3598326" y="3003883"/>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21" name="Text Box 122"/>
            <p:cNvSpPr txBox="1">
              <a:spLocks noChangeArrowheads="1"/>
            </p:cNvSpPr>
            <p:nvPr/>
          </p:nvSpPr>
          <p:spPr bwMode="auto">
            <a:xfrm>
              <a:off x="4305485" y="374216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0.0.0.2</a:t>
              </a:r>
            </a:p>
          </p:txBody>
        </p:sp>
      </p:grpSp>
      <p:sp>
        <p:nvSpPr>
          <p:cNvPr id="122" name="Line 123"/>
          <p:cNvSpPr>
            <a:spLocks noChangeShapeType="1"/>
          </p:cNvSpPr>
          <p:nvPr/>
        </p:nvSpPr>
        <p:spPr bwMode="auto">
          <a:xfrm>
            <a:off x="4817078" y="2940601"/>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24"/>
          <p:cNvSpPr>
            <a:spLocks noChangeShapeType="1"/>
          </p:cNvSpPr>
          <p:nvPr/>
        </p:nvSpPr>
        <p:spPr bwMode="auto">
          <a:xfrm flipV="1">
            <a:off x="4938953" y="3388258"/>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24" name="Group 125"/>
          <p:cNvGrpSpPr>
            <a:grpSpLocks/>
          </p:cNvGrpSpPr>
          <p:nvPr/>
        </p:nvGrpSpPr>
        <p:grpSpPr bwMode="auto">
          <a:xfrm>
            <a:off x="5365516" y="3131617"/>
            <a:ext cx="547168" cy="448828"/>
            <a:chOff x="2949" y="196"/>
            <a:chExt cx="941" cy="598"/>
          </a:xfrm>
          <a:solidFill>
            <a:srgbClr val="00FFFF"/>
          </a:solidFill>
        </p:grpSpPr>
        <p:sp>
          <p:nvSpPr>
            <p:cNvPr id="125"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6"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7"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8"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9"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0"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1"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2"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3"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4"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5"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36" name="Line 138"/>
          <p:cNvSpPr>
            <a:spLocks noChangeShapeType="1"/>
          </p:cNvSpPr>
          <p:nvPr/>
        </p:nvSpPr>
        <p:spPr bwMode="auto">
          <a:xfrm>
            <a:off x="4084557" y="3450368"/>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37" name="Group 139"/>
          <p:cNvGrpSpPr>
            <a:grpSpLocks/>
          </p:cNvGrpSpPr>
          <p:nvPr/>
        </p:nvGrpSpPr>
        <p:grpSpPr bwMode="auto">
          <a:xfrm>
            <a:off x="3842076" y="3194899"/>
            <a:ext cx="548438" cy="448828"/>
            <a:chOff x="2949" y="196"/>
            <a:chExt cx="941" cy="598"/>
          </a:xfrm>
          <a:solidFill>
            <a:srgbClr val="00FFFF"/>
          </a:solidFill>
        </p:grpSpPr>
        <p:sp>
          <p:nvSpPr>
            <p:cNvPr id="138"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9"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0"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1"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2"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3"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7"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8"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49" name="Picture 1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3932" y="3415211"/>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0" name="Text Box 153"/>
          <p:cNvSpPr txBox="1">
            <a:spLocks noChangeArrowheads="1"/>
          </p:cNvSpPr>
          <p:nvPr/>
        </p:nvSpPr>
        <p:spPr bwMode="auto">
          <a:xfrm>
            <a:off x="4459070" y="318435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51" name="Picture 1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3151" y="284216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2" name="Text Box 115"/>
          <p:cNvSpPr txBox="1">
            <a:spLocks noChangeArrowheads="1"/>
          </p:cNvSpPr>
          <p:nvPr/>
        </p:nvSpPr>
        <p:spPr bwMode="auto">
          <a:xfrm>
            <a:off x="6861812" y="306834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53" name="Text Box 116"/>
          <p:cNvSpPr txBox="1">
            <a:spLocks noChangeArrowheads="1"/>
          </p:cNvSpPr>
          <p:nvPr/>
        </p:nvSpPr>
        <p:spPr bwMode="auto">
          <a:xfrm>
            <a:off x="6915228" y="190466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54" name="Text Box 117"/>
          <p:cNvSpPr txBox="1">
            <a:spLocks noChangeArrowheads="1"/>
          </p:cNvSpPr>
          <p:nvPr/>
        </p:nvSpPr>
        <p:spPr bwMode="auto">
          <a:xfrm>
            <a:off x="2237984" y="307771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55" name="Text Box 118"/>
          <p:cNvSpPr txBox="1">
            <a:spLocks noChangeArrowheads="1"/>
          </p:cNvSpPr>
          <p:nvPr/>
        </p:nvSpPr>
        <p:spPr bwMode="auto">
          <a:xfrm>
            <a:off x="2789151" y="25550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56" name="Text Box 119"/>
          <p:cNvSpPr txBox="1">
            <a:spLocks noChangeArrowheads="1"/>
          </p:cNvSpPr>
          <p:nvPr/>
        </p:nvSpPr>
        <p:spPr bwMode="auto">
          <a:xfrm>
            <a:off x="1505747" y="2201148"/>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57" name="Text Box 120"/>
          <p:cNvSpPr txBox="1">
            <a:spLocks noChangeArrowheads="1"/>
          </p:cNvSpPr>
          <p:nvPr/>
        </p:nvSpPr>
        <p:spPr bwMode="auto">
          <a:xfrm>
            <a:off x="6550398" y="2522248"/>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58" name="Text Box 137"/>
          <p:cNvSpPr txBox="1">
            <a:spLocks noChangeArrowheads="1"/>
          </p:cNvSpPr>
          <p:nvPr/>
        </p:nvSpPr>
        <p:spPr bwMode="auto">
          <a:xfrm>
            <a:off x="5407913" y="3218354"/>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59" name="Text Box 151"/>
          <p:cNvSpPr txBox="1">
            <a:spLocks noChangeArrowheads="1"/>
          </p:cNvSpPr>
          <p:nvPr/>
        </p:nvSpPr>
        <p:spPr bwMode="auto">
          <a:xfrm>
            <a:off x="3872858" y="327810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grpSp>
        <p:nvGrpSpPr>
          <p:cNvPr id="6" name="组合 5"/>
          <p:cNvGrpSpPr/>
          <p:nvPr/>
        </p:nvGrpSpPr>
        <p:grpSpPr>
          <a:xfrm>
            <a:off x="3421861" y="1834351"/>
            <a:ext cx="2567034" cy="1053090"/>
            <a:chOff x="3421861" y="1834351"/>
            <a:chExt cx="2567034" cy="1053090"/>
          </a:xfrm>
        </p:grpSpPr>
        <p:grpSp>
          <p:nvGrpSpPr>
            <p:cNvPr id="160" name="组合 159"/>
            <p:cNvGrpSpPr/>
            <p:nvPr/>
          </p:nvGrpSpPr>
          <p:grpSpPr>
            <a:xfrm>
              <a:off x="3421861" y="1933961"/>
              <a:ext cx="2567034" cy="953480"/>
              <a:chOff x="3421861" y="1933961"/>
              <a:chExt cx="2567034" cy="953480"/>
            </a:xfrm>
          </p:grpSpPr>
          <p:sp>
            <p:nvSpPr>
              <p:cNvPr id="112" name="Text Box 108"/>
              <p:cNvSpPr txBox="1">
                <a:spLocks noChangeArrowheads="1"/>
              </p:cNvSpPr>
              <p:nvPr/>
            </p:nvSpPr>
            <p:spPr bwMode="auto">
              <a:xfrm>
                <a:off x="5605457" y="207810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C00CC"/>
                    </a:solidFill>
                    <a:latin typeface="微软雅黑" pitchFamily="34" charset="-122"/>
                    <a:ea typeface="微软雅黑" pitchFamily="34" charset="-122"/>
                  </a:rPr>
                  <a:t>R</a:t>
                </a:r>
                <a:r>
                  <a:rPr kumimoji="1" lang="en-US" altLang="zh-CN" sz="1400" b="1" baseline="-25000" dirty="0">
                    <a:solidFill>
                      <a:srgbClr val="CC00CC"/>
                    </a:solidFill>
                    <a:latin typeface="微软雅黑" pitchFamily="34" charset="-122"/>
                    <a:ea typeface="微软雅黑" pitchFamily="34" charset="-122"/>
                  </a:rPr>
                  <a:t>7</a:t>
                </a:r>
              </a:p>
            </p:txBody>
          </p:sp>
          <p:sp>
            <p:nvSpPr>
              <p:cNvPr id="115" name="Text Box 111"/>
              <p:cNvSpPr txBox="1">
                <a:spLocks noChangeArrowheads="1"/>
              </p:cNvSpPr>
              <p:nvPr/>
            </p:nvSpPr>
            <p:spPr bwMode="auto">
              <a:xfrm>
                <a:off x="4432409" y="257966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CC00CC"/>
                    </a:solidFill>
                    <a:latin typeface="微软雅黑" pitchFamily="34" charset="-122"/>
                    <a:ea typeface="微软雅黑" pitchFamily="34" charset="-122"/>
                  </a:rPr>
                  <a:t>R</a:t>
                </a:r>
                <a:r>
                  <a:rPr kumimoji="1" lang="en-US" altLang="zh-CN" sz="1400" b="1" baseline="-25000">
                    <a:solidFill>
                      <a:srgbClr val="CC00CC"/>
                    </a:solidFill>
                    <a:latin typeface="微软雅黑" pitchFamily="34" charset="-122"/>
                    <a:ea typeface="微软雅黑" pitchFamily="34" charset="-122"/>
                  </a:rPr>
                  <a:t>4</a:t>
                </a:r>
              </a:p>
            </p:txBody>
          </p:sp>
          <p:sp>
            <p:nvSpPr>
              <p:cNvPr id="116" name="Text Box 112"/>
              <p:cNvSpPr txBox="1">
                <a:spLocks noChangeArrowheads="1"/>
              </p:cNvSpPr>
              <p:nvPr/>
            </p:nvSpPr>
            <p:spPr bwMode="auto">
              <a:xfrm>
                <a:off x="3421861" y="193396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C00CC"/>
                    </a:solidFill>
                    <a:latin typeface="微软雅黑" pitchFamily="34" charset="-122"/>
                    <a:ea typeface="微软雅黑" pitchFamily="34" charset="-122"/>
                  </a:rPr>
                  <a:t>R</a:t>
                </a:r>
                <a:r>
                  <a:rPr kumimoji="1" lang="en-US" altLang="zh-CN" sz="1400" b="1" baseline="-25000" dirty="0">
                    <a:solidFill>
                      <a:srgbClr val="CC00CC"/>
                    </a:solidFill>
                    <a:latin typeface="微软雅黑" pitchFamily="34" charset="-122"/>
                    <a:ea typeface="微软雅黑" pitchFamily="34" charset="-122"/>
                  </a:rPr>
                  <a:t>3</a:t>
                </a:r>
              </a:p>
            </p:txBody>
          </p:sp>
        </p:grpSp>
        <p:sp>
          <p:nvSpPr>
            <p:cNvPr id="161" name="Text Box 109"/>
            <p:cNvSpPr txBox="1">
              <a:spLocks noChangeArrowheads="1"/>
            </p:cNvSpPr>
            <p:nvPr/>
          </p:nvSpPr>
          <p:spPr bwMode="auto">
            <a:xfrm>
              <a:off x="5100183" y="183435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C00FF"/>
                  </a:solidFill>
                  <a:latin typeface="微软雅黑" pitchFamily="34" charset="-122"/>
                  <a:ea typeface="微软雅黑" pitchFamily="34" charset="-122"/>
                </a:rPr>
                <a:t>R</a:t>
              </a:r>
              <a:r>
                <a:rPr kumimoji="1" lang="en-US" altLang="zh-CN" sz="1400" b="1" baseline="-25000" dirty="0">
                  <a:solidFill>
                    <a:srgbClr val="CC00FF"/>
                  </a:solidFill>
                  <a:latin typeface="微软雅黑" pitchFamily="34" charset="-122"/>
                  <a:ea typeface="微软雅黑" pitchFamily="34" charset="-122"/>
                </a:rPr>
                <a:t>6</a:t>
              </a:r>
            </a:p>
          </p:txBody>
        </p:sp>
        <p:sp>
          <p:nvSpPr>
            <p:cNvPr id="162" name="Text Box 110"/>
            <p:cNvSpPr txBox="1">
              <a:spLocks noChangeArrowheads="1"/>
            </p:cNvSpPr>
            <p:nvPr/>
          </p:nvSpPr>
          <p:spPr bwMode="auto">
            <a:xfrm>
              <a:off x="4643151" y="216833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C00FF"/>
                  </a:solidFill>
                  <a:latin typeface="微软雅黑" pitchFamily="34" charset="-122"/>
                  <a:ea typeface="微软雅黑" pitchFamily="34" charset="-122"/>
                </a:rPr>
                <a:t>R</a:t>
              </a:r>
              <a:r>
                <a:rPr kumimoji="1" lang="en-US" altLang="zh-CN" sz="1400" b="1" baseline="-25000" dirty="0">
                  <a:solidFill>
                    <a:srgbClr val="CC00FF"/>
                  </a:solidFill>
                  <a:latin typeface="微软雅黑" pitchFamily="34" charset="-122"/>
                  <a:ea typeface="微软雅黑" pitchFamily="34" charset="-122"/>
                </a:rPr>
                <a:t>5</a:t>
              </a:r>
            </a:p>
          </p:txBody>
        </p:sp>
      </p:grpSp>
      <p:sp>
        <p:nvSpPr>
          <p:cNvPr id="163" name="Text Box 4"/>
          <p:cNvSpPr txBox="1">
            <a:spLocks noChangeArrowheads="1"/>
          </p:cNvSpPr>
          <p:nvPr/>
        </p:nvSpPr>
        <p:spPr bwMode="auto">
          <a:xfrm>
            <a:off x="1213446" y="1432832"/>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Tree>
    <p:extLst>
      <p:ext uri="{BB962C8B-B14F-4D97-AF65-F5344CB8AC3E}">
        <p14:creationId xmlns:p14="http://schemas.microsoft.com/office/powerpoint/2010/main" val="3570908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5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30673"/>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80697"/>
            <a:ext cx="8018029" cy="400110"/>
          </a:xfrm>
          <a:prstGeom prst="rect">
            <a:avLst/>
          </a:prstGeom>
        </p:spPr>
        <p:txBody>
          <a:bodyPr wrap="none">
            <a:spAutoFit/>
          </a:bodyPr>
          <a:lstStyle/>
          <a:p>
            <a:r>
              <a:rPr lang="en-US" altLang="zh-CN" sz="2000" b="1" dirty="0">
                <a:latin typeface="微软雅黑" pitchFamily="34" charset="-122"/>
                <a:ea typeface="微软雅黑" pitchFamily="34" charset="-122"/>
              </a:rPr>
              <a:t>OSPF </a:t>
            </a:r>
            <a:r>
              <a:rPr lang="zh-CN" altLang="en-US" sz="2000" b="1" dirty="0">
                <a:latin typeface="微软雅黑" pitchFamily="34" charset="-122"/>
                <a:ea typeface="微软雅黑" pitchFamily="34" charset="-122"/>
              </a:rPr>
              <a:t>中的路由器：自治系统边界路由器 </a:t>
            </a:r>
            <a:r>
              <a:rPr lang="en-US" altLang="zh-CN" sz="2000" b="1" dirty="0">
                <a:solidFill>
                  <a:srgbClr val="0000FF"/>
                </a:solidFill>
                <a:latin typeface="微软雅黑" pitchFamily="34" charset="-122"/>
                <a:ea typeface="微软雅黑" pitchFamily="34" charset="-122"/>
              </a:rPr>
              <a:t>ASBR</a:t>
            </a:r>
            <a:r>
              <a:rPr lang="en-US" altLang="zh-CN" sz="2000" b="1" dirty="0">
                <a:latin typeface="微软雅黑" pitchFamily="34" charset="-122"/>
                <a:ea typeface="微软雅黑" pitchFamily="34" charset="-122"/>
              </a:rPr>
              <a:t> (AS border router)</a:t>
            </a:r>
            <a:endParaRPr lang="zh-CN" altLang="en-US" sz="2000" b="1" dirty="0">
              <a:latin typeface="微软雅黑" pitchFamily="34" charset="-122"/>
              <a:ea typeface="微软雅黑" pitchFamily="34" charset="-122"/>
            </a:endParaRPr>
          </a:p>
        </p:txBody>
      </p:sp>
      <p:sp>
        <p:nvSpPr>
          <p:cNvPr id="5" name="AutoShape 3"/>
          <p:cNvSpPr>
            <a:spLocks noChangeArrowheads="1"/>
          </p:cNvSpPr>
          <p:nvPr/>
        </p:nvSpPr>
        <p:spPr bwMode="auto">
          <a:xfrm>
            <a:off x="1018636" y="1403100"/>
            <a:ext cx="7086532" cy="2764456"/>
          </a:xfrm>
          <a:prstGeom prst="roundRect">
            <a:avLst>
              <a:gd name="adj" fmla="val 16667"/>
            </a:avLst>
          </a:prstGeom>
          <a:solidFill>
            <a:schemeClr val="bg1"/>
          </a:solidFill>
          <a:ln w="12700">
            <a:solidFill>
              <a:srgbClr val="00B0F0"/>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 name="组合 6"/>
          <p:cNvGrpSpPr/>
          <p:nvPr/>
        </p:nvGrpSpPr>
        <p:grpSpPr>
          <a:xfrm>
            <a:off x="1101155" y="1773412"/>
            <a:ext cx="2532718" cy="2064420"/>
            <a:chOff x="1101155" y="1773412"/>
            <a:chExt cx="2532718" cy="2064420"/>
          </a:xfrm>
        </p:grpSpPr>
        <p:sp>
          <p:nvSpPr>
            <p:cNvPr id="8" name="Oval 7"/>
            <p:cNvSpPr>
              <a:spLocks noChangeArrowheads="1"/>
            </p:cNvSpPr>
            <p:nvPr/>
          </p:nvSpPr>
          <p:spPr bwMode="auto">
            <a:xfrm>
              <a:off x="1101155" y="1773412"/>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9" name="Text Box 9"/>
            <p:cNvSpPr txBox="1">
              <a:spLocks noChangeArrowheads="1"/>
            </p:cNvSpPr>
            <p:nvPr/>
          </p:nvSpPr>
          <p:spPr bwMode="auto">
            <a:xfrm>
              <a:off x="1812343" y="353005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0.0.0.1</a:t>
              </a:r>
            </a:p>
          </p:txBody>
        </p:sp>
      </p:grpSp>
      <p:grpSp>
        <p:nvGrpSpPr>
          <p:cNvPr id="10" name="组合 9"/>
          <p:cNvGrpSpPr/>
          <p:nvPr/>
        </p:nvGrpSpPr>
        <p:grpSpPr>
          <a:xfrm>
            <a:off x="6095497" y="1773412"/>
            <a:ext cx="1923343" cy="2117154"/>
            <a:chOff x="6095497" y="1773412"/>
            <a:chExt cx="1923343" cy="2117154"/>
          </a:xfrm>
        </p:grpSpPr>
        <p:sp>
          <p:nvSpPr>
            <p:cNvPr id="11" name="Oval 8"/>
            <p:cNvSpPr>
              <a:spLocks noChangeArrowheads="1"/>
            </p:cNvSpPr>
            <p:nvPr/>
          </p:nvSpPr>
          <p:spPr bwMode="auto">
            <a:xfrm>
              <a:off x="6095497" y="1773412"/>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2" name="Text Box 10"/>
            <p:cNvSpPr txBox="1">
              <a:spLocks noChangeArrowheads="1"/>
            </p:cNvSpPr>
            <p:nvPr/>
          </p:nvSpPr>
          <p:spPr bwMode="auto">
            <a:xfrm>
              <a:off x="6496859" y="3582789"/>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0.0.0.3</a:t>
              </a:r>
            </a:p>
          </p:txBody>
        </p:sp>
      </p:grpSp>
      <p:grpSp>
        <p:nvGrpSpPr>
          <p:cNvPr id="13" name="组合 12"/>
          <p:cNvGrpSpPr/>
          <p:nvPr/>
        </p:nvGrpSpPr>
        <p:grpSpPr>
          <a:xfrm>
            <a:off x="3720201" y="1518807"/>
            <a:ext cx="2314358" cy="1421794"/>
            <a:chOff x="3720201" y="1518807"/>
            <a:chExt cx="2314358" cy="1421794"/>
          </a:xfrm>
        </p:grpSpPr>
        <p:sp>
          <p:nvSpPr>
            <p:cNvPr id="14" name="Oval 6"/>
            <p:cNvSpPr>
              <a:spLocks noChangeArrowheads="1"/>
            </p:cNvSpPr>
            <p:nvPr/>
          </p:nvSpPr>
          <p:spPr bwMode="auto">
            <a:xfrm>
              <a:off x="3720201" y="1824975"/>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5" name="Text Box 11"/>
            <p:cNvSpPr txBox="1">
              <a:spLocks noChangeArrowheads="1"/>
            </p:cNvSpPr>
            <p:nvPr/>
          </p:nvSpPr>
          <p:spPr bwMode="auto">
            <a:xfrm>
              <a:off x="3722740" y="1518807"/>
              <a:ext cx="1552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主干区域 </a:t>
              </a:r>
              <a:r>
                <a:rPr kumimoji="1" lang="en-US" altLang="zh-CN" sz="1400" b="1" dirty="0">
                  <a:solidFill>
                    <a:srgbClr val="C00000"/>
                  </a:solidFill>
                  <a:latin typeface="微软雅黑" pitchFamily="34" charset="-122"/>
                  <a:ea typeface="微软雅黑" pitchFamily="34" charset="-122"/>
                </a:rPr>
                <a:t>0.0.0.0</a:t>
              </a:r>
            </a:p>
          </p:txBody>
        </p:sp>
      </p:grpSp>
      <p:sp>
        <p:nvSpPr>
          <p:cNvPr id="16" name="Line 12"/>
          <p:cNvSpPr>
            <a:spLocks noChangeShapeType="1"/>
          </p:cNvSpPr>
          <p:nvPr/>
        </p:nvSpPr>
        <p:spPr bwMode="auto">
          <a:xfrm flipV="1">
            <a:off x="4878015" y="1317554"/>
            <a:ext cx="851856" cy="71015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Text Box 13"/>
          <p:cNvSpPr txBox="1">
            <a:spLocks noChangeArrowheads="1"/>
          </p:cNvSpPr>
          <p:nvPr/>
        </p:nvSpPr>
        <p:spPr bwMode="auto">
          <a:xfrm>
            <a:off x="5115298" y="105507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18" name="Line 14"/>
          <p:cNvSpPr>
            <a:spLocks noChangeShapeType="1"/>
          </p:cNvSpPr>
          <p:nvPr/>
        </p:nvSpPr>
        <p:spPr bwMode="auto">
          <a:xfrm>
            <a:off x="6095496" y="2433179"/>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5"/>
          <p:cNvSpPr>
            <a:spLocks noChangeShapeType="1"/>
          </p:cNvSpPr>
          <p:nvPr/>
        </p:nvSpPr>
        <p:spPr bwMode="auto">
          <a:xfrm flipV="1">
            <a:off x="6887685" y="2585524"/>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6"/>
          <p:cNvSpPr>
            <a:spLocks noChangeShapeType="1"/>
          </p:cNvSpPr>
          <p:nvPr/>
        </p:nvSpPr>
        <p:spPr bwMode="auto">
          <a:xfrm>
            <a:off x="7192373" y="2078100"/>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7"/>
          <p:cNvSpPr>
            <a:spLocks noChangeShapeType="1"/>
          </p:cNvSpPr>
          <p:nvPr/>
        </p:nvSpPr>
        <p:spPr bwMode="auto">
          <a:xfrm flipH="1">
            <a:off x="7130166" y="2634743"/>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Line 18"/>
          <p:cNvSpPr>
            <a:spLocks noChangeShapeType="1"/>
          </p:cNvSpPr>
          <p:nvPr/>
        </p:nvSpPr>
        <p:spPr bwMode="auto">
          <a:xfrm flipV="1">
            <a:off x="5181433" y="2433179"/>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3" name="Line 19"/>
          <p:cNvSpPr>
            <a:spLocks noChangeShapeType="1"/>
          </p:cNvSpPr>
          <p:nvPr/>
        </p:nvSpPr>
        <p:spPr bwMode="auto">
          <a:xfrm>
            <a:off x="4938953" y="2027710"/>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20"/>
          <p:cNvSpPr>
            <a:spLocks noChangeShapeType="1"/>
          </p:cNvSpPr>
          <p:nvPr/>
        </p:nvSpPr>
        <p:spPr bwMode="auto">
          <a:xfrm flipH="1">
            <a:off x="4878015" y="2585523"/>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5" name="Line 21"/>
          <p:cNvSpPr>
            <a:spLocks noChangeShapeType="1"/>
          </p:cNvSpPr>
          <p:nvPr/>
        </p:nvSpPr>
        <p:spPr bwMode="auto">
          <a:xfrm>
            <a:off x="3598326" y="2332398"/>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6" name="Line 22"/>
          <p:cNvSpPr>
            <a:spLocks noChangeShapeType="1"/>
          </p:cNvSpPr>
          <p:nvPr/>
        </p:nvSpPr>
        <p:spPr bwMode="auto">
          <a:xfrm flipV="1">
            <a:off x="3659264" y="2078100"/>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Line 23"/>
          <p:cNvSpPr>
            <a:spLocks noChangeShapeType="1"/>
          </p:cNvSpPr>
          <p:nvPr/>
        </p:nvSpPr>
        <p:spPr bwMode="auto">
          <a:xfrm flipH="1">
            <a:off x="1710530" y="2078100"/>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Line 24"/>
          <p:cNvSpPr>
            <a:spLocks noChangeShapeType="1"/>
          </p:cNvSpPr>
          <p:nvPr/>
        </p:nvSpPr>
        <p:spPr bwMode="auto">
          <a:xfrm>
            <a:off x="2623325" y="2127319"/>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25"/>
          <p:cNvSpPr>
            <a:spLocks noChangeShapeType="1"/>
          </p:cNvSpPr>
          <p:nvPr/>
        </p:nvSpPr>
        <p:spPr bwMode="auto">
          <a:xfrm flipV="1">
            <a:off x="3049888" y="2381617"/>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26"/>
          <p:cNvSpPr>
            <a:spLocks noChangeShapeType="1"/>
          </p:cNvSpPr>
          <p:nvPr/>
        </p:nvSpPr>
        <p:spPr bwMode="auto">
          <a:xfrm flipH="1">
            <a:off x="2135824" y="2737867"/>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7"/>
          <p:cNvSpPr>
            <a:spLocks noChangeShapeType="1"/>
          </p:cNvSpPr>
          <p:nvPr/>
        </p:nvSpPr>
        <p:spPr bwMode="auto">
          <a:xfrm>
            <a:off x="2135824" y="2889039"/>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32" name="Group 28"/>
          <p:cNvGrpSpPr>
            <a:grpSpLocks/>
          </p:cNvGrpSpPr>
          <p:nvPr/>
        </p:nvGrpSpPr>
        <p:grpSpPr bwMode="auto">
          <a:xfrm>
            <a:off x="2745200" y="2535133"/>
            <a:ext cx="548438" cy="353907"/>
            <a:chOff x="2949" y="196"/>
            <a:chExt cx="941" cy="598"/>
          </a:xfrm>
          <a:solidFill>
            <a:srgbClr val="00FFFF"/>
          </a:solidFill>
        </p:grpSpPr>
        <p:sp>
          <p:nvSpPr>
            <p:cNvPr id="33"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5"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7"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8"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9"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0"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1"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4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32405" y="2737868"/>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0844" y="1976147"/>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15513" y="2230444"/>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3932" y="1925757"/>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78015" y="2433179"/>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14248" y="2483570"/>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51747" y="2332398"/>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1" name="Group 47"/>
          <p:cNvGrpSpPr>
            <a:grpSpLocks/>
          </p:cNvGrpSpPr>
          <p:nvPr/>
        </p:nvGrpSpPr>
        <p:grpSpPr bwMode="auto">
          <a:xfrm>
            <a:off x="2196762" y="3042556"/>
            <a:ext cx="548438" cy="353907"/>
            <a:chOff x="2949" y="196"/>
            <a:chExt cx="941" cy="598"/>
          </a:xfrm>
          <a:solidFill>
            <a:srgbClr val="00FFFF"/>
          </a:solidFill>
        </p:grpSpPr>
        <p:sp>
          <p:nvSpPr>
            <p:cNvPr id="52"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0"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3" name="Group 59"/>
          <p:cNvGrpSpPr>
            <a:grpSpLocks/>
          </p:cNvGrpSpPr>
          <p:nvPr/>
        </p:nvGrpSpPr>
        <p:grpSpPr bwMode="auto">
          <a:xfrm>
            <a:off x="1466780" y="2178882"/>
            <a:ext cx="548438" cy="356250"/>
            <a:chOff x="2949" y="196"/>
            <a:chExt cx="941" cy="598"/>
          </a:xfrm>
          <a:solidFill>
            <a:srgbClr val="00FFFF"/>
          </a:solidFill>
        </p:grpSpPr>
        <p:sp>
          <p:nvSpPr>
            <p:cNvPr id="64"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3"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71"/>
          <p:cNvGrpSpPr>
            <a:grpSpLocks/>
          </p:cNvGrpSpPr>
          <p:nvPr/>
        </p:nvGrpSpPr>
        <p:grpSpPr bwMode="auto">
          <a:xfrm>
            <a:off x="6887685" y="1875366"/>
            <a:ext cx="547169" cy="355078"/>
            <a:chOff x="2949" y="196"/>
            <a:chExt cx="941" cy="598"/>
          </a:xfrm>
          <a:solidFill>
            <a:srgbClr val="00FFFF"/>
          </a:solidFill>
        </p:grpSpPr>
        <p:sp>
          <p:nvSpPr>
            <p:cNvPr id="76"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7" name="Group 83"/>
          <p:cNvGrpSpPr>
            <a:grpSpLocks/>
          </p:cNvGrpSpPr>
          <p:nvPr/>
        </p:nvGrpSpPr>
        <p:grpSpPr bwMode="auto">
          <a:xfrm>
            <a:off x="6826747" y="3042556"/>
            <a:ext cx="548438" cy="353907"/>
            <a:chOff x="2949" y="196"/>
            <a:chExt cx="941" cy="598"/>
          </a:xfrm>
          <a:solidFill>
            <a:srgbClr val="00FFFF"/>
          </a:solidFill>
        </p:grpSpPr>
        <p:sp>
          <p:nvSpPr>
            <p:cNvPr id="88"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9"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9" name="Group 95"/>
          <p:cNvGrpSpPr>
            <a:grpSpLocks/>
          </p:cNvGrpSpPr>
          <p:nvPr/>
        </p:nvGrpSpPr>
        <p:grpSpPr bwMode="auto">
          <a:xfrm>
            <a:off x="6520790" y="2483569"/>
            <a:ext cx="548438" cy="356250"/>
            <a:chOff x="2949" y="196"/>
            <a:chExt cx="941" cy="598"/>
          </a:xfrm>
          <a:solidFill>
            <a:srgbClr val="00FFFF"/>
          </a:solidFill>
        </p:grpSpPr>
        <p:sp>
          <p:nvSpPr>
            <p:cNvPr id="100"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1"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9"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11" name="Text Box 107"/>
          <p:cNvSpPr txBox="1">
            <a:spLocks noChangeArrowheads="1"/>
          </p:cNvSpPr>
          <p:nvPr/>
        </p:nvSpPr>
        <p:spPr bwMode="auto">
          <a:xfrm>
            <a:off x="7527530" y="22128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17" name="Text Box 113"/>
          <p:cNvSpPr txBox="1">
            <a:spLocks noChangeArrowheads="1"/>
          </p:cNvSpPr>
          <p:nvPr/>
        </p:nvSpPr>
        <p:spPr bwMode="auto">
          <a:xfrm>
            <a:off x="1525179" y="264880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18" name="Text Box 114"/>
          <p:cNvSpPr txBox="1">
            <a:spLocks noChangeArrowheads="1"/>
          </p:cNvSpPr>
          <p:nvPr/>
        </p:nvSpPr>
        <p:spPr bwMode="auto">
          <a:xfrm>
            <a:off x="2107895" y="176403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grpSp>
        <p:nvGrpSpPr>
          <p:cNvPr id="119" name="组合 118"/>
          <p:cNvGrpSpPr/>
          <p:nvPr/>
        </p:nvGrpSpPr>
        <p:grpSpPr>
          <a:xfrm>
            <a:off x="3598326" y="3003883"/>
            <a:ext cx="2497171" cy="1046059"/>
            <a:chOff x="3598326" y="3003883"/>
            <a:chExt cx="2497171" cy="1046059"/>
          </a:xfrm>
        </p:grpSpPr>
        <p:sp>
          <p:nvSpPr>
            <p:cNvPr id="120" name="Oval 121"/>
            <p:cNvSpPr>
              <a:spLocks noChangeArrowheads="1"/>
            </p:cNvSpPr>
            <p:nvPr/>
          </p:nvSpPr>
          <p:spPr bwMode="auto">
            <a:xfrm>
              <a:off x="3598326" y="3003883"/>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21" name="Text Box 122"/>
            <p:cNvSpPr txBox="1">
              <a:spLocks noChangeArrowheads="1"/>
            </p:cNvSpPr>
            <p:nvPr/>
          </p:nvSpPr>
          <p:spPr bwMode="auto">
            <a:xfrm>
              <a:off x="4305485" y="3742165"/>
              <a:ext cx="11929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区域 </a:t>
              </a:r>
              <a:r>
                <a:rPr kumimoji="1" lang="en-US" altLang="zh-CN" sz="1400" b="1" dirty="0">
                  <a:solidFill>
                    <a:srgbClr val="0000CC"/>
                  </a:solidFill>
                  <a:latin typeface="微软雅黑" pitchFamily="34" charset="-122"/>
                  <a:ea typeface="微软雅黑" pitchFamily="34" charset="-122"/>
                </a:rPr>
                <a:t>0.0.0.2</a:t>
              </a:r>
            </a:p>
          </p:txBody>
        </p:sp>
      </p:grpSp>
      <p:sp>
        <p:nvSpPr>
          <p:cNvPr id="122" name="Line 123"/>
          <p:cNvSpPr>
            <a:spLocks noChangeShapeType="1"/>
          </p:cNvSpPr>
          <p:nvPr/>
        </p:nvSpPr>
        <p:spPr bwMode="auto">
          <a:xfrm>
            <a:off x="4817078" y="2940601"/>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24"/>
          <p:cNvSpPr>
            <a:spLocks noChangeShapeType="1"/>
          </p:cNvSpPr>
          <p:nvPr/>
        </p:nvSpPr>
        <p:spPr bwMode="auto">
          <a:xfrm flipV="1">
            <a:off x="4938953" y="3388258"/>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24" name="Group 125"/>
          <p:cNvGrpSpPr>
            <a:grpSpLocks/>
          </p:cNvGrpSpPr>
          <p:nvPr/>
        </p:nvGrpSpPr>
        <p:grpSpPr bwMode="auto">
          <a:xfrm>
            <a:off x="5365516" y="3131617"/>
            <a:ext cx="547168" cy="448828"/>
            <a:chOff x="2949" y="196"/>
            <a:chExt cx="941" cy="598"/>
          </a:xfrm>
          <a:solidFill>
            <a:srgbClr val="00FFFF"/>
          </a:solidFill>
        </p:grpSpPr>
        <p:sp>
          <p:nvSpPr>
            <p:cNvPr id="125"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6"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7"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8"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9"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0"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1"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2"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3"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4"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5"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36" name="Line 138"/>
          <p:cNvSpPr>
            <a:spLocks noChangeShapeType="1"/>
          </p:cNvSpPr>
          <p:nvPr/>
        </p:nvSpPr>
        <p:spPr bwMode="auto">
          <a:xfrm>
            <a:off x="4084557" y="3450368"/>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37" name="Group 139"/>
          <p:cNvGrpSpPr>
            <a:grpSpLocks/>
          </p:cNvGrpSpPr>
          <p:nvPr/>
        </p:nvGrpSpPr>
        <p:grpSpPr bwMode="auto">
          <a:xfrm>
            <a:off x="3842076" y="3194899"/>
            <a:ext cx="548438" cy="448828"/>
            <a:chOff x="2949" y="196"/>
            <a:chExt cx="941" cy="598"/>
          </a:xfrm>
          <a:solidFill>
            <a:srgbClr val="00FFFF"/>
          </a:solidFill>
        </p:grpSpPr>
        <p:sp>
          <p:nvSpPr>
            <p:cNvPr id="138"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9"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0"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1"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2"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3"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7"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8"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49" name="Picture 1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3932" y="3415211"/>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0" name="Text Box 153"/>
          <p:cNvSpPr txBox="1">
            <a:spLocks noChangeArrowheads="1"/>
          </p:cNvSpPr>
          <p:nvPr/>
        </p:nvSpPr>
        <p:spPr bwMode="auto">
          <a:xfrm>
            <a:off x="4459070" y="318435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51" name="Picture 1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3151" y="284216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2" name="Text Box 115"/>
          <p:cNvSpPr txBox="1">
            <a:spLocks noChangeArrowheads="1"/>
          </p:cNvSpPr>
          <p:nvPr/>
        </p:nvSpPr>
        <p:spPr bwMode="auto">
          <a:xfrm>
            <a:off x="6861812" y="306834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53" name="Text Box 116"/>
          <p:cNvSpPr txBox="1">
            <a:spLocks noChangeArrowheads="1"/>
          </p:cNvSpPr>
          <p:nvPr/>
        </p:nvSpPr>
        <p:spPr bwMode="auto">
          <a:xfrm>
            <a:off x="6915228" y="190466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54" name="Text Box 117"/>
          <p:cNvSpPr txBox="1">
            <a:spLocks noChangeArrowheads="1"/>
          </p:cNvSpPr>
          <p:nvPr/>
        </p:nvSpPr>
        <p:spPr bwMode="auto">
          <a:xfrm>
            <a:off x="2237984" y="307771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55" name="Text Box 118"/>
          <p:cNvSpPr txBox="1">
            <a:spLocks noChangeArrowheads="1"/>
          </p:cNvSpPr>
          <p:nvPr/>
        </p:nvSpPr>
        <p:spPr bwMode="auto">
          <a:xfrm>
            <a:off x="2789151" y="25550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56" name="Text Box 119"/>
          <p:cNvSpPr txBox="1">
            <a:spLocks noChangeArrowheads="1"/>
          </p:cNvSpPr>
          <p:nvPr/>
        </p:nvSpPr>
        <p:spPr bwMode="auto">
          <a:xfrm>
            <a:off x="1505747" y="2201148"/>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57" name="Text Box 120"/>
          <p:cNvSpPr txBox="1">
            <a:spLocks noChangeArrowheads="1"/>
          </p:cNvSpPr>
          <p:nvPr/>
        </p:nvSpPr>
        <p:spPr bwMode="auto">
          <a:xfrm>
            <a:off x="6550398" y="2522248"/>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58" name="Text Box 137"/>
          <p:cNvSpPr txBox="1">
            <a:spLocks noChangeArrowheads="1"/>
          </p:cNvSpPr>
          <p:nvPr/>
        </p:nvSpPr>
        <p:spPr bwMode="auto">
          <a:xfrm>
            <a:off x="5407913" y="3218354"/>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59" name="Text Box 151"/>
          <p:cNvSpPr txBox="1">
            <a:spLocks noChangeArrowheads="1"/>
          </p:cNvSpPr>
          <p:nvPr/>
        </p:nvSpPr>
        <p:spPr bwMode="auto">
          <a:xfrm>
            <a:off x="3872858" y="3278102"/>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grpSp>
        <p:nvGrpSpPr>
          <p:cNvPr id="160" name="组合 159"/>
          <p:cNvGrpSpPr/>
          <p:nvPr/>
        </p:nvGrpSpPr>
        <p:grpSpPr>
          <a:xfrm>
            <a:off x="3421861" y="1933961"/>
            <a:ext cx="2567034" cy="953480"/>
            <a:chOff x="3421861" y="1933961"/>
            <a:chExt cx="2567034" cy="953480"/>
          </a:xfrm>
        </p:grpSpPr>
        <p:sp>
          <p:nvSpPr>
            <p:cNvPr id="112" name="Text Box 108"/>
            <p:cNvSpPr txBox="1">
              <a:spLocks noChangeArrowheads="1"/>
            </p:cNvSpPr>
            <p:nvPr/>
          </p:nvSpPr>
          <p:spPr bwMode="auto">
            <a:xfrm>
              <a:off x="5605457" y="207810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15" name="Text Box 111"/>
            <p:cNvSpPr txBox="1">
              <a:spLocks noChangeArrowheads="1"/>
            </p:cNvSpPr>
            <p:nvPr/>
          </p:nvSpPr>
          <p:spPr bwMode="auto">
            <a:xfrm>
              <a:off x="4432409" y="257966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p>
          </p:txBody>
        </p:sp>
        <p:sp>
          <p:nvSpPr>
            <p:cNvPr id="116" name="Text Box 112"/>
            <p:cNvSpPr txBox="1">
              <a:spLocks noChangeArrowheads="1"/>
            </p:cNvSpPr>
            <p:nvPr/>
          </p:nvSpPr>
          <p:spPr bwMode="auto">
            <a:xfrm>
              <a:off x="3421861" y="193396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grpSp>
      <p:sp>
        <p:nvSpPr>
          <p:cNvPr id="161" name="Text Box 109"/>
          <p:cNvSpPr txBox="1">
            <a:spLocks noChangeArrowheads="1"/>
          </p:cNvSpPr>
          <p:nvPr/>
        </p:nvSpPr>
        <p:spPr bwMode="auto">
          <a:xfrm>
            <a:off x="5100183" y="183435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C00FF"/>
                </a:solidFill>
                <a:latin typeface="微软雅黑" pitchFamily="34" charset="-122"/>
                <a:ea typeface="微软雅黑" pitchFamily="34" charset="-122"/>
              </a:rPr>
              <a:t>R</a:t>
            </a:r>
            <a:r>
              <a:rPr kumimoji="1" lang="en-US" altLang="zh-CN" sz="1400" b="1" baseline="-25000" dirty="0">
                <a:solidFill>
                  <a:srgbClr val="CC00FF"/>
                </a:solidFill>
                <a:latin typeface="微软雅黑" pitchFamily="34" charset="-122"/>
                <a:ea typeface="微软雅黑" pitchFamily="34" charset="-122"/>
              </a:rPr>
              <a:t>6</a:t>
            </a:r>
          </a:p>
        </p:txBody>
      </p:sp>
      <p:sp>
        <p:nvSpPr>
          <p:cNvPr id="162" name="Text Box 110"/>
          <p:cNvSpPr txBox="1">
            <a:spLocks noChangeArrowheads="1"/>
          </p:cNvSpPr>
          <p:nvPr/>
        </p:nvSpPr>
        <p:spPr bwMode="auto">
          <a:xfrm>
            <a:off x="4643151" y="216833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5</a:t>
            </a:r>
          </a:p>
        </p:txBody>
      </p:sp>
      <p:sp>
        <p:nvSpPr>
          <p:cNvPr id="163" name="Text Box 4"/>
          <p:cNvSpPr txBox="1">
            <a:spLocks noChangeArrowheads="1"/>
          </p:cNvSpPr>
          <p:nvPr/>
        </p:nvSpPr>
        <p:spPr bwMode="auto">
          <a:xfrm>
            <a:off x="1213446" y="1432832"/>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Tree>
    <p:extLst>
      <p:ext uri="{BB962C8B-B14F-4D97-AF65-F5344CB8AC3E}">
        <p14:creationId xmlns:p14="http://schemas.microsoft.com/office/powerpoint/2010/main" val="3486656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5000" fill="hold" grpId="0" nodeType="afterEffect">
                                  <p:stCondLst>
                                    <p:cond delay="0"/>
                                  </p:stCondLst>
                                  <p:childTnLst>
                                    <p:anim calcmode="discrete" valueType="str">
                                      <p:cBhvr>
                                        <p:cTn id="6" dur="1000" fill="hold"/>
                                        <p:tgtEl>
                                          <p:spTgt spid="1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1" grpId="0"/>
    </p:bld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4655862" y="1345193"/>
            <a:ext cx="3771544" cy="1631216"/>
          </a:xfrm>
          <a:prstGeom prst="rect">
            <a:avLst/>
          </a:prstGeom>
        </p:spPr>
        <p:style>
          <a:lnRef idx="1">
            <a:schemeClr val="accent1"/>
          </a:lnRef>
          <a:fillRef idx="3">
            <a:schemeClr val="accent1"/>
          </a:fillRef>
          <a:effectRef idx="2">
            <a:schemeClr val="accent1"/>
          </a:effectRef>
          <a:fontRef idx="minor">
            <a:schemeClr val="lt1"/>
          </a:fontRef>
        </p:style>
        <p:txBody>
          <a:bodyPr wrap="square">
            <a:spAutoFit/>
          </a:bodyPr>
          <a:lstStyle/>
          <a:p>
            <a:pPr>
              <a:lnSpc>
                <a:spcPts val="3000"/>
              </a:lnSpc>
            </a:pPr>
            <a:r>
              <a:rPr lang="zh-CN" altLang="en-US" b="1" dirty="0">
                <a:latin typeface="微软雅黑" pitchFamily="34" charset="-122"/>
                <a:ea typeface="微软雅黑" pitchFamily="34" charset="-122"/>
              </a:rPr>
              <a:t>分层次划分区域的</a:t>
            </a:r>
            <a:r>
              <a:rPr lang="zh-CN" altLang="en-US" b="1" dirty="0">
                <a:solidFill>
                  <a:srgbClr val="FFFF00"/>
                </a:solidFill>
                <a:latin typeface="微软雅黑" pitchFamily="34" charset="-122"/>
                <a:ea typeface="微软雅黑" pitchFamily="34" charset="-122"/>
              </a:rPr>
              <a:t>好处：</a:t>
            </a:r>
            <a:endParaRPr lang="en-US" altLang="zh-CN" b="1" dirty="0">
              <a:solidFill>
                <a:srgbClr val="FFFF00"/>
              </a:solidFill>
              <a:latin typeface="微软雅黑" pitchFamily="34" charset="-122"/>
              <a:ea typeface="微软雅黑" pitchFamily="34" charset="-122"/>
            </a:endParaRPr>
          </a:p>
          <a:p>
            <a:pPr>
              <a:lnSpc>
                <a:spcPts val="3000"/>
              </a:lnSpc>
            </a:pPr>
            <a:r>
              <a:rPr lang="zh-CN" altLang="en-US" b="1" dirty="0">
                <a:latin typeface="微软雅黑" pitchFamily="34" charset="-122"/>
                <a:ea typeface="微软雅黑" pitchFamily="34" charset="-122"/>
              </a:rPr>
              <a:t>使每一个区域内部交换路由信息的通信量大大减小，因而使 </a:t>
            </a:r>
            <a:r>
              <a:rPr lang="en-US" altLang="zh-CN" b="1" dirty="0">
                <a:latin typeface="微软雅黑" pitchFamily="34" charset="-122"/>
                <a:ea typeface="微软雅黑" pitchFamily="34" charset="-122"/>
              </a:rPr>
              <a:t>OSPF </a:t>
            </a:r>
            <a:r>
              <a:rPr lang="zh-CN" altLang="en-US" b="1" dirty="0">
                <a:latin typeface="微软雅黑" pitchFamily="34" charset="-122"/>
                <a:ea typeface="微软雅黑" pitchFamily="34" charset="-122"/>
              </a:rPr>
              <a:t>协议能够用于规模很大的自治系统中。</a:t>
            </a:r>
          </a:p>
        </p:txBody>
      </p:sp>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71739" y="3474885"/>
            <a:ext cx="402414" cy="120451"/>
          </a:xfrm>
          <a:prstGeom prst="leftArrow">
            <a:avLst>
              <a:gd name="adj1" fmla="val 50000"/>
              <a:gd name="adj2" fmla="val 77098"/>
            </a:avLst>
          </a:prstGeom>
          <a:solidFill>
            <a:srgbClr val="CC00CC"/>
          </a:solidFill>
          <a:ln w="9525">
            <a:solidFill>
              <a:srgbClr val="0000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rgbClr val="C3E3F9"/>
          </a:solidFill>
          <a:ln>
            <a:noFill/>
          </a:ln>
          <a:effectLst/>
        </p:spPr>
        <p:txBody>
          <a:bodyPr wrap="none">
            <a:spAutoFit/>
          </a:bodyPr>
          <a:lstStyle/>
          <a:p>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rgbClr val="99FFCC"/>
              </a:gs>
              <a:gs pos="100000">
                <a:srgbClr val="00B0F0"/>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4" name="Freeform 6"/>
          <p:cNvSpPr>
            <a:spLocks/>
          </p:cNvSpPr>
          <p:nvPr/>
        </p:nvSpPr>
        <p:spPr bwMode="auto">
          <a:xfrm>
            <a:off x="3396266" y="3171497"/>
            <a:ext cx="3271321"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rgbClr val="00B0F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5" name="Rectangle 7"/>
          <p:cNvSpPr>
            <a:spLocks noChangeArrowheads="1"/>
          </p:cNvSpPr>
          <p:nvPr/>
        </p:nvSpPr>
        <p:spPr bwMode="auto">
          <a:xfrm>
            <a:off x="3031265" y="3388127"/>
            <a:ext cx="3296871" cy="313339"/>
          </a:xfrm>
          <a:prstGeom prst="rect">
            <a:avLst/>
          </a:prstGeom>
          <a:solidFill>
            <a:srgbClr val="00B050"/>
          </a:solidFill>
          <a:ln w="19050">
            <a:solidFill>
              <a:srgbClr val="3333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6" name="Rectangle 8"/>
          <p:cNvSpPr>
            <a:spLocks noChangeArrowheads="1"/>
          </p:cNvSpPr>
          <p:nvPr/>
        </p:nvSpPr>
        <p:spPr bwMode="auto">
          <a:xfrm>
            <a:off x="3957456" y="3403202"/>
            <a:ext cx="2366118" cy="279494"/>
          </a:xfrm>
          <a:prstGeom prst="rect">
            <a:avLst/>
          </a:prstGeom>
          <a:solidFill>
            <a:srgbClr val="00FF9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3952893"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62090" y="3417214"/>
            <a:ext cx="107273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IP </a:t>
            </a:r>
            <a:r>
              <a:rPr kumimoji="1" lang="zh-CN" altLang="zh-CN" sz="1100" b="1" dirty="0">
                <a:solidFill>
                  <a:schemeClr val="bg1"/>
                </a:solidFill>
                <a:latin typeface="微软雅黑" pitchFamily="34" charset="-122"/>
                <a:ea typeface="微软雅黑" pitchFamily="34" charset="-122"/>
              </a:rPr>
              <a:t>数据报首部</a:t>
            </a:r>
            <a:endParaRPr kumimoji="1" lang="zh-CN" altLang="en-US" sz="1100" b="1" dirty="0">
              <a:solidFill>
                <a:schemeClr val="bg1"/>
              </a:solidFill>
              <a:latin typeface="微软雅黑" pitchFamily="34" charset="-122"/>
              <a:ea typeface="微软雅黑"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170" name="Rectangle 12"/>
          <p:cNvSpPr>
            <a:spLocks noChangeArrowheads="1"/>
          </p:cNvSpPr>
          <p:nvPr/>
        </p:nvSpPr>
        <p:spPr bwMode="auto">
          <a:xfrm>
            <a:off x="3371629" y="2851418"/>
            <a:ext cx="3295958" cy="313339"/>
          </a:xfrm>
          <a:prstGeom prst="rect">
            <a:avLst/>
          </a:prstGeom>
          <a:solidFill>
            <a:srgbClr val="0000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2" name="Rectangle 14"/>
          <p:cNvSpPr>
            <a:spLocks noChangeArrowheads="1"/>
          </p:cNvSpPr>
          <p:nvPr/>
        </p:nvSpPr>
        <p:spPr bwMode="auto">
          <a:xfrm>
            <a:off x="4443819" y="2866580"/>
            <a:ext cx="2219205" cy="296493"/>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91293"/>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OSPF </a:t>
            </a:r>
            <a:r>
              <a:rPr kumimoji="1" lang="zh-CN" altLang="en-US" sz="1100" b="1" dirty="0">
                <a:solidFill>
                  <a:schemeClr val="bg1"/>
                </a:solidFill>
                <a:latin typeface="微软雅黑" pitchFamily="34" charset="-122"/>
                <a:ea typeface="微软雅黑"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579782" y="2623994"/>
            <a:ext cx="681597" cy="261610"/>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50" b="1" dirty="0">
                <a:latin typeface="微软雅黑" pitchFamily="34" charset="-122"/>
                <a:ea typeface="微软雅黑" pitchFamily="34" charset="-122"/>
              </a:rPr>
              <a:t>24 </a:t>
            </a:r>
            <a:r>
              <a:rPr kumimoji="1" lang="zh-CN" altLang="en-US" sz="1050" b="1" dirty="0">
                <a:latin typeface="微软雅黑" pitchFamily="34" charset="-122"/>
                <a:ea typeface="微软雅黑" pitchFamily="34" charset="-122"/>
              </a:rPr>
              <a:t>字节</a:t>
            </a:r>
          </a:p>
        </p:txBody>
      </p:sp>
      <p:sp>
        <p:nvSpPr>
          <p:cNvPr id="181" name="Rectangle 23"/>
          <p:cNvSpPr>
            <a:spLocks noChangeArrowheads="1"/>
          </p:cNvSpPr>
          <p:nvPr/>
        </p:nvSpPr>
        <p:spPr bwMode="auto">
          <a:xfrm>
            <a:off x="2217313" y="1327160"/>
            <a:ext cx="4643724" cy="1184287"/>
          </a:xfrm>
          <a:prstGeom prst="rect">
            <a:avLst/>
          </a:prstGeom>
          <a:solidFill>
            <a:srgbClr val="99FFCC"/>
          </a:solidFill>
          <a:ln w="9525">
            <a:solidFill>
              <a:srgbClr val="333399"/>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9" name="Rectangle 31"/>
          <p:cNvSpPr>
            <a:spLocks noChangeArrowheads="1"/>
          </p:cNvSpPr>
          <p:nvPr/>
        </p:nvSpPr>
        <p:spPr bwMode="auto">
          <a:xfrm>
            <a:off x="2105335" y="1141273"/>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190" name="Rectangle 32"/>
          <p:cNvSpPr>
            <a:spLocks noChangeArrowheads="1"/>
          </p:cNvSpPr>
          <p:nvPr/>
        </p:nvSpPr>
        <p:spPr bwMode="auto">
          <a:xfrm>
            <a:off x="3244138" y="1141273"/>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8</a:t>
            </a:r>
          </a:p>
        </p:txBody>
      </p:sp>
      <p:sp>
        <p:nvSpPr>
          <p:cNvPr id="191" name="Rectangle 33"/>
          <p:cNvSpPr>
            <a:spLocks noChangeArrowheads="1"/>
          </p:cNvSpPr>
          <p:nvPr/>
        </p:nvSpPr>
        <p:spPr bwMode="auto">
          <a:xfrm>
            <a:off x="4394804" y="1141273"/>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92" name="Rectangle 34"/>
          <p:cNvSpPr>
            <a:spLocks noChangeArrowheads="1"/>
          </p:cNvSpPr>
          <p:nvPr/>
        </p:nvSpPr>
        <p:spPr bwMode="auto">
          <a:xfrm>
            <a:off x="6630840" y="1141273"/>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CC"/>
                </a:solidFill>
                <a:latin typeface="微软雅黑" pitchFamily="34" charset="-122"/>
                <a:ea typeface="微软雅黑" pitchFamily="34" charset="-122"/>
              </a:rPr>
              <a:t>31</a:t>
            </a:r>
          </a:p>
        </p:txBody>
      </p:sp>
      <p:sp>
        <p:nvSpPr>
          <p:cNvPr id="193" name="Rectangle 35"/>
          <p:cNvSpPr>
            <a:spLocks noChangeArrowheads="1"/>
          </p:cNvSpPr>
          <p:nvPr/>
        </p:nvSpPr>
        <p:spPr bwMode="auto">
          <a:xfrm>
            <a:off x="2545815" y="1352693"/>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版    本</a:t>
            </a:r>
          </a:p>
        </p:txBody>
      </p:sp>
      <p:sp>
        <p:nvSpPr>
          <p:cNvPr id="194" name="Rectangle 36"/>
          <p:cNvSpPr>
            <a:spLocks noChangeArrowheads="1"/>
          </p:cNvSpPr>
          <p:nvPr/>
        </p:nvSpPr>
        <p:spPr bwMode="auto">
          <a:xfrm>
            <a:off x="3662717" y="1540264"/>
            <a:ext cx="18626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a:latin typeface="微软雅黑" pitchFamily="34" charset="-122"/>
                <a:ea typeface="微软雅黑" pitchFamily="34" charset="-122"/>
              </a:rPr>
              <a:t>路    由    器    标    识    符</a:t>
            </a:r>
          </a:p>
        </p:txBody>
      </p:sp>
      <p:sp>
        <p:nvSpPr>
          <p:cNvPr id="195" name="Rectangle 37"/>
          <p:cNvSpPr>
            <a:spLocks noChangeArrowheads="1"/>
          </p:cNvSpPr>
          <p:nvPr/>
        </p:nvSpPr>
        <p:spPr bwMode="auto">
          <a:xfrm>
            <a:off x="3728417" y="1326317"/>
            <a:ext cx="63158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类    型</a:t>
            </a:r>
          </a:p>
        </p:txBody>
      </p:sp>
      <p:sp>
        <p:nvSpPr>
          <p:cNvPr id="196" name="Rectangle 38"/>
          <p:cNvSpPr>
            <a:spLocks noChangeArrowheads="1"/>
          </p:cNvSpPr>
          <p:nvPr/>
        </p:nvSpPr>
        <p:spPr bwMode="auto">
          <a:xfrm>
            <a:off x="5133671" y="1326317"/>
            <a:ext cx="124713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a:latin typeface="微软雅黑" pitchFamily="34" charset="-122"/>
                <a:ea typeface="微软雅黑" pitchFamily="34" charset="-122"/>
              </a:rPr>
              <a:t>分    组    长    度</a:t>
            </a:r>
          </a:p>
        </p:txBody>
      </p:sp>
      <p:sp>
        <p:nvSpPr>
          <p:cNvPr id="197" name="Rectangle 39"/>
          <p:cNvSpPr>
            <a:spLocks noChangeArrowheads="1"/>
          </p:cNvSpPr>
          <p:nvPr/>
        </p:nvSpPr>
        <p:spPr bwMode="auto">
          <a:xfrm>
            <a:off x="2990203" y="1932780"/>
            <a:ext cx="8560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a:latin typeface="微软雅黑" pitchFamily="34" charset="-122"/>
                <a:ea typeface="微软雅黑" pitchFamily="34" charset="-122"/>
              </a:rPr>
              <a:t>检   验   和</a:t>
            </a:r>
          </a:p>
        </p:txBody>
      </p:sp>
      <p:sp>
        <p:nvSpPr>
          <p:cNvPr id="198" name="Rectangle 40"/>
          <p:cNvSpPr>
            <a:spLocks noChangeArrowheads="1"/>
          </p:cNvSpPr>
          <p:nvPr/>
        </p:nvSpPr>
        <p:spPr bwMode="auto">
          <a:xfrm>
            <a:off x="4129006" y="2119773"/>
            <a:ext cx="96500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a:latin typeface="微软雅黑" pitchFamily="34" charset="-122"/>
                <a:ea typeface="微软雅黑" pitchFamily="34" charset="-122"/>
              </a:rPr>
              <a:t>鉴            别</a:t>
            </a:r>
          </a:p>
        </p:txBody>
      </p:sp>
      <p:sp>
        <p:nvSpPr>
          <p:cNvPr id="199" name="Rectangle 41"/>
          <p:cNvSpPr>
            <a:spLocks noChangeArrowheads="1"/>
          </p:cNvSpPr>
          <p:nvPr/>
        </p:nvSpPr>
        <p:spPr bwMode="auto">
          <a:xfrm>
            <a:off x="1804210" y="1132850"/>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200" name="Rectangle 42"/>
          <p:cNvSpPr>
            <a:spLocks noChangeArrowheads="1"/>
          </p:cNvSpPr>
          <p:nvPr/>
        </p:nvSpPr>
        <p:spPr bwMode="auto">
          <a:xfrm>
            <a:off x="4129006" y="2316031"/>
            <a:ext cx="96500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a:latin typeface="微软雅黑" pitchFamily="34" charset="-122"/>
                <a:ea typeface="微软雅黑" pitchFamily="34" charset="-122"/>
              </a:rPr>
              <a:t>鉴            别</a:t>
            </a:r>
          </a:p>
        </p:txBody>
      </p:sp>
      <p:sp>
        <p:nvSpPr>
          <p:cNvPr id="201" name="Rectangle 43"/>
          <p:cNvSpPr>
            <a:spLocks noChangeArrowheads="1"/>
          </p:cNvSpPr>
          <p:nvPr/>
        </p:nvSpPr>
        <p:spPr bwMode="auto">
          <a:xfrm>
            <a:off x="3838831" y="1735679"/>
            <a:ext cx="155491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a:latin typeface="微软雅黑" pitchFamily="34" charset="-122"/>
                <a:ea typeface="微软雅黑" pitchFamily="34" charset="-122"/>
              </a:rPr>
              <a:t>区    域    标    识    符</a:t>
            </a:r>
          </a:p>
        </p:txBody>
      </p:sp>
      <p:sp>
        <p:nvSpPr>
          <p:cNvPr id="202" name="Rectangle 44"/>
          <p:cNvSpPr>
            <a:spLocks noChangeArrowheads="1"/>
          </p:cNvSpPr>
          <p:nvPr/>
        </p:nvSpPr>
        <p:spPr bwMode="auto">
          <a:xfrm>
            <a:off x="5146446" y="1932780"/>
            <a:ext cx="124713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a:latin typeface="微软雅黑" pitchFamily="34" charset="-122"/>
                <a:ea typeface="微软雅黑"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421957" y="2880073"/>
            <a:ext cx="229101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类型 </a:t>
            </a:r>
            <a:r>
              <a:rPr kumimoji="1" lang="en-US" altLang="zh-CN" sz="1200" b="1" dirty="0">
                <a:latin typeface="微软雅黑" pitchFamily="34" charset="-122"/>
                <a:ea typeface="微软雅黑" pitchFamily="34" charset="-122"/>
              </a:rPr>
              <a:t>1 </a:t>
            </a:r>
            <a:r>
              <a:rPr kumimoji="1" lang="zh-CN" altLang="en-US" sz="1200" b="1" dirty="0">
                <a:latin typeface="微软雅黑" pitchFamily="34" charset="-122"/>
                <a:ea typeface="微软雅黑" pitchFamily="34" charset="-122"/>
              </a:rPr>
              <a:t>至类型 </a:t>
            </a:r>
            <a:r>
              <a:rPr kumimoji="1" lang="en-US" altLang="zh-CN" sz="1200" b="1" dirty="0">
                <a:latin typeface="微软雅黑" pitchFamily="34" charset="-122"/>
                <a:ea typeface="微软雅黑" pitchFamily="34" charset="-122"/>
              </a:rPr>
              <a:t>5 </a:t>
            </a:r>
            <a:r>
              <a:rPr kumimoji="1" lang="zh-CN" altLang="en-US" sz="1200" b="1" dirty="0">
                <a:latin typeface="微软雅黑" pitchFamily="34" charset="-122"/>
                <a:ea typeface="微软雅黑" pitchFamily="34" charset="-122"/>
              </a:rPr>
              <a:t>的 </a:t>
            </a:r>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其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数据报首部的协议字段值为 </a:t>
            </a:r>
            <a:r>
              <a:rPr lang="en-US" altLang="zh-CN" sz="1400" b="1" dirty="0">
                <a:latin typeface="微软雅黑" panose="020B0503020204020204" pitchFamily="34" charset="-122"/>
                <a:ea typeface="微软雅黑" panose="020B0503020204020204" pitchFamily="34" charset="-122"/>
              </a:rPr>
              <a:t>89</a:t>
            </a:r>
            <a:endParaRPr lang="zh-CN" altLang="en-US" sz="1400" b="1"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en-US" altLang="zh-CN" dirty="0"/>
              <a:t>1</a:t>
            </a:r>
            <a:r>
              <a:rPr lang="zh-CN" altLang="en-US" dirty="0"/>
              <a:t> 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en-US" altLang="zh-CN" dirty="0"/>
              <a:t>2</a:t>
            </a:r>
            <a:r>
              <a:rPr lang="zh-CN" altLang="en-US" dirty="0"/>
              <a:t> 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endParaRPr lang="zh-CN" altLang="en-US" dirty="0"/>
          </a:p>
        </p:txBody>
      </p:sp>
      <p:sp>
        <p:nvSpPr>
          <p:cNvPr id="49" name="矩形 48"/>
          <p:cNvSpPr/>
          <p:nvPr/>
        </p:nvSpPr>
        <p:spPr>
          <a:xfrm>
            <a:off x="1607127" y="3803582"/>
            <a:ext cx="5735782" cy="718530"/>
          </a:xfrm>
          <a:prstGeom prst="rect">
            <a:avLst/>
          </a:prstGeom>
          <a:solidFill>
            <a:srgbClr val="000066"/>
          </a:solidFill>
          <a:ln>
            <a:noFill/>
          </a:ln>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nSpc>
                <a:spcPts val="2600"/>
              </a:lnSpc>
            </a:pPr>
            <a:r>
              <a:rPr lang="zh-CN" altLang="en-US" sz="1400" dirty="0">
                <a:latin typeface="微软雅黑" panose="020B0503020204020204" pitchFamily="34" charset="-122"/>
                <a:ea typeface="微软雅黑" panose="020B0503020204020204" pitchFamily="34" charset="-122"/>
              </a:rPr>
              <a:t>不是完全邻接的路由器：它们虽然在物理上是相邻的，但其链路状态数据库并没有达到一致。</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9880FE-F110-50AA-9AA7-31E0D4FF6F1B}"/>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7" name="内容占位符 6">
            <a:extLst>
              <a:ext uri="{FF2B5EF4-FFF2-40B4-BE49-F238E27FC236}">
                <a16:creationId xmlns:a16="http://schemas.microsoft.com/office/drawing/2014/main" id="{EF239036-638D-9181-AFB6-DFA85831CC41}"/>
              </a:ext>
            </a:extLst>
          </p:cNvPr>
          <p:cNvSpPr>
            <a:spLocks noGrp="1"/>
          </p:cNvSpPr>
          <p:nvPr>
            <p:ph sz="quarter" idx="11"/>
          </p:nvPr>
        </p:nvSpPr>
        <p:spPr>
          <a:xfrm>
            <a:off x="486000" y="900000"/>
            <a:ext cx="8172000" cy="3703500"/>
          </a:xfrm>
        </p:spPr>
        <p:txBody>
          <a:bodyPr/>
          <a:lstStyle/>
          <a:p>
            <a:r>
              <a:rPr lang="en-US" altLang="zh-CN" dirty="0"/>
              <a:t>3</a:t>
            </a:r>
            <a:r>
              <a:rPr lang="zh-CN" altLang="en-US" dirty="0"/>
              <a:t> 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endParaRPr lang="en-US" altLang="zh-CN" dirty="0"/>
          </a:p>
          <a:p>
            <a:endParaRPr lang="zh-CN" altLang="en-US" dirty="0"/>
          </a:p>
        </p:txBody>
      </p:sp>
      <p:sp>
        <p:nvSpPr>
          <p:cNvPr id="6" name="矩形 5"/>
          <p:cNvSpPr/>
          <p:nvPr/>
        </p:nvSpPr>
        <p:spPr>
          <a:xfrm>
            <a:off x="846106" y="3256680"/>
            <a:ext cx="7651348" cy="1092607"/>
          </a:xfrm>
          <a:prstGeom prst="rect">
            <a:avLst/>
          </a:prstGeom>
          <a:solidFill>
            <a:srgbClr val="000066"/>
          </a:solidFill>
          <a:ln>
            <a:noFill/>
          </a:ln>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nSpc>
                <a:spcPts val="2600"/>
              </a:lnSpc>
            </a:pPr>
            <a:r>
              <a:rPr lang="en-US" altLang="zh-CN" sz="1400" dirty="0">
                <a:solidFill>
                  <a:schemeClr val="lt1"/>
                </a:solidFill>
                <a:latin typeface="微软雅黑" panose="020B0503020204020204" pitchFamily="34" charset="-122"/>
                <a:ea typeface="微软雅黑" panose="020B0503020204020204" pitchFamily="34" charset="-122"/>
              </a:rPr>
              <a:t>OSPF </a:t>
            </a:r>
            <a:r>
              <a:rPr lang="zh-CN" altLang="en-US" sz="1400" dirty="0">
                <a:solidFill>
                  <a:schemeClr val="lt1"/>
                </a:solidFill>
                <a:latin typeface="微软雅黑" panose="020B0503020204020204" pitchFamily="34" charset="-122"/>
                <a:ea typeface="微软雅黑" panose="020B0503020204020204" pitchFamily="34" charset="-122"/>
              </a:rPr>
              <a:t>链路状态只涉及相邻路由器，与整个互联网的规模并无直接关系，因此当互联网规模很大时，</a:t>
            </a:r>
            <a:r>
              <a:rPr lang="en-US" altLang="zh-CN" sz="1400" dirty="0">
                <a:solidFill>
                  <a:schemeClr val="lt1"/>
                </a:solidFill>
                <a:latin typeface="微软雅黑" panose="020B0503020204020204" pitchFamily="34" charset="-122"/>
                <a:ea typeface="微软雅黑" panose="020B0503020204020204" pitchFamily="34" charset="-122"/>
              </a:rPr>
              <a:t>OSPF </a:t>
            </a:r>
            <a:r>
              <a:rPr lang="zh-CN" altLang="en-US" sz="1400" dirty="0">
                <a:solidFill>
                  <a:schemeClr val="lt1"/>
                </a:solidFill>
                <a:latin typeface="微软雅黑" panose="020B0503020204020204" pitchFamily="34" charset="-122"/>
                <a:ea typeface="微软雅黑" panose="020B0503020204020204" pitchFamily="34" charset="-122"/>
              </a:rPr>
              <a:t>协议要比距离向量协议 </a:t>
            </a:r>
            <a:r>
              <a:rPr lang="en-US" altLang="zh-CN" sz="1400" dirty="0">
                <a:solidFill>
                  <a:schemeClr val="lt1"/>
                </a:solidFill>
                <a:latin typeface="微软雅黑" panose="020B0503020204020204" pitchFamily="34" charset="-122"/>
                <a:ea typeface="微软雅黑" panose="020B0503020204020204" pitchFamily="34" charset="-122"/>
              </a:rPr>
              <a:t>RIP </a:t>
            </a:r>
            <a:r>
              <a:rPr lang="zh-CN" altLang="en-US" sz="1400" dirty="0">
                <a:solidFill>
                  <a:schemeClr val="lt1"/>
                </a:solidFill>
                <a:latin typeface="微软雅黑" panose="020B0503020204020204" pitchFamily="34" charset="-122"/>
                <a:ea typeface="微软雅黑" panose="020B0503020204020204" pitchFamily="34" charset="-122"/>
              </a:rPr>
              <a:t>好得多。</a:t>
            </a:r>
            <a:endParaRPr lang="en-US" altLang="zh-CN" sz="1400" dirty="0">
              <a:solidFill>
                <a:schemeClr val="lt1"/>
              </a:solidFill>
              <a:latin typeface="微软雅黑" panose="020B0503020204020204" pitchFamily="34" charset="-122"/>
              <a:ea typeface="微软雅黑" panose="020B0503020204020204" pitchFamily="34" charset="-122"/>
            </a:endParaRPr>
          </a:p>
          <a:p>
            <a:pPr>
              <a:lnSpc>
                <a:spcPts val="2600"/>
              </a:lnSpc>
            </a:pPr>
            <a:r>
              <a:rPr lang="en-US" altLang="zh-CN" sz="1400" dirty="0">
                <a:solidFill>
                  <a:schemeClr val="lt1"/>
                </a:solidFill>
                <a:latin typeface="微软雅黑" panose="020B0503020204020204" pitchFamily="34" charset="-122"/>
                <a:ea typeface="微软雅黑" panose="020B0503020204020204" pitchFamily="34" charset="-122"/>
              </a:rPr>
              <a:t>OSPF </a:t>
            </a:r>
            <a:r>
              <a:rPr lang="zh-CN" altLang="en-US" sz="1400" dirty="0">
                <a:solidFill>
                  <a:schemeClr val="lt1"/>
                </a:solidFill>
                <a:latin typeface="微软雅黑" panose="020B0503020204020204" pitchFamily="34" charset="-122"/>
                <a:ea typeface="微软雅黑" panose="020B0503020204020204" pitchFamily="34" charset="-122"/>
              </a:rPr>
              <a:t>没有“坏消息传播得慢”的问题，收敛数度快。</a:t>
            </a:r>
          </a:p>
        </p:txBody>
      </p:sp>
    </p:spTree>
    <p:extLst>
      <p:ext uri="{BB962C8B-B14F-4D97-AF65-F5344CB8AC3E}">
        <p14:creationId xmlns:p14="http://schemas.microsoft.com/office/powerpoint/2010/main" val="25792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ChangeArrowheads="1"/>
          </p:cNvSpPr>
          <p:nvPr/>
        </p:nvSpPr>
        <p:spPr bwMode="auto">
          <a:xfrm>
            <a:off x="3091323" y="2548603"/>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 name="Rectangle 4"/>
          <p:cNvSpPr>
            <a:spLocks noChangeArrowheads="1"/>
          </p:cNvSpPr>
          <p:nvPr/>
        </p:nvSpPr>
        <p:spPr bwMode="auto">
          <a:xfrm>
            <a:off x="3091323" y="800842"/>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39"/>
          <p:cNvSpPr txBox="1">
            <a:spLocks noChangeArrowheads="1"/>
          </p:cNvSpPr>
          <p:nvPr/>
        </p:nvSpPr>
        <p:spPr bwMode="auto">
          <a:xfrm>
            <a:off x="475052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更新报文</a:t>
            </a:r>
          </a:p>
        </p:txBody>
      </p:sp>
      <p:sp>
        <p:nvSpPr>
          <p:cNvPr id="6" name="Line 5"/>
          <p:cNvSpPr>
            <a:spLocks noChangeShapeType="1"/>
          </p:cNvSpPr>
          <p:nvPr/>
        </p:nvSpPr>
        <p:spPr bwMode="auto">
          <a:xfrm>
            <a:off x="362791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Freeform 6"/>
          <p:cNvSpPr>
            <a:spLocks/>
          </p:cNvSpPr>
          <p:nvPr/>
        </p:nvSpPr>
        <p:spPr bwMode="auto">
          <a:xfrm>
            <a:off x="362791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Line 7"/>
          <p:cNvSpPr>
            <a:spLocks noChangeShapeType="1"/>
          </p:cNvSpPr>
          <p:nvPr/>
        </p:nvSpPr>
        <p:spPr bwMode="auto">
          <a:xfrm>
            <a:off x="464083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8"/>
          <p:cNvSpPr>
            <a:spLocks noChangeShapeType="1"/>
          </p:cNvSpPr>
          <p:nvPr/>
        </p:nvSpPr>
        <p:spPr bwMode="auto">
          <a:xfrm>
            <a:off x="583261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9"/>
          <p:cNvSpPr>
            <a:spLocks noChangeShapeType="1"/>
          </p:cNvSpPr>
          <p:nvPr/>
        </p:nvSpPr>
        <p:spPr bwMode="auto">
          <a:xfrm>
            <a:off x="483946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Line 10"/>
          <p:cNvSpPr>
            <a:spLocks noChangeShapeType="1"/>
          </p:cNvSpPr>
          <p:nvPr/>
        </p:nvSpPr>
        <p:spPr bwMode="auto">
          <a:xfrm rot="12726376">
            <a:off x="418724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1"/>
          <p:cNvSpPr>
            <a:spLocks noChangeShapeType="1"/>
          </p:cNvSpPr>
          <p:nvPr/>
        </p:nvSpPr>
        <p:spPr bwMode="auto">
          <a:xfrm rot="16200000">
            <a:off x="459423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Line 12"/>
          <p:cNvSpPr>
            <a:spLocks noChangeShapeType="1"/>
          </p:cNvSpPr>
          <p:nvPr/>
        </p:nvSpPr>
        <p:spPr bwMode="auto">
          <a:xfrm>
            <a:off x="3627919"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Freeform 13"/>
          <p:cNvSpPr>
            <a:spLocks/>
          </p:cNvSpPr>
          <p:nvPr/>
        </p:nvSpPr>
        <p:spPr bwMode="auto">
          <a:xfrm>
            <a:off x="3627919"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4640833"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5832612"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17" name="Group 71"/>
          <p:cNvGrpSpPr>
            <a:grpSpLocks/>
          </p:cNvGrpSpPr>
          <p:nvPr/>
        </p:nvGrpSpPr>
        <p:grpSpPr bwMode="auto">
          <a:xfrm>
            <a:off x="5912657"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28" name="Group 70"/>
          <p:cNvGrpSpPr>
            <a:grpSpLocks/>
          </p:cNvGrpSpPr>
          <p:nvPr/>
        </p:nvGrpSpPr>
        <p:grpSpPr bwMode="auto">
          <a:xfrm>
            <a:off x="3974781"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1" name="Line 29"/>
          <p:cNvSpPr>
            <a:spLocks noChangeShapeType="1"/>
          </p:cNvSpPr>
          <p:nvPr/>
        </p:nvSpPr>
        <p:spPr bwMode="auto">
          <a:xfrm>
            <a:off x="4005415"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6" name="Group 73"/>
          <p:cNvGrpSpPr>
            <a:grpSpLocks/>
          </p:cNvGrpSpPr>
          <p:nvPr/>
        </p:nvGrpSpPr>
        <p:grpSpPr bwMode="auto">
          <a:xfrm>
            <a:off x="4089413" y="3712560"/>
            <a:ext cx="2344030" cy="410487"/>
            <a:chOff x="1803" y="3719"/>
            <a:chExt cx="2372" cy="450"/>
          </a:xfrm>
        </p:grpSpPr>
        <p:sp>
          <p:nvSpPr>
            <p:cNvPr id="37" name="AutoShape 32"/>
            <p:cNvSpPr>
              <a:spLocks noChangeArrowheads="1"/>
            </p:cNvSpPr>
            <p:nvPr/>
          </p:nvSpPr>
          <p:spPr bwMode="auto">
            <a:xfrm>
              <a:off x="2399" y="3726"/>
              <a:ext cx="120" cy="292"/>
            </a:xfrm>
            <a:prstGeom prst="downArrow">
              <a:avLst>
                <a:gd name="adj1" fmla="val 50000"/>
                <a:gd name="adj2" fmla="val 80458"/>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42" name="Line 37"/>
          <p:cNvSpPr>
            <a:spLocks noChangeShapeType="1"/>
          </p:cNvSpPr>
          <p:nvPr/>
        </p:nvSpPr>
        <p:spPr bwMode="auto">
          <a:xfrm>
            <a:off x="290785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Text Box 38"/>
          <p:cNvSpPr txBox="1">
            <a:spLocks noChangeArrowheads="1"/>
          </p:cNvSpPr>
          <p:nvPr/>
        </p:nvSpPr>
        <p:spPr bwMode="auto">
          <a:xfrm>
            <a:off x="2815663" y="4005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t</a:t>
            </a:r>
          </a:p>
        </p:txBody>
      </p:sp>
      <p:sp>
        <p:nvSpPr>
          <p:cNvPr id="44" name="Text Box 40"/>
          <p:cNvSpPr txBox="1">
            <a:spLocks noChangeArrowheads="1"/>
          </p:cNvSpPr>
          <p:nvPr/>
        </p:nvSpPr>
        <p:spPr bwMode="auto">
          <a:xfrm>
            <a:off x="4811793" y="3733539"/>
            <a:ext cx="920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ACK</a:t>
            </a:r>
            <a:r>
              <a:rPr kumimoji="1" lang="zh-CN" altLang="en-US" sz="1400" b="1">
                <a:latin typeface="微软雅黑" pitchFamily="34" charset="-122"/>
                <a:ea typeface="微软雅黑"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09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99512" y="1365488"/>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0" name="Text Box 66"/>
          <p:cNvSpPr txBox="1">
            <a:spLocks noChangeArrowheads="1"/>
          </p:cNvSpPr>
          <p:nvPr/>
        </p:nvSpPr>
        <p:spPr bwMode="auto">
          <a:xfrm>
            <a:off x="4199512" y="4001725"/>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p>
        </p:txBody>
      </p:sp>
      <p:sp>
        <p:nvSpPr>
          <p:cNvPr id="71" name="Text Box 67"/>
          <p:cNvSpPr txBox="1">
            <a:spLocks noChangeArrowheads="1"/>
          </p:cNvSpPr>
          <p:nvPr/>
        </p:nvSpPr>
        <p:spPr bwMode="auto">
          <a:xfrm>
            <a:off x="4188641" y="3105951"/>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2" name="Text Box 68"/>
          <p:cNvSpPr txBox="1">
            <a:spLocks noChangeArrowheads="1"/>
          </p:cNvSpPr>
          <p:nvPr/>
        </p:nvSpPr>
        <p:spPr bwMode="auto">
          <a:xfrm>
            <a:off x="4199512" y="2239369"/>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3" name="Text Box 69"/>
          <p:cNvSpPr txBox="1">
            <a:spLocks noChangeArrowheads="1"/>
          </p:cNvSpPr>
          <p:nvPr/>
        </p:nvSpPr>
        <p:spPr bwMode="auto">
          <a:xfrm>
            <a:off x="3210896" y="1051695"/>
            <a:ext cx="332142" cy="303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2</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4</a:t>
            </a:r>
            <a:endParaRPr kumimoji="1" lang="en-US" altLang="zh-CN" sz="1400" b="1" dirty="0">
              <a:latin typeface="微软雅黑" pitchFamily="34" charset="-122"/>
              <a:ea typeface="微软雅黑" pitchFamily="34" charset="-122"/>
            </a:endParaRPr>
          </a:p>
        </p:txBody>
      </p:sp>
      <p:sp>
        <p:nvSpPr>
          <p:cNvPr id="75" name="Text Box 155"/>
          <p:cNvSpPr txBox="1">
            <a:spLocks noChangeArrowheads="1"/>
          </p:cNvSpPr>
          <p:nvPr/>
        </p:nvSpPr>
        <p:spPr bwMode="auto">
          <a:xfrm>
            <a:off x="957355" y="1074860"/>
            <a:ext cx="1647451" cy="1006429"/>
          </a:xfrm>
          <a:prstGeom prst="rect">
            <a:avLst/>
          </a:prstGeom>
          <a:solidFill>
            <a:schemeClr val="bg1"/>
          </a:solidFill>
          <a:ln w="9525">
            <a:noFill/>
            <a:miter lim="800000"/>
            <a:headEnd/>
            <a:tailEnd/>
          </a:ln>
          <a:effectLst/>
        </p:spPr>
        <p:txBody>
          <a:bodyPr wrap="square">
            <a:spAutoFit/>
          </a:bodyPr>
          <a:lstStyle/>
          <a:p>
            <a:pPr>
              <a:lnSpc>
                <a:spcPct val="110000"/>
              </a:lnSpc>
            </a:pPr>
            <a:r>
              <a:rPr lang="en-US" altLang="zh-CN" b="1" dirty="0">
                <a:latin typeface="微软雅黑" pitchFamily="34" charset="-122"/>
                <a:ea typeface="微软雅黑" pitchFamily="34" charset="-122"/>
              </a:rPr>
              <a:t>OSPF </a:t>
            </a:r>
            <a:r>
              <a:rPr lang="zh-CN" altLang="en-US" b="1" dirty="0">
                <a:latin typeface="微软雅黑" pitchFamily="34" charset="-122"/>
                <a:ea typeface="微软雅黑" pitchFamily="34" charset="-122"/>
              </a:rPr>
              <a:t>使用</a:t>
            </a:r>
            <a:endParaRPr lang="en-US" altLang="zh-CN" b="1" dirty="0">
              <a:latin typeface="微软雅黑" pitchFamily="34" charset="-122"/>
              <a:ea typeface="微软雅黑" pitchFamily="34" charset="-122"/>
            </a:endParaRPr>
          </a:p>
          <a:p>
            <a:pPr>
              <a:lnSpc>
                <a:spcPct val="110000"/>
              </a:lnSpc>
            </a:pPr>
            <a:r>
              <a:rPr lang="zh-CN" altLang="en-US" b="1" dirty="0">
                <a:solidFill>
                  <a:srgbClr val="C00000"/>
                </a:solidFill>
                <a:latin typeface="微软雅黑" pitchFamily="34" charset="-122"/>
                <a:ea typeface="微软雅黑" pitchFamily="34" charset="-122"/>
              </a:rPr>
              <a:t>可靠的洪泛法</a:t>
            </a:r>
            <a:endParaRPr lang="en-US" altLang="zh-CN" b="1" dirty="0">
              <a:solidFill>
                <a:srgbClr val="C00000"/>
              </a:solidFill>
              <a:latin typeface="微软雅黑" pitchFamily="34" charset="-122"/>
              <a:ea typeface="微软雅黑" pitchFamily="34" charset="-122"/>
            </a:endParaRPr>
          </a:p>
          <a:p>
            <a:pPr>
              <a:lnSpc>
                <a:spcPct val="110000"/>
              </a:lnSpc>
            </a:pPr>
            <a:r>
              <a:rPr lang="zh-CN" altLang="en-US" b="1" dirty="0">
                <a:latin typeface="微软雅黑" pitchFamily="34" charset="-122"/>
                <a:ea typeface="微软雅黑"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1"/>
                                        </p:tgtEl>
                                        <p:attrNameLst>
                                          <p:attrName>style.visibility</p:attrName>
                                        </p:attrNameLst>
                                      </p:cBhvr>
                                      <p:to>
                                        <p:strVal val="visible"/>
                                      </p:to>
                                    </p:set>
                                  </p:childTnLst>
                                </p:cTn>
                              </p:par>
                            </p:childTnLst>
                          </p:cTn>
                        </p:par>
                        <p:par>
                          <p:cTn id="10" fill="hold">
                            <p:stCondLst>
                              <p:cond delay="2000"/>
                            </p:stCondLst>
                            <p:childTnLst>
                              <p:par>
                                <p:cTn id="11" presetID="10" presetClass="entr" presetSubtype="0" fill="hold" grpId="0" nodeType="afterEffect">
                                  <p:stCondLst>
                                    <p:cond delay="10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3500"/>
                            </p:stCondLst>
                            <p:childTnLst>
                              <p:par>
                                <p:cTn id="15" presetID="1" presetClass="entr" presetSubtype="0" fill="hold" nodeType="afterEffect">
                                  <p:stCondLst>
                                    <p:cond delay="1000"/>
                                  </p:stCondLst>
                                  <p:childTnLst>
                                    <p:set>
                                      <p:cBhvr>
                                        <p:cTn id="16" dur="1" fill="hold">
                                          <p:stCondLst>
                                            <p:cond delay="0"/>
                                          </p:stCondLst>
                                        </p:cTn>
                                        <p:tgtEl>
                                          <p:spTgt spid="28"/>
                                        </p:tgtEl>
                                        <p:attrNameLst>
                                          <p:attrName>style.visibility</p:attrName>
                                        </p:attrNameLst>
                                      </p:cBhvr>
                                      <p:to>
                                        <p:strVal val="visible"/>
                                      </p:to>
                                    </p:set>
                                  </p:childTnLst>
                                </p:cTn>
                              </p:par>
                            </p:childTnLst>
                          </p:cTn>
                        </p:par>
                        <p:par>
                          <p:cTn id="17" fill="hold">
                            <p:stCondLst>
                              <p:cond delay="4500"/>
                            </p:stCondLst>
                            <p:childTnLst>
                              <p:par>
                                <p:cTn id="18" presetID="1" presetClass="entr" presetSubtype="0" fill="hold" nodeType="afterEffect">
                                  <p:stCondLst>
                                    <p:cond delay="1000"/>
                                  </p:stCondLst>
                                  <p:childTnLst>
                                    <p:set>
                                      <p:cBhvr>
                                        <p:cTn id="19" dur="1" fill="hold">
                                          <p:stCondLst>
                                            <p:cond delay="0"/>
                                          </p:stCondLst>
                                        </p:cTn>
                                        <p:tgtEl>
                                          <p:spTgt spid="32"/>
                                        </p:tgtEl>
                                        <p:attrNameLst>
                                          <p:attrName>style.visibility</p:attrName>
                                        </p:attrNameLst>
                                      </p:cBhvr>
                                      <p:to>
                                        <p:strVal val="visible"/>
                                      </p:to>
                                    </p:set>
                                  </p:childTnLst>
                                </p:cTn>
                              </p:par>
                            </p:childTnLst>
                          </p:cTn>
                        </p:par>
                        <p:par>
                          <p:cTn id="20" fill="hold">
                            <p:stCondLst>
                              <p:cond delay="5500"/>
                            </p:stCondLst>
                            <p:childTnLst>
                              <p:par>
                                <p:cTn id="21" presetID="1" presetClass="entr" presetSubtype="0" fill="hold" grpId="0" nodeType="afterEffect">
                                  <p:stCondLst>
                                    <p:cond delay="1000"/>
                                  </p:stCondLst>
                                  <p:childTnLst>
                                    <p:set>
                                      <p:cBhvr>
                                        <p:cTn id="22" dur="1" fill="hold">
                                          <p:stCondLst>
                                            <p:cond delay="0"/>
                                          </p:stCondLst>
                                        </p:cTn>
                                        <p:tgtEl>
                                          <p:spTgt spid="10"/>
                                        </p:tgtEl>
                                        <p:attrNameLst>
                                          <p:attrName>style.visibility</p:attrName>
                                        </p:attrNameLst>
                                      </p:cBhvr>
                                      <p:to>
                                        <p:strVal val="visible"/>
                                      </p:to>
                                    </p:set>
                                  </p:childTnLst>
                                </p:cTn>
                              </p:par>
                            </p:childTnLst>
                          </p:cTn>
                        </p:par>
                        <p:par>
                          <p:cTn id="23" fill="hold">
                            <p:stCondLst>
                              <p:cond delay="6500"/>
                            </p:stCondLst>
                            <p:childTnLst>
                              <p:par>
                                <p:cTn id="24" presetID="1" presetClass="entr" presetSubtype="0" fill="hold" nodeType="afterEffect">
                                  <p:stCondLst>
                                    <p:cond delay="100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7500"/>
                            </p:stCondLst>
                            <p:childTnLst>
                              <p:par>
                                <p:cTn id="27" presetID="1" presetClass="entr" presetSubtype="0" fill="hold" grpId="0" nodeType="afterEffect">
                                  <p:stCondLst>
                                    <p:cond delay="1000"/>
                                  </p:stCondLst>
                                  <p:childTnLst>
                                    <p:set>
                                      <p:cBhvr>
                                        <p:cTn id="28" dur="1" fill="hold">
                                          <p:stCondLst>
                                            <p:cond delay="0"/>
                                          </p:stCondLst>
                                        </p:cTn>
                                        <p:tgtEl>
                                          <p:spTgt spid="35"/>
                                        </p:tgtEl>
                                        <p:attrNameLst>
                                          <p:attrName>style.visibility</p:attrName>
                                        </p:attrNameLst>
                                      </p:cBhvr>
                                      <p:to>
                                        <p:strVal val="visible"/>
                                      </p:to>
                                    </p:set>
                                  </p:childTnLst>
                                </p:cTn>
                              </p:par>
                            </p:childTnLst>
                          </p:cTn>
                        </p:par>
                        <p:par>
                          <p:cTn id="29" fill="hold">
                            <p:stCondLst>
                              <p:cond delay="8500"/>
                            </p:stCondLst>
                            <p:childTnLst>
                              <p:par>
                                <p:cTn id="30" presetID="1" presetClass="entr" presetSubtype="0" fill="hold" nodeType="afterEffect">
                                  <p:stCondLst>
                                    <p:cond delay="1250"/>
                                  </p:stCondLst>
                                  <p:childTnLst>
                                    <p:set>
                                      <p:cBhvr>
                                        <p:cTn id="3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31" grpId="0" animBg="1"/>
      <p:bldP spid="35" grpId="0" animBg="1"/>
    </p:bld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指定的路由器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多点接入的局域网采用了指定的路由器 </a:t>
            </a:r>
            <a:r>
              <a:rPr lang="en-US" altLang="zh-CN" dirty="0"/>
              <a:t>DR (designated router) </a:t>
            </a:r>
            <a:r>
              <a:rPr lang="zh-CN" altLang="en-US" dirty="0"/>
              <a:t>的方法，使广播的信息量大大减少。</a:t>
            </a:r>
          </a:p>
          <a:p>
            <a:r>
              <a:rPr lang="zh-CN" altLang="en-US" dirty="0"/>
              <a:t>指定的路由器代表该局域网上所有的链路向连接到该网络上的各路由器发送状态信息。 </a:t>
            </a:r>
          </a:p>
          <a:p>
            <a:endParaRPr lang="zh-CN" altLang="en-US" dirty="0"/>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258813"/>
            <a:ext cx="6258503" cy="2717359"/>
            <a:chOff x="1113847" y="1369650"/>
            <a:chExt cx="6258503" cy="2717359"/>
          </a:xfrm>
        </p:grpSpPr>
        <p:sp>
          <p:nvSpPr>
            <p:cNvPr id="6" name="矩形 5"/>
            <p:cNvSpPr/>
            <p:nvPr/>
          </p:nvSpPr>
          <p:spPr>
            <a:xfrm>
              <a:off x="3408795" y="1369650"/>
              <a:ext cx="2540000" cy="424873"/>
            </a:xfrm>
            <a:prstGeom prst="rect">
              <a:avLst/>
            </a:prstGeom>
            <a:solidFill>
              <a:srgbClr val="0099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solidFill>
              <a:srgbClr val="0099CC"/>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latin typeface="微软雅黑" panose="020B0503020204020204" pitchFamily="34" charset="-122"/>
                  <a:ea typeface="微软雅黑" panose="020B0503020204020204" pitchFamily="34" charset="-122"/>
                </a:rPr>
                <a:t>域内路由选择</a:t>
              </a:r>
            </a:p>
          </p:txBody>
        </p:sp>
        <p:sp>
          <p:nvSpPr>
            <p:cNvPr id="8" name="矩形 7"/>
            <p:cNvSpPr/>
            <p:nvPr/>
          </p:nvSpPr>
          <p:spPr>
            <a:xfrm>
              <a:off x="5569906" y="2239530"/>
              <a:ext cx="1802444" cy="424873"/>
            </a:xfrm>
            <a:prstGeom prst="rect">
              <a:avLst/>
            </a:prstGeom>
            <a:solidFill>
              <a:srgbClr val="0099CC"/>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latin typeface="微软雅黑" panose="020B0503020204020204" pitchFamily="34" charset="-122"/>
                  <a:ea typeface="微软雅黑" panose="020B0503020204020204" pitchFamily="34" charset="-122"/>
                </a:rPr>
                <a:t>域间路由选择</a:t>
              </a:r>
            </a:p>
          </p:txBody>
        </p:sp>
        <p:sp>
          <p:nvSpPr>
            <p:cNvPr id="9" name="矩形 8"/>
            <p:cNvSpPr/>
            <p:nvPr/>
          </p:nvSpPr>
          <p:spPr>
            <a:xfrm>
              <a:off x="1113847" y="3109407"/>
              <a:ext cx="1802444" cy="670653"/>
            </a:xfrm>
            <a:prstGeom prst="rect">
              <a:avLst/>
            </a:prstGeom>
            <a:solidFill>
              <a:srgbClr val="CC66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C66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solidFill>
              <a:srgbClr val="CC6600"/>
            </a:solidFill>
            <a:ln w="12700">
              <a:solidFill>
                <a:schemeClr val="tx1"/>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000099"/>
                  </a:solidFill>
                  <a:latin typeface="微软雅黑" panose="020B0503020204020204" pitchFamily="34" charset="-122"/>
                  <a:ea typeface="微软雅黑" panose="020B0503020204020204" pitchFamily="34" charset="-122"/>
                </a:rPr>
                <a:t>路径向量</a:t>
              </a:r>
              <a:endParaRPr lang="en-US" altLang="zh-CN" sz="1400" dirty="0">
                <a:solidFill>
                  <a:srgbClr val="000099"/>
                </a:solidFill>
                <a:latin typeface="微软雅黑" panose="020B0503020204020204" pitchFamily="34" charset="-122"/>
                <a:ea typeface="微软雅黑" panose="020B0503020204020204" pitchFamily="34" charset="-122"/>
              </a:endParaRPr>
            </a:p>
            <a:p>
              <a:pPr algn="ctr"/>
              <a:r>
                <a:rPr lang="en-US" altLang="zh-CN" sz="1400" dirty="0">
                  <a:solidFill>
                    <a:srgbClr val="000099"/>
                  </a:solidFill>
                  <a:latin typeface="微软雅黑" panose="020B0503020204020204" pitchFamily="34" charset="-122"/>
                  <a:ea typeface="微软雅黑" panose="020B0503020204020204" pitchFamily="34" charset="-122"/>
                </a:rPr>
                <a:t>(path vector)</a:t>
              </a:r>
              <a:endParaRPr lang="zh-CN" altLang="en-US" sz="1400" dirty="0">
                <a:solidFill>
                  <a:srgbClr val="000099"/>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solidFill>
                    <a:srgbClr val="000099"/>
                  </a:solidFill>
                  <a:latin typeface="微软雅黑" pitchFamily="34" charset="-122"/>
                  <a:ea typeface="微软雅黑" pitchFamily="34" charset="-122"/>
                </a:rPr>
                <a:t>BGP-4</a:t>
              </a:r>
              <a:endParaRPr lang="zh-CN" altLang="en-US" sz="1400" dirty="0">
                <a:solidFill>
                  <a:srgbClr val="000099"/>
                </a:solidFill>
              </a:endParaRPr>
            </a:p>
          </p:txBody>
        </p:sp>
      </p:grpSp>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是不同自治系统的路由器之间交换路由信息的协议</a:t>
            </a:r>
          </a:p>
          <a:p>
            <a:r>
              <a:rPr lang="en-US" altLang="zh-CN" dirty="0"/>
              <a:t>BGP </a:t>
            </a:r>
            <a:r>
              <a:rPr lang="zh-CN" altLang="en-US" dirty="0"/>
              <a:t>较新版本是 </a:t>
            </a:r>
            <a:r>
              <a:rPr lang="en-US" altLang="zh-CN" dirty="0"/>
              <a:t>2006 </a:t>
            </a:r>
            <a:r>
              <a:rPr lang="zh-CN" altLang="en-US" dirty="0"/>
              <a:t>年 </a:t>
            </a:r>
            <a:r>
              <a:rPr lang="en-US" altLang="zh-CN" dirty="0"/>
              <a:t>1 </a:t>
            </a:r>
            <a:r>
              <a:rPr lang="zh-CN" altLang="en-US" dirty="0"/>
              <a:t>月发表的 </a:t>
            </a:r>
            <a:r>
              <a:rPr lang="en-US" altLang="zh-CN" dirty="0"/>
              <a:t>BGP-4</a:t>
            </a:r>
            <a:r>
              <a:rPr lang="zh-CN" altLang="en-US" dirty="0"/>
              <a:t>（</a:t>
            </a:r>
            <a:r>
              <a:rPr lang="en-US" altLang="zh-CN" dirty="0"/>
              <a:t>BGP </a:t>
            </a:r>
            <a:r>
              <a:rPr lang="zh-CN" altLang="en-US" dirty="0"/>
              <a:t>第 </a:t>
            </a:r>
            <a:r>
              <a:rPr lang="en-US" altLang="zh-CN" dirty="0"/>
              <a:t>4 </a:t>
            </a:r>
            <a:r>
              <a:rPr lang="zh-CN" altLang="en-US" dirty="0"/>
              <a:t>个版本），即 </a:t>
            </a:r>
            <a:r>
              <a:rPr lang="en-US" altLang="zh-CN" dirty="0"/>
              <a:t>RFC 4271 ~ 4278</a:t>
            </a:r>
            <a:endParaRPr lang="zh-CN" altLang="en-US" dirty="0"/>
          </a:p>
          <a:p>
            <a:r>
              <a:rPr lang="zh-CN" altLang="en-US" dirty="0"/>
              <a:t>可以将 </a:t>
            </a:r>
            <a:r>
              <a:rPr lang="en-US" altLang="zh-CN" dirty="0"/>
              <a:t>BGP-4 </a:t>
            </a:r>
            <a:r>
              <a:rPr lang="zh-CN" altLang="en-US" dirty="0"/>
              <a:t>简写为 </a:t>
            </a:r>
            <a:r>
              <a:rPr lang="en-US" altLang="zh-CN" dirty="0"/>
              <a:t>BGP</a:t>
            </a:r>
            <a:endParaRPr lang="zh-CN" altLang="en-US" dirty="0"/>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7507CCA-FB33-F17E-0608-2B73F8865C56}"/>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BGP </a:t>
            </a:r>
            <a:r>
              <a:rPr lang="zh-CN" altLang="en-US" dirty="0"/>
              <a:t>的主要特点</a:t>
            </a:r>
          </a:p>
        </p:txBody>
      </p:sp>
      <p:sp>
        <p:nvSpPr>
          <p:cNvPr id="6" name="内容占位符 5">
            <a:extLst>
              <a:ext uri="{FF2B5EF4-FFF2-40B4-BE49-F238E27FC236}">
                <a16:creationId xmlns:a16="http://schemas.microsoft.com/office/drawing/2014/main" id="{611F2C38-BE2B-70EB-CA22-C9BC6AD0903E}"/>
              </a:ext>
            </a:extLst>
          </p:cNvPr>
          <p:cNvSpPr>
            <a:spLocks noGrp="1"/>
          </p:cNvSpPr>
          <p:nvPr>
            <p:ph sz="quarter" idx="11"/>
          </p:nvPr>
        </p:nvSpPr>
        <p:spPr>
          <a:xfrm>
            <a:off x="486000" y="900000"/>
            <a:ext cx="8172000" cy="3703500"/>
          </a:xfrm>
        </p:spPr>
        <p:txBody>
          <a:bodyPr/>
          <a:lstStyle/>
          <a:p>
            <a:r>
              <a:rPr lang="zh-CN" altLang="en-US" dirty="0"/>
              <a:t>用于自治系统 </a:t>
            </a:r>
            <a:r>
              <a:rPr lang="en-US" altLang="zh-CN" dirty="0"/>
              <a:t>AS </a:t>
            </a:r>
            <a:r>
              <a:rPr lang="zh-CN" altLang="en-US" dirty="0"/>
              <a:t>之间的路由选择</a:t>
            </a:r>
            <a:endParaRPr lang="en-US" altLang="zh-CN" dirty="0"/>
          </a:p>
          <a:p>
            <a:r>
              <a:rPr lang="zh-CN" altLang="en-US" dirty="0"/>
              <a:t>只能是力求选择出一条能够到达目的网络且比较好的路由（不能兜圈子），而并非要计算出一条最佳路由</a:t>
            </a:r>
            <a:endParaRPr lang="en-US" altLang="zh-CN" dirty="0"/>
          </a:p>
          <a:p>
            <a:r>
              <a:rPr lang="zh-CN" altLang="en-US" dirty="0"/>
              <a:t>互联网的规模太大，使得自治系统</a:t>
            </a:r>
            <a:r>
              <a:rPr lang="en-US" altLang="zh-CN" dirty="0"/>
              <a:t>AS</a:t>
            </a:r>
            <a:r>
              <a:rPr lang="zh-CN" altLang="en-US" dirty="0"/>
              <a:t>之间路由选择非常困难</a:t>
            </a:r>
            <a:endParaRPr lang="en-US" altLang="zh-CN" dirty="0"/>
          </a:p>
          <a:p>
            <a:r>
              <a:rPr lang="zh-CN" altLang="en-US" dirty="0"/>
              <a:t>自治系统</a:t>
            </a:r>
            <a:r>
              <a:rPr lang="en-US" altLang="zh-CN" dirty="0"/>
              <a:t>AS</a:t>
            </a:r>
            <a:r>
              <a:rPr lang="zh-CN" altLang="en-US" dirty="0"/>
              <a:t>之间的路由选择必须考虑有关策略</a:t>
            </a:r>
            <a:endParaRPr lang="en-US" altLang="zh-CN" dirty="0"/>
          </a:p>
          <a:p>
            <a:r>
              <a:rPr lang="zh-CN" altLang="en-US" dirty="0"/>
              <a:t>采用了路径向量 </a:t>
            </a:r>
            <a:r>
              <a:rPr lang="en-US" altLang="zh-CN" dirty="0"/>
              <a:t>(path vector) </a:t>
            </a:r>
            <a:r>
              <a:rPr lang="zh-CN" altLang="en-US" dirty="0"/>
              <a:t>路由选择协议</a:t>
            </a:r>
            <a:endParaRPr lang="en-US" altLang="zh-CN" dirty="0"/>
          </a:p>
          <a:p>
            <a:endParaRPr lang="zh-CN" altLang="en-US" dirty="0"/>
          </a:p>
        </p:txBody>
      </p:sp>
    </p:spTree>
    <p:extLst>
      <p:ext uri="{BB962C8B-B14F-4D97-AF65-F5344CB8AC3E}">
        <p14:creationId xmlns:p14="http://schemas.microsoft.com/office/powerpoint/2010/main" val="42588867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1836817" y="3279331"/>
            <a:ext cx="564449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800" b="1" dirty="0">
                <a:latin typeface="微软雅黑" panose="020B0503020204020204" pitchFamily="34" charset="-122"/>
                <a:ea typeface="微软雅黑" panose="020B0503020204020204" pitchFamily="34" charset="-122"/>
              </a:rPr>
              <a:t>对等 </a:t>
            </a:r>
            <a:r>
              <a:rPr lang="en-US" altLang="zh-CN" sz="1800" b="1" dirty="0">
                <a:latin typeface="微软雅黑" panose="020B0503020204020204" pitchFamily="34" charset="-122"/>
                <a:ea typeface="微软雅黑" panose="020B0503020204020204" pitchFamily="34" charset="-122"/>
              </a:rPr>
              <a:t>BGP </a:t>
            </a:r>
            <a:r>
              <a:rPr lang="zh-CN" altLang="en-US" sz="1800" b="1" dirty="0">
                <a:latin typeface="微软雅黑" panose="020B0503020204020204" pitchFamily="34" charset="-122"/>
                <a:ea typeface="微软雅黑" panose="020B0503020204020204" pitchFamily="34" charset="-122"/>
              </a:rPr>
              <a:t>发言者（边界路由器）在 </a:t>
            </a:r>
            <a:r>
              <a:rPr lang="en-US" altLang="zh-CN" sz="1800" b="1" dirty="0">
                <a:latin typeface="微软雅黑" panose="020B0503020204020204" pitchFamily="34" charset="-122"/>
                <a:ea typeface="微软雅黑" panose="020B0503020204020204" pitchFamily="34" charset="-122"/>
              </a:rPr>
              <a:t>AS </a:t>
            </a:r>
            <a:r>
              <a:rPr lang="zh-CN" altLang="en-US" sz="1800" b="1" dirty="0">
                <a:latin typeface="微软雅黑" panose="020B0503020204020204" pitchFamily="34" charset="-122"/>
                <a:ea typeface="微软雅黑" panose="020B0503020204020204" pitchFamily="34" charset="-122"/>
              </a:rPr>
              <a:t>之间交换信息</a:t>
            </a:r>
            <a:endParaRPr lang="en-US" altLang="zh-CN" sz="1800" b="1" baseline="-25000" dirty="0">
              <a:latin typeface="微软雅黑" panose="020B0503020204020204" pitchFamily="34" charset="-122"/>
              <a:ea typeface="微软雅黑" panose="020B0503020204020204" pitchFamily="34" charset="-122"/>
            </a:endParaRPr>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BGP </a:t>
            </a:r>
            <a:r>
              <a:rPr lang="zh-CN" altLang="en-US" sz="1600" b="1">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1097412" y="3434125"/>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388085" y="2955371"/>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819629" y="3509191"/>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6096776" y="4114723"/>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2040630" y="2761867"/>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860844" y="3812790"/>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624017" y="3359059"/>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262272" y="3359059"/>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430832" y="3334037"/>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639075" y="2955371"/>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791940" y="3585924"/>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2000819" y="4039657"/>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1186222" y="3927892"/>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1166316" y="3585924"/>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861481" y="3585924"/>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887638" y="3335705"/>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957436" y="3258971"/>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936254" y="2655107"/>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527425" y="2955371"/>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6096776" y="3585924"/>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562642" y="3394089"/>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7203832" y="2848611"/>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1481" y="4168104"/>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1210721" y="3914547"/>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6977" y="3812790"/>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22141" y="3509191"/>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859948" y="3639304"/>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360397" y="2957040"/>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596328" y="3335705"/>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99735" y="2880306"/>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21057" y="3585924"/>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721505" y="3660991"/>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6096776" y="3789436"/>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82166" y="4189789"/>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16670" y="3736056"/>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82166" y="3509191"/>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7115022" y="3183905"/>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521045" y="3062131"/>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749193" y="273017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607174" y="3113844"/>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319182" y="4016303"/>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760167" y="3560903"/>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775860" y="279523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443462" y="3108839"/>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0430" y="3237285"/>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7022" y="391955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6809" y="3238953"/>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8533" y="4016303"/>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7199673" y="3980583"/>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矩形 190"/>
          <p:cNvSpPr/>
          <p:nvPr/>
        </p:nvSpPr>
        <p:spPr>
          <a:xfrm>
            <a:off x="297279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92" name="矩形 191"/>
          <p:cNvSpPr/>
          <p:nvPr/>
        </p:nvSpPr>
        <p:spPr>
          <a:xfrm>
            <a:off x="4738322"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93" name="矩形 192"/>
          <p:cNvSpPr/>
          <p:nvPr/>
        </p:nvSpPr>
        <p:spPr>
          <a:xfrm>
            <a:off x="6466658"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41054" y="3808733"/>
            <a:ext cx="53923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a:latin typeface="微软雅黑" panose="020B0503020204020204" pitchFamily="34" charset="-122"/>
                <a:ea typeface="微软雅黑" panose="020B0503020204020204" pitchFamily="34" charset="-122"/>
                <a:cs typeface="Times New Roman" pitchFamily="18" charset="0"/>
              </a:rPr>
              <a:t>IGP</a:t>
            </a:r>
            <a:endParaRPr lang="en-GB" altLang="zh-CN" sz="1600" b="1" dirty="0">
              <a:latin typeface="微软雅黑" panose="020B0503020204020204" pitchFamily="34" charset="-122"/>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64854" y="3397124"/>
            <a:ext cx="66747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latin typeface="微软雅黑" panose="020B0503020204020204" pitchFamily="34" charset="-122"/>
                <a:ea typeface="微软雅黑" panose="020B0503020204020204" pitchFamily="34" charset="-122"/>
                <a:cs typeface="Times New Roman" pitchFamily="18" charset="0"/>
              </a:rPr>
              <a:t>iBGP</a:t>
            </a:r>
            <a:endParaRPr lang="en-GB" altLang="zh-CN" sz="1600" b="1">
              <a:latin typeface="微软雅黑" panose="020B0503020204020204" pitchFamily="34" charset="-122"/>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3654" y="3808733"/>
            <a:ext cx="53923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latin typeface="微软雅黑" panose="020B0503020204020204" pitchFamily="34" charset="-122"/>
                <a:ea typeface="微软雅黑" panose="020B0503020204020204" pitchFamily="34" charset="-122"/>
                <a:cs typeface="Times New Roman" pitchFamily="18" charset="0"/>
              </a:rPr>
              <a:t>IGP</a:t>
            </a:r>
            <a:endParaRPr lang="en-GB" altLang="zh-CN" sz="1600" b="1">
              <a:latin typeface="微软雅黑" panose="020B0503020204020204" pitchFamily="34" charset="-122"/>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17454" y="3397124"/>
            <a:ext cx="66747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latin typeface="微软雅黑" panose="020B0503020204020204" pitchFamily="34" charset="-122"/>
                <a:ea typeface="微软雅黑" panose="020B0503020204020204" pitchFamily="34" charset="-122"/>
                <a:cs typeface="Times New Roman" pitchFamily="18" charset="0"/>
              </a:rPr>
              <a:t>iBGP</a:t>
            </a:r>
            <a:endParaRPr lang="en-GB" altLang="zh-CN" sz="1600" b="1">
              <a:latin typeface="微软雅黑" panose="020B0503020204020204" pitchFamily="34" charset="-122"/>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46254" y="3808733"/>
            <a:ext cx="53923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latin typeface="微软雅黑" panose="020B0503020204020204" pitchFamily="34" charset="-122"/>
                <a:ea typeface="微软雅黑" panose="020B0503020204020204" pitchFamily="34" charset="-122"/>
                <a:cs typeface="Times New Roman" pitchFamily="18" charset="0"/>
              </a:rPr>
              <a:t>IGP</a:t>
            </a:r>
            <a:endParaRPr lang="en-GB" altLang="zh-CN" sz="1600" b="1">
              <a:latin typeface="微软雅黑" panose="020B0503020204020204" pitchFamily="34" charset="-122"/>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70054" y="3397124"/>
            <a:ext cx="66747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latin typeface="微软雅黑" panose="020B0503020204020204" pitchFamily="34" charset="-122"/>
                <a:ea typeface="微软雅黑" panose="020B0503020204020204" pitchFamily="34" charset="-122"/>
                <a:cs typeface="Times New Roman" pitchFamily="18" charset="0"/>
              </a:rPr>
              <a:t>iBGP</a:t>
            </a:r>
            <a:endParaRPr lang="en-GB" altLang="zh-CN" sz="1600" b="1">
              <a:latin typeface="微软雅黑" panose="020B0503020204020204" pitchFamily="34" charset="-122"/>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6998854" y="3808733"/>
            <a:ext cx="53923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latin typeface="微软雅黑" panose="020B0503020204020204" pitchFamily="34" charset="-122"/>
                <a:ea typeface="微软雅黑" panose="020B0503020204020204" pitchFamily="34" charset="-122"/>
                <a:cs typeface="Times New Roman" pitchFamily="18" charset="0"/>
              </a:rPr>
              <a:t>IGP</a:t>
            </a:r>
            <a:endParaRPr lang="en-GB" altLang="zh-CN" sz="1600" b="1">
              <a:latin typeface="微软雅黑" panose="020B0503020204020204" pitchFamily="34" charset="-122"/>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22654" y="3397124"/>
            <a:ext cx="667473"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latin typeface="微软雅黑" panose="020B0503020204020204" pitchFamily="34" charset="-122"/>
                <a:ea typeface="微软雅黑" panose="020B0503020204020204" pitchFamily="34" charset="-122"/>
                <a:cs typeface="Times New Roman" pitchFamily="18" charset="0"/>
              </a:rPr>
              <a:t>iBGP</a:t>
            </a:r>
            <a:endParaRPr lang="en-GB" altLang="zh-CN" sz="1600" b="1">
              <a:latin typeface="微软雅黑" panose="020B0503020204020204" pitchFamily="34" charset="-122"/>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64854" y="4301302"/>
            <a:ext cx="644525" cy="319958"/>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600" b="1" dirty="0">
                <a:latin typeface="微软雅黑" panose="020B0503020204020204" pitchFamily="34" charset="-122"/>
                <a:ea typeface="微软雅黑" panose="020B0503020204020204" pitchFamily="34" charset="-122"/>
                <a:cs typeface="Times New Roman" pitchFamily="18" charset="0"/>
              </a:rPr>
              <a:t>AS</a:t>
            </a:r>
            <a:r>
              <a:rPr lang="en-GB" altLang="zh-CN" sz="1600" b="1" baseline="-25000" dirty="0">
                <a:latin typeface="微软雅黑" panose="020B0503020204020204" pitchFamily="34" charset="-122"/>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417454" y="4301302"/>
            <a:ext cx="644525" cy="319958"/>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600" b="1" dirty="0">
                <a:latin typeface="微软雅黑" panose="020B0503020204020204" pitchFamily="34" charset="-122"/>
                <a:ea typeface="微软雅黑" panose="020B0503020204020204" pitchFamily="34" charset="-122"/>
                <a:cs typeface="Times New Roman" pitchFamily="18" charset="0"/>
              </a:rPr>
              <a:t>AS</a:t>
            </a:r>
            <a:r>
              <a:rPr lang="en-GB" altLang="zh-CN" sz="1600" b="1" baseline="-25000" dirty="0">
                <a:latin typeface="微软雅黑" panose="020B0503020204020204" pitchFamily="34" charset="-122"/>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70054" y="4301302"/>
            <a:ext cx="644525" cy="319958"/>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600" b="1" dirty="0">
                <a:latin typeface="微软雅黑" panose="020B0503020204020204" pitchFamily="34" charset="-122"/>
                <a:ea typeface="微软雅黑" panose="020B0503020204020204" pitchFamily="34" charset="-122"/>
                <a:cs typeface="Times New Roman" pitchFamily="18" charset="0"/>
              </a:rPr>
              <a:t>AS</a:t>
            </a:r>
            <a:r>
              <a:rPr lang="en-GB" altLang="zh-CN" sz="1600" b="1" baseline="-25000" dirty="0">
                <a:latin typeface="微软雅黑" panose="020B0503020204020204" pitchFamily="34" charset="-122"/>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22654" y="4301302"/>
            <a:ext cx="644525" cy="319958"/>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600" b="1" dirty="0">
                <a:latin typeface="微软雅黑" panose="020B0503020204020204" pitchFamily="34" charset="-122"/>
                <a:ea typeface="微软雅黑" panose="020B0503020204020204" pitchFamily="34" charset="-122"/>
                <a:cs typeface="Times New Roman" pitchFamily="18" charset="0"/>
              </a:rPr>
              <a:t>AS</a:t>
            </a:r>
            <a:r>
              <a:rPr lang="en-GB" altLang="zh-CN" sz="1600" b="1" baseline="-25000" dirty="0">
                <a:latin typeface="微软雅黑" panose="020B0503020204020204" pitchFamily="34" charset="-122"/>
                <a:ea typeface="微软雅黑" panose="020B0503020204020204" pitchFamily="34" charset="-122"/>
                <a:cs typeface="Times New Roman" pitchFamily="18" charset="0"/>
              </a:rPr>
              <a:t>4</a:t>
            </a:r>
          </a:p>
        </p:txBody>
      </p:sp>
      <p:cxnSp>
        <p:nvCxnSpPr>
          <p:cNvPr id="227" name="直接箭头连接符 226"/>
          <p:cNvCxnSpPr/>
          <p:nvPr/>
        </p:nvCxnSpPr>
        <p:spPr>
          <a:xfrm>
            <a:off x="1252278"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p:nvPr/>
        </p:nvCxnSpPr>
        <p:spPr>
          <a:xfrm>
            <a:off x="6512011"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p:nvPr/>
        </p:nvCxnSpPr>
        <p:spPr>
          <a:xfrm>
            <a:off x="4780670"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p:nvPr/>
        </p:nvCxnSpPr>
        <p:spPr>
          <a:xfrm>
            <a:off x="2980470"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p:nvPr/>
        </p:nvCxnSpPr>
        <p:spPr>
          <a:xfrm>
            <a:off x="1252278"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p:nvPr/>
        </p:nvCxnSpPr>
        <p:spPr>
          <a:xfrm>
            <a:off x="6512011"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p:nvPr/>
        </p:nvCxnSpPr>
        <p:spPr>
          <a:xfrm>
            <a:off x="4780670"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p:nvPr/>
        </p:nvCxnSpPr>
        <p:spPr>
          <a:xfrm>
            <a:off x="2980470"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a:t>
            </a:r>
            <a:r>
              <a:rPr lang="zh-CN" altLang="en-US" dirty="0"/>
              <a:t>、</a:t>
            </a:r>
            <a:r>
              <a:rPr lang="en-US" altLang="zh-CN" dirty="0"/>
              <a:t>iBGP </a:t>
            </a:r>
            <a:r>
              <a:rPr lang="zh-CN" altLang="en-US" dirty="0"/>
              <a:t>和 </a:t>
            </a:r>
            <a:r>
              <a:rPr lang="en-US" altLang="zh-CN" dirty="0"/>
              <a:t>eBGP </a:t>
            </a:r>
            <a:r>
              <a:rPr lang="zh-CN" altLang="en-US" dirty="0"/>
              <a:t>的关系</a:t>
            </a:r>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a:t>
            </a:r>
            <a:r>
              <a:rPr lang="zh-CN" altLang="en-US" dirty="0"/>
              <a:t>（可以是协议 </a:t>
            </a:r>
            <a:r>
              <a:rPr lang="en-US" altLang="zh-CN" dirty="0"/>
              <a:t>OSPF </a:t>
            </a:r>
            <a:r>
              <a:rPr lang="zh-CN" altLang="en-US" dirty="0"/>
              <a:t>或 </a:t>
            </a:r>
            <a:r>
              <a:rPr lang="en-US" altLang="zh-CN" dirty="0"/>
              <a:t>RIP</a:t>
            </a:r>
            <a:r>
              <a:rPr lang="zh-CN" altLang="en-US" dirty="0"/>
              <a:t>）</a:t>
            </a:r>
            <a:endParaRPr lang="en-US" altLang="zh-CN" dirty="0"/>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a:t>
            </a:r>
            <a:r>
              <a:rPr lang="zh-CN" altLang="en-US" dirty="0"/>
              <a:t>和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r>
              <a:rPr lang="zh-CN" altLang="en-US" dirty="0"/>
              <a:t>（使用的报文类型、使用的属性、使用的状态机等都完全一样）</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Group 206"/>
          <p:cNvGrpSpPr>
            <a:grpSpLocks/>
          </p:cNvGrpSpPr>
          <p:nvPr/>
        </p:nvGrpSpPr>
        <p:grpSpPr bwMode="auto">
          <a:xfrm>
            <a:off x="2191907" y="3699463"/>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9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07" name="Group 216"/>
            <p:cNvGrpSpPr>
              <a:grpSpLocks/>
            </p:cNvGrpSpPr>
            <p:nvPr/>
          </p:nvGrpSpPr>
          <p:grpSpPr bwMode="auto">
            <a:xfrm>
              <a:off x="912" y="768"/>
              <a:ext cx="2386" cy="1553"/>
              <a:chOff x="912" y="768"/>
              <a:chExt cx="2386" cy="1553"/>
            </a:xfrm>
            <a:grpFill/>
          </p:grpSpPr>
          <p:sp>
            <p:nvSpPr>
              <p:cNvPr id="1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17" name="Group 206"/>
          <p:cNvGrpSpPr>
            <a:grpSpLocks/>
          </p:cNvGrpSpPr>
          <p:nvPr/>
        </p:nvGrpSpPr>
        <p:grpSpPr bwMode="auto">
          <a:xfrm>
            <a:off x="5043057" y="3891551"/>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27" name="Group 216"/>
            <p:cNvGrpSpPr>
              <a:grpSpLocks/>
            </p:cNvGrpSpPr>
            <p:nvPr/>
          </p:nvGrpSpPr>
          <p:grpSpPr bwMode="auto">
            <a:xfrm>
              <a:off x="912" y="768"/>
              <a:ext cx="2386" cy="1553"/>
              <a:chOff x="912" y="768"/>
              <a:chExt cx="2386" cy="1553"/>
            </a:xfrm>
            <a:grpFill/>
          </p:grpSpPr>
          <p:sp>
            <p:nvSpPr>
              <p:cNvPr id="1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37" name="Line 154"/>
          <p:cNvSpPr>
            <a:spLocks noChangeShapeType="1"/>
          </p:cNvSpPr>
          <p:nvPr/>
        </p:nvSpPr>
        <p:spPr bwMode="auto">
          <a:xfrm flipV="1">
            <a:off x="3774645" y="4253501"/>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38" name="Line 165"/>
          <p:cNvSpPr>
            <a:spLocks noChangeShapeType="1"/>
          </p:cNvSpPr>
          <p:nvPr/>
        </p:nvSpPr>
        <p:spPr bwMode="auto">
          <a:xfrm flipV="1">
            <a:off x="3126945" y="4275726"/>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39" name="Line 170"/>
          <p:cNvSpPr>
            <a:spLocks noChangeShapeType="1"/>
          </p:cNvSpPr>
          <p:nvPr/>
        </p:nvSpPr>
        <p:spPr bwMode="auto">
          <a:xfrm>
            <a:off x="2984070" y="3843926"/>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0" name="Text Box 173"/>
          <p:cNvSpPr txBox="1">
            <a:spLocks noChangeArrowheads="1"/>
          </p:cNvSpPr>
          <p:nvPr/>
        </p:nvSpPr>
        <p:spPr bwMode="auto">
          <a:xfrm>
            <a:off x="3323795" y="3491501"/>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141" name="Text Box 175"/>
          <p:cNvSpPr txBox="1">
            <a:spLocks noChangeArrowheads="1"/>
          </p:cNvSpPr>
          <p:nvPr/>
        </p:nvSpPr>
        <p:spPr bwMode="auto">
          <a:xfrm>
            <a:off x="5690757" y="3534363"/>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142"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439796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43" name="Text Box 173"/>
          <p:cNvSpPr txBox="1">
            <a:spLocks noChangeArrowheads="1"/>
          </p:cNvSpPr>
          <p:nvPr/>
        </p:nvSpPr>
        <p:spPr bwMode="auto">
          <a:xfrm>
            <a:off x="3703207" y="3821701"/>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144" name="Text Box 173"/>
          <p:cNvSpPr txBox="1">
            <a:spLocks noChangeArrowheads="1"/>
          </p:cNvSpPr>
          <p:nvPr/>
        </p:nvSpPr>
        <p:spPr bwMode="auto">
          <a:xfrm>
            <a:off x="4827157" y="3843926"/>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14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770901"/>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4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4159838"/>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4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4161426"/>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48" name="Text Box 173"/>
          <p:cNvSpPr txBox="1">
            <a:spLocks noChangeArrowheads="1"/>
          </p:cNvSpPr>
          <p:nvPr/>
        </p:nvSpPr>
        <p:spPr bwMode="auto">
          <a:xfrm>
            <a:off x="2982482" y="4469401"/>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149" name="Text Box 173"/>
          <p:cNvSpPr txBox="1">
            <a:spLocks noChangeArrowheads="1"/>
          </p:cNvSpPr>
          <p:nvPr/>
        </p:nvSpPr>
        <p:spPr bwMode="auto">
          <a:xfrm>
            <a:off x="2766582" y="346133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150" name="直接箭头连接符 329"/>
          <p:cNvCxnSpPr>
            <a:cxnSpLocks noChangeShapeType="1"/>
          </p:cNvCxnSpPr>
          <p:nvPr/>
        </p:nvCxnSpPr>
        <p:spPr bwMode="auto">
          <a:xfrm flipH="1">
            <a:off x="4409645" y="3667713"/>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1" name="Text Box 42"/>
          <p:cNvSpPr txBox="1">
            <a:spLocks noChangeArrowheads="1"/>
          </p:cNvSpPr>
          <p:nvPr/>
        </p:nvSpPr>
        <p:spPr bwMode="auto">
          <a:xfrm>
            <a:off x="4376307" y="3377201"/>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152" name="Text Box 42"/>
          <p:cNvSpPr txBox="1">
            <a:spLocks noChangeArrowheads="1"/>
          </p:cNvSpPr>
          <p:nvPr/>
        </p:nvSpPr>
        <p:spPr bwMode="auto">
          <a:xfrm>
            <a:off x="1090719" y="3649492"/>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153" name="直接箭头连接符 339"/>
          <p:cNvCxnSpPr>
            <a:cxnSpLocks noChangeShapeType="1"/>
            <a:stCxn id="152" idx="3"/>
          </p:cNvCxnSpPr>
          <p:nvPr/>
        </p:nvCxnSpPr>
        <p:spPr bwMode="auto">
          <a:xfrm>
            <a:off x="2240393" y="3818769"/>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154" name="直接箭头连接符 339"/>
          <p:cNvCxnSpPr>
            <a:cxnSpLocks noChangeShapeType="1"/>
          </p:cNvCxnSpPr>
          <p:nvPr/>
        </p:nvCxnSpPr>
        <p:spPr bwMode="auto">
          <a:xfrm>
            <a:off x="2181119" y="3913890"/>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a:t>
            </a:r>
            <a:r>
              <a:rPr lang="zh-CN" altLang="en-US" dirty="0"/>
              <a:t>和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664159" y="3122318"/>
            <a:ext cx="8304349" cy="3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lnSpc>
                <a:spcPts val="2400"/>
              </a:lnSpc>
            </a:pPr>
            <a:r>
              <a:rPr lang="en-US" altLang="zh-CN" sz="1600" b="1" kern="500" dirty="0">
                <a:latin typeface="微软雅黑" panose="020B0503020204020204" pitchFamily="34" charset="-122"/>
                <a:ea typeface="微软雅黑" panose="020B0503020204020204" pitchFamily="34" charset="-122"/>
              </a:rPr>
              <a:t>AS</a:t>
            </a:r>
            <a:r>
              <a:rPr lang="en-US" altLang="zh-CN" sz="1600" b="1" kern="500" baseline="-25000" dirty="0">
                <a:latin typeface="微软雅黑" panose="020B0503020204020204" pitchFamily="34" charset="-122"/>
                <a:ea typeface="微软雅黑" panose="020B0503020204020204" pitchFamily="34" charset="-122"/>
              </a:rPr>
              <a:t>2 </a:t>
            </a:r>
            <a:r>
              <a:rPr lang="zh-CN" altLang="zh-CN" sz="1600" b="1" kern="500" dirty="0">
                <a:latin typeface="微软雅黑" panose="020B0503020204020204" pitchFamily="34" charset="-122"/>
                <a:ea typeface="微软雅黑" panose="020B0503020204020204" pitchFamily="34" charset="-122"/>
              </a:rPr>
              <a:t>可经</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 </a:t>
            </a:r>
            <a:r>
              <a:rPr lang="zh-CN" altLang="zh-CN" sz="1600" b="1" kern="500" dirty="0">
                <a:latin typeface="微软雅黑" panose="020B0503020204020204" pitchFamily="34" charset="-122"/>
                <a:ea typeface="微软雅黑" panose="020B0503020204020204" pitchFamily="34" charset="-122"/>
              </a:rPr>
              <a:t>到前缀</a:t>
            </a:r>
            <a:r>
              <a:rPr lang="en-US" altLang="zh-CN" sz="1600" b="1" kern="500" dirty="0">
                <a:latin typeface="微软雅黑" panose="020B0503020204020204" pitchFamily="34" charset="-122"/>
                <a:ea typeface="微软雅黑" panose="020B0503020204020204" pitchFamily="34" charset="-122"/>
              </a:rPr>
              <a:t> X </a:t>
            </a:r>
            <a:r>
              <a:rPr lang="zh-CN" altLang="zh-CN" sz="1600" b="1" kern="500" dirty="0">
                <a:latin typeface="微软雅黑" panose="020B0503020204020204" pitchFamily="34" charset="-122"/>
                <a:ea typeface="微软雅黑" panose="020B0503020204020204" pitchFamily="34" charset="-122"/>
              </a:rPr>
              <a:t>的路由</a:t>
            </a:r>
            <a:r>
              <a:rPr lang="en-US" altLang="zh-CN" sz="1600" b="1" kern="500" dirty="0">
                <a:latin typeface="微软雅黑" panose="020B0503020204020204" pitchFamily="34" charset="-122"/>
                <a:ea typeface="微软雅黑" panose="020B0503020204020204" pitchFamily="34" charset="-122"/>
              </a:rPr>
              <a:t> = [</a:t>
            </a:r>
            <a:r>
              <a:rPr lang="zh-CN" altLang="zh-CN" sz="1600" b="1" kern="500" dirty="0">
                <a:latin typeface="微软雅黑" panose="020B0503020204020204" pitchFamily="34" charset="-122"/>
                <a:ea typeface="微软雅黑" panose="020B0503020204020204" pitchFamily="34" charset="-122"/>
              </a:rPr>
              <a:t>前缀</a:t>
            </a:r>
            <a:r>
              <a:rPr lang="en-US" altLang="zh-CN" sz="1600" b="1" kern="500" dirty="0">
                <a:latin typeface="微软雅黑" panose="020B0503020204020204" pitchFamily="34" charset="-122"/>
                <a:ea typeface="微软雅黑" panose="020B0503020204020204" pitchFamily="34" charset="-122"/>
              </a:rPr>
              <a:t>, AS-PATH, NEXT-HOP] = [X, AS</a:t>
            </a:r>
            <a:r>
              <a:rPr lang="en-US" altLang="zh-CN" sz="1600" b="1" kern="500" baseline="-25000" dirty="0">
                <a:latin typeface="微软雅黑" panose="020B0503020204020204" pitchFamily="34" charset="-122"/>
                <a:ea typeface="微软雅黑" panose="020B0503020204020204" pitchFamily="34" charset="-122"/>
              </a:rPr>
              <a:t>3</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a:t>
            </a:r>
            <a:r>
              <a:rPr lang="en-US" altLang="zh-CN" sz="1600" b="1" kern="500" dirty="0">
                <a:latin typeface="微软雅黑" panose="020B0503020204020204" pitchFamily="34" charset="-122"/>
                <a:ea typeface="微软雅黑" panose="020B0503020204020204" pitchFamily="34" charset="-122"/>
              </a:rPr>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664159" y="3122318"/>
            <a:ext cx="8304349"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lnSpc>
                <a:spcPts val="2400"/>
              </a:lnSpc>
            </a:pPr>
            <a:r>
              <a:rPr lang="en-US" altLang="zh-CN" sz="1600" b="1" kern="500" dirty="0">
                <a:latin typeface="微软雅黑" panose="020B0503020204020204" pitchFamily="34" charset="-122"/>
                <a:ea typeface="微软雅黑" panose="020B0503020204020204" pitchFamily="34" charset="-122"/>
              </a:rPr>
              <a:t>AS</a:t>
            </a:r>
            <a:r>
              <a:rPr lang="en-US" altLang="zh-CN" sz="1600" b="1" kern="500" baseline="-25000" dirty="0">
                <a:latin typeface="微软雅黑" panose="020B0503020204020204" pitchFamily="34" charset="-122"/>
                <a:ea typeface="微软雅黑" panose="020B0503020204020204" pitchFamily="34" charset="-122"/>
              </a:rPr>
              <a:t>2 </a:t>
            </a:r>
            <a:r>
              <a:rPr lang="zh-CN" altLang="zh-CN" sz="1600" b="1" kern="500" dirty="0">
                <a:latin typeface="微软雅黑" panose="020B0503020204020204" pitchFamily="34" charset="-122"/>
                <a:ea typeface="微软雅黑" panose="020B0503020204020204" pitchFamily="34" charset="-122"/>
              </a:rPr>
              <a:t>可经</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 </a:t>
            </a:r>
            <a:r>
              <a:rPr lang="zh-CN" altLang="zh-CN" sz="1600" b="1" kern="500" dirty="0">
                <a:latin typeface="微软雅黑" panose="020B0503020204020204" pitchFamily="34" charset="-122"/>
                <a:ea typeface="微软雅黑" panose="020B0503020204020204" pitchFamily="34" charset="-122"/>
              </a:rPr>
              <a:t>到前缀</a:t>
            </a:r>
            <a:r>
              <a:rPr lang="en-US" altLang="zh-CN" sz="1600" b="1" kern="500" dirty="0">
                <a:latin typeface="微软雅黑" panose="020B0503020204020204" pitchFamily="34" charset="-122"/>
                <a:ea typeface="微软雅黑" panose="020B0503020204020204" pitchFamily="34" charset="-122"/>
              </a:rPr>
              <a:t> X </a:t>
            </a:r>
            <a:r>
              <a:rPr lang="zh-CN" altLang="zh-CN" sz="1600" b="1" kern="500" dirty="0">
                <a:latin typeface="微软雅黑" panose="020B0503020204020204" pitchFamily="34" charset="-122"/>
                <a:ea typeface="微软雅黑" panose="020B0503020204020204" pitchFamily="34" charset="-122"/>
              </a:rPr>
              <a:t>的路由</a:t>
            </a:r>
            <a:r>
              <a:rPr lang="en-US" altLang="zh-CN" sz="1600" b="1" kern="500" dirty="0">
                <a:latin typeface="微软雅黑" panose="020B0503020204020204" pitchFamily="34" charset="-122"/>
                <a:ea typeface="微软雅黑" panose="020B0503020204020204" pitchFamily="34" charset="-122"/>
              </a:rPr>
              <a:t> = [</a:t>
            </a:r>
            <a:r>
              <a:rPr lang="zh-CN" altLang="zh-CN" sz="1600" b="1" kern="500" dirty="0">
                <a:latin typeface="微软雅黑" panose="020B0503020204020204" pitchFamily="34" charset="-122"/>
                <a:ea typeface="微软雅黑" panose="020B0503020204020204" pitchFamily="34" charset="-122"/>
              </a:rPr>
              <a:t>前缀</a:t>
            </a:r>
            <a:r>
              <a:rPr lang="en-US" altLang="zh-CN" sz="1600" b="1" kern="500" dirty="0">
                <a:latin typeface="微软雅黑" panose="020B0503020204020204" pitchFamily="34" charset="-122"/>
                <a:ea typeface="微软雅黑" panose="020B0503020204020204" pitchFamily="34" charset="-122"/>
              </a:rPr>
              <a:t>, AS-PATH, NEXT-HOP] = [X, AS</a:t>
            </a:r>
            <a:r>
              <a:rPr lang="en-US" altLang="zh-CN" sz="1600" b="1" kern="500" baseline="-25000" dirty="0">
                <a:latin typeface="微软雅黑" panose="020B0503020204020204" pitchFamily="34" charset="-122"/>
                <a:ea typeface="微软雅黑" panose="020B0503020204020204" pitchFamily="34" charset="-122"/>
              </a:rPr>
              <a:t>3</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a:t>
            </a:r>
            <a:r>
              <a:rPr lang="en-US" altLang="zh-CN" sz="1600" b="1" kern="500" dirty="0">
                <a:latin typeface="微软雅黑" panose="020B0503020204020204" pitchFamily="34" charset="-122"/>
                <a:ea typeface="微软雅黑" panose="020B0503020204020204" pitchFamily="34" charset="-122"/>
              </a:rPr>
              <a:t>]</a:t>
            </a:r>
          </a:p>
          <a:p>
            <a:pPr eaLnBrk="1" hangingPunct="1">
              <a:lnSpc>
                <a:spcPts val="2400"/>
              </a:lnSpc>
            </a:pPr>
            <a:r>
              <a:rPr lang="zh-CN" altLang="en-US" sz="1500" b="1" u="sng" dirty="0">
                <a:solidFill>
                  <a:srgbClr val="990099"/>
                </a:solidFill>
                <a:latin typeface="微软雅黑" panose="020B0503020204020204" pitchFamily="34" charset="-122"/>
                <a:ea typeface="微软雅黑" panose="020B0503020204020204" pitchFamily="34" charset="-122"/>
              </a:rPr>
              <a:t>路由 </a:t>
            </a:r>
            <a:r>
              <a:rPr lang="en-US" altLang="zh-CN" sz="1500" b="1" u="sng" dirty="0">
                <a:solidFill>
                  <a:srgbClr val="990099"/>
                </a:solidFill>
                <a:latin typeface="微软雅黑" panose="020B0503020204020204" pitchFamily="34" charset="-122"/>
                <a:ea typeface="微软雅黑" panose="020B0503020204020204" pitchFamily="34" charset="-122"/>
              </a:rPr>
              <a:t>1</a:t>
            </a:r>
            <a:r>
              <a:rPr lang="zh-CN" altLang="en-US" sz="1500" b="1" dirty="0">
                <a:solidFill>
                  <a:srgbClr val="990099"/>
                </a:solidFill>
                <a:latin typeface="微软雅黑" panose="020B0503020204020204" pitchFamily="34" charset="-122"/>
                <a:ea typeface="微软雅黑" panose="020B0503020204020204" pitchFamily="34" charset="-122"/>
              </a:rPr>
              <a:t>：</a:t>
            </a:r>
            <a:r>
              <a:rPr lang="en-US" altLang="zh-CN" sz="1500" b="1" dirty="0">
                <a:solidFill>
                  <a:srgbClr val="990099"/>
                </a:solidFill>
                <a:latin typeface="微软雅黑" panose="020B0503020204020204" pitchFamily="34" charset="-122"/>
                <a:ea typeface="微软雅黑" panose="020B0503020204020204" pitchFamily="34" charset="-122"/>
              </a:rPr>
              <a:t>AS</a:t>
            </a:r>
            <a:r>
              <a:rPr lang="en-US" altLang="zh-CN" sz="1500" b="1" baseline="-25000" dirty="0">
                <a:solidFill>
                  <a:srgbClr val="990099"/>
                </a:solidFill>
                <a:latin typeface="微软雅黑" panose="020B0503020204020204" pitchFamily="34" charset="-122"/>
                <a:ea typeface="微软雅黑" panose="020B0503020204020204" pitchFamily="34" charset="-122"/>
              </a:rPr>
              <a:t>1 </a:t>
            </a:r>
            <a:r>
              <a:rPr lang="zh-CN" altLang="zh-CN" sz="1500" b="1" dirty="0">
                <a:solidFill>
                  <a:srgbClr val="990099"/>
                </a:solidFill>
                <a:latin typeface="微软雅黑" panose="020B0503020204020204" pitchFamily="34" charset="-122"/>
                <a:ea typeface="微软雅黑" panose="020B0503020204020204" pitchFamily="34" charset="-122"/>
              </a:rPr>
              <a:t>可经</a:t>
            </a:r>
            <a:r>
              <a:rPr lang="en-US" altLang="zh-CN" sz="1500" b="1" dirty="0">
                <a:solidFill>
                  <a:srgbClr val="990099"/>
                </a:solidFill>
                <a:latin typeface="微软雅黑" panose="020B0503020204020204" pitchFamily="34" charset="-122"/>
                <a:ea typeface="微软雅黑" panose="020B0503020204020204" pitchFamily="34" charset="-122"/>
              </a:rPr>
              <a:t> IP</a:t>
            </a:r>
            <a:r>
              <a:rPr lang="en-US" altLang="zh-CN" sz="1500" b="1" baseline="-25000" dirty="0">
                <a:solidFill>
                  <a:srgbClr val="990099"/>
                </a:solidFill>
                <a:latin typeface="微软雅黑" panose="020B0503020204020204" pitchFamily="34" charset="-122"/>
                <a:ea typeface="微软雅黑" panose="020B0503020204020204" pitchFamily="34" charset="-122"/>
              </a:rPr>
              <a:t>2a </a:t>
            </a:r>
            <a:r>
              <a:rPr lang="zh-CN" altLang="zh-CN" sz="1500" b="1" dirty="0">
                <a:solidFill>
                  <a:srgbClr val="990099"/>
                </a:solidFill>
                <a:latin typeface="微软雅黑" panose="020B0503020204020204" pitchFamily="34" charset="-122"/>
                <a:ea typeface="微软雅黑" panose="020B0503020204020204" pitchFamily="34" charset="-122"/>
              </a:rPr>
              <a:t>到前缀</a:t>
            </a:r>
            <a:r>
              <a:rPr lang="en-US" altLang="zh-CN" sz="1500" b="1" dirty="0">
                <a:solidFill>
                  <a:srgbClr val="990099"/>
                </a:solidFill>
                <a:latin typeface="微软雅黑" panose="020B0503020204020204" pitchFamily="34" charset="-122"/>
                <a:ea typeface="微软雅黑" panose="020B0503020204020204" pitchFamily="34" charset="-122"/>
              </a:rPr>
              <a:t> X </a:t>
            </a:r>
            <a:r>
              <a:rPr lang="zh-CN" altLang="zh-CN" sz="1500" b="1" dirty="0">
                <a:solidFill>
                  <a:srgbClr val="990099"/>
                </a:solidFill>
                <a:latin typeface="微软雅黑" panose="020B0503020204020204" pitchFamily="34" charset="-122"/>
                <a:ea typeface="微软雅黑" panose="020B0503020204020204" pitchFamily="34" charset="-122"/>
              </a:rPr>
              <a:t>的路由</a:t>
            </a:r>
            <a:r>
              <a:rPr lang="en-US" altLang="zh-CN" sz="1500" b="1" dirty="0">
                <a:solidFill>
                  <a:srgbClr val="990099"/>
                </a:solidFill>
                <a:latin typeface="微软雅黑" panose="020B0503020204020204" pitchFamily="34" charset="-122"/>
                <a:ea typeface="微软雅黑" panose="020B0503020204020204" pitchFamily="34" charset="-122"/>
              </a:rPr>
              <a:t> = [</a:t>
            </a:r>
            <a:r>
              <a:rPr lang="zh-CN" altLang="zh-CN" sz="1500" b="1" dirty="0">
                <a:solidFill>
                  <a:srgbClr val="990099"/>
                </a:solidFill>
                <a:latin typeface="微软雅黑" panose="020B0503020204020204" pitchFamily="34" charset="-122"/>
                <a:ea typeface="微软雅黑" panose="020B0503020204020204" pitchFamily="34" charset="-122"/>
              </a:rPr>
              <a:t>前缀</a:t>
            </a:r>
            <a:r>
              <a:rPr lang="en-US" altLang="zh-CN" sz="1500" b="1" dirty="0">
                <a:solidFill>
                  <a:srgbClr val="990099"/>
                </a:solidFill>
                <a:latin typeface="微软雅黑" panose="020B0503020204020204" pitchFamily="34" charset="-122"/>
                <a:ea typeface="微软雅黑" panose="020B0503020204020204" pitchFamily="34" charset="-122"/>
              </a:rPr>
              <a:t>, AS-PATH, NEXT-HOP] = [X, AS</a:t>
            </a:r>
            <a:r>
              <a:rPr lang="en-US" altLang="zh-CN" sz="1500" b="1" baseline="-25000" dirty="0">
                <a:solidFill>
                  <a:srgbClr val="990099"/>
                </a:solidFill>
                <a:latin typeface="微软雅黑" panose="020B0503020204020204" pitchFamily="34" charset="-122"/>
                <a:ea typeface="微软雅黑" panose="020B0503020204020204" pitchFamily="34" charset="-122"/>
              </a:rPr>
              <a:t>2</a:t>
            </a:r>
            <a:r>
              <a:rPr lang="en-US" altLang="zh-CN" sz="1500" b="1" dirty="0">
                <a:solidFill>
                  <a:srgbClr val="990099"/>
                </a:solidFill>
                <a:latin typeface="微软雅黑" panose="020B0503020204020204" pitchFamily="34" charset="-122"/>
                <a:ea typeface="微软雅黑" panose="020B0503020204020204" pitchFamily="34" charset="-122"/>
              </a:rPr>
              <a:t> AS</a:t>
            </a:r>
            <a:r>
              <a:rPr lang="en-US" altLang="zh-CN" sz="1500" b="1" baseline="-25000" dirty="0">
                <a:solidFill>
                  <a:srgbClr val="990099"/>
                </a:solidFill>
                <a:latin typeface="微软雅黑" panose="020B0503020204020204" pitchFamily="34" charset="-122"/>
                <a:ea typeface="微软雅黑" panose="020B0503020204020204" pitchFamily="34" charset="-122"/>
              </a:rPr>
              <a:t>3</a:t>
            </a:r>
            <a:r>
              <a:rPr lang="en-US" altLang="zh-CN" sz="1500" b="1" dirty="0">
                <a:solidFill>
                  <a:srgbClr val="990099"/>
                </a:solidFill>
                <a:latin typeface="微软雅黑" panose="020B0503020204020204" pitchFamily="34" charset="-122"/>
                <a:ea typeface="微软雅黑" panose="020B0503020204020204" pitchFamily="34" charset="-122"/>
              </a:rPr>
              <a:t>, IP</a:t>
            </a:r>
            <a:r>
              <a:rPr lang="en-US" altLang="zh-CN" sz="1500" b="1" baseline="-25000" dirty="0">
                <a:solidFill>
                  <a:srgbClr val="990099"/>
                </a:solidFill>
                <a:latin typeface="微软雅黑" panose="020B0503020204020204" pitchFamily="34" charset="-122"/>
                <a:ea typeface="微软雅黑" panose="020B0503020204020204" pitchFamily="34" charset="-122"/>
              </a:rPr>
              <a:t>2a</a:t>
            </a:r>
            <a:r>
              <a:rPr lang="en-US" altLang="zh-CN" sz="1500" b="1" dirty="0">
                <a:solidFill>
                  <a:srgbClr val="990099"/>
                </a:solidFill>
                <a:latin typeface="微软雅黑" panose="020B0503020204020204" pitchFamily="34" charset="-122"/>
                <a:ea typeface="微软雅黑" panose="020B0503020204020204" pitchFamily="34" charset="-122"/>
              </a:rPr>
              <a:t>]</a:t>
            </a:r>
            <a:endParaRPr lang="en-US" altLang="zh-CN" sz="1500" b="1" kern="500" dirty="0">
              <a:solidFill>
                <a:srgbClr val="990099"/>
              </a:solidFill>
              <a:latin typeface="微软雅黑" panose="020B0503020204020204" pitchFamily="34" charset="-122"/>
              <a:ea typeface="微软雅黑" panose="020B0503020204020204" pitchFamily="34" charset="-122"/>
            </a:endParaRP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664159" y="3122318"/>
            <a:ext cx="8304349"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lnSpc>
                <a:spcPts val="2400"/>
              </a:lnSpc>
            </a:pPr>
            <a:r>
              <a:rPr lang="en-US" altLang="zh-CN" sz="1600" b="1" kern="500" dirty="0">
                <a:latin typeface="微软雅黑" panose="020B0503020204020204" pitchFamily="34" charset="-122"/>
                <a:ea typeface="微软雅黑" panose="020B0503020204020204" pitchFamily="34" charset="-122"/>
              </a:rPr>
              <a:t>AS</a:t>
            </a:r>
            <a:r>
              <a:rPr lang="en-US" altLang="zh-CN" sz="1600" b="1" kern="500" baseline="-25000" dirty="0">
                <a:latin typeface="微软雅黑" panose="020B0503020204020204" pitchFamily="34" charset="-122"/>
                <a:ea typeface="微软雅黑" panose="020B0503020204020204" pitchFamily="34" charset="-122"/>
              </a:rPr>
              <a:t>2 </a:t>
            </a:r>
            <a:r>
              <a:rPr lang="zh-CN" altLang="zh-CN" sz="1600" b="1" kern="500" dirty="0">
                <a:latin typeface="微软雅黑" panose="020B0503020204020204" pitchFamily="34" charset="-122"/>
                <a:ea typeface="微软雅黑" panose="020B0503020204020204" pitchFamily="34" charset="-122"/>
              </a:rPr>
              <a:t>可经</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 </a:t>
            </a:r>
            <a:r>
              <a:rPr lang="zh-CN" altLang="zh-CN" sz="1600" b="1" kern="500" dirty="0">
                <a:latin typeface="微软雅黑" panose="020B0503020204020204" pitchFamily="34" charset="-122"/>
                <a:ea typeface="微软雅黑" panose="020B0503020204020204" pitchFamily="34" charset="-122"/>
              </a:rPr>
              <a:t>到前缀</a:t>
            </a:r>
            <a:r>
              <a:rPr lang="en-US" altLang="zh-CN" sz="1600" b="1" kern="500" dirty="0">
                <a:latin typeface="微软雅黑" panose="020B0503020204020204" pitchFamily="34" charset="-122"/>
                <a:ea typeface="微软雅黑" panose="020B0503020204020204" pitchFamily="34" charset="-122"/>
              </a:rPr>
              <a:t> X </a:t>
            </a:r>
            <a:r>
              <a:rPr lang="zh-CN" altLang="zh-CN" sz="1600" b="1" kern="500" dirty="0">
                <a:latin typeface="微软雅黑" panose="020B0503020204020204" pitchFamily="34" charset="-122"/>
                <a:ea typeface="微软雅黑" panose="020B0503020204020204" pitchFamily="34" charset="-122"/>
              </a:rPr>
              <a:t>的路由</a:t>
            </a:r>
            <a:r>
              <a:rPr lang="en-US" altLang="zh-CN" sz="1600" b="1" kern="500" dirty="0">
                <a:latin typeface="微软雅黑" panose="020B0503020204020204" pitchFamily="34" charset="-122"/>
                <a:ea typeface="微软雅黑" panose="020B0503020204020204" pitchFamily="34" charset="-122"/>
              </a:rPr>
              <a:t> = [</a:t>
            </a:r>
            <a:r>
              <a:rPr lang="zh-CN" altLang="zh-CN" sz="1600" b="1" kern="500" dirty="0">
                <a:latin typeface="微软雅黑" panose="020B0503020204020204" pitchFamily="34" charset="-122"/>
                <a:ea typeface="微软雅黑" panose="020B0503020204020204" pitchFamily="34" charset="-122"/>
              </a:rPr>
              <a:t>前缀</a:t>
            </a:r>
            <a:r>
              <a:rPr lang="en-US" altLang="zh-CN" sz="1600" b="1" kern="500" dirty="0">
                <a:latin typeface="微软雅黑" panose="020B0503020204020204" pitchFamily="34" charset="-122"/>
                <a:ea typeface="微软雅黑" panose="020B0503020204020204" pitchFamily="34" charset="-122"/>
              </a:rPr>
              <a:t>, AS-PATH, NEXT-HOP] = [X, AS</a:t>
            </a:r>
            <a:r>
              <a:rPr lang="en-US" altLang="zh-CN" sz="1600" b="1" kern="500" baseline="-25000" dirty="0">
                <a:latin typeface="微软雅黑" panose="020B0503020204020204" pitchFamily="34" charset="-122"/>
                <a:ea typeface="微软雅黑" panose="020B0503020204020204" pitchFamily="34" charset="-122"/>
              </a:rPr>
              <a:t>3</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a:t>
            </a:r>
            <a:r>
              <a:rPr lang="en-US" altLang="zh-CN" sz="1600" b="1" kern="500" dirty="0">
                <a:latin typeface="微软雅黑" panose="020B0503020204020204" pitchFamily="34" charset="-122"/>
                <a:ea typeface="微软雅黑" panose="020B0503020204020204" pitchFamily="34" charset="-122"/>
              </a:rPr>
              <a:t>]</a:t>
            </a:r>
          </a:p>
          <a:p>
            <a:pPr eaLnBrk="1" hangingPunct="1">
              <a:lnSpc>
                <a:spcPts val="2400"/>
              </a:lnSpc>
            </a:pPr>
            <a:r>
              <a:rPr lang="zh-CN" altLang="en-US" sz="1500" b="1" u="sng" dirty="0">
                <a:solidFill>
                  <a:srgbClr val="990099"/>
                </a:solidFill>
                <a:latin typeface="微软雅黑" panose="020B0503020204020204" pitchFamily="34" charset="-122"/>
                <a:ea typeface="微软雅黑" panose="020B0503020204020204" pitchFamily="34" charset="-122"/>
              </a:rPr>
              <a:t>路由 </a:t>
            </a:r>
            <a:r>
              <a:rPr lang="en-US" altLang="zh-CN" sz="1500" b="1" u="sng" dirty="0">
                <a:solidFill>
                  <a:srgbClr val="990099"/>
                </a:solidFill>
                <a:latin typeface="微软雅黑" panose="020B0503020204020204" pitchFamily="34" charset="-122"/>
                <a:ea typeface="微软雅黑" panose="020B0503020204020204" pitchFamily="34" charset="-122"/>
              </a:rPr>
              <a:t>1</a:t>
            </a:r>
            <a:r>
              <a:rPr lang="zh-CN" altLang="en-US" sz="1500" b="1" dirty="0">
                <a:solidFill>
                  <a:srgbClr val="990099"/>
                </a:solidFill>
                <a:latin typeface="微软雅黑" panose="020B0503020204020204" pitchFamily="34" charset="-122"/>
                <a:ea typeface="微软雅黑" panose="020B0503020204020204" pitchFamily="34" charset="-122"/>
              </a:rPr>
              <a:t>：</a:t>
            </a:r>
            <a:r>
              <a:rPr lang="en-US" altLang="zh-CN" sz="1500" b="1" dirty="0">
                <a:solidFill>
                  <a:srgbClr val="990099"/>
                </a:solidFill>
                <a:latin typeface="微软雅黑" panose="020B0503020204020204" pitchFamily="34" charset="-122"/>
                <a:ea typeface="微软雅黑" panose="020B0503020204020204" pitchFamily="34" charset="-122"/>
              </a:rPr>
              <a:t>AS</a:t>
            </a:r>
            <a:r>
              <a:rPr lang="en-US" altLang="zh-CN" sz="1500" b="1" baseline="-25000" dirty="0">
                <a:solidFill>
                  <a:srgbClr val="990099"/>
                </a:solidFill>
                <a:latin typeface="微软雅黑" panose="020B0503020204020204" pitchFamily="34" charset="-122"/>
                <a:ea typeface="微软雅黑" panose="020B0503020204020204" pitchFamily="34" charset="-122"/>
              </a:rPr>
              <a:t>1 </a:t>
            </a:r>
            <a:r>
              <a:rPr lang="zh-CN" altLang="zh-CN" sz="1500" b="1" dirty="0">
                <a:solidFill>
                  <a:srgbClr val="990099"/>
                </a:solidFill>
                <a:latin typeface="微软雅黑" panose="020B0503020204020204" pitchFamily="34" charset="-122"/>
                <a:ea typeface="微软雅黑" panose="020B0503020204020204" pitchFamily="34" charset="-122"/>
              </a:rPr>
              <a:t>可经</a:t>
            </a:r>
            <a:r>
              <a:rPr lang="en-US" altLang="zh-CN" sz="1500" b="1" dirty="0">
                <a:solidFill>
                  <a:srgbClr val="990099"/>
                </a:solidFill>
                <a:latin typeface="微软雅黑" panose="020B0503020204020204" pitchFamily="34" charset="-122"/>
                <a:ea typeface="微软雅黑" panose="020B0503020204020204" pitchFamily="34" charset="-122"/>
              </a:rPr>
              <a:t> IP</a:t>
            </a:r>
            <a:r>
              <a:rPr lang="en-US" altLang="zh-CN" sz="1500" b="1" baseline="-25000" dirty="0">
                <a:solidFill>
                  <a:srgbClr val="990099"/>
                </a:solidFill>
                <a:latin typeface="微软雅黑" panose="020B0503020204020204" pitchFamily="34" charset="-122"/>
                <a:ea typeface="微软雅黑" panose="020B0503020204020204" pitchFamily="34" charset="-122"/>
              </a:rPr>
              <a:t>2a </a:t>
            </a:r>
            <a:r>
              <a:rPr lang="zh-CN" altLang="zh-CN" sz="1500" b="1" dirty="0">
                <a:solidFill>
                  <a:srgbClr val="990099"/>
                </a:solidFill>
                <a:latin typeface="微软雅黑" panose="020B0503020204020204" pitchFamily="34" charset="-122"/>
                <a:ea typeface="微软雅黑" panose="020B0503020204020204" pitchFamily="34" charset="-122"/>
              </a:rPr>
              <a:t>到前缀</a:t>
            </a:r>
            <a:r>
              <a:rPr lang="en-US" altLang="zh-CN" sz="1500" b="1" dirty="0">
                <a:solidFill>
                  <a:srgbClr val="990099"/>
                </a:solidFill>
                <a:latin typeface="微软雅黑" panose="020B0503020204020204" pitchFamily="34" charset="-122"/>
                <a:ea typeface="微软雅黑" panose="020B0503020204020204" pitchFamily="34" charset="-122"/>
              </a:rPr>
              <a:t> X </a:t>
            </a:r>
            <a:r>
              <a:rPr lang="zh-CN" altLang="zh-CN" sz="1500" b="1" dirty="0">
                <a:solidFill>
                  <a:srgbClr val="990099"/>
                </a:solidFill>
                <a:latin typeface="微软雅黑" panose="020B0503020204020204" pitchFamily="34" charset="-122"/>
                <a:ea typeface="微软雅黑" panose="020B0503020204020204" pitchFamily="34" charset="-122"/>
              </a:rPr>
              <a:t>的路由</a:t>
            </a:r>
            <a:r>
              <a:rPr lang="en-US" altLang="zh-CN" sz="1500" b="1" dirty="0">
                <a:solidFill>
                  <a:srgbClr val="990099"/>
                </a:solidFill>
                <a:latin typeface="微软雅黑" panose="020B0503020204020204" pitchFamily="34" charset="-122"/>
                <a:ea typeface="微软雅黑" panose="020B0503020204020204" pitchFamily="34" charset="-122"/>
              </a:rPr>
              <a:t> = [</a:t>
            </a:r>
            <a:r>
              <a:rPr lang="zh-CN" altLang="zh-CN" sz="1500" b="1" dirty="0">
                <a:solidFill>
                  <a:srgbClr val="990099"/>
                </a:solidFill>
                <a:latin typeface="微软雅黑" panose="020B0503020204020204" pitchFamily="34" charset="-122"/>
                <a:ea typeface="微软雅黑" panose="020B0503020204020204" pitchFamily="34" charset="-122"/>
              </a:rPr>
              <a:t>前缀</a:t>
            </a:r>
            <a:r>
              <a:rPr lang="en-US" altLang="zh-CN" sz="1500" b="1" dirty="0">
                <a:solidFill>
                  <a:srgbClr val="990099"/>
                </a:solidFill>
                <a:latin typeface="微软雅黑" panose="020B0503020204020204" pitchFamily="34" charset="-122"/>
                <a:ea typeface="微软雅黑" panose="020B0503020204020204" pitchFamily="34" charset="-122"/>
              </a:rPr>
              <a:t>, AS-PATH, NEXT-HOP] = [X, AS</a:t>
            </a:r>
            <a:r>
              <a:rPr lang="en-US" altLang="zh-CN" sz="1500" b="1" baseline="-25000" dirty="0">
                <a:solidFill>
                  <a:srgbClr val="990099"/>
                </a:solidFill>
                <a:latin typeface="微软雅黑" panose="020B0503020204020204" pitchFamily="34" charset="-122"/>
                <a:ea typeface="微软雅黑" panose="020B0503020204020204" pitchFamily="34" charset="-122"/>
              </a:rPr>
              <a:t>2</a:t>
            </a:r>
            <a:r>
              <a:rPr lang="en-US" altLang="zh-CN" sz="1500" b="1" dirty="0">
                <a:solidFill>
                  <a:srgbClr val="990099"/>
                </a:solidFill>
                <a:latin typeface="微软雅黑" panose="020B0503020204020204" pitchFamily="34" charset="-122"/>
                <a:ea typeface="微软雅黑" panose="020B0503020204020204" pitchFamily="34" charset="-122"/>
              </a:rPr>
              <a:t> AS</a:t>
            </a:r>
            <a:r>
              <a:rPr lang="en-US" altLang="zh-CN" sz="1500" b="1" baseline="-25000" dirty="0">
                <a:solidFill>
                  <a:srgbClr val="990099"/>
                </a:solidFill>
                <a:latin typeface="微软雅黑" panose="020B0503020204020204" pitchFamily="34" charset="-122"/>
                <a:ea typeface="微软雅黑" panose="020B0503020204020204" pitchFamily="34" charset="-122"/>
              </a:rPr>
              <a:t>3</a:t>
            </a:r>
            <a:r>
              <a:rPr lang="en-US" altLang="zh-CN" sz="1500" b="1" dirty="0">
                <a:solidFill>
                  <a:srgbClr val="990099"/>
                </a:solidFill>
                <a:latin typeface="微软雅黑" panose="020B0503020204020204" pitchFamily="34" charset="-122"/>
                <a:ea typeface="微软雅黑" panose="020B0503020204020204" pitchFamily="34" charset="-122"/>
              </a:rPr>
              <a:t>, IP</a:t>
            </a:r>
            <a:r>
              <a:rPr lang="en-US" altLang="zh-CN" sz="1500" b="1" baseline="-25000" dirty="0">
                <a:solidFill>
                  <a:srgbClr val="990099"/>
                </a:solidFill>
                <a:latin typeface="微软雅黑" panose="020B0503020204020204" pitchFamily="34" charset="-122"/>
                <a:ea typeface="微软雅黑" panose="020B0503020204020204" pitchFamily="34" charset="-122"/>
              </a:rPr>
              <a:t>2a</a:t>
            </a:r>
            <a:r>
              <a:rPr lang="en-US" altLang="zh-CN" sz="1500" b="1" dirty="0">
                <a:solidFill>
                  <a:srgbClr val="990099"/>
                </a:solidFill>
                <a:latin typeface="微软雅黑" panose="020B0503020204020204" pitchFamily="34" charset="-122"/>
                <a:ea typeface="微软雅黑" panose="020B0503020204020204" pitchFamily="34" charset="-122"/>
              </a:rPr>
              <a:t>]</a:t>
            </a:r>
          </a:p>
          <a:p>
            <a:pPr eaLnBrk="1" hangingPunct="1">
              <a:lnSpc>
                <a:spcPts val="2400"/>
              </a:lnSpc>
            </a:pPr>
            <a:r>
              <a:rPr lang="zh-CN" altLang="en-US" sz="1600" b="1" u="sng" dirty="0">
                <a:solidFill>
                  <a:srgbClr val="C00000"/>
                </a:solidFill>
                <a:latin typeface="微软雅黑" panose="020B0503020204020204" pitchFamily="34" charset="-122"/>
                <a:ea typeface="微软雅黑" panose="020B0503020204020204" pitchFamily="34" charset="-122"/>
              </a:rPr>
              <a:t>路由</a:t>
            </a:r>
            <a:r>
              <a:rPr lang="en-US" altLang="zh-CN" sz="1600" b="1" u="sng" dirty="0">
                <a:solidFill>
                  <a:srgbClr val="C00000"/>
                </a:solidFill>
                <a:latin typeface="微软雅黑" panose="020B0503020204020204" pitchFamily="34" charset="-122"/>
                <a:ea typeface="微软雅黑" panose="020B0503020204020204" pitchFamily="34" charset="-122"/>
              </a:rPr>
              <a:t>2</a:t>
            </a:r>
            <a:r>
              <a:rPr lang="zh-CN" altLang="en-US" sz="1600" b="1" dirty="0">
                <a:solidFill>
                  <a:srgbClr val="C00000"/>
                </a:solidFill>
                <a:latin typeface="微软雅黑" panose="020B0503020204020204" pitchFamily="34" charset="-122"/>
                <a:ea typeface="微软雅黑" panose="020B0503020204020204" pitchFamily="34" charset="-122"/>
              </a:rPr>
              <a:t>：</a:t>
            </a:r>
            <a:r>
              <a:rPr lang="en-US" altLang="zh-CN" sz="1600" b="1" dirty="0">
                <a:solidFill>
                  <a:srgbClr val="C00000"/>
                </a:solidFill>
                <a:latin typeface="微软雅黑" panose="020B0503020204020204" pitchFamily="34" charset="-122"/>
                <a:ea typeface="微软雅黑" panose="020B0503020204020204" pitchFamily="34" charset="-122"/>
              </a:rPr>
              <a:t>AS</a:t>
            </a:r>
            <a:r>
              <a:rPr lang="en-US" altLang="zh-CN" sz="1600" b="1" baseline="-25000" dirty="0">
                <a:solidFill>
                  <a:srgbClr val="C00000"/>
                </a:solidFill>
                <a:latin typeface="微软雅黑" panose="020B0503020204020204" pitchFamily="34" charset="-122"/>
                <a:ea typeface="微软雅黑" panose="020B0503020204020204" pitchFamily="34" charset="-122"/>
              </a:rPr>
              <a:t>1 </a:t>
            </a:r>
            <a:r>
              <a:rPr lang="zh-CN" altLang="zh-CN" sz="1600" b="1" dirty="0">
                <a:solidFill>
                  <a:srgbClr val="C00000"/>
                </a:solidFill>
                <a:latin typeface="微软雅黑" panose="020B0503020204020204" pitchFamily="34" charset="-122"/>
                <a:ea typeface="微软雅黑" panose="020B0503020204020204" pitchFamily="34" charset="-122"/>
              </a:rPr>
              <a:t>可经</a:t>
            </a:r>
            <a:r>
              <a:rPr lang="en-US" altLang="zh-CN" sz="1600" b="1" dirty="0">
                <a:solidFill>
                  <a:srgbClr val="C00000"/>
                </a:solidFill>
                <a:latin typeface="微软雅黑" panose="020B0503020204020204" pitchFamily="34" charset="-122"/>
                <a:ea typeface="微软雅黑" panose="020B0503020204020204" pitchFamily="34" charset="-122"/>
              </a:rPr>
              <a:t> IP</a:t>
            </a:r>
            <a:r>
              <a:rPr lang="en-US" altLang="zh-CN" sz="1600" b="1" baseline="-25000" dirty="0">
                <a:solidFill>
                  <a:srgbClr val="C00000"/>
                </a:solidFill>
                <a:latin typeface="微软雅黑" panose="020B0503020204020204" pitchFamily="34" charset="-122"/>
                <a:ea typeface="微软雅黑" panose="020B0503020204020204" pitchFamily="34" charset="-122"/>
              </a:rPr>
              <a:t>3c </a:t>
            </a:r>
            <a:r>
              <a:rPr lang="zh-CN" altLang="zh-CN" sz="1600" b="1" dirty="0">
                <a:solidFill>
                  <a:srgbClr val="C00000"/>
                </a:solidFill>
                <a:latin typeface="微软雅黑" panose="020B0503020204020204" pitchFamily="34" charset="-122"/>
                <a:ea typeface="微软雅黑" panose="020B0503020204020204" pitchFamily="34" charset="-122"/>
              </a:rPr>
              <a:t>到前缀</a:t>
            </a:r>
            <a:r>
              <a:rPr lang="en-US" altLang="zh-CN" sz="1600" b="1" dirty="0">
                <a:solidFill>
                  <a:srgbClr val="C00000"/>
                </a:solidFill>
                <a:latin typeface="微软雅黑" panose="020B0503020204020204" pitchFamily="34" charset="-122"/>
                <a:ea typeface="微软雅黑" panose="020B0503020204020204" pitchFamily="34" charset="-122"/>
              </a:rPr>
              <a:t> X </a:t>
            </a:r>
            <a:r>
              <a:rPr lang="zh-CN" altLang="zh-CN" sz="1600" b="1" dirty="0">
                <a:solidFill>
                  <a:srgbClr val="C00000"/>
                </a:solidFill>
                <a:latin typeface="微软雅黑" panose="020B0503020204020204" pitchFamily="34" charset="-122"/>
                <a:ea typeface="微软雅黑" panose="020B0503020204020204" pitchFamily="34" charset="-122"/>
              </a:rPr>
              <a:t>的路由</a:t>
            </a:r>
            <a:r>
              <a:rPr lang="en-US" altLang="zh-CN" sz="1600" b="1" dirty="0">
                <a:solidFill>
                  <a:srgbClr val="C00000"/>
                </a:solidFill>
                <a:latin typeface="微软雅黑" panose="020B0503020204020204" pitchFamily="34" charset="-122"/>
                <a:ea typeface="微软雅黑" panose="020B0503020204020204" pitchFamily="34" charset="-122"/>
              </a:rPr>
              <a:t> = [</a:t>
            </a:r>
            <a:r>
              <a:rPr lang="zh-CN" altLang="zh-CN" sz="1600" b="1" dirty="0">
                <a:solidFill>
                  <a:srgbClr val="C00000"/>
                </a:solidFill>
                <a:latin typeface="微软雅黑" panose="020B0503020204020204" pitchFamily="34" charset="-122"/>
                <a:ea typeface="微软雅黑" panose="020B0503020204020204" pitchFamily="34" charset="-122"/>
              </a:rPr>
              <a:t>前缀</a:t>
            </a:r>
            <a:r>
              <a:rPr lang="en-US" altLang="zh-CN" sz="1600" b="1" dirty="0">
                <a:solidFill>
                  <a:srgbClr val="C00000"/>
                </a:solidFill>
                <a:latin typeface="微软雅黑" panose="020B0503020204020204" pitchFamily="34" charset="-122"/>
                <a:ea typeface="微软雅黑" panose="020B0503020204020204" pitchFamily="34" charset="-122"/>
              </a:rPr>
              <a:t>, AS-PATH, NEXT-HOP] = [X, AS</a:t>
            </a:r>
            <a:r>
              <a:rPr lang="en-US" altLang="zh-CN" sz="1600" b="1" baseline="-25000" dirty="0">
                <a:solidFill>
                  <a:srgbClr val="C00000"/>
                </a:solidFill>
                <a:latin typeface="微软雅黑" panose="020B0503020204020204" pitchFamily="34" charset="-122"/>
                <a:ea typeface="微软雅黑" panose="020B0503020204020204" pitchFamily="34" charset="-122"/>
              </a:rPr>
              <a:t>3</a:t>
            </a:r>
            <a:r>
              <a:rPr lang="en-US" altLang="zh-CN" sz="1600" b="1" dirty="0">
                <a:solidFill>
                  <a:srgbClr val="C00000"/>
                </a:solidFill>
                <a:latin typeface="微软雅黑" panose="020B0503020204020204" pitchFamily="34" charset="-122"/>
                <a:ea typeface="微软雅黑" panose="020B0503020204020204" pitchFamily="34" charset="-122"/>
              </a:rPr>
              <a:t>, IP</a:t>
            </a:r>
            <a:r>
              <a:rPr lang="en-US" altLang="zh-CN" sz="1600" b="1" baseline="-25000" dirty="0">
                <a:solidFill>
                  <a:srgbClr val="C00000"/>
                </a:solidFill>
                <a:latin typeface="微软雅黑" panose="020B0503020204020204" pitchFamily="34" charset="-122"/>
                <a:ea typeface="微软雅黑" panose="020B0503020204020204" pitchFamily="34" charset="-122"/>
              </a:rPr>
              <a:t>3c</a:t>
            </a:r>
            <a:r>
              <a:rPr lang="en-US" altLang="zh-CN" sz="1600" b="1" dirty="0">
                <a:solidFill>
                  <a:srgbClr val="C00000"/>
                </a:solidFill>
                <a:latin typeface="微软雅黑" panose="020B0503020204020204" pitchFamily="34" charset="-122"/>
                <a:ea typeface="微软雅黑" panose="020B0503020204020204" pitchFamily="34" charset="-122"/>
              </a:rPr>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664159" y="3122318"/>
            <a:ext cx="8304349" cy="1631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lnSpc>
                <a:spcPts val="2400"/>
              </a:lnSpc>
            </a:pPr>
            <a:r>
              <a:rPr lang="en-US" altLang="zh-CN" sz="1600" b="1" kern="500" dirty="0">
                <a:latin typeface="微软雅黑" panose="020B0503020204020204" pitchFamily="34" charset="-122"/>
                <a:ea typeface="微软雅黑" panose="020B0503020204020204" pitchFamily="34" charset="-122"/>
              </a:rPr>
              <a:t>AS</a:t>
            </a:r>
            <a:r>
              <a:rPr lang="en-US" altLang="zh-CN" sz="1600" b="1" kern="500" baseline="-25000" dirty="0">
                <a:latin typeface="微软雅黑" panose="020B0503020204020204" pitchFamily="34" charset="-122"/>
                <a:ea typeface="微软雅黑" panose="020B0503020204020204" pitchFamily="34" charset="-122"/>
              </a:rPr>
              <a:t>2 </a:t>
            </a:r>
            <a:r>
              <a:rPr lang="zh-CN" altLang="zh-CN" sz="1600" b="1" kern="500" dirty="0">
                <a:latin typeface="微软雅黑" panose="020B0503020204020204" pitchFamily="34" charset="-122"/>
                <a:ea typeface="微软雅黑" panose="020B0503020204020204" pitchFamily="34" charset="-122"/>
              </a:rPr>
              <a:t>可经</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 </a:t>
            </a:r>
            <a:r>
              <a:rPr lang="zh-CN" altLang="zh-CN" sz="1600" b="1" kern="500" dirty="0">
                <a:latin typeface="微软雅黑" panose="020B0503020204020204" pitchFamily="34" charset="-122"/>
                <a:ea typeface="微软雅黑" panose="020B0503020204020204" pitchFamily="34" charset="-122"/>
              </a:rPr>
              <a:t>到前缀</a:t>
            </a:r>
            <a:r>
              <a:rPr lang="en-US" altLang="zh-CN" sz="1600" b="1" kern="500" dirty="0">
                <a:latin typeface="微软雅黑" panose="020B0503020204020204" pitchFamily="34" charset="-122"/>
                <a:ea typeface="微软雅黑" panose="020B0503020204020204" pitchFamily="34" charset="-122"/>
              </a:rPr>
              <a:t> X </a:t>
            </a:r>
            <a:r>
              <a:rPr lang="zh-CN" altLang="zh-CN" sz="1600" b="1" kern="500" dirty="0">
                <a:latin typeface="微软雅黑" panose="020B0503020204020204" pitchFamily="34" charset="-122"/>
                <a:ea typeface="微软雅黑" panose="020B0503020204020204" pitchFamily="34" charset="-122"/>
              </a:rPr>
              <a:t>的路由</a:t>
            </a:r>
            <a:r>
              <a:rPr lang="en-US" altLang="zh-CN" sz="1600" b="1" kern="500" dirty="0">
                <a:latin typeface="微软雅黑" panose="020B0503020204020204" pitchFamily="34" charset="-122"/>
                <a:ea typeface="微软雅黑" panose="020B0503020204020204" pitchFamily="34" charset="-122"/>
              </a:rPr>
              <a:t> = [</a:t>
            </a:r>
            <a:r>
              <a:rPr lang="zh-CN" altLang="zh-CN" sz="1600" b="1" kern="500" dirty="0">
                <a:latin typeface="微软雅黑" panose="020B0503020204020204" pitchFamily="34" charset="-122"/>
                <a:ea typeface="微软雅黑" panose="020B0503020204020204" pitchFamily="34" charset="-122"/>
              </a:rPr>
              <a:t>前缀</a:t>
            </a:r>
            <a:r>
              <a:rPr lang="en-US" altLang="zh-CN" sz="1600" b="1" kern="500" dirty="0">
                <a:latin typeface="微软雅黑" panose="020B0503020204020204" pitchFamily="34" charset="-122"/>
                <a:ea typeface="微软雅黑" panose="020B0503020204020204" pitchFamily="34" charset="-122"/>
              </a:rPr>
              <a:t>, AS-PATH, NEXT-HOP] = [X, AS</a:t>
            </a:r>
            <a:r>
              <a:rPr lang="en-US" altLang="zh-CN" sz="1600" b="1" kern="500" baseline="-25000" dirty="0">
                <a:latin typeface="微软雅黑" panose="020B0503020204020204" pitchFamily="34" charset="-122"/>
                <a:ea typeface="微软雅黑" panose="020B0503020204020204" pitchFamily="34" charset="-122"/>
              </a:rPr>
              <a:t>3</a:t>
            </a:r>
            <a:r>
              <a:rPr lang="en-US" altLang="zh-CN" sz="1600" b="1" kern="500" dirty="0">
                <a:latin typeface="微软雅黑" panose="020B0503020204020204" pitchFamily="34" charset="-122"/>
                <a:ea typeface="微软雅黑" panose="020B0503020204020204" pitchFamily="34" charset="-122"/>
              </a:rPr>
              <a:t>, IP</a:t>
            </a:r>
            <a:r>
              <a:rPr lang="en-US" altLang="zh-CN" sz="1600" b="1" kern="500" baseline="-25000" dirty="0">
                <a:latin typeface="微软雅黑" panose="020B0503020204020204" pitchFamily="34" charset="-122"/>
                <a:ea typeface="微软雅黑" panose="020B0503020204020204" pitchFamily="34" charset="-122"/>
              </a:rPr>
              <a:t>3a</a:t>
            </a:r>
            <a:r>
              <a:rPr lang="en-US" altLang="zh-CN" sz="1600" b="1" kern="500" dirty="0">
                <a:latin typeface="微软雅黑" panose="020B0503020204020204" pitchFamily="34" charset="-122"/>
                <a:ea typeface="微软雅黑" panose="020B0503020204020204" pitchFamily="34" charset="-122"/>
              </a:rPr>
              <a:t>]</a:t>
            </a:r>
          </a:p>
          <a:p>
            <a:pPr eaLnBrk="1" hangingPunct="1">
              <a:lnSpc>
                <a:spcPts val="2400"/>
              </a:lnSpc>
            </a:pPr>
            <a:r>
              <a:rPr lang="zh-CN" altLang="en-US" sz="1500" b="1" u="sng" dirty="0">
                <a:solidFill>
                  <a:srgbClr val="990099"/>
                </a:solidFill>
                <a:latin typeface="微软雅黑" panose="020B0503020204020204" pitchFamily="34" charset="-122"/>
                <a:ea typeface="微软雅黑" panose="020B0503020204020204" pitchFamily="34" charset="-122"/>
              </a:rPr>
              <a:t>路由 </a:t>
            </a:r>
            <a:r>
              <a:rPr lang="en-US" altLang="zh-CN" sz="1500" b="1" u="sng" dirty="0">
                <a:solidFill>
                  <a:srgbClr val="990099"/>
                </a:solidFill>
                <a:latin typeface="微软雅黑" panose="020B0503020204020204" pitchFamily="34" charset="-122"/>
                <a:ea typeface="微软雅黑" panose="020B0503020204020204" pitchFamily="34" charset="-122"/>
              </a:rPr>
              <a:t>1</a:t>
            </a:r>
            <a:r>
              <a:rPr lang="zh-CN" altLang="en-US" sz="1500" b="1" dirty="0">
                <a:solidFill>
                  <a:srgbClr val="990099"/>
                </a:solidFill>
                <a:latin typeface="微软雅黑" panose="020B0503020204020204" pitchFamily="34" charset="-122"/>
                <a:ea typeface="微软雅黑" panose="020B0503020204020204" pitchFamily="34" charset="-122"/>
              </a:rPr>
              <a:t>：</a:t>
            </a:r>
            <a:r>
              <a:rPr lang="en-US" altLang="zh-CN" sz="1500" b="1" dirty="0">
                <a:solidFill>
                  <a:srgbClr val="990099"/>
                </a:solidFill>
                <a:latin typeface="微软雅黑" panose="020B0503020204020204" pitchFamily="34" charset="-122"/>
                <a:ea typeface="微软雅黑" panose="020B0503020204020204" pitchFamily="34" charset="-122"/>
              </a:rPr>
              <a:t>AS</a:t>
            </a:r>
            <a:r>
              <a:rPr lang="en-US" altLang="zh-CN" sz="1500" b="1" baseline="-25000" dirty="0">
                <a:solidFill>
                  <a:srgbClr val="990099"/>
                </a:solidFill>
                <a:latin typeface="微软雅黑" panose="020B0503020204020204" pitchFamily="34" charset="-122"/>
                <a:ea typeface="微软雅黑" panose="020B0503020204020204" pitchFamily="34" charset="-122"/>
              </a:rPr>
              <a:t>1 </a:t>
            </a:r>
            <a:r>
              <a:rPr lang="zh-CN" altLang="zh-CN" sz="1500" b="1" dirty="0">
                <a:solidFill>
                  <a:srgbClr val="990099"/>
                </a:solidFill>
                <a:latin typeface="微软雅黑" panose="020B0503020204020204" pitchFamily="34" charset="-122"/>
                <a:ea typeface="微软雅黑" panose="020B0503020204020204" pitchFamily="34" charset="-122"/>
              </a:rPr>
              <a:t>可经</a:t>
            </a:r>
            <a:r>
              <a:rPr lang="en-US" altLang="zh-CN" sz="1500" b="1" dirty="0">
                <a:solidFill>
                  <a:srgbClr val="990099"/>
                </a:solidFill>
                <a:latin typeface="微软雅黑" panose="020B0503020204020204" pitchFamily="34" charset="-122"/>
                <a:ea typeface="微软雅黑" panose="020B0503020204020204" pitchFamily="34" charset="-122"/>
              </a:rPr>
              <a:t> IP</a:t>
            </a:r>
            <a:r>
              <a:rPr lang="en-US" altLang="zh-CN" sz="1500" b="1" baseline="-25000" dirty="0">
                <a:solidFill>
                  <a:srgbClr val="990099"/>
                </a:solidFill>
                <a:latin typeface="微软雅黑" panose="020B0503020204020204" pitchFamily="34" charset="-122"/>
                <a:ea typeface="微软雅黑" panose="020B0503020204020204" pitchFamily="34" charset="-122"/>
              </a:rPr>
              <a:t>2a </a:t>
            </a:r>
            <a:r>
              <a:rPr lang="zh-CN" altLang="zh-CN" sz="1500" b="1" dirty="0">
                <a:solidFill>
                  <a:srgbClr val="990099"/>
                </a:solidFill>
                <a:latin typeface="微软雅黑" panose="020B0503020204020204" pitchFamily="34" charset="-122"/>
                <a:ea typeface="微软雅黑" panose="020B0503020204020204" pitchFamily="34" charset="-122"/>
              </a:rPr>
              <a:t>到前缀</a:t>
            </a:r>
            <a:r>
              <a:rPr lang="en-US" altLang="zh-CN" sz="1500" b="1" dirty="0">
                <a:solidFill>
                  <a:srgbClr val="990099"/>
                </a:solidFill>
                <a:latin typeface="微软雅黑" panose="020B0503020204020204" pitchFamily="34" charset="-122"/>
                <a:ea typeface="微软雅黑" panose="020B0503020204020204" pitchFamily="34" charset="-122"/>
              </a:rPr>
              <a:t> X </a:t>
            </a:r>
            <a:r>
              <a:rPr lang="zh-CN" altLang="zh-CN" sz="1500" b="1" dirty="0">
                <a:solidFill>
                  <a:srgbClr val="990099"/>
                </a:solidFill>
                <a:latin typeface="微软雅黑" panose="020B0503020204020204" pitchFamily="34" charset="-122"/>
                <a:ea typeface="微软雅黑" panose="020B0503020204020204" pitchFamily="34" charset="-122"/>
              </a:rPr>
              <a:t>的路由</a:t>
            </a:r>
            <a:r>
              <a:rPr lang="en-US" altLang="zh-CN" sz="1500" b="1" dirty="0">
                <a:solidFill>
                  <a:srgbClr val="990099"/>
                </a:solidFill>
                <a:latin typeface="微软雅黑" panose="020B0503020204020204" pitchFamily="34" charset="-122"/>
                <a:ea typeface="微软雅黑" panose="020B0503020204020204" pitchFamily="34" charset="-122"/>
              </a:rPr>
              <a:t> = [</a:t>
            </a:r>
            <a:r>
              <a:rPr lang="zh-CN" altLang="zh-CN" sz="1500" b="1" dirty="0">
                <a:solidFill>
                  <a:srgbClr val="990099"/>
                </a:solidFill>
                <a:latin typeface="微软雅黑" panose="020B0503020204020204" pitchFamily="34" charset="-122"/>
                <a:ea typeface="微软雅黑" panose="020B0503020204020204" pitchFamily="34" charset="-122"/>
              </a:rPr>
              <a:t>前缀</a:t>
            </a:r>
            <a:r>
              <a:rPr lang="en-US" altLang="zh-CN" sz="1500" b="1" dirty="0">
                <a:solidFill>
                  <a:srgbClr val="990099"/>
                </a:solidFill>
                <a:latin typeface="微软雅黑" panose="020B0503020204020204" pitchFamily="34" charset="-122"/>
                <a:ea typeface="微软雅黑" panose="020B0503020204020204" pitchFamily="34" charset="-122"/>
              </a:rPr>
              <a:t>, AS-PATH, NEXT-HOP] = [X, AS</a:t>
            </a:r>
            <a:r>
              <a:rPr lang="en-US" altLang="zh-CN" sz="1500" b="1" baseline="-25000" dirty="0">
                <a:solidFill>
                  <a:srgbClr val="990099"/>
                </a:solidFill>
                <a:latin typeface="微软雅黑" panose="020B0503020204020204" pitchFamily="34" charset="-122"/>
                <a:ea typeface="微软雅黑" panose="020B0503020204020204" pitchFamily="34" charset="-122"/>
              </a:rPr>
              <a:t>2</a:t>
            </a:r>
            <a:r>
              <a:rPr lang="en-US" altLang="zh-CN" sz="1500" b="1" dirty="0">
                <a:solidFill>
                  <a:srgbClr val="990099"/>
                </a:solidFill>
                <a:latin typeface="微软雅黑" panose="020B0503020204020204" pitchFamily="34" charset="-122"/>
                <a:ea typeface="微软雅黑" panose="020B0503020204020204" pitchFamily="34" charset="-122"/>
              </a:rPr>
              <a:t> AS</a:t>
            </a:r>
            <a:r>
              <a:rPr lang="en-US" altLang="zh-CN" sz="1500" b="1" baseline="-25000" dirty="0">
                <a:solidFill>
                  <a:srgbClr val="990099"/>
                </a:solidFill>
                <a:latin typeface="微软雅黑" panose="020B0503020204020204" pitchFamily="34" charset="-122"/>
                <a:ea typeface="微软雅黑" panose="020B0503020204020204" pitchFamily="34" charset="-122"/>
              </a:rPr>
              <a:t>3</a:t>
            </a:r>
            <a:r>
              <a:rPr lang="en-US" altLang="zh-CN" sz="1500" b="1" dirty="0">
                <a:solidFill>
                  <a:srgbClr val="990099"/>
                </a:solidFill>
                <a:latin typeface="微软雅黑" panose="020B0503020204020204" pitchFamily="34" charset="-122"/>
                <a:ea typeface="微软雅黑" panose="020B0503020204020204" pitchFamily="34" charset="-122"/>
              </a:rPr>
              <a:t>, IP</a:t>
            </a:r>
            <a:r>
              <a:rPr lang="en-US" altLang="zh-CN" sz="1500" b="1" baseline="-25000" dirty="0">
                <a:solidFill>
                  <a:srgbClr val="990099"/>
                </a:solidFill>
                <a:latin typeface="微软雅黑" panose="020B0503020204020204" pitchFamily="34" charset="-122"/>
                <a:ea typeface="微软雅黑" panose="020B0503020204020204" pitchFamily="34" charset="-122"/>
              </a:rPr>
              <a:t>2a</a:t>
            </a:r>
            <a:r>
              <a:rPr lang="en-US" altLang="zh-CN" sz="1500" b="1" dirty="0">
                <a:solidFill>
                  <a:srgbClr val="990099"/>
                </a:solidFill>
                <a:latin typeface="微软雅黑" panose="020B0503020204020204" pitchFamily="34" charset="-122"/>
                <a:ea typeface="微软雅黑" panose="020B0503020204020204" pitchFamily="34" charset="-122"/>
              </a:rPr>
              <a:t>]</a:t>
            </a:r>
          </a:p>
          <a:p>
            <a:pPr eaLnBrk="1" hangingPunct="1">
              <a:lnSpc>
                <a:spcPts val="2400"/>
              </a:lnSpc>
            </a:pPr>
            <a:r>
              <a:rPr lang="zh-CN" altLang="en-US" sz="1600" b="1" u="sng" dirty="0">
                <a:solidFill>
                  <a:srgbClr val="C00000"/>
                </a:solidFill>
                <a:latin typeface="微软雅黑" panose="020B0503020204020204" pitchFamily="34" charset="-122"/>
                <a:ea typeface="微软雅黑" panose="020B0503020204020204" pitchFamily="34" charset="-122"/>
              </a:rPr>
              <a:t>路由</a:t>
            </a:r>
            <a:r>
              <a:rPr lang="en-US" altLang="zh-CN" sz="1600" b="1" u="sng" dirty="0">
                <a:solidFill>
                  <a:srgbClr val="C00000"/>
                </a:solidFill>
                <a:latin typeface="微软雅黑" panose="020B0503020204020204" pitchFamily="34" charset="-122"/>
                <a:ea typeface="微软雅黑" panose="020B0503020204020204" pitchFamily="34" charset="-122"/>
              </a:rPr>
              <a:t>2</a:t>
            </a:r>
            <a:r>
              <a:rPr lang="zh-CN" altLang="en-US" sz="1600" b="1" dirty="0">
                <a:solidFill>
                  <a:srgbClr val="C00000"/>
                </a:solidFill>
                <a:latin typeface="微软雅黑" panose="020B0503020204020204" pitchFamily="34" charset="-122"/>
                <a:ea typeface="微软雅黑" panose="020B0503020204020204" pitchFamily="34" charset="-122"/>
              </a:rPr>
              <a:t>：</a:t>
            </a:r>
            <a:r>
              <a:rPr lang="en-US" altLang="zh-CN" sz="1600" b="1" dirty="0">
                <a:solidFill>
                  <a:srgbClr val="C00000"/>
                </a:solidFill>
                <a:latin typeface="微软雅黑" panose="020B0503020204020204" pitchFamily="34" charset="-122"/>
                <a:ea typeface="微软雅黑" panose="020B0503020204020204" pitchFamily="34" charset="-122"/>
              </a:rPr>
              <a:t>AS</a:t>
            </a:r>
            <a:r>
              <a:rPr lang="en-US" altLang="zh-CN" sz="1600" b="1" baseline="-25000" dirty="0">
                <a:solidFill>
                  <a:srgbClr val="C00000"/>
                </a:solidFill>
                <a:latin typeface="微软雅黑" panose="020B0503020204020204" pitchFamily="34" charset="-122"/>
                <a:ea typeface="微软雅黑" panose="020B0503020204020204" pitchFamily="34" charset="-122"/>
              </a:rPr>
              <a:t>1 </a:t>
            </a:r>
            <a:r>
              <a:rPr lang="zh-CN" altLang="zh-CN" sz="1600" b="1" dirty="0">
                <a:solidFill>
                  <a:srgbClr val="C00000"/>
                </a:solidFill>
                <a:latin typeface="微软雅黑" panose="020B0503020204020204" pitchFamily="34" charset="-122"/>
                <a:ea typeface="微软雅黑" panose="020B0503020204020204" pitchFamily="34" charset="-122"/>
              </a:rPr>
              <a:t>可经</a:t>
            </a:r>
            <a:r>
              <a:rPr lang="en-US" altLang="zh-CN" sz="1600" b="1" dirty="0">
                <a:solidFill>
                  <a:srgbClr val="C00000"/>
                </a:solidFill>
                <a:latin typeface="微软雅黑" panose="020B0503020204020204" pitchFamily="34" charset="-122"/>
                <a:ea typeface="微软雅黑" panose="020B0503020204020204" pitchFamily="34" charset="-122"/>
              </a:rPr>
              <a:t> IP</a:t>
            </a:r>
            <a:r>
              <a:rPr lang="en-US" altLang="zh-CN" sz="1600" b="1" baseline="-25000" dirty="0">
                <a:solidFill>
                  <a:srgbClr val="C00000"/>
                </a:solidFill>
                <a:latin typeface="微软雅黑" panose="020B0503020204020204" pitchFamily="34" charset="-122"/>
                <a:ea typeface="微软雅黑" panose="020B0503020204020204" pitchFamily="34" charset="-122"/>
              </a:rPr>
              <a:t>3c </a:t>
            </a:r>
            <a:r>
              <a:rPr lang="zh-CN" altLang="zh-CN" sz="1600" b="1" dirty="0">
                <a:solidFill>
                  <a:srgbClr val="C00000"/>
                </a:solidFill>
                <a:latin typeface="微软雅黑" panose="020B0503020204020204" pitchFamily="34" charset="-122"/>
                <a:ea typeface="微软雅黑" panose="020B0503020204020204" pitchFamily="34" charset="-122"/>
              </a:rPr>
              <a:t>到前缀</a:t>
            </a:r>
            <a:r>
              <a:rPr lang="en-US" altLang="zh-CN" sz="1600" b="1" dirty="0">
                <a:solidFill>
                  <a:srgbClr val="C00000"/>
                </a:solidFill>
                <a:latin typeface="微软雅黑" panose="020B0503020204020204" pitchFamily="34" charset="-122"/>
                <a:ea typeface="微软雅黑" panose="020B0503020204020204" pitchFamily="34" charset="-122"/>
              </a:rPr>
              <a:t> X </a:t>
            </a:r>
            <a:r>
              <a:rPr lang="zh-CN" altLang="zh-CN" sz="1600" b="1" dirty="0">
                <a:solidFill>
                  <a:srgbClr val="C00000"/>
                </a:solidFill>
                <a:latin typeface="微软雅黑" panose="020B0503020204020204" pitchFamily="34" charset="-122"/>
                <a:ea typeface="微软雅黑" panose="020B0503020204020204" pitchFamily="34" charset="-122"/>
              </a:rPr>
              <a:t>的路由</a:t>
            </a:r>
            <a:r>
              <a:rPr lang="en-US" altLang="zh-CN" sz="1600" b="1" dirty="0">
                <a:solidFill>
                  <a:srgbClr val="C00000"/>
                </a:solidFill>
                <a:latin typeface="微软雅黑" panose="020B0503020204020204" pitchFamily="34" charset="-122"/>
                <a:ea typeface="微软雅黑" panose="020B0503020204020204" pitchFamily="34" charset="-122"/>
              </a:rPr>
              <a:t> = [</a:t>
            </a:r>
            <a:r>
              <a:rPr lang="zh-CN" altLang="zh-CN" sz="1600" b="1" dirty="0">
                <a:solidFill>
                  <a:srgbClr val="C00000"/>
                </a:solidFill>
                <a:latin typeface="微软雅黑" panose="020B0503020204020204" pitchFamily="34" charset="-122"/>
                <a:ea typeface="微软雅黑" panose="020B0503020204020204" pitchFamily="34" charset="-122"/>
              </a:rPr>
              <a:t>前缀</a:t>
            </a:r>
            <a:r>
              <a:rPr lang="en-US" altLang="zh-CN" sz="1600" b="1" dirty="0">
                <a:solidFill>
                  <a:srgbClr val="C00000"/>
                </a:solidFill>
                <a:latin typeface="微软雅黑" panose="020B0503020204020204" pitchFamily="34" charset="-122"/>
                <a:ea typeface="微软雅黑" panose="020B0503020204020204" pitchFamily="34" charset="-122"/>
              </a:rPr>
              <a:t>, AS-PATH, NEXT-HOP] = [X, AS</a:t>
            </a:r>
            <a:r>
              <a:rPr lang="en-US" altLang="zh-CN" sz="1600" b="1" baseline="-25000" dirty="0">
                <a:solidFill>
                  <a:srgbClr val="C00000"/>
                </a:solidFill>
                <a:latin typeface="微软雅黑" panose="020B0503020204020204" pitchFamily="34" charset="-122"/>
                <a:ea typeface="微软雅黑" panose="020B0503020204020204" pitchFamily="34" charset="-122"/>
              </a:rPr>
              <a:t>3</a:t>
            </a:r>
            <a:r>
              <a:rPr lang="en-US" altLang="zh-CN" sz="1600" b="1" dirty="0">
                <a:solidFill>
                  <a:srgbClr val="C00000"/>
                </a:solidFill>
                <a:latin typeface="微软雅黑" panose="020B0503020204020204" pitchFamily="34" charset="-122"/>
                <a:ea typeface="微软雅黑" panose="020B0503020204020204" pitchFamily="34" charset="-122"/>
              </a:rPr>
              <a:t>, IP</a:t>
            </a:r>
            <a:r>
              <a:rPr lang="en-US" altLang="zh-CN" sz="1600" b="1" baseline="-25000" dirty="0">
                <a:solidFill>
                  <a:srgbClr val="C00000"/>
                </a:solidFill>
                <a:latin typeface="微软雅黑" panose="020B0503020204020204" pitchFamily="34" charset="-122"/>
                <a:ea typeface="微软雅黑" panose="020B0503020204020204" pitchFamily="34" charset="-122"/>
              </a:rPr>
              <a:t>3c</a:t>
            </a:r>
            <a:r>
              <a:rPr lang="en-US" altLang="zh-CN" sz="1600" b="1" dirty="0">
                <a:solidFill>
                  <a:srgbClr val="C00000"/>
                </a:solidFill>
                <a:latin typeface="微软雅黑" panose="020B0503020204020204" pitchFamily="34" charset="-122"/>
                <a:ea typeface="微软雅黑" panose="020B0503020204020204" pitchFamily="34" charset="-122"/>
              </a:rPr>
              <a:t>]</a:t>
            </a:r>
          </a:p>
          <a:p>
            <a:pPr eaLnBrk="1" hangingPunct="1">
              <a:lnSpc>
                <a:spcPts val="2400"/>
              </a:lnSpc>
            </a:pPr>
            <a:r>
              <a:rPr lang="zh-CN" altLang="zh-CN" sz="1600" b="1" dirty="0">
                <a:solidFill>
                  <a:srgbClr val="0000FF"/>
                </a:solidFill>
                <a:latin typeface="微软雅黑" panose="020B0503020204020204" pitchFamily="34" charset="-122"/>
                <a:ea typeface="微软雅黑" panose="020B0503020204020204" pitchFamily="34" charset="-122"/>
              </a:rPr>
              <a:t>路由器</a:t>
            </a:r>
            <a:r>
              <a:rPr lang="en-US" altLang="zh-CN" sz="1600" b="1" dirty="0">
                <a:solidFill>
                  <a:srgbClr val="0000FF"/>
                </a:solidFill>
                <a:latin typeface="微软雅黑" panose="020B0503020204020204" pitchFamily="34" charset="-122"/>
                <a:ea typeface="微软雅黑" panose="020B0503020204020204" pitchFamily="34" charset="-122"/>
              </a:rPr>
              <a:t> R</a:t>
            </a:r>
            <a:r>
              <a:rPr lang="en-US" altLang="zh-CN" sz="1600" b="1" baseline="-25000" dirty="0">
                <a:solidFill>
                  <a:srgbClr val="0000FF"/>
                </a:solidFill>
                <a:latin typeface="微软雅黑" panose="020B0503020204020204" pitchFamily="34" charset="-122"/>
                <a:ea typeface="微软雅黑" panose="020B0503020204020204" pitchFamily="34" charset="-122"/>
              </a:rPr>
              <a:t>1a </a:t>
            </a:r>
            <a:r>
              <a:rPr lang="zh-CN" altLang="zh-CN" sz="1600" b="1" dirty="0">
                <a:solidFill>
                  <a:srgbClr val="0000FF"/>
                </a:solidFill>
                <a:latin typeface="微软雅黑" panose="020B0503020204020204" pitchFamily="34" charset="-122"/>
                <a:ea typeface="微软雅黑" panose="020B0503020204020204" pitchFamily="34" charset="-122"/>
              </a:rPr>
              <a:t>的转发表中，沿</a:t>
            </a:r>
            <a:r>
              <a:rPr lang="en-US" altLang="zh-CN" sz="1600" b="1" dirty="0">
                <a:solidFill>
                  <a:srgbClr val="0000FF"/>
                </a:solidFill>
                <a:latin typeface="微软雅黑" panose="020B0503020204020204" pitchFamily="34" charset="-122"/>
                <a:ea typeface="微软雅黑" panose="020B0503020204020204" pitchFamily="34" charset="-122"/>
              </a:rPr>
              <a:t> </a:t>
            </a:r>
            <a:r>
              <a:rPr lang="en-US" altLang="zh-CN" sz="1600" b="1" u="sng" dirty="0">
                <a:solidFill>
                  <a:srgbClr val="0000FF"/>
                </a:solidFill>
                <a:latin typeface="微软雅黑" panose="020B0503020204020204" pitchFamily="34" charset="-122"/>
                <a:ea typeface="微软雅黑" panose="020B0503020204020204" pitchFamily="34" charset="-122"/>
              </a:rPr>
              <a:t>BGP </a:t>
            </a:r>
            <a:r>
              <a:rPr lang="zh-CN" altLang="zh-CN" sz="1600" b="1" u="sng" dirty="0">
                <a:solidFill>
                  <a:srgbClr val="0000FF"/>
                </a:solidFill>
                <a:latin typeface="微软雅黑" panose="020B0503020204020204" pitchFamily="34" charset="-122"/>
                <a:ea typeface="微软雅黑" panose="020B0503020204020204" pitchFamily="34" charset="-122"/>
              </a:rPr>
              <a:t>路由</a:t>
            </a:r>
            <a:r>
              <a:rPr lang="en-US" altLang="zh-CN" sz="1600" b="1" u="sng" dirty="0">
                <a:solidFill>
                  <a:srgbClr val="0000FF"/>
                </a:solidFill>
                <a:latin typeface="微软雅黑" panose="020B0503020204020204" pitchFamily="34" charset="-122"/>
                <a:ea typeface="微软雅黑" panose="020B0503020204020204" pitchFamily="34" charset="-122"/>
              </a:rPr>
              <a:t> 1 </a:t>
            </a:r>
            <a:r>
              <a:rPr lang="zh-CN" altLang="zh-CN" sz="1600" b="1" dirty="0">
                <a:solidFill>
                  <a:srgbClr val="0000FF"/>
                </a:solidFill>
                <a:latin typeface="微软雅黑" panose="020B0503020204020204" pitchFamily="34" charset="-122"/>
                <a:ea typeface="微软雅黑" panose="020B0503020204020204" pitchFamily="34" charset="-122"/>
              </a:rPr>
              <a:t>到达前缀</a:t>
            </a:r>
            <a:r>
              <a:rPr lang="en-US" altLang="zh-CN" sz="1600" b="1" dirty="0">
                <a:solidFill>
                  <a:srgbClr val="0000FF"/>
                </a:solidFill>
                <a:latin typeface="微软雅黑" panose="020B0503020204020204" pitchFamily="34" charset="-122"/>
                <a:ea typeface="微软雅黑" panose="020B0503020204020204" pitchFamily="34" charset="-122"/>
              </a:rPr>
              <a:t> X </a:t>
            </a:r>
            <a:r>
              <a:rPr lang="zh-CN" altLang="zh-CN" sz="1600" b="1" dirty="0">
                <a:solidFill>
                  <a:srgbClr val="0000FF"/>
                </a:solidFill>
                <a:latin typeface="微软雅黑" panose="020B0503020204020204" pitchFamily="34" charset="-122"/>
                <a:ea typeface="微软雅黑" panose="020B0503020204020204" pitchFamily="34" charset="-122"/>
              </a:rPr>
              <a:t>的项目是：</a:t>
            </a:r>
            <a:endParaRPr lang="en-US" altLang="zh-CN" sz="1600" b="1" dirty="0">
              <a:solidFill>
                <a:srgbClr val="0000FF"/>
              </a:solidFill>
              <a:latin typeface="微软雅黑" panose="020B0503020204020204" pitchFamily="34" charset="-122"/>
              <a:ea typeface="微软雅黑" panose="020B0503020204020204" pitchFamily="34" charset="-122"/>
            </a:endParaRPr>
          </a:p>
          <a:p>
            <a:pPr eaLnBrk="1" hangingPunct="1">
              <a:lnSpc>
                <a:spcPts val="2400"/>
              </a:lnSpc>
            </a:pPr>
            <a:r>
              <a:rPr lang="en-US" altLang="zh-CN" sz="1600" b="1" dirty="0">
                <a:latin typeface="微软雅黑" panose="020B0503020204020204" pitchFamily="34" charset="-122"/>
                <a:ea typeface="微软雅黑" panose="020B0503020204020204" pitchFamily="34" charset="-122"/>
              </a:rPr>
              <a:t>           </a:t>
            </a:r>
            <a:r>
              <a:rPr lang="zh-CN" altLang="zh-CN" sz="1600" b="1" dirty="0">
                <a:latin typeface="微软雅黑" panose="020B0503020204020204" pitchFamily="34" charset="-122"/>
                <a:ea typeface="微软雅黑" panose="020B0503020204020204" pitchFamily="34" charset="-122"/>
              </a:rPr>
              <a:t>（匹配前缀</a:t>
            </a:r>
            <a:r>
              <a:rPr lang="en-US" altLang="zh-CN" sz="1600" b="1" dirty="0">
                <a:latin typeface="微软雅黑" panose="020B0503020204020204" pitchFamily="34" charset="-122"/>
                <a:ea typeface="微软雅黑" panose="020B0503020204020204" pitchFamily="34" charset="-122"/>
              </a:rPr>
              <a:t>X</a:t>
            </a:r>
            <a:r>
              <a:rPr lang="zh-CN" altLang="zh-CN" sz="1600" b="1" dirty="0">
                <a:latin typeface="微软雅黑" panose="020B0503020204020204" pitchFamily="34" charset="-122"/>
                <a:ea typeface="微软雅黑" panose="020B0503020204020204" pitchFamily="34" charset="-122"/>
              </a:rPr>
              <a:t>，下一跳路由器</a:t>
            </a:r>
            <a:r>
              <a:rPr lang="en-US" altLang="zh-CN" sz="1600" b="1" dirty="0">
                <a:latin typeface="微软雅黑" panose="020B0503020204020204" pitchFamily="34" charset="-122"/>
                <a:ea typeface="微软雅黑" panose="020B0503020204020204" pitchFamily="34" charset="-122"/>
              </a:rPr>
              <a:t> R</a:t>
            </a:r>
            <a:r>
              <a:rPr lang="en-US" altLang="zh-CN" sz="1600" b="1" baseline="-25000" dirty="0">
                <a:latin typeface="微软雅黑" panose="020B0503020204020204" pitchFamily="34" charset="-122"/>
                <a:ea typeface="微软雅黑" panose="020B0503020204020204" pitchFamily="34" charset="-122"/>
              </a:rPr>
              <a:t>1b</a:t>
            </a:r>
            <a:r>
              <a:rPr lang="zh-CN" altLang="zh-CN" sz="1600" b="1" dirty="0">
                <a:latin typeface="微软雅黑" panose="020B0503020204020204" pitchFamily="34" charset="-122"/>
                <a:ea typeface="微软雅黑" panose="020B0503020204020204" pitchFamily="34" charset="-122"/>
              </a:rPr>
              <a:t>）或（匹配前缀</a:t>
            </a:r>
            <a:r>
              <a:rPr lang="en-US" altLang="zh-CN" sz="1600" b="1" dirty="0">
                <a:latin typeface="微软雅黑" panose="020B0503020204020204" pitchFamily="34" charset="-122"/>
                <a:ea typeface="微软雅黑" panose="020B0503020204020204" pitchFamily="34" charset="-122"/>
              </a:rPr>
              <a:t>X</a:t>
            </a:r>
            <a:r>
              <a:rPr lang="zh-CN" altLang="zh-CN" sz="1600" b="1" dirty="0">
                <a:latin typeface="微软雅黑" panose="020B0503020204020204" pitchFamily="34" charset="-122"/>
                <a:ea typeface="微软雅黑" panose="020B0503020204020204" pitchFamily="34" charset="-122"/>
              </a:rPr>
              <a:t>，转发接口</a:t>
            </a:r>
            <a:r>
              <a:rPr lang="en-US" altLang="zh-CN" sz="1600" b="1" dirty="0">
                <a:latin typeface="微软雅黑" panose="020B0503020204020204" pitchFamily="34" charset="-122"/>
                <a:ea typeface="微软雅黑" panose="020B0503020204020204" pitchFamily="34" charset="-122"/>
              </a:rPr>
              <a:t> 0</a:t>
            </a:r>
            <a:r>
              <a:rPr lang="zh-CN" altLang="zh-CN" sz="1600" b="1" dirty="0">
                <a:latin typeface="微软雅黑" panose="020B0503020204020204" pitchFamily="34" charset="-122"/>
                <a:ea typeface="微软雅黑" panose="020B0503020204020204" pitchFamily="34" charset="-122"/>
              </a:rPr>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a:t>
            </a:r>
            <a:endParaRPr lang="en-US" altLang="zh-CN" dirty="0"/>
          </a:p>
          <a:p>
            <a:pPr lvl="1"/>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a:t>
            </a:r>
            <a:endParaRPr lang="en-US" altLang="zh-CN" dirty="0"/>
          </a:p>
          <a:p>
            <a:pPr lvl="1"/>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a:t>
            </a:r>
            <a:endParaRPr lang="en-US" altLang="zh-CN" dirty="0"/>
          </a:p>
          <a:p>
            <a:pPr lvl="1"/>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a:t>
            </a:r>
            <a:endParaRPr lang="en-US" altLang="zh-CN" dirty="0"/>
          </a:p>
          <a:p>
            <a:pPr lvl="1"/>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15438" y="2749401"/>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1692000" y="4431150"/>
            <a:ext cx="5760000" cy="307777"/>
          </a:xfrm>
          <a:prstGeom prst="rect">
            <a:avLst/>
          </a:prstGeom>
          <a:solidFill>
            <a:srgbClr val="000066"/>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1400" dirty="0">
                <a:latin typeface="微软雅黑" panose="020B0503020204020204" pitchFamily="34" charset="-122"/>
                <a:ea typeface="微软雅黑" panose="020B0503020204020204" pitchFamily="34" charset="-122"/>
              </a:rPr>
              <a:t>请记住：在属性 </a:t>
            </a:r>
            <a:r>
              <a:rPr lang="en-US" altLang="zh-CN" sz="1400" dirty="0">
                <a:latin typeface="微软雅黑" panose="020B0503020204020204" pitchFamily="34" charset="-122"/>
                <a:ea typeface="微软雅黑" panose="020B0503020204020204" pitchFamily="34" charset="-122"/>
              </a:rPr>
              <a:t>AS-PATH </a:t>
            </a:r>
            <a:r>
              <a:rPr lang="zh-CN" altLang="en-US" sz="1400" dirty="0">
                <a:latin typeface="微软雅黑" panose="020B0503020204020204" pitchFamily="34" charset="-122"/>
                <a:ea typeface="微软雅黑" panose="020B0503020204020204" pitchFamily="34" charset="-122"/>
              </a:rPr>
              <a:t>中，不允许出现相同的 </a:t>
            </a:r>
            <a:r>
              <a:rPr lang="en-US" altLang="zh-CN" sz="1400" dirty="0">
                <a:latin typeface="微软雅黑" panose="020B0503020204020204" pitchFamily="34" charset="-122"/>
                <a:ea typeface="微软雅黑" panose="020B0503020204020204" pitchFamily="34" charset="-122"/>
              </a:rPr>
              <a:t>AS </a:t>
            </a:r>
            <a:r>
              <a:rPr lang="zh-CN" altLang="en-US" sz="1400" dirty="0">
                <a:latin typeface="微软雅黑" panose="020B0503020204020204" pitchFamily="34" charset="-122"/>
                <a:ea typeface="微软雅黑" panose="020B0503020204020204"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174500357"/>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1352260" y="3419313"/>
            <a:ext cx="52293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800" b="1" dirty="0">
                <a:solidFill>
                  <a:srgbClr val="0000FF"/>
                </a:solidFill>
                <a:latin typeface="微软雅黑" panose="020B0503020204020204" pitchFamily="34" charset="-122"/>
                <a:ea typeface="微软雅黑" panose="020B0503020204020204" pitchFamily="34" charset="-122"/>
              </a:rPr>
              <a:t>AS</a:t>
            </a:r>
            <a:r>
              <a:rPr lang="en-US" altLang="zh-CN" sz="1800" b="1" baseline="-25000" dirty="0">
                <a:solidFill>
                  <a:srgbClr val="0000FF"/>
                </a:solidFill>
                <a:latin typeface="微软雅黑" panose="020B0503020204020204" pitchFamily="34" charset="-122"/>
                <a:ea typeface="微软雅黑" panose="020B0503020204020204" pitchFamily="34" charset="-122"/>
              </a:rPr>
              <a:t>1</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选择通过路由器 </a:t>
            </a:r>
            <a:r>
              <a:rPr lang="en-US" altLang="zh-CN" sz="1800" b="1" dirty="0">
                <a:solidFill>
                  <a:srgbClr val="0000FF"/>
                </a:solidFill>
                <a:latin typeface="微软雅黑" panose="020B0503020204020204" pitchFamily="34" charset="-122"/>
                <a:ea typeface="微软雅黑" panose="020B0503020204020204" pitchFamily="34" charset="-122"/>
              </a:rPr>
              <a:t>R</a:t>
            </a:r>
            <a:r>
              <a:rPr lang="en-US" altLang="zh-CN" sz="1800" b="1" baseline="-25000" dirty="0">
                <a:solidFill>
                  <a:srgbClr val="0000FF"/>
                </a:solidFill>
                <a:latin typeface="微软雅黑" panose="020B0503020204020204" pitchFamily="34" charset="-122"/>
                <a:ea typeface="微软雅黑" panose="020B0503020204020204" pitchFamily="34" charset="-122"/>
              </a:rPr>
              <a:t>1d</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到达 </a:t>
            </a:r>
            <a:r>
              <a:rPr lang="en-US" altLang="zh-CN" sz="1800" b="1" dirty="0">
                <a:solidFill>
                  <a:srgbClr val="0000FF"/>
                </a:solidFill>
                <a:latin typeface="微软雅黑" panose="020B0503020204020204" pitchFamily="34" charset="-122"/>
                <a:ea typeface="微软雅黑" panose="020B0503020204020204" pitchFamily="34" charset="-122"/>
              </a:rPr>
              <a:t>X </a:t>
            </a:r>
            <a:r>
              <a:rPr lang="zh-CN" altLang="en-US" sz="1800" b="1" dirty="0">
                <a:solidFill>
                  <a:srgbClr val="0000FF"/>
                </a:solidFill>
                <a:latin typeface="微软雅黑" panose="020B0503020204020204" pitchFamily="34" charset="-122"/>
                <a:ea typeface="微软雅黑" panose="020B0503020204020204" pitchFamily="34" charset="-122"/>
              </a:rPr>
              <a:t>的 </a:t>
            </a:r>
            <a:r>
              <a:rPr lang="en-US" altLang="zh-CN" sz="1800" b="1" dirty="0">
                <a:solidFill>
                  <a:srgbClr val="0000FF"/>
                </a:solidFill>
                <a:latin typeface="微软雅黑" panose="020B0503020204020204" pitchFamily="34" charset="-122"/>
                <a:ea typeface="微软雅黑" panose="020B0503020204020204" pitchFamily="34" charset="-122"/>
              </a:rPr>
              <a:t>BGP </a:t>
            </a:r>
            <a:r>
              <a:rPr lang="zh-CN" altLang="en-US" sz="1800" b="1" dirty="0">
                <a:solidFill>
                  <a:srgbClr val="0000FF"/>
                </a:solidFill>
                <a:latin typeface="微软雅黑" panose="020B0503020204020204" pitchFamily="34" charset="-122"/>
                <a:ea typeface="微软雅黑" panose="020B0503020204020204" pitchFamily="34" charset="-122"/>
              </a:rPr>
              <a:t>路由。</a:t>
            </a:r>
            <a:endParaRPr lang="en-US" altLang="zh-CN" sz="1800" b="1" baseline="-25000" dirty="0">
              <a:solidFill>
                <a:srgbClr val="0000FF"/>
              </a:solidFill>
              <a:latin typeface="微软雅黑" panose="020B0503020204020204" pitchFamily="34" charset="-122"/>
              <a:ea typeface="微软雅黑" panose="020B0503020204020204" pitchFamily="34" charset="-122"/>
            </a:endParaRPr>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82387" y="3014631"/>
            <a:ext cx="366222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4</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100 , IP</a:t>
            </a:r>
            <a:r>
              <a:rPr lang="en-US" altLang="zh-CN" sz="1400" b="1" baseline="-25000" dirty="0">
                <a:solidFill>
                  <a:srgbClr val="C00000"/>
                </a:solidFill>
                <a:latin typeface="微软雅黑" panose="020B0503020204020204" pitchFamily="34" charset="-122"/>
                <a:ea typeface="微软雅黑" panose="020B0503020204020204" pitchFamily="34" charset="-122"/>
              </a:rPr>
              <a:t>4a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402"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2</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3</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200, IP</a:t>
            </a:r>
            <a:r>
              <a:rPr lang="en-US" altLang="zh-CN" sz="1400" b="1" baseline="-25000" dirty="0">
                <a:solidFill>
                  <a:srgbClr val="C00000"/>
                </a:solidFill>
                <a:latin typeface="微软雅黑" panose="020B0503020204020204" pitchFamily="34" charset="-122"/>
                <a:ea typeface="微软雅黑" panose="020B0503020204020204" pitchFamily="34" charset="-122"/>
              </a:rPr>
              <a:t>2a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358267" y="1758877"/>
            <a:ext cx="644735" cy="25496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5071774" y="254907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038693"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82387" y="3385505"/>
            <a:ext cx="366222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4</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100 , IP</a:t>
            </a:r>
            <a:r>
              <a:rPr lang="en-US" altLang="zh-CN" sz="1400" b="1" baseline="-25000" dirty="0">
                <a:solidFill>
                  <a:srgbClr val="C00000"/>
                </a:solidFill>
                <a:latin typeface="微软雅黑" panose="020B0503020204020204" pitchFamily="34" charset="-122"/>
                <a:ea typeface="微软雅黑" panose="020B0503020204020204" pitchFamily="34" charset="-122"/>
              </a:rPr>
              <a:t>4a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2</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3</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200, IP</a:t>
            </a:r>
            <a:r>
              <a:rPr lang="en-US" altLang="zh-CN" sz="1400" b="1" baseline="-25000" dirty="0">
                <a:solidFill>
                  <a:srgbClr val="C00000"/>
                </a:solidFill>
                <a:latin typeface="微软雅黑" panose="020B0503020204020204" pitchFamily="34" charset="-122"/>
                <a:ea typeface="微软雅黑" panose="020B0503020204020204" pitchFamily="34" charset="-122"/>
              </a:rPr>
              <a:t>2a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882387" y="3642680"/>
            <a:ext cx="366222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4</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100 , IP</a:t>
            </a:r>
            <a:r>
              <a:rPr lang="en-US" altLang="zh-CN" sz="1400" b="1" baseline="-25000" dirty="0">
                <a:solidFill>
                  <a:srgbClr val="C00000"/>
                </a:solidFill>
                <a:latin typeface="微软雅黑" panose="020B0503020204020204" pitchFamily="34" charset="-122"/>
                <a:ea typeface="微软雅黑" panose="020B0503020204020204" pitchFamily="34" charset="-122"/>
              </a:rPr>
              <a:t>4a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2</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3</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200, IP</a:t>
            </a:r>
            <a:r>
              <a:rPr lang="en-US" altLang="zh-CN" sz="1400" b="1" baseline="-25000" dirty="0">
                <a:solidFill>
                  <a:srgbClr val="C00000"/>
                </a:solidFill>
                <a:latin typeface="微软雅黑" panose="020B0503020204020204" pitchFamily="34" charset="-122"/>
                <a:ea typeface="微软雅黑" panose="020B0503020204020204" pitchFamily="34" charset="-122"/>
              </a:rPr>
              <a:t>2a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328479" y="2920427"/>
            <a:ext cx="13933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200/low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337588" y="1474081"/>
            <a:ext cx="1486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300/high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82387" y="3642680"/>
            <a:ext cx="366222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4</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100 , IP</a:t>
            </a:r>
            <a:r>
              <a:rPr lang="en-US" altLang="zh-CN" sz="1400" b="1" baseline="-25000" dirty="0">
                <a:solidFill>
                  <a:srgbClr val="C00000"/>
                </a:solidFill>
                <a:latin typeface="微软雅黑" panose="020B0503020204020204" pitchFamily="34" charset="-122"/>
                <a:ea typeface="微软雅黑" panose="020B0503020204020204" pitchFamily="34" charset="-122"/>
              </a:rPr>
              <a:t>4a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2</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3</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200, IP</a:t>
            </a:r>
            <a:r>
              <a:rPr lang="en-US" altLang="zh-CN" sz="1400" b="1" baseline="-25000" dirty="0">
                <a:solidFill>
                  <a:srgbClr val="C00000"/>
                </a:solidFill>
                <a:latin typeface="微软雅黑" panose="020B0503020204020204" pitchFamily="34" charset="-122"/>
                <a:ea typeface="微软雅黑" panose="020B0503020204020204" pitchFamily="34" charset="-122"/>
              </a:rPr>
              <a:t>2a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095457" y="2350947"/>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54893" y="15784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356648" y="3381918"/>
            <a:ext cx="6285929" cy="10926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lnSpc>
                <a:spcPts val="2600"/>
              </a:lnSpc>
            </a:pPr>
            <a:r>
              <a:rPr lang="en-US" altLang="zh-CN" sz="1800" b="1" dirty="0">
                <a:solidFill>
                  <a:srgbClr val="0000FF"/>
                </a:solidFill>
                <a:latin typeface="微软雅黑" panose="020B0503020204020204" pitchFamily="34" charset="-122"/>
                <a:ea typeface="微软雅黑" panose="020B0503020204020204" pitchFamily="34" charset="-122"/>
              </a:rPr>
              <a:t>AS</a:t>
            </a:r>
            <a:r>
              <a:rPr lang="en-US" altLang="zh-CN" sz="1800" b="1" baseline="-25000" dirty="0">
                <a:solidFill>
                  <a:srgbClr val="0000FF"/>
                </a:solidFill>
                <a:latin typeface="微软雅黑" panose="020B0503020204020204" pitchFamily="34" charset="-122"/>
                <a:ea typeface="微软雅黑" panose="020B0503020204020204" pitchFamily="34" charset="-122"/>
              </a:rPr>
              <a:t>1</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选择通过路由器 </a:t>
            </a:r>
            <a:r>
              <a:rPr lang="en-US" altLang="zh-CN" sz="1800" b="1" dirty="0">
                <a:solidFill>
                  <a:srgbClr val="0000FF"/>
                </a:solidFill>
                <a:latin typeface="微软雅黑" panose="020B0503020204020204" pitchFamily="34" charset="-122"/>
                <a:ea typeface="微软雅黑" panose="020B0503020204020204" pitchFamily="34" charset="-122"/>
              </a:rPr>
              <a:t>R</a:t>
            </a:r>
            <a:r>
              <a:rPr lang="en-US" altLang="zh-CN" sz="1800" b="1" baseline="-25000" dirty="0">
                <a:solidFill>
                  <a:srgbClr val="0000FF"/>
                </a:solidFill>
                <a:latin typeface="微软雅黑" panose="020B0503020204020204" pitchFamily="34" charset="-122"/>
                <a:ea typeface="微软雅黑" panose="020B0503020204020204" pitchFamily="34" charset="-122"/>
              </a:rPr>
              <a:t>1c</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到达 </a:t>
            </a:r>
            <a:r>
              <a:rPr lang="en-US" altLang="zh-CN" sz="1800" b="1" dirty="0">
                <a:solidFill>
                  <a:srgbClr val="0000FF"/>
                </a:solidFill>
                <a:latin typeface="微软雅黑" panose="020B0503020204020204" pitchFamily="34" charset="-122"/>
                <a:ea typeface="微软雅黑" panose="020B0503020204020204" pitchFamily="34" charset="-122"/>
              </a:rPr>
              <a:t>X </a:t>
            </a:r>
            <a:r>
              <a:rPr lang="zh-CN" altLang="en-US" sz="1800" b="1" dirty="0">
                <a:solidFill>
                  <a:srgbClr val="0000FF"/>
                </a:solidFill>
                <a:latin typeface="微软雅黑" panose="020B0503020204020204" pitchFamily="34" charset="-122"/>
                <a:ea typeface="微软雅黑" panose="020B0503020204020204" pitchFamily="34" charset="-122"/>
              </a:rPr>
              <a:t>的 </a:t>
            </a:r>
            <a:r>
              <a:rPr lang="en-US" altLang="zh-CN" sz="1800" b="1" dirty="0">
                <a:solidFill>
                  <a:srgbClr val="0000FF"/>
                </a:solidFill>
                <a:latin typeface="微软雅黑" panose="020B0503020204020204" pitchFamily="34" charset="-122"/>
                <a:ea typeface="微软雅黑" panose="020B0503020204020204" pitchFamily="34" charset="-122"/>
              </a:rPr>
              <a:t>BGP </a:t>
            </a:r>
            <a:r>
              <a:rPr lang="zh-CN" altLang="en-US" sz="1800" b="1" dirty="0">
                <a:solidFill>
                  <a:srgbClr val="0000FF"/>
                </a:solidFill>
                <a:latin typeface="微软雅黑" panose="020B0503020204020204" pitchFamily="34" charset="-122"/>
                <a:ea typeface="微软雅黑" panose="020B0503020204020204" pitchFamily="34" charset="-122"/>
              </a:rPr>
              <a:t>路由。</a:t>
            </a:r>
            <a:endParaRPr lang="en-US" altLang="zh-CN" sz="1800" b="1" dirty="0">
              <a:solidFill>
                <a:srgbClr val="0000FF"/>
              </a:solidFill>
              <a:latin typeface="微软雅黑" panose="020B0503020204020204" pitchFamily="34" charset="-122"/>
              <a:ea typeface="微软雅黑" panose="020B0503020204020204" pitchFamily="34" charset="-122"/>
            </a:endParaRPr>
          </a:p>
          <a:p>
            <a:pPr eaLnBrk="1" hangingPunct="1">
              <a:lnSpc>
                <a:spcPts val="2600"/>
              </a:lnSpc>
            </a:pPr>
            <a:r>
              <a:rPr lang="zh-CN" altLang="en-US" sz="1800" b="1" dirty="0">
                <a:latin typeface="微软雅黑" panose="020B0503020204020204" pitchFamily="34" charset="-122"/>
                <a:ea typeface="微软雅黑" panose="020B0503020204020204" pitchFamily="34" charset="-122"/>
              </a:rPr>
              <a:t>但事实上，分组在 </a:t>
            </a:r>
            <a:r>
              <a:rPr lang="en-US" altLang="zh-CN" sz="1800" b="1" dirty="0">
                <a:latin typeface="微软雅黑" panose="020B0503020204020204" pitchFamily="34" charset="-122"/>
                <a:ea typeface="微软雅黑" panose="020B0503020204020204" pitchFamily="34" charset="-122"/>
              </a:rPr>
              <a:t>AS</a:t>
            </a:r>
            <a:r>
              <a:rPr lang="en-US" altLang="zh-CN" sz="1800" b="1" baseline="-25000" dirty="0">
                <a:latin typeface="微软雅黑" panose="020B0503020204020204" pitchFamily="34" charset="-122"/>
                <a:ea typeface="微软雅黑" panose="020B0503020204020204" pitchFamily="34" charset="-122"/>
              </a:rPr>
              <a:t>4</a:t>
            </a:r>
            <a:r>
              <a:rPr lang="en-US" altLang="zh-CN" sz="1800" b="1" dirty="0">
                <a:latin typeface="微软雅黑" panose="020B0503020204020204" pitchFamily="34" charset="-122"/>
                <a:ea typeface="微软雅黑" panose="020B0503020204020204" pitchFamily="34" charset="-122"/>
              </a:rPr>
              <a:t> </a:t>
            </a:r>
            <a:r>
              <a:rPr lang="zh-CN" altLang="en-US" sz="1800" b="1" dirty="0">
                <a:latin typeface="微软雅黑" panose="020B0503020204020204" pitchFamily="34" charset="-122"/>
                <a:ea typeface="微软雅黑" panose="020B0503020204020204" pitchFamily="34" charset="-122"/>
              </a:rPr>
              <a:t>中反而要经过更多次数的转发。</a:t>
            </a:r>
            <a:endParaRPr lang="en-US" altLang="zh-CN" sz="1800" b="1" dirty="0">
              <a:latin typeface="微软雅黑" panose="020B0503020204020204" pitchFamily="34" charset="-122"/>
              <a:ea typeface="微软雅黑" panose="020B0503020204020204" pitchFamily="34" charset="-122"/>
            </a:endParaRPr>
          </a:p>
          <a:p>
            <a:pPr eaLnBrk="1" hangingPunct="1">
              <a:lnSpc>
                <a:spcPts val="2600"/>
              </a:lnSpc>
            </a:pPr>
            <a:r>
              <a:rPr lang="zh-CN" altLang="en-US" sz="1800" b="1" dirty="0">
                <a:latin typeface="微软雅黑" panose="020B0503020204020204" pitchFamily="34" charset="-122"/>
                <a:ea typeface="微软雅黑" panose="020B0503020204020204" pitchFamily="34" charset="-122"/>
              </a:rPr>
              <a:t>说明协议 </a:t>
            </a:r>
            <a:r>
              <a:rPr lang="en-US" altLang="zh-CN" sz="1800" b="1" dirty="0">
                <a:latin typeface="微软雅黑" panose="020B0503020204020204" pitchFamily="34" charset="-122"/>
                <a:ea typeface="微软雅黑" panose="020B0503020204020204" pitchFamily="34" charset="-122"/>
              </a:rPr>
              <a:t>BGP </a:t>
            </a:r>
            <a:r>
              <a:rPr lang="zh-CN" altLang="en-US" sz="1800" b="1" dirty="0">
                <a:latin typeface="微软雅黑" panose="020B0503020204020204" pitchFamily="34" charset="-122"/>
                <a:ea typeface="微软雅黑" panose="020B0503020204020204" pitchFamily="34" charset="-122"/>
              </a:rPr>
              <a:t>不存在真正的最佳路由选择。</a:t>
            </a:r>
            <a:endParaRPr lang="en-US" altLang="zh-CN" sz="1800" b="1" dirty="0">
              <a:latin typeface="微软雅黑" panose="020B0503020204020204" pitchFamily="34" charset="-122"/>
              <a:ea typeface="微软雅黑" panose="020B0503020204020204" pitchFamily="34" charset="-122"/>
            </a:endParaRP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82387" y="3014631"/>
            <a:ext cx="366222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4</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100 , IP</a:t>
            </a:r>
            <a:r>
              <a:rPr lang="en-US" altLang="zh-CN" sz="1400" b="1" baseline="-25000" dirty="0">
                <a:solidFill>
                  <a:srgbClr val="C00000"/>
                </a:solidFill>
                <a:latin typeface="微软雅黑" panose="020B0503020204020204" pitchFamily="34" charset="-122"/>
                <a:ea typeface="微软雅黑" panose="020B0503020204020204" pitchFamily="34" charset="-122"/>
              </a:rPr>
              <a:t>4a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2</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3</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100, IP</a:t>
            </a:r>
            <a:r>
              <a:rPr lang="en-US" altLang="zh-CN" sz="1400" b="1" baseline="-25000" dirty="0">
                <a:solidFill>
                  <a:srgbClr val="C00000"/>
                </a:solidFill>
                <a:latin typeface="微软雅黑" panose="020B0503020204020204" pitchFamily="34" charset="-122"/>
                <a:ea typeface="微软雅黑" panose="020B0503020204020204" pitchFamily="34" charset="-122"/>
              </a:rPr>
              <a:t>2a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18428" y="3381918"/>
            <a:ext cx="6909572" cy="1426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lnSpc>
                <a:spcPts val="2600"/>
              </a:lnSpc>
            </a:pPr>
            <a:r>
              <a:rPr lang="en-US" altLang="zh-CN" sz="1800" b="1" dirty="0">
                <a:solidFill>
                  <a:srgbClr val="0000FF"/>
                </a:solidFill>
                <a:latin typeface="微软雅黑" panose="020B0503020204020204" pitchFamily="34" charset="-122"/>
                <a:ea typeface="微软雅黑" panose="020B0503020204020204" pitchFamily="34" charset="-122"/>
              </a:rPr>
              <a:t>R</a:t>
            </a:r>
            <a:r>
              <a:rPr lang="en-US" altLang="zh-CN" sz="1800" b="1" baseline="-25000" dirty="0">
                <a:solidFill>
                  <a:srgbClr val="0000FF"/>
                </a:solidFill>
                <a:latin typeface="微软雅黑" panose="020B0503020204020204" pitchFamily="34" charset="-122"/>
                <a:ea typeface="微软雅黑" panose="020B0503020204020204" pitchFamily="34" charset="-122"/>
              </a:rPr>
              <a:t>1a</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选择 </a:t>
            </a:r>
            <a:r>
              <a:rPr lang="en-US" altLang="zh-CN" sz="1800" b="1" dirty="0">
                <a:solidFill>
                  <a:srgbClr val="0000FF"/>
                </a:solidFill>
                <a:latin typeface="微软雅黑" panose="020B0503020204020204" pitchFamily="34" charset="-122"/>
                <a:ea typeface="微软雅黑" panose="020B0503020204020204" pitchFamily="34" charset="-122"/>
              </a:rPr>
              <a:t>R</a:t>
            </a:r>
            <a:r>
              <a:rPr lang="en-US" altLang="zh-CN" sz="1800" b="1" baseline="-25000" dirty="0">
                <a:solidFill>
                  <a:srgbClr val="0000FF"/>
                </a:solidFill>
                <a:latin typeface="微软雅黑" panose="020B0503020204020204" pitchFamily="34" charset="-122"/>
                <a:ea typeface="微软雅黑" panose="020B0503020204020204" pitchFamily="34" charset="-122"/>
              </a:rPr>
              <a:t>1c</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作为离开 </a:t>
            </a:r>
            <a:r>
              <a:rPr lang="en-US" altLang="zh-CN" sz="1800" b="1" dirty="0">
                <a:solidFill>
                  <a:srgbClr val="0000FF"/>
                </a:solidFill>
                <a:latin typeface="微软雅黑" panose="020B0503020204020204" pitchFamily="34" charset="-122"/>
                <a:ea typeface="微软雅黑" panose="020B0503020204020204" pitchFamily="34" charset="-122"/>
              </a:rPr>
              <a:t>AS</a:t>
            </a:r>
            <a:r>
              <a:rPr lang="en-US" altLang="zh-CN" sz="1800" b="1" baseline="-25000" dirty="0">
                <a:solidFill>
                  <a:srgbClr val="0000FF"/>
                </a:solidFill>
                <a:latin typeface="微软雅黑" panose="020B0503020204020204" pitchFamily="34" charset="-122"/>
                <a:ea typeface="微软雅黑" panose="020B0503020204020204" pitchFamily="34" charset="-122"/>
              </a:rPr>
              <a:t>1</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的最佳选择，</a:t>
            </a:r>
            <a:r>
              <a:rPr lang="zh-CN" altLang="en-US" sz="1800" b="1" dirty="0">
                <a:latin typeface="微软雅黑" panose="020B0503020204020204" pitchFamily="34" charset="-122"/>
                <a:ea typeface="微软雅黑" panose="020B0503020204020204" pitchFamily="34" charset="-122"/>
              </a:rPr>
              <a:t>其 </a:t>
            </a:r>
            <a:r>
              <a:rPr lang="en-US" altLang="zh-CN" sz="1800" b="1" dirty="0">
                <a:latin typeface="微软雅黑" panose="020B0503020204020204" pitchFamily="34" charset="-122"/>
                <a:ea typeface="微软雅黑" panose="020B0503020204020204" pitchFamily="34" charset="-122"/>
              </a:rPr>
              <a:t>BGP </a:t>
            </a:r>
            <a:r>
              <a:rPr lang="zh-CN" altLang="en-US" sz="1800" b="1" dirty="0">
                <a:latin typeface="微软雅黑" panose="020B0503020204020204" pitchFamily="34" charset="-122"/>
                <a:ea typeface="微软雅黑" panose="020B0503020204020204" pitchFamily="34" charset="-122"/>
              </a:rPr>
              <a:t>转发表中对应的项目应当是：（匹配前缀 </a:t>
            </a:r>
            <a:r>
              <a:rPr lang="en-US" altLang="zh-CN" sz="1800" b="1" dirty="0">
                <a:latin typeface="微软雅黑" panose="020B0503020204020204" pitchFamily="34" charset="-122"/>
                <a:ea typeface="微软雅黑" panose="020B0503020204020204" pitchFamily="34" charset="-122"/>
              </a:rPr>
              <a:t>X</a:t>
            </a:r>
            <a:r>
              <a:rPr lang="zh-CN" altLang="en-US" sz="1800" b="1" dirty="0">
                <a:latin typeface="微软雅黑" panose="020B0503020204020204" pitchFamily="34" charset="-122"/>
                <a:ea typeface="微软雅黑" panose="020B0503020204020204" pitchFamily="34" charset="-122"/>
              </a:rPr>
              <a:t>，下一跳路由器 </a:t>
            </a:r>
            <a:r>
              <a:rPr lang="en-US" altLang="zh-CN" sz="1800" b="1" dirty="0">
                <a:latin typeface="微软雅黑" panose="020B0503020204020204" pitchFamily="34" charset="-122"/>
                <a:ea typeface="微软雅黑" panose="020B0503020204020204" pitchFamily="34" charset="-122"/>
              </a:rPr>
              <a:t>R</a:t>
            </a:r>
            <a:r>
              <a:rPr lang="en-US" altLang="zh-CN" sz="1800" b="1" baseline="-25000" dirty="0">
                <a:latin typeface="微软雅黑" panose="020B0503020204020204" pitchFamily="34" charset="-122"/>
                <a:ea typeface="微软雅黑" panose="020B0503020204020204" pitchFamily="34" charset="-122"/>
              </a:rPr>
              <a:t>1c</a:t>
            </a:r>
            <a:r>
              <a:rPr lang="zh-CN" altLang="en-US" sz="1800" b="1" dirty="0">
                <a:latin typeface="微软雅黑" panose="020B0503020204020204" pitchFamily="34" charset="-122"/>
                <a:ea typeface="微软雅黑" panose="020B0503020204020204" pitchFamily="34" charset="-122"/>
              </a:rPr>
              <a:t>）。</a:t>
            </a:r>
          </a:p>
          <a:p>
            <a:pPr eaLnBrk="1" hangingPunct="1">
              <a:lnSpc>
                <a:spcPts val="2600"/>
              </a:lnSpc>
            </a:pPr>
            <a:r>
              <a:rPr lang="en-US" altLang="zh-CN" sz="1800" b="1" dirty="0">
                <a:solidFill>
                  <a:srgbClr val="0000FF"/>
                </a:solidFill>
                <a:latin typeface="微软雅黑" panose="020B0503020204020204" pitchFamily="34" charset="-122"/>
                <a:ea typeface="微软雅黑" panose="020B0503020204020204" pitchFamily="34" charset="-122"/>
              </a:rPr>
              <a:t>R</a:t>
            </a:r>
            <a:r>
              <a:rPr lang="en-US" altLang="zh-CN" sz="1800" b="1" baseline="-25000" dirty="0">
                <a:solidFill>
                  <a:srgbClr val="0000FF"/>
                </a:solidFill>
                <a:latin typeface="微软雅黑" panose="020B0503020204020204" pitchFamily="34" charset="-122"/>
                <a:ea typeface="微软雅黑" panose="020B0503020204020204" pitchFamily="34" charset="-122"/>
              </a:rPr>
              <a:t>1b</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选择 </a:t>
            </a:r>
            <a:r>
              <a:rPr lang="en-US" altLang="zh-CN" sz="1800" b="1" dirty="0">
                <a:solidFill>
                  <a:srgbClr val="0000FF"/>
                </a:solidFill>
                <a:latin typeface="微软雅黑" panose="020B0503020204020204" pitchFamily="34" charset="-122"/>
                <a:ea typeface="微软雅黑" panose="020B0503020204020204" pitchFamily="34" charset="-122"/>
              </a:rPr>
              <a:t>R</a:t>
            </a:r>
            <a:r>
              <a:rPr lang="en-US" altLang="zh-CN" sz="1800" b="1" baseline="-25000" dirty="0">
                <a:solidFill>
                  <a:srgbClr val="0000FF"/>
                </a:solidFill>
                <a:latin typeface="微软雅黑" panose="020B0503020204020204" pitchFamily="34" charset="-122"/>
                <a:ea typeface="微软雅黑" panose="020B0503020204020204" pitchFamily="34" charset="-122"/>
              </a:rPr>
              <a:t>1d</a:t>
            </a:r>
            <a:r>
              <a:rPr lang="en-US" altLang="zh-CN" sz="1800" b="1" dirty="0">
                <a:solidFill>
                  <a:srgbClr val="0000FF"/>
                </a:solidFill>
                <a:latin typeface="微软雅黑" panose="020B0503020204020204" pitchFamily="34" charset="-122"/>
                <a:ea typeface="微软雅黑" panose="020B0503020204020204" pitchFamily="34" charset="-122"/>
              </a:rPr>
              <a:t> </a:t>
            </a:r>
            <a:r>
              <a:rPr lang="zh-CN" altLang="en-US" sz="1800" b="1" dirty="0">
                <a:solidFill>
                  <a:srgbClr val="0000FF"/>
                </a:solidFill>
                <a:latin typeface="微软雅黑" panose="020B0503020204020204" pitchFamily="34" charset="-122"/>
                <a:ea typeface="微软雅黑" panose="020B0503020204020204" pitchFamily="34" charset="-122"/>
              </a:rPr>
              <a:t>作为离开 </a:t>
            </a:r>
            <a:r>
              <a:rPr lang="en-US" altLang="zh-CN" sz="1800" b="1" dirty="0">
                <a:solidFill>
                  <a:srgbClr val="0000FF"/>
                </a:solidFill>
                <a:latin typeface="微软雅黑" panose="020B0503020204020204" pitchFamily="34" charset="-122"/>
                <a:ea typeface="微软雅黑" panose="020B0503020204020204" pitchFamily="34" charset="-122"/>
              </a:rPr>
              <a:t>AS</a:t>
            </a:r>
            <a:r>
              <a:rPr lang="en-US" altLang="zh-CN" sz="1800" b="1" baseline="-25000" dirty="0">
                <a:solidFill>
                  <a:srgbClr val="0000FF"/>
                </a:solidFill>
                <a:latin typeface="微软雅黑" panose="020B0503020204020204" pitchFamily="34" charset="-122"/>
                <a:ea typeface="微软雅黑" panose="020B0503020204020204" pitchFamily="34" charset="-122"/>
              </a:rPr>
              <a:t>1 </a:t>
            </a:r>
            <a:r>
              <a:rPr lang="zh-CN" altLang="en-US" sz="1800" b="1" dirty="0">
                <a:solidFill>
                  <a:srgbClr val="0000FF"/>
                </a:solidFill>
                <a:latin typeface="微软雅黑" panose="020B0503020204020204" pitchFamily="34" charset="-122"/>
                <a:ea typeface="微软雅黑" panose="020B0503020204020204" pitchFamily="34" charset="-122"/>
              </a:rPr>
              <a:t>的最佳选择，</a:t>
            </a:r>
            <a:r>
              <a:rPr lang="zh-CN" altLang="en-US" sz="1800" b="1" dirty="0">
                <a:latin typeface="微软雅黑" panose="020B0503020204020204" pitchFamily="34" charset="-122"/>
                <a:ea typeface="微软雅黑" panose="020B0503020204020204" pitchFamily="34" charset="-122"/>
              </a:rPr>
              <a:t>其 </a:t>
            </a:r>
            <a:r>
              <a:rPr lang="en-US" altLang="zh-CN" sz="1800" b="1" dirty="0">
                <a:latin typeface="微软雅黑" panose="020B0503020204020204" pitchFamily="34" charset="-122"/>
                <a:ea typeface="微软雅黑" panose="020B0503020204020204" pitchFamily="34" charset="-122"/>
              </a:rPr>
              <a:t>BGP </a:t>
            </a:r>
            <a:r>
              <a:rPr lang="zh-CN" altLang="en-US" sz="1800" b="1" dirty="0">
                <a:latin typeface="微软雅黑" panose="020B0503020204020204" pitchFamily="34" charset="-122"/>
                <a:ea typeface="微软雅黑" panose="020B0503020204020204" pitchFamily="34" charset="-122"/>
              </a:rPr>
              <a:t>转发表中对应的项目应当是：（匹配前缀 </a:t>
            </a:r>
            <a:r>
              <a:rPr lang="en-US" altLang="zh-CN" sz="1800" b="1" dirty="0">
                <a:latin typeface="微软雅黑" panose="020B0503020204020204" pitchFamily="34" charset="-122"/>
                <a:ea typeface="微软雅黑" panose="020B0503020204020204" pitchFamily="34" charset="-122"/>
              </a:rPr>
              <a:t>X</a:t>
            </a:r>
            <a:r>
              <a:rPr lang="zh-CN" altLang="en-US" sz="1800" b="1" dirty="0">
                <a:latin typeface="微软雅黑" panose="020B0503020204020204" pitchFamily="34" charset="-122"/>
                <a:ea typeface="微软雅黑" panose="020B0503020204020204" pitchFamily="34" charset="-122"/>
              </a:rPr>
              <a:t>，下一跳路由器 </a:t>
            </a:r>
            <a:r>
              <a:rPr lang="en-US" altLang="zh-CN" sz="1800" b="1" dirty="0">
                <a:latin typeface="微软雅黑" panose="020B0503020204020204" pitchFamily="34" charset="-122"/>
                <a:ea typeface="微软雅黑" panose="020B0503020204020204" pitchFamily="34" charset="-122"/>
              </a:rPr>
              <a:t>R</a:t>
            </a:r>
            <a:r>
              <a:rPr lang="en-US" altLang="zh-CN" sz="1800" b="1" baseline="-25000" dirty="0">
                <a:latin typeface="微软雅黑" panose="020B0503020204020204" pitchFamily="34" charset="-122"/>
                <a:ea typeface="微软雅黑" panose="020B0503020204020204" pitchFamily="34" charset="-122"/>
              </a:rPr>
              <a:t>1d</a:t>
            </a:r>
            <a:r>
              <a:rPr lang="zh-CN" altLang="en-US" sz="1800" b="1" dirty="0">
                <a:latin typeface="微软雅黑" panose="020B0503020204020204" pitchFamily="34" charset="-122"/>
                <a:ea typeface="微软雅黑" panose="020B0503020204020204" pitchFamily="34" charset="-122"/>
              </a:rPr>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66222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4</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100 , IP</a:t>
            </a:r>
            <a:r>
              <a:rPr lang="en-US" altLang="zh-CN" sz="1400" b="1" baseline="-25000" dirty="0">
                <a:solidFill>
                  <a:srgbClr val="C00000"/>
                </a:solidFill>
                <a:latin typeface="微软雅黑" panose="020B0503020204020204" pitchFamily="34" charset="-122"/>
                <a:ea typeface="微软雅黑" panose="020B0503020204020204" pitchFamily="34" charset="-122"/>
              </a:rPr>
              <a:t>4a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C00000"/>
                </a:solidFill>
                <a:latin typeface="微软雅黑" panose="020B0503020204020204" pitchFamily="34" charset="-122"/>
                <a:ea typeface="微软雅黑" panose="020B0503020204020204" pitchFamily="34" charset="-122"/>
              </a:rPr>
              <a:t>[ X, AS</a:t>
            </a:r>
            <a:r>
              <a:rPr lang="en-US" altLang="zh-CN" sz="1400" b="1" baseline="-25000" dirty="0">
                <a:solidFill>
                  <a:srgbClr val="C00000"/>
                </a:solidFill>
                <a:latin typeface="微软雅黑" panose="020B0503020204020204" pitchFamily="34" charset="-122"/>
                <a:ea typeface="微软雅黑" panose="020B0503020204020204" pitchFamily="34" charset="-122"/>
              </a:rPr>
              <a:t>2</a:t>
            </a:r>
            <a:r>
              <a:rPr lang="en-US" altLang="zh-CN" sz="1400" b="1" dirty="0">
                <a:solidFill>
                  <a:srgbClr val="C00000"/>
                </a:solidFill>
                <a:latin typeface="微软雅黑" panose="020B0503020204020204" pitchFamily="34" charset="-122"/>
                <a:ea typeface="微软雅黑" panose="020B0503020204020204" pitchFamily="34" charset="-122"/>
              </a:rPr>
              <a:t> AS</a:t>
            </a:r>
            <a:r>
              <a:rPr lang="en-US" altLang="zh-CN" sz="1400" b="1" baseline="-25000" dirty="0">
                <a:solidFill>
                  <a:srgbClr val="C00000"/>
                </a:solidFill>
                <a:latin typeface="微软雅黑" panose="020B0503020204020204" pitchFamily="34" charset="-122"/>
                <a:ea typeface="微软雅黑" panose="020B0503020204020204" pitchFamily="34" charset="-122"/>
              </a:rPr>
              <a:t>5</a:t>
            </a:r>
            <a:r>
              <a:rPr lang="en-US" altLang="zh-CN" sz="1400" b="1" dirty="0">
                <a:solidFill>
                  <a:srgbClr val="C00000"/>
                </a:solidFill>
                <a:latin typeface="微软雅黑" panose="020B0503020204020204" pitchFamily="34" charset="-122"/>
                <a:ea typeface="微软雅黑" panose="020B0503020204020204" pitchFamily="34" charset="-122"/>
              </a:rPr>
              <a:t> , LOCAL-PREF = 200, IP</a:t>
            </a:r>
            <a:r>
              <a:rPr lang="en-US" altLang="zh-CN" sz="1400" b="1" baseline="-25000" dirty="0">
                <a:solidFill>
                  <a:srgbClr val="C00000"/>
                </a:solidFill>
                <a:latin typeface="微软雅黑" panose="020B0503020204020204" pitchFamily="34" charset="-122"/>
                <a:ea typeface="微软雅黑" panose="020B0503020204020204" pitchFamily="34" charset="-122"/>
              </a:rPr>
              <a:t>2a</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en-US" altLang="zh-CN" sz="1400" b="1" baseline="-25000" dirty="0">
              <a:solidFill>
                <a:srgbClr val="C00000"/>
              </a:solidFill>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283718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solidFill>
                  <a:srgbClr val="C00000"/>
                </a:solidFill>
                <a:latin typeface="微软雅黑" panose="020B0503020204020204" pitchFamily="34" charset="-122"/>
                <a:ea typeface="微软雅黑" panose="020B0503020204020204" pitchFamily="34" charset="-122"/>
              </a:rPr>
              <a:t>[ X, AS-PATH, LOCAL-PREF = 100 ]</a:t>
            </a:r>
            <a:endParaRPr lang="en-US" altLang="zh-CN" sz="1200" b="1" baseline="-25000" dirty="0">
              <a:solidFill>
                <a:srgbClr val="C00000"/>
              </a:solidFill>
              <a:latin typeface="微软雅黑" panose="020B0503020204020204" pitchFamily="34" charset="-122"/>
              <a:ea typeface="微软雅黑" panose="020B0503020204020204" pitchFamily="34" charset="-122"/>
            </a:endParaRP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1565297" y="3391154"/>
            <a:ext cx="6077280" cy="10926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lnSpc>
                <a:spcPts val="2600"/>
              </a:lnSpc>
            </a:pPr>
            <a:r>
              <a:rPr lang="en-US" altLang="zh-CN" sz="1800" b="1" dirty="0">
                <a:latin typeface="微软雅黑" panose="020B0503020204020204" pitchFamily="34" charset="-122"/>
                <a:ea typeface="微软雅黑" panose="020B0503020204020204" pitchFamily="34" charset="-122"/>
              </a:rPr>
              <a:t>AS</a:t>
            </a:r>
            <a:r>
              <a:rPr lang="en-US" altLang="zh-CN" sz="1800" b="1" baseline="-25000" dirty="0">
                <a:latin typeface="微软雅黑" panose="020B0503020204020204" pitchFamily="34" charset="-122"/>
                <a:ea typeface="微软雅黑" panose="020B0503020204020204" pitchFamily="34" charset="-122"/>
              </a:rPr>
              <a:t>1</a:t>
            </a:r>
            <a:r>
              <a:rPr lang="en-US" altLang="zh-CN" sz="1800" b="1" dirty="0">
                <a:latin typeface="微软雅黑" panose="020B0503020204020204" pitchFamily="34" charset="-122"/>
                <a:ea typeface="微软雅黑" panose="020B0503020204020204" pitchFamily="34" charset="-122"/>
              </a:rPr>
              <a:t> </a:t>
            </a:r>
            <a:r>
              <a:rPr lang="zh-CN" altLang="en-US" sz="1800" b="1" dirty="0">
                <a:latin typeface="微软雅黑" panose="020B0503020204020204" pitchFamily="34" charset="-122"/>
                <a:ea typeface="微软雅黑" panose="020B0503020204020204" pitchFamily="34" charset="-122"/>
              </a:rPr>
              <a:t>选择通过路由器 </a:t>
            </a:r>
            <a:r>
              <a:rPr lang="en-US" altLang="zh-CN" sz="1800" b="1" dirty="0">
                <a:latin typeface="微软雅黑" panose="020B0503020204020204" pitchFamily="34" charset="-122"/>
                <a:ea typeface="微软雅黑" panose="020B0503020204020204" pitchFamily="34" charset="-122"/>
              </a:rPr>
              <a:t>R</a:t>
            </a:r>
            <a:r>
              <a:rPr lang="en-US" altLang="zh-CN" sz="1800" b="1" baseline="-25000" dirty="0">
                <a:latin typeface="微软雅黑" panose="020B0503020204020204" pitchFamily="34" charset="-122"/>
                <a:ea typeface="微软雅黑" panose="020B0503020204020204" pitchFamily="34" charset="-122"/>
              </a:rPr>
              <a:t>1c</a:t>
            </a:r>
            <a:r>
              <a:rPr lang="en-US" altLang="zh-CN" sz="1800" b="1" dirty="0">
                <a:latin typeface="微软雅黑" panose="020B0503020204020204" pitchFamily="34" charset="-122"/>
                <a:ea typeface="微软雅黑" panose="020B0503020204020204" pitchFamily="34" charset="-122"/>
              </a:rPr>
              <a:t> </a:t>
            </a:r>
            <a:r>
              <a:rPr lang="zh-CN" altLang="en-US" sz="1800" b="1" dirty="0">
                <a:latin typeface="微软雅黑" panose="020B0503020204020204" pitchFamily="34" charset="-122"/>
                <a:ea typeface="微软雅黑" panose="020B0503020204020204" pitchFamily="34" charset="-122"/>
              </a:rPr>
              <a:t>到达 </a:t>
            </a:r>
            <a:r>
              <a:rPr lang="en-US" altLang="zh-CN" sz="1800" b="1" dirty="0">
                <a:latin typeface="微软雅黑" panose="020B0503020204020204" pitchFamily="34" charset="-122"/>
                <a:ea typeface="微软雅黑" panose="020B0503020204020204" pitchFamily="34" charset="-122"/>
              </a:rPr>
              <a:t>X </a:t>
            </a:r>
            <a:r>
              <a:rPr lang="zh-CN" altLang="en-US" sz="1800" b="1" dirty="0">
                <a:latin typeface="微软雅黑" panose="020B0503020204020204" pitchFamily="34" charset="-122"/>
                <a:ea typeface="微软雅黑" panose="020B0503020204020204" pitchFamily="34" charset="-122"/>
              </a:rPr>
              <a:t>的 </a:t>
            </a:r>
            <a:r>
              <a:rPr lang="en-US" altLang="zh-CN" sz="1800" b="1" dirty="0">
                <a:latin typeface="微软雅黑" panose="020B0503020204020204" pitchFamily="34" charset="-122"/>
                <a:ea typeface="微软雅黑" panose="020B0503020204020204" pitchFamily="34" charset="-122"/>
              </a:rPr>
              <a:t>BGP </a:t>
            </a:r>
            <a:r>
              <a:rPr lang="zh-CN" altLang="en-US" sz="1800" b="1" dirty="0">
                <a:latin typeface="微软雅黑" panose="020B0503020204020204" pitchFamily="34" charset="-122"/>
                <a:ea typeface="微软雅黑" panose="020B0503020204020204" pitchFamily="34" charset="-122"/>
              </a:rPr>
              <a:t>路由。</a:t>
            </a:r>
            <a:endParaRPr lang="en-US" altLang="zh-CN" sz="1800" b="1" dirty="0">
              <a:latin typeface="微软雅黑" panose="020B0503020204020204" pitchFamily="34" charset="-122"/>
              <a:ea typeface="微软雅黑" panose="020B0503020204020204" pitchFamily="34" charset="-122"/>
            </a:endParaRPr>
          </a:p>
          <a:p>
            <a:pPr eaLnBrk="1" hangingPunct="1">
              <a:lnSpc>
                <a:spcPts val="2600"/>
              </a:lnSpc>
            </a:pPr>
            <a:r>
              <a:rPr lang="zh-CN" altLang="en-US" sz="1800" b="1" dirty="0">
                <a:latin typeface="微软雅黑" panose="020B0503020204020204" pitchFamily="34" charset="-122"/>
                <a:ea typeface="微软雅黑" panose="020B0503020204020204" pitchFamily="34" charset="-122"/>
              </a:rPr>
              <a:t>但事实上，分组在 </a:t>
            </a:r>
            <a:r>
              <a:rPr lang="en-US" altLang="zh-CN" sz="1800" b="1" dirty="0">
                <a:latin typeface="微软雅黑" panose="020B0503020204020204" pitchFamily="34" charset="-122"/>
                <a:ea typeface="微软雅黑" panose="020B0503020204020204" pitchFamily="34" charset="-122"/>
              </a:rPr>
              <a:t>AS</a:t>
            </a:r>
            <a:r>
              <a:rPr lang="en-US" altLang="zh-CN" sz="1800" b="1" baseline="-25000" dirty="0">
                <a:latin typeface="微软雅黑" panose="020B0503020204020204" pitchFamily="34" charset="-122"/>
                <a:ea typeface="微软雅黑" panose="020B0503020204020204" pitchFamily="34" charset="-122"/>
              </a:rPr>
              <a:t>4</a:t>
            </a:r>
            <a:r>
              <a:rPr lang="en-US" altLang="zh-CN" sz="1800" b="1" dirty="0">
                <a:latin typeface="微软雅黑" panose="020B0503020204020204" pitchFamily="34" charset="-122"/>
                <a:ea typeface="微软雅黑" panose="020B0503020204020204" pitchFamily="34" charset="-122"/>
              </a:rPr>
              <a:t> </a:t>
            </a:r>
            <a:r>
              <a:rPr lang="zh-CN" altLang="en-US" sz="1800" b="1" dirty="0">
                <a:latin typeface="微软雅黑" panose="020B0503020204020204" pitchFamily="34" charset="-122"/>
                <a:ea typeface="微软雅黑" panose="020B0503020204020204" pitchFamily="34" charset="-122"/>
              </a:rPr>
              <a:t>中反而要经过更多次数的转发。</a:t>
            </a:r>
            <a:endParaRPr lang="en-US" altLang="zh-CN" sz="1800" b="1" dirty="0">
              <a:latin typeface="微软雅黑" panose="020B0503020204020204" pitchFamily="34" charset="-122"/>
              <a:ea typeface="微软雅黑" panose="020B0503020204020204" pitchFamily="34" charset="-122"/>
            </a:endParaRPr>
          </a:p>
          <a:p>
            <a:pPr eaLnBrk="1" hangingPunct="1">
              <a:lnSpc>
                <a:spcPts val="2600"/>
              </a:lnSpc>
            </a:pPr>
            <a:r>
              <a:rPr lang="zh-CN" altLang="en-US" sz="1800" b="1" dirty="0">
                <a:latin typeface="微软雅黑" panose="020B0503020204020204" pitchFamily="34" charset="-122"/>
                <a:ea typeface="微软雅黑" panose="020B0503020204020204" pitchFamily="34" charset="-122"/>
              </a:rPr>
              <a:t>说明协议 </a:t>
            </a:r>
            <a:r>
              <a:rPr lang="en-US" altLang="zh-CN" sz="1800" b="1" dirty="0">
                <a:latin typeface="微软雅黑" panose="020B0503020204020204" pitchFamily="34" charset="-122"/>
                <a:ea typeface="微软雅黑" panose="020B0503020204020204" pitchFamily="34" charset="-122"/>
              </a:rPr>
              <a:t>BGP </a:t>
            </a:r>
            <a:r>
              <a:rPr lang="zh-CN" altLang="en-US" sz="1800" b="1" dirty="0">
                <a:latin typeface="微软雅黑" panose="020B0503020204020204" pitchFamily="34" charset="-122"/>
                <a:ea typeface="微软雅黑" panose="020B0503020204020204" pitchFamily="34" charset="-122"/>
              </a:rPr>
              <a:t>不存在真正的最佳路由选择。</a:t>
            </a:r>
            <a:endParaRPr lang="en-US" altLang="zh-CN" sz="1800" b="1" dirty="0">
              <a:latin typeface="微软雅黑" panose="020B0503020204020204" pitchFamily="34" charset="-122"/>
              <a:ea typeface="微软雅黑" panose="020B0503020204020204" pitchFamily="34" charset="-122"/>
            </a:endParaRPr>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283718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solidFill>
                  <a:srgbClr val="C00000"/>
                </a:solidFill>
                <a:latin typeface="微软雅黑" panose="020B0503020204020204" pitchFamily="34" charset="-122"/>
                <a:ea typeface="微软雅黑" panose="020B0503020204020204" pitchFamily="34" charset="-122"/>
              </a:rPr>
              <a:t>[ X, AS-PATH, LOCAL-PREF = 100 ]</a:t>
            </a:r>
            <a:endParaRPr lang="en-US" altLang="zh-CN" sz="1200" b="1" baseline="-25000" dirty="0">
              <a:solidFill>
                <a:srgbClr val="C00000"/>
              </a:solidFill>
              <a:latin typeface="微软雅黑" panose="020B0503020204020204" pitchFamily="34" charset="-122"/>
              <a:ea typeface="微软雅黑" panose="020B0503020204020204" pitchFamily="34" charset="-122"/>
            </a:endParaRP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30" y="2292248"/>
            <a:ext cx="4466390" cy="335667"/>
          </a:xfrm>
          <a:prstGeom prst="rect">
            <a:avLst/>
          </a:prstGeom>
          <a:solidFill>
            <a:srgbClr val="00FF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33" name="Rectangle 41"/>
          <p:cNvSpPr>
            <a:spLocks noChangeArrowheads="1"/>
          </p:cNvSpPr>
          <p:nvPr/>
        </p:nvSpPr>
        <p:spPr bwMode="auto">
          <a:xfrm>
            <a:off x="3306336" y="2305527"/>
            <a:ext cx="1600959" cy="319320"/>
          </a:xfrm>
          <a:prstGeom prst="rect">
            <a:avLst/>
          </a:prstGeom>
          <a:solidFill>
            <a:srgbClr val="00FF99"/>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35" name="AutoShape 37"/>
          <p:cNvSpPr>
            <a:spLocks noChangeArrowheads="1"/>
          </p:cNvSpPr>
          <p:nvPr/>
        </p:nvSpPr>
        <p:spPr bwMode="auto">
          <a:xfrm rot="5400000">
            <a:off x="1424565" y="3590961"/>
            <a:ext cx="202708" cy="434478"/>
          </a:xfrm>
          <a:prstGeom prst="downArrow">
            <a:avLst>
              <a:gd name="adj1" fmla="val 50000"/>
              <a:gd name="adj2" fmla="val 49462"/>
            </a:avLst>
          </a:prstGeom>
          <a:solidFill>
            <a:srgbClr val="00FF99"/>
          </a:solidFill>
          <a:ln w="9525">
            <a:solidFill>
              <a:schemeClr val="tx1"/>
            </a:solidFill>
            <a:miter lim="800000"/>
            <a:headEnd/>
            <a:tailEnd/>
          </a:ln>
          <a:effectLst/>
        </p:spPr>
        <p:txBody>
          <a:bodyPr vert="eaVert" wrap="none" anchor="ctr"/>
          <a:lstStyle/>
          <a:p>
            <a:endParaRPr lang="zh-CN" altLang="en-US" sz="1400" b="1">
              <a:latin typeface="微软雅黑" pitchFamily="34" charset="-122"/>
              <a:ea typeface="微软雅黑"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rgbClr val="FFFF99">
                  <a:gamma/>
                  <a:shade val="69804"/>
                  <a:invGamma/>
                </a:srgbClr>
              </a:gs>
              <a:gs pos="100000">
                <a:srgbClr val="FFFF66"/>
              </a:gs>
            </a:gsLst>
            <a:lin ang="5400000" scaled="1"/>
          </a:gradFill>
          <a:ln>
            <a:noFill/>
          </a:ln>
          <a:effectLst/>
        </p:spPr>
        <p:txBody>
          <a:bodyPr/>
          <a:lstStyle/>
          <a:p>
            <a:endParaRPr lang="zh-CN" altLang="en-US" sz="1400" b="1">
              <a:latin typeface="微软雅黑" pitchFamily="34" charset="-122"/>
              <a:ea typeface="微软雅黑" pitchFamily="34" charset="-122"/>
            </a:endParaRPr>
          </a:p>
        </p:txBody>
      </p:sp>
      <p:sp>
        <p:nvSpPr>
          <p:cNvPr id="37" name="Rectangle 39"/>
          <p:cNvSpPr>
            <a:spLocks noChangeArrowheads="1"/>
          </p:cNvSpPr>
          <p:nvPr/>
        </p:nvSpPr>
        <p:spPr bwMode="auto">
          <a:xfrm>
            <a:off x="1933344" y="1241286"/>
            <a:ext cx="378789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16                      2             1</a:t>
            </a:r>
          </a:p>
        </p:txBody>
      </p:sp>
      <p:sp>
        <p:nvSpPr>
          <p:cNvPr id="39" name="Rectangle 43"/>
          <p:cNvSpPr>
            <a:spLocks noChangeArrowheads="1"/>
          </p:cNvSpPr>
          <p:nvPr/>
        </p:nvSpPr>
        <p:spPr bwMode="auto">
          <a:xfrm>
            <a:off x="5426779"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Rectangle 45"/>
          <p:cNvSpPr>
            <a:spLocks noChangeArrowheads="1"/>
          </p:cNvSpPr>
          <p:nvPr/>
        </p:nvSpPr>
        <p:spPr bwMode="auto">
          <a:xfrm>
            <a:off x="2612115" y="1547895"/>
            <a:ext cx="3162955" cy="336757"/>
          </a:xfrm>
          <a:prstGeom prst="rect">
            <a:avLst/>
          </a:prstGeom>
          <a:solidFill>
            <a:srgbClr val="00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42" name="Rectangle 46"/>
          <p:cNvSpPr>
            <a:spLocks noChangeArrowheads="1"/>
          </p:cNvSpPr>
          <p:nvPr/>
        </p:nvSpPr>
        <p:spPr bwMode="auto">
          <a:xfrm>
            <a:off x="5200221" y="1559883"/>
            <a:ext cx="5947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类 型</a:t>
            </a:r>
          </a:p>
        </p:txBody>
      </p:sp>
      <p:sp>
        <p:nvSpPr>
          <p:cNvPr id="43" name="Rectangle 47"/>
          <p:cNvSpPr>
            <a:spLocks noChangeArrowheads="1"/>
          </p:cNvSpPr>
          <p:nvPr/>
        </p:nvSpPr>
        <p:spPr bwMode="auto">
          <a:xfrm>
            <a:off x="4383866" y="1559883"/>
            <a:ext cx="64761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a:latin typeface="微软雅黑" pitchFamily="34" charset="-122"/>
                <a:ea typeface="微软雅黑"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Rectangle 50"/>
          <p:cNvSpPr>
            <a:spLocks noChangeArrowheads="1"/>
          </p:cNvSpPr>
          <p:nvPr/>
        </p:nvSpPr>
        <p:spPr bwMode="auto">
          <a:xfrm>
            <a:off x="2994588" y="1559883"/>
            <a:ext cx="91211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标       记</a:t>
            </a:r>
          </a:p>
        </p:txBody>
      </p:sp>
      <p:grpSp>
        <p:nvGrpSpPr>
          <p:cNvPr id="47" name="Group 51"/>
          <p:cNvGrpSpPr>
            <a:grpSpLocks/>
          </p:cNvGrpSpPr>
          <p:nvPr/>
        </p:nvGrpSpPr>
        <p:grpSpPr bwMode="auto">
          <a:xfrm rot="5400000">
            <a:off x="3315963" y="1514292"/>
            <a:ext cx="131869" cy="66116"/>
            <a:chOff x="1008" y="2046"/>
            <a:chExt cx="102" cy="60"/>
          </a:xfrm>
        </p:grpSpPr>
        <p:sp>
          <p:nvSpPr>
            <p:cNvPr id="48" name="Rectangle 52"/>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49" name="Group 53"/>
            <p:cNvGrpSpPr>
              <a:grpSpLocks/>
            </p:cNvGrpSpPr>
            <p:nvPr/>
          </p:nvGrpSpPr>
          <p:grpSpPr bwMode="auto">
            <a:xfrm>
              <a:off x="1026" y="2046"/>
              <a:ext cx="72" cy="48"/>
              <a:chOff x="1440" y="2016"/>
              <a:chExt cx="72" cy="48"/>
            </a:xfrm>
          </p:grpSpPr>
          <p:sp>
            <p:nvSpPr>
              <p:cNvPr id="50" name="Line 54"/>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1" name="Line 55"/>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52" name="Group 56"/>
          <p:cNvGrpSpPr>
            <a:grpSpLocks/>
          </p:cNvGrpSpPr>
          <p:nvPr/>
        </p:nvGrpSpPr>
        <p:grpSpPr bwMode="auto">
          <a:xfrm rot="5400000">
            <a:off x="3323047" y="1852139"/>
            <a:ext cx="131869" cy="66116"/>
            <a:chOff x="1008" y="2046"/>
            <a:chExt cx="102" cy="60"/>
          </a:xfrm>
        </p:grpSpPr>
        <p:sp>
          <p:nvSpPr>
            <p:cNvPr id="53" name="Rectangle 57"/>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54" name="Group 58"/>
            <p:cNvGrpSpPr>
              <a:grpSpLocks/>
            </p:cNvGrpSpPr>
            <p:nvPr/>
          </p:nvGrpSpPr>
          <p:grpSpPr bwMode="auto">
            <a:xfrm>
              <a:off x="1026" y="2046"/>
              <a:ext cx="72" cy="48"/>
              <a:chOff x="1440" y="2016"/>
              <a:chExt cx="72" cy="48"/>
            </a:xfrm>
          </p:grpSpPr>
          <p:sp>
            <p:nvSpPr>
              <p:cNvPr id="55" name="Line 59"/>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57" name="Rectangle 63"/>
          <p:cNvSpPr>
            <a:spLocks noChangeArrowheads="1"/>
          </p:cNvSpPr>
          <p:nvPr/>
        </p:nvSpPr>
        <p:spPr bwMode="auto">
          <a:xfrm>
            <a:off x="2486966" y="2965763"/>
            <a:ext cx="5273954" cy="336757"/>
          </a:xfrm>
          <a:prstGeom prst="rect">
            <a:avLst/>
          </a:prstGeom>
          <a:solidFill>
            <a:srgbClr val="FF99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Rectangle 65"/>
          <p:cNvSpPr>
            <a:spLocks noChangeArrowheads="1"/>
          </p:cNvSpPr>
          <p:nvPr/>
        </p:nvSpPr>
        <p:spPr bwMode="auto">
          <a:xfrm>
            <a:off x="2433556" y="3015894"/>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1" name="Rectangle 67"/>
          <p:cNvSpPr>
            <a:spLocks noChangeArrowheads="1"/>
          </p:cNvSpPr>
          <p:nvPr/>
        </p:nvSpPr>
        <p:spPr bwMode="auto">
          <a:xfrm>
            <a:off x="1680584" y="3641456"/>
            <a:ext cx="6080336" cy="336757"/>
          </a:xfrm>
          <a:prstGeom prst="rect">
            <a:avLst/>
          </a:prstGeom>
          <a:solidFill>
            <a:srgbClr val="FF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5" name="Rectangle 71"/>
          <p:cNvSpPr>
            <a:spLocks noChangeArrowheads="1"/>
          </p:cNvSpPr>
          <p:nvPr/>
        </p:nvSpPr>
        <p:spPr bwMode="auto">
          <a:xfrm>
            <a:off x="4947437" y="2989738"/>
            <a:ext cx="97462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a:t>
            </a:r>
          </a:p>
        </p:txBody>
      </p:sp>
      <p:cxnSp>
        <p:nvCxnSpPr>
          <p:cNvPr id="67" name="直接连接符 66"/>
          <p:cNvCxnSpPr/>
          <p:nvPr/>
        </p:nvCxnSpPr>
        <p:spPr bwMode="auto">
          <a:xfrm>
            <a:off x="3306336"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8" name="直接连接符 67"/>
          <p:cNvCxnSpPr/>
          <p:nvPr/>
        </p:nvCxnSpPr>
        <p:spPr bwMode="auto">
          <a:xfrm>
            <a:off x="7760920"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0" name="直接连接符 69"/>
          <p:cNvCxnSpPr/>
          <p:nvPr/>
        </p:nvCxnSpPr>
        <p:spPr bwMode="auto">
          <a:xfrm>
            <a:off x="7760920"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1" name="直接连接符 70"/>
          <p:cNvCxnSpPr/>
          <p:nvPr/>
        </p:nvCxnSpPr>
        <p:spPr bwMode="auto">
          <a:xfrm>
            <a:off x="2495586"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 name="Rectangle 42"/>
          <p:cNvSpPr>
            <a:spLocks noChangeArrowheads="1"/>
          </p:cNvSpPr>
          <p:nvPr/>
        </p:nvSpPr>
        <p:spPr bwMode="auto">
          <a:xfrm>
            <a:off x="3261471"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BGP </a:t>
            </a:r>
            <a:r>
              <a:rPr kumimoji="1" lang="zh-CN" altLang="en-US" sz="1400" b="1" dirty="0">
                <a:latin typeface="微软雅黑" pitchFamily="34" charset="-122"/>
                <a:ea typeface="微软雅黑" pitchFamily="34" charset="-122"/>
              </a:rPr>
              <a:t>报文通用首部</a:t>
            </a:r>
          </a:p>
        </p:txBody>
      </p:sp>
      <p:sp>
        <p:nvSpPr>
          <p:cNvPr id="5" name="矩形 4"/>
          <p:cNvSpPr/>
          <p:nvPr/>
        </p:nvSpPr>
        <p:spPr>
          <a:xfrm>
            <a:off x="2512444" y="3657655"/>
            <a:ext cx="5220000" cy="302400"/>
          </a:xfrm>
          <a:prstGeom prst="rect">
            <a:avLst/>
          </a:prstGeom>
          <a:solidFill>
            <a:srgbClr val="FF9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Rectangle 68"/>
          <p:cNvSpPr>
            <a:spLocks noChangeArrowheads="1"/>
          </p:cNvSpPr>
          <p:nvPr/>
        </p:nvSpPr>
        <p:spPr bwMode="auto">
          <a:xfrm>
            <a:off x="1677719" y="3673001"/>
            <a:ext cx="7742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6" name="Rectangle 72"/>
          <p:cNvSpPr>
            <a:spLocks noChangeArrowheads="1"/>
          </p:cNvSpPr>
          <p:nvPr/>
        </p:nvSpPr>
        <p:spPr bwMode="auto">
          <a:xfrm>
            <a:off x="4720752" y="3665432"/>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solidFill>
            <a:srgbClr val="99FFCC"/>
          </a:solid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b="1" dirty="0">
                <a:solidFill>
                  <a:srgbClr val="0000CC"/>
                </a:solidFill>
                <a:latin typeface="微软雅黑" pitchFamily="34" charset="-122"/>
                <a:ea typeface="微软雅黑" pitchFamily="34" charset="-122"/>
              </a:rPr>
              <a:t>路由选择、管理</a:t>
            </a:r>
            <a:endParaRPr kumimoji="1" lang="en-US" altLang="zh-CN" sz="1200" b="1" dirty="0">
              <a:solidFill>
                <a:srgbClr val="0000CC"/>
              </a:solidFill>
              <a:latin typeface="微软雅黑" pitchFamily="34" charset="-122"/>
              <a:ea typeface="微软雅黑" pitchFamily="34" charset="-122"/>
            </a:endParaRPr>
          </a:p>
          <a:p>
            <a:pPr>
              <a:lnSpc>
                <a:spcPct val="90000"/>
              </a:lnSpc>
            </a:pPr>
            <a:r>
              <a:rPr kumimoji="1" lang="zh-CN" altLang="en-US" sz="1200" b="1" dirty="0">
                <a:solidFill>
                  <a:srgbClr val="C00000"/>
                </a:solidFill>
                <a:latin typeface="微软雅黑" pitchFamily="34" charset="-122"/>
                <a:ea typeface="微软雅黑" pitchFamily="34" charset="-122"/>
              </a:rPr>
              <a:t>控制层面</a:t>
            </a:r>
            <a:r>
              <a:rPr kumimoji="1" lang="zh-CN" altLang="en-US" sz="1200" b="1"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solidFill>
            <a:srgbClr val="0000FF"/>
          </a:solidFill>
          <a:ln w="19050">
            <a:solidFill>
              <a:schemeClr val="tx1"/>
            </a:solidFill>
            <a:miter lim="800000"/>
            <a:headEnd/>
            <a:tailEnd/>
          </a:ln>
          <a:effectLst/>
        </p:spPr>
        <p:txBody>
          <a:bodyPr wrap="none" anchor="ctr"/>
          <a:lstStyle/>
          <a:p>
            <a:pPr algn="ctr"/>
            <a:r>
              <a:rPr kumimoji="1" lang="zh-CN" altLang="en-US" sz="1200" b="1" dirty="0">
                <a:solidFill>
                  <a:schemeClr val="bg1"/>
                </a:solidFill>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solidFill>
            <a:srgbClr val="99FF33"/>
          </a:solidFill>
          <a:ln w="19050">
            <a:solidFill>
              <a:schemeClr val="tx1"/>
            </a:solidFill>
            <a:miter lim="800000"/>
            <a:headEnd/>
            <a:tailEnd/>
          </a:ln>
          <a:effectLst/>
        </p:spPr>
        <p:txBody>
          <a:bodyPr wrap="none" anchor="ctr"/>
          <a:lstStyle/>
          <a:p>
            <a:pPr algn="ctr"/>
            <a:r>
              <a:rPr kumimoji="1" lang="zh-CN" altLang="en-US" sz="1200" b="1">
                <a:solidFill>
                  <a:srgbClr val="0000CC"/>
                </a:solidFill>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b="1" dirty="0">
                <a:solidFill>
                  <a:srgbClr val="0000CC"/>
                </a:solidFill>
                <a:latin typeface="微软雅黑" pitchFamily="34" charset="-122"/>
                <a:ea typeface="微软雅黑" pitchFamily="34" charset="-122"/>
              </a:rPr>
              <a:t>分组转发</a:t>
            </a:r>
            <a:endParaRPr kumimoji="1" lang="en-US" altLang="zh-CN" sz="1200" b="1" dirty="0">
              <a:solidFill>
                <a:srgbClr val="0000CC"/>
              </a:solidFill>
              <a:latin typeface="微软雅黑" pitchFamily="34" charset="-122"/>
              <a:ea typeface="微软雅黑" pitchFamily="34" charset="-122"/>
            </a:endParaRPr>
          </a:p>
          <a:p>
            <a:pPr>
              <a:lnSpc>
                <a:spcPct val="90000"/>
              </a:lnSpc>
            </a:pPr>
            <a:r>
              <a:rPr kumimoji="1" lang="zh-CN" altLang="en-US" sz="1200" b="1" dirty="0">
                <a:solidFill>
                  <a:srgbClr val="C00000"/>
                </a:solidFill>
                <a:latin typeface="微软雅黑" pitchFamily="34" charset="-122"/>
                <a:ea typeface="微软雅黑" pitchFamily="34" charset="-122"/>
              </a:rPr>
              <a:t>数据层面</a:t>
            </a:r>
            <a:r>
              <a:rPr kumimoji="1" lang="zh-CN" altLang="en-US" sz="1200" b="1"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路由选择部分</a:t>
            </a:r>
            <a:endParaRPr lang="en-US" altLang="zh-CN" sz="1600" b="1"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solidFill>
              <a:srgbClr val="0000FF"/>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solidFill>
              <a:srgbClr val="0000FF"/>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数据链路层</a:t>
              </a:r>
            </a:p>
            <a:p>
              <a:pPr algn="ctr"/>
              <a:r>
                <a:rPr kumimoji="1" lang="zh-CN" altLang="en-US" sz="1400" b="1" dirty="0">
                  <a:solidFill>
                    <a:schemeClr val="bg1"/>
                  </a:solidFill>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solidFill>
              <a:srgbClr val="00FFFF"/>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网络层处理</a:t>
              </a:r>
            </a:p>
            <a:p>
              <a:r>
                <a:rPr kumimoji="1" lang="zh-CN" altLang="en-US" sz="1400" b="1" dirty="0">
                  <a:solidFill>
                    <a:schemeClr val="bg1"/>
                  </a:solidFill>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chemeClr val="bg1"/>
                  </a:solidFill>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剥去帧的</a:t>
              </a:r>
              <a:endParaRPr lang="en-US" altLang="zh-CN" sz="1400" b="1"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b="1" dirty="0">
                  <a:solidFill>
                    <a:srgbClr val="C00000"/>
                  </a:solidFill>
                  <a:latin typeface="微软雅黑" panose="020B0503020204020204" pitchFamily="34" charset="-122"/>
                  <a:ea typeface="微软雅黑" panose="020B0503020204020204" pitchFamily="34" charset="-122"/>
                </a:rPr>
                <a:t>路由信息的分组，</a:t>
              </a:r>
              <a:r>
                <a:rPr lang="zh-CN" altLang="en-US" sz="1400" b="1" dirty="0">
                  <a:solidFill>
                    <a:schemeClr val="tx1"/>
                  </a:solidFill>
                  <a:latin typeface="微软雅黑" panose="020B0503020204020204" pitchFamily="34" charset="-122"/>
                  <a:ea typeface="微软雅黑" panose="020B0503020204020204" pitchFamily="34" charset="-122"/>
                </a:rPr>
                <a:t>送交</a:t>
              </a:r>
              <a:r>
                <a:rPr lang="zh-CN" altLang="en-US" sz="1400" b="1"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若收到的是</a:t>
              </a:r>
              <a:r>
                <a:rPr lang="zh-CN" altLang="en-US" sz="1400" b="1" dirty="0">
                  <a:solidFill>
                    <a:srgbClr val="C00000"/>
                  </a:solidFill>
                  <a:latin typeface="微软雅黑" panose="020B0503020204020204" pitchFamily="34" charset="-122"/>
                  <a:ea typeface="微软雅黑" panose="020B0503020204020204" pitchFamily="34" charset="-122"/>
                </a:rPr>
                <a:t>数据分组，</a:t>
              </a:r>
              <a:r>
                <a:rPr lang="zh-CN" altLang="en-US" sz="1400" b="1"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b="1" dirty="0">
                  <a:solidFill>
                    <a:srgbClr val="C00000"/>
                  </a:solidFill>
                  <a:latin typeface="微软雅黑" panose="020B0503020204020204" pitchFamily="34" charset="-122"/>
                  <a:ea typeface="微软雅黑" panose="020B0503020204020204" pitchFamily="34" charset="-122"/>
                </a:rPr>
                <a:t>交换结构</a:t>
              </a:r>
              <a:r>
                <a:rPr lang="zh-CN" altLang="en-US" sz="1400" b="1"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solidFill>
            <a:srgbClr val="0000FF"/>
          </a:solidFill>
          <a:ln w="19050">
            <a:solidFill>
              <a:schemeClr val="tx1"/>
            </a:solidFill>
            <a:miter lim="800000"/>
            <a:headEnd/>
            <a:tailEnd/>
          </a:ln>
          <a:effectLst/>
        </p:spPr>
        <p:txBody>
          <a:bodyPr wrap="none" anchor="ctr"/>
          <a:lstStyle/>
          <a:p>
            <a:pPr algn="ctr"/>
            <a:r>
              <a:rPr kumimoji="1" lang="zh-CN" altLang="en-US" sz="1400" b="1">
                <a:solidFill>
                  <a:schemeClr val="bg1"/>
                </a:solidFill>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solidFill>
            <a:srgbClr val="0000FF"/>
          </a:solidFill>
          <a:ln w="19050">
            <a:solidFill>
              <a:schemeClr val="tx1"/>
            </a:solidFill>
            <a:miter lim="800000"/>
            <a:headEnd/>
            <a:tailEnd/>
          </a:ln>
          <a:effectLst/>
        </p:spPr>
        <p:txBody>
          <a:bodyPr wrap="none" anchor="ctr"/>
          <a:lstStyle/>
          <a:p>
            <a:pPr algn="ctr"/>
            <a:r>
              <a:rPr kumimoji="1" lang="zh-CN" altLang="en-US" sz="1400" b="1">
                <a:solidFill>
                  <a:schemeClr val="bg1"/>
                </a:solidFill>
                <a:latin typeface="微软雅黑" pitchFamily="34" charset="-122"/>
                <a:ea typeface="微软雅黑" pitchFamily="34" charset="-122"/>
              </a:rPr>
              <a:t>数据链路层</a:t>
            </a:r>
          </a:p>
          <a:p>
            <a:pPr algn="ctr"/>
            <a:r>
              <a:rPr kumimoji="1" lang="zh-CN" altLang="en-US" sz="1400" b="1">
                <a:solidFill>
                  <a:schemeClr val="bg1"/>
                </a:solidFill>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solidFill>
            <a:srgbClr val="0000FF"/>
          </a:solidFill>
          <a:ln w="19050">
            <a:solidFill>
              <a:schemeClr val="tx1"/>
            </a:solidFill>
            <a:miter lim="800000"/>
            <a:headEnd/>
            <a:tailEnd/>
          </a:ln>
          <a:effectLst/>
        </p:spPr>
        <p:txBody>
          <a:bodyPr wrap="none" anchor="ctr"/>
          <a:lstStyle/>
          <a:p>
            <a:pPr algn="ctr"/>
            <a:endParaRPr kumimoji="1" lang="zh-CN" altLang="en-US" sz="1400" b="1">
              <a:solidFill>
                <a:schemeClr val="bg1"/>
              </a:solidFill>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rgbClr val="00FF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rgbClr val="00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rgbClr val="00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rgbClr val="00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rgbClr val="00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rgbClr val="00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rgbClr val="00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chemeClr val="bg1"/>
                </a:solidFill>
                <a:latin typeface="微软雅黑" pitchFamily="34" charset="-122"/>
                <a:ea typeface="微软雅黑" pitchFamily="34" charset="-122"/>
              </a:rPr>
              <a:t>网络层处理</a:t>
            </a:r>
          </a:p>
          <a:p>
            <a:pPr>
              <a:lnSpc>
                <a:spcPct val="95000"/>
              </a:lnSpc>
            </a:pPr>
            <a:r>
              <a:rPr kumimoji="1" lang="zh-CN" altLang="en-US" sz="1400" b="1" dirty="0">
                <a:solidFill>
                  <a:schemeClr val="bg1"/>
                </a:solidFill>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chemeClr val="bg1"/>
                </a:solidFill>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b="1" dirty="0">
                  <a:solidFill>
                    <a:srgbClr val="0000FF"/>
                  </a:solidFill>
                  <a:latin typeface="微软雅黑" panose="020B0503020204020204" pitchFamily="34" charset="-122"/>
                  <a:ea typeface="微软雅黑" panose="020B0503020204020204" pitchFamily="34" charset="-122"/>
                </a:rPr>
                <a:t>超过</a:t>
              </a:r>
              <a:r>
                <a:rPr lang="zh-CN" altLang="en-US" sz="1400" b="1"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b="1" dirty="0">
                  <a:solidFill>
                    <a:srgbClr val="C00000"/>
                  </a:solidFill>
                  <a:latin typeface="微软雅黑" panose="020B0503020204020204" pitchFamily="34" charset="-122"/>
                  <a:ea typeface="微软雅黑" panose="020B0503020204020204" pitchFamily="34" charset="-122"/>
                </a:rPr>
                <a:t>缓存</a:t>
              </a:r>
              <a:r>
                <a:rPr lang="zh-CN" altLang="en-US" sz="1400" b="1"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b="1" dirty="0">
                  <a:solidFill>
                    <a:srgbClr val="0000FF"/>
                  </a:solidFill>
                  <a:latin typeface="微软雅黑" panose="020B0503020204020204" pitchFamily="34" charset="-122"/>
                  <a:ea typeface="微软雅黑" panose="020B0503020204020204" pitchFamily="34" charset="-122"/>
                </a:rPr>
                <a:t>赶不上</a:t>
              </a:r>
              <a:r>
                <a:rPr lang="zh-CN" altLang="en-US" sz="1400" b="1"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b="1" dirty="0">
                  <a:solidFill>
                    <a:srgbClr val="C00000"/>
                  </a:solidFill>
                  <a:latin typeface="微软雅黑" panose="020B0503020204020204" pitchFamily="34" charset="-122"/>
                  <a:ea typeface="微软雅黑" panose="020B0503020204020204" pitchFamily="34" charset="-122"/>
                </a:rPr>
                <a:t>丢弃</a:t>
              </a:r>
              <a:r>
                <a:rPr lang="zh-CN" altLang="en-US" sz="1400" b="1" dirty="0">
                  <a:solidFill>
                    <a:schemeClr val="tx1"/>
                  </a:solidFill>
                  <a:latin typeface="微软雅黑" panose="020B0503020204020204" pitchFamily="34" charset="-122"/>
                  <a:ea typeface="微软雅黑" panose="020B0503020204020204" pitchFamily="34" charset="-122"/>
                </a:rPr>
                <a:t>后面进入的分组。</a:t>
              </a:r>
              <a:endParaRPr lang="en-US" altLang="zh-CN" sz="1400" b="1"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6006774" y="1846865"/>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311581" y="181854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618434" y="180532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883010" y="18902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6189863" y="18902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495692" y="18902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801522" y="18902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6006774" y="2541768"/>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311581" y="251344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618434" y="2498336"/>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883010" y="258425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6189863" y="258425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495692" y="258425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801522" y="258425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924263" y="1719402"/>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8100533" y="184686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795725" y="181854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487849" y="180532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280552" y="18902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978814" y="18902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671962" y="18902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367155" y="18902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8100533" y="254176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795725" y="251344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487849" y="2498336"/>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280552" y="258425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978814" y="258425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671962" y="258425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367155" y="258425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6006774" y="2186763"/>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311581" y="215843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618434" y="2145219"/>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883010" y="223019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6189863" y="223019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495692" y="223019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801522" y="223019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8100533" y="2186763"/>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795725" y="215843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487849" y="214521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280552" y="223019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978814" y="223019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671962" y="2230194"/>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367155" y="223019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746042" y="156198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745018" y="225122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745018" y="1892441"/>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299584" y="162145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299584" y="198118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965981" y="186223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315950" y="23399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788908" y="1829215"/>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267367" y="17535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572174" y="1725177"/>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879027" y="1711958"/>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6143603" y="17969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450456" y="17969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756285" y="17969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7062115" y="17969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267367" y="244840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572174" y="242008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879027" y="2404973"/>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6143603" y="249089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450456" y="249089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756285" y="249089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7062115" y="249089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995971" y="1753502"/>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691164" y="1725177"/>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383289" y="1711958"/>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175991" y="17969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874252" y="17969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568422" y="17969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262593" y="17969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995971" y="2448405"/>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691164" y="242008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383289" y="2404973"/>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175991" y="249089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874252" y="249089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568422" y="249089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262593" y="249089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267367" y="2093400"/>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572174" y="206507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879027" y="2051856"/>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6143603" y="213683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450456" y="2136831"/>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756285" y="213683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7062115" y="2136831"/>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995971" y="209340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691164" y="206507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383289" y="2051856"/>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175991" y="213683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874252" y="2136831"/>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568422" y="213683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262593" y="2136831"/>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999474" y="1486561"/>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998451" y="217485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998451" y="181607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177634" y="152809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178657" y="188782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7102007" y="1498577"/>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449774" y="1178537"/>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214520" y="1417818"/>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192976" y="2246602"/>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199859" y="1735852"/>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a:t>
            </a:r>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r>
              <a:rPr lang="en-US" altLang="zh-CN" dirty="0"/>
              <a:t> </a:t>
            </a:r>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6049877" y="168649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355707" y="165911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661536" y="164495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927136" y="172993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232966" y="172993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538795" y="172993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845648" y="172993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6052946" y="235968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359799" y="233230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664605" y="231814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931227" y="240311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237057" y="240311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542887" y="240311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848717" y="240311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766642" y="21087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6049877" y="202734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355707" y="19990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661536" y="198485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927136" y="206982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232966" y="206982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538795" y="206982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845648" y="206982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771756" y="175095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161707" y="2530580"/>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96722" y="325569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98457" y="2530581"/>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8045088" y="321710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8045089" y="291151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8045089" y="262424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8070620" y="339826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8072508" y="312823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8072981" y="285584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8073453" y="258439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95800" y="325569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7027714" y="172993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7027714" y="206982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7027714" y="241067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84202" y="211278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314819" y="211278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745435" y="211278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85333" y="203489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85333" y="237573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85333" y="169783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654717" y="237573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654717" y="203489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654717" y="169783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224100" y="237573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224100" y="203489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224100" y="169783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619673" y="12045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910076" y="1483055"/>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924067" y="165867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80658" y="257011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289183"/>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895608"/>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28918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384115"/>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4.7</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多播</a:t>
            </a:r>
          </a:p>
        </p:txBody>
      </p:sp>
      <p:sp>
        <p:nvSpPr>
          <p:cNvPr id="6" name="Rectangle 9"/>
          <p:cNvSpPr>
            <a:spLocks noChangeArrowheads="1"/>
          </p:cNvSpPr>
          <p:nvPr/>
        </p:nvSpPr>
        <p:spPr bwMode="auto">
          <a:xfrm>
            <a:off x="2303830" y="2508819"/>
            <a:ext cx="6189543"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311894" y="1125380"/>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287349" y="1254639"/>
            <a:ext cx="6206024"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4.7.1                                           IP </a:t>
            </a:r>
            <a:r>
              <a:rPr lang="zh-CN" altLang="en-US" sz="2000" b="1" dirty="0">
                <a:solidFill>
                  <a:schemeClr val="bg1"/>
                </a:solidFill>
                <a:latin typeface="微软雅黑" pitchFamily="34" charset="-122"/>
                <a:ea typeface="微软雅黑" pitchFamily="34" charset="-122"/>
              </a:rPr>
              <a:t>多播的基本概念</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4.7.2                                  </a:t>
            </a:r>
            <a:r>
              <a:rPr lang="zh-CN" altLang="en-US" sz="2000" b="1" dirty="0">
                <a:solidFill>
                  <a:schemeClr val="bg1"/>
                </a:solidFill>
                <a:latin typeface="微软雅黑" pitchFamily="34" charset="-122"/>
                <a:ea typeface="微软雅黑" pitchFamily="34" charset="-122"/>
              </a:rPr>
              <a:t>在局域网上进行硬件多播</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4.7.3      </a:t>
            </a:r>
            <a:r>
              <a:rPr lang="zh-CN" altLang="en-US" sz="2000" b="1" dirty="0">
                <a:solidFill>
                  <a:schemeClr val="bg1"/>
                </a:solidFill>
                <a:latin typeface="微软雅黑" pitchFamily="34" charset="-122"/>
                <a:ea typeface="微软雅黑" pitchFamily="34" charset="-122"/>
              </a:rPr>
              <a:t>网际组管理协议 </a:t>
            </a:r>
            <a:r>
              <a:rPr lang="en-US" altLang="zh-CN" sz="2000" b="1" dirty="0">
                <a:solidFill>
                  <a:schemeClr val="bg1"/>
                </a:solidFill>
                <a:latin typeface="微软雅黑" pitchFamily="34" charset="-122"/>
                <a:ea typeface="微软雅黑" pitchFamily="34" charset="-122"/>
              </a:rPr>
              <a:t>IGMP </a:t>
            </a:r>
            <a:r>
              <a:rPr lang="zh-CN" altLang="en-US" sz="2000" b="1" dirty="0">
                <a:solidFill>
                  <a:schemeClr val="bg1"/>
                </a:solidFill>
                <a:latin typeface="微软雅黑" pitchFamily="34" charset="-122"/>
                <a:ea typeface="微软雅黑" pitchFamily="34" charset="-122"/>
              </a:rPr>
              <a:t>和多播路由选择协议</a:t>
            </a:r>
          </a:p>
        </p:txBody>
      </p:sp>
    </p:spTree>
    <p:extLst>
      <p:ext uri="{BB962C8B-B14F-4D97-AF65-F5344CB8AC3E}">
        <p14:creationId xmlns:p14="http://schemas.microsoft.com/office/powerpoint/2010/main" val="7625606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5563" y="1186836"/>
            <a:ext cx="430439" cy="602615"/>
          </a:xfrm>
          <a:prstGeom prst="rect">
            <a:avLst/>
          </a:prstGeom>
        </p:spPr>
      </p:pic>
      <p:sp>
        <p:nvSpPr>
          <p:cNvPr id="6" name="Line 77"/>
          <p:cNvSpPr>
            <a:spLocks noChangeShapeType="1"/>
          </p:cNvSpPr>
          <p:nvPr/>
        </p:nvSpPr>
        <p:spPr bwMode="auto">
          <a:xfrm>
            <a:off x="2364824"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2"/>
          <p:cNvSpPr>
            <a:spLocks noChangeShapeType="1"/>
          </p:cNvSpPr>
          <p:nvPr/>
        </p:nvSpPr>
        <p:spPr bwMode="auto">
          <a:xfrm flipV="1">
            <a:off x="2413019"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3"/>
          <p:cNvSpPr>
            <a:spLocks noChangeShapeType="1"/>
          </p:cNvSpPr>
          <p:nvPr/>
        </p:nvSpPr>
        <p:spPr bwMode="auto">
          <a:xfrm flipV="1">
            <a:off x="3432295"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4"/>
          <p:cNvSpPr>
            <a:spLocks noChangeShapeType="1"/>
          </p:cNvSpPr>
          <p:nvPr/>
        </p:nvSpPr>
        <p:spPr bwMode="auto">
          <a:xfrm flipH="1" flipV="1">
            <a:off x="3432295"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5"/>
          <p:cNvSpPr>
            <a:spLocks noChangeShapeType="1"/>
          </p:cNvSpPr>
          <p:nvPr/>
        </p:nvSpPr>
        <p:spPr bwMode="auto">
          <a:xfrm>
            <a:off x="4643709"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6"/>
          <p:cNvSpPr>
            <a:spLocks noChangeShapeType="1"/>
          </p:cNvSpPr>
          <p:nvPr/>
        </p:nvSpPr>
        <p:spPr bwMode="auto">
          <a:xfrm flipV="1">
            <a:off x="3432295"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7"/>
          <p:cNvSpPr>
            <a:spLocks noChangeShapeType="1"/>
          </p:cNvSpPr>
          <p:nvPr/>
        </p:nvSpPr>
        <p:spPr bwMode="auto">
          <a:xfrm>
            <a:off x="234975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58"/>
          <p:cNvSpPr>
            <a:spLocks noChangeShapeType="1"/>
          </p:cNvSpPr>
          <p:nvPr/>
        </p:nvSpPr>
        <p:spPr bwMode="auto">
          <a:xfrm>
            <a:off x="3561168"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Text Box 59"/>
          <p:cNvSpPr txBox="1">
            <a:spLocks noChangeArrowheads="1"/>
          </p:cNvSpPr>
          <p:nvPr/>
        </p:nvSpPr>
        <p:spPr bwMode="auto">
          <a:xfrm>
            <a:off x="2285118" y="4018862"/>
            <a:ext cx="24865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个主机接收视频节目</a:t>
            </a:r>
          </a:p>
        </p:txBody>
      </p:sp>
      <p:sp>
        <p:nvSpPr>
          <p:cNvPr id="16" name="AutoShape 60"/>
          <p:cNvSpPr>
            <a:spLocks noChangeArrowheads="1"/>
          </p:cNvSpPr>
          <p:nvPr/>
        </p:nvSpPr>
        <p:spPr bwMode="auto">
          <a:xfrm rot="5400000">
            <a:off x="3362856"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AutoShape 61"/>
          <p:cNvSpPr>
            <a:spLocks noChangeArrowheads="1"/>
          </p:cNvSpPr>
          <p:nvPr/>
        </p:nvSpPr>
        <p:spPr bwMode="auto">
          <a:xfrm rot="8740270">
            <a:off x="2666081"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2985923"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20" name="Text Box 64"/>
          <p:cNvSpPr txBox="1">
            <a:spLocks noChangeArrowheads="1"/>
          </p:cNvSpPr>
          <p:nvPr/>
        </p:nvSpPr>
        <p:spPr bwMode="auto">
          <a:xfrm>
            <a:off x="2949604"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3</a:t>
            </a:r>
            <a:endParaRPr kumimoji="1" lang="en-US" altLang="zh-CN" sz="1400" b="1">
              <a:latin typeface="微软雅黑" pitchFamily="34" charset="-122"/>
              <a:ea typeface="微软雅黑" pitchFamily="34" charset="-122"/>
            </a:endParaRPr>
          </a:p>
        </p:txBody>
      </p:sp>
      <p:sp>
        <p:nvSpPr>
          <p:cNvPr id="21" name="Text Box 65"/>
          <p:cNvSpPr txBox="1">
            <a:spLocks noChangeArrowheads="1"/>
          </p:cNvSpPr>
          <p:nvPr/>
        </p:nvSpPr>
        <p:spPr bwMode="auto">
          <a:xfrm>
            <a:off x="4118840"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2" name="Text Box 66"/>
          <p:cNvSpPr txBox="1">
            <a:spLocks noChangeArrowheads="1"/>
          </p:cNvSpPr>
          <p:nvPr/>
        </p:nvSpPr>
        <p:spPr bwMode="auto">
          <a:xfrm>
            <a:off x="1840118"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3" name="Text Box 67"/>
          <p:cNvSpPr txBox="1">
            <a:spLocks noChangeArrowheads="1"/>
          </p:cNvSpPr>
          <p:nvPr/>
        </p:nvSpPr>
        <p:spPr bwMode="auto">
          <a:xfrm>
            <a:off x="1094634"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2742"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8787"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3925530"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6"/>
          <p:cNvSpPr>
            <a:spLocks noChangeShapeType="1"/>
          </p:cNvSpPr>
          <p:nvPr/>
        </p:nvSpPr>
        <p:spPr bwMode="auto">
          <a:xfrm flipH="1">
            <a:off x="1967818"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78"/>
          <p:cNvSpPr>
            <a:spLocks noChangeShapeType="1"/>
          </p:cNvSpPr>
          <p:nvPr/>
        </p:nvSpPr>
        <p:spPr bwMode="auto">
          <a:xfrm flipH="1">
            <a:off x="3113624"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79"/>
          <p:cNvSpPr>
            <a:spLocks noChangeShapeType="1"/>
          </p:cNvSpPr>
          <p:nvPr/>
        </p:nvSpPr>
        <p:spPr bwMode="auto">
          <a:xfrm>
            <a:off x="3504043"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Line 80"/>
          <p:cNvSpPr>
            <a:spLocks noChangeShapeType="1"/>
          </p:cNvSpPr>
          <p:nvPr/>
        </p:nvSpPr>
        <p:spPr bwMode="auto">
          <a:xfrm flipH="1">
            <a:off x="4325038"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Line 81"/>
          <p:cNvSpPr>
            <a:spLocks noChangeShapeType="1"/>
          </p:cNvSpPr>
          <p:nvPr/>
        </p:nvSpPr>
        <p:spPr bwMode="auto">
          <a:xfrm>
            <a:off x="4749382"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Text Box 88"/>
          <p:cNvSpPr txBox="1">
            <a:spLocks noChangeArrowheads="1"/>
          </p:cNvSpPr>
          <p:nvPr/>
        </p:nvSpPr>
        <p:spPr bwMode="auto">
          <a:xfrm>
            <a:off x="2113137"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43" name="Text Box 89"/>
          <p:cNvSpPr txBox="1">
            <a:spLocks noChangeArrowheads="1"/>
          </p:cNvSpPr>
          <p:nvPr/>
        </p:nvSpPr>
        <p:spPr bwMode="auto">
          <a:xfrm>
            <a:off x="4523078"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44" name="Text Box 90"/>
          <p:cNvSpPr txBox="1">
            <a:spLocks noChangeArrowheads="1"/>
          </p:cNvSpPr>
          <p:nvPr/>
        </p:nvSpPr>
        <p:spPr bwMode="auto">
          <a:xfrm>
            <a:off x="3311664"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sp>
        <p:nvSpPr>
          <p:cNvPr id="45" name="Text Box 91"/>
          <p:cNvSpPr txBox="1">
            <a:spLocks noChangeArrowheads="1"/>
          </p:cNvSpPr>
          <p:nvPr/>
        </p:nvSpPr>
        <p:spPr bwMode="auto">
          <a:xfrm>
            <a:off x="2594615" y="278601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6" name="Text Box 92"/>
          <p:cNvSpPr txBox="1">
            <a:spLocks noChangeArrowheads="1"/>
          </p:cNvSpPr>
          <p:nvPr/>
        </p:nvSpPr>
        <p:spPr bwMode="auto">
          <a:xfrm>
            <a:off x="3640837" y="2753572"/>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7" name="Text Box 93"/>
          <p:cNvSpPr txBox="1">
            <a:spLocks noChangeArrowheads="1"/>
          </p:cNvSpPr>
          <p:nvPr/>
        </p:nvSpPr>
        <p:spPr bwMode="auto">
          <a:xfrm>
            <a:off x="4880369" y="270490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8" name="Text Box 94"/>
          <p:cNvSpPr txBox="1">
            <a:spLocks noChangeArrowheads="1"/>
          </p:cNvSpPr>
          <p:nvPr/>
        </p:nvSpPr>
        <p:spPr bwMode="auto">
          <a:xfrm>
            <a:off x="4225453" y="1871103"/>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9" name="Text Box 95"/>
          <p:cNvSpPr txBox="1">
            <a:spLocks noChangeArrowheads="1"/>
          </p:cNvSpPr>
          <p:nvPr/>
        </p:nvSpPr>
        <p:spPr bwMode="auto">
          <a:xfrm>
            <a:off x="3666611" y="22463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0" name="Text Box 96"/>
          <p:cNvSpPr txBox="1">
            <a:spLocks noChangeArrowheads="1"/>
          </p:cNvSpPr>
          <p:nvPr/>
        </p:nvSpPr>
        <p:spPr bwMode="auto">
          <a:xfrm>
            <a:off x="2201581" y="1871103"/>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1" name="Text Box 97"/>
          <p:cNvSpPr txBox="1">
            <a:spLocks noChangeArrowheads="1"/>
          </p:cNvSpPr>
          <p:nvPr/>
        </p:nvSpPr>
        <p:spPr bwMode="auto">
          <a:xfrm>
            <a:off x="3711131" y="134983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90 </a:t>
            </a:r>
            <a:r>
              <a:rPr kumimoji="1" lang="zh-CN" altLang="en-US" sz="1200" b="1" dirty="0">
                <a:solidFill>
                  <a:srgbClr val="CC00CC"/>
                </a:solidFill>
                <a:latin typeface="微软雅黑" pitchFamily="34" charset="-122"/>
                <a:ea typeface="微软雅黑" pitchFamily="34" charset="-122"/>
              </a:rPr>
              <a:t>个</a:t>
            </a:r>
          </a:p>
        </p:txBody>
      </p:sp>
      <p:sp>
        <p:nvSpPr>
          <p:cNvPr id="52" name="AutoShape 99"/>
          <p:cNvSpPr>
            <a:spLocks noChangeArrowheads="1"/>
          </p:cNvSpPr>
          <p:nvPr/>
        </p:nvSpPr>
        <p:spPr bwMode="auto">
          <a:xfrm rot="5400000">
            <a:off x="3430763" y="1631378"/>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100"/>
          <p:cNvSpPr>
            <a:spLocks noChangeArrowheads="1"/>
          </p:cNvSpPr>
          <p:nvPr/>
        </p:nvSpPr>
        <p:spPr bwMode="auto">
          <a:xfrm rot="5400000">
            <a:off x="3498128" y="1674141"/>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101"/>
          <p:cNvSpPr>
            <a:spLocks noChangeArrowheads="1"/>
          </p:cNvSpPr>
          <p:nvPr/>
        </p:nvSpPr>
        <p:spPr bwMode="auto">
          <a:xfrm rot="1858546">
            <a:off x="4006369" y="2117675"/>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102"/>
          <p:cNvSpPr>
            <a:spLocks noChangeArrowheads="1"/>
          </p:cNvSpPr>
          <p:nvPr/>
        </p:nvSpPr>
        <p:spPr bwMode="auto">
          <a:xfrm rot="1858546">
            <a:off x="4086037" y="2100371"/>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6" name="Group 103"/>
          <p:cNvGrpSpPr>
            <a:grpSpLocks/>
          </p:cNvGrpSpPr>
          <p:nvPr/>
        </p:nvGrpSpPr>
        <p:grpSpPr bwMode="auto">
          <a:xfrm>
            <a:off x="4675342" y="2763305"/>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57" name="AutoShape 107"/>
          <p:cNvSpPr>
            <a:spLocks noChangeArrowheads="1"/>
          </p:cNvSpPr>
          <p:nvPr/>
        </p:nvSpPr>
        <p:spPr bwMode="auto">
          <a:xfrm rot="5400000">
            <a:off x="3565494" y="1716813"/>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AutoShape 108"/>
          <p:cNvSpPr>
            <a:spLocks noChangeArrowheads="1"/>
          </p:cNvSpPr>
          <p:nvPr/>
        </p:nvSpPr>
        <p:spPr bwMode="auto">
          <a:xfrm rot="5400000">
            <a:off x="3632860" y="1759576"/>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09"/>
          <p:cNvSpPr>
            <a:spLocks noChangeArrowheads="1"/>
          </p:cNvSpPr>
          <p:nvPr/>
        </p:nvSpPr>
        <p:spPr bwMode="auto">
          <a:xfrm rot="5400000">
            <a:off x="3699054" y="1801167"/>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AutoShape 110"/>
          <p:cNvSpPr>
            <a:spLocks noChangeArrowheads="1"/>
          </p:cNvSpPr>
          <p:nvPr/>
        </p:nvSpPr>
        <p:spPr bwMode="auto">
          <a:xfrm rot="8740270">
            <a:off x="2603988" y="2143630"/>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111"/>
          <p:cNvSpPr>
            <a:spLocks noChangeArrowheads="1"/>
          </p:cNvSpPr>
          <p:nvPr/>
        </p:nvSpPr>
        <p:spPr bwMode="auto">
          <a:xfrm rot="8740270">
            <a:off x="2540722" y="2117675"/>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2" name="Group 112"/>
          <p:cNvGrpSpPr>
            <a:grpSpLocks/>
          </p:cNvGrpSpPr>
          <p:nvPr/>
        </p:nvGrpSpPr>
        <p:grpSpPr bwMode="auto">
          <a:xfrm>
            <a:off x="3432295" y="2752490"/>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3" name="Group 116"/>
          <p:cNvGrpSpPr>
            <a:grpSpLocks/>
          </p:cNvGrpSpPr>
          <p:nvPr/>
        </p:nvGrpSpPr>
        <p:grpSpPr bwMode="auto">
          <a:xfrm>
            <a:off x="2364986" y="2800074"/>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4" name="Group 120"/>
          <p:cNvGrpSpPr>
            <a:grpSpLocks/>
          </p:cNvGrpSpPr>
          <p:nvPr/>
        </p:nvGrpSpPr>
        <p:grpSpPr bwMode="auto">
          <a:xfrm>
            <a:off x="3432295" y="2120918"/>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77" name="Text Box 126"/>
          <p:cNvSpPr txBox="1">
            <a:spLocks noChangeArrowheads="1"/>
          </p:cNvSpPr>
          <p:nvPr/>
        </p:nvSpPr>
        <p:spPr bwMode="auto">
          <a:xfrm>
            <a:off x="5835176" y="1568514"/>
            <a:ext cx="2074677" cy="1323439"/>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400"/>
              </a:lnSpc>
            </a:pPr>
            <a:r>
              <a:rPr kumimoji="1" lang="zh-CN" altLang="en-US" sz="1600" b="1" dirty="0">
                <a:solidFill>
                  <a:srgbClr val="0000FF"/>
                </a:solidFill>
                <a:latin typeface="微软雅黑" pitchFamily="34" charset="-122"/>
                <a:ea typeface="微软雅黑" pitchFamily="34" charset="-122"/>
              </a:rPr>
              <a:t>采用</a:t>
            </a:r>
            <a:r>
              <a:rPr kumimoji="1" lang="zh-CN" altLang="zh-CN" sz="1600" b="1" dirty="0">
                <a:solidFill>
                  <a:srgbClr val="0000FF"/>
                </a:solidFill>
                <a:latin typeface="微软雅黑" pitchFamily="34" charset="-122"/>
                <a:ea typeface="微软雅黑" pitchFamily="34" charset="-122"/>
              </a:rPr>
              <a:t>单播方式</a:t>
            </a:r>
            <a:r>
              <a:rPr kumimoji="1" lang="zh-CN" altLang="en-US" sz="1600" b="1" dirty="0">
                <a:solidFill>
                  <a:srgbClr val="0000FF"/>
                </a:solidFill>
                <a:latin typeface="微软雅黑" pitchFamily="34" charset="-122"/>
                <a:ea typeface="微软雅黑" pitchFamily="34" charset="-122"/>
              </a:rPr>
              <a:t>，</a:t>
            </a:r>
            <a:endParaRPr kumimoji="1" lang="en-US" altLang="zh-CN" sz="1600" b="1" dirty="0">
              <a:solidFill>
                <a:srgbClr val="0000FF"/>
              </a:solidFill>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向</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台主机传送</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同样的视频节目</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需要发送</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个单播</a:t>
            </a:r>
            <a:endParaRPr kumimoji="1" lang="zh-CN" altLang="en-US" sz="1600" b="1" dirty="0">
              <a:latin typeface="微软雅黑" pitchFamily="34" charset="-122"/>
              <a:ea typeface="微软雅黑" pitchFamily="34" charset="-122"/>
            </a:endParaRPr>
          </a:p>
        </p:txBody>
      </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8366"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7547"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4312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896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3785"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1435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2776002"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31813"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40519"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51614"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4612" y="1186836"/>
            <a:ext cx="430439" cy="602615"/>
          </a:xfrm>
          <a:prstGeom prst="rect">
            <a:avLst/>
          </a:prstGeom>
        </p:spPr>
      </p:pic>
      <p:sp>
        <p:nvSpPr>
          <p:cNvPr id="7" name="Line 52"/>
          <p:cNvSpPr>
            <a:spLocks noChangeShapeType="1"/>
          </p:cNvSpPr>
          <p:nvPr/>
        </p:nvSpPr>
        <p:spPr bwMode="auto">
          <a:xfrm flipV="1">
            <a:off x="2412068"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Line 53"/>
          <p:cNvSpPr>
            <a:spLocks noChangeShapeType="1"/>
          </p:cNvSpPr>
          <p:nvPr/>
        </p:nvSpPr>
        <p:spPr bwMode="auto">
          <a:xfrm flipV="1">
            <a:off x="3431344"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4"/>
          <p:cNvSpPr>
            <a:spLocks noChangeShapeType="1"/>
          </p:cNvSpPr>
          <p:nvPr/>
        </p:nvSpPr>
        <p:spPr bwMode="auto">
          <a:xfrm flipH="1" flipV="1">
            <a:off x="3431344"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5"/>
          <p:cNvSpPr>
            <a:spLocks noChangeShapeType="1"/>
          </p:cNvSpPr>
          <p:nvPr/>
        </p:nvSpPr>
        <p:spPr bwMode="auto">
          <a:xfrm>
            <a:off x="4642758"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6"/>
          <p:cNvSpPr>
            <a:spLocks noChangeShapeType="1"/>
          </p:cNvSpPr>
          <p:nvPr/>
        </p:nvSpPr>
        <p:spPr bwMode="auto">
          <a:xfrm flipV="1">
            <a:off x="343134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7"/>
          <p:cNvSpPr>
            <a:spLocks noChangeShapeType="1"/>
          </p:cNvSpPr>
          <p:nvPr/>
        </p:nvSpPr>
        <p:spPr bwMode="auto">
          <a:xfrm>
            <a:off x="2348803"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8"/>
          <p:cNvSpPr>
            <a:spLocks noChangeShapeType="1"/>
          </p:cNvSpPr>
          <p:nvPr/>
        </p:nvSpPr>
        <p:spPr bwMode="auto">
          <a:xfrm>
            <a:off x="3560217"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59"/>
          <p:cNvSpPr txBox="1">
            <a:spLocks noChangeArrowheads="1"/>
          </p:cNvSpPr>
          <p:nvPr/>
        </p:nvSpPr>
        <p:spPr bwMode="auto">
          <a:xfrm>
            <a:off x="2453441" y="4010080"/>
            <a:ext cx="1947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多播组成员共有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a:t>
            </a:r>
          </a:p>
        </p:txBody>
      </p:sp>
      <p:sp>
        <p:nvSpPr>
          <p:cNvPr id="15" name="AutoShape 60"/>
          <p:cNvSpPr>
            <a:spLocks noChangeArrowheads="1"/>
          </p:cNvSpPr>
          <p:nvPr/>
        </p:nvSpPr>
        <p:spPr bwMode="auto">
          <a:xfrm rot="5400000">
            <a:off x="3361905"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AutoShape 61"/>
          <p:cNvSpPr>
            <a:spLocks noChangeArrowheads="1"/>
          </p:cNvSpPr>
          <p:nvPr/>
        </p:nvSpPr>
        <p:spPr bwMode="auto">
          <a:xfrm rot="8740270">
            <a:off x="2665130"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2984972"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19" name="Text Box 64"/>
          <p:cNvSpPr txBox="1">
            <a:spLocks noChangeArrowheads="1"/>
          </p:cNvSpPr>
          <p:nvPr/>
        </p:nvSpPr>
        <p:spPr bwMode="auto">
          <a:xfrm>
            <a:off x="2948653"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p:txBody>
      </p:sp>
      <p:sp>
        <p:nvSpPr>
          <p:cNvPr id="20" name="Text Box 65"/>
          <p:cNvSpPr txBox="1">
            <a:spLocks noChangeArrowheads="1"/>
          </p:cNvSpPr>
          <p:nvPr/>
        </p:nvSpPr>
        <p:spPr bwMode="auto">
          <a:xfrm>
            <a:off x="4117889"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1" name="Text Box 66"/>
          <p:cNvSpPr txBox="1">
            <a:spLocks noChangeArrowheads="1"/>
          </p:cNvSpPr>
          <p:nvPr/>
        </p:nvSpPr>
        <p:spPr bwMode="auto">
          <a:xfrm>
            <a:off x="1839167"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2" name="Text Box 67"/>
          <p:cNvSpPr txBox="1">
            <a:spLocks noChangeArrowheads="1"/>
          </p:cNvSpPr>
          <p:nvPr/>
        </p:nvSpPr>
        <p:spPr bwMode="auto">
          <a:xfrm>
            <a:off x="1093683"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1791"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7836"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3924579"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91"/>
          <p:cNvSpPr txBox="1">
            <a:spLocks noChangeArrowheads="1"/>
          </p:cNvSpPr>
          <p:nvPr/>
        </p:nvSpPr>
        <p:spPr bwMode="auto">
          <a:xfrm>
            <a:off x="2412800"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39" name="Text Box 92"/>
          <p:cNvSpPr txBox="1">
            <a:spLocks noChangeArrowheads="1"/>
          </p:cNvSpPr>
          <p:nvPr/>
        </p:nvSpPr>
        <p:spPr bwMode="auto">
          <a:xfrm>
            <a:off x="3529358"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0" name="Text Box 93"/>
          <p:cNvSpPr txBox="1">
            <a:spLocks noChangeArrowheads="1"/>
          </p:cNvSpPr>
          <p:nvPr/>
        </p:nvSpPr>
        <p:spPr bwMode="auto">
          <a:xfrm>
            <a:off x="4713626" y="2745460"/>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41" name="Text Box 94"/>
          <p:cNvSpPr txBox="1">
            <a:spLocks noChangeArrowheads="1"/>
          </p:cNvSpPr>
          <p:nvPr/>
        </p:nvSpPr>
        <p:spPr bwMode="auto">
          <a:xfrm>
            <a:off x="3968278" y="1886175"/>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2" name="Text Box 95"/>
          <p:cNvSpPr txBox="1">
            <a:spLocks noChangeArrowheads="1"/>
          </p:cNvSpPr>
          <p:nvPr/>
        </p:nvSpPr>
        <p:spPr bwMode="auto">
          <a:xfrm>
            <a:off x="3509916" y="2115743"/>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3" name="Text Box 96"/>
          <p:cNvSpPr txBox="1">
            <a:spLocks noChangeArrowheads="1"/>
          </p:cNvSpPr>
          <p:nvPr/>
        </p:nvSpPr>
        <p:spPr bwMode="auto">
          <a:xfrm>
            <a:off x="2527386" y="1936415"/>
            <a:ext cx="4331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4" name="Text Box 97"/>
          <p:cNvSpPr txBox="1">
            <a:spLocks noChangeArrowheads="1"/>
          </p:cNvSpPr>
          <p:nvPr/>
        </p:nvSpPr>
        <p:spPr bwMode="auto">
          <a:xfrm>
            <a:off x="3534340" y="1455341"/>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50" name="AutoShape 104"/>
          <p:cNvSpPr>
            <a:spLocks noChangeArrowheads="1"/>
          </p:cNvSpPr>
          <p:nvPr/>
        </p:nvSpPr>
        <p:spPr bwMode="auto">
          <a:xfrm rot="5400000">
            <a:off x="4575638" y="2862081"/>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13"/>
          <p:cNvSpPr>
            <a:spLocks noChangeArrowheads="1"/>
          </p:cNvSpPr>
          <p:nvPr/>
        </p:nvSpPr>
        <p:spPr bwMode="auto">
          <a:xfrm rot="5400000">
            <a:off x="3368054" y="2850985"/>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AutoShape 117"/>
          <p:cNvSpPr>
            <a:spLocks noChangeArrowheads="1"/>
          </p:cNvSpPr>
          <p:nvPr/>
        </p:nvSpPr>
        <p:spPr bwMode="auto">
          <a:xfrm rot="5400000">
            <a:off x="2265577" y="2898569"/>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1"/>
          <p:cNvSpPr>
            <a:spLocks noChangeArrowheads="1"/>
          </p:cNvSpPr>
          <p:nvPr/>
        </p:nvSpPr>
        <p:spPr bwMode="auto">
          <a:xfrm rot="5400000">
            <a:off x="3368054" y="2219413"/>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26"/>
          <p:cNvSpPr txBox="1">
            <a:spLocks noChangeArrowheads="1"/>
          </p:cNvSpPr>
          <p:nvPr/>
        </p:nvSpPr>
        <p:spPr bwMode="auto">
          <a:xfrm>
            <a:off x="5453670" y="1301860"/>
            <a:ext cx="2762115" cy="1502976"/>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solidFill>
                  <a:srgbClr val="0000FF"/>
                </a:solidFill>
                <a:latin typeface="微软雅黑" pitchFamily="34" charset="-122"/>
                <a:ea typeface="微软雅黑" pitchFamily="34" charset="-122"/>
              </a:rPr>
              <a:t>采用多播方式，</a:t>
            </a:r>
          </a:p>
          <a:p>
            <a:pPr algn="ctr">
              <a:lnSpc>
                <a:spcPts val="2200"/>
              </a:lnSpc>
            </a:pPr>
            <a:r>
              <a:rPr kumimoji="1" lang="zh-CN" altLang="en-US" sz="1600" b="1" dirty="0">
                <a:latin typeface="微软雅黑" pitchFamily="34" charset="-122"/>
                <a:ea typeface="微软雅黑" pitchFamily="34" charset="-122"/>
              </a:rPr>
              <a:t>只需发送一次到多播组。</a:t>
            </a:r>
          </a:p>
          <a:p>
            <a:pPr algn="ctr">
              <a:lnSpc>
                <a:spcPts val="2200"/>
              </a:lnSpc>
            </a:pPr>
            <a:r>
              <a:rPr kumimoji="1" lang="zh-CN" altLang="en-US" sz="1600" b="1" dirty="0">
                <a:latin typeface="微软雅黑" pitchFamily="34" charset="-122"/>
                <a:ea typeface="微软雅黑" pitchFamily="34" charset="-122"/>
              </a:rPr>
              <a:t>路由器复制分组。</a:t>
            </a:r>
          </a:p>
          <a:p>
            <a:pPr algn="ctr">
              <a:lnSpc>
                <a:spcPts val="2200"/>
              </a:lnSpc>
            </a:pPr>
            <a:r>
              <a:rPr kumimoji="1" lang="zh-CN" altLang="en-US" sz="1600" b="1" dirty="0">
                <a:latin typeface="微软雅黑" pitchFamily="34" charset="-122"/>
                <a:ea typeface="微软雅黑" pitchFamily="34" charset="-122"/>
              </a:rPr>
              <a:t>局域网具有硬件多播功能，不需要复制分组。</a:t>
            </a:r>
          </a:p>
        </p:txBody>
      </p:sp>
      <p:cxnSp>
        <p:nvCxnSpPr>
          <p:cNvPr id="78" name="直接连接符 77"/>
          <p:cNvCxnSpPr>
            <a:stCxn id="8" idx="1"/>
            <a:endCxn id="3" idx="3"/>
          </p:cNvCxnSpPr>
          <p:nvPr/>
        </p:nvCxnSpPr>
        <p:spPr>
          <a:xfrm flipH="1">
            <a:off x="2775051"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79" name="Text Box 126"/>
          <p:cNvSpPr txBox="1">
            <a:spLocks noChangeArrowheads="1"/>
          </p:cNvSpPr>
          <p:nvPr/>
        </p:nvSpPr>
        <p:spPr bwMode="auto">
          <a:xfrm>
            <a:off x="5453671" y="2973630"/>
            <a:ext cx="2762114" cy="1220847"/>
          </a:xfrm>
          <a:prstGeom prst="rect">
            <a:avLst/>
          </a:prstGeom>
          <a:solidFill>
            <a:srgbClr val="00FFFF"/>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latin typeface="微软雅黑" pitchFamily="34" charset="-122"/>
                <a:ea typeface="微软雅黑" pitchFamily="34" charset="-122"/>
              </a:rPr>
              <a:t>当多播组的主机数很大时（如成千上万个），采用多播方式就可明显地减轻网络中各种资源的消耗。</a:t>
            </a:r>
          </a:p>
        </p:txBody>
      </p:sp>
      <p:sp>
        <p:nvSpPr>
          <p:cNvPr id="80" name="Text Box 64"/>
          <p:cNvSpPr txBox="1">
            <a:spLocks noChangeArrowheads="1"/>
          </p:cNvSpPr>
          <p:nvPr/>
        </p:nvSpPr>
        <p:spPr bwMode="auto">
          <a:xfrm>
            <a:off x="17733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1" name="Text Box 64"/>
          <p:cNvSpPr txBox="1">
            <a:spLocks noChangeArrowheads="1"/>
          </p:cNvSpPr>
          <p:nvPr/>
        </p:nvSpPr>
        <p:spPr bwMode="auto">
          <a:xfrm>
            <a:off x="2922088"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2" name="Text Box 64"/>
          <p:cNvSpPr txBox="1">
            <a:spLocks noChangeArrowheads="1"/>
          </p:cNvSpPr>
          <p:nvPr/>
        </p:nvSpPr>
        <p:spPr bwMode="auto">
          <a:xfrm>
            <a:off x="41345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62" name="Line 77"/>
          <p:cNvSpPr>
            <a:spLocks noChangeShapeType="1"/>
          </p:cNvSpPr>
          <p:nvPr/>
        </p:nvSpPr>
        <p:spPr bwMode="auto">
          <a:xfrm>
            <a:off x="2358011"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76"/>
          <p:cNvSpPr>
            <a:spLocks noChangeShapeType="1"/>
          </p:cNvSpPr>
          <p:nvPr/>
        </p:nvSpPr>
        <p:spPr bwMode="auto">
          <a:xfrm flipH="1">
            <a:off x="1961005"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78"/>
          <p:cNvSpPr>
            <a:spLocks noChangeShapeType="1"/>
          </p:cNvSpPr>
          <p:nvPr/>
        </p:nvSpPr>
        <p:spPr bwMode="auto">
          <a:xfrm flipH="1">
            <a:off x="3106811"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79"/>
          <p:cNvSpPr>
            <a:spLocks noChangeShapeType="1"/>
          </p:cNvSpPr>
          <p:nvPr/>
        </p:nvSpPr>
        <p:spPr bwMode="auto">
          <a:xfrm>
            <a:off x="3497230"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Line 80"/>
          <p:cNvSpPr>
            <a:spLocks noChangeShapeType="1"/>
          </p:cNvSpPr>
          <p:nvPr/>
        </p:nvSpPr>
        <p:spPr bwMode="auto">
          <a:xfrm flipH="1">
            <a:off x="4318225"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81"/>
          <p:cNvSpPr>
            <a:spLocks noChangeShapeType="1"/>
          </p:cNvSpPr>
          <p:nvPr/>
        </p:nvSpPr>
        <p:spPr bwMode="auto">
          <a:xfrm>
            <a:off x="4742569"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Text Box 88"/>
          <p:cNvSpPr txBox="1">
            <a:spLocks noChangeArrowheads="1"/>
          </p:cNvSpPr>
          <p:nvPr/>
        </p:nvSpPr>
        <p:spPr bwMode="auto">
          <a:xfrm>
            <a:off x="2106324"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84" name="Text Box 89"/>
          <p:cNvSpPr txBox="1">
            <a:spLocks noChangeArrowheads="1"/>
          </p:cNvSpPr>
          <p:nvPr/>
        </p:nvSpPr>
        <p:spPr bwMode="auto">
          <a:xfrm>
            <a:off x="4516265"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85" name="Text Box 90"/>
          <p:cNvSpPr txBox="1">
            <a:spLocks noChangeArrowheads="1"/>
          </p:cNvSpPr>
          <p:nvPr/>
        </p:nvSpPr>
        <p:spPr bwMode="auto">
          <a:xfrm>
            <a:off x="3304851"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1553"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0734"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3630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214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46972"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53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25000"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33706"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44801"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395856" y="2838893"/>
            <a:ext cx="6500068" cy="400110"/>
          </a:xfrm>
          <a:prstGeom prst="rect">
            <a:avLst/>
          </a:prstGeom>
          <a:solidFill>
            <a:srgbClr val="990033"/>
          </a:solidFill>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多播地址只能用于目的地址，不能用于源地址。</a:t>
            </a:r>
          </a:p>
        </p:txBody>
      </p:sp>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p>
          <a:p>
            <a:r>
              <a:rPr lang="zh-CN" altLang="en-US" dirty="0"/>
              <a:t>从</a:t>
            </a:r>
            <a:r>
              <a:rPr lang="en-US" altLang="zh-CN" dirty="0"/>
              <a:t>00-00-5E-00-00-00 </a:t>
            </a:r>
          </a:p>
          <a:p>
            <a:r>
              <a:rPr lang="zh-CN" altLang="en-US" dirty="0"/>
              <a:t>到</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个地址）作为以太网多播地址。或者说，在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367110" y="1099459"/>
            <a:ext cx="6324322" cy="2817236"/>
            <a:chOff x="1275139" y="2040738"/>
            <a:chExt cx="7592627" cy="3382225"/>
          </a:xfrm>
        </p:grpSpPr>
        <p:sp>
          <p:nvSpPr>
            <p:cNvPr id="6" name="Rectangle 3"/>
            <p:cNvSpPr>
              <a:spLocks noChangeArrowheads="1"/>
            </p:cNvSpPr>
            <p:nvPr/>
          </p:nvSpPr>
          <p:spPr bwMode="auto">
            <a:xfrm>
              <a:off x="1275139" y="4148201"/>
              <a:ext cx="7467604"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Line 4"/>
            <p:cNvSpPr>
              <a:spLocks noChangeShapeType="1"/>
            </p:cNvSpPr>
            <p:nvPr/>
          </p:nvSpPr>
          <p:spPr bwMode="auto">
            <a:xfrm>
              <a:off x="14307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Line 5"/>
            <p:cNvSpPr>
              <a:spLocks noChangeShapeType="1"/>
            </p:cNvSpPr>
            <p:nvPr/>
          </p:nvSpPr>
          <p:spPr bwMode="auto">
            <a:xfrm>
              <a:off x="158628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Line 6"/>
            <p:cNvSpPr>
              <a:spLocks noChangeShapeType="1"/>
            </p:cNvSpPr>
            <p:nvPr/>
          </p:nvSpPr>
          <p:spPr bwMode="auto">
            <a:xfrm>
              <a:off x="17418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Line 7"/>
            <p:cNvSpPr>
              <a:spLocks noChangeShapeType="1"/>
            </p:cNvSpPr>
            <p:nvPr/>
          </p:nvSpPr>
          <p:spPr bwMode="auto">
            <a:xfrm>
              <a:off x="18974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Line 8"/>
            <p:cNvSpPr>
              <a:spLocks noChangeShapeType="1"/>
            </p:cNvSpPr>
            <p:nvPr/>
          </p:nvSpPr>
          <p:spPr bwMode="auto">
            <a:xfrm>
              <a:off x="20530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 name="Line 9"/>
            <p:cNvSpPr>
              <a:spLocks noChangeShapeType="1"/>
            </p:cNvSpPr>
            <p:nvPr/>
          </p:nvSpPr>
          <p:spPr bwMode="auto">
            <a:xfrm>
              <a:off x="22085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 name="Line 10"/>
            <p:cNvSpPr>
              <a:spLocks noChangeShapeType="1"/>
            </p:cNvSpPr>
            <p:nvPr/>
          </p:nvSpPr>
          <p:spPr bwMode="auto">
            <a:xfrm>
              <a:off x="23641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 name="Line 11"/>
            <p:cNvSpPr>
              <a:spLocks noChangeShapeType="1"/>
            </p:cNvSpPr>
            <p:nvPr/>
          </p:nvSpPr>
          <p:spPr bwMode="auto">
            <a:xfrm>
              <a:off x="251973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Line 12"/>
            <p:cNvSpPr>
              <a:spLocks noChangeShapeType="1"/>
            </p:cNvSpPr>
            <p:nvPr/>
          </p:nvSpPr>
          <p:spPr bwMode="auto">
            <a:xfrm>
              <a:off x="26753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 name="Line 13"/>
            <p:cNvSpPr>
              <a:spLocks noChangeShapeType="1"/>
            </p:cNvSpPr>
            <p:nvPr/>
          </p:nvSpPr>
          <p:spPr bwMode="auto">
            <a:xfrm>
              <a:off x="28308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Line 14"/>
            <p:cNvSpPr>
              <a:spLocks noChangeShapeType="1"/>
            </p:cNvSpPr>
            <p:nvPr/>
          </p:nvSpPr>
          <p:spPr bwMode="auto">
            <a:xfrm>
              <a:off x="29864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Line 15"/>
            <p:cNvSpPr>
              <a:spLocks noChangeShapeType="1"/>
            </p:cNvSpPr>
            <p:nvPr/>
          </p:nvSpPr>
          <p:spPr bwMode="auto">
            <a:xfrm>
              <a:off x="31420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Line 16"/>
            <p:cNvSpPr>
              <a:spLocks noChangeShapeType="1"/>
            </p:cNvSpPr>
            <p:nvPr/>
          </p:nvSpPr>
          <p:spPr bwMode="auto">
            <a:xfrm>
              <a:off x="32976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0" name="Line 17"/>
            <p:cNvSpPr>
              <a:spLocks noChangeShapeType="1"/>
            </p:cNvSpPr>
            <p:nvPr/>
          </p:nvSpPr>
          <p:spPr bwMode="auto">
            <a:xfrm>
              <a:off x="34531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1" name="Line 18"/>
            <p:cNvSpPr>
              <a:spLocks noChangeShapeType="1"/>
            </p:cNvSpPr>
            <p:nvPr/>
          </p:nvSpPr>
          <p:spPr bwMode="auto">
            <a:xfrm>
              <a:off x="36087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2" name="Line 19"/>
            <p:cNvSpPr>
              <a:spLocks noChangeShapeType="1"/>
            </p:cNvSpPr>
            <p:nvPr/>
          </p:nvSpPr>
          <p:spPr bwMode="auto">
            <a:xfrm>
              <a:off x="37643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Line 20"/>
            <p:cNvSpPr>
              <a:spLocks noChangeShapeType="1"/>
            </p:cNvSpPr>
            <p:nvPr/>
          </p:nvSpPr>
          <p:spPr bwMode="auto">
            <a:xfrm>
              <a:off x="39199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4" name="Line 21"/>
            <p:cNvSpPr>
              <a:spLocks noChangeShapeType="1"/>
            </p:cNvSpPr>
            <p:nvPr/>
          </p:nvSpPr>
          <p:spPr bwMode="auto">
            <a:xfrm>
              <a:off x="40754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5" name="Line 22"/>
            <p:cNvSpPr>
              <a:spLocks noChangeShapeType="1"/>
            </p:cNvSpPr>
            <p:nvPr/>
          </p:nvSpPr>
          <p:spPr bwMode="auto">
            <a:xfrm>
              <a:off x="42310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6" name="Line 23"/>
            <p:cNvSpPr>
              <a:spLocks noChangeShapeType="1"/>
            </p:cNvSpPr>
            <p:nvPr/>
          </p:nvSpPr>
          <p:spPr bwMode="auto">
            <a:xfrm>
              <a:off x="43866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7" name="Line 24"/>
            <p:cNvSpPr>
              <a:spLocks noChangeShapeType="1"/>
            </p:cNvSpPr>
            <p:nvPr/>
          </p:nvSpPr>
          <p:spPr bwMode="auto">
            <a:xfrm>
              <a:off x="45422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8" name="Line 25"/>
            <p:cNvSpPr>
              <a:spLocks noChangeShapeType="1"/>
            </p:cNvSpPr>
            <p:nvPr/>
          </p:nvSpPr>
          <p:spPr bwMode="auto">
            <a:xfrm>
              <a:off x="46977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9" name="Line 26"/>
            <p:cNvSpPr>
              <a:spLocks noChangeShapeType="1"/>
            </p:cNvSpPr>
            <p:nvPr/>
          </p:nvSpPr>
          <p:spPr bwMode="auto">
            <a:xfrm>
              <a:off x="48533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0" name="Line 27"/>
            <p:cNvSpPr>
              <a:spLocks noChangeShapeType="1"/>
            </p:cNvSpPr>
            <p:nvPr/>
          </p:nvSpPr>
          <p:spPr bwMode="auto">
            <a:xfrm>
              <a:off x="50089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1" name="Rectangle 28"/>
            <p:cNvSpPr>
              <a:spLocks noChangeArrowheads="1"/>
            </p:cNvSpPr>
            <p:nvPr/>
          </p:nvSpPr>
          <p:spPr bwMode="auto">
            <a:xfrm>
              <a:off x="5170866" y="4170426"/>
              <a:ext cx="3563940" cy="42545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32" name="Line 29"/>
            <p:cNvSpPr>
              <a:spLocks noChangeShapeType="1"/>
            </p:cNvSpPr>
            <p:nvPr/>
          </p:nvSpPr>
          <p:spPr bwMode="auto">
            <a:xfrm>
              <a:off x="5164516" y="4148201"/>
              <a:ext cx="0" cy="4572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Line 30"/>
            <p:cNvSpPr>
              <a:spLocks noChangeShapeType="1"/>
            </p:cNvSpPr>
            <p:nvPr/>
          </p:nvSpPr>
          <p:spPr bwMode="auto">
            <a:xfrm>
              <a:off x="53200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4" name="Line 31"/>
            <p:cNvSpPr>
              <a:spLocks noChangeShapeType="1"/>
            </p:cNvSpPr>
            <p:nvPr/>
          </p:nvSpPr>
          <p:spPr bwMode="auto">
            <a:xfrm>
              <a:off x="54756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Line 32"/>
            <p:cNvSpPr>
              <a:spLocks noChangeShapeType="1"/>
            </p:cNvSpPr>
            <p:nvPr/>
          </p:nvSpPr>
          <p:spPr bwMode="auto">
            <a:xfrm>
              <a:off x="56312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Line 33"/>
            <p:cNvSpPr>
              <a:spLocks noChangeShapeType="1"/>
            </p:cNvSpPr>
            <p:nvPr/>
          </p:nvSpPr>
          <p:spPr bwMode="auto">
            <a:xfrm>
              <a:off x="57868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Line 34"/>
            <p:cNvSpPr>
              <a:spLocks noChangeShapeType="1"/>
            </p:cNvSpPr>
            <p:nvPr/>
          </p:nvSpPr>
          <p:spPr bwMode="auto">
            <a:xfrm>
              <a:off x="59423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8" name="Line 35"/>
            <p:cNvSpPr>
              <a:spLocks noChangeShapeType="1"/>
            </p:cNvSpPr>
            <p:nvPr/>
          </p:nvSpPr>
          <p:spPr bwMode="auto">
            <a:xfrm>
              <a:off x="60979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6"/>
            <p:cNvSpPr>
              <a:spLocks noChangeShapeType="1"/>
            </p:cNvSpPr>
            <p:nvPr/>
          </p:nvSpPr>
          <p:spPr bwMode="auto">
            <a:xfrm>
              <a:off x="62535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0" name="Line 37"/>
            <p:cNvSpPr>
              <a:spLocks noChangeShapeType="1"/>
            </p:cNvSpPr>
            <p:nvPr/>
          </p:nvSpPr>
          <p:spPr bwMode="auto">
            <a:xfrm>
              <a:off x="64091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1" name="Line 38"/>
            <p:cNvSpPr>
              <a:spLocks noChangeShapeType="1"/>
            </p:cNvSpPr>
            <p:nvPr/>
          </p:nvSpPr>
          <p:spPr bwMode="auto">
            <a:xfrm>
              <a:off x="65646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2" name="Line 39"/>
            <p:cNvSpPr>
              <a:spLocks noChangeShapeType="1"/>
            </p:cNvSpPr>
            <p:nvPr/>
          </p:nvSpPr>
          <p:spPr bwMode="auto">
            <a:xfrm>
              <a:off x="67202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3" name="Line 40"/>
            <p:cNvSpPr>
              <a:spLocks noChangeShapeType="1"/>
            </p:cNvSpPr>
            <p:nvPr/>
          </p:nvSpPr>
          <p:spPr bwMode="auto">
            <a:xfrm>
              <a:off x="68758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4" name="Line 41"/>
            <p:cNvSpPr>
              <a:spLocks noChangeShapeType="1"/>
            </p:cNvSpPr>
            <p:nvPr/>
          </p:nvSpPr>
          <p:spPr bwMode="auto">
            <a:xfrm>
              <a:off x="70314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Line 42"/>
            <p:cNvSpPr>
              <a:spLocks noChangeShapeType="1"/>
            </p:cNvSpPr>
            <p:nvPr/>
          </p:nvSpPr>
          <p:spPr bwMode="auto">
            <a:xfrm>
              <a:off x="71869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6" name="Line 43"/>
            <p:cNvSpPr>
              <a:spLocks noChangeShapeType="1"/>
            </p:cNvSpPr>
            <p:nvPr/>
          </p:nvSpPr>
          <p:spPr bwMode="auto">
            <a:xfrm>
              <a:off x="73425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7" name="Line 44"/>
            <p:cNvSpPr>
              <a:spLocks noChangeShapeType="1"/>
            </p:cNvSpPr>
            <p:nvPr/>
          </p:nvSpPr>
          <p:spPr bwMode="auto">
            <a:xfrm>
              <a:off x="74981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8" name="Line 45"/>
            <p:cNvSpPr>
              <a:spLocks noChangeShapeType="1"/>
            </p:cNvSpPr>
            <p:nvPr/>
          </p:nvSpPr>
          <p:spPr bwMode="auto">
            <a:xfrm>
              <a:off x="76537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Line 46"/>
            <p:cNvSpPr>
              <a:spLocks noChangeShapeType="1"/>
            </p:cNvSpPr>
            <p:nvPr/>
          </p:nvSpPr>
          <p:spPr bwMode="auto">
            <a:xfrm>
              <a:off x="78092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0" name="Line 47"/>
            <p:cNvSpPr>
              <a:spLocks noChangeShapeType="1"/>
            </p:cNvSpPr>
            <p:nvPr/>
          </p:nvSpPr>
          <p:spPr bwMode="auto">
            <a:xfrm>
              <a:off x="79648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1" name="Line 48"/>
            <p:cNvSpPr>
              <a:spLocks noChangeShapeType="1"/>
            </p:cNvSpPr>
            <p:nvPr/>
          </p:nvSpPr>
          <p:spPr bwMode="auto">
            <a:xfrm>
              <a:off x="812044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2" name="Line 49"/>
            <p:cNvSpPr>
              <a:spLocks noChangeShapeType="1"/>
            </p:cNvSpPr>
            <p:nvPr/>
          </p:nvSpPr>
          <p:spPr bwMode="auto">
            <a:xfrm>
              <a:off x="827601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3" name="Line 50"/>
            <p:cNvSpPr>
              <a:spLocks noChangeShapeType="1"/>
            </p:cNvSpPr>
            <p:nvPr/>
          </p:nvSpPr>
          <p:spPr bwMode="auto">
            <a:xfrm>
              <a:off x="843159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4" name="Line 51"/>
            <p:cNvSpPr>
              <a:spLocks noChangeShapeType="1"/>
            </p:cNvSpPr>
            <p:nvPr/>
          </p:nvSpPr>
          <p:spPr bwMode="auto">
            <a:xfrm>
              <a:off x="85871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5" name="Rectangle 52"/>
            <p:cNvSpPr>
              <a:spLocks noChangeArrowheads="1"/>
            </p:cNvSpPr>
            <p:nvPr/>
          </p:nvSpPr>
          <p:spPr bwMode="auto">
            <a:xfrm>
              <a:off x="13529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6" name="Rectangle 53"/>
            <p:cNvSpPr>
              <a:spLocks noChangeArrowheads="1"/>
            </p:cNvSpPr>
            <p:nvPr/>
          </p:nvSpPr>
          <p:spPr bwMode="auto">
            <a:xfrm>
              <a:off x="19752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7" name="Rectangle 54"/>
            <p:cNvSpPr>
              <a:spLocks noChangeArrowheads="1"/>
            </p:cNvSpPr>
            <p:nvPr/>
          </p:nvSpPr>
          <p:spPr bwMode="auto">
            <a:xfrm>
              <a:off x="25975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Rectangle 55"/>
            <p:cNvSpPr>
              <a:spLocks noChangeArrowheads="1"/>
            </p:cNvSpPr>
            <p:nvPr/>
          </p:nvSpPr>
          <p:spPr bwMode="auto">
            <a:xfrm>
              <a:off x="32198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9" name="Rectangle 56"/>
            <p:cNvSpPr>
              <a:spLocks noChangeArrowheads="1"/>
            </p:cNvSpPr>
            <p:nvPr/>
          </p:nvSpPr>
          <p:spPr bwMode="auto">
            <a:xfrm>
              <a:off x="38421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0" name="Rectangle 57"/>
            <p:cNvSpPr>
              <a:spLocks noChangeArrowheads="1"/>
            </p:cNvSpPr>
            <p:nvPr/>
          </p:nvSpPr>
          <p:spPr bwMode="auto">
            <a:xfrm>
              <a:off x="4464429"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1" name="Rectangle 58"/>
            <p:cNvSpPr>
              <a:spLocks noChangeArrowheads="1"/>
            </p:cNvSpPr>
            <p:nvPr/>
          </p:nvSpPr>
          <p:spPr bwMode="auto">
            <a:xfrm>
              <a:off x="5172454" y="4224401"/>
              <a:ext cx="381000"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2" name="Rectangle 59"/>
            <p:cNvSpPr>
              <a:spLocks noChangeArrowheads="1"/>
            </p:cNvSpPr>
            <p:nvPr/>
          </p:nvSpPr>
          <p:spPr bwMode="auto">
            <a:xfrm>
              <a:off x="57090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3" name="Rectangle 60"/>
            <p:cNvSpPr>
              <a:spLocks noChangeArrowheads="1"/>
            </p:cNvSpPr>
            <p:nvPr/>
          </p:nvSpPr>
          <p:spPr bwMode="auto">
            <a:xfrm>
              <a:off x="63313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4" name="Rectangle 61"/>
            <p:cNvSpPr>
              <a:spLocks noChangeArrowheads="1"/>
            </p:cNvSpPr>
            <p:nvPr/>
          </p:nvSpPr>
          <p:spPr bwMode="auto">
            <a:xfrm>
              <a:off x="69536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5" name="Rectangle 62"/>
            <p:cNvSpPr>
              <a:spLocks noChangeArrowheads="1"/>
            </p:cNvSpPr>
            <p:nvPr/>
          </p:nvSpPr>
          <p:spPr bwMode="auto">
            <a:xfrm>
              <a:off x="75759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6" name="Rectangle 63"/>
            <p:cNvSpPr>
              <a:spLocks noChangeArrowheads="1"/>
            </p:cNvSpPr>
            <p:nvPr/>
          </p:nvSpPr>
          <p:spPr bwMode="auto">
            <a:xfrm>
              <a:off x="8198231"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7" name="Rectangle 64"/>
            <p:cNvSpPr>
              <a:spLocks noChangeArrowheads="1"/>
            </p:cNvSpPr>
            <p:nvPr/>
          </p:nvSpPr>
          <p:spPr bwMode="auto">
            <a:xfrm>
              <a:off x="1819652"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8" name="Rectangle 65"/>
            <p:cNvSpPr>
              <a:spLocks noChangeArrowheads="1"/>
            </p:cNvSpPr>
            <p:nvPr/>
          </p:nvSpPr>
          <p:spPr bwMode="auto">
            <a:xfrm>
              <a:off x="30642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9" name="Rectangle 66"/>
            <p:cNvSpPr>
              <a:spLocks noChangeArrowheads="1"/>
            </p:cNvSpPr>
            <p:nvPr/>
          </p:nvSpPr>
          <p:spPr bwMode="auto">
            <a:xfrm>
              <a:off x="43215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0" name="Rectangle 67"/>
            <p:cNvSpPr>
              <a:spLocks noChangeArrowheads="1"/>
            </p:cNvSpPr>
            <p:nvPr/>
          </p:nvSpPr>
          <p:spPr bwMode="auto">
            <a:xfrm>
              <a:off x="55407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1" name="Rectangle 68"/>
            <p:cNvSpPr>
              <a:spLocks noChangeArrowheads="1"/>
            </p:cNvSpPr>
            <p:nvPr/>
          </p:nvSpPr>
          <p:spPr bwMode="auto">
            <a:xfrm>
              <a:off x="67599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2" name="Rectangle 69"/>
            <p:cNvSpPr>
              <a:spLocks noChangeArrowheads="1"/>
            </p:cNvSpPr>
            <p:nvPr/>
          </p:nvSpPr>
          <p:spPr bwMode="auto">
            <a:xfrm>
              <a:off x="8082342"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3" name="Rectangle 70"/>
            <p:cNvSpPr>
              <a:spLocks noChangeArrowheads="1"/>
            </p:cNvSpPr>
            <p:nvPr/>
          </p:nvSpPr>
          <p:spPr bwMode="auto">
            <a:xfrm>
              <a:off x="3764340" y="2852803"/>
              <a:ext cx="4965702"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4" name="Line 71"/>
            <p:cNvSpPr>
              <a:spLocks noChangeShapeType="1"/>
            </p:cNvSpPr>
            <p:nvPr/>
          </p:nvSpPr>
          <p:spPr bwMode="auto">
            <a:xfrm>
              <a:off x="3919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5" name="Line 72"/>
            <p:cNvSpPr>
              <a:spLocks noChangeShapeType="1"/>
            </p:cNvSpPr>
            <p:nvPr/>
          </p:nvSpPr>
          <p:spPr bwMode="auto">
            <a:xfrm>
              <a:off x="40754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6" name="Line 73"/>
            <p:cNvSpPr>
              <a:spLocks noChangeShapeType="1"/>
            </p:cNvSpPr>
            <p:nvPr/>
          </p:nvSpPr>
          <p:spPr bwMode="auto">
            <a:xfrm>
              <a:off x="4229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Line 74"/>
            <p:cNvSpPr>
              <a:spLocks noChangeShapeType="1"/>
            </p:cNvSpPr>
            <p:nvPr/>
          </p:nvSpPr>
          <p:spPr bwMode="auto">
            <a:xfrm>
              <a:off x="438505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8" name="Line 75"/>
            <p:cNvSpPr>
              <a:spLocks noChangeShapeType="1"/>
            </p:cNvSpPr>
            <p:nvPr/>
          </p:nvSpPr>
          <p:spPr bwMode="auto">
            <a:xfrm>
              <a:off x="454062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9" name="Line 76"/>
            <p:cNvSpPr>
              <a:spLocks noChangeShapeType="1"/>
            </p:cNvSpPr>
            <p:nvPr/>
          </p:nvSpPr>
          <p:spPr bwMode="auto">
            <a:xfrm>
              <a:off x="469620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0" name="Line 77"/>
            <p:cNvSpPr>
              <a:spLocks noChangeShapeType="1"/>
            </p:cNvSpPr>
            <p:nvPr/>
          </p:nvSpPr>
          <p:spPr bwMode="auto">
            <a:xfrm>
              <a:off x="48501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1" name="Line 78"/>
            <p:cNvSpPr>
              <a:spLocks noChangeShapeType="1"/>
            </p:cNvSpPr>
            <p:nvPr/>
          </p:nvSpPr>
          <p:spPr bwMode="auto">
            <a:xfrm>
              <a:off x="5005764" y="2852806"/>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2" name="Line 79"/>
            <p:cNvSpPr>
              <a:spLocks noChangeShapeType="1"/>
            </p:cNvSpPr>
            <p:nvPr/>
          </p:nvSpPr>
          <p:spPr bwMode="auto">
            <a:xfrm>
              <a:off x="516134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3" name="Rectangle 80"/>
            <p:cNvSpPr>
              <a:spLocks noChangeArrowheads="1"/>
            </p:cNvSpPr>
            <p:nvPr/>
          </p:nvSpPr>
          <p:spPr bwMode="auto">
            <a:xfrm>
              <a:off x="5161341" y="2871853"/>
              <a:ext cx="3562351" cy="428624"/>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84" name="Line 81"/>
            <p:cNvSpPr>
              <a:spLocks noChangeShapeType="1"/>
            </p:cNvSpPr>
            <p:nvPr/>
          </p:nvSpPr>
          <p:spPr bwMode="auto">
            <a:xfrm>
              <a:off x="5316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5" name="Line 82"/>
            <p:cNvSpPr>
              <a:spLocks noChangeShapeType="1"/>
            </p:cNvSpPr>
            <p:nvPr/>
          </p:nvSpPr>
          <p:spPr bwMode="auto">
            <a:xfrm>
              <a:off x="5470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6" name="Line 83"/>
            <p:cNvSpPr>
              <a:spLocks noChangeShapeType="1"/>
            </p:cNvSpPr>
            <p:nvPr/>
          </p:nvSpPr>
          <p:spPr bwMode="auto">
            <a:xfrm>
              <a:off x="562648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7" name="Line 84"/>
            <p:cNvSpPr>
              <a:spLocks noChangeShapeType="1"/>
            </p:cNvSpPr>
            <p:nvPr/>
          </p:nvSpPr>
          <p:spPr bwMode="auto">
            <a:xfrm>
              <a:off x="578205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8" name="Line 85"/>
            <p:cNvSpPr>
              <a:spLocks noChangeShapeType="1"/>
            </p:cNvSpPr>
            <p:nvPr/>
          </p:nvSpPr>
          <p:spPr bwMode="auto">
            <a:xfrm>
              <a:off x="593762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9" name="Line 86"/>
            <p:cNvSpPr>
              <a:spLocks noChangeShapeType="1"/>
            </p:cNvSpPr>
            <p:nvPr/>
          </p:nvSpPr>
          <p:spPr bwMode="auto">
            <a:xfrm>
              <a:off x="60916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0" name="Line 87"/>
            <p:cNvSpPr>
              <a:spLocks noChangeShapeType="1"/>
            </p:cNvSpPr>
            <p:nvPr/>
          </p:nvSpPr>
          <p:spPr bwMode="auto">
            <a:xfrm>
              <a:off x="6247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88"/>
            <p:cNvSpPr>
              <a:spLocks noChangeShapeType="1"/>
            </p:cNvSpPr>
            <p:nvPr/>
          </p:nvSpPr>
          <p:spPr bwMode="auto">
            <a:xfrm>
              <a:off x="640276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Line 89"/>
            <p:cNvSpPr>
              <a:spLocks noChangeShapeType="1"/>
            </p:cNvSpPr>
            <p:nvPr/>
          </p:nvSpPr>
          <p:spPr bwMode="auto">
            <a:xfrm>
              <a:off x="65583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3" name="Line 90"/>
            <p:cNvSpPr>
              <a:spLocks noChangeShapeType="1"/>
            </p:cNvSpPr>
            <p:nvPr/>
          </p:nvSpPr>
          <p:spPr bwMode="auto">
            <a:xfrm>
              <a:off x="671233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4" name="Line 91"/>
            <p:cNvSpPr>
              <a:spLocks noChangeShapeType="1"/>
            </p:cNvSpPr>
            <p:nvPr/>
          </p:nvSpPr>
          <p:spPr bwMode="auto">
            <a:xfrm>
              <a:off x="6867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5" name="Line 92"/>
            <p:cNvSpPr>
              <a:spLocks noChangeShapeType="1"/>
            </p:cNvSpPr>
            <p:nvPr/>
          </p:nvSpPr>
          <p:spPr bwMode="auto">
            <a:xfrm>
              <a:off x="7023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6" name="Line 93"/>
            <p:cNvSpPr>
              <a:spLocks noChangeShapeType="1"/>
            </p:cNvSpPr>
            <p:nvPr/>
          </p:nvSpPr>
          <p:spPr bwMode="auto">
            <a:xfrm>
              <a:off x="71790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7" name="Line 94"/>
            <p:cNvSpPr>
              <a:spLocks noChangeShapeType="1"/>
            </p:cNvSpPr>
            <p:nvPr/>
          </p:nvSpPr>
          <p:spPr bwMode="auto">
            <a:xfrm>
              <a:off x="73330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8" name="Line 95"/>
            <p:cNvSpPr>
              <a:spLocks noChangeShapeType="1"/>
            </p:cNvSpPr>
            <p:nvPr/>
          </p:nvSpPr>
          <p:spPr bwMode="auto">
            <a:xfrm>
              <a:off x="748861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9" name="Line 96"/>
            <p:cNvSpPr>
              <a:spLocks noChangeShapeType="1"/>
            </p:cNvSpPr>
            <p:nvPr/>
          </p:nvSpPr>
          <p:spPr bwMode="auto">
            <a:xfrm>
              <a:off x="7644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0" name="Line 97"/>
            <p:cNvSpPr>
              <a:spLocks noChangeShapeType="1"/>
            </p:cNvSpPr>
            <p:nvPr/>
          </p:nvSpPr>
          <p:spPr bwMode="auto">
            <a:xfrm>
              <a:off x="77997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1" name="Line 98"/>
            <p:cNvSpPr>
              <a:spLocks noChangeShapeType="1"/>
            </p:cNvSpPr>
            <p:nvPr/>
          </p:nvSpPr>
          <p:spPr bwMode="auto">
            <a:xfrm>
              <a:off x="79537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2" name="Line 99"/>
            <p:cNvSpPr>
              <a:spLocks noChangeShapeType="1"/>
            </p:cNvSpPr>
            <p:nvPr/>
          </p:nvSpPr>
          <p:spPr bwMode="auto">
            <a:xfrm>
              <a:off x="810933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3" name="Line 100"/>
            <p:cNvSpPr>
              <a:spLocks noChangeShapeType="1"/>
            </p:cNvSpPr>
            <p:nvPr/>
          </p:nvSpPr>
          <p:spPr bwMode="auto">
            <a:xfrm>
              <a:off x="826490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4" name="Line 101"/>
            <p:cNvSpPr>
              <a:spLocks noChangeShapeType="1"/>
            </p:cNvSpPr>
            <p:nvPr/>
          </p:nvSpPr>
          <p:spPr bwMode="auto">
            <a:xfrm>
              <a:off x="842048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5" name="Line 102"/>
            <p:cNvSpPr>
              <a:spLocks noChangeShapeType="1"/>
            </p:cNvSpPr>
            <p:nvPr/>
          </p:nvSpPr>
          <p:spPr bwMode="auto">
            <a:xfrm>
              <a:off x="85744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6" name="Rectangle 103"/>
            <p:cNvSpPr>
              <a:spLocks noChangeArrowheads="1"/>
            </p:cNvSpPr>
            <p:nvPr/>
          </p:nvSpPr>
          <p:spPr bwMode="auto">
            <a:xfrm>
              <a:off x="3842128" y="2929003"/>
              <a:ext cx="465138"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7" name="Rectangle 104"/>
            <p:cNvSpPr>
              <a:spLocks noChangeArrowheads="1"/>
            </p:cNvSpPr>
            <p:nvPr/>
          </p:nvSpPr>
          <p:spPr bwMode="auto">
            <a:xfrm>
              <a:off x="5159754" y="2929003"/>
              <a:ext cx="388937"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08" name="Rectangle 105"/>
            <p:cNvSpPr>
              <a:spLocks noChangeArrowheads="1"/>
            </p:cNvSpPr>
            <p:nvPr/>
          </p:nvSpPr>
          <p:spPr bwMode="auto">
            <a:xfrm>
              <a:off x="4462840" y="2929003"/>
              <a:ext cx="599213"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9" name="Rectangle 106"/>
            <p:cNvSpPr>
              <a:spLocks noChangeArrowheads="1"/>
            </p:cNvSpPr>
            <p:nvPr/>
          </p:nvSpPr>
          <p:spPr bwMode="auto">
            <a:xfrm>
              <a:off x="5704266"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0" name="Rectangle 107"/>
            <p:cNvSpPr>
              <a:spLocks noChangeArrowheads="1"/>
            </p:cNvSpPr>
            <p:nvPr/>
          </p:nvSpPr>
          <p:spPr bwMode="auto">
            <a:xfrm>
              <a:off x="6324980"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1" name="Rectangle 108"/>
            <p:cNvSpPr>
              <a:spLocks noChangeArrowheads="1"/>
            </p:cNvSpPr>
            <p:nvPr/>
          </p:nvSpPr>
          <p:spPr bwMode="auto">
            <a:xfrm>
              <a:off x="6945691"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2" name="Rectangle 109"/>
            <p:cNvSpPr>
              <a:spLocks noChangeArrowheads="1"/>
            </p:cNvSpPr>
            <p:nvPr/>
          </p:nvSpPr>
          <p:spPr bwMode="auto">
            <a:xfrm>
              <a:off x="7566405"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3" name="Rectangle 110"/>
            <p:cNvSpPr>
              <a:spLocks noChangeArrowheads="1"/>
            </p:cNvSpPr>
            <p:nvPr/>
          </p:nvSpPr>
          <p:spPr bwMode="auto">
            <a:xfrm>
              <a:off x="8187118"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4" name="Rectangle 111"/>
            <p:cNvSpPr>
              <a:spLocks noChangeArrowheads="1"/>
            </p:cNvSpPr>
            <p:nvPr/>
          </p:nvSpPr>
          <p:spPr bwMode="auto">
            <a:xfrm>
              <a:off x="4319966" y="2967103"/>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5" name="Rectangle 112"/>
            <p:cNvSpPr>
              <a:spLocks noChangeArrowheads="1"/>
            </p:cNvSpPr>
            <p:nvPr/>
          </p:nvSpPr>
          <p:spPr bwMode="auto">
            <a:xfrm>
              <a:off x="5535991" y="2967103"/>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6" name="Rectangle 113"/>
            <p:cNvSpPr>
              <a:spLocks noChangeArrowheads="1"/>
            </p:cNvSpPr>
            <p:nvPr/>
          </p:nvSpPr>
          <p:spPr bwMode="auto">
            <a:xfrm>
              <a:off x="6752017" y="2967103"/>
              <a:ext cx="153988"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7" name="Rectangle 114"/>
            <p:cNvSpPr>
              <a:spLocks noChangeArrowheads="1"/>
            </p:cNvSpPr>
            <p:nvPr/>
          </p:nvSpPr>
          <p:spPr bwMode="auto">
            <a:xfrm>
              <a:off x="8071230" y="2967103"/>
              <a:ext cx="153987"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21" name="Text Box 118"/>
            <p:cNvSpPr txBox="1">
              <a:spLocks noChangeArrowheads="1"/>
            </p:cNvSpPr>
            <p:nvPr/>
          </p:nvSpPr>
          <p:spPr bwMode="auto">
            <a:xfrm>
              <a:off x="4914947" y="4188850"/>
              <a:ext cx="354489"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0</a:t>
              </a:r>
            </a:p>
          </p:txBody>
        </p:sp>
        <p:sp>
          <p:nvSpPr>
            <p:cNvPr id="123" name="Line 120"/>
            <p:cNvSpPr>
              <a:spLocks noChangeShapeType="1"/>
            </p:cNvSpPr>
            <p:nvPr/>
          </p:nvSpPr>
          <p:spPr bwMode="auto">
            <a:xfrm>
              <a:off x="5161341"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4" name="Line 121"/>
            <p:cNvSpPr>
              <a:spLocks noChangeShapeType="1"/>
            </p:cNvSpPr>
            <p:nvPr/>
          </p:nvSpPr>
          <p:spPr bwMode="auto">
            <a:xfrm>
              <a:off x="8742743"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5" name="Text Box 122"/>
            <p:cNvSpPr txBox="1">
              <a:spLocks noChangeArrowheads="1"/>
            </p:cNvSpPr>
            <p:nvPr/>
          </p:nvSpPr>
          <p:spPr bwMode="auto">
            <a:xfrm>
              <a:off x="3643775"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26" name="Text Box 123"/>
            <p:cNvSpPr txBox="1">
              <a:spLocks noChangeArrowheads="1"/>
            </p:cNvSpPr>
            <p:nvPr/>
          </p:nvSpPr>
          <p:spPr bwMode="auto">
            <a:xfrm>
              <a:off x="4888376"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8</a:t>
              </a:r>
            </a:p>
          </p:txBody>
        </p:sp>
        <p:sp>
          <p:nvSpPr>
            <p:cNvPr id="127" name="Text Box 124"/>
            <p:cNvSpPr txBox="1">
              <a:spLocks noChangeArrowheads="1"/>
            </p:cNvSpPr>
            <p:nvPr/>
          </p:nvSpPr>
          <p:spPr bwMode="auto">
            <a:xfrm>
              <a:off x="6120275"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16</a:t>
              </a:r>
            </a:p>
          </p:txBody>
        </p:sp>
        <p:sp>
          <p:nvSpPr>
            <p:cNvPr id="128" name="Text Box 125"/>
            <p:cNvSpPr txBox="1">
              <a:spLocks noChangeArrowheads="1"/>
            </p:cNvSpPr>
            <p:nvPr/>
          </p:nvSpPr>
          <p:spPr bwMode="auto">
            <a:xfrm>
              <a:off x="7339478"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24</a:t>
              </a:r>
            </a:p>
          </p:txBody>
        </p:sp>
        <p:sp>
          <p:nvSpPr>
            <p:cNvPr id="129" name="Text Box 126"/>
            <p:cNvSpPr txBox="1">
              <a:spLocks noChangeArrowheads="1"/>
            </p:cNvSpPr>
            <p:nvPr/>
          </p:nvSpPr>
          <p:spPr bwMode="auto">
            <a:xfrm>
              <a:off x="8418979"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31</a:t>
              </a:r>
            </a:p>
          </p:txBody>
        </p:sp>
        <p:sp>
          <p:nvSpPr>
            <p:cNvPr id="130" name="Text Box 127"/>
            <p:cNvSpPr txBox="1">
              <a:spLocks noChangeArrowheads="1"/>
            </p:cNvSpPr>
            <p:nvPr/>
          </p:nvSpPr>
          <p:spPr bwMode="auto">
            <a:xfrm>
              <a:off x="2014720" y="2876543"/>
              <a:ext cx="1445666"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D </a:t>
              </a:r>
              <a:r>
                <a:rPr kumimoji="1" lang="zh-CN" altLang="zh-CN" sz="1400" b="1" dirty="0">
                  <a:latin typeface="微软雅黑" pitchFamily="34" charset="-122"/>
                  <a:ea typeface="微软雅黑" pitchFamily="34" charset="-122"/>
                </a:rPr>
                <a:t>类 </a:t>
              </a:r>
              <a:r>
                <a:rPr kumimoji="1" lang="en-US" altLang="zh-CN" sz="1400" b="1" dirty="0">
                  <a:latin typeface="微软雅黑" pitchFamily="34" charset="-122"/>
                  <a:ea typeface="微软雅黑" pitchFamily="34" charset="-122"/>
                </a:rPr>
                <a:t>IP </a:t>
              </a:r>
              <a:r>
                <a:rPr kumimoji="1" lang="zh-CN" altLang="zh-CN" sz="1400" b="1" dirty="0">
                  <a:latin typeface="微软雅黑" pitchFamily="34" charset="-122"/>
                  <a:ea typeface="微软雅黑" pitchFamily="34" charset="-122"/>
                </a:rPr>
                <a:t>地址</a:t>
              </a:r>
              <a:endParaRPr kumimoji="1" lang="zh-CN" altLang="en-US" sz="1400" b="1" dirty="0">
                <a:latin typeface="微软雅黑" pitchFamily="34" charset="-122"/>
                <a:ea typeface="微软雅黑" pitchFamily="34" charset="-122"/>
              </a:endParaRPr>
            </a:p>
          </p:txBody>
        </p:sp>
        <p:sp>
          <p:nvSpPr>
            <p:cNvPr id="131" name="Line 128"/>
            <p:cNvSpPr>
              <a:spLocks noChangeShapeType="1"/>
            </p:cNvSpPr>
            <p:nvPr/>
          </p:nvSpPr>
          <p:spPr bwMode="auto">
            <a:xfrm flipV="1">
              <a:off x="4386641" y="2395604"/>
              <a:ext cx="0" cy="38100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2" name="Line 129"/>
            <p:cNvSpPr>
              <a:spLocks noChangeShapeType="1"/>
            </p:cNvSpPr>
            <p:nvPr/>
          </p:nvSpPr>
          <p:spPr bwMode="auto">
            <a:xfrm flipV="1">
              <a:off x="5161341" y="2395604"/>
              <a:ext cx="0" cy="90804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3" name="Line 130"/>
            <p:cNvSpPr>
              <a:spLocks noChangeShapeType="1"/>
            </p:cNvSpPr>
            <p:nvPr/>
          </p:nvSpPr>
          <p:spPr bwMode="auto">
            <a:xfrm>
              <a:off x="4399341" y="2471803"/>
              <a:ext cx="762001"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4" name="Line 131"/>
            <p:cNvSpPr>
              <a:spLocks noChangeShapeType="1"/>
            </p:cNvSpPr>
            <p:nvPr/>
          </p:nvSpPr>
          <p:spPr bwMode="auto">
            <a:xfrm>
              <a:off x="5170866" y="4870513"/>
              <a:ext cx="3581402"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5" name="Text Box 133"/>
            <p:cNvSpPr txBox="1">
              <a:spLocks noChangeArrowheads="1"/>
            </p:cNvSpPr>
            <p:nvPr/>
          </p:nvSpPr>
          <p:spPr bwMode="auto">
            <a:xfrm>
              <a:off x="5222330" y="2040738"/>
              <a:ext cx="1559210" cy="369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这</a:t>
              </a:r>
              <a:r>
                <a:rPr kumimoji="1" lang="zh-CN" altLang="zh-CN" sz="1400" b="1" dirty="0">
                  <a:solidFill>
                    <a:srgbClr val="C00000"/>
                  </a:solidFill>
                  <a:latin typeface="微软雅黑" pitchFamily="34" charset="-122"/>
                  <a:ea typeface="微软雅黑" pitchFamily="34" charset="-122"/>
                </a:rPr>
                <a:t> 5</a:t>
              </a:r>
              <a:r>
                <a:rPr kumimoji="1" lang="en-US" altLang="zh-CN" sz="1400" b="1" dirty="0">
                  <a:solidFill>
                    <a:srgbClr val="C00000"/>
                  </a:solidFill>
                  <a:latin typeface="微软雅黑" pitchFamily="34" charset="-122"/>
                  <a:ea typeface="微软雅黑" pitchFamily="34" charset="-122"/>
                </a:rPr>
                <a:t> </a:t>
              </a:r>
              <a:r>
                <a:rPr kumimoji="1" lang="zh-CN" altLang="en-US" sz="1400" b="1" dirty="0">
                  <a:solidFill>
                    <a:srgbClr val="C00000"/>
                  </a:solidFill>
                  <a:latin typeface="微软雅黑" pitchFamily="34" charset="-122"/>
                  <a:ea typeface="微软雅黑" pitchFamily="34" charset="-122"/>
                </a:rPr>
                <a:t>位不使用</a:t>
              </a:r>
            </a:p>
          </p:txBody>
        </p:sp>
        <p:sp>
          <p:nvSpPr>
            <p:cNvPr id="136" name="Arc 134"/>
            <p:cNvSpPr>
              <a:spLocks/>
            </p:cNvSpPr>
            <p:nvPr/>
          </p:nvSpPr>
          <p:spPr bwMode="auto">
            <a:xfrm flipH="1">
              <a:off x="4781929" y="2243204"/>
              <a:ext cx="498475" cy="228600"/>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7" name="Line 135"/>
            <p:cNvSpPr>
              <a:spLocks noChangeShapeType="1"/>
            </p:cNvSpPr>
            <p:nvPr/>
          </p:nvSpPr>
          <p:spPr bwMode="auto">
            <a:xfrm>
              <a:off x="1275139" y="4681601"/>
              <a:ext cx="0" cy="7413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8" name="Line 136"/>
            <p:cNvSpPr>
              <a:spLocks noChangeShapeType="1"/>
            </p:cNvSpPr>
            <p:nvPr/>
          </p:nvSpPr>
          <p:spPr bwMode="auto">
            <a:xfrm flipH="1">
              <a:off x="8737981" y="4681601"/>
              <a:ext cx="4763" cy="6905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9" name="Line 137"/>
            <p:cNvSpPr>
              <a:spLocks noChangeShapeType="1"/>
            </p:cNvSpPr>
            <p:nvPr/>
          </p:nvSpPr>
          <p:spPr bwMode="auto">
            <a:xfrm>
              <a:off x="1287840" y="5245163"/>
              <a:ext cx="746760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0" name="Text Box 138"/>
            <p:cNvSpPr txBox="1">
              <a:spLocks noChangeArrowheads="1"/>
            </p:cNvSpPr>
            <p:nvPr/>
          </p:nvSpPr>
          <p:spPr bwMode="auto">
            <a:xfrm>
              <a:off x="4057608" y="5082042"/>
              <a:ext cx="1613096"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b="1" dirty="0">
                  <a:solidFill>
                    <a:srgbClr val="0000FF"/>
                  </a:solidFill>
                  <a:latin typeface="微软雅黑" pitchFamily="34" charset="-122"/>
                  <a:ea typeface="微软雅黑" pitchFamily="34" charset="-122"/>
                </a:rPr>
                <a:t>48 </a:t>
              </a:r>
              <a:r>
                <a:rPr kumimoji="1" lang="zh-CN" altLang="en-US" sz="1200" b="1" dirty="0">
                  <a:solidFill>
                    <a:srgbClr val="0000FF"/>
                  </a:solidFill>
                  <a:latin typeface="微软雅黑" pitchFamily="34" charset="-122"/>
                  <a:ea typeface="微软雅黑" pitchFamily="34" charset="-122"/>
                </a:rPr>
                <a:t>位</a:t>
              </a:r>
              <a:r>
                <a:rPr kumimoji="1" lang="zh-CN" altLang="zh-CN" sz="1200" b="1" dirty="0">
                  <a:solidFill>
                    <a:srgbClr val="0000FF"/>
                  </a:solidFill>
                  <a:latin typeface="微软雅黑" pitchFamily="34" charset="-122"/>
                  <a:ea typeface="微软雅黑" pitchFamily="34" charset="-122"/>
                </a:rPr>
                <a:t>以太网地址</a:t>
              </a:r>
              <a:endParaRPr kumimoji="1" lang="zh-CN" altLang="en-US" sz="1200" b="1" dirty="0">
                <a:solidFill>
                  <a:srgbClr val="0000FF"/>
                </a:solidFill>
                <a:latin typeface="微软雅黑" pitchFamily="34" charset="-122"/>
                <a:ea typeface="微软雅黑" pitchFamily="34" charset="-122"/>
              </a:endParaRPr>
            </a:p>
          </p:txBody>
        </p:sp>
        <p:sp>
          <p:nvSpPr>
            <p:cNvPr id="141" name="Text Box 139"/>
            <p:cNvSpPr txBox="1">
              <a:spLocks noChangeArrowheads="1"/>
            </p:cNvSpPr>
            <p:nvPr/>
          </p:nvSpPr>
          <p:spPr bwMode="auto">
            <a:xfrm>
              <a:off x="1448177" y="3754504"/>
              <a:ext cx="3389387" cy="406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latin typeface="微软雅黑" pitchFamily="34" charset="-122"/>
                  <a:ea typeface="微软雅黑" pitchFamily="34" charset="-122"/>
                </a:rPr>
                <a:t>0      1      0      0       5      E</a:t>
              </a:r>
            </a:p>
          </p:txBody>
        </p:sp>
        <p:sp>
          <p:nvSpPr>
            <p:cNvPr id="142" name="Text Box 140"/>
            <p:cNvSpPr txBox="1">
              <a:spLocks noChangeArrowheads="1"/>
            </p:cNvSpPr>
            <p:nvPr/>
          </p:nvSpPr>
          <p:spPr bwMode="auto">
            <a:xfrm>
              <a:off x="1879468" y="4737470"/>
              <a:ext cx="1083864"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99"/>
                  </a:solidFill>
                  <a:latin typeface="微软雅黑" pitchFamily="34" charset="-122"/>
                  <a:ea typeface="微软雅黑" pitchFamily="34" charset="-122"/>
                </a:rPr>
                <a:t>表示多播</a:t>
              </a:r>
            </a:p>
          </p:txBody>
        </p:sp>
        <p:sp>
          <p:nvSpPr>
            <p:cNvPr id="143" name="Line 141"/>
            <p:cNvSpPr>
              <a:spLocks noChangeShapeType="1"/>
            </p:cNvSpPr>
            <p:nvPr/>
          </p:nvSpPr>
          <p:spPr bwMode="auto">
            <a:xfrm flipH="1" flipV="1">
              <a:off x="2455161" y="4503803"/>
              <a:ext cx="6350" cy="282575"/>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44" name="Text Box 132"/>
            <p:cNvSpPr txBox="1">
              <a:spLocks noChangeArrowheads="1"/>
            </p:cNvSpPr>
            <p:nvPr/>
          </p:nvSpPr>
          <p:spPr bwMode="auto">
            <a:xfrm>
              <a:off x="5719249" y="4683193"/>
              <a:ext cx="2590729"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最</a:t>
              </a:r>
              <a:r>
                <a:rPr kumimoji="1" lang="zh-CN" altLang="zh-CN" sz="1200" b="1">
                  <a:solidFill>
                    <a:srgbClr val="0000FF"/>
                  </a:solidFill>
                  <a:latin typeface="微软雅黑" pitchFamily="34" charset="-122"/>
                  <a:ea typeface="微软雅黑" pitchFamily="34" charset="-122"/>
                </a:rPr>
                <a:t>低 23</a:t>
              </a:r>
              <a:r>
                <a:rPr kumimoji="1" lang="en-US" altLang="zh-CN" sz="1200" b="1">
                  <a:solidFill>
                    <a:srgbClr val="0000FF"/>
                  </a:solidFill>
                  <a:latin typeface="微软雅黑" pitchFamily="34" charset="-122"/>
                  <a:ea typeface="微软雅黑" pitchFamily="34" charset="-122"/>
                </a:rPr>
                <a:t> </a:t>
              </a:r>
              <a:r>
                <a:rPr kumimoji="1" lang="zh-CN" altLang="en-US" sz="1200" b="1">
                  <a:solidFill>
                    <a:srgbClr val="0000FF"/>
                  </a:solidFill>
                  <a:latin typeface="微软雅黑" pitchFamily="34" charset="-122"/>
                  <a:ea typeface="微软雅黑" pitchFamily="34" charset="-122"/>
                </a:rPr>
                <a:t>位来自 </a:t>
              </a:r>
              <a:r>
                <a:rPr kumimoji="1" lang="en-US" altLang="zh-CN" sz="1200" b="1">
                  <a:solidFill>
                    <a:srgbClr val="0000FF"/>
                  </a:solidFill>
                  <a:latin typeface="微软雅黑" pitchFamily="34" charset="-122"/>
                  <a:ea typeface="微软雅黑" pitchFamily="34" charset="-122"/>
                </a:rPr>
                <a:t>D </a:t>
              </a:r>
              <a:r>
                <a:rPr kumimoji="1" lang="zh-CN" altLang="en-US" sz="1200" b="1">
                  <a:solidFill>
                    <a:srgbClr val="0000FF"/>
                  </a:solidFill>
                  <a:latin typeface="微软雅黑" pitchFamily="34" charset="-122"/>
                  <a:ea typeface="微软雅黑" pitchFamily="34" charset="-122"/>
                </a:rPr>
                <a:t>类 </a:t>
              </a:r>
              <a:r>
                <a:rPr kumimoji="1" lang="en-US" altLang="zh-CN" sz="1200" b="1">
                  <a:solidFill>
                    <a:srgbClr val="0000FF"/>
                  </a:solidFill>
                  <a:latin typeface="微软雅黑" pitchFamily="34" charset="-122"/>
                  <a:ea typeface="微软雅黑" pitchFamily="34" charset="-122"/>
                </a:rPr>
                <a:t>IP </a:t>
              </a:r>
              <a:r>
                <a:rPr kumimoji="1" lang="zh-CN" altLang="zh-CN" sz="1200" b="1">
                  <a:solidFill>
                    <a:srgbClr val="0000FF"/>
                  </a:solidFill>
                  <a:latin typeface="微软雅黑" pitchFamily="34" charset="-122"/>
                  <a:ea typeface="微软雅黑" pitchFamily="34" charset="-122"/>
                </a:rPr>
                <a:t>地址</a:t>
              </a:r>
              <a:endParaRPr kumimoji="1" lang="zh-CN" altLang="en-US" sz="1200" b="1">
                <a:solidFill>
                  <a:srgbClr val="0000FF"/>
                </a:solidFill>
                <a:latin typeface="微软雅黑" pitchFamily="34" charset="-122"/>
                <a:ea typeface="微软雅黑" pitchFamily="34" charset="-122"/>
              </a:endParaRPr>
            </a:p>
          </p:txBody>
        </p:sp>
        <p:sp>
          <p:nvSpPr>
            <p:cNvPr id="145" name="Line 142"/>
            <p:cNvSpPr>
              <a:spLocks noChangeShapeType="1"/>
            </p:cNvSpPr>
            <p:nvPr/>
          </p:nvSpPr>
          <p:spPr bwMode="auto">
            <a:xfrm>
              <a:off x="5166102" y="4668905"/>
              <a:ext cx="0" cy="304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6" name="AutoShape 143"/>
            <p:cNvSpPr>
              <a:spLocks noChangeArrowheads="1"/>
            </p:cNvSpPr>
            <p:nvPr/>
          </p:nvSpPr>
          <p:spPr bwMode="auto">
            <a:xfrm>
              <a:off x="6799372" y="3348105"/>
              <a:ext cx="334487" cy="781305"/>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latin typeface="微软雅黑" pitchFamily="34" charset="-122"/>
                <a:ea typeface="微软雅黑" pitchFamily="34" charset="-122"/>
              </a:endParaRPr>
            </a:p>
          </p:txBody>
        </p:sp>
      </p:grpSp>
      <p:sp>
        <p:nvSpPr>
          <p:cNvPr id="148" name="Text Box 119"/>
          <p:cNvSpPr txBox="1">
            <a:spLocks noChangeArrowheads="1"/>
          </p:cNvSpPr>
          <p:nvPr/>
        </p:nvSpPr>
        <p:spPr bwMode="auto">
          <a:xfrm>
            <a:off x="3349326" y="1826103"/>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93515" y="2910403"/>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312628" y="2910403"/>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349326" y="2910403"/>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8" name="矩形 117"/>
          <p:cNvSpPr/>
          <p:nvPr/>
        </p:nvSpPr>
        <p:spPr>
          <a:xfrm>
            <a:off x="1626283" y="4029243"/>
            <a:ext cx="6344699" cy="679801"/>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收到多播数据报的主机，还要在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地址进行过滤，把不是本主机要接收的数据报丢弃。</a:t>
            </a:r>
          </a:p>
        </p:txBody>
      </p:sp>
      <p:sp>
        <p:nvSpPr>
          <p:cNvPr id="119" name="乘号 118"/>
          <p:cNvSpPr/>
          <p:nvPr/>
        </p:nvSpPr>
        <p:spPr>
          <a:xfrm>
            <a:off x="4130642" y="1837911"/>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815369" y="1798717"/>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0" presetClass="entr" presetSubtype="0" fill="hold" grpId="0" nodeType="afterEffect">
                                  <p:stCondLst>
                                    <p:cond delay="0"/>
                                  </p:stCondLst>
                                  <p:childTnLst>
                                    <p:set>
                                      <p:cBhvr>
                                        <p:cTn id="11" dur="1" fill="hold">
                                          <p:stCondLst>
                                            <p:cond delay="0"/>
                                          </p:stCondLst>
                                        </p:cTn>
                                        <p:tgtEl>
                                          <p:spTgt spid="118"/>
                                        </p:tgtEl>
                                        <p:attrNameLst>
                                          <p:attrName>style.visibility</p:attrName>
                                        </p:attrNameLst>
                                      </p:cBhvr>
                                      <p:to>
                                        <p:strVal val="visible"/>
                                      </p:to>
                                    </p:set>
                                    <p:animEffect transition="in" filter="fade">
                                      <p:cBhvr>
                                        <p:cTn id="12"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49" grpId="0"/>
      <p:bldP spid="149" grpId="1"/>
    </p:bldLst>
  </p:timing>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组合 16"/>
          <p:cNvGrpSpPr/>
          <p:nvPr/>
        </p:nvGrpSpPr>
        <p:grpSpPr>
          <a:xfrm>
            <a:off x="802441" y="1046469"/>
            <a:ext cx="7344924" cy="2788875"/>
            <a:chOff x="802276" y="1148065"/>
            <a:chExt cx="7464911"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87" name="Text Box 7"/>
            <p:cNvSpPr txBox="1">
              <a:spLocks noChangeArrowheads="1"/>
            </p:cNvSpPr>
            <p:nvPr/>
          </p:nvSpPr>
          <p:spPr bwMode="auto">
            <a:xfrm>
              <a:off x="5207325" y="1366899"/>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多播组</a:t>
              </a:r>
            </a:p>
            <a:p>
              <a:pPr algn="ctr" eaLnBrk="1" hangingPunct="1"/>
              <a:r>
                <a:rPr lang="en-US" altLang="zh-CN" sz="1200" b="1" dirty="0">
                  <a:latin typeface="微软雅黑" panose="020B0503020204020204" pitchFamily="34" charset="-122"/>
                  <a:ea typeface="微软雅黑" panose="020B0503020204020204"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02276"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6" name="Text Box 7"/>
            <p:cNvSpPr txBox="1">
              <a:spLocks noChangeArrowheads="1"/>
            </p:cNvSpPr>
            <p:nvPr/>
          </p:nvSpPr>
          <p:spPr bwMode="auto">
            <a:xfrm>
              <a:off x="6986319"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未参加</a:t>
              </a:r>
              <a:endParaRPr lang="en-US" altLang="zh-CN" sz="1200" b="1" dirty="0">
                <a:latin typeface="微软雅黑" panose="020B0503020204020204" pitchFamily="34" charset="-122"/>
                <a:ea typeface="微软雅黑" panose="020B0503020204020204" pitchFamily="34" charset="-122"/>
              </a:endParaRPr>
            </a:p>
            <a:p>
              <a:pPr algn="ctr" eaLnBrk="1" hangingPunct="1"/>
              <a:r>
                <a:rPr lang="zh-CN" altLang="en-US" sz="1200" b="1" dirty="0">
                  <a:latin typeface="微软雅黑" panose="020B0503020204020204" pitchFamily="34" charset="-122"/>
                  <a:ea typeface="微软雅黑" panose="020B0503020204020204" pitchFamily="34" charset="-122"/>
                </a:rPr>
                <a:t>多播组</a:t>
              </a:r>
              <a:endParaRPr lang="en-US" altLang="zh-CN" sz="1200" b="1" dirty="0">
                <a:latin typeface="微软雅黑" panose="020B0503020204020204" pitchFamily="34" charset="-122"/>
                <a:ea typeface="微软雅黑" panose="020B0503020204020204" pitchFamily="34" charset="-122"/>
              </a:endParaRPr>
            </a:p>
          </p:txBody>
        </p:sp>
        <p:sp>
          <p:nvSpPr>
            <p:cNvPr id="150" name="Text Box 7"/>
            <p:cNvSpPr txBox="1">
              <a:spLocks noChangeArrowheads="1"/>
            </p:cNvSpPr>
            <p:nvPr/>
          </p:nvSpPr>
          <p:spPr bwMode="auto">
            <a:xfrm>
              <a:off x="6986318" y="3157682"/>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20" name="矩形 19"/>
          <p:cNvSpPr/>
          <p:nvPr/>
        </p:nvSpPr>
        <p:spPr>
          <a:xfrm>
            <a:off x="768976" y="3962036"/>
            <a:ext cx="7617319" cy="605294"/>
          </a:xfrm>
          <a:prstGeom prst="rect">
            <a:avLst/>
          </a:prstGeom>
        </p:spPr>
        <p:txBody>
          <a:bodyPr wrap="square">
            <a:spAutoFit/>
          </a:bodyPr>
          <a:lstStyle/>
          <a:p>
            <a:pPr>
              <a:lnSpc>
                <a:spcPts val="2000"/>
              </a:lnSpc>
            </a:pPr>
            <a:r>
              <a:rPr lang="en-US" altLang="zh-CN" sz="1400" b="1" dirty="0">
                <a:latin typeface="微软雅黑" panose="020B0503020204020204" pitchFamily="34" charset="-122"/>
                <a:ea typeface="微软雅黑" panose="020B0503020204020204" pitchFamily="34" charset="-122"/>
              </a:rPr>
              <a:t>IGMP </a:t>
            </a:r>
            <a:r>
              <a:rPr lang="zh-CN" altLang="en-US" sz="1400" b="1" dirty="0">
                <a:latin typeface="微软雅黑" panose="020B0503020204020204" pitchFamily="34" charset="-122"/>
                <a:ea typeface="微软雅黑" panose="020B0503020204020204" pitchFamily="34" charset="-122"/>
              </a:rPr>
              <a:t>协议是让连接在</a:t>
            </a:r>
            <a:r>
              <a:rPr lang="zh-CN" altLang="en-US" sz="1400" b="1" dirty="0">
                <a:solidFill>
                  <a:srgbClr val="C00000"/>
                </a:solidFill>
                <a:latin typeface="微软雅黑" panose="020B0503020204020204" pitchFamily="34" charset="-122"/>
                <a:ea typeface="微软雅黑" panose="020B0503020204020204" pitchFamily="34" charset="-122"/>
              </a:rPr>
              <a:t>本地局域网上</a:t>
            </a:r>
            <a:r>
              <a:rPr lang="zh-CN" altLang="en-US" sz="1400" b="1" dirty="0">
                <a:latin typeface="微软雅黑" panose="020B0503020204020204" pitchFamily="34" charset="-122"/>
                <a:ea typeface="微软雅黑" panose="020B0503020204020204" pitchFamily="34" charset="-122"/>
              </a:rPr>
              <a:t>的</a:t>
            </a:r>
            <a:r>
              <a:rPr lang="zh-CN" altLang="en-US" sz="1400" b="1" dirty="0">
                <a:solidFill>
                  <a:srgbClr val="0000FF"/>
                </a:solidFill>
                <a:latin typeface="微软雅黑" panose="020B0503020204020204" pitchFamily="34" charset="-122"/>
                <a:ea typeface="微软雅黑" panose="020B0503020204020204" pitchFamily="34" charset="-122"/>
              </a:rPr>
              <a:t>多播路由器</a:t>
            </a:r>
            <a:r>
              <a:rPr lang="zh-CN" altLang="en-US" sz="1400" b="1" dirty="0">
                <a:latin typeface="微软雅黑" panose="020B0503020204020204" pitchFamily="34" charset="-122"/>
                <a:ea typeface="微软雅黑" panose="020B0503020204020204" pitchFamily="34" charset="-122"/>
              </a:rPr>
              <a:t>知道</a:t>
            </a:r>
            <a:r>
              <a:rPr lang="zh-CN" altLang="en-US" sz="1400" b="1" dirty="0">
                <a:solidFill>
                  <a:srgbClr val="C00000"/>
                </a:solidFill>
                <a:latin typeface="微软雅黑" panose="020B0503020204020204" pitchFamily="34" charset="-122"/>
                <a:ea typeface="微软雅黑" panose="020B0503020204020204" pitchFamily="34" charset="-122"/>
              </a:rPr>
              <a:t>本局域网上</a:t>
            </a:r>
            <a:r>
              <a:rPr lang="zh-CN" altLang="en-US" sz="1400" b="1" dirty="0">
                <a:solidFill>
                  <a:srgbClr val="0000FF"/>
                </a:solidFill>
                <a:latin typeface="微软雅黑" panose="020B0503020204020204" pitchFamily="34" charset="-122"/>
                <a:ea typeface="微软雅黑" panose="020B0503020204020204" pitchFamily="34" charset="-122"/>
              </a:rPr>
              <a:t>是否</a:t>
            </a:r>
            <a:r>
              <a:rPr lang="zh-CN" altLang="en-US" sz="1400" b="1" dirty="0">
                <a:latin typeface="微软雅黑" panose="020B0503020204020204" pitchFamily="34" charset="-122"/>
                <a:ea typeface="微软雅黑" panose="020B0503020204020204" pitchFamily="34" charset="-122"/>
              </a:rPr>
              <a:t>有主机参加或退出了某个多播组。</a:t>
            </a:r>
            <a:r>
              <a:rPr lang="en-US" altLang="zh-CN" sz="1400" b="1" dirty="0">
                <a:latin typeface="微软雅黑" panose="020B0503020204020204" pitchFamily="34" charset="-122"/>
                <a:ea typeface="微软雅黑" panose="020B0503020204020204" pitchFamily="34" charset="-122"/>
              </a:rPr>
              <a:t>IGMP </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多播组包含的成员数，也</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这些成员都分布在哪些网络上。</a:t>
            </a:r>
          </a:p>
        </p:txBody>
      </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653864" y="2291645"/>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64116" y="2289778"/>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561297" y="1345617"/>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343311" y="1700144"/>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343311" y="2325232"/>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810642" y="2375611"/>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76131" y="2375611"/>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4017549" y="2375611"/>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83038" y="2375611"/>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5029752" y="2375611"/>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105793" y="2375611"/>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65579" y="1614311"/>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9137" y="2121844"/>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31107"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174" y="2881279"/>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3222" y="262937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87733"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5240" y="2375611"/>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317396" y="2799179"/>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35763" y="2207677"/>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49168" y="1360544"/>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919833" y="1265382"/>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71855" y="1530345"/>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76389" y="2567708"/>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67342" y="2560339"/>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213942" y="2827167"/>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65424" y="2291645"/>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72747" y="2084058"/>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116501" y="2558472"/>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92064" y="1251042"/>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2056932" y="1828894"/>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3003656" y="1960719"/>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421417" y="1640434"/>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7112" y="2246863"/>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46316" y="220767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59421" y="155273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216626" y="2009327"/>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66701" y="1978168"/>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323974" y="1858749"/>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729905" y="1276578"/>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95394" y="2037878"/>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509908" y="1569415"/>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7" name="矩形 6"/>
          <p:cNvSpPr/>
          <p:nvPr/>
        </p:nvSpPr>
        <p:spPr>
          <a:xfrm>
            <a:off x="1579733" y="3968371"/>
            <a:ext cx="6002874" cy="707886"/>
          </a:xfrm>
          <a:prstGeom prst="rect">
            <a:avLst/>
          </a:prstGeom>
        </p:spPr>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路由器 </a:t>
            </a:r>
            <a:r>
              <a:rPr lang="en-US" altLang="zh-CN" b="1" dirty="0">
                <a:latin typeface="微软雅黑" panose="020B0503020204020204" pitchFamily="34" charset="-122"/>
                <a:ea typeface="微软雅黑" panose="020B0503020204020204" pitchFamily="34" charset="-122"/>
              </a:rPr>
              <a:t>R </a:t>
            </a:r>
            <a:r>
              <a:rPr lang="zh-CN" altLang="en-US" b="1" dirty="0">
                <a:latin typeface="微软雅黑" panose="020B0503020204020204" pitchFamily="34" charset="-122"/>
                <a:ea typeface="微软雅黑" panose="020B0503020204020204" pitchFamily="34" charset="-122"/>
              </a:rPr>
              <a:t>不应当向网络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转发多播组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的分组，因为网络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上没有多播组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的成员。</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 </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503919" y="4319335"/>
            <a:ext cx="6540815" cy="400110"/>
          </a:xfrm>
          <a:prstGeom prst="rect">
            <a:avLst/>
          </a:prstGeom>
          <a:solidFill>
            <a:srgbClr val="000066"/>
          </a:solidFill>
          <a:ln>
            <a:noFill/>
          </a:ln>
          <a:effectLst/>
        </p:spPr>
        <p:txBody>
          <a:bodyPr wrap="square">
            <a:spAutoFit/>
          </a:bodyPr>
          <a:lstStyle/>
          <a:p>
            <a:pPr algn="ctr">
              <a:lnSpc>
                <a:spcPts val="2400"/>
              </a:lnSpc>
            </a:pPr>
            <a:r>
              <a:rPr lang="en-US" altLang="zh-CN" b="1" dirty="0">
                <a:solidFill>
                  <a:schemeClr val="bg1"/>
                </a:solidFill>
                <a:latin typeface="微软雅黑" pitchFamily="34" charset="-122"/>
                <a:ea typeface="微软雅黑" pitchFamily="34" charset="-122"/>
              </a:rPr>
              <a:t>M </a:t>
            </a:r>
            <a:r>
              <a:rPr lang="zh-CN" altLang="en-US" b="1" dirty="0">
                <a:solidFill>
                  <a:schemeClr val="bg1"/>
                </a:solidFill>
                <a:latin typeface="微软雅黑" pitchFamily="34" charset="-122"/>
                <a:ea typeface="微软雅黑" pitchFamily="34" charset="-122"/>
              </a:rPr>
              <a:t>个源，</a:t>
            </a:r>
            <a:r>
              <a:rPr lang="en-US" altLang="zh-CN" b="1" dirty="0">
                <a:solidFill>
                  <a:schemeClr val="bg1"/>
                </a:solidFill>
                <a:latin typeface="微软雅黑" pitchFamily="34" charset="-122"/>
                <a:ea typeface="微软雅黑" pitchFamily="34" charset="-122"/>
              </a:rPr>
              <a:t>N </a:t>
            </a:r>
            <a:r>
              <a:rPr lang="zh-CN" altLang="en-US" b="1" dirty="0">
                <a:solidFill>
                  <a:schemeClr val="bg1"/>
                </a:solidFill>
                <a:latin typeface="微软雅黑" pitchFamily="34" charset="-122"/>
                <a:ea typeface="微软雅黑" pitchFamily="34" charset="-122"/>
              </a:rPr>
              <a:t>个多播组，需要 </a:t>
            </a:r>
            <a:r>
              <a:rPr lang="en-US" altLang="zh-CN" b="1" dirty="0" err="1">
                <a:solidFill>
                  <a:schemeClr val="bg1"/>
                </a:solidFill>
                <a:latin typeface="微软雅黑" pitchFamily="34" charset="-122"/>
                <a:ea typeface="微软雅黑" pitchFamily="34" charset="-122"/>
              </a:rPr>
              <a:t>MⅹN</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棵</a:t>
            </a:r>
            <a:r>
              <a:rPr lang="zh-CN" altLang="en-US" b="1" dirty="0">
                <a:solidFill>
                  <a:srgbClr val="FFFF00"/>
                </a:solidFill>
                <a:latin typeface="微软雅黑" pitchFamily="34" charset="-122"/>
                <a:ea typeface="微软雅黑" pitchFamily="34" charset="-122"/>
              </a:rPr>
              <a:t>以源为根的多播转发树</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开始时，路由器转发多播数据报使用洪泛的方法（这就是广播）</a:t>
            </a:r>
          </a:p>
          <a:p>
            <a:r>
              <a:rPr lang="zh-CN" altLang="en-US" dirty="0"/>
              <a:t>为避免兜圈子，采用反向路径广播 </a:t>
            </a:r>
            <a:r>
              <a:rPr lang="en-US" altLang="zh-CN" dirty="0"/>
              <a:t>RPB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3089"/>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4321"/>
            <a:ext cx="3092513" cy="400110"/>
          </a:xfrm>
          <a:prstGeom prst="rect">
            <a:avLst/>
          </a:prstGeom>
        </p:spPr>
        <p:txBody>
          <a:bodyPr wrap="none">
            <a:spAutoFit/>
          </a:bodyPr>
          <a:lstStyle/>
          <a:p>
            <a:r>
              <a:rPr lang="en-US" altLang="zh-CN" sz="2000" b="1" dirty="0">
                <a:latin typeface="微软雅黑" pitchFamily="34" charset="-122"/>
                <a:ea typeface="微软雅黑" pitchFamily="34" charset="-122"/>
              </a:rPr>
              <a:t>RPB </a:t>
            </a:r>
            <a:r>
              <a:rPr lang="zh-CN" altLang="en-US" sz="2000" b="1" dirty="0">
                <a:latin typeface="微软雅黑" pitchFamily="34" charset="-122"/>
                <a:ea typeface="微软雅黑" pitchFamily="34" charset="-122"/>
              </a:rPr>
              <a:t>的要点：检查，转发</a:t>
            </a:r>
          </a:p>
        </p:txBody>
      </p:sp>
      <p:sp>
        <p:nvSpPr>
          <p:cNvPr id="5" name="Rectangle 3"/>
          <p:cNvSpPr>
            <a:spLocks noChangeArrowheads="1"/>
          </p:cNvSpPr>
          <p:nvPr/>
        </p:nvSpPr>
        <p:spPr bwMode="auto">
          <a:xfrm>
            <a:off x="3164997" y="2968067"/>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b="1" dirty="0">
                <a:solidFill>
                  <a:srgbClr val="0000FF"/>
                </a:solidFill>
                <a:latin typeface="微软雅黑" panose="020B0503020204020204" pitchFamily="34" charset="-122"/>
                <a:ea typeface="微软雅黑" panose="020B0503020204020204" pitchFamily="34" charset="-122"/>
              </a:rPr>
              <a:t>R</a:t>
            </a:r>
            <a:r>
              <a:rPr lang="en-US" altLang="zh-CN" sz="1400" b="1" baseline="-25000" dirty="0">
                <a:solidFill>
                  <a:srgbClr val="0000FF"/>
                </a:solidFill>
                <a:latin typeface="微软雅黑" panose="020B0503020204020204" pitchFamily="34" charset="-122"/>
                <a:ea typeface="微软雅黑" panose="020B0503020204020204" pitchFamily="34" charset="-122"/>
              </a:rPr>
              <a:t>0</a:t>
            </a:r>
            <a:r>
              <a:rPr lang="en-US" altLang="zh-CN" sz="1400" b="1" dirty="0">
                <a:solidFill>
                  <a:srgbClr val="0000FF"/>
                </a:solidFill>
                <a:latin typeface="微软雅黑" panose="020B0503020204020204" pitchFamily="34" charset="-122"/>
                <a:ea typeface="微软雅黑" panose="020B0503020204020204" pitchFamily="34" charset="-122"/>
              </a:rPr>
              <a:t> </a:t>
            </a:r>
            <a:r>
              <a:rPr lang="zh-CN" altLang="en-US" sz="1400" b="1" dirty="0">
                <a:solidFill>
                  <a:srgbClr val="0000FF"/>
                </a:solidFill>
                <a:latin typeface="微软雅黑" panose="020B0503020204020204" pitchFamily="34" charset="-122"/>
                <a:ea typeface="微软雅黑" panose="020B0503020204020204" pitchFamily="34" charset="-122"/>
              </a:rPr>
              <a:t>单播路由表</a:t>
            </a:r>
            <a:endParaRPr lang="en-US" altLang="zh-CN" sz="1400" b="1" dirty="0">
              <a:solidFill>
                <a:srgbClr val="0000FF"/>
              </a:solidFill>
              <a:latin typeface="微软雅黑" panose="020B0503020204020204" pitchFamily="34" charset="-122"/>
              <a:ea typeface="微软雅黑" panose="020B0503020204020204" pitchFamily="34" charset="-122"/>
            </a:endParaRPr>
          </a:p>
        </p:txBody>
      </p:sp>
      <p:grpSp>
        <p:nvGrpSpPr>
          <p:cNvPr id="13" name="Group 12"/>
          <p:cNvGrpSpPr>
            <a:grpSpLocks/>
          </p:cNvGrpSpPr>
          <p:nvPr/>
        </p:nvGrpSpPr>
        <p:grpSpPr bwMode="auto">
          <a:xfrm>
            <a:off x="1063036" y="3646724"/>
            <a:ext cx="2169040" cy="586243"/>
            <a:chOff x="2299" y="2980"/>
            <a:chExt cx="2294" cy="328"/>
          </a:xfrm>
        </p:grpSpPr>
        <p:sp>
          <p:nvSpPr>
            <p:cNvPr id="14" name="Rectangle 13"/>
            <p:cNvSpPr>
              <a:spLocks noChangeArrowheads="1"/>
            </p:cNvSpPr>
            <p:nvPr/>
          </p:nvSpPr>
          <p:spPr bwMode="auto">
            <a:xfrm>
              <a:off x="2299" y="2980"/>
              <a:ext cx="182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转发！</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276069"/>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612434"/>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158079"/>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709310" y="1347317"/>
            <a:ext cx="1972793" cy="1084653"/>
            <a:chOff x="1768" y="1467"/>
            <a:chExt cx="1104" cy="608"/>
          </a:xfrm>
        </p:grpSpPr>
        <p:sp>
          <p:nvSpPr>
            <p:cNvPr id="27" name="Rectangle 26"/>
            <p:cNvSpPr>
              <a:spLocks noChangeArrowheads="1"/>
            </p:cNvSpPr>
            <p:nvPr/>
          </p:nvSpPr>
          <p:spPr bwMode="auto">
            <a:xfrm>
              <a:off x="1768" y="154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135778"/>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692644"/>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692643"/>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467950370"/>
              </p:ext>
            </p:extLst>
          </p:nvPr>
        </p:nvGraphicFramePr>
        <p:xfrm>
          <a:off x="3106724" y="3265911"/>
          <a:ext cx="2208519" cy="121920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400" b="1" dirty="0">
                          <a:latin typeface="微软雅黑" panose="020B0503020204020204" pitchFamily="34" charset="-122"/>
                          <a:ea typeface="微软雅黑" panose="020B0503020204020204"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400" b="1" dirty="0">
                          <a:latin typeface="微软雅黑" panose="020B0503020204020204" pitchFamily="34" charset="-122"/>
                          <a:ea typeface="微软雅黑" panose="020B0503020204020204"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400" b="1" dirty="0">
                          <a:solidFill>
                            <a:schemeClr val="tx1"/>
                          </a:solidFill>
                        </a:rPr>
                        <a:t>151.10.0.0/16</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R</a:t>
                      </a:r>
                      <a:r>
                        <a:rPr lang="en-US" altLang="zh-CN" sz="1400" b="1" baseline="-25000" dirty="0">
                          <a:solidFill>
                            <a:srgbClr val="C00000"/>
                          </a:solidFill>
                          <a:latin typeface="微软雅黑" panose="020B0503020204020204" pitchFamily="34" charset="-122"/>
                          <a:ea typeface="微软雅黑" panose="020B0503020204020204" pitchFamily="34" charset="-122"/>
                        </a:rPr>
                        <a:t>1</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400" b="1" dirty="0">
                          <a:solidFill>
                            <a:schemeClr val="tx1"/>
                          </a:solidFill>
                        </a:rPr>
                        <a:t>198.14.32.0/24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400" b="1" dirty="0">
                          <a:solidFill>
                            <a:schemeClr val="tx1"/>
                          </a:solidFill>
                        </a:rPr>
                        <a:t>204.1.16.0/24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554872"/>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502291" y="1551200"/>
            <a:ext cx="1972792" cy="995454"/>
            <a:chOff x="1858" y="1528"/>
            <a:chExt cx="1104" cy="558"/>
          </a:xfrm>
        </p:grpSpPr>
        <p:sp>
          <p:nvSpPr>
            <p:cNvPr id="50" name="Rectangle 26"/>
            <p:cNvSpPr>
              <a:spLocks noChangeArrowheads="1"/>
            </p:cNvSpPr>
            <p:nvPr/>
          </p:nvSpPr>
          <p:spPr bwMode="auto">
            <a:xfrm>
              <a:off x="1858" y="152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135778"/>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646724"/>
            <a:ext cx="2392185" cy="586243"/>
            <a:chOff x="1457" y="2980"/>
            <a:chExt cx="2530" cy="328"/>
          </a:xfrm>
        </p:grpSpPr>
        <p:sp>
          <p:nvSpPr>
            <p:cNvPr id="64" name="Rectangle 13"/>
            <p:cNvSpPr>
              <a:spLocks noChangeArrowheads="1"/>
            </p:cNvSpPr>
            <p:nvPr/>
          </p:nvSpPr>
          <p:spPr bwMode="auto">
            <a:xfrm>
              <a:off x="2032" y="2980"/>
              <a:ext cx="1955"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不是经最短路径传送来的，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丢弃！</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037978"/>
            <a:ext cx="2031707" cy="584775"/>
          </a:xfrm>
          <a:prstGeom prst="rect">
            <a:avLst/>
          </a:prstGeom>
          <a:solidFill>
            <a:srgbClr val="0000FF"/>
          </a:solidFill>
        </p:spPr>
        <p:txBody>
          <a:bodyPr wrap="square">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检查数据报是否经最短路径传送来的</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3089"/>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4321"/>
            <a:ext cx="5463355" cy="400110"/>
          </a:xfrm>
          <a:prstGeom prst="rect">
            <a:avLst/>
          </a:prstGeom>
        </p:spPr>
        <p:txBody>
          <a:bodyPr wrap="none">
            <a:spAutoFit/>
          </a:bodyPr>
          <a:lstStyle/>
          <a:p>
            <a:r>
              <a:rPr lang="en-US" altLang="zh-CN" sz="2000" b="1" dirty="0">
                <a:latin typeface="微软雅黑" pitchFamily="34" charset="-122"/>
                <a:ea typeface="微软雅黑" pitchFamily="34" charset="-122"/>
              </a:rPr>
              <a:t>RPB </a:t>
            </a:r>
            <a:r>
              <a:rPr lang="zh-CN" altLang="en-US" sz="2000" b="1" dirty="0">
                <a:latin typeface="微软雅黑" pitchFamily="34" charset="-122"/>
                <a:ea typeface="微软雅黑" pitchFamily="34" charset="-122"/>
              </a:rPr>
              <a:t>的要点：形成以源为根节点的多播转发树</a:t>
            </a:r>
          </a:p>
        </p:txBody>
      </p:sp>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b="1" dirty="0"/>
                <a:t>Source</a:t>
              </a:r>
              <a:br>
                <a:rPr lang="en-US" altLang="zh-CN" sz="1400" b="1" dirty="0"/>
              </a:br>
              <a:r>
                <a:rPr lang="en-US" altLang="zh-CN" sz="1400" b="1" dirty="0"/>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多播转发树</a:t>
              </a:r>
              <a:endParaRPr lang="en-US" altLang="zh-CN" sz="1400" b="1"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多播数据报</a:t>
              </a:r>
              <a:endParaRPr lang="en-US" altLang="zh-CN" sz="1400" b="1"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b="1" dirty="0">
                  <a:solidFill>
                    <a:srgbClr val="0000FF"/>
                  </a:solidFill>
                  <a:latin typeface="微软雅黑" panose="020B0503020204020204" pitchFamily="34" charset="-122"/>
                  <a:ea typeface="微软雅黑" panose="020B0503020204020204" pitchFamily="34" charset="-122"/>
                </a:rPr>
                <a:t>不是经最短路径传送来的，</a:t>
              </a:r>
              <a:r>
                <a:rPr lang="zh-CN" altLang="en-US" sz="1400" b="1" dirty="0">
                  <a:solidFill>
                    <a:srgbClr val="990099"/>
                  </a:solidFill>
                  <a:latin typeface="微软雅黑" panose="020B0503020204020204" pitchFamily="34" charset="-122"/>
                  <a:ea typeface="微软雅黑" panose="020B0503020204020204"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600" b="1" dirty="0">
                <a:latin typeface="微软雅黑" panose="020B0503020204020204" pitchFamily="34" charset="-122"/>
                <a:ea typeface="微软雅黑" panose="020B0503020204020204" pitchFamily="34" charset="-122"/>
              </a:rPr>
              <a:t>如果存在几条同样长度的最短路径，选择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地址最小的。 </a:t>
            </a:r>
          </a:p>
          <a:p>
            <a:pPr>
              <a:lnSpc>
                <a:spcPts val="2600"/>
              </a:lnSpc>
            </a:pPr>
            <a:endParaRPr lang="en-US" altLang="zh-CN" sz="1600" b="1" dirty="0">
              <a:latin typeface="微软雅黑" panose="020B0503020204020204" pitchFamily="34" charset="-122"/>
              <a:ea typeface="微软雅黑" panose="020B0503020204020204" pitchFamily="34" charset="-122"/>
            </a:endParaRPr>
          </a:p>
          <a:p>
            <a:pPr>
              <a:lnSpc>
                <a:spcPts val="2600"/>
              </a:lnSpc>
            </a:pPr>
            <a:r>
              <a:rPr lang="zh-CN" altLang="en-US" sz="1600" b="1" dirty="0">
                <a:latin typeface="微软雅黑" panose="020B0503020204020204" pitchFamily="34" charset="-122"/>
                <a:ea typeface="微软雅黑" panose="020B0503020204020204" pitchFamily="34" charset="-122"/>
              </a:rPr>
              <a:t>最后就得出了以源为根节点的、用来转发多播数据报的多播转发树。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3089"/>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4321"/>
            <a:ext cx="3092513" cy="400110"/>
          </a:xfrm>
          <a:prstGeom prst="rect">
            <a:avLst/>
          </a:prstGeom>
        </p:spPr>
        <p:txBody>
          <a:bodyPr wrap="none">
            <a:spAutoFit/>
          </a:bodyPr>
          <a:lstStyle/>
          <a:p>
            <a:r>
              <a:rPr lang="en-US" altLang="zh-CN" sz="2000" b="1" dirty="0">
                <a:latin typeface="微软雅黑" pitchFamily="34" charset="-122"/>
                <a:ea typeface="微软雅黑" pitchFamily="34" charset="-122"/>
              </a:rPr>
              <a:t>RPB </a:t>
            </a:r>
            <a:r>
              <a:rPr lang="zh-CN" altLang="en-US" sz="2000" b="1" dirty="0">
                <a:latin typeface="微软雅黑" pitchFamily="34" charset="-122"/>
                <a:ea typeface="微软雅黑" pitchFamily="34" charset="-122"/>
              </a:rPr>
              <a:t>的要点：剪枝与嫁接</a:t>
            </a:r>
          </a:p>
        </p:txBody>
      </p:sp>
      <p:sp>
        <p:nvSpPr>
          <p:cNvPr id="4" name="矩形 3"/>
          <p:cNvSpPr/>
          <p:nvPr/>
        </p:nvSpPr>
        <p:spPr>
          <a:xfrm>
            <a:off x="545144" y="921481"/>
            <a:ext cx="8028487" cy="1246495"/>
          </a:xfrm>
          <a:prstGeom prst="rect">
            <a:avLst/>
          </a:prstGeom>
        </p:spPr>
        <p:txBody>
          <a:bodyPr wrap="square">
            <a:spAutoFit/>
          </a:bodyPr>
          <a:lstStyle/>
          <a:p>
            <a:pPr marL="285750" indent="-285750">
              <a:lnSpc>
                <a:spcPts val="3000"/>
              </a:lnSpc>
              <a:buClr>
                <a:srgbClr val="0070C0"/>
              </a:buClr>
              <a:buFont typeface="Wingdings" pitchFamily="2" charset="2"/>
              <a:buChar char="l"/>
            </a:pPr>
            <a:r>
              <a:rPr lang="zh-CN" altLang="en-US" sz="1900" b="1" dirty="0">
                <a:solidFill>
                  <a:srgbClr val="C00000"/>
                </a:solidFill>
                <a:latin typeface="微软雅黑" pitchFamily="34" charset="-122"/>
                <a:ea typeface="微软雅黑" pitchFamily="34" charset="-122"/>
              </a:rPr>
              <a:t>剪枝：</a:t>
            </a:r>
            <a:r>
              <a:rPr lang="zh-CN" altLang="en-US" sz="1900" b="1" dirty="0">
                <a:latin typeface="微软雅黑" pitchFamily="34" charset="-122"/>
                <a:ea typeface="微软雅黑" pitchFamily="34" charset="-122"/>
              </a:rPr>
              <a:t>如果在多播转发树上的某个路由器发现它的下游树枝（即叶节点方向）已</a:t>
            </a:r>
            <a:r>
              <a:rPr lang="zh-CN" altLang="en-US" sz="1900" b="1" dirty="0">
                <a:solidFill>
                  <a:srgbClr val="0000FF"/>
                </a:solidFill>
                <a:latin typeface="微软雅黑" pitchFamily="34" charset="-122"/>
                <a:ea typeface="微软雅黑" pitchFamily="34" charset="-122"/>
              </a:rPr>
              <a:t>没有</a:t>
            </a:r>
            <a:r>
              <a:rPr lang="zh-CN" altLang="en-US" sz="1900" b="1" dirty="0">
                <a:latin typeface="微软雅黑" pitchFamily="34" charset="-122"/>
                <a:ea typeface="微软雅黑" pitchFamily="34" charset="-122"/>
              </a:rPr>
              <a:t>该多播组的成员，就把它和下游的树枝一起</a:t>
            </a:r>
            <a:r>
              <a:rPr lang="zh-CN" altLang="en-US" sz="1900" b="1" dirty="0">
                <a:solidFill>
                  <a:srgbClr val="0000FF"/>
                </a:solidFill>
                <a:latin typeface="微软雅黑" pitchFamily="34" charset="-122"/>
                <a:ea typeface="微软雅黑" pitchFamily="34" charset="-122"/>
              </a:rPr>
              <a:t>剪除。</a:t>
            </a:r>
            <a:endParaRPr lang="en-US" altLang="zh-CN" sz="1900" b="1" dirty="0">
              <a:solidFill>
                <a:srgbClr val="0000FF"/>
              </a:solidFill>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1900" b="1" dirty="0">
                <a:solidFill>
                  <a:srgbClr val="C00000"/>
                </a:solidFill>
                <a:latin typeface="微软雅黑" pitchFamily="34" charset="-122"/>
                <a:ea typeface="微软雅黑" pitchFamily="34" charset="-122"/>
              </a:rPr>
              <a:t>嫁接：</a:t>
            </a:r>
            <a:r>
              <a:rPr lang="zh-CN" altLang="en-US" sz="1900" b="1" dirty="0">
                <a:latin typeface="微软雅黑" pitchFamily="34" charset="-122"/>
                <a:ea typeface="微软雅黑" pitchFamily="34" charset="-122"/>
              </a:rPr>
              <a:t>当某个树枝有</a:t>
            </a:r>
            <a:r>
              <a:rPr lang="zh-CN" altLang="en-US" sz="1900" b="1" dirty="0">
                <a:solidFill>
                  <a:srgbClr val="0000FF"/>
                </a:solidFill>
                <a:latin typeface="微软雅黑" pitchFamily="34" charset="-122"/>
                <a:ea typeface="微软雅黑" pitchFamily="34" charset="-122"/>
              </a:rPr>
              <a:t>新增加</a:t>
            </a:r>
            <a:r>
              <a:rPr lang="zh-CN" altLang="en-US" sz="1900" b="1" dirty="0">
                <a:latin typeface="微软雅黑" pitchFamily="34" charset="-122"/>
                <a:ea typeface="微软雅黑" pitchFamily="34" charset="-122"/>
              </a:rPr>
              <a:t>的组成员时，可以</a:t>
            </a:r>
            <a:r>
              <a:rPr lang="zh-CN" altLang="en-US" sz="1900" b="1" dirty="0">
                <a:solidFill>
                  <a:srgbClr val="0000FF"/>
                </a:solidFill>
                <a:latin typeface="微软雅黑" pitchFamily="34" charset="-122"/>
                <a:ea typeface="微软雅黑" pitchFamily="34" charset="-122"/>
              </a:rPr>
              <a:t>再接入</a:t>
            </a:r>
            <a:r>
              <a:rPr lang="zh-CN" altLang="en-US" sz="1900" b="1" dirty="0">
                <a:latin typeface="微软雅黑" pitchFamily="34" charset="-122"/>
                <a:ea typeface="微软雅黑" pitchFamily="34" charset="-122"/>
              </a:rPr>
              <a:t>到多播转发树上。</a:t>
            </a:r>
          </a:p>
        </p:txBody>
      </p:sp>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剪除没有</a:t>
              </a:r>
            </a:p>
            <a:p>
              <a:pPr algn="ctr"/>
              <a:r>
                <a:rPr lang="zh-CN" altLang="en-US" sz="1400" b="1" dirty="0">
                  <a:latin typeface="微软雅黑" pitchFamily="34" charset="-122"/>
                  <a:ea typeface="微软雅黑"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收到后即丢弃</a:t>
            </a:r>
          </a:p>
        </p:txBody>
      </p:sp>
      <p:sp>
        <p:nvSpPr>
          <p:cNvPr id="107" name="Text Box 126"/>
          <p:cNvSpPr txBox="1">
            <a:spLocks noChangeArrowheads="1"/>
          </p:cNvSpPr>
          <p:nvPr/>
        </p:nvSpPr>
        <p:spPr bwMode="auto">
          <a:xfrm>
            <a:off x="960303" y="2019789"/>
            <a:ext cx="1785473" cy="584775"/>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600" b="1" dirty="0">
                <a:latin typeface="微软雅黑" pitchFamily="34" charset="-122"/>
                <a:ea typeface="微软雅黑" pitchFamily="34" charset="-122"/>
              </a:rPr>
              <a:t>反向路径广播 </a:t>
            </a:r>
            <a:r>
              <a:rPr kumimoji="1" lang="en-US" altLang="zh-CN" sz="1600" b="1" dirty="0">
                <a:latin typeface="微软雅黑" pitchFamily="34" charset="-122"/>
                <a:ea typeface="微软雅黑" pitchFamily="34" charset="-122"/>
              </a:rPr>
              <a:t>RPB </a:t>
            </a:r>
            <a:r>
              <a:rPr kumimoji="1" lang="zh-CN" altLang="en-US" sz="1600" b="1" dirty="0">
                <a:latin typeface="微软雅黑" pitchFamily="34" charset="-122"/>
                <a:ea typeface="微软雅黑"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476767" cy="1305807"/>
            <a:chOff x="257860" y="4685074"/>
            <a:chExt cx="8762175"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6" name="Text Box 31"/>
            <p:cNvSpPr txBox="1">
              <a:spLocks noChangeArrowheads="1"/>
            </p:cNvSpPr>
            <p:nvPr/>
          </p:nvSpPr>
          <p:spPr bwMode="auto">
            <a:xfrm>
              <a:off x="5246975" y="5117122"/>
              <a:ext cx="377306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1</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和网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2</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隧道中通行的单播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1</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2</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b="1" dirty="0">
                <a:latin typeface="微软雅黑" pitchFamily="34" charset="-122"/>
                <a:ea typeface="微软雅黑" pitchFamily="34" charset="-122"/>
              </a:rPr>
              <a:t>隧道技术适用于多播组的位置在地理上很分散的情况</a:t>
            </a:r>
            <a:r>
              <a:rPr kumimoji="1" lang="zh-CN" altLang="en-US" sz="1400" b="1" dirty="0">
                <a:latin typeface="微软雅黑" pitchFamily="34" charset="-122"/>
                <a:ea typeface="微软雅黑"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321649"/>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928074"/>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321649"/>
            <a:ext cx="1636540" cy="1810421"/>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416581"/>
            <a:ext cx="1627651"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4.8</a:t>
            </a:r>
          </a:p>
          <a:p>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endParaRPr lang="zh-CN" altLang="en-US" sz="2000" b="1" dirty="0">
              <a:solidFill>
                <a:schemeClr val="bg1"/>
              </a:solidFill>
              <a:latin typeface="微软雅黑" pitchFamily="34" charset="-122"/>
              <a:ea typeface="微软雅黑" pitchFamily="34" charset="-122"/>
            </a:endParaRPr>
          </a:p>
        </p:txBody>
      </p:sp>
      <p:sp>
        <p:nvSpPr>
          <p:cNvPr id="7" name="Line 16"/>
          <p:cNvSpPr>
            <a:spLocks noChangeShapeType="1"/>
          </p:cNvSpPr>
          <p:nvPr/>
        </p:nvSpPr>
        <p:spPr bwMode="auto">
          <a:xfrm>
            <a:off x="3311894" y="1250212"/>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287349" y="1287105"/>
            <a:ext cx="638187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4.8.1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4.8.2                                           </a:t>
            </a:r>
            <a:r>
              <a:rPr lang="zh-CN" altLang="en-US" sz="2000" b="1" dirty="0">
                <a:solidFill>
                  <a:schemeClr val="bg1"/>
                </a:solidFill>
                <a:latin typeface="微软雅黑" pitchFamily="34" charset="-122"/>
                <a:ea typeface="微软雅黑" pitchFamily="34" charset="-122"/>
              </a:rPr>
              <a:t>网络地址转换 </a:t>
            </a:r>
            <a:r>
              <a:rPr lang="en-US" altLang="zh-CN" sz="2000" b="1" dirty="0">
                <a:solidFill>
                  <a:schemeClr val="bg1"/>
                </a:solidFill>
                <a:latin typeface="微软雅黑" pitchFamily="34" charset="-122"/>
                <a:ea typeface="微软雅黑" pitchFamily="34" charset="-122"/>
              </a:rPr>
              <a:t>NAT</a:t>
            </a:r>
          </a:p>
        </p:txBody>
      </p:sp>
    </p:spTree>
    <p:extLst>
      <p:ext uri="{BB962C8B-B14F-4D97-AF65-F5344CB8AC3E}">
        <p14:creationId xmlns:p14="http://schemas.microsoft.com/office/powerpoint/2010/main" val="977476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81293" y="1195610"/>
            <a:ext cx="2398413" cy="369332"/>
          </a:xfrm>
          <a:prstGeom prst="rect">
            <a:avLst/>
          </a:prstGeom>
        </p:spPr>
        <p:txBody>
          <a:bodyPr wrap="none">
            <a:spAutoFit/>
          </a:bodyPr>
          <a:lstStyle/>
          <a:p>
            <a:pPr marL="360363" indent="-360363">
              <a:buNone/>
            </a:pPr>
            <a:r>
              <a:rPr lang="zh-CN" altLang="zh-CN" b="1" dirty="0">
                <a:solidFill>
                  <a:srgbClr val="C00000"/>
                </a:solidFill>
                <a:latin typeface="微软雅黑" pitchFamily="34" charset="-122"/>
                <a:ea typeface="微软雅黑" pitchFamily="34" charset="-122"/>
              </a:rPr>
              <a:t>三个专用</a:t>
            </a:r>
            <a:r>
              <a:rPr lang="en-US" altLang="zh-CN" b="1" dirty="0">
                <a:solidFill>
                  <a:srgbClr val="C00000"/>
                </a:solidFill>
                <a:latin typeface="微软雅黑" pitchFamily="34" charset="-122"/>
                <a:ea typeface="微软雅黑" pitchFamily="34" charset="-122"/>
              </a:rPr>
              <a:t> IP </a:t>
            </a:r>
            <a:r>
              <a:rPr lang="zh-CN" altLang="zh-CN" b="1" dirty="0">
                <a:solidFill>
                  <a:srgbClr val="C00000"/>
                </a:solidFill>
                <a:latin typeface="微软雅黑" pitchFamily="34" charset="-122"/>
                <a:ea typeface="微软雅黑" pitchFamily="34" charset="-122"/>
              </a:rPr>
              <a:t>地址块</a:t>
            </a:r>
            <a:r>
              <a:rPr lang="zh-CN" altLang="en-US" b="1" dirty="0">
                <a:solidFill>
                  <a:srgbClr val="C00000"/>
                </a:solidFill>
                <a:latin typeface="微软雅黑" pitchFamily="34" charset="-122"/>
                <a:ea typeface="微软雅黑" pitchFamily="34" charset="-122"/>
              </a:rPr>
              <a:t>：</a:t>
            </a:r>
            <a:endParaRPr lang="en-US" altLang="zh-CN" b="1" dirty="0">
              <a:solidFill>
                <a:srgbClr val="C00000"/>
              </a:solidFill>
              <a:latin typeface="微软雅黑" pitchFamily="34" charset="-122"/>
              <a:ea typeface="微软雅黑" pitchFamily="34" charset="-122"/>
            </a:endParaRPr>
          </a:p>
        </p:txBody>
      </p:sp>
      <p:sp>
        <p:nvSpPr>
          <p:cNvPr id="6" name="矩形 5"/>
          <p:cNvSpPr/>
          <p:nvPr/>
        </p:nvSpPr>
        <p:spPr>
          <a:xfrm>
            <a:off x="1765399" y="1629139"/>
            <a:ext cx="4839437" cy="369332"/>
          </a:xfrm>
          <a:prstGeom prst="rect">
            <a:avLst/>
          </a:prstGeom>
          <a:solidFill>
            <a:srgbClr val="0000FF"/>
          </a:solidFill>
        </p:spPr>
        <p:txBody>
          <a:bodyPr wrap="square">
            <a:spAutoFit/>
          </a:bodyPr>
          <a:lstStyle/>
          <a:p>
            <a:r>
              <a:rPr lang="en-US" altLang="zh-CN" b="1" dirty="0">
                <a:solidFill>
                  <a:schemeClr val="bg1"/>
                </a:solidFill>
                <a:latin typeface="微软雅黑" pitchFamily="34" charset="-122"/>
                <a:ea typeface="微软雅黑" pitchFamily="34" charset="-122"/>
              </a:rPr>
              <a:t>(1) 10.0.0.0/8</a:t>
            </a:r>
          </a:p>
        </p:txBody>
      </p:sp>
      <p:sp>
        <p:nvSpPr>
          <p:cNvPr id="7" name="矩形 6"/>
          <p:cNvSpPr/>
          <p:nvPr/>
        </p:nvSpPr>
        <p:spPr>
          <a:xfrm>
            <a:off x="1765399" y="2459224"/>
            <a:ext cx="4839437" cy="369332"/>
          </a:xfrm>
          <a:prstGeom prst="rect">
            <a:avLst/>
          </a:prstGeom>
          <a:solidFill>
            <a:srgbClr val="0000FF"/>
          </a:solidFill>
        </p:spPr>
        <p:txBody>
          <a:bodyPr wrap="square">
            <a:spAutoFit/>
          </a:bodyPr>
          <a:lstStyle/>
          <a:p>
            <a:r>
              <a:rPr lang="en-US" altLang="zh-CN" b="1" dirty="0">
                <a:solidFill>
                  <a:schemeClr val="bg1"/>
                </a:solidFill>
                <a:latin typeface="微软雅黑" pitchFamily="34" charset="-122"/>
                <a:ea typeface="微软雅黑" pitchFamily="34" charset="-122"/>
              </a:rPr>
              <a:t>(2) 172.16.0.0/12</a:t>
            </a:r>
          </a:p>
        </p:txBody>
      </p:sp>
      <p:sp>
        <p:nvSpPr>
          <p:cNvPr id="8" name="矩形 7"/>
          <p:cNvSpPr/>
          <p:nvPr/>
        </p:nvSpPr>
        <p:spPr>
          <a:xfrm>
            <a:off x="1765399" y="3287534"/>
            <a:ext cx="4839437" cy="369332"/>
          </a:xfrm>
          <a:prstGeom prst="rect">
            <a:avLst/>
          </a:prstGeom>
          <a:solidFill>
            <a:srgbClr val="0000FF"/>
          </a:solidFill>
        </p:spPr>
        <p:txBody>
          <a:bodyPr wrap="square">
            <a:spAutoFit/>
          </a:bodyPr>
          <a:lstStyle/>
          <a:p>
            <a:r>
              <a:rPr lang="en-US" altLang="zh-CN" b="1" dirty="0">
                <a:solidFill>
                  <a:schemeClr val="bg1"/>
                </a:solidFill>
                <a:latin typeface="微软雅黑" pitchFamily="34" charset="-122"/>
                <a:ea typeface="微软雅黑" pitchFamily="34" charset="-122"/>
              </a:rPr>
              <a:t>(3) 192.168.0.0/16</a:t>
            </a:r>
          </a:p>
        </p:txBody>
      </p:sp>
      <p:sp>
        <p:nvSpPr>
          <p:cNvPr id="9" name="矩形 8"/>
          <p:cNvSpPr/>
          <p:nvPr/>
        </p:nvSpPr>
        <p:spPr>
          <a:xfrm>
            <a:off x="2167642" y="2003203"/>
            <a:ext cx="4527201" cy="338554"/>
          </a:xfrm>
          <a:prstGeom prst="rect">
            <a:avLst/>
          </a:prstGeom>
        </p:spPr>
        <p:txBody>
          <a:bodyPr wrap="none">
            <a:spAutoFit/>
          </a:bodyPr>
          <a:lstStyle/>
          <a:p>
            <a:r>
              <a:rPr lang="en-US" altLang="zh-CN" sz="1600" b="1" dirty="0">
                <a:latin typeface="微软雅黑" pitchFamily="34" charset="-122"/>
                <a:ea typeface="微软雅黑" pitchFamily="34" charset="-122"/>
              </a:rPr>
              <a:t>A</a:t>
            </a:r>
            <a:r>
              <a:rPr lang="zh-CN" altLang="en-US" sz="1600" b="1" dirty="0">
                <a:latin typeface="微软雅黑" pitchFamily="34" charset="-122"/>
                <a:ea typeface="微软雅黑" pitchFamily="34" charset="-122"/>
              </a:rPr>
              <a:t>类，从 </a:t>
            </a:r>
            <a:r>
              <a:rPr lang="en-US" altLang="zh-CN" sz="1600" b="1" dirty="0">
                <a:latin typeface="微软雅黑" pitchFamily="34" charset="-122"/>
                <a:ea typeface="微软雅黑" pitchFamily="34" charset="-122"/>
              </a:rPr>
              <a:t>10.0.0.0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10.255.255.255</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个。</a:t>
            </a:r>
          </a:p>
        </p:txBody>
      </p:sp>
      <p:sp>
        <p:nvSpPr>
          <p:cNvPr id="10" name="矩形 9"/>
          <p:cNvSpPr/>
          <p:nvPr/>
        </p:nvSpPr>
        <p:spPr>
          <a:xfrm>
            <a:off x="2167642" y="2814455"/>
            <a:ext cx="5292416" cy="338554"/>
          </a:xfrm>
          <a:prstGeom prst="rect">
            <a:avLst/>
          </a:prstGeom>
        </p:spPr>
        <p:txBody>
          <a:bodyPr wrap="square">
            <a:spAutoFit/>
          </a:bodyPr>
          <a:lstStyle/>
          <a:p>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类，从 </a:t>
            </a:r>
            <a:r>
              <a:rPr lang="en-US" altLang="zh-CN" sz="1600" b="1" dirty="0">
                <a:latin typeface="微软雅黑" pitchFamily="34" charset="-122"/>
                <a:ea typeface="微软雅黑" pitchFamily="34" charset="-122"/>
              </a:rPr>
              <a:t>172.16.0.0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172.31.255.255</a:t>
            </a:r>
            <a:r>
              <a:rPr lang="zh-CN" altLang="en-US" sz="1600" b="1" dirty="0">
                <a:latin typeface="微软雅黑" pitchFamily="34" charset="-122"/>
                <a:ea typeface="微软雅黑" pitchFamily="34" charset="-122"/>
              </a:rPr>
              <a:t>。连续 </a:t>
            </a:r>
            <a:r>
              <a:rPr lang="en-US" altLang="zh-CN" sz="1600" b="1" dirty="0">
                <a:latin typeface="微软雅黑" pitchFamily="34" charset="-122"/>
                <a:ea typeface="微软雅黑" pitchFamily="34" charset="-122"/>
              </a:rPr>
              <a:t>16 </a:t>
            </a:r>
            <a:r>
              <a:rPr lang="zh-CN" altLang="en-US" sz="1600" b="1" dirty="0">
                <a:latin typeface="微软雅黑" pitchFamily="34" charset="-122"/>
                <a:ea typeface="微软雅黑" pitchFamily="34" charset="-122"/>
              </a:rPr>
              <a:t>个。</a:t>
            </a:r>
          </a:p>
        </p:txBody>
      </p:sp>
      <p:sp>
        <p:nvSpPr>
          <p:cNvPr id="11" name="矩形 10"/>
          <p:cNvSpPr/>
          <p:nvPr/>
        </p:nvSpPr>
        <p:spPr>
          <a:xfrm>
            <a:off x="2167642" y="3632461"/>
            <a:ext cx="5742278" cy="338554"/>
          </a:xfrm>
          <a:prstGeom prst="rect">
            <a:avLst/>
          </a:prstGeom>
        </p:spPr>
        <p:txBody>
          <a:bodyPr wrap="none">
            <a:spAutoFit/>
          </a:bodyPr>
          <a:lstStyle/>
          <a:p>
            <a:r>
              <a:rPr lang="en-US" altLang="zh-CN" sz="1600" b="1" dirty="0">
                <a:latin typeface="微软雅黑" pitchFamily="34" charset="-122"/>
                <a:ea typeface="微软雅黑" pitchFamily="34" charset="-122"/>
              </a:rPr>
              <a:t>C</a:t>
            </a:r>
            <a:r>
              <a:rPr lang="zh-CN" altLang="en-US" sz="1600" b="1" dirty="0">
                <a:latin typeface="微软雅黑" pitchFamily="34" charset="-122"/>
                <a:ea typeface="微软雅黑" pitchFamily="34" charset="-122"/>
              </a:rPr>
              <a:t>类，从 </a:t>
            </a:r>
            <a:r>
              <a:rPr lang="en-US" altLang="zh-CN" sz="1600" b="1" dirty="0">
                <a:latin typeface="微软雅黑" pitchFamily="34" charset="-122"/>
                <a:ea typeface="微软雅黑" pitchFamily="34" charset="-122"/>
              </a:rPr>
              <a:t>192.168.0.0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192.168.255.255</a:t>
            </a:r>
            <a:r>
              <a:rPr lang="zh-CN" altLang="en-US" sz="1600" b="1" dirty="0">
                <a:latin typeface="微软雅黑" pitchFamily="34" charset="-122"/>
                <a:ea typeface="微软雅黑" pitchFamily="34" charset="-122"/>
              </a:rPr>
              <a:t>。连续 </a:t>
            </a:r>
            <a:r>
              <a:rPr lang="en-US" altLang="zh-CN" sz="1600" b="1" dirty="0">
                <a:latin typeface="微软雅黑" pitchFamily="34" charset="-122"/>
                <a:ea typeface="微软雅黑" pitchFamily="34" charset="-122"/>
              </a:rPr>
              <a:t>256 </a:t>
            </a:r>
            <a:r>
              <a:rPr lang="zh-CN" altLang="en-US" sz="1600" b="1" dirty="0">
                <a:latin typeface="微软雅黑" pitchFamily="34" charset="-122"/>
                <a:ea typeface="微软雅黑" pitchFamily="34" charset="-122"/>
              </a:rPr>
              <a:t>个。</a:t>
            </a:r>
          </a:p>
        </p:txBody>
      </p:sp>
      <p:sp>
        <p:nvSpPr>
          <p:cNvPr id="2" name="标题 1">
            <a:extLst>
              <a:ext uri="{FF2B5EF4-FFF2-40B4-BE49-F238E27FC236}">
                <a16:creationId xmlns:a16="http://schemas.microsoft.com/office/drawing/2014/main" id="{64BEAB51-6B46-C2F9-B390-5BD86E013C74}"/>
              </a:ext>
            </a:extLst>
          </p:cNvPr>
          <p:cNvSpPr>
            <a:spLocks noGrp="1"/>
          </p:cNvSpPr>
          <p:nvPr>
            <p:ph type="title"/>
          </p:nvPr>
        </p:nvSpPr>
        <p:spPr>
          <a:xfrm>
            <a:off x="486000" y="550723"/>
            <a:ext cx="8172000" cy="338554"/>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80" y="1726593"/>
            <a:ext cx="1104466" cy="1200192"/>
            <a:chOff x="6476180" y="1753752"/>
            <a:chExt cx="1104466" cy="1200192"/>
          </a:xfrm>
        </p:grpSpPr>
        <p:grpSp>
          <p:nvGrpSpPr>
            <p:cNvPr id="67" name="Group 65"/>
            <p:cNvGrpSpPr>
              <a:grpSpLocks/>
            </p:cNvGrpSpPr>
            <p:nvPr/>
          </p:nvGrpSpPr>
          <p:grpSpPr bwMode="auto">
            <a:xfrm>
              <a:off x="6476180" y="1933292"/>
              <a:ext cx="1104466" cy="822867"/>
              <a:chOff x="4656" y="1528"/>
              <a:chExt cx="1011"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282740" y="1708657"/>
            <a:ext cx="1204971" cy="1290585"/>
            <a:chOff x="1338397" y="1735816"/>
            <a:chExt cx="1204971" cy="1290585"/>
          </a:xfrm>
        </p:grpSpPr>
        <p:grpSp>
          <p:nvGrpSpPr>
            <p:cNvPr id="5" name="Group 2"/>
            <p:cNvGrpSpPr>
              <a:grpSpLocks/>
            </p:cNvGrpSpPr>
            <p:nvPr/>
          </p:nvGrpSpPr>
          <p:grpSpPr bwMode="auto">
            <a:xfrm>
              <a:off x="1338397" y="1981696"/>
              <a:ext cx="1204971" cy="871271"/>
              <a:chOff x="-47" y="1576"/>
              <a:chExt cx="1103"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4115962" y="235289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互联网</a:t>
            </a: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4213098" y="205908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861481" y="1689456"/>
            <a:ext cx="3121130" cy="471940"/>
            <a:chOff x="1315" y="1348"/>
            <a:chExt cx="2857" cy="468"/>
          </a:xfrm>
        </p:grpSpPr>
        <p:sp>
          <p:nvSpPr>
            <p:cNvPr id="63"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6" name="Text Box 74"/>
          <p:cNvSpPr txBox="1">
            <a:spLocks noChangeArrowheads="1"/>
          </p:cNvSpPr>
          <p:nvPr/>
        </p:nvSpPr>
        <p:spPr bwMode="auto">
          <a:xfrm>
            <a:off x="3856277" y="280866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sp>
        <p:nvSpPr>
          <p:cNvPr id="77" name="Text Box 75"/>
          <p:cNvSpPr txBox="1">
            <a:spLocks noChangeArrowheads="1"/>
          </p:cNvSpPr>
          <p:nvPr/>
        </p:nvSpPr>
        <p:spPr bwMode="auto">
          <a:xfrm>
            <a:off x="1942502" y="1316683"/>
            <a:ext cx="902811" cy="307777"/>
          </a:xfrm>
          <a:prstGeom prst="rect">
            <a:avLst/>
          </a:prstGeom>
          <a:solidFill>
            <a:srgbClr val="99FFCC"/>
          </a:solidFill>
          <a:ln w="9525">
            <a:solidFill>
              <a:srgbClr val="333399"/>
            </a:solidFill>
            <a:miter lim="800000"/>
            <a:headEnd/>
            <a:tailEnd/>
          </a:ln>
          <a:effectLst/>
        </p:spPr>
        <p:txBody>
          <a:bodyPr wrap="none">
            <a:spAutoFit/>
          </a:bodyPr>
          <a:lstStyle/>
          <a:p>
            <a:pPr algn="ctr" eaLnBrk="0" hangingPunct="0"/>
            <a:r>
              <a:rPr kumimoji="1" lang="zh-CN" altLang="en-US" sz="1400" b="1" dirty="0">
                <a:latin typeface="微软雅黑" pitchFamily="34" charset="-122"/>
                <a:ea typeface="微软雅黑"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solidFill>
            <a:srgbClr val="99FFCC"/>
          </a:solidFill>
          <a:ln w="9525">
            <a:solidFill>
              <a:srgbClr val="333399"/>
            </a:solidFill>
            <a:miter lim="800000"/>
            <a:headEnd/>
            <a:tailEnd/>
          </a:ln>
          <a:effectLst/>
        </p:spPr>
        <p:txBody>
          <a:bodyPr wrap="none">
            <a:spAutoFit/>
          </a:bodyPr>
          <a:lstStyle/>
          <a:p>
            <a:pPr algn="ctr" eaLnBrk="0" hangingPunct="0"/>
            <a:r>
              <a:rPr kumimoji="1" lang="zh-CN" altLang="en-US" sz="1400" b="1">
                <a:latin typeface="微软雅黑" pitchFamily="34" charset="-122"/>
                <a:ea typeface="微软雅黑"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solidFill>
            <a:srgbClr val="0000FF"/>
          </a:solidFill>
          <a:ln w="9525">
            <a:solidFill>
              <a:srgbClr val="333399"/>
            </a:solidFill>
            <a:miter lim="800000"/>
            <a:headEnd/>
            <a:tailEnd/>
          </a:ln>
          <a:effectLst/>
        </p:spPr>
        <p:txBody>
          <a:bodyPr wrap="none">
            <a:spAutoFit/>
          </a:bodyPr>
          <a:lstStyle/>
          <a:p>
            <a:pPr algn="ctr" eaLnBrk="0" hangingPunct="0"/>
            <a:r>
              <a:rPr kumimoji="1" lang="zh-CN" altLang="en-US" sz="1400" b="1" dirty="0">
                <a:solidFill>
                  <a:schemeClr val="bg1"/>
                </a:solidFill>
                <a:latin typeface="微软雅黑" pitchFamily="34" charset="-122"/>
                <a:ea typeface="微软雅黑"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solidFill>
            <a:srgbClr val="00FFFF"/>
          </a:solid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290422" y="3291694"/>
            <a:ext cx="1851789"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b="1" dirty="0">
                <a:latin typeface="微软雅黑" pitchFamily="34" charset="-122"/>
                <a:ea typeface="微软雅黑" pitchFamily="34" charset="-122"/>
              </a:rPr>
              <a:t>网络地址 </a:t>
            </a:r>
            <a:r>
              <a:rPr lang="en-US" altLang="zh-CN" sz="1400" b="1" dirty="0">
                <a:latin typeface="微软雅黑" pitchFamily="34" charset="-122"/>
                <a:ea typeface="微软雅黑" pitchFamily="34" charset="-122"/>
              </a:rPr>
              <a:t>= 10.1.0.0</a:t>
            </a:r>
          </a:p>
          <a:p>
            <a:pPr algn="ctr">
              <a:lnSpc>
                <a:spcPts val="2000"/>
              </a:lnSpc>
            </a:pPr>
            <a:r>
              <a:rPr lang="zh-CN" altLang="en-US" sz="1400" b="1" dirty="0">
                <a:latin typeface="微软雅黑" pitchFamily="34" charset="-122"/>
                <a:ea typeface="微软雅黑"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solidFill>
            <a:srgbClr val="00FF99"/>
          </a:solid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13818" y="3288669"/>
            <a:ext cx="1851789"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b="1">
                <a:latin typeface="微软雅黑" pitchFamily="34" charset="-122"/>
                <a:ea typeface="微软雅黑" pitchFamily="34" charset="-122"/>
              </a:rPr>
              <a:t>网络地址 </a:t>
            </a:r>
            <a:r>
              <a:rPr lang="en-US" altLang="zh-CN" sz="1400" b="1">
                <a:latin typeface="微软雅黑" pitchFamily="34" charset="-122"/>
                <a:ea typeface="微软雅黑" pitchFamily="34" charset="-122"/>
              </a:rPr>
              <a:t>= 10.2.0.0</a:t>
            </a:r>
          </a:p>
          <a:p>
            <a:pPr algn="ctr">
              <a:lnSpc>
                <a:spcPts val="2000"/>
              </a:lnSpc>
            </a:pPr>
            <a:r>
              <a:rPr lang="zh-CN" altLang="en-US" sz="1400" b="1">
                <a:latin typeface="微软雅黑" pitchFamily="34" charset="-122"/>
                <a:ea typeface="微软雅黑"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78" grpId="0" animBg="1"/>
      <p:bldP spid="79" grpId="0" animBg="1"/>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805095" y="4339177"/>
            <a:ext cx="3550913" cy="338554"/>
          </a:xfrm>
          <a:prstGeom prst="rect">
            <a:avLst/>
          </a:prstGeom>
        </p:spPr>
        <p:txBody>
          <a:bodyPr wrap="square">
            <a:spAutoFit/>
          </a:bodyPr>
          <a:lstStyle/>
          <a:p>
            <a:pPr algn="ctr"/>
            <a:r>
              <a:rPr lang="zh-CN" altLang="en-US" sz="1600" b="1" dirty="0">
                <a:latin typeface="微软雅黑" pitchFamily="34" charset="-122"/>
                <a:ea typeface="微软雅黑"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2048641052"/>
              </p:ext>
            </p:extLst>
          </p:nvPr>
        </p:nvGraphicFramePr>
        <p:xfrm>
          <a:off x="485775" y="2418564"/>
          <a:ext cx="8172448" cy="1112520"/>
        </p:xfrm>
        <a:graphic>
          <a:graphicData uri="http://schemas.openxmlformats.org/drawingml/2006/table">
            <a:tbl>
              <a:tblPr firstRow="1" bandRow="1">
                <a:tableStyleId>{7DF18680-E054-41AD-8BC1-D1AEF772440D}</a:tableStyleId>
              </a:tblPr>
              <a:tblGrid>
                <a:gridCol w="2043112">
                  <a:extLst>
                    <a:ext uri="{9D8B030D-6E8A-4147-A177-3AD203B41FA5}">
                      <a16:colId xmlns:a16="http://schemas.microsoft.com/office/drawing/2014/main" val="1690366357"/>
                    </a:ext>
                  </a:extLst>
                </a:gridCol>
                <a:gridCol w="2043112">
                  <a:extLst>
                    <a:ext uri="{9D8B030D-6E8A-4147-A177-3AD203B41FA5}">
                      <a16:colId xmlns:a16="http://schemas.microsoft.com/office/drawing/2014/main" val="3113963944"/>
                    </a:ext>
                  </a:extLst>
                </a:gridCol>
                <a:gridCol w="2043112">
                  <a:extLst>
                    <a:ext uri="{9D8B030D-6E8A-4147-A177-3AD203B41FA5}">
                      <a16:colId xmlns:a16="http://schemas.microsoft.com/office/drawing/2014/main" val="407973877"/>
                    </a:ext>
                  </a:extLst>
                </a:gridCol>
                <a:gridCol w="2043112">
                  <a:extLst>
                    <a:ext uri="{9D8B030D-6E8A-4147-A177-3AD203B41FA5}">
                      <a16:colId xmlns:a16="http://schemas.microsoft.com/office/drawing/2014/main" val="3728440369"/>
                    </a:ext>
                  </a:extLst>
                </a:gridCol>
              </a:tblGrid>
              <a:tr h="37084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7084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7084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33975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946180"/>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339755"/>
            <a:ext cx="1636540" cy="1810421"/>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4346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4.9</a:t>
            </a:r>
          </a:p>
          <a:p>
            <a:r>
              <a:rPr lang="zh-CN" altLang="en-US" sz="2000" b="1" dirty="0">
                <a:solidFill>
                  <a:schemeClr val="bg1"/>
                </a:solidFill>
                <a:latin typeface="微软雅黑" pitchFamily="34" charset="-122"/>
                <a:ea typeface="微软雅黑" pitchFamily="34" charset="-122"/>
              </a:rPr>
              <a:t>多协议标签交换 </a:t>
            </a:r>
            <a:r>
              <a:rPr lang="en-US" altLang="zh-CN" sz="2000" b="1" dirty="0">
                <a:solidFill>
                  <a:schemeClr val="bg1"/>
                </a:solidFill>
                <a:latin typeface="微软雅黑" pitchFamily="34" charset="-122"/>
                <a:ea typeface="微软雅黑" pitchFamily="34" charset="-122"/>
              </a:rPr>
              <a:t>MPLS</a:t>
            </a:r>
            <a:endParaRPr lang="zh-CN" altLang="en-US" sz="2000" b="1" dirty="0">
              <a:solidFill>
                <a:schemeClr val="bg1"/>
              </a:solidFill>
              <a:latin typeface="微软雅黑" pitchFamily="34" charset="-122"/>
              <a:ea typeface="微软雅黑" pitchFamily="34" charset="-122"/>
            </a:endParaRPr>
          </a:p>
        </p:txBody>
      </p:sp>
      <p:sp>
        <p:nvSpPr>
          <p:cNvPr id="8" name="Rectangle 9"/>
          <p:cNvSpPr>
            <a:spLocks noChangeArrowheads="1"/>
          </p:cNvSpPr>
          <p:nvPr/>
        </p:nvSpPr>
        <p:spPr bwMode="auto">
          <a:xfrm>
            <a:off x="2303831" y="255260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8"/>
          <p:cNvSpPr>
            <a:spLocks noChangeArrowheads="1"/>
          </p:cNvSpPr>
          <p:nvPr/>
        </p:nvSpPr>
        <p:spPr bwMode="auto">
          <a:xfrm>
            <a:off x="2287349" y="1305211"/>
            <a:ext cx="6381872"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4.9.1                                           MPLS </a:t>
            </a:r>
            <a:r>
              <a:rPr lang="zh-CN" altLang="en-US" sz="2000" b="1" dirty="0">
                <a:solidFill>
                  <a:schemeClr val="bg1"/>
                </a:solidFill>
                <a:latin typeface="微软雅黑" pitchFamily="34" charset="-122"/>
                <a:ea typeface="微软雅黑" pitchFamily="34" charset="-122"/>
              </a:rPr>
              <a:t>的工作原理</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4.9.2                                 MPLS </a:t>
            </a:r>
            <a:r>
              <a:rPr lang="zh-CN" altLang="en-US" sz="2000" b="1" dirty="0">
                <a:solidFill>
                  <a:schemeClr val="bg1"/>
                </a:solidFill>
                <a:latin typeface="微软雅黑" pitchFamily="34" charset="-122"/>
                <a:ea typeface="微软雅黑" pitchFamily="34" charset="-122"/>
              </a:rPr>
              <a:t>首部的位置与格式</a:t>
            </a:r>
            <a:endParaRPr lang="en-US" altLang="zh-CN" sz="2000" b="1" dirty="0">
              <a:solidFill>
                <a:schemeClr val="bg1"/>
              </a:solidFill>
              <a:latin typeface="微软雅黑" pitchFamily="34" charset="-122"/>
              <a:ea typeface="微软雅黑" pitchFamily="34" charset="-122"/>
            </a:endParaRP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4.9.3                                               </a:t>
            </a:r>
            <a:r>
              <a:rPr lang="zh-CN" altLang="en-US" sz="2000" b="1" dirty="0">
                <a:solidFill>
                  <a:schemeClr val="bg1"/>
                </a:solidFill>
                <a:latin typeface="微软雅黑" pitchFamily="34" charset="-122"/>
                <a:ea typeface="微软雅黑" pitchFamily="34" charset="-122"/>
              </a:rPr>
              <a:t>新一代的 </a:t>
            </a:r>
            <a:r>
              <a:rPr lang="en-US" altLang="zh-CN" sz="2000" b="1" dirty="0">
                <a:solidFill>
                  <a:schemeClr val="bg1"/>
                </a:solidFill>
                <a:latin typeface="微软雅黑" pitchFamily="34" charset="-122"/>
                <a:ea typeface="微软雅黑" pitchFamily="34" charset="-122"/>
              </a:rPr>
              <a:t>MPLS</a:t>
            </a:r>
          </a:p>
          <a:p>
            <a:endParaRPr lang="zh-CN" altLang="en-US" sz="2000" b="1" dirty="0">
              <a:solidFill>
                <a:schemeClr val="bg1"/>
              </a:solidFill>
              <a:latin typeface="微软雅黑" pitchFamily="34" charset="-122"/>
              <a:ea typeface="微软雅黑" pitchFamily="34" charset="-122"/>
            </a:endParaRPr>
          </a:p>
        </p:txBody>
      </p:sp>
      <p:sp>
        <p:nvSpPr>
          <p:cNvPr id="6" name="Line 16"/>
          <p:cNvSpPr>
            <a:spLocks noChangeShapeType="1"/>
          </p:cNvSpPr>
          <p:nvPr/>
        </p:nvSpPr>
        <p:spPr bwMode="auto">
          <a:xfrm>
            <a:off x="3311894" y="1268318"/>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4193610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50216"/>
            <a:ext cx="8053712" cy="22696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Line 4"/>
          <p:cNvSpPr>
            <a:spLocks noChangeShapeType="1"/>
          </p:cNvSpPr>
          <p:nvPr/>
        </p:nvSpPr>
        <p:spPr bwMode="auto">
          <a:xfrm>
            <a:off x="6384717" y="1567295"/>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 name="Line 7"/>
          <p:cNvSpPr>
            <a:spLocks noChangeShapeType="1"/>
          </p:cNvSpPr>
          <p:nvPr/>
        </p:nvSpPr>
        <p:spPr bwMode="auto">
          <a:xfrm>
            <a:off x="2894576" y="1508732"/>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 name="Line 8"/>
          <p:cNvSpPr>
            <a:spLocks noChangeShapeType="1"/>
          </p:cNvSpPr>
          <p:nvPr/>
        </p:nvSpPr>
        <p:spPr bwMode="auto">
          <a:xfrm flipV="1">
            <a:off x="4220064" y="1498524"/>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9"/>
          <p:cNvSpPr>
            <a:spLocks noChangeShapeType="1"/>
          </p:cNvSpPr>
          <p:nvPr/>
        </p:nvSpPr>
        <p:spPr bwMode="auto">
          <a:xfrm>
            <a:off x="4221099" y="1567295"/>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10"/>
          <p:cNvSpPr>
            <a:spLocks noChangeShapeType="1"/>
          </p:cNvSpPr>
          <p:nvPr/>
        </p:nvSpPr>
        <p:spPr bwMode="auto">
          <a:xfrm flipV="1">
            <a:off x="6315389" y="1238151"/>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11"/>
          <p:cNvSpPr>
            <a:spLocks noChangeShapeType="1"/>
          </p:cNvSpPr>
          <p:nvPr/>
        </p:nvSpPr>
        <p:spPr bwMode="auto">
          <a:xfrm>
            <a:off x="6049775" y="2322657"/>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Freeform 15"/>
          <p:cNvSpPr>
            <a:spLocks/>
          </p:cNvSpPr>
          <p:nvPr/>
        </p:nvSpPr>
        <p:spPr bwMode="auto">
          <a:xfrm>
            <a:off x="3428964" y="1549534"/>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400" b="1">
              <a:latin typeface="微软雅黑" pitchFamily="34" charset="-122"/>
              <a:ea typeface="微软雅黑" pitchFamily="34" charset="-122"/>
            </a:endParaRPr>
          </a:p>
        </p:txBody>
      </p:sp>
      <p:sp>
        <p:nvSpPr>
          <p:cNvPr id="11" name="Text Box 16"/>
          <p:cNvSpPr txBox="1">
            <a:spLocks noChangeArrowheads="1"/>
          </p:cNvSpPr>
          <p:nvPr/>
        </p:nvSpPr>
        <p:spPr bwMode="auto">
          <a:xfrm>
            <a:off x="4221099" y="1277052"/>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0</a:t>
            </a:r>
          </a:p>
        </p:txBody>
      </p:sp>
      <p:sp>
        <p:nvSpPr>
          <p:cNvPr id="12" name="Text Box 17"/>
          <p:cNvSpPr txBox="1">
            <a:spLocks noChangeArrowheads="1"/>
          </p:cNvSpPr>
          <p:nvPr/>
        </p:nvSpPr>
        <p:spPr bwMode="auto">
          <a:xfrm>
            <a:off x="4108148" y="1589722"/>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1</a:t>
            </a:r>
          </a:p>
        </p:txBody>
      </p:sp>
      <p:sp>
        <p:nvSpPr>
          <p:cNvPr id="13" name="Text Box 18"/>
          <p:cNvSpPr txBox="1">
            <a:spLocks noChangeArrowheads="1"/>
          </p:cNvSpPr>
          <p:nvPr/>
        </p:nvSpPr>
        <p:spPr bwMode="auto">
          <a:xfrm>
            <a:off x="3989366" y="1098472"/>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1</a:t>
            </a:r>
          </a:p>
        </p:txBody>
      </p:sp>
      <p:sp>
        <p:nvSpPr>
          <p:cNvPr id="14" name="Text Box 19"/>
          <p:cNvSpPr txBox="1">
            <a:spLocks noChangeArrowheads="1"/>
          </p:cNvSpPr>
          <p:nvPr/>
        </p:nvSpPr>
        <p:spPr bwMode="auto">
          <a:xfrm>
            <a:off x="6155581" y="1098472"/>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2</a:t>
            </a:r>
          </a:p>
        </p:txBody>
      </p:sp>
      <p:sp>
        <p:nvSpPr>
          <p:cNvPr id="15" name="Text Box 20"/>
          <p:cNvSpPr txBox="1">
            <a:spLocks noChangeArrowheads="1"/>
          </p:cNvSpPr>
          <p:nvPr/>
        </p:nvSpPr>
        <p:spPr bwMode="auto">
          <a:xfrm>
            <a:off x="5746741" y="1860177"/>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3</a:t>
            </a:r>
          </a:p>
        </p:txBody>
      </p:sp>
      <p:sp>
        <p:nvSpPr>
          <p:cNvPr id="16" name="Line 21"/>
          <p:cNvSpPr>
            <a:spLocks noChangeShapeType="1"/>
          </p:cNvSpPr>
          <p:nvPr/>
        </p:nvSpPr>
        <p:spPr bwMode="auto">
          <a:xfrm>
            <a:off x="6049775" y="2374993"/>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54" name="组合 53"/>
          <p:cNvGrpSpPr/>
          <p:nvPr/>
        </p:nvGrpSpPr>
        <p:grpSpPr>
          <a:xfrm>
            <a:off x="2963903" y="1162973"/>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400" b="1">
                <a:latin typeface="微软雅黑" pitchFamily="34" charset="-122"/>
                <a:ea typeface="微软雅黑" pitchFamily="34" charset="-122"/>
              </a:endParaRPr>
            </a:p>
          </p:txBody>
        </p:sp>
      </p:grpSp>
      <p:sp>
        <p:nvSpPr>
          <p:cNvPr id="48" name="Rectangle 26"/>
          <p:cNvSpPr>
            <a:spLocks noChangeArrowheads="1"/>
          </p:cNvSpPr>
          <p:nvPr/>
        </p:nvSpPr>
        <p:spPr bwMode="auto">
          <a:xfrm>
            <a:off x="3424357" y="1172525"/>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0</a:t>
            </a:r>
          </a:p>
        </p:txBody>
      </p:sp>
      <p:sp>
        <p:nvSpPr>
          <p:cNvPr id="18" name="Text Box 27"/>
          <p:cNvSpPr txBox="1">
            <a:spLocks noChangeArrowheads="1"/>
          </p:cNvSpPr>
          <p:nvPr/>
        </p:nvSpPr>
        <p:spPr bwMode="auto">
          <a:xfrm>
            <a:off x="2126974" y="3012114"/>
            <a:ext cx="11192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的转发表</a:t>
            </a:r>
            <a:endParaRPr lang="zh-CN" altLang="en-US" sz="1400" b="1" baseline="-25000" dirty="0">
              <a:latin typeface="微软雅黑" pitchFamily="34" charset="-122"/>
              <a:ea typeface="微软雅黑" pitchFamily="34" charset="-122"/>
            </a:endParaRPr>
          </a:p>
        </p:txBody>
      </p:sp>
      <p:grpSp>
        <p:nvGrpSpPr>
          <p:cNvPr id="19" name="组合 18"/>
          <p:cNvGrpSpPr/>
          <p:nvPr/>
        </p:nvGrpSpPr>
        <p:grpSpPr>
          <a:xfrm rot="60000">
            <a:off x="4856034" y="1720532"/>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400" b="1">
                <a:latin typeface="微软雅黑" pitchFamily="34" charset="-122"/>
                <a:ea typeface="微软雅黑"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1371202"/>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1687073"/>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6"/>
          <p:cNvSpPr txBox="1">
            <a:spLocks noChangeArrowheads="1"/>
          </p:cNvSpPr>
          <p:nvPr/>
        </p:nvSpPr>
        <p:spPr bwMode="auto">
          <a:xfrm>
            <a:off x="2004337" y="1713913"/>
            <a:ext cx="1420582" cy="1320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400" b="1" dirty="0">
                <a:latin typeface="微软雅黑" pitchFamily="34" charset="-122"/>
                <a:ea typeface="微软雅黑" pitchFamily="34" charset="-122"/>
              </a:rPr>
              <a:t>标签   转发接口</a:t>
            </a:r>
          </a:p>
          <a:p>
            <a:pPr>
              <a:lnSpc>
                <a:spcPct val="110000"/>
              </a:lnSpc>
            </a:pPr>
            <a:r>
              <a:rPr lang="zh-CN" altLang="en-US" sz="1400" b="1" dirty="0">
                <a:latin typeface="微软雅黑" pitchFamily="34" charset="-122"/>
                <a:ea typeface="微软雅黑" pitchFamily="34" charset="-122"/>
              </a:rPr>
              <a:t>   </a:t>
            </a:r>
            <a:r>
              <a:rPr lang="en-US" altLang="zh-CN" sz="1400" b="1" dirty="0">
                <a:latin typeface="微软雅黑" pitchFamily="34" charset="-122"/>
                <a:ea typeface="微软雅黑" pitchFamily="34" charset="-122"/>
              </a:rPr>
              <a:t>0           1</a:t>
            </a:r>
          </a:p>
          <a:p>
            <a:pPr>
              <a:lnSpc>
                <a:spcPct val="110000"/>
              </a:lnSpc>
            </a:pPr>
            <a:r>
              <a:rPr lang="en-US" altLang="zh-CN" sz="1400" b="1" dirty="0">
                <a:latin typeface="微软雅黑" pitchFamily="34" charset="-122"/>
                <a:ea typeface="微软雅黑" pitchFamily="34" charset="-122"/>
              </a:rPr>
              <a:t>   1           0</a:t>
            </a:r>
          </a:p>
          <a:p>
            <a:pPr>
              <a:lnSpc>
                <a:spcPct val="110000"/>
              </a:lnSpc>
            </a:pPr>
            <a:r>
              <a:rPr lang="en-US" altLang="zh-CN" sz="1400" b="1" dirty="0">
                <a:latin typeface="微软雅黑" pitchFamily="34" charset="-122"/>
                <a:ea typeface="微软雅黑" pitchFamily="34" charset="-122"/>
              </a:rPr>
              <a:t>   2           1</a:t>
            </a:r>
          </a:p>
          <a:p>
            <a:pPr>
              <a:lnSpc>
                <a:spcPct val="110000"/>
              </a:lnSpc>
            </a:pPr>
            <a:r>
              <a:rPr lang="en-US" altLang="zh-CN" sz="1400" b="1" dirty="0">
                <a:latin typeface="微软雅黑" pitchFamily="34" charset="-122"/>
                <a:ea typeface="微软雅黑" pitchFamily="34" charset="-122"/>
              </a:rPr>
              <a:t>   3           1</a:t>
            </a:r>
          </a:p>
        </p:txBody>
      </p:sp>
      <p:sp>
        <p:nvSpPr>
          <p:cNvPr id="23" name="Line 13"/>
          <p:cNvSpPr>
            <a:spLocks noChangeShapeType="1"/>
          </p:cNvSpPr>
          <p:nvPr/>
        </p:nvSpPr>
        <p:spPr bwMode="auto">
          <a:xfrm flipV="1">
            <a:off x="1991725" y="1997206"/>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14"/>
          <p:cNvSpPr>
            <a:spLocks noChangeShapeType="1"/>
          </p:cNvSpPr>
          <p:nvPr/>
        </p:nvSpPr>
        <p:spPr bwMode="auto">
          <a:xfrm>
            <a:off x="2505986" y="1687073"/>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5" name="组合 24"/>
          <p:cNvGrpSpPr/>
          <p:nvPr/>
        </p:nvGrpSpPr>
        <p:grpSpPr>
          <a:xfrm>
            <a:off x="5370820" y="2302961"/>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2170837"/>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1506210"/>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1373715"/>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AutoShape 5"/>
          <p:cNvSpPr>
            <a:spLocks noChangeArrowheads="1"/>
          </p:cNvSpPr>
          <p:nvPr/>
        </p:nvSpPr>
        <p:spPr bwMode="auto">
          <a:xfrm>
            <a:off x="545144" y="611481"/>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51" name="Rectangle 6"/>
          <p:cNvSpPr>
            <a:spLocks noChangeArrowheads="1"/>
          </p:cNvSpPr>
          <p:nvPr/>
        </p:nvSpPr>
        <p:spPr bwMode="auto">
          <a:xfrm>
            <a:off x="2156973" y="586794"/>
            <a:ext cx="483292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4.9  </a:t>
            </a:r>
            <a:r>
              <a:rPr lang="zh-CN" altLang="en-US" sz="2400" b="1" dirty="0">
                <a:solidFill>
                  <a:schemeClr val="bg1"/>
                </a:solidFill>
                <a:latin typeface="微软雅黑" pitchFamily="34" charset="-122"/>
                <a:ea typeface="微软雅黑" pitchFamily="34" charset="-122"/>
              </a:rPr>
              <a:t>多协议标签交换 </a:t>
            </a:r>
            <a:r>
              <a:rPr lang="en-US" altLang="zh-CN" sz="2400" b="1" dirty="0">
                <a:solidFill>
                  <a:schemeClr val="bg1"/>
                </a:solidFill>
                <a:latin typeface="微软雅黑" pitchFamily="34" charset="-122"/>
                <a:ea typeface="微软雅黑" pitchFamily="34" charset="-122"/>
              </a:rPr>
              <a:t>MPLS</a:t>
            </a:r>
          </a:p>
        </p:txBody>
      </p:sp>
      <p:sp>
        <p:nvSpPr>
          <p:cNvPr id="52" name="矩形 51"/>
          <p:cNvSpPr/>
          <p:nvPr/>
        </p:nvSpPr>
        <p:spPr>
          <a:xfrm>
            <a:off x="680945" y="3334592"/>
            <a:ext cx="7521493" cy="1220847"/>
          </a:xfrm>
          <a:prstGeom prst="rect">
            <a:avLst/>
          </a:prstGeom>
        </p:spPr>
        <p:txBody>
          <a:bodyPr wrap="square">
            <a:spAutoFit/>
          </a:bodyPr>
          <a:lstStyle/>
          <a:p>
            <a:pPr marL="285750" indent="-285750">
              <a:lnSpc>
                <a:spcPts val="2200"/>
              </a:lnSpc>
              <a:buFont typeface="Wingdings" panose="05000000000000000000" pitchFamily="2" charset="2"/>
              <a:buChar char="l"/>
            </a:pPr>
            <a:r>
              <a:rPr lang="en-US" altLang="zh-CN" sz="1600" b="1" dirty="0">
                <a:latin typeface="微软雅黑" panose="020B0503020204020204" pitchFamily="34" charset="-122"/>
                <a:ea typeface="微软雅黑" panose="020B0503020204020204" pitchFamily="34" charset="-122"/>
              </a:rPr>
              <a:t>MPLS (</a:t>
            </a:r>
            <a:r>
              <a:rPr lang="en-US" altLang="zh-CN" sz="1600" b="1" dirty="0" err="1">
                <a:latin typeface="微软雅黑" panose="020B0503020204020204" pitchFamily="34" charset="-122"/>
                <a:ea typeface="微软雅黑" panose="020B0503020204020204" pitchFamily="34" charset="-122"/>
              </a:rPr>
              <a:t>MultiProtocol</a:t>
            </a:r>
            <a:r>
              <a:rPr lang="en-US" altLang="zh-CN" sz="1600" b="1" dirty="0">
                <a:latin typeface="微软雅黑" panose="020B0503020204020204" pitchFamily="34" charset="-122"/>
                <a:ea typeface="微软雅黑" panose="020B0503020204020204" pitchFamily="34" charset="-122"/>
              </a:rPr>
              <a:t> Label Switching)</a:t>
            </a:r>
            <a:r>
              <a:rPr lang="zh-CN" altLang="en-US" sz="1600" b="1" dirty="0">
                <a:latin typeface="微软雅黑" panose="020B0503020204020204" pitchFamily="34" charset="-122"/>
                <a:ea typeface="微软雅黑" panose="020B0503020204020204" pitchFamily="34" charset="-122"/>
              </a:rPr>
              <a:t>：互联网建议标准。</a:t>
            </a:r>
            <a:endParaRPr lang="en-US" altLang="zh-CN" sz="1600" b="1" dirty="0">
              <a:latin typeface="微软雅黑" panose="020B0503020204020204" pitchFamily="34" charset="-122"/>
              <a:ea typeface="微软雅黑" panose="020B0503020204020204" pitchFamily="34" charset="-122"/>
            </a:endParaRPr>
          </a:p>
          <a:p>
            <a:pPr marL="285750" indent="-285750">
              <a:lnSpc>
                <a:spcPts val="22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多协议：</a:t>
            </a:r>
            <a:r>
              <a:rPr lang="zh-CN" altLang="en-US" sz="1600" b="1" dirty="0">
                <a:latin typeface="微软雅黑" panose="020B0503020204020204" pitchFamily="34" charset="-122"/>
                <a:ea typeface="微软雅黑" panose="020B0503020204020204" pitchFamily="34" charset="-122"/>
              </a:rPr>
              <a:t>在 </a:t>
            </a:r>
            <a:r>
              <a:rPr lang="en-US" altLang="zh-CN" sz="1600" b="1" dirty="0">
                <a:latin typeface="微软雅黑" panose="020B0503020204020204" pitchFamily="34" charset="-122"/>
                <a:ea typeface="微软雅黑" panose="020B0503020204020204" pitchFamily="34" charset="-122"/>
              </a:rPr>
              <a:t>MPLS </a:t>
            </a:r>
            <a:r>
              <a:rPr lang="zh-CN" altLang="en-US" sz="1600" b="1" dirty="0">
                <a:latin typeface="微软雅黑" panose="020B0503020204020204" pitchFamily="34" charset="-122"/>
                <a:ea typeface="微软雅黑" panose="020B0503020204020204" pitchFamily="34" charset="-122"/>
              </a:rPr>
              <a:t>的上层可以采用多种协议。</a:t>
            </a:r>
          </a:p>
          <a:p>
            <a:pPr marL="285750" indent="-285750">
              <a:lnSpc>
                <a:spcPts val="22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标签：</a:t>
            </a:r>
            <a:r>
              <a:rPr lang="en-US" altLang="zh-CN" sz="1600" b="1" dirty="0">
                <a:latin typeface="微软雅黑" panose="020B0503020204020204" pitchFamily="34" charset="-122"/>
                <a:ea typeface="微软雅黑" panose="020B0503020204020204" pitchFamily="34" charset="-122"/>
              </a:rPr>
              <a:t>MPLS </a:t>
            </a:r>
            <a:r>
              <a:rPr lang="zh-CN" altLang="en-US" sz="1600" b="1" dirty="0">
                <a:latin typeface="微软雅黑" panose="020B0503020204020204" pitchFamily="34" charset="-122"/>
                <a:ea typeface="微软雅黑" panose="020B0503020204020204" pitchFamily="34" charset="-122"/>
              </a:rPr>
              <a:t>利用</a:t>
            </a:r>
            <a:r>
              <a:rPr lang="zh-CN" altLang="en-US" sz="1600" b="1" dirty="0">
                <a:solidFill>
                  <a:srgbClr val="0000FF"/>
                </a:solidFill>
                <a:latin typeface="微软雅黑" panose="020B0503020204020204" pitchFamily="34" charset="-122"/>
                <a:ea typeface="微软雅黑" panose="020B0503020204020204" pitchFamily="34" charset="-122"/>
              </a:rPr>
              <a:t>面向连接</a:t>
            </a:r>
            <a:r>
              <a:rPr lang="zh-CN" altLang="en-US" sz="1600" b="1" dirty="0">
                <a:latin typeface="微软雅黑" panose="020B0503020204020204" pitchFamily="34" charset="-122"/>
                <a:ea typeface="微软雅黑" panose="020B0503020204020204" pitchFamily="34" charset="-122"/>
              </a:rPr>
              <a:t>技术，使每个分组携带一个叫做标签 </a:t>
            </a:r>
            <a:r>
              <a:rPr lang="en-US" altLang="zh-CN" sz="1600" b="1" dirty="0">
                <a:latin typeface="微软雅黑" panose="020B0503020204020204" pitchFamily="34" charset="-122"/>
                <a:ea typeface="微软雅黑" panose="020B0503020204020204" pitchFamily="34" charset="-122"/>
              </a:rPr>
              <a:t>(label) </a:t>
            </a:r>
            <a:r>
              <a:rPr lang="zh-CN" altLang="en-US" sz="1600" b="1" dirty="0">
                <a:latin typeface="微软雅黑" panose="020B0503020204020204" pitchFamily="34" charset="-122"/>
                <a:ea typeface="微软雅黑" panose="020B0503020204020204" pitchFamily="34" charset="-122"/>
              </a:rPr>
              <a:t>的小整数。标签交换路由器用</a:t>
            </a:r>
            <a:r>
              <a:rPr lang="zh-CN" altLang="en-US" sz="1600" b="1" dirty="0">
                <a:solidFill>
                  <a:srgbClr val="0000FF"/>
                </a:solidFill>
                <a:latin typeface="微软雅黑" panose="020B0503020204020204" pitchFamily="34" charset="-122"/>
                <a:ea typeface="微软雅黑" panose="020B0503020204020204" pitchFamily="34" charset="-122"/>
              </a:rPr>
              <a:t>标签值</a:t>
            </a:r>
            <a:r>
              <a:rPr lang="zh-CN" altLang="en-US" sz="1600" b="1" dirty="0">
                <a:latin typeface="微软雅黑" panose="020B0503020204020204" pitchFamily="34" charset="-122"/>
                <a:ea typeface="微软雅黑" panose="020B0503020204020204" pitchFamily="34" charset="-122"/>
              </a:rPr>
              <a:t>检索转发表，实现分组的快速转发。</a:t>
            </a:r>
          </a:p>
        </p:txBody>
      </p:sp>
      <p:sp>
        <p:nvSpPr>
          <p:cNvPr id="53" name="Line 14"/>
          <p:cNvSpPr>
            <a:spLocks noChangeShapeType="1"/>
          </p:cNvSpPr>
          <p:nvPr/>
        </p:nvSpPr>
        <p:spPr bwMode="auto">
          <a:xfrm flipH="1">
            <a:off x="1652776" y="2133496"/>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346"/>
            <a:ext cx="8053712" cy="388721"/>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20834" y="609651"/>
            <a:ext cx="15023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MPLS </a:t>
            </a:r>
            <a:r>
              <a:rPr lang="zh-CN" altLang="en-US" sz="2000" b="1" dirty="0">
                <a:solidFill>
                  <a:schemeClr val="bg1"/>
                </a:solidFill>
                <a:latin typeface="微软雅黑" pitchFamily="34" charset="-122"/>
                <a:ea typeface="微软雅黑" pitchFamily="34" charset="-122"/>
              </a:rPr>
              <a:t>特点</a:t>
            </a:r>
          </a:p>
        </p:txBody>
      </p:sp>
      <p:sp>
        <p:nvSpPr>
          <p:cNvPr id="4" name="Rectangle 8"/>
          <p:cNvSpPr>
            <a:spLocks noChangeArrowheads="1"/>
          </p:cNvSpPr>
          <p:nvPr/>
        </p:nvSpPr>
        <p:spPr bwMode="auto">
          <a:xfrm>
            <a:off x="545144" y="998197"/>
            <a:ext cx="8053712"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并没有取代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，而是作为一种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增强技术。</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特点：</a:t>
            </a:r>
          </a:p>
          <a:p>
            <a:pPr marL="623888"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支持面向连接的服务质量；</a:t>
            </a:r>
          </a:p>
          <a:p>
            <a:pPr marL="623888"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支持流量工程，平衡网络负载；</a:t>
            </a:r>
          </a:p>
          <a:p>
            <a:pPr marL="623888"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有效地支持虚拟专用网 </a:t>
            </a:r>
            <a:r>
              <a:rPr lang="en-US" altLang="zh-CN" sz="2000" b="1" dirty="0">
                <a:latin typeface="微软雅黑" pitchFamily="34" charset="-122"/>
                <a:ea typeface="微软雅黑" pitchFamily="34" charset="-122"/>
              </a:rPr>
              <a:t>VPN</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46545"/>
            <a:ext cx="8053711" cy="285549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grpSp>
        <p:nvGrpSpPr>
          <p:cNvPr id="16" name="组合 15"/>
          <p:cNvGrpSpPr/>
          <p:nvPr/>
        </p:nvGrpSpPr>
        <p:grpSpPr>
          <a:xfrm>
            <a:off x="1549926" y="3220286"/>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1232492365"/>
              </p:ext>
            </p:extLst>
          </p:nvPr>
        </p:nvGraphicFramePr>
        <p:xfrm>
          <a:off x="1662692" y="2049022"/>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1045985726"/>
              </p:ext>
            </p:extLst>
          </p:nvPr>
        </p:nvGraphicFramePr>
        <p:xfrm>
          <a:off x="3453368" y="1167386"/>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353373646"/>
              </p:ext>
            </p:extLst>
          </p:nvPr>
        </p:nvGraphicFramePr>
        <p:xfrm>
          <a:off x="5497252" y="1168422"/>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1938899"/>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1997330"/>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2248765"/>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2503693"/>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4" name="矩形 93"/>
          <p:cNvSpPr/>
          <p:nvPr/>
        </p:nvSpPr>
        <p:spPr>
          <a:xfrm>
            <a:off x="993627" y="3884587"/>
            <a:ext cx="7308394" cy="938719"/>
          </a:xfrm>
          <a:prstGeom prst="rect">
            <a:avLst/>
          </a:prstGeom>
        </p:spPr>
        <p:txBody>
          <a:bodyPr wrap="square">
            <a:spAutoFit/>
          </a:bodyPr>
          <a:lstStyle/>
          <a:p>
            <a:pPr marL="285750" indent="-285750">
              <a:lnSpc>
                <a:spcPts val="22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当网络很大时，查找路由表要花费很多时间。</a:t>
            </a:r>
          </a:p>
          <a:p>
            <a:pPr marL="285750" indent="-285750">
              <a:lnSpc>
                <a:spcPts val="22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在出现突发通信时，缓存会溢出，引起分组丢失、传输时延增大和服务质量下降。</a:t>
            </a:r>
          </a:p>
        </p:txBody>
      </p:sp>
      <p:sp>
        <p:nvSpPr>
          <p:cNvPr id="95" name="矩形 94"/>
          <p:cNvSpPr/>
          <p:nvPr/>
        </p:nvSpPr>
        <p:spPr>
          <a:xfrm>
            <a:off x="759646" y="1165274"/>
            <a:ext cx="2167581" cy="369332"/>
          </a:xfrm>
          <a:prstGeom prst="rect">
            <a:avLst/>
          </a:prstGeom>
          <a:solidFill>
            <a:srgbClr val="0000FF"/>
          </a:solidFill>
        </p:spPr>
        <p:txBody>
          <a:bodyPr wrap="none">
            <a:spAutoFit/>
          </a:bodyPr>
          <a:lstStyle/>
          <a:p>
            <a:r>
              <a:rPr lang="zh-CN" altLang="en-US" b="1" dirty="0">
                <a:solidFill>
                  <a:schemeClr val="bg1"/>
                </a:solidFill>
                <a:latin typeface="微软雅黑" pitchFamily="34" charset="-122"/>
                <a:ea typeface="微软雅黑" pitchFamily="34" charset="-122"/>
              </a:rPr>
              <a:t>传统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分组的转发</a:t>
            </a:r>
          </a:p>
        </p:txBody>
      </p:sp>
      <p:sp>
        <p:nvSpPr>
          <p:cNvPr id="96" name="AutoShape 5"/>
          <p:cNvSpPr>
            <a:spLocks noChangeArrowheads="1"/>
          </p:cNvSpPr>
          <p:nvPr/>
        </p:nvSpPr>
        <p:spPr bwMode="auto">
          <a:xfrm>
            <a:off x="545144" y="62447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7" name="Rectangle 6"/>
          <p:cNvSpPr>
            <a:spLocks noChangeArrowheads="1"/>
          </p:cNvSpPr>
          <p:nvPr/>
        </p:nvSpPr>
        <p:spPr bwMode="auto">
          <a:xfrm>
            <a:off x="2765257" y="583611"/>
            <a:ext cx="361349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4.9.1  MPLS </a:t>
            </a:r>
            <a:r>
              <a:rPr lang="zh-CN" altLang="en-US" sz="2400" b="1" dirty="0">
                <a:solidFill>
                  <a:schemeClr val="bg1"/>
                </a:solidFill>
                <a:latin typeface="微软雅黑" pitchFamily="34" charset="-122"/>
                <a:ea typeface="微软雅黑" pitchFamily="34" charset="-122"/>
              </a:rPr>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94"/>
                                        </p:tgtEl>
                                        <p:attrNameLst>
                                          <p:attrName>style.visibility</p:attrName>
                                        </p:attrNameLst>
                                      </p:cBhvr>
                                      <p:to>
                                        <p:strVal val="visible"/>
                                      </p:to>
                                    </p:set>
                                    <p:animEffect transition="in" filter="fade">
                                      <p:cBhvr>
                                        <p:cTn id="36" dur="5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Lst>
  </p:timing>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545144" y="986000"/>
            <a:ext cx="8028487" cy="2439129"/>
          </a:xfrm>
          <a:prstGeom prst="rect">
            <a:avLst/>
          </a:prstGeom>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特点：</a:t>
            </a:r>
            <a:endParaRPr lang="en-US" altLang="zh-CN" sz="2000" b="1" dirty="0">
              <a:latin typeface="微软雅黑" pitchFamily="34" charset="-122"/>
              <a:ea typeface="微软雅黑" pitchFamily="34" charset="-122"/>
            </a:endParaRPr>
          </a:p>
          <a:p>
            <a:pPr marL="625475" lvl="1" indent="-285750">
              <a:lnSpc>
                <a:spcPts val="30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域的</a:t>
            </a:r>
            <a:r>
              <a:rPr lang="zh-CN" altLang="en-US" sz="2000" b="1" dirty="0">
                <a:solidFill>
                  <a:srgbClr val="0000FF"/>
                </a:solidFill>
                <a:latin typeface="微软雅黑" pitchFamily="34" charset="-122"/>
                <a:ea typeface="微软雅黑" pitchFamily="34" charset="-122"/>
              </a:rPr>
              <a:t>入口</a:t>
            </a:r>
            <a:r>
              <a:rPr lang="zh-CN" altLang="en-US" sz="2000" b="1" dirty="0">
                <a:latin typeface="微软雅黑" pitchFamily="34" charset="-122"/>
                <a:ea typeface="微软雅黑" pitchFamily="34" charset="-122"/>
              </a:rPr>
              <a:t>处，给每一个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数据报打上</a:t>
            </a:r>
            <a:r>
              <a:rPr lang="zh-CN" altLang="en-US" sz="2000" b="1" dirty="0">
                <a:solidFill>
                  <a:srgbClr val="0000FF"/>
                </a:solidFill>
                <a:latin typeface="微软雅黑" pitchFamily="34" charset="-122"/>
                <a:ea typeface="微软雅黑" pitchFamily="34" charset="-122"/>
              </a:rPr>
              <a:t>固定长度</a:t>
            </a:r>
            <a:r>
              <a:rPr lang="zh-CN" altLang="en-US" sz="2000" b="1" dirty="0">
                <a:latin typeface="微软雅黑" pitchFamily="34" charset="-122"/>
                <a:ea typeface="微软雅黑" pitchFamily="34" charset="-122"/>
              </a:rPr>
              <a:t>标签。</a:t>
            </a:r>
            <a:endParaRPr lang="en-US" altLang="zh-CN" sz="2000" b="1" dirty="0">
              <a:latin typeface="微软雅黑" pitchFamily="34" charset="-122"/>
              <a:ea typeface="微软雅黑" pitchFamily="34" charset="-122"/>
            </a:endParaRPr>
          </a:p>
          <a:p>
            <a:pPr marL="625475" lvl="1" indent="-285750">
              <a:lnSpc>
                <a:spcPts val="30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对打上标签的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数据报在</a:t>
            </a:r>
            <a:r>
              <a:rPr lang="zh-CN" altLang="en-US" sz="2000" b="1" dirty="0">
                <a:solidFill>
                  <a:srgbClr val="0000FF"/>
                </a:solidFill>
                <a:latin typeface="微软雅黑" pitchFamily="34" charset="-122"/>
                <a:ea typeface="微软雅黑" pitchFamily="34" charset="-122"/>
              </a:rPr>
              <a:t>第二层</a:t>
            </a:r>
            <a:r>
              <a:rPr lang="zh-CN" altLang="en-US" sz="2000" b="1" dirty="0">
                <a:latin typeface="微软雅黑" pitchFamily="34" charset="-122"/>
                <a:ea typeface="微软雅黑" pitchFamily="34" charset="-122"/>
              </a:rPr>
              <a:t>（链路层）用</a:t>
            </a:r>
            <a:r>
              <a:rPr lang="zh-CN" altLang="en-US" sz="2000" b="1" dirty="0">
                <a:solidFill>
                  <a:srgbClr val="0000FF"/>
                </a:solidFill>
                <a:latin typeface="微软雅黑" pitchFamily="34" charset="-122"/>
                <a:ea typeface="微软雅黑" pitchFamily="34" charset="-122"/>
              </a:rPr>
              <a:t>硬件</a:t>
            </a:r>
            <a:r>
              <a:rPr lang="zh-CN" altLang="en-US" sz="2000" b="1" dirty="0">
                <a:latin typeface="微软雅黑" pitchFamily="34" charset="-122"/>
                <a:ea typeface="微软雅黑" pitchFamily="34" charset="-122"/>
              </a:rPr>
              <a:t>进行转发。</a:t>
            </a:r>
          </a:p>
          <a:p>
            <a:pPr marL="625475" lvl="1" indent="-285750">
              <a:lnSpc>
                <a:spcPts val="30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采用硬件技术对打上标签的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数据报进行转发就称为</a:t>
            </a:r>
            <a:r>
              <a:rPr lang="zh-CN" altLang="en-US" sz="2000" b="1" dirty="0">
                <a:solidFill>
                  <a:srgbClr val="0000FF"/>
                </a:solidFill>
                <a:latin typeface="微软雅黑" pitchFamily="34" charset="-122"/>
                <a:ea typeface="微软雅黑" pitchFamily="34" charset="-122"/>
              </a:rPr>
              <a:t>标签交换。</a:t>
            </a:r>
            <a:endParaRPr lang="en-US" altLang="zh-CN" sz="2000" b="1" dirty="0">
              <a:solidFill>
                <a:srgbClr val="0000FF"/>
              </a:solidFill>
              <a:latin typeface="微软雅黑" pitchFamily="34" charset="-122"/>
              <a:ea typeface="微软雅黑" pitchFamily="34" charset="-122"/>
            </a:endParaRPr>
          </a:p>
          <a:p>
            <a:pPr marL="625475" lvl="1" indent="-285750">
              <a:lnSpc>
                <a:spcPts val="30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可以使用</a:t>
            </a:r>
            <a:r>
              <a:rPr lang="zh-CN" altLang="en-US" sz="2000" b="1" dirty="0">
                <a:solidFill>
                  <a:srgbClr val="0000FF"/>
                </a:solidFill>
                <a:latin typeface="微软雅黑" pitchFamily="34" charset="-122"/>
                <a:ea typeface="微软雅黑" pitchFamily="34" charset="-122"/>
              </a:rPr>
              <a:t>多种</a:t>
            </a:r>
            <a:r>
              <a:rPr lang="zh-CN" altLang="en-US" sz="2000" b="1" dirty="0">
                <a:latin typeface="微软雅黑" pitchFamily="34" charset="-122"/>
                <a:ea typeface="微软雅黑" pitchFamily="34" charset="-122"/>
              </a:rPr>
              <a:t>数据链路层协议，如 </a:t>
            </a:r>
            <a:r>
              <a:rPr lang="en-US" altLang="zh-CN" sz="2000" b="1" dirty="0">
                <a:latin typeface="微软雅黑" pitchFamily="34" charset="-122"/>
                <a:ea typeface="微软雅黑" pitchFamily="34" charset="-122"/>
              </a:rPr>
              <a:t>PPP</a:t>
            </a:r>
            <a:r>
              <a:rPr lang="zh-CN" altLang="en-US" sz="2000" b="1" dirty="0">
                <a:latin typeface="微软雅黑" pitchFamily="34" charset="-122"/>
                <a:ea typeface="微软雅黑" pitchFamily="34" charset="-122"/>
              </a:rPr>
              <a:t>、以太网、</a:t>
            </a:r>
            <a:r>
              <a:rPr lang="en-US" altLang="zh-CN" sz="2000" b="1" dirty="0">
                <a:latin typeface="微软雅黑" pitchFamily="34" charset="-122"/>
                <a:ea typeface="微软雅黑" pitchFamily="34" charset="-122"/>
              </a:rPr>
              <a:t>ATM </a:t>
            </a:r>
            <a:r>
              <a:rPr lang="zh-CN" altLang="en-US" sz="2000" b="1" dirty="0">
                <a:latin typeface="微软雅黑" pitchFamily="34" charset="-122"/>
                <a:ea typeface="微软雅黑" pitchFamily="34" charset="-122"/>
              </a:rPr>
              <a:t>以及帧中继等。</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45145" y="624553"/>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1342"/>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MPLS </a:t>
            </a:r>
            <a:r>
              <a:rPr lang="zh-CN" altLang="en-US" sz="2000" b="1" dirty="0">
                <a:solidFill>
                  <a:schemeClr val="bg1"/>
                </a:solidFill>
                <a:latin typeface="微软雅黑" pitchFamily="34" charset="-122"/>
                <a:ea typeface="微软雅黑" pitchFamily="34" charset="-122"/>
              </a:rPr>
              <a:t>基本工作过程</a:t>
            </a:r>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74121"/>
            <a:ext cx="8053712" cy="31814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AutoShape 5"/>
          <p:cNvSpPr>
            <a:spLocks noChangeArrowheads="1"/>
          </p:cNvSpPr>
          <p:nvPr/>
        </p:nvSpPr>
        <p:spPr bwMode="auto">
          <a:xfrm>
            <a:off x="545144" y="6158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4" y="565896"/>
            <a:ext cx="5213215" cy="400110"/>
          </a:xfrm>
          <a:prstGeom prst="rect">
            <a:avLst/>
          </a:prstGeom>
        </p:spPr>
        <p:txBody>
          <a:bodyPr wrap="square">
            <a:spAutoFit/>
          </a:bodyPr>
          <a:lstStyle/>
          <a:p>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协议的基本原理</a:t>
            </a:r>
          </a:p>
        </p:txBody>
      </p:sp>
      <p:sp>
        <p:nvSpPr>
          <p:cNvPr id="31" name="Rectangle 29"/>
          <p:cNvSpPr>
            <a:spLocks noChangeArrowheads="1"/>
          </p:cNvSpPr>
          <p:nvPr/>
        </p:nvSpPr>
        <p:spPr bwMode="auto">
          <a:xfrm rot="10800000">
            <a:off x="1137839" y="3834468"/>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32" name="Text Box 30"/>
          <p:cNvSpPr txBox="1">
            <a:spLocks noChangeArrowheads="1"/>
          </p:cNvSpPr>
          <p:nvPr/>
        </p:nvSpPr>
        <p:spPr bwMode="auto">
          <a:xfrm>
            <a:off x="1411660" y="3717410"/>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b="1" dirty="0">
                <a:latin typeface="微软雅黑" pitchFamily="34" charset="-122"/>
                <a:ea typeface="微软雅黑" pitchFamily="34" charset="-122"/>
              </a:rPr>
              <a:t>普通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3775452"/>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461262"/>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b="1">
                <a:latin typeface="微软雅黑" pitchFamily="34" charset="-122"/>
                <a:ea typeface="微软雅黑"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打上标签</a:t>
              </a:r>
            </a:p>
          </p:txBody>
        </p:sp>
      </p:grpSp>
      <p:grpSp>
        <p:nvGrpSpPr>
          <p:cNvPr id="115" name="组合 114"/>
          <p:cNvGrpSpPr/>
          <p:nvPr/>
        </p:nvGrpSpPr>
        <p:grpSpPr>
          <a:xfrm>
            <a:off x="6512026" y="1462305"/>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b="1">
                <a:latin typeface="微软雅黑" pitchFamily="34" charset="-122"/>
                <a:ea typeface="微软雅黑"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371425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371741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普通路由器</a:t>
            </a:r>
          </a:p>
        </p:txBody>
      </p:sp>
      <p:sp>
        <p:nvSpPr>
          <p:cNvPr id="73" name="Text Box 72"/>
          <p:cNvSpPr txBox="1">
            <a:spLocks noChangeArrowheads="1"/>
          </p:cNvSpPr>
          <p:nvPr/>
        </p:nvSpPr>
        <p:spPr bwMode="auto">
          <a:xfrm>
            <a:off x="6502947" y="3717410"/>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标签交换路由器 </a:t>
            </a:r>
            <a:r>
              <a:rPr kumimoji="1" lang="en-US" altLang="zh-CN" sz="1200" b="1" dirty="0">
                <a:latin typeface="微软雅黑" pitchFamily="34" charset="-122"/>
                <a:ea typeface="微软雅黑" pitchFamily="34" charset="-122"/>
              </a:rPr>
              <a:t>LSR</a:t>
            </a:r>
          </a:p>
        </p:txBody>
      </p:sp>
      <p:sp>
        <p:nvSpPr>
          <p:cNvPr id="74" name="Text Box 73"/>
          <p:cNvSpPr txBox="1">
            <a:spLocks noChangeArrowheads="1"/>
          </p:cNvSpPr>
          <p:nvPr/>
        </p:nvSpPr>
        <p:spPr bwMode="auto">
          <a:xfrm>
            <a:off x="3133748" y="3717410"/>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b="1" dirty="0">
                <a:latin typeface="微软雅黑" pitchFamily="34" charset="-122"/>
                <a:ea typeface="微软雅黑" pitchFamily="34" charset="-122"/>
              </a:rPr>
              <a:t>打上标签的分组</a:t>
            </a:r>
          </a:p>
        </p:txBody>
      </p:sp>
      <p:grpSp>
        <p:nvGrpSpPr>
          <p:cNvPr id="110" name="组合 109"/>
          <p:cNvGrpSpPr/>
          <p:nvPr/>
        </p:nvGrpSpPr>
        <p:grpSpPr>
          <a:xfrm>
            <a:off x="1347389" y="1173259"/>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b="1">
                <a:latin typeface="微软雅黑" pitchFamily="34" charset="-122"/>
                <a:ea typeface="微软雅黑"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b="1">
                <a:latin typeface="微软雅黑" pitchFamily="34" charset="-122"/>
                <a:ea typeface="微软雅黑"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6" name="Text Box 24"/>
            <p:cNvSpPr txBox="1">
              <a:spLocks noChangeArrowheads="1"/>
            </p:cNvSpPr>
            <p:nvPr/>
          </p:nvSpPr>
          <p:spPr bwMode="auto">
            <a:xfrm>
              <a:off x="4094428" y="1259189"/>
              <a:ext cx="1032655" cy="2893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b="1" dirty="0">
                  <a:solidFill>
                    <a:srgbClr val="000099"/>
                  </a:solidFill>
                  <a:latin typeface="微软雅黑" pitchFamily="34" charset="-122"/>
                  <a:ea typeface="微软雅黑" pitchFamily="34" charset="-122"/>
                </a:rPr>
                <a:t>MPLS </a:t>
              </a:r>
              <a:r>
                <a:rPr kumimoji="1" lang="zh-CN" altLang="en-US" sz="1600" b="1" dirty="0">
                  <a:solidFill>
                    <a:srgbClr val="000099"/>
                  </a:solidFill>
                  <a:latin typeface="微软雅黑" pitchFamily="34" charset="-122"/>
                  <a:ea typeface="微软雅黑"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2" name="Text Box 41"/>
            <p:cNvSpPr txBox="1">
              <a:spLocks noChangeArrowheads="1"/>
            </p:cNvSpPr>
            <p:nvPr/>
          </p:nvSpPr>
          <p:spPr bwMode="auto">
            <a:xfrm rot="20668789">
              <a:off x="3137432" y="1816842"/>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dirty="0">
                  <a:solidFill>
                    <a:srgbClr val="CC00CC"/>
                  </a:solidFill>
                  <a:latin typeface="微软雅黑" pitchFamily="34" charset="-122"/>
                  <a:ea typeface="微软雅黑" pitchFamily="34" charset="-122"/>
                </a:rPr>
                <a:t>LDP</a:t>
              </a:r>
            </a:p>
          </p:txBody>
        </p:sp>
        <p:sp>
          <p:nvSpPr>
            <p:cNvPr id="43" name="Text Box 42"/>
            <p:cNvSpPr txBox="1">
              <a:spLocks noChangeArrowheads="1"/>
            </p:cNvSpPr>
            <p:nvPr/>
          </p:nvSpPr>
          <p:spPr bwMode="auto">
            <a:xfrm rot="1038311">
              <a:off x="4618570" y="1766569"/>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a:solidFill>
                    <a:srgbClr val="CC00CC"/>
                  </a:solidFill>
                  <a:latin typeface="微软雅黑" pitchFamily="34" charset="-122"/>
                  <a:ea typeface="微软雅黑" pitchFamily="34" charset="-122"/>
                </a:rPr>
                <a:t>LDP</a:t>
              </a:r>
            </a:p>
          </p:txBody>
        </p:sp>
        <p:sp>
          <p:nvSpPr>
            <p:cNvPr id="44" name="Text Box 43"/>
            <p:cNvSpPr txBox="1">
              <a:spLocks noChangeArrowheads="1"/>
            </p:cNvSpPr>
            <p:nvPr/>
          </p:nvSpPr>
          <p:spPr bwMode="auto">
            <a:xfrm rot="107100">
              <a:off x="5768198" y="1965475"/>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a:solidFill>
                    <a:srgbClr val="CC00CC"/>
                  </a:solidFill>
                  <a:latin typeface="微软雅黑" pitchFamily="34" charset="-122"/>
                  <a:ea typeface="微软雅黑"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MPLS</a:t>
              </a:r>
            </a:p>
            <a:p>
              <a:pPr algn="ctr">
                <a:lnSpc>
                  <a:spcPct val="90000"/>
                </a:lnSpc>
              </a:pPr>
              <a:r>
                <a:rPr kumimoji="1" lang="zh-CN" altLang="en-US" sz="1400" b="1" dirty="0">
                  <a:latin typeface="微软雅黑" pitchFamily="34" charset="-122"/>
                  <a:ea typeface="微软雅黑"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MPLS</a:t>
              </a:r>
            </a:p>
            <a:p>
              <a:pPr algn="ctr">
                <a:lnSpc>
                  <a:spcPct val="90000"/>
                </a:lnSpc>
              </a:pPr>
              <a:r>
                <a:rPr kumimoji="1" lang="zh-CN" altLang="en-US" sz="1400" b="1" dirty="0">
                  <a:latin typeface="微软雅黑" pitchFamily="34" charset="-122"/>
                  <a:ea typeface="微软雅黑"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b="1">
                <a:latin typeface="微软雅黑" pitchFamily="34" charset="-122"/>
                <a:ea typeface="微软雅黑"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Text Box 60"/>
            <p:cNvSpPr txBox="1">
              <a:spLocks noChangeArrowheads="1"/>
            </p:cNvSpPr>
            <p:nvPr/>
          </p:nvSpPr>
          <p:spPr bwMode="auto">
            <a:xfrm>
              <a:off x="2597095" y="1925593"/>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A</a:t>
              </a:r>
            </a:p>
          </p:txBody>
        </p:sp>
        <p:sp>
          <p:nvSpPr>
            <p:cNvPr id="62" name="Text Box 61"/>
            <p:cNvSpPr txBox="1">
              <a:spLocks noChangeArrowheads="1"/>
            </p:cNvSpPr>
            <p:nvPr/>
          </p:nvSpPr>
          <p:spPr bwMode="auto">
            <a:xfrm>
              <a:off x="4063388" y="1505826"/>
              <a:ext cx="30809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B</a:t>
              </a:r>
            </a:p>
          </p:txBody>
        </p:sp>
        <p:sp>
          <p:nvSpPr>
            <p:cNvPr id="63" name="Text Box 62"/>
            <p:cNvSpPr txBox="1">
              <a:spLocks noChangeArrowheads="1"/>
            </p:cNvSpPr>
            <p:nvPr/>
          </p:nvSpPr>
          <p:spPr bwMode="auto">
            <a:xfrm>
              <a:off x="5241520" y="1811786"/>
              <a:ext cx="304892"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C</a:t>
              </a:r>
            </a:p>
          </p:txBody>
        </p:sp>
        <p:sp>
          <p:nvSpPr>
            <p:cNvPr id="64" name="Text Box 63"/>
            <p:cNvSpPr txBox="1">
              <a:spLocks noChangeArrowheads="1"/>
            </p:cNvSpPr>
            <p:nvPr/>
          </p:nvSpPr>
          <p:spPr bwMode="auto">
            <a:xfrm>
              <a:off x="6214348" y="1899217"/>
              <a:ext cx="3273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173437"/>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3</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12" name="组合 111"/>
          <p:cNvGrpSpPr/>
          <p:nvPr/>
        </p:nvGrpSpPr>
        <p:grpSpPr>
          <a:xfrm>
            <a:off x="4478891" y="2112017"/>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1</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13" name="组合 112"/>
          <p:cNvGrpSpPr/>
          <p:nvPr/>
        </p:nvGrpSpPr>
        <p:grpSpPr>
          <a:xfrm>
            <a:off x="5732321" y="2339902"/>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2</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06" name="组合 105"/>
          <p:cNvGrpSpPr/>
          <p:nvPr/>
        </p:nvGrpSpPr>
        <p:grpSpPr>
          <a:xfrm>
            <a:off x="2653945" y="3785732"/>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X</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492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56158"/>
            <a:ext cx="1245854" cy="400110"/>
          </a:xfrm>
          <a:prstGeom prst="rect">
            <a:avLst/>
          </a:prstGeom>
        </p:spPr>
        <p:txBody>
          <a:bodyPr wrap="none">
            <a:spAutoFit/>
          </a:bodyPr>
          <a:lstStyle/>
          <a:p>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域</a:t>
            </a:r>
          </a:p>
        </p:txBody>
      </p:sp>
      <p:sp>
        <p:nvSpPr>
          <p:cNvPr id="4" name="矩形 3"/>
          <p:cNvSpPr/>
          <p:nvPr/>
        </p:nvSpPr>
        <p:spPr>
          <a:xfrm>
            <a:off x="545144" y="939694"/>
            <a:ext cx="8028487" cy="2208297"/>
          </a:xfrm>
          <a:prstGeom prst="rect">
            <a:avLst/>
          </a:prstGeom>
        </p:spPr>
        <p:txBody>
          <a:bodyPr wrap="square">
            <a:spAutoFit/>
          </a:bodyPr>
          <a:lstStyle/>
          <a:p>
            <a:pPr marL="285750" indent="-285750">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MPLS </a:t>
            </a:r>
            <a:r>
              <a:rPr lang="zh-CN" altLang="en-US" sz="2000" b="1" dirty="0">
                <a:solidFill>
                  <a:srgbClr val="C00000"/>
                </a:solidFill>
                <a:latin typeface="微软雅黑" pitchFamily="34" charset="-122"/>
                <a:ea typeface="微软雅黑" pitchFamily="34" charset="-122"/>
              </a:rPr>
              <a:t>域</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(MPLS domain) </a:t>
            </a:r>
            <a:r>
              <a:rPr lang="zh-CN" altLang="en-US" sz="2000" b="1" dirty="0">
                <a:latin typeface="微软雅黑" pitchFamily="34" charset="-122"/>
                <a:ea typeface="微软雅黑" pitchFamily="34" charset="-122"/>
              </a:rPr>
              <a:t>：指该域中有许多彼此相邻的路由器，并且所有的路由器都是支持 </a:t>
            </a: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技术的</a:t>
            </a:r>
            <a:r>
              <a:rPr lang="zh-CN" altLang="en-US" sz="2000" b="1" dirty="0">
                <a:solidFill>
                  <a:srgbClr val="C00000"/>
                </a:solidFill>
                <a:latin typeface="微软雅黑" pitchFamily="34" charset="-122"/>
                <a:ea typeface="微软雅黑" pitchFamily="34" charset="-122"/>
              </a:rPr>
              <a:t>标记交换路由器 </a:t>
            </a:r>
            <a:r>
              <a:rPr lang="en-US" altLang="zh-CN" sz="2000" b="1" dirty="0">
                <a:latin typeface="微软雅黑" pitchFamily="34" charset="-122"/>
                <a:ea typeface="微软雅黑" pitchFamily="34" charset="-122"/>
              </a:rPr>
              <a:t>LSR (Label Switching Router)</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LSR </a:t>
            </a:r>
            <a:r>
              <a:rPr lang="zh-CN" altLang="en-US" sz="2000" b="1" dirty="0">
                <a:latin typeface="微软雅黑" pitchFamily="34" charset="-122"/>
                <a:ea typeface="微软雅黑" pitchFamily="34" charset="-122"/>
              </a:rPr>
              <a:t>同时具有</a:t>
            </a:r>
            <a:r>
              <a:rPr lang="zh-CN" altLang="en-US" sz="2000" b="1" dirty="0">
                <a:solidFill>
                  <a:srgbClr val="C00000"/>
                </a:solidFill>
                <a:latin typeface="微软雅黑" pitchFamily="34" charset="-122"/>
                <a:ea typeface="微软雅黑" pitchFamily="34" charset="-122"/>
              </a:rPr>
              <a:t>标记交换</a:t>
            </a:r>
            <a:r>
              <a:rPr lang="zh-CN" altLang="en-US" sz="2000" b="1" dirty="0">
                <a:latin typeface="微软雅黑" pitchFamily="34" charset="-122"/>
                <a:ea typeface="微软雅黑" pitchFamily="34" charset="-122"/>
              </a:rPr>
              <a:t>和</a:t>
            </a:r>
            <a:r>
              <a:rPr lang="zh-CN" altLang="en-US" sz="2000" b="1" dirty="0">
                <a:solidFill>
                  <a:srgbClr val="C00000"/>
                </a:solidFill>
                <a:latin typeface="微软雅黑" pitchFamily="34" charset="-122"/>
                <a:ea typeface="微软雅黑" pitchFamily="34" charset="-122"/>
              </a:rPr>
              <a:t>路由选择</a:t>
            </a:r>
            <a:r>
              <a:rPr lang="zh-CN" altLang="en-US" sz="2000" b="1" dirty="0">
                <a:latin typeface="微软雅黑" pitchFamily="34" charset="-122"/>
                <a:ea typeface="微软雅黑" pitchFamily="34" charset="-122"/>
              </a:rPr>
              <a:t>这两种功能。标记交换功能是为了</a:t>
            </a:r>
            <a:r>
              <a:rPr lang="zh-CN" altLang="en-US" sz="2000" b="1" dirty="0">
                <a:solidFill>
                  <a:srgbClr val="C00000"/>
                </a:solidFill>
                <a:latin typeface="微软雅黑" pitchFamily="34" charset="-122"/>
                <a:ea typeface="微软雅黑" pitchFamily="34" charset="-122"/>
              </a:rPr>
              <a:t>快速转发，</a:t>
            </a:r>
            <a:r>
              <a:rPr lang="zh-CN" altLang="en-US" sz="2000" b="1" dirty="0">
                <a:latin typeface="微软雅黑" pitchFamily="34" charset="-122"/>
                <a:ea typeface="微软雅黑" pitchFamily="34" charset="-122"/>
              </a:rPr>
              <a:t>路由选择功能是为了</a:t>
            </a:r>
            <a:r>
              <a:rPr lang="zh-CN" altLang="en-US" sz="2000" b="1" dirty="0">
                <a:solidFill>
                  <a:srgbClr val="C00000"/>
                </a:solidFill>
                <a:latin typeface="微软雅黑" pitchFamily="34" charset="-122"/>
                <a:ea typeface="微软雅黑" pitchFamily="34" charset="-122"/>
              </a:rPr>
              <a:t>构造转发表。</a:t>
            </a:r>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57204"/>
            <a:ext cx="2784737" cy="400110"/>
          </a:xfrm>
          <a:prstGeom prst="rect">
            <a:avLst/>
          </a:prstGeom>
        </p:spPr>
        <p:txBody>
          <a:bodyPr wrap="none">
            <a:spAutoFit/>
          </a:bodyPr>
          <a:lstStyle/>
          <a:p>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的基本工作过程</a:t>
            </a:r>
          </a:p>
        </p:txBody>
      </p:sp>
      <p:sp>
        <p:nvSpPr>
          <p:cNvPr id="4" name="矩形 3"/>
          <p:cNvSpPr/>
          <p:nvPr/>
        </p:nvSpPr>
        <p:spPr>
          <a:xfrm>
            <a:off x="545144" y="930643"/>
            <a:ext cx="8028487" cy="3323987"/>
          </a:xfrm>
          <a:prstGeom prst="rect">
            <a:avLst/>
          </a:prstGeom>
        </p:spPr>
        <p:txBody>
          <a:bodyPr wrap="square">
            <a:spAutoFit/>
          </a:bodyPr>
          <a:lstStyle/>
          <a:p>
            <a:pPr marL="457200" indent="-457200">
              <a:lnSpc>
                <a:spcPts val="2800"/>
              </a:lnSpc>
              <a:buClr>
                <a:schemeClr val="tx1"/>
              </a:buClr>
              <a:buFont typeface="+mj-lt"/>
              <a:buAutoNum type="arabicPeriod"/>
            </a:pPr>
            <a:r>
              <a:rPr lang="zh-CN" altLang="en-US" sz="2000" b="1" dirty="0">
                <a:solidFill>
                  <a:srgbClr val="0000FF"/>
                </a:solidFill>
                <a:latin typeface="微软雅黑" pitchFamily="34" charset="-122"/>
                <a:ea typeface="微软雅黑" pitchFamily="34" charset="-122"/>
              </a:rPr>
              <a:t>找出标签交换路径 </a:t>
            </a:r>
            <a:r>
              <a:rPr lang="en-US" altLang="zh-CN" sz="2000" b="1" dirty="0">
                <a:solidFill>
                  <a:srgbClr val="0000FF"/>
                </a:solidFill>
                <a:latin typeface="微软雅黑" pitchFamily="34" charset="-122"/>
                <a:ea typeface="微软雅黑" pitchFamily="34" charset="-122"/>
              </a:rPr>
              <a:t>LSP</a:t>
            </a:r>
            <a:r>
              <a:rPr lang="zh-CN" altLang="en-US" sz="2000" b="1" dirty="0">
                <a:solidFill>
                  <a:srgbClr val="0000FF"/>
                </a:solidFill>
                <a:latin typeface="微软雅黑" pitchFamily="34" charset="-122"/>
                <a:ea typeface="微软雅黑" pitchFamily="34" charset="-122"/>
              </a:rPr>
              <a:t>。</a:t>
            </a:r>
            <a:endParaRPr lang="en-US" altLang="zh-CN" sz="2000" b="1" dirty="0">
              <a:solidFill>
                <a:srgbClr val="0000FF"/>
              </a:solidFill>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zh-CN" altLang="en-US" b="1" dirty="0">
                <a:latin typeface="微软雅黑" pitchFamily="34" charset="-122"/>
                <a:ea typeface="微软雅黑" pitchFamily="34" charset="-122"/>
              </a:rPr>
              <a:t>各 </a:t>
            </a:r>
            <a:r>
              <a:rPr lang="en-US" altLang="zh-CN" b="1" dirty="0">
                <a:latin typeface="微软雅黑" pitchFamily="34" charset="-122"/>
                <a:ea typeface="微软雅黑" pitchFamily="34" charset="-122"/>
              </a:rPr>
              <a:t>LSR </a:t>
            </a:r>
            <a:r>
              <a:rPr lang="zh-CN" altLang="en-US" b="1" dirty="0">
                <a:latin typeface="微软雅黑" pitchFamily="34" charset="-122"/>
                <a:ea typeface="微软雅黑" pitchFamily="34" charset="-122"/>
              </a:rPr>
              <a:t>使用</a:t>
            </a:r>
            <a:r>
              <a:rPr lang="zh-CN" altLang="en-US" b="1" dirty="0">
                <a:solidFill>
                  <a:srgbClr val="C00000"/>
                </a:solidFill>
                <a:latin typeface="微软雅黑" pitchFamily="34" charset="-122"/>
                <a:ea typeface="微软雅黑" pitchFamily="34" charset="-122"/>
              </a:rPr>
              <a:t>标签分配协议 </a:t>
            </a:r>
            <a:r>
              <a:rPr lang="en-US" altLang="zh-CN" b="1" dirty="0">
                <a:solidFill>
                  <a:srgbClr val="C00000"/>
                </a:solidFill>
                <a:latin typeface="微软雅黑" pitchFamily="34" charset="-122"/>
                <a:ea typeface="微软雅黑" pitchFamily="34" charset="-122"/>
              </a:rPr>
              <a:t>LDP </a:t>
            </a:r>
            <a:r>
              <a:rPr lang="en-US" altLang="zh-CN" b="1" dirty="0">
                <a:latin typeface="微软雅黑" pitchFamily="34" charset="-122"/>
                <a:ea typeface="微软雅黑" pitchFamily="34" charset="-122"/>
              </a:rPr>
              <a:t>(Label Distribution Protocol) </a:t>
            </a:r>
            <a:r>
              <a:rPr lang="zh-CN" altLang="en-US" b="1" dirty="0">
                <a:latin typeface="微软雅黑" pitchFamily="34" charset="-122"/>
                <a:ea typeface="微软雅黑" pitchFamily="34" charset="-122"/>
              </a:rPr>
              <a:t>交换报文，找出和标签相对应的</a:t>
            </a:r>
            <a:r>
              <a:rPr lang="zh-CN" altLang="en-US" b="1" dirty="0">
                <a:solidFill>
                  <a:srgbClr val="C00000"/>
                </a:solidFill>
                <a:latin typeface="微软雅黑" pitchFamily="34" charset="-122"/>
                <a:ea typeface="微软雅黑" pitchFamily="34" charset="-122"/>
              </a:rPr>
              <a:t>标签交换路径 </a:t>
            </a:r>
            <a:r>
              <a:rPr lang="en-US" altLang="zh-CN" b="1" dirty="0">
                <a:solidFill>
                  <a:srgbClr val="C00000"/>
                </a:solidFill>
                <a:latin typeface="微软雅黑" pitchFamily="34" charset="-122"/>
                <a:ea typeface="微软雅黑" pitchFamily="34" charset="-122"/>
              </a:rPr>
              <a:t>LSP </a:t>
            </a:r>
            <a:r>
              <a:rPr lang="en-US" altLang="zh-CN" b="1" dirty="0">
                <a:latin typeface="微软雅黑" pitchFamily="34" charset="-122"/>
                <a:ea typeface="微软雅黑" pitchFamily="34" charset="-122"/>
              </a:rPr>
              <a:t>(Label Switched Path)</a:t>
            </a:r>
            <a:r>
              <a:rPr lang="zh-CN" altLang="en-US" b="1" dirty="0">
                <a:latin typeface="微软雅黑" pitchFamily="34" charset="-122"/>
                <a:ea typeface="微软雅黑" pitchFamily="34" charset="-122"/>
              </a:rPr>
              <a:t>。整个标签交换路径就像一条虚连接一样。</a:t>
            </a:r>
            <a:endParaRPr lang="en-US" altLang="zh-CN" b="1" dirty="0">
              <a:latin typeface="微软雅黑" pitchFamily="34" charset="-122"/>
              <a:ea typeface="微软雅黑" pitchFamily="34" charset="-122"/>
            </a:endParaRPr>
          </a:p>
          <a:p>
            <a:pPr marL="457200" indent="-457200">
              <a:lnSpc>
                <a:spcPts val="2800"/>
              </a:lnSpc>
              <a:buClr>
                <a:schemeClr val="tx1"/>
              </a:buClr>
              <a:buFont typeface="+mj-lt"/>
              <a:buAutoNum type="arabicPeriod"/>
            </a:pPr>
            <a:r>
              <a:rPr lang="zh-CN" altLang="en-US" sz="2000" b="1" dirty="0">
                <a:solidFill>
                  <a:srgbClr val="0000FF"/>
                </a:solidFill>
                <a:latin typeface="微软雅黑" pitchFamily="34" charset="-122"/>
                <a:ea typeface="微软雅黑" pitchFamily="34" charset="-122"/>
              </a:rPr>
              <a:t>打标签，然后转发。</a:t>
            </a:r>
            <a:endParaRPr lang="en-US" altLang="zh-CN" sz="2000" b="1" dirty="0">
              <a:solidFill>
                <a:srgbClr val="0000FF"/>
              </a:solidFill>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zh-CN" altLang="en-US" b="1" dirty="0">
                <a:latin typeface="微软雅黑" pitchFamily="34" charset="-122"/>
                <a:ea typeface="微软雅黑" pitchFamily="34" charset="-122"/>
              </a:rPr>
              <a:t>入口节点 </a:t>
            </a:r>
            <a:r>
              <a:rPr lang="en-US" altLang="zh-CN" b="1" dirty="0">
                <a:latin typeface="微软雅黑" pitchFamily="34" charset="-122"/>
                <a:ea typeface="微软雅黑" pitchFamily="34" charset="-122"/>
              </a:rPr>
              <a:t>(ingress node) </a:t>
            </a:r>
            <a:r>
              <a:rPr lang="zh-CN" altLang="en-US" b="1" dirty="0">
                <a:latin typeface="微软雅黑" pitchFamily="34" charset="-122"/>
                <a:ea typeface="微软雅黑" pitchFamily="34" charset="-122"/>
              </a:rPr>
              <a:t>给进入 </a:t>
            </a:r>
            <a:r>
              <a:rPr lang="en-US" altLang="zh-CN" b="1" dirty="0">
                <a:latin typeface="微软雅黑" pitchFamily="34" charset="-122"/>
                <a:ea typeface="微软雅黑" pitchFamily="34" charset="-122"/>
              </a:rPr>
              <a:t>MPLS </a:t>
            </a:r>
            <a:r>
              <a:rPr lang="zh-CN" altLang="en-US" b="1" dirty="0">
                <a:latin typeface="微软雅黑" pitchFamily="34" charset="-122"/>
                <a:ea typeface="微软雅黑" pitchFamily="34" charset="-122"/>
              </a:rPr>
              <a:t>域的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数据报打上标签（实际上是插入一个 </a:t>
            </a:r>
            <a:r>
              <a:rPr lang="en-US" altLang="zh-CN" b="1" dirty="0">
                <a:latin typeface="微软雅黑" pitchFamily="34" charset="-122"/>
                <a:ea typeface="微软雅黑" pitchFamily="34" charset="-122"/>
              </a:rPr>
              <a:t>MPLS </a:t>
            </a:r>
            <a:r>
              <a:rPr lang="zh-CN" altLang="en-US" b="1" dirty="0">
                <a:latin typeface="微软雅黑" pitchFamily="34" charset="-122"/>
                <a:ea typeface="微软雅黑" pitchFamily="34" charset="-122"/>
              </a:rPr>
              <a:t>首部），并按照转发表把它转发给下一个 </a:t>
            </a:r>
            <a:r>
              <a:rPr lang="en-US" altLang="zh-CN" b="1" dirty="0">
                <a:latin typeface="微软雅黑" pitchFamily="34" charset="-122"/>
                <a:ea typeface="微软雅黑" pitchFamily="34" charset="-122"/>
              </a:rPr>
              <a:t>LSR</a:t>
            </a:r>
            <a:r>
              <a:rPr lang="zh-CN" altLang="en-US" b="1" dirty="0">
                <a:latin typeface="微软雅黑" pitchFamily="34" charset="-122"/>
                <a:ea typeface="微软雅黑" pitchFamily="34" charset="-122"/>
              </a:rPr>
              <a:t>。以后的所有 </a:t>
            </a:r>
            <a:r>
              <a:rPr lang="en-US" altLang="zh-CN" b="1" dirty="0">
                <a:latin typeface="微软雅黑" pitchFamily="34" charset="-122"/>
                <a:ea typeface="微软雅黑" pitchFamily="34" charset="-122"/>
              </a:rPr>
              <a:t>LSR </a:t>
            </a:r>
            <a:r>
              <a:rPr lang="zh-CN" altLang="en-US" b="1" dirty="0">
                <a:latin typeface="微软雅黑" pitchFamily="34" charset="-122"/>
                <a:ea typeface="微软雅黑" pitchFamily="34" charset="-122"/>
              </a:rPr>
              <a:t>都按照标签进行转发。</a:t>
            </a:r>
            <a:endParaRPr lang="en-US" altLang="zh-CN" b="1" dirty="0">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zh-CN" altLang="en-US" b="1" dirty="0">
                <a:latin typeface="微软雅黑" pitchFamily="34" charset="-122"/>
                <a:ea typeface="微软雅黑" pitchFamily="34" charset="-122"/>
              </a:rPr>
              <a:t>给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数据报打标签的过程叫做</a:t>
            </a:r>
            <a:r>
              <a:rPr lang="zh-CN" altLang="en-US" b="1" dirty="0">
                <a:solidFill>
                  <a:srgbClr val="C00000"/>
                </a:solidFill>
                <a:latin typeface="微软雅黑" pitchFamily="34" charset="-122"/>
                <a:ea typeface="微软雅黑" pitchFamily="34" charset="-122"/>
              </a:rPr>
              <a:t>分类</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(classification)</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57204"/>
            <a:ext cx="2784737" cy="400110"/>
          </a:xfrm>
          <a:prstGeom prst="rect">
            <a:avLst/>
          </a:prstGeom>
        </p:spPr>
        <p:txBody>
          <a:bodyPr wrap="none">
            <a:spAutoFit/>
          </a:bodyPr>
          <a:lstStyle/>
          <a:p>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的基本工作过程</a:t>
            </a:r>
          </a:p>
        </p:txBody>
      </p:sp>
      <p:sp>
        <p:nvSpPr>
          <p:cNvPr id="4" name="矩形 3"/>
          <p:cNvSpPr/>
          <p:nvPr/>
        </p:nvSpPr>
        <p:spPr>
          <a:xfrm>
            <a:off x="545144" y="930643"/>
            <a:ext cx="8481161" cy="1528624"/>
          </a:xfrm>
          <a:prstGeom prst="rect">
            <a:avLst/>
          </a:prstGeom>
        </p:spPr>
        <p:txBody>
          <a:bodyPr wrap="square">
            <a:spAutoFit/>
          </a:bodyPr>
          <a:lstStyle/>
          <a:p>
            <a:pPr marL="457200" indent="-457200">
              <a:lnSpc>
                <a:spcPts val="2800"/>
              </a:lnSpc>
              <a:buClr>
                <a:schemeClr val="tx1"/>
              </a:buClr>
              <a:buFont typeface="+mj-lt"/>
              <a:buAutoNum type="arabicPeriod" startAt="3"/>
            </a:pPr>
            <a:r>
              <a:rPr lang="zh-CN" altLang="en-US" sz="2000" b="1" dirty="0">
                <a:solidFill>
                  <a:srgbClr val="0000FF"/>
                </a:solidFill>
                <a:latin typeface="微软雅黑" pitchFamily="34" charset="-122"/>
                <a:ea typeface="微软雅黑" pitchFamily="34" charset="-122"/>
              </a:rPr>
              <a:t>标签对换。</a:t>
            </a:r>
            <a:endParaRPr lang="en-US" altLang="zh-CN" sz="2000" b="1" dirty="0">
              <a:solidFill>
                <a:srgbClr val="0000FF"/>
              </a:solidFill>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zh-CN" altLang="en-US" b="1" dirty="0">
                <a:latin typeface="微软雅黑" pitchFamily="34" charset="-122"/>
                <a:ea typeface="微软雅黑" pitchFamily="34" charset="-122"/>
              </a:rPr>
              <a:t>一个标签仅在两个 </a:t>
            </a:r>
            <a:r>
              <a:rPr lang="en-US" altLang="zh-CN" b="1" dirty="0">
                <a:latin typeface="微软雅黑" pitchFamily="34" charset="-122"/>
                <a:ea typeface="微软雅黑" pitchFamily="34" charset="-122"/>
              </a:rPr>
              <a:t>LSR </a:t>
            </a:r>
            <a:r>
              <a:rPr lang="zh-CN" altLang="en-US" b="1" dirty="0">
                <a:latin typeface="微软雅黑" pitchFamily="34" charset="-122"/>
                <a:ea typeface="微软雅黑" pitchFamily="34" charset="-122"/>
              </a:rPr>
              <a:t>之间才有意义。</a:t>
            </a:r>
            <a:endParaRPr lang="en-US" altLang="zh-CN" b="1" dirty="0">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en-US" altLang="zh-CN" b="1" dirty="0">
                <a:latin typeface="微软雅黑" pitchFamily="34" charset="-122"/>
                <a:ea typeface="微软雅黑" pitchFamily="34" charset="-122"/>
              </a:rPr>
              <a:t>LSR </a:t>
            </a:r>
            <a:r>
              <a:rPr lang="zh-CN" altLang="en-US" b="1" dirty="0">
                <a:latin typeface="微软雅黑" pitchFamily="34" charset="-122"/>
                <a:ea typeface="微软雅黑" pitchFamily="34" charset="-122"/>
              </a:rPr>
              <a:t>要做</a:t>
            </a:r>
            <a:r>
              <a:rPr lang="zh-CN" altLang="en-US" b="1" dirty="0">
                <a:solidFill>
                  <a:srgbClr val="C00000"/>
                </a:solidFill>
                <a:latin typeface="微软雅黑" pitchFamily="34" charset="-122"/>
                <a:ea typeface="微软雅黑" pitchFamily="34" charset="-122"/>
              </a:rPr>
              <a:t>两件事：</a:t>
            </a:r>
            <a:r>
              <a:rPr lang="zh-CN" altLang="en-US" b="1" dirty="0">
                <a:latin typeface="微软雅黑" pitchFamily="34" charset="-122"/>
                <a:ea typeface="微软雅黑" pitchFamily="34" charset="-122"/>
              </a:rPr>
              <a:t>转发，更新标记。</a:t>
            </a:r>
            <a:endParaRPr lang="en-US" altLang="zh-CN" b="1" dirty="0">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zh-CN" altLang="en-US" b="1" dirty="0">
                <a:latin typeface="微软雅黑" pitchFamily="34" charset="-122"/>
                <a:ea typeface="微软雅黑" pitchFamily="34" charset="-122"/>
              </a:rPr>
              <a:t>更新标记：把入标记更换成为出标记。称之为</a:t>
            </a:r>
            <a:r>
              <a:rPr lang="zh-CN" altLang="en-US" b="1" dirty="0">
                <a:solidFill>
                  <a:srgbClr val="C00000"/>
                </a:solidFill>
                <a:latin typeface="微软雅黑" pitchFamily="34" charset="-122"/>
                <a:ea typeface="微软雅黑" pitchFamily="34" charset="-122"/>
              </a:rPr>
              <a:t>标签对换 </a:t>
            </a:r>
            <a:r>
              <a:rPr lang="en-US" altLang="zh-CN" b="1" dirty="0">
                <a:latin typeface="微软雅黑" pitchFamily="34" charset="-122"/>
                <a:ea typeface="微软雅黑" pitchFamily="34" charset="-122"/>
              </a:rPr>
              <a:t>(label swapping)</a:t>
            </a:r>
            <a:r>
              <a:rPr lang="zh-CN" altLang="en-US" b="1" dirty="0">
                <a:latin typeface="微软雅黑" pitchFamily="34" charset="-122"/>
                <a:ea typeface="微软雅黑"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2531977614"/>
              </p:ext>
            </p:extLst>
          </p:nvPr>
        </p:nvGraphicFramePr>
        <p:xfrm>
          <a:off x="1182444" y="2781006"/>
          <a:ext cx="6812748" cy="583588"/>
        </p:xfrm>
        <a:graphic>
          <a:graphicData uri="http://schemas.openxmlformats.org/drawingml/2006/table">
            <a:tbl>
              <a:tblPr firstRow="1" firstCol="1" lastRow="1" lastCol="1" bandRow="1" bandCol="1">
                <a:tableStyleId>{5C22544A-7EE6-4342-B048-85BDC9FD1C3A}</a:tableStyleId>
              </a:tblPr>
              <a:tblGrid>
                <a:gridCol w="1703187">
                  <a:extLst>
                    <a:ext uri="{9D8B030D-6E8A-4147-A177-3AD203B41FA5}">
                      <a16:colId xmlns:a16="http://schemas.microsoft.com/office/drawing/2014/main" val="20000"/>
                    </a:ext>
                  </a:extLst>
                </a:gridCol>
                <a:gridCol w="1703187">
                  <a:extLst>
                    <a:ext uri="{9D8B030D-6E8A-4147-A177-3AD203B41FA5}">
                      <a16:colId xmlns:a16="http://schemas.microsoft.com/office/drawing/2014/main" val="20001"/>
                    </a:ext>
                  </a:extLst>
                </a:gridCol>
                <a:gridCol w="1703187">
                  <a:extLst>
                    <a:ext uri="{9D8B030D-6E8A-4147-A177-3AD203B41FA5}">
                      <a16:colId xmlns:a16="http://schemas.microsoft.com/office/drawing/2014/main" val="20002"/>
                    </a:ext>
                  </a:extLst>
                </a:gridCol>
                <a:gridCol w="1703187">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sz="1600" b="1" dirty="0">
                          <a:solidFill>
                            <a:schemeClr val="tx1"/>
                          </a:solidFill>
                          <a:effectLst/>
                          <a:latin typeface="微软雅黑" pitchFamily="34" charset="-122"/>
                          <a:ea typeface="微软雅黑" pitchFamily="34" charset="-122"/>
                        </a:rPr>
                        <a:t>入接口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600" b="1" dirty="0">
                          <a:solidFill>
                            <a:schemeClr val="tx1"/>
                          </a:solidFill>
                          <a:effectLst/>
                          <a:latin typeface="微软雅黑" pitchFamily="34" charset="-122"/>
                          <a:ea typeface="微软雅黑" pitchFamily="34" charset="-122"/>
                        </a:rPr>
                        <a:t>入</a:t>
                      </a:r>
                      <a:r>
                        <a:rPr lang="zh-CN" altLang="en-US" sz="1600" b="1" dirty="0">
                          <a:solidFill>
                            <a:schemeClr val="tx1"/>
                          </a:solidFill>
                          <a:effectLst/>
                          <a:latin typeface="微软雅黑" pitchFamily="34" charset="-122"/>
                          <a:ea typeface="微软雅黑" pitchFamily="34" charset="-122"/>
                        </a:rPr>
                        <a:t>标签</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600" b="1" dirty="0">
                          <a:solidFill>
                            <a:schemeClr val="tx1"/>
                          </a:solidFill>
                          <a:effectLst/>
                          <a:latin typeface="微软雅黑" pitchFamily="34" charset="-122"/>
                          <a:ea typeface="微软雅黑" pitchFamily="34" charset="-122"/>
                        </a:rPr>
                        <a:t>出接口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FF"/>
                    </a:solidFill>
                  </a:tcPr>
                </a:tc>
                <a:tc>
                  <a:txBody>
                    <a:bodyPr/>
                    <a:lstStyle/>
                    <a:p>
                      <a:pPr algn="ctr">
                        <a:lnSpc>
                          <a:spcPct val="100000"/>
                        </a:lnSpc>
                        <a:spcAft>
                          <a:spcPts val="0"/>
                        </a:spcAft>
                      </a:pPr>
                      <a:r>
                        <a:rPr lang="zh-CN" sz="1600" b="1" dirty="0">
                          <a:solidFill>
                            <a:schemeClr val="tx1"/>
                          </a:solidFill>
                          <a:effectLst/>
                          <a:latin typeface="微软雅黑" pitchFamily="34" charset="-122"/>
                          <a:ea typeface="微软雅黑" pitchFamily="34" charset="-122"/>
                        </a:rPr>
                        <a:t>出</a:t>
                      </a:r>
                      <a:r>
                        <a:rPr lang="zh-CN" altLang="en-US" sz="1600" b="1" dirty="0">
                          <a:solidFill>
                            <a:schemeClr val="tx1"/>
                          </a:solidFill>
                          <a:effectLst/>
                          <a:latin typeface="微软雅黑" pitchFamily="34" charset="-122"/>
                          <a:ea typeface="微软雅黑" pitchFamily="34" charset="-122"/>
                        </a:rPr>
                        <a:t>标签</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FF"/>
                    </a:solidFill>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0</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99"/>
                    </a:solidFill>
                  </a:tcPr>
                </a:tc>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3</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99"/>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99"/>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10001"/>
                  </a:ext>
                </a:extLst>
              </a:tr>
            </a:tbl>
          </a:graphicData>
        </a:graphic>
      </p:graphicFrame>
      <p:sp>
        <p:nvSpPr>
          <p:cNvPr id="6" name="矩形 5"/>
          <p:cNvSpPr/>
          <p:nvPr/>
        </p:nvSpPr>
        <p:spPr>
          <a:xfrm>
            <a:off x="4191950" y="2468762"/>
            <a:ext cx="800219" cy="338554"/>
          </a:xfrm>
          <a:prstGeom prst="rect">
            <a:avLst/>
          </a:prstGeom>
          <a:noFill/>
        </p:spPr>
        <p:txBody>
          <a:bodyPr wrap="none">
            <a:spAutoFit/>
          </a:bodyPr>
          <a:lstStyle/>
          <a:p>
            <a:r>
              <a:rPr lang="zh-CN" altLang="en-US" sz="1600" b="1" dirty="0">
                <a:latin typeface="微软雅黑" pitchFamily="34" charset="-122"/>
                <a:ea typeface="微软雅黑" pitchFamily="34" charset="-122"/>
              </a:rPr>
              <a:t>转发表</a:t>
            </a:r>
          </a:p>
        </p:txBody>
      </p:sp>
      <p:sp>
        <p:nvSpPr>
          <p:cNvPr id="7" name="对角圆角矩形 6"/>
          <p:cNvSpPr/>
          <p:nvPr/>
        </p:nvSpPr>
        <p:spPr>
          <a:xfrm>
            <a:off x="1188924" y="3411281"/>
            <a:ext cx="6806269" cy="897942"/>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67072" y="3508975"/>
            <a:ext cx="6328373" cy="707886"/>
          </a:xfrm>
          <a:prstGeom prst="rect">
            <a:avLst/>
          </a:prstGeom>
        </p:spPr>
        <p:txBody>
          <a:bodyPr wrap="square">
            <a:spAutoFit/>
          </a:bodyPr>
          <a:lstStyle/>
          <a:p>
            <a:pPr>
              <a:lnSpc>
                <a:spcPts val="2400"/>
              </a:lnSpc>
            </a:pPr>
            <a:r>
              <a:rPr lang="zh-CN" altLang="en-US" sz="1600" b="1" dirty="0">
                <a:solidFill>
                  <a:srgbClr val="FFFF00"/>
                </a:solidFill>
                <a:latin typeface="微软雅黑" pitchFamily="34" charset="-122"/>
                <a:ea typeface="微软雅黑" pitchFamily="34" charset="-122"/>
              </a:rPr>
              <a:t>项目含义：</a:t>
            </a:r>
            <a:r>
              <a:rPr lang="zh-CN" altLang="en-US" sz="1600" b="1" dirty="0">
                <a:solidFill>
                  <a:schemeClr val="bg1"/>
                </a:solidFill>
                <a:latin typeface="微软雅黑" pitchFamily="34" charset="-122"/>
                <a:ea typeface="微软雅黑" pitchFamily="34" charset="-122"/>
              </a:rPr>
              <a:t>从入接口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收到一个入标签为 </a:t>
            </a:r>
            <a:r>
              <a:rPr lang="en-US" altLang="zh-CN" sz="1600" b="1" dirty="0">
                <a:solidFill>
                  <a:schemeClr val="bg1"/>
                </a:solidFill>
                <a:latin typeface="微软雅黑" pitchFamily="34" charset="-122"/>
                <a:ea typeface="微软雅黑" pitchFamily="34" charset="-122"/>
              </a:rPr>
              <a:t>3 </a:t>
            </a:r>
            <a:r>
              <a:rPr lang="zh-CN" altLang="en-US" sz="1600" b="1" dirty="0">
                <a:solidFill>
                  <a:schemeClr val="bg1"/>
                </a:solidFill>
                <a:latin typeface="微软雅黑" pitchFamily="34" charset="-122"/>
                <a:ea typeface="微软雅黑" pitchFamily="34" charset="-122"/>
              </a:rPr>
              <a:t>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数据报，转发时，应当把该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数据报从出接口 </a:t>
            </a:r>
            <a:r>
              <a:rPr lang="en-US" altLang="zh-CN" sz="1600" b="1" dirty="0">
                <a:solidFill>
                  <a:schemeClr val="bg1"/>
                </a:solidFill>
                <a:latin typeface="微软雅黑" pitchFamily="34" charset="-122"/>
                <a:ea typeface="微软雅黑" pitchFamily="34" charset="-122"/>
              </a:rPr>
              <a:t>1 </a:t>
            </a:r>
            <a:r>
              <a:rPr lang="zh-CN" altLang="en-US" sz="1600" b="1" dirty="0">
                <a:solidFill>
                  <a:schemeClr val="bg1"/>
                </a:solidFill>
                <a:latin typeface="微软雅黑" pitchFamily="34" charset="-122"/>
                <a:ea typeface="微软雅黑" pitchFamily="34" charset="-122"/>
              </a:rPr>
              <a:t>转发出去，同时把标签对换为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57204"/>
            <a:ext cx="2784737" cy="400110"/>
          </a:xfrm>
          <a:prstGeom prst="rect">
            <a:avLst/>
          </a:prstGeom>
        </p:spPr>
        <p:txBody>
          <a:bodyPr wrap="none">
            <a:spAutoFit/>
          </a:bodyPr>
          <a:lstStyle/>
          <a:p>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的基本工作过程</a:t>
            </a:r>
          </a:p>
        </p:txBody>
      </p:sp>
      <p:sp>
        <p:nvSpPr>
          <p:cNvPr id="4" name="矩形 3"/>
          <p:cNvSpPr/>
          <p:nvPr/>
        </p:nvSpPr>
        <p:spPr>
          <a:xfrm>
            <a:off x="545145" y="930643"/>
            <a:ext cx="8053712" cy="1528624"/>
          </a:xfrm>
          <a:prstGeom prst="rect">
            <a:avLst/>
          </a:prstGeom>
        </p:spPr>
        <p:txBody>
          <a:bodyPr wrap="square">
            <a:spAutoFit/>
          </a:bodyPr>
          <a:lstStyle/>
          <a:p>
            <a:pPr marL="457200" indent="-457200">
              <a:lnSpc>
                <a:spcPts val="2800"/>
              </a:lnSpc>
              <a:buClr>
                <a:schemeClr val="tx1"/>
              </a:buClr>
              <a:buFont typeface="+mj-lt"/>
              <a:buAutoNum type="arabicPeriod" startAt="4"/>
            </a:pPr>
            <a:r>
              <a:rPr lang="zh-CN" altLang="en-US" sz="2000" b="1" dirty="0">
                <a:solidFill>
                  <a:srgbClr val="0000FF"/>
                </a:solidFill>
                <a:latin typeface="微软雅黑" pitchFamily="34" charset="-122"/>
                <a:ea typeface="微软雅黑" pitchFamily="34" charset="-122"/>
              </a:rPr>
              <a:t>去除标签。</a:t>
            </a:r>
            <a:endParaRPr lang="en-US" altLang="zh-CN" sz="2000" b="1" dirty="0">
              <a:solidFill>
                <a:srgbClr val="0000FF"/>
              </a:solidFill>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zh-CN" altLang="en-US" b="1" dirty="0">
                <a:latin typeface="微软雅黑" pitchFamily="34" charset="-122"/>
                <a:ea typeface="微软雅黑" pitchFamily="34" charset="-122"/>
              </a:rPr>
              <a:t>当分组离开 </a:t>
            </a:r>
            <a:r>
              <a:rPr lang="en-US" altLang="zh-CN" b="1" dirty="0">
                <a:latin typeface="微软雅黑" pitchFamily="34" charset="-122"/>
                <a:ea typeface="微软雅黑" pitchFamily="34" charset="-122"/>
              </a:rPr>
              <a:t>MPLS </a:t>
            </a:r>
            <a:r>
              <a:rPr lang="zh-CN" altLang="en-US" b="1" dirty="0">
                <a:latin typeface="微软雅黑" pitchFamily="34" charset="-122"/>
                <a:ea typeface="微软雅黑" pitchFamily="34" charset="-122"/>
              </a:rPr>
              <a:t>域时，</a:t>
            </a:r>
            <a:r>
              <a:rPr lang="en-US" altLang="zh-CN" b="1" dirty="0">
                <a:latin typeface="微软雅黑" pitchFamily="34" charset="-122"/>
                <a:ea typeface="微软雅黑" pitchFamily="34" charset="-122"/>
              </a:rPr>
              <a:t>MPLS </a:t>
            </a:r>
            <a:r>
              <a:rPr lang="zh-CN" altLang="en-US" b="1" dirty="0">
                <a:latin typeface="微软雅黑" pitchFamily="34" charset="-122"/>
                <a:ea typeface="微软雅黑" pitchFamily="34" charset="-122"/>
              </a:rPr>
              <a:t>出口节点 </a:t>
            </a:r>
            <a:r>
              <a:rPr lang="en-US" altLang="zh-CN" b="1" dirty="0">
                <a:latin typeface="微软雅黑" pitchFamily="34" charset="-122"/>
                <a:ea typeface="微软雅黑" pitchFamily="34" charset="-122"/>
              </a:rPr>
              <a:t>(egress node) </a:t>
            </a:r>
            <a:r>
              <a:rPr lang="zh-CN" altLang="en-US" b="1" dirty="0">
                <a:latin typeface="微软雅黑" pitchFamily="34" charset="-122"/>
                <a:ea typeface="微软雅黑" pitchFamily="34" charset="-122"/>
              </a:rPr>
              <a:t>把分组的标签去除。</a:t>
            </a:r>
            <a:endParaRPr lang="en-US" altLang="zh-CN" b="1" dirty="0">
              <a:latin typeface="微软雅黑" pitchFamily="34" charset="-122"/>
              <a:ea typeface="微软雅黑" pitchFamily="34" charset="-122"/>
            </a:endParaRPr>
          </a:p>
          <a:p>
            <a:pPr marL="742950" lvl="1" indent="-285750">
              <a:lnSpc>
                <a:spcPts val="2800"/>
              </a:lnSpc>
              <a:buClr>
                <a:srgbClr val="990099"/>
              </a:buClr>
              <a:buSzPct val="85000"/>
              <a:buFont typeface="Wingdings" panose="05000000000000000000" pitchFamily="2" charset="2"/>
              <a:buChar char="u"/>
            </a:pPr>
            <a:r>
              <a:rPr lang="zh-CN" altLang="en-US" b="1" dirty="0">
                <a:latin typeface="微软雅黑" pitchFamily="34" charset="-122"/>
                <a:ea typeface="微软雅黑" pitchFamily="34" charset="-122"/>
              </a:rPr>
              <a:t>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数据报交付给非 </a:t>
            </a:r>
            <a:r>
              <a:rPr lang="en-US" altLang="zh-CN" b="1" dirty="0">
                <a:latin typeface="微软雅黑" pitchFamily="34" charset="-122"/>
                <a:ea typeface="微软雅黑" pitchFamily="34" charset="-122"/>
              </a:rPr>
              <a:t>MPLS </a:t>
            </a:r>
            <a:r>
              <a:rPr lang="zh-CN" altLang="en-US" b="1" dirty="0">
                <a:latin typeface="微软雅黑" pitchFamily="34" charset="-122"/>
                <a:ea typeface="微软雅黑" pitchFamily="34" charset="-122"/>
              </a:rPr>
              <a:t>的主机或路由器。</a:t>
            </a:r>
            <a:endParaRPr lang="en-US" altLang="zh-CN" b="1" dirty="0">
              <a:latin typeface="微软雅黑" pitchFamily="34" charset="-122"/>
              <a:ea typeface="微软雅黑" pitchFamily="34" charset="-122"/>
            </a:endParaRPr>
          </a:p>
        </p:txBody>
      </p:sp>
      <p:sp>
        <p:nvSpPr>
          <p:cNvPr id="9" name="对角圆角矩形 8"/>
          <p:cNvSpPr/>
          <p:nvPr/>
        </p:nvSpPr>
        <p:spPr>
          <a:xfrm>
            <a:off x="545144" y="2572845"/>
            <a:ext cx="8062525" cy="162796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810285" y="2706986"/>
            <a:ext cx="7555118" cy="1426031"/>
          </a:xfrm>
          <a:prstGeom prst="rect">
            <a:avLst/>
          </a:prstGeom>
        </p:spPr>
        <p:txBody>
          <a:bodyPr wrap="square">
            <a:spAutoFit/>
          </a:bodyPr>
          <a:lstStyle/>
          <a:p>
            <a:pPr marL="285750" indent="-285750">
              <a:lnSpc>
                <a:spcPts val="26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这种“</a:t>
            </a:r>
            <a:r>
              <a:rPr lang="zh-CN" altLang="en-US" b="1" dirty="0">
                <a:solidFill>
                  <a:srgbClr val="FFFF00"/>
                </a:solidFill>
                <a:latin typeface="微软雅黑" pitchFamily="34" charset="-122"/>
                <a:ea typeface="微软雅黑" pitchFamily="34" charset="-122"/>
              </a:rPr>
              <a:t>由入口 </a:t>
            </a:r>
            <a:r>
              <a:rPr lang="en-US" altLang="zh-CN" b="1" dirty="0">
                <a:solidFill>
                  <a:srgbClr val="FFFF00"/>
                </a:solidFill>
                <a:latin typeface="微软雅黑" pitchFamily="34" charset="-122"/>
                <a:ea typeface="微软雅黑" pitchFamily="34" charset="-122"/>
              </a:rPr>
              <a:t>LSR </a:t>
            </a:r>
            <a:r>
              <a:rPr lang="zh-CN" altLang="en-US" b="1" dirty="0">
                <a:solidFill>
                  <a:srgbClr val="FFFF00"/>
                </a:solidFill>
                <a:latin typeface="微软雅黑" pitchFamily="34" charset="-122"/>
                <a:ea typeface="微软雅黑" pitchFamily="34" charset="-122"/>
              </a:rPr>
              <a:t>确定进入 </a:t>
            </a:r>
            <a:r>
              <a:rPr lang="en-US" altLang="zh-CN" b="1" dirty="0">
                <a:solidFill>
                  <a:srgbClr val="FFFF00"/>
                </a:solidFill>
                <a:latin typeface="微软雅黑" pitchFamily="34" charset="-122"/>
                <a:ea typeface="微软雅黑" pitchFamily="34" charset="-122"/>
              </a:rPr>
              <a:t>MPLS </a:t>
            </a:r>
            <a:r>
              <a:rPr lang="zh-CN" altLang="en-US" b="1" dirty="0">
                <a:solidFill>
                  <a:srgbClr val="FFFF00"/>
                </a:solidFill>
                <a:latin typeface="微软雅黑" pitchFamily="34" charset="-122"/>
                <a:ea typeface="微软雅黑" pitchFamily="34" charset="-122"/>
              </a:rPr>
              <a:t>域以后的转发路径</a:t>
            </a:r>
            <a:r>
              <a:rPr lang="zh-CN" altLang="en-US" b="1" dirty="0">
                <a:solidFill>
                  <a:schemeClr val="bg1"/>
                </a:solidFill>
                <a:latin typeface="微软雅黑" pitchFamily="34" charset="-122"/>
                <a:ea typeface="微软雅黑" pitchFamily="34" charset="-122"/>
              </a:rPr>
              <a:t>”称为</a:t>
            </a:r>
            <a:r>
              <a:rPr lang="zh-CN" altLang="en-US" b="1" dirty="0">
                <a:solidFill>
                  <a:srgbClr val="FFFF00"/>
                </a:solidFill>
                <a:latin typeface="微软雅黑" pitchFamily="34" charset="-122"/>
                <a:ea typeface="微软雅黑" pitchFamily="34" charset="-122"/>
              </a:rPr>
              <a:t>显式路由选择</a:t>
            </a:r>
            <a:r>
              <a:rPr lang="zh-CN" altLang="en-US" b="1" dirty="0">
                <a:solidFill>
                  <a:srgbClr val="000099"/>
                </a:solidFill>
                <a:latin typeface="微软雅黑" pitchFamily="34" charset="-122"/>
                <a:ea typeface="微软雅黑" pitchFamily="34" charset="-122"/>
              </a:rPr>
              <a:t> </a:t>
            </a:r>
            <a:r>
              <a:rPr lang="en-US" altLang="zh-CN" b="1" dirty="0">
                <a:solidFill>
                  <a:schemeClr val="bg1"/>
                </a:solidFill>
                <a:latin typeface="微软雅黑" pitchFamily="34" charset="-122"/>
                <a:ea typeface="微软雅黑" pitchFamily="34" charset="-122"/>
              </a:rPr>
              <a:t>(explicit routing)</a:t>
            </a:r>
          </a:p>
          <a:p>
            <a:pPr marL="285750" indent="-285750">
              <a:lnSpc>
                <a:spcPts val="26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与互联网中通常使用的“</a:t>
            </a:r>
            <a:r>
              <a:rPr lang="zh-CN" altLang="en-US" b="1" dirty="0">
                <a:solidFill>
                  <a:srgbClr val="FFFF00"/>
                </a:solidFill>
                <a:latin typeface="微软雅黑" pitchFamily="34" charset="-122"/>
                <a:ea typeface="微软雅黑" pitchFamily="34" charset="-122"/>
              </a:rPr>
              <a:t>每一个路由器逐跳进行路由选择</a:t>
            </a:r>
            <a:r>
              <a:rPr lang="zh-CN" altLang="en-US" b="1" dirty="0">
                <a:solidFill>
                  <a:schemeClr val="bg1"/>
                </a:solidFill>
                <a:latin typeface="微软雅黑" pitchFamily="34" charset="-122"/>
                <a:ea typeface="微软雅黑" pitchFamily="34" charset="-122"/>
              </a:rPr>
              <a:t>”有着很大的区别。</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8"/>
          <p:cNvSpPr>
            <a:spLocks noChangeArrowheads="1"/>
          </p:cNvSpPr>
          <p:nvPr/>
        </p:nvSpPr>
        <p:spPr bwMode="auto">
          <a:xfrm>
            <a:off x="545145" y="978260"/>
            <a:ext cx="8053710"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给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数据报打标签的过程叫做</a:t>
            </a:r>
            <a:r>
              <a:rPr lang="zh-CN" altLang="en-US" sz="2000" b="1" dirty="0">
                <a:solidFill>
                  <a:srgbClr val="C00000"/>
                </a:solidFill>
                <a:latin typeface="微软雅黑" pitchFamily="34" charset="-122"/>
                <a:ea typeface="微软雅黑" pitchFamily="34" charset="-122"/>
              </a:rPr>
              <a:t>分类</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(classification)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solidFill>
                  <a:srgbClr val="0000FF"/>
                </a:solidFill>
                <a:latin typeface="微软雅黑" pitchFamily="34" charset="-122"/>
                <a:ea typeface="微软雅黑" pitchFamily="34" charset="-122"/>
              </a:rPr>
              <a:t>第三层（网络层）分类：</a:t>
            </a:r>
            <a:r>
              <a:rPr lang="zh-CN" altLang="en-US" sz="2000" b="1" dirty="0">
                <a:latin typeface="微软雅黑" pitchFamily="34" charset="-122"/>
                <a:ea typeface="微软雅黑" pitchFamily="34" charset="-122"/>
              </a:rPr>
              <a:t>只使用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首部中的</a:t>
            </a:r>
            <a:r>
              <a:rPr lang="zh-CN" altLang="en-US" sz="2000" b="1" dirty="0">
                <a:solidFill>
                  <a:srgbClr val="C00000"/>
                </a:solidFill>
                <a:latin typeface="微软雅黑" pitchFamily="34" charset="-122"/>
                <a:ea typeface="微软雅黑" pitchFamily="34" charset="-122"/>
              </a:rPr>
              <a:t>源</a:t>
            </a:r>
            <a:r>
              <a:rPr lang="zh-CN" altLang="en-US" sz="2000" b="1" dirty="0">
                <a:latin typeface="微软雅黑" pitchFamily="34" charset="-122"/>
                <a:ea typeface="微软雅黑" pitchFamily="34" charset="-122"/>
              </a:rPr>
              <a:t>和</a:t>
            </a: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地址等。</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大多数运营商实现了</a:t>
            </a:r>
            <a:r>
              <a:rPr lang="zh-CN" altLang="en-US" sz="2000" b="1" dirty="0">
                <a:solidFill>
                  <a:srgbClr val="0000FF"/>
                </a:solidFill>
                <a:latin typeface="微软雅黑" pitchFamily="34" charset="-122"/>
                <a:ea typeface="微软雅黑" pitchFamily="34" charset="-122"/>
              </a:rPr>
              <a:t>第四层（运输层）分类：</a:t>
            </a:r>
            <a:r>
              <a:rPr lang="zh-CN" altLang="en-US" sz="2000" b="1" dirty="0">
                <a:latin typeface="微软雅黑" pitchFamily="34" charset="-122"/>
                <a:ea typeface="微软雅黑" pitchFamily="34" charset="-122"/>
              </a:rPr>
              <a:t>除了要检查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首部外，运输层还要检查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或 </a:t>
            </a:r>
            <a:r>
              <a:rPr lang="en-US" altLang="zh-CN" sz="2000" b="1" dirty="0">
                <a:latin typeface="微软雅黑" pitchFamily="34" charset="-122"/>
                <a:ea typeface="微软雅黑" pitchFamily="34" charset="-122"/>
              </a:rPr>
              <a:t>UDP </a:t>
            </a:r>
            <a:r>
              <a:rPr lang="zh-CN" altLang="en-US" sz="2000" b="1" dirty="0">
                <a:solidFill>
                  <a:srgbClr val="C00000"/>
                </a:solidFill>
                <a:latin typeface="微软雅黑" pitchFamily="34" charset="-122"/>
                <a:ea typeface="微软雅黑" pitchFamily="34" charset="-122"/>
              </a:rPr>
              <a:t>端口号。</a:t>
            </a:r>
            <a:endParaRPr lang="en-US" altLang="zh-CN" sz="2000" b="1" dirty="0">
              <a:solidFill>
                <a:srgbClr val="C00000"/>
              </a:solidFill>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有些运营商则实现了</a:t>
            </a:r>
            <a:r>
              <a:rPr lang="zh-CN" altLang="en-US" sz="2000" b="1" dirty="0">
                <a:solidFill>
                  <a:srgbClr val="0000FF"/>
                </a:solidFill>
                <a:latin typeface="微软雅黑" pitchFamily="34" charset="-122"/>
                <a:ea typeface="微软雅黑" pitchFamily="34" charset="-122"/>
              </a:rPr>
              <a:t>第五层（应用层）分类：</a:t>
            </a:r>
            <a:r>
              <a:rPr lang="zh-CN" altLang="en-US" sz="2000" b="1" dirty="0">
                <a:latin typeface="微软雅黑" pitchFamily="34" charset="-122"/>
                <a:ea typeface="微软雅黑" pitchFamily="34" charset="-122"/>
              </a:rPr>
              <a:t>进一步地检查数据报的内部并考虑其</a:t>
            </a:r>
            <a:r>
              <a:rPr lang="zh-CN" altLang="en-US" sz="2000" b="1" dirty="0">
                <a:solidFill>
                  <a:srgbClr val="C00000"/>
                </a:solidFill>
                <a:latin typeface="微软雅黑" pitchFamily="34" charset="-122"/>
                <a:ea typeface="微软雅黑" pitchFamily="34" charset="-122"/>
              </a:rPr>
              <a:t>有效载荷。</a:t>
            </a:r>
            <a:endParaRPr lang="en-US" altLang="zh-CN" sz="2000" b="1" dirty="0">
              <a:solidFill>
                <a:srgbClr val="C00000"/>
              </a:solidFill>
              <a:latin typeface="微软雅黑" pitchFamily="34" charset="-122"/>
              <a:ea typeface="微软雅黑" pitchFamily="34" charset="-122"/>
            </a:endParaRPr>
          </a:p>
        </p:txBody>
      </p:sp>
      <p:sp>
        <p:nvSpPr>
          <p:cNvPr id="8" name="AutoShape 5"/>
          <p:cNvSpPr>
            <a:spLocks noChangeArrowheads="1"/>
          </p:cNvSpPr>
          <p:nvPr/>
        </p:nvSpPr>
        <p:spPr bwMode="auto">
          <a:xfrm>
            <a:off x="545144" y="61839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p:cNvSpPr>
            <a:spLocks noChangeArrowheads="1"/>
          </p:cNvSpPr>
          <p:nvPr/>
        </p:nvSpPr>
        <p:spPr bwMode="auto">
          <a:xfrm>
            <a:off x="1941968" y="58518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转发等价类 </a:t>
            </a:r>
            <a:r>
              <a:rPr lang="en-US" altLang="zh-CN" sz="2000" b="1" dirty="0">
                <a:solidFill>
                  <a:schemeClr val="bg1"/>
                </a:solidFill>
                <a:latin typeface="微软雅黑" pitchFamily="34" charset="-122"/>
                <a:ea typeface="微软雅黑" pitchFamily="34" charset="-122"/>
              </a:rPr>
              <a:t>FEC</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8"/>
          <p:cNvSpPr>
            <a:spLocks noChangeArrowheads="1"/>
          </p:cNvSpPr>
          <p:nvPr/>
        </p:nvSpPr>
        <p:spPr bwMode="auto">
          <a:xfrm>
            <a:off x="545145" y="978260"/>
            <a:ext cx="8053710"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转发等价类 </a:t>
            </a:r>
            <a:r>
              <a:rPr lang="en-US" altLang="zh-CN" sz="2000" b="1" dirty="0">
                <a:solidFill>
                  <a:srgbClr val="C00000"/>
                </a:solidFill>
                <a:latin typeface="微软雅黑" pitchFamily="34" charset="-122"/>
                <a:ea typeface="微软雅黑" pitchFamily="34" charset="-122"/>
              </a:rPr>
              <a:t>FEC</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(Forwarding Equivalence Class) </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路由器按照</a:t>
            </a:r>
            <a:r>
              <a:rPr lang="zh-CN" altLang="en-US" sz="2000" b="1" dirty="0">
                <a:solidFill>
                  <a:srgbClr val="C00000"/>
                </a:solidFill>
                <a:latin typeface="微软雅黑" pitchFamily="34" charset="-122"/>
                <a:ea typeface="微软雅黑" pitchFamily="34" charset="-122"/>
              </a:rPr>
              <a:t>同样方式</a:t>
            </a:r>
            <a:r>
              <a:rPr lang="zh-CN" altLang="en-US" sz="2000" b="1" dirty="0">
                <a:solidFill>
                  <a:srgbClr val="0000FF"/>
                </a:solidFill>
                <a:latin typeface="微软雅黑" pitchFamily="34" charset="-122"/>
                <a:ea typeface="微软雅黑" pitchFamily="34" charset="-122"/>
              </a:rPr>
              <a:t>对待的分组的集合。</a:t>
            </a:r>
            <a:endParaRPr lang="en-US" altLang="zh-CN" sz="2000" b="1" dirty="0">
              <a:solidFill>
                <a:srgbClr val="0000FF"/>
              </a:solidFill>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按照同样方式对待含义：从同样接口转发到同样的下一跳地址，并且具有同样服务类别和同样丢弃优先级等。</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25475" lvl="1" indent="-285750">
              <a:lnSpc>
                <a:spcPts val="3000"/>
              </a:lnSpc>
              <a:buClr>
                <a:srgbClr val="990099"/>
              </a:buClr>
              <a:buSzPct val="85000"/>
              <a:buFont typeface="Wingdings" panose="05000000000000000000" pitchFamily="2" charset="2"/>
              <a:buChar char="u"/>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目的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地址与某一个特定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地址的前缀匹配的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a:t>
            </a:r>
          </a:p>
          <a:p>
            <a:pPr marL="625475" lvl="1" indent="-285750">
              <a:lnSpc>
                <a:spcPts val="3000"/>
              </a:lnSpc>
              <a:buClr>
                <a:srgbClr val="990099"/>
              </a:buClr>
              <a:buSzPct val="85000"/>
              <a:buFont typeface="Wingdings" panose="05000000000000000000" pitchFamily="2" charset="2"/>
              <a:buChar char="u"/>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所有源地址与目的地址都相同的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a:t>
            </a:r>
          </a:p>
          <a:p>
            <a:pPr marL="625475" lvl="1" indent="-285750">
              <a:lnSpc>
                <a:spcPts val="3000"/>
              </a:lnSpc>
              <a:buClr>
                <a:srgbClr val="990099"/>
              </a:buClr>
              <a:buSzPct val="85000"/>
              <a:buFont typeface="Wingdings" panose="05000000000000000000" pitchFamily="2" charset="2"/>
              <a:buChar char="u"/>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具有某种服务质量需求的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a:t>
            </a:r>
          </a:p>
        </p:txBody>
      </p:sp>
      <p:sp>
        <p:nvSpPr>
          <p:cNvPr id="8" name="AutoShape 5"/>
          <p:cNvSpPr>
            <a:spLocks noChangeArrowheads="1"/>
          </p:cNvSpPr>
          <p:nvPr/>
        </p:nvSpPr>
        <p:spPr bwMode="auto">
          <a:xfrm>
            <a:off x="545144" y="61839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p:cNvSpPr>
            <a:spLocks noChangeArrowheads="1"/>
          </p:cNvSpPr>
          <p:nvPr/>
        </p:nvSpPr>
        <p:spPr bwMode="auto">
          <a:xfrm>
            <a:off x="1941968" y="58518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转发等价类 </a:t>
            </a:r>
            <a:r>
              <a:rPr lang="en-US" altLang="zh-CN" sz="2000" b="1" dirty="0">
                <a:solidFill>
                  <a:schemeClr val="bg1"/>
                </a:solidFill>
                <a:latin typeface="微软雅黑" pitchFamily="34" charset="-122"/>
                <a:ea typeface="微软雅黑" pitchFamily="34" charset="-122"/>
              </a:rPr>
              <a:t>FEC</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839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p:cNvSpPr>
            <a:spLocks noChangeArrowheads="1"/>
          </p:cNvSpPr>
          <p:nvPr/>
        </p:nvSpPr>
        <p:spPr bwMode="auto">
          <a:xfrm>
            <a:off x="1941968" y="58518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转发等价类 </a:t>
            </a:r>
            <a:r>
              <a:rPr lang="en-US" altLang="zh-CN" sz="2000" b="1" dirty="0">
                <a:solidFill>
                  <a:schemeClr val="bg1"/>
                </a:solidFill>
                <a:latin typeface="微软雅黑" pitchFamily="34" charset="-122"/>
                <a:ea typeface="微软雅黑" pitchFamily="34" charset="-122"/>
              </a:rPr>
              <a:t>FEC</a:t>
            </a:r>
            <a:endParaRPr lang="zh-CN" altLang="en-US" sz="2000" b="1" dirty="0">
              <a:solidFill>
                <a:schemeClr val="bg1"/>
              </a:solidFill>
              <a:latin typeface="微软雅黑" pitchFamily="34" charset="-122"/>
              <a:ea typeface="微软雅黑" pitchFamily="34" charset="-122"/>
            </a:endParaRPr>
          </a:p>
        </p:txBody>
      </p:sp>
      <p:graphicFrame>
        <p:nvGraphicFramePr>
          <p:cNvPr id="3" name="图示 2"/>
          <p:cNvGraphicFramePr/>
          <p:nvPr>
            <p:extLst>
              <p:ext uri="{D42A27DB-BD31-4B8C-83A1-F6EECF244321}">
                <p14:modId xmlns:p14="http://schemas.microsoft.com/office/powerpoint/2010/main" val="3115186628"/>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56015"/>
            <a:ext cx="8053712" cy="323846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AutoShape 5"/>
          <p:cNvSpPr>
            <a:spLocks noChangeArrowheads="1"/>
          </p:cNvSpPr>
          <p:nvPr/>
        </p:nvSpPr>
        <p:spPr bwMode="auto">
          <a:xfrm>
            <a:off x="545144" y="6158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4" y="565896"/>
            <a:ext cx="5213215" cy="400110"/>
          </a:xfrm>
          <a:prstGeom prst="rect">
            <a:avLst/>
          </a:prstGeom>
        </p:spPr>
        <p:txBody>
          <a:bodyPr wrap="square">
            <a:spAutoFit/>
          </a:bodyPr>
          <a:lstStyle/>
          <a:p>
            <a:r>
              <a:rPr lang="en-US" altLang="zh-CN" sz="2000" b="1" dirty="0">
                <a:latin typeface="微软雅黑" pitchFamily="34" charset="-122"/>
                <a:ea typeface="微软雅黑" pitchFamily="34" charset="-122"/>
              </a:rPr>
              <a:t>FEC </a:t>
            </a:r>
            <a:r>
              <a:rPr lang="zh-CN" altLang="en-US" sz="2000" b="1" dirty="0">
                <a:latin typeface="微软雅黑" pitchFamily="34" charset="-122"/>
                <a:ea typeface="微软雅黑" pitchFamily="34" charset="-122"/>
              </a:rPr>
              <a:t>用于负载平衡</a:t>
            </a:r>
          </a:p>
        </p:txBody>
      </p:sp>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7509"/>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303592" y="576646"/>
            <a:ext cx="45368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4.9.2  MPLS </a:t>
            </a:r>
            <a:r>
              <a:rPr lang="zh-CN" altLang="en-US" sz="2400" b="1" dirty="0">
                <a:solidFill>
                  <a:schemeClr val="bg1"/>
                </a:solidFill>
                <a:latin typeface="微软雅黑" pitchFamily="34" charset="-122"/>
                <a:ea typeface="微软雅黑" pitchFamily="34" charset="-122"/>
              </a:rPr>
              <a:t>首部的位置与格式</a:t>
            </a:r>
          </a:p>
        </p:txBody>
      </p:sp>
      <p:sp>
        <p:nvSpPr>
          <p:cNvPr id="4" name="Rectangle 8"/>
          <p:cNvSpPr>
            <a:spLocks noChangeArrowheads="1"/>
          </p:cNvSpPr>
          <p:nvPr/>
        </p:nvSpPr>
        <p:spPr bwMode="auto">
          <a:xfrm>
            <a:off x="545144" y="1000360"/>
            <a:ext cx="4135498" cy="20159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不要求下层的网络都使用面向连接的技术。</a:t>
            </a:r>
          </a:p>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封装技术：</a:t>
            </a:r>
            <a:r>
              <a:rPr lang="zh-CN" altLang="en-US" sz="2000" b="1" dirty="0">
                <a:latin typeface="微软雅黑" pitchFamily="34" charset="-122"/>
                <a:ea typeface="微软雅黑" pitchFamily="34" charset="-122"/>
              </a:rPr>
              <a:t>在把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数据报封装成以太网帧之前，先要插入一个 </a:t>
            </a: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首部。</a:t>
            </a:r>
          </a:p>
        </p:txBody>
      </p:sp>
      <p:grpSp>
        <p:nvGrpSpPr>
          <p:cNvPr id="5" name="组合 4"/>
          <p:cNvGrpSpPr/>
          <p:nvPr/>
        </p:nvGrpSpPr>
        <p:grpSpPr>
          <a:xfrm>
            <a:off x="5156868" y="1486087"/>
            <a:ext cx="3004948" cy="1356547"/>
            <a:chOff x="3728864" y="4437112"/>
            <a:chExt cx="3522495"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600" b="1" i="0" u="none" strike="noStrike" cap="none" normalizeH="0" baseline="0" dirty="0">
                  <a:ln>
                    <a:noFill/>
                  </a:ln>
                  <a:solidFill>
                    <a:schemeClr val="tx1"/>
                  </a:solidFill>
                  <a:effectLst/>
                  <a:latin typeface="微软雅黑" pitchFamily="34" charset="-122"/>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600" b="1" i="0" u="none" strike="noStrike" cap="none" normalizeH="0" baseline="0" dirty="0">
                  <a:ln>
                    <a:noFill/>
                  </a:ln>
                  <a:solidFill>
                    <a:schemeClr val="tx1"/>
                  </a:solidFill>
                  <a:effectLst/>
                  <a:latin typeface="微软雅黑" pitchFamily="34" charset="-122"/>
                  <a:ea typeface="微软雅黑" pitchFamily="34" charset="-122"/>
                </a:rPr>
                <a:t>MPLS </a:t>
              </a:r>
              <a:r>
                <a:rPr kumimoji="0" lang="zh-CN" altLang="en-US" sz="1600" b="1" i="0" u="none" strike="noStrike" cap="none" normalizeH="0" baseline="0" dirty="0">
                  <a:ln>
                    <a:noFill/>
                  </a:ln>
                  <a:solidFill>
                    <a:schemeClr val="tx1"/>
                  </a:solidFill>
                  <a:effectLst/>
                  <a:latin typeface="微软雅黑" pitchFamily="34" charset="-122"/>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600" b="1" dirty="0">
                  <a:latin typeface="微软雅黑" pitchFamily="34" charset="-122"/>
                  <a:ea typeface="微软雅黑" pitchFamily="34" charset="-122"/>
                </a:rPr>
                <a:t>数据链路</a:t>
              </a:r>
              <a:r>
                <a:rPr kumimoji="0" lang="zh-CN" altLang="en-US" sz="1600" b="1" i="0" u="none" strike="noStrike" cap="none" normalizeH="0" baseline="0" dirty="0">
                  <a:ln>
                    <a:noFill/>
                  </a:ln>
                  <a:solidFill>
                    <a:schemeClr val="tx1"/>
                  </a:solidFill>
                  <a:effectLst/>
                  <a:latin typeface="微软雅黑" pitchFamily="34" charset="-122"/>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微软雅黑" pitchFamily="34" charset="-122"/>
                <a:ea typeface="微软雅黑" pitchFamily="34" charset="-122"/>
              </a:endParaRPr>
            </a:p>
          </p:txBody>
        </p:sp>
        <p:sp>
          <p:nvSpPr>
            <p:cNvPr id="10" name="TextBox 9"/>
            <p:cNvSpPr txBox="1"/>
            <p:nvPr/>
          </p:nvSpPr>
          <p:spPr>
            <a:xfrm>
              <a:off x="6467702" y="4915476"/>
              <a:ext cx="783657" cy="445873"/>
            </a:xfrm>
            <a:prstGeom prst="rect">
              <a:avLst/>
            </a:prstGeom>
            <a:noFill/>
          </p:spPr>
          <p:txBody>
            <a:bodyPr wrap="none" rtlCol="0">
              <a:spAutoFit/>
            </a:bodyPr>
            <a:lstStyle/>
            <a:p>
              <a:r>
                <a:rPr lang="zh-CN" altLang="en-US" sz="1600" b="1" dirty="0">
                  <a:latin typeface="微软雅黑" pitchFamily="34" charset="-122"/>
                  <a:ea typeface="微软雅黑" pitchFamily="34" charset="-122"/>
                </a:rPr>
                <a:t>插入</a:t>
              </a:r>
            </a:p>
          </p:txBody>
        </p:sp>
      </p:grpSp>
      <p:sp>
        <p:nvSpPr>
          <p:cNvPr id="11" name="矩形 10"/>
          <p:cNvSpPr/>
          <p:nvPr/>
        </p:nvSpPr>
        <p:spPr>
          <a:xfrm>
            <a:off x="4572000" y="3046444"/>
            <a:ext cx="3396986" cy="759182"/>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600"/>
              </a:lnSpc>
            </a:pPr>
            <a:r>
              <a:rPr lang="zh-CN" altLang="en-US" b="1" dirty="0">
                <a:latin typeface="微软雅黑" panose="020B0503020204020204" pitchFamily="34" charset="-122"/>
                <a:ea typeface="微软雅黑" panose="020B0503020204020204" pitchFamily="34" charset="-122"/>
              </a:rPr>
              <a:t>从层次的角度看，</a:t>
            </a:r>
            <a:r>
              <a:rPr lang="en-US" altLang="zh-CN" b="1" dirty="0">
                <a:latin typeface="微软雅黑" panose="020B0503020204020204" pitchFamily="34" charset="-122"/>
                <a:ea typeface="微软雅黑" panose="020B0503020204020204" pitchFamily="34" charset="-122"/>
              </a:rPr>
              <a:t>MPLS </a:t>
            </a:r>
            <a:r>
              <a:rPr lang="zh-CN" altLang="en-US" b="1" dirty="0">
                <a:latin typeface="微软雅黑" panose="020B0503020204020204" pitchFamily="34" charset="-122"/>
                <a:ea typeface="微软雅黑" panose="020B0503020204020204" pitchFamily="34" charset="-122"/>
              </a:rPr>
              <a:t>首部处在第二层和第三层之间。</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71879"/>
            <a:ext cx="8053711" cy="23680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AutoShape 5"/>
          <p:cNvSpPr>
            <a:spLocks noChangeArrowheads="1"/>
          </p:cNvSpPr>
          <p:nvPr/>
        </p:nvSpPr>
        <p:spPr bwMode="auto">
          <a:xfrm>
            <a:off x="545144" y="6141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093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MPLS </a:t>
            </a:r>
            <a:r>
              <a:rPr lang="zh-CN" altLang="en-US" sz="2000" b="1" dirty="0">
                <a:solidFill>
                  <a:schemeClr val="bg1"/>
                </a:solidFill>
                <a:latin typeface="微软雅黑" pitchFamily="34" charset="-122"/>
                <a:ea typeface="微软雅黑" pitchFamily="34" charset="-122"/>
              </a:rPr>
              <a:t>首部的格式</a:t>
            </a:r>
          </a:p>
        </p:txBody>
      </p:sp>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2" name="对角圆角矩形 31"/>
          <p:cNvSpPr/>
          <p:nvPr/>
        </p:nvSpPr>
        <p:spPr>
          <a:xfrm>
            <a:off x="1059254" y="3476593"/>
            <a:ext cx="7143184" cy="9233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1293009" y="3584456"/>
            <a:ext cx="6629111" cy="733534"/>
          </a:xfrm>
          <a:prstGeom prst="rect">
            <a:avLst/>
          </a:prstGeom>
        </p:spPr>
        <p:txBody>
          <a:bodyPr wrap="square">
            <a:spAutoFit/>
          </a:bodyPr>
          <a:lstStyle/>
          <a:p>
            <a:pPr>
              <a:lnSpc>
                <a:spcPts val="2500"/>
              </a:lnSpc>
            </a:pPr>
            <a:r>
              <a:rPr lang="zh-CN" altLang="en-US" b="1" dirty="0">
                <a:solidFill>
                  <a:srgbClr val="FFFF00"/>
                </a:solidFill>
                <a:latin typeface="微软雅黑" pitchFamily="34" charset="-122"/>
                <a:ea typeface="微软雅黑" pitchFamily="34" charset="-122"/>
              </a:rPr>
              <a:t>给 </a:t>
            </a:r>
            <a:r>
              <a:rPr lang="en-US" altLang="zh-CN" b="1" dirty="0">
                <a:solidFill>
                  <a:srgbClr val="FFFF00"/>
                </a:solidFill>
                <a:latin typeface="微软雅黑" pitchFamily="34" charset="-122"/>
                <a:ea typeface="微软雅黑" pitchFamily="34" charset="-122"/>
              </a:rPr>
              <a:t>IP </a:t>
            </a:r>
            <a:r>
              <a:rPr lang="zh-CN" altLang="en-US" b="1" dirty="0">
                <a:solidFill>
                  <a:srgbClr val="FFFF00"/>
                </a:solidFill>
                <a:latin typeface="微软雅黑" pitchFamily="34" charset="-122"/>
                <a:ea typeface="微软雅黑" pitchFamily="34" charset="-122"/>
              </a:rPr>
              <a:t>数据报打上标记</a:t>
            </a:r>
            <a:r>
              <a:rPr lang="zh-CN" altLang="en-US" b="1" dirty="0">
                <a:solidFill>
                  <a:schemeClr val="bg1"/>
                </a:solidFill>
                <a:latin typeface="微软雅黑" pitchFamily="34" charset="-122"/>
                <a:ea typeface="微软雅黑" pitchFamily="34" charset="-122"/>
              </a:rPr>
              <a:t>就是在以太网帧首部和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数据报首部之间插入一个 </a:t>
            </a:r>
            <a:r>
              <a:rPr lang="en-US" altLang="zh-CN" b="1" dirty="0">
                <a:solidFill>
                  <a:srgbClr val="FFFF00"/>
                </a:solidFill>
                <a:latin typeface="微软雅黑" pitchFamily="34" charset="-122"/>
                <a:ea typeface="微软雅黑" pitchFamily="34" charset="-122"/>
              </a:rPr>
              <a:t>4 </a:t>
            </a:r>
            <a:r>
              <a:rPr lang="zh-CN" altLang="en-US" b="1" dirty="0">
                <a:solidFill>
                  <a:srgbClr val="FFFF00"/>
                </a:solidFill>
                <a:latin typeface="微软雅黑" pitchFamily="34" charset="-122"/>
                <a:ea typeface="微软雅黑" pitchFamily="34" charset="-122"/>
              </a:rPr>
              <a:t>字节</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MPLS </a:t>
            </a:r>
            <a:r>
              <a:rPr lang="zh-CN" altLang="en-US" b="1" dirty="0">
                <a:solidFill>
                  <a:schemeClr val="bg1"/>
                </a:solidFill>
                <a:latin typeface="微软雅黑" pitchFamily="34" charset="-122"/>
                <a:ea typeface="微软雅黑" pitchFamily="34" charset="-122"/>
              </a:rPr>
              <a:t>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71879"/>
            <a:ext cx="8053711" cy="23680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AutoShape 5"/>
          <p:cNvSpPr>
            <a:spLocks noChangeArrowheads="1"/>
          </p:cNvSpPr>
          <p:nvPr/>
        </p:nvSpPr>
        <p:spPr bwMode="auto">
          <a:xfrm>
            <a:off x="545144" y="6141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093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MPLS </a:t>
            </a:r>
            <a:r>
              <a:rPr lang="zh-CN" altLang="en-US" sz="2000" b="1" dirty="0">
                <a:solidFill>
                  <a:schemeClr val="bg1"/>
                </a:solidFill>
                <a:latin typeface="微软雅黑" pitchFamily="34" charset="-122"/>
                <a:ea typeface="微软雅黑" pitchFamily="34" charset="-122"/>
              </a:rPr>
              <a:t>首部的格式</a:t>
            </a:r>
          </a:p>
        </p:txBody>
      </p:sp>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760492" y="3457987"/>
            <a:ext cx="8021370" cy="412934"/>
          </a:xfrm>
          <a:prstGeom prst="rect">
            <a:avLst/>
          </a:prstGeom>
        </p:spPr>
        <p:txBody>
          <a:bodyPr wrap="square">
            <a:spAutoFit/>
          </a:bodyPr>
          <a:lstStyle/>
          <a:p>
            <a:pPr>
              <a:lnSpc>
                <a:spcPts val="2500"/>
              </a:lnSpc>
            </a:pPr>
            <a:r>
              <a:rPr lang="en-US" altLang="zh-CN" b="1" dirty="0">
                <a:solidFill>
                  <a:srgbClr val="0000FF"/>
                </a:solidFill>
                <a:latin typeface="微软雅黑" pitchFamily="34" charset="-122"/>
                <a:ea typeface="微软雅黑" pitchFamily="34" charset="-122"/>
              </a:rPr>
              <a:t>(1) </a:t>
            </a:r>
            <a:r>
              <a:rPr lang="zh-CN" altLang="en-US" b="1" dirty="0">
                <a:solidFill>
                  <a:srgbClr val="0000FF"/>
                </a:solidFill>
                <a:latin typeface="微软雅黑" pitchFamily="34" charset="-122"/>
                <a:ea typeface="微软雅黑" pitchFamily="34" charset="-122"/>
              </a:rPr>
              <a:t>标签值（占 </a:t>
            </a:r>
            <a:r>
              <a:rPr lang="en-US" altLang="zh-CN" b="1" dirty="0">
                <a:solidFill>
                  <a:srgbClr val="0000FF"/>
                </a:solidFill>
                <a:latin typeface="微软雅黑" pitchFamily="34" charset="-122"/>
                <a:ea typeface="微软雅黑" pitchFamily="34" charset="-122"/>
              </a:rPr>
              <a:t>20 </a:t>
            </a:r>
            <a:r>
              <a:rPr lang="zh-CN" altLang="en-US" b="1" dirty="0">
                <a:solidFill>
                  <a:srgbClr val="0000FF"/>
                </a:solidFill>
                <a:latin typeface="微软雅黑" pitchFamily="34" charset="-122"/>
                <a:ea typeface="微软雅黑" pitchFamily="34" charset="-122"/>
              </a:rPr>
              <a:t>位），可以同时容纳高达 </a:t>
            </a:r>
            <a:r>
              <a:rPr lang="en-US" altLang="zh-CN" b="1" dirty="0">
                <a:solidFill>
                  <a:srgbClr val="0000FF"/>
                </a:solidFill>
                <a:latin typeface="微软雅黑" pitchFamily="34" charset="-122"/>
                <a:ea typeface="微软雅黑" pitchFamily="34" charset="-122"/>
              </a:rPr>
              <a:t>2</a:t>
            </a:r>
            <a:r>
              <a:rPr lang="en-US" altLang="zh-CN" b="1" baseline="30000" dirty="0">
                <a:solidFill>
                  <a:srgbClr val="0000FF"/>
                </a:solidFill>
                <a:latin typeface="微软雅黑" pitchFamily="34" charset="-122"/>
                <a:ea typeface="微软雅黑" pitchFamily="34" charset="-122"/>
              </a:rPr>
              <a:t>20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个流（即 </a:t>
            </a:r>
            <a:r>
              <a:rPr lang="en-US" altLang="zh-CN" b="1" dirty="0">
                <a:solidFill>
                  <a:srgbClr val="0000FF"/>
                </a:solidFill>
                <a:latin typeface="微软雅黑" pitchFamily="34" charset="-122"/>
                <a:ea typeface="微软雅黑" pitchFamily="34" charset="-122"/>
              </a:rPr>
              <a:t>1048576 </a:t>
            </a:r>
            <a:r>
              <a:rPr lang="zh-CN" altLang="en-US" b="1" dirty="0">
                <a:solidFill>
                  <a:srgbClr val="0000FF"/>
                </a:solidFill>
                <a:latin typeface="微软雅黑" pitchFamily="34" charset="-122"/>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71879"/>
            <a:ext cx="8053711" cy="23680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AutoShape 5"/>
          <p:cNvSpPr>
            <a:spLocks noChangeArrowheads="1"/>
          </p:cNvSpPr>
          <p:nvPr/>
        </p:nvSpPr>
        <p:spPr bwMode="auto">
          <a:xfrm>
            <a:off x="545144" y="6141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093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MPLS </a:t>
            </a:r>
            <a:r>
              <a:rPr lang="zh-CN" altLang="en-US" sz="2000" b="1" dirty="0">
                <a:solidFill>
                  <a:schemeClr val="bg1"/>
                </a:solidFill>
                <a:latin typeface="微软雅黑" pitchFamily="34" charset="-122"/>
                <a:ea typeface="微软雅黑" pitchFamily="34" charset="-122"/>
              </a:rPr>
              <a:t>首部的格式</a:t>
            </a:r>
          </a:p>
        </p:txBody>
      </p:sp>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760492" y="3457987"/>
            <a:ext cx="8021370" cy="412934"/>
          </a:xfrm>
          <a:prstGeom prst="rect">
            <a:avLst/>
          </a:prstGeom>
        </p:spPr>
        <p:txBody>
          <a:bodyPr wrap="square">
            <a:spAutoFit/>
          </a:bodyPr>
          <a:lstStyle/>
          <a:p>
            <a:pPr>
              <a:lnSpc>
                <a:spcPts val="2500"/>
              </a:lnSpc>
            </a:pPr>
            <a:r>
              <a:rPr lang="en-US" altLang="zh-CN" b="1" dirty="0">
                <a:solidFill>
                  <a:srgbClr val="0000FF"/>
                </a:solidFill>
                <a:latin typeface="微软雅黑" pitchFamily="34" charset="-122"/>
                <a:ea typeface="微软雅黑" pitchFamily="34" charset="-122"/>
              </a:rPr>
              <a:t>(2) </a:t>
            </a:r>
            <a:r>
              <a:rPr lang="zh-CN" altLang="en-US" b="1" dirty="0">
                <a:solidFill>
                  <a:srgbClr val="0000FF"/>
                </a:solidFill>
                <a:latin typeface="微软雅黑" pitchFamily="34" charset="-122"/>
                <a:ea typeface="微软雅黑" pitchFamily="34" charset="-122"/>
              </a:rPr>
              <a:t>试验（占 </a:t>
            </a:r>
            <a:r>
              <a:rPr lang="en-US" altLang="zh-CN" b="1" dirty="0">
                <a:solidFill>
                  <a:srgbClr val="0000FF"/>
                </a:solidFill>
                <a:latin typeface="微软雅黑" pitchFamily="34" charset="-122"/>
                <a:ea typeface="微软雅黑" pitchFamily="34" charset="-122"/>
              </a:rPr>
              <a:t>3 </a:t>
            </a:r>
            <a:r>
              <a:rPr lang="zh-CN" altLang="en-US" b="1" dirty="0">
                <a:solidFill>
                  <a:srgbClr val="0000FF"/>
                </a:solidFill>
                <a:latin typeface="微软雅黑" pitchFamily="34" charset="-122"/>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71879"/>
            <a:ext cx="8053711" cy="23680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AutoShape 5"/>
          <p:cNvSpPr>
            <a:spLocks noChangeArrowheads="1"/>
          </p:cNvSpPr>
          <p:nvPr/>
        </p:nvSpPr>
        <p:spPr bwMode="auto">
          <a:xfrm>
            <a:off x="545144" y="6141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093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MPLS </a:t>
            </a:r>
            <a:r>
              <a:rPr lang="zh-CN" altLang="en-US" sz="2000" b="1" dirty="0">
                <a:solidFill>
                  <a:schemeClr val="bg1"/>
                </a:solidFill>
                <a:latin typeface="微软雅黑" pitchFamily="34" charset="-122"/>
                <a:ea typeface="微软雅黑" pitchFamily="34" charset="-122"/>
              </a:rPr>
              <a:t>首部的格式</a:t>
            </a:r>
          </a:p>
        </p:txBody>
      </p:sp>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760492" y="3457987"/>
            <a:ext cx="8021370" cy="387735"/>
          </a:xfrm>
          <a:prstGeom prst="rect">
            <a:avLst/>
          </a:prstGeom>
        </p:spPr>
        <p:txBody>
          <a:bodyPr wrap="square">
            <a:spAutoFit/>
          </a:bodyPr>
          <a:lstStyle/>
          <a:p>
            <a:pPr>
              <a:lnSpc>
                <a:spcPts val="2500"/>
              </a:lnSpc>
            </a:pPr>
            <a:r>
              <a:rPr lang="en-US" altLang="zh-CN" b="1" dirty="0">
                <a:solidFill>
                  <a:srgbClr val="0000FF"/>
                </a:solidFill>
                <a:latin typeface="微软雅黑" pitchFamily="34" charset="-122"/>
                <a:ea typeface="微软雅黑" pitchFamily="34" charset="-122"/>
              </a:rPr>
              <a:t>(3) </a:t>
            </a:r>
            <a:r>
              <a:rPr lang="zh-CN" altLang="en-US" b="1" dirty="0">
                <a:solidFill>
                  <a:srgbClr val="0000FF"/>
                </a:solidFill>
                <a:latin typeface="微软雅黑" pitchFamily="34" charset="-122"/>
                <a:ea typeface="微软雅黑" pitchFamily="34" charset="-122"/>
              </a:rPr>
              <a:t>栈</a:t>
            </a:r>
            <a:r>
              <a:rPr lang="en-US" altLang="zh-CN" b="1" dirty="0">
                <a:solidFill>
                  <a:srgbClr val="0000FF"/>
                </a:solidFill>
                <a:latin typeface="微软雅黑" pitchFamily="34" charset="-122"/>
                <a:ea typeface="微软雅黑" pitchFamily="34" charset="-122"/>
              </a:rPr>
              <a:t>S</a:t>
            </a:r>
            <a:r>
              <a:rPr lang="zh-CN" altLang="en-US" b="1" dirty="0">
                <a:solidFill>
                  <a:srgbClr val="0000FF"/>
                </a:solidFill>
                <a:latin typeface="微软雅黑" pitchFamily="34" charset="-122"/>
                <a:ea typeface="微软雅黑" pitchFamily="34" charset="-122"/>
              </a:rPr>
              <a:t>（占 </a:t>
            </a:r>
            <a:r>
              <a:rPr lang="en-US" altLang="zh-CN" b="1" dirty="0">
                <a:solidFill>
                  <a:srgbClr val="0000FF"/>
                </a:solidFill>
                <a:latin typeface="微软雅黑" pitchFamily="34" charset="-122"/>
                <a:ea typeface="微软雅黑" pitchFamily="34" charset="-122"/>
              </a:rPr>
              <a:t>1 </a:t>
            </a:r>
            <a:r>
              <a:rPr lang="zh-CN" altLang="en-US" b="1" dirty="0">
                <a:solidFill>
                  <a:srgbClr val="0000FF"/>
                </a:solidFill>
                <a:latin typeface="微软雅黑" pitchFamily="34" charset="-122"/>
                <a:ea typeface="微软雅黑" pitchFamily="34" charset="-122"/>
              </a:rPr>
              <a:t>位）。在有“标签栈”时使用。</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71879"/>
            <a:ext cx="8053711" cy="23680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AutoShape 5"/>
          <p:cNvSpPr>
            <a:spLocks noChangeArrowheads="1"/>
          </p:cNvSpPr>
          <p:nvPr/>
        </p:nvSpPr>
        <p:spPr bwMode="auto">
          <a:xfrm>
            <a:off x="545144" y="6141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093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MPLS </a:t>
            </a:r>
            <a:r>
              <a:rPr lang="zh-CN" altLang="en-US" sz="2000" b="1" dirty="0">
                <a:solidFill>
                  <a:schemeClr val="bg1"/>
                </a:solidFill>
                <a:latin typeface="微软雅黑" pitchFamily="34" charset="-122"/>
                <a:ea typeface="微软雅黑" pitchFamily="34" charset="-122"/>
              </a:rPr>
              <a:t>首部的格式</a:t>
            </a:r>
          </a:p>
        </p:txBody>
      </p:sp>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760492" y="3457987"/>
            <a:ext cx="8021370" cy="412934"/>
          </a:xfrm>
          <a:prstGeom prst="rect">
            <a:avLst/>
          </a:prstGeom>
        </p:spPr>
        <p:txBody>
          <a:bodyPr wrap="square">
            <a:spAutoFit/>
          </a:bodyPr>
          <a:lstStyle/>
          <a:p>
            <a:pPr>
              <a:lnSpc>
                <a:spcPts val="2500"/>
              </a:lnSpc>
            </a:pPr>
            <a:r>
              <a:rPr lang="en-US" altLang="zh-CN" b="1" dirty="0">
                <a:solidFill>
                  <a:srgbClr val="0000FF"/>
                </a:solidFill>
                <a:latin typeface="微软雅黑" pitchFamily="34" charset="-122"/>
                <a:ea typeface="微软雅黑" pitchFamily="34" charset="-122"/>
              </a:rPr>
              <a:t>(4) </a:t>
            </a:r>
            <a:r>
              <a:rPr lang="zh-CN" altLang="en-US" b="1" dirty="0">
                <a:solidFill>
                  <a:srgbClr val="0000FF"/>
                </a:solidFill>
                <a:latin typeface="微软雅黑" pitchFamily="34" charset="-122"/>
                <a:ea typeface="微软雅黑" pitchFamily="34" charset="-122"/>
              </a:rPr>
              <a:t>生存时间 </a:t>
            </a:r>
            <a:r>
              <a:rPr lang="en-US" altLang="zh-CN" b="1" dirty="0">
                <a:solidFill>
                  <a:srgbClr val="0000FF"/>
                </a:solidFill>
                <a:latin typeface="微软雅黑" pitchFamily="34" charset="-122"/>
                <a:ea typeface="微软雅黑" pitchFamily="34" charset="-122"/>
              </a:rPr>
              <a:t>TTL</a:t>
            </a:r>
            <a:r>
              <a:rPr lang="zh-CN" altLang="en-US" b="1" dirty="0">
                <a:solidFill>
                  <a:srgbClr val="0000FF"/>
                </a:solidFill>
                <a:latin typeface="微软雅黑" pitchFamily="34" charset="-122"/>
                <a:ea typeface="微软雅黑" pitchFamily="34" charset="-122"/>
              </a:rPr>
              <a:t>（占 </a:t>
            </a:r>
            <a:r>
              <a:rPr lang="en-US" altLang="zh-CN" b="1" dirty="0">
                <a:solidFill>
                  <a:srgbClr val="0000FF"/>
                </a:solidFill>
                <a:latin typeface="微软雅黑" pitchFamily="34" charset="-122"/>
                <a:ea typeface="微软雅黑" pitchFamily="34" charset="-122"/>
              </a:rPr>
              <a:t>8 </a:t>
            </a:r>
            <a:r>
              <a:rPr lang="zh-CN" altLang="en-US" b="1" dirty="0">
                <a:solidFill>
                  <a:srgbClr val="0000FF"/>
                </a:solidFill>
                <a:latin typeface="微软雅黑" pitchFamily="34" charset="-122"/>
                <a:ea typeface="微软雅黑" pitchFamily="34" charset="-122"/>
              </a:rPr>
              <a:t>位），用来防止 </a:t>
            </a:r>
            <a:r>
              <a:rPr lang="en-US" altLang="zh-CN" b="1" dirty="0">
                <a:solidFill>
                  <a:srgbClr val="0000FF"/>
                </a:solidFill>
                <a:latin typeface="微软雅黑" pitchFamily="34" charset="-122"/>
                <a:ea typeface="微软雅黑" pitchFamily="34" charset="-122"/>
              </a:rPr>
              <a:t>MPLS </a:t>
            </a:r>
            <a:r>
              <a:rPr lang="zh-CN" altLang="en-US" b="1" dirty="0">
                <a:solidFill>
                  <a:srgbClr val="0000FF"/>
                </a:solidFill>
                <a:latin typeface="微软雅黑" pitchFamily="34" charset="-122"/>
                <a:ea typeface="微软雅黑" pitchFamily="34" charset="-122"/>
              </a:rPr>
              <a:t>分组在 </a:t>
            </a:r>
            <a:r>
              <a:rPr lang="en-US" altLang="zh-CN" b="1" dirty="0">
                <a:solidFill>
                  <a:srgbClr val="0000FF"/>
                </a:solidFill>
                <a:latin typeface="微软雅黑" pitchFamily="34" charset="-122"/>
                <a:ea typeface="微软雅黑" pitchFamily="34" charset="-122"/>
              </a:rPr>
              <a:t>MPLS </a:t>
            </a:r>
            <a:r>
              <a:rPr lang="zh-CN" altLang="en-US" b="1" dirty="0">
                <a:solidFill>
                  <a:srgbClr val="0000FF"/>
                </a:solidFill>
                <a:latin typeface="微软雅黑" pitchFamily="34" charset="-122"/>
                <a:ea typeface="微软雅黑" pitchFamily="34" charset="-122"/>
              </a:rPr>
              <a:t>域中兜圈子。</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7509"/>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19146" y="576646"/>
            <a:ext cx="330571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4.9.3  </a:t>
            </a:r>
            <a:r>
              <a:rPr lang="zh-CN" altLang="en-US" sz="2400" b="1" dirty="0">
                <a:solidFill>
                  <a:schemeClr val="bg1"/>
                </a:solidFill>
                <a:latin typeface="微软雅黑" pitchFamily="34" charset="-122"/>
                <a:ea typeface="微软雅黑" pitchFamily="34" charset="-122"/>
              </a:rPr>
              <a:t>新一代的 </a:t>
            </a:r>
            <a:r>
              <a:rPr lang="en-US" altLang="zh-CN" sz="2400" b="1" dirty="0">
                <a:solidFill>
                  <a:schemeClr val="bg1"/>
                </a:solidFill>
                <a:latin typeface="微软雅黑" pitchFamily="34" charset="-122"/>
                <a:ea typeface="微软雅黑" pitchFamily="34" charset="-122"/>
              </a:rPr>
              <a:t>MPLS</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09413"/>
            <a:ext cx="8209557" cy="3375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存在的问题：</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控制协议（如 </a:t>
            </a:r>
            <a:r>
              <a:rPr lang="en-US" altLang="zh-CN" sz="2000" b="1" dirty="0">
                <a:latin typeface="微软雅黑" pitchFamily="34" charset="-122"/>
                <a:ea typeface="微软雅黑" pitchFamily="34" charset="-122"/>
              </a:rPr>
              <a:t>LDP</a:t>
            </a:r>
            <a:r>
              <a:rPr lang="zh-CN" altLang="en-US" sz="2000" b="1" dirty="0">
                <a:latin typeface="微软雅黑" pitchFamily="34" charset="-122"/>
                <a:ea typeface="微软雅黑" pitchFamily="34" charset="-122"/>
              </a:rPr>
              <a:t>）比较复杂，扩展性差，运行维护较困难。</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协议 </a:t>
            </a:r>
            <a:r>
              <a:rPr lang="en-US" altLang="zh-CN" sz="2000" b="1" dirty="0">
                <a:latin typeface="微软雅黑" pitchFamily="34" charset="-122"/>
                <a:ea typeface="微软雅黑" pitchFamily="34" charset="-122"/>
              </a:rPr>
              <a:t>LDP </a:t>
            </a:r>
            <a:r>
              <a:rPr lang="zh-CN" altLang="en-US" sz="2000" b="1" dirty="0">
                <a:solidFill>
                  <a:srgbClr val="C00000"/>
                </a:solidFill>
                <a:latin typeface="微软雅黑" pitchFamily="34" charset="-122"/>
                <a:ea typeface="微软雅黑" pitchFamily="34" charset="-122"/>
              </a:rPr>
              <a:t>无法</a:t>
            </a:r>
            <a:r>
              <a:rPr lang="zh-CN" altLang="en-US" sz="2000" b="1" dirty="0">
                <a:latin typeface="微软雅黑" pitchFamily="34" charset="-122"/>
                <a:ea typeface="微软雅黑" pitchFamily="34" charset="-122"/>
              </a:rPr>
              <a:t>做到基于时延或带宽等要求的流量调度。</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为灵活地选择流量的转发路径，还需要再使用</a:t>
            </a:r>
            <a:r>
              <a:rPr lang="zh-CN" altLang="en-US" sz="2000" b="1" dirty="0">
                <a:solidFill>
                  <a:srgbClr val="C00000"/>
                </a:solidFill>
                <a:latin typeface="微软雅黑" pitchFamily="34" charset="-122"/>
                <a:ea typeface="微软雅黑" pitchFamily="34" charset="-122"/>
              </a:rPr>
              <a:t>资源预留协议 </a:t>
            </a:r>
            <a:r>
              <a:rPr lang="en-US" altLang="zh-CN" sz="2000" b="1" dirty="0">
                <a:latin typeface="微软雅黑" pitchFamily="34" charset="-122"/>
                <a:ea typeface="微软雅黑" pitchFamily="34" charset="-122"/>
              </a:rPr>
              <a:t>RSVP</a:t>
            </a:r>
            <a:r>
              <a:rPr lang="zh-CN" altLang="en-US" sz="2000" b="1" dirty="0">
                <a:latin typeface="微软雅黑" pitchFamily="34" charset="-122"/>
                <a:ea typeface="微软雅黑" pitchFamily="34" charset="-122"/>
              </a:rPr>
              <a:t>。但是：</a:t>
            </a:r>
            <a:endParaRPr lang="en-US" altLang="zh-CN" sz="2000" b="1" dirty="0">
              <a:latin typeface="微软雅黑" pitchFamily="34" charset="-122"/>
              <a:ea typeface="微软雅黑" pitchFamily="34" charset="-122"/>
            </a:endParaRPr>
          </a:p>
          <a:p>
            <a:pPr marL="896938" lvl="2" indent="-252413">
              <a:lnSpc>
                <a:spcPts val="3200"/>
              </a:lnSpc>
              <a:buClr>
                <a:srgbClr val="800000"/>
              </a:buClr>
              <a:buSzPct val="75000"/>
              <a:buFont typeface="Wingdings" panose="05000000000000000000" pitchFamily="2" charset="2"/>
              <a:buChar char="p"/>
            </a:pPr>
            <a:r>
              <a:rPr lang="en-US" altLang="zh-CN" b="1" dirty="0">
                <a:latin typeface="微软雅黑" pitchFamily="34" charset="-122"/>
                <a:ea typeface="微软雅黑" pitchFamily="34" charset="-122"/>
              </a:rPr>
              <a:t>RSVP </a:t>
            </a:r>
            <a:r>
              <a:rPr lang="zh-CN" altLang="en-US" b="1" dirty="0">
                <a:latin typeface="微软雅黑" pitchFamily="34" charset="-122"/>
                <a:ea typeface="微软雅黑" pitchFamily="34" charset="-122"/>
              </a:rPr>
              <a:t>的信令非常复杂，每个节点都要维护一个庞大的链路信息数据库。</a:t>
            </a:r>
            <a:endParaRPr lang="en-US" altLang="zh-CN" b="1" dirty="0">
              <a:latin typeface="微软雅黑" pitchFamily="34" charset="-122"/>
              <a:ea typeface="微软雅黑" pitchFamily="34" charset="-122"/>
            </a:endParaRPr>
          </a:p>
          <a:p>
            <a:pPr marL="896938" lvl="2" indent="-252413">
              <a:lnSpc>
                <a:spcPts val="3200"/>
              </a:lnSpc>
              <a:buClr>
                <a:srgbClr val="800000"/>
              </a:buClr>
              <a:buSzPct val="75000"/>
              <a:buFont typeface="Wingdings" panose="05000000000000000000" pitchFamily="2" charset="2"/>
              <a:buChar char="p"/>
            </a:pPr>
            <a:r>
              <a:rPr lang="en-US" altLang="zh-CN" b="1" dirty="0">
                <a:latin typeface="微软雅黑" pitchFamily="34" charset="-122"/>
                <a:ea typeface="微软雅黑" pitchFamily="34" charset="-122"/>
              </a:rPr>
              <a:t>RSVP </a:t>
            </a:r>
            <a:r>
              <a:rPr lang="zh-CN" altLang="en-US" b="1" dirty="0">
                <a:latin typeface="微软雅黑" pitchFamily="34" charset="-122"/>
                <a:ea typeface="微软雅黑" pitchFamily="34" charset="-122"/>
              </a:rPr>
              <a:t>只会选择一条最优路径，</a:t>
            </a:r>
            <a:r>
              <a:rPr lang="zh-CN" altLang="en-US" b="1" dirty="0">
                <a:solidFill>
                  <a:srgbClr val="0000FF"/>
                </a:solidFill>
                <a:latin typeface="微软雅黑" pitchFamily="34" charset="-122"/>
                <a:ea typeface="微软雅黑" pitchFamily="34" charset="-122"/>
              </a:rPr>
              <a:t>不支持</a:t>
            </a:r>
            <a:r>
              <a:rPr lang="zh-CN" altLang="en-US" b="1" dirty="0">
                <a:solidFill>
                  <a:srgbClr val="C00000"/>
                </a:solidFill>
                <a:latin typeface="微软雅黑" pitchFamily="34" charset="-122"/>
                <a:ea typeface="微软雅黑" pitchFamily="34" charset="-122"/>
              </a:rPr>
              <a:t>等价多路径路由选择 </a:t>
            </a:r>
            <a:r>
              <a:rPr lang="en-US" altLang="zh-CN" b="1" dirty="0">
                <a:latin typeface="微软雅黑" pitchFamily="34" charset="-122"/>
                <a:ea typeface="微软雅黑" pitchFamily="34" charset="-122"/>
              </a:rPr>
              <a:t>ECMP (Equal-Cost Multipath Routing)</a:t>
            </a:r>
            <a:r>
              <a:rPr lang="zh-CN" altLang="en-US" b="1" dirty="0">
                <a:latin typeface="微软雅黑" pitchFamily="34" charset="-122"/>
                <a:ea typeface="微软雅黑" pitchFamily="34" charset="-122"/>
              </a:rPr>
              <a:t> 。</a:t>
            </a:r>
            <a:endParaRPr lang="en-US"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1009413"/>
            <a:ext cx="8209557" cy="2964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新一代的 </a:t>
            </a:r>
            <a:r>
              <a:rPr lang="en-US" altLang="zh-CN" sz="2000" b="1" dirty="0">
                <a:latin typeface="微软雅黑" pitchFamily="34" charset="-122"/>
                <a:ea typeface="微软雅黑" pitchFamily="34" charset="-122"/>
              </a:rPr>
              <a:t>MPLS</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段路由选择协议 </a:t>
            </a:r>
            <a:r>
              <a:rPr lang="en-US" altLang="zh-CN" sz="2000" b="1" dirty="0">
                <a:solidFill>
                  <a:srgbClr val="C00000"/>
                </a:solidFill>
                <a:latin typeface="微软雅黑" pitchFamily="34" charset="-122"/>
                <a:ea typeface="微软雅黑" pitchFamily="34" charset="-122"/>
              </a:rPr>
              <a:t>SR</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(Segment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段 </a:t>
            </a:r>
            <a:r>
              <a:rPr lang="en-US" altLang="zh-CN" sz="2000" b="1" dirty="0">
                <a:solidFill>
                  <a:srgbClr val="C00000"/>
                </a:solidFill>
                <a:latin typeface="微软雅黑" pitchFamily="34" charset="-122"/>
                <a:ea typeface="微软雅黑" pitchFamily="34" charset="-122"/>
              </a:rPr>
              <a:t>(segment)</a:t>
            </a:r>
            <a:r>
              <a:rPr lang="zh-CN" altLang="en-US" sz="2000" b="1" dirty="0">
                <a:solidFill>
                  <a:srgbClr val="C00000"/>
                </a:solidFill>
                <a:latin typeface="微软雅黑" pitchFamily="34" charset="-122"/>
                <a:ea typeface="微软雅黑" pitchFamily="34" charset="-122"/>
              </a:rPr>
              <a:t>：</a:t>
            </a:r>
            <a:r>
              <a:rPr lang="zh-CN" altLang="en-US" sz="2000" b="1" dirty="0">
                <a:latin typeface="微软雅黑" pitchFamily="34" charset="-122"/>
                <a:ea typeface="微软雅黑" pitchFamily="34" charset="-122"/>
              </a:rPr>
              <a:t>标签，是转发指令的一种标识符。</a:t>
            </a:r>
            <a:endParaRPr lang="en-US" altLang="zh-CN" sz="2000" b="1" dirty="0">
              <a:latin typeface="微软雅黑" pitchFamily="34" charset="-122"/>
              <a:ea typeface="微软雅黑" pitchFamily="34" charset="-122"/>
            </a:endParaRPr>
          </a:p>
          <a:p>
            <a:pPr marL="285750" indent="-285750">
              <a:lnSpc>
                <a:spcPts val="32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SR </a:t>
            </a:r>
            <a:r>
              <a:rPr lang="zh-CN" altLang="en-US" sz="2000" b="1" dirty="0">
                <a:solidFill>
                  <a:srgbClr val="0000FF"/>
                </a:solidFill>
                <a:latin typeface="微软雅黑" pitchFamily="34" charset="-122"/>
                <a:ea typeface="微软雅黑" pitchFamily="34" charset="-122"/>
              </a:rPr>
              <a:t>工作原理：</a:t>
            </a:r>
            <a:endParaRPr lang="en-US" altLang="zh-CN" sz="2000" b="1" dirty="0">
              <a:solidFill>
                <a:srgbClr val="0000FF"/>
              </a:solidFill>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基于标签交换，但不需要使用协议 </a:t>
            </a:r>
            <a:r>
              <a:rPr lang="en-US" altLang="zh-CN" sz="2000" b="1" dirty="0">
                <a:latin typeface="微软雅黑" pitchFamily="34" charset="-122"/>
                <a:ea typeface="微软雅黑" pitchFamily="34" charset="-122"/>
              </a:rPr>
              <a:t>LDP</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由源节点为发送的报文指定路径，并将路径转换成有序的段列表 </a:t>
            </a:r>
            <a:r>
              <a:rPr lang="en-US" altLang="zh-CN" sz="2000" b="1" dirty="0">
                <a:latin typeface="微软雅黑" pitchFamily="34" charset="-122"/>
                <a:ea typeface="微软雅黑" pitchFamily="34" charset="-122"/>
              </a:rPr>
              <a:t>(Segment List)</a:t>
            </a: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MPLS </a:t>
            </a:r>
            <a:r>
              <a:rPr lang="zh-CN" altLang="en-US" sz="2000" b="1" dirty="0">
                <a:latin typeface="微软雅黑" pitchFamily="34" charset="-122"/>
                <a:ea typeface="微软雅黑" pitchFamily="34" charset="-122"/>
              </a:rPr>
              <a:t>标签栈，它被封装在分组首部。</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网络中的其他节点就执行首部中的指令（即标签）进行转发。</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45144" y="6141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093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段路由选择协议 </a:t>
            </a:r>
            <a:r>
              <a:rPr lang="en-US" altLang="zh-CN" sz="2000" b="1" dirty="0">
                <a:solidFill>
                  <a:schemeClr val="bg1"/>
                </a:solidFill>
                <a:latin typeface="微软雅黑" pitchFamily="34" charset="-122"/>
                <a:ea typeface="微软雅黑" pitchFamily="34" charset="-122"/>
              </a:rPr>
              <a:t>SR </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1009413"/>
            <a:ext cx="8209557" cy="17338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SDN </a:t>
            </a:r>
            <a:r>
              <a:rPr lang="zh-CN" altLang="en-US" sz="2000" b="1" dirty="0">
                <a:latin typeface="微软雅黑" pitchFamily="34" charset="-122"/>
                <a:ea typeface="微软雅黑" pitchFamily="34" charset="-122"/>
              </a:rPr>
              <a:t>控制器。负责：</a:t>
            </a:r>
          </a:p>
          <a:p>
            <a:pPr marL="625475" lvl="1" indent="-285750">
              <a:lnSpc>
                <a:spcPts val="3200"/>
              </a:lnSpc>
              <a:buClr>
                <a:srgbClr val="990099"/>
              </a:buClr>
              <a:buSzPct val="85000"/>
              <a:buFont typeface="Wingdings" panose="05000000000000000000" pitchFamily="2" charset="2"/>
              <a:buChar char="u"/>
            </a:pPr>
            <a:r>
              <a:rPr lang="zh-CN" altLang="en-US" sz="2000" b="1" dirty="0">
                <a:solidFill>
                  <a:srgbClr val="C00000"/>
                </a:solidFill>
                <a:latin typeface="微软雅黑" pitchFamily="34" charset="-122"/>
                <a:ea typeface="微软雅黑" pitchFamily="34" charset="-122"/>
              </a:rPr>
              <a:t>收集</a:t>
            </a:r>
            <a:r>
              <a:rPr lang="zh-CN" altLang="en-US" sz="2000" b="1" dirty="0">
                <a:latin typeface="微软雅黑" pitchFamily="34" charset="-122"/>
                <a:ea typeface="微软雅黑" pitchFamily="34" charset="-122"/>
              </a:rPr>
              <a:t>并掌握全网的拓扑信息和链路状态信息，</a:t>
            </a:r>
            <a:r>
              <a:rPr lang="zh-CN" altLang="en-US" sz="2000" b="1" dirty="0">
                <a:solidFill>
                  <a:srgbClr val="C00000"/>
                </a:solidFill>
                <a:latin typeface="微软雅黑" pitchFamily="34" charset="-122"/>
                <a:ea typeface="微软雅黑" pitchFamily="34" charset="-122"/>
              </a:rPr>
              <a:t>计算</a:t>
            </a:r>
            <a:r>
              <a:rPr lang="zh-CN" altLang="en-US" sz="2000" b="1" dirty="0">
                <a:latin typeface="微软雅黑" pitchFamily="34" charset="-122"/>
                <a:ea typeface="微软雅黑" pitchFamily="34" charset="-122"/>
              </a:rPr>
              <a:t>出分组应传送的整个路径。</a:t>
            </a:r>
            <a:endParaRPr lang="en-US" altLang="zh-CN" sz="2000" b="1" dirty="0">
              <a:latin typeface="微软雅黑" pitchFamily="34" charset="-122"/>
              <a:ea typeface="微软雅黑" pitchFamily="34" charset="-122"/>
            </a:endParaRPr>
          </a:p>
          <a:p>
            <a:pPr marL="625475" lvl="1" indent="-285750">
              <a:lnSpc>
                <a:spcPts val="3200"/>
              </a:lnSpc>
              <a:buClr>
                <a:srgbClr val="990099"/>
              </a:buClr>
              <a:buSzPct val="85000"/>
              <a:buFont typeface="Wingdings" panose="05000000000000000000" pitchFamily="2" charset="2"/>
              <a:buChar char="u"/>
            </a:pPr>
            <a:r>
              <a:rPr lang="zh-CN" altLang="en-US" sz="2000" b="1" dirty="0">
                <a:latin typeface="微软雅黑" pitchFamily="34" charset="-122"/>
                <a:ea typeface="微软雅黑" pitchFamily="34" charset="-122"/>
              </a:rPr>
              <a:t>给分组</a:t>
            </a:r>
            <a:r>
              <a:rPr lang="zh-CN" altLang="en-US" sz="2000" b="1" dirty="0">
                <a:solidFill>
                  <a:srgbClr val="C00000"/>
                </a:solidFill>
                <a:latin typeface="微软雅黑" pitchFamily="34" charset="-122"/>
                <a:ea typeface="微软雅黑" pitchFamily="34" charset="-122"/>
              </a:rPr>
              <a:t>分配</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SR </a:t>
            </a:r>
            <a:r>
              <a:rPr lang="zh-CN" altLang="en-US" sz="2000" b="1" dirty="0">
                <a:latin typeface="微软雅黑" pitchFamily="34" charset="-122"/>
                <a:ea typeface="微软雅黑" pitchFamily="34" charset="-122"/>
              </a:rPr>
              <a:t>标签，指明分组从源点到终点的路径。</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45144" y="6141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093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控制器</a:t>
            </a:r>
          </a:p>
        </p:txBody>
      </p:sp>
      <p:sp>
        <p:nvSpPr>
          <p:cNvPr id="2" name="矩形 1"/>
          <p:cNvSpPr/>
          <p:nvPr/>
        </p:nvSpPr>
        <p:spPr>
          <a:xfrm>
            <a:off x="1738265" y="2873274"/>
            <a:ext cx="5463767" cy="75918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pPr>
            <a:r>
              <a:rPr lang="en-US" altLang="zh-CN" b="1" dirty="0">
                <a:latin typeface="微软雅黑" panose="020B0503020204020204" pitchFamily="34" charset="-122"/>
                <a:ea typeface="微软雅黑" panose="020B0503020204020204" pitchFamily="34" charset="-122"/>
              </a:rPr>
              <a:t>SR </a:t>
            </a:r>
            <a:r>
              <a:rPr lang="zh-CN" altLang="en-US" b="1" dirty="0">
                <a:latin typeface="微软雅黑" panose="020B0503020204020204" pitchFamily="34" charset="-122"/>
                <a:ea typeface="微软雅黑" panose="020B0503020204020204" pitchFamily="34" charset="-122"/>
              </a:rPr>
              <a:t>向 </a:t>
            </a:r>
            <a:r>
              <a:rPr lang="en-US" altLang="zh-CN" b="1" dirty="0">
                <a:latin typeface="微软雅黑" panose="020B0503020204020204" pitchFamily="34" charset="-122"/>
                <a:ea typeface="微软雅黑" panose="020B0503020204020204" pitchFamily="34" charset="-122"/>
              </a:rPr>
              <a:t>IPv6 </a:t>
            </a:r>
            <a:r>
              <a:rPr lang="zh-CN" altLang="en-US" b="1" dirty="0">
                <a:latin typeface="微软雅黑" panose="020B0503020204020204" pitchFamily="34" charset="-122"/>
                <a:ea typeface="微软雅黑" panose="020B0503020204020204" pitchFamily="34" charset="-122"/>
              </a:rPr>
              <a:t>演进，这就是 </a:t>
            </a:r>
            <a:r>
              <a:rPr lang="en-US" altLang="zh-CN" b="1" dirty="0">
                <a:latin typeface="微软雅黑" panose="020B0503020204020204" pitchFamily="34" charset="-122"/>
                <a:ea typeface="微软雅黑" panose="020B0503020204020204" pitchFamily="34" charset="-122"/>
              </a:rPr>
              <a:t>SRv6</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2600"/>
              </a:lnSpc>
            </a:pPr>
            <a:r>
              <a:rPr lang="en-US" altLang="zh-CN" b="1" dirty="0">
                <a:latin typeface="微软雅黑" panose="020B0503020204020204" pitchFamily="34" charset="-122"/>
                <a:ea typeface="微软雅黑" panose="020B0503020204020204" pitchFamily="34" charset="-122"/>
              </a:rPr>
              <a:t>SRv6 </a:t>
            </a:r>
            <a:r>
              <a:rPr lang="zh-CN" altLang="en-US" b="1" dirty="0">
                <a:latin typeface="微软雅黑" panose="020B0503020204020204" pitchFamily="34" charset="-122"/>
                <a:ea typeface="微软雅黑" panose="020B0503020204020204" pitchFamily="34" charset="-122"/>
              </a:rPr>
              <a:t>直接利用 </a:t>
            </a:r>
            <a:r>
              <a:rPr lang="en-US" altLang="zh-CN" b="1" dirty="0">
                <a:latin typeface="微软雅黑" panose="020B0503020204020204" pitchFamily="34" charset="-122"/>
                <a:ea typeface="微软雅黑" panose="020B0503020204020204" pitchFamily="34" charset="-122"/>
              </a:rPr>
              <a:t>IPv6 </a:t>
            </a:r>
            <a:r>
              <a:rPr lang="zh-CN" altLang="en-US" b="1" dirty="0">
                <a:latin typeface="微软雅黑" panose="020B0503020204020204" pitchFamily="34" charset="-122"/>
                <a:ea typeface="微软雅黑" panose="020B0503020204020204" pitchFamily="34" charset="-122"/>
              </a:rPr>
              <a:t>字段作为标签寻址 </a:t>
            </a:r>
            <a:r>
              <a:rPr lang="en-US" altLang="zh-CN" b="1" dirty="0">
                <a:latin typeface="微软雅黑" panose="020B0503020204020204" pitchFamily="34" charset="-122"/>
                <a:ea typeface="微软雅黑" panose="020B0503020204020204" pitchFamily="34" charset="-122"/>
              </a:rPr>
              <a:t>(Locator)</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33975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946180"/>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339755"/>
            <a:ext cx="1636540" cy="1810421"/>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434687"/>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4.10</a:t>
            </a:r>
          </a:p>
          <a:p>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p>
        </p:txBody>
      </p:sp>
      <p:sp>
        <p:nvSpPr>
          <p:cNvPr id="8" name="Rectangle 9"/>
          <p:cNvSpPr>
            <a:spLocks noChangeArrowheads="1"/>
          </p:cNvSpPr>
          <p:nvPr/>
        </p:nvSpPr>
        <p:spPr bwMode="auto">
          <a:xfrm>
            <a:off x="2303831" y="255260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8"/>
          <p:cNvSpPr>
            <a:spLocks noChangeArrowheads="1"/>
          </p:cNvSpPr>
          <p:nvPr/>
        </p:nvSpPr>
        <p:spPr bwMode="auto">
          <a:xfrm>
            <a:off x="2287349" y="1305211"/>
            <a:ext cx="6206024"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4.10.1                               SDN </a:t>
            </a:r>
            <a:r>
              <a:rPr lang="zh-CN" altLang="en-US" sz="2000" b="1" dirty="0">
                <a:solidFill>
                  <a:schemeClr val="bg1"/>
                </a:solidFill>
                <a:latin typeface="微软雅黑" pitchFamily="34" charset="-122"/>
                <a:ea typeface="微软雅黑" pitchFamily="34" charset="-122"/>
              </a:rPr>
              <a:t>与协议 </a:t>
            </a:r>
            <a:r>
              <a:rPr lang="en-US" altLang="zh-CN" sz="2000" b="1" dirty="0" err="1">
                <a:solidFill>
                  <a:schemeClr val="bg1"/>
                </a:solidFill>
                <a:latin typeface="微软雅黑" pitchFamily="34" charset="-122"/>
                <a:ea typeface="微软雅黑" pitchFamily="34" charset="-122"/>
              </a:rPr>
              <a:t>OpenFlow</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4.10.2                                              SDN </a:t>
            </a:r>
            <a:r>
              <a:rPr lang="zh-CN" altLang="en-US" sz="2000" b="1" dirty="0">
                <a:solidFill>
                  <a:schemeClr val="bg1"/>
                </a:solidFill>
                <a:latin typeface="微软雅黑" pitchFamily="34" charset="-122"/>
                <a:ea typeface="微软雅黑" pitchFamily="34" charset="-122"/>
              </a:rPr>
              <a:t>体系结构</a:t>
            </a:r>
            <a:endParaRPr lang="en-US" altLang="zh-CN" sz="2000" b="1" dirty="0">
              <a:solidFill>
                <a:schemeClr val="bg1"/>
              </a:solidFill>
              <a:latin typeface="微软雅黑" pitchFamily="34" charset="-122"/>
              <a:ea typeface="微软雅黑" pitchFamily="34" charset="-122"/>
            </a:endParaRP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4.10.3                                                 SDN </a:t>
            </a:r>
            <a:r>
              <a:rPr lang="zh-CN" altLang="en-US" sz="2000" b="1" dirty="0">
                <a:solidFill>
                  <a:schemeClr val="bg1"/>
                </a:solidFill>
                <a:latin typeface="微软雅黑" pitchFamily="34" charset="-122"/>
                <a:ea typeface="微软雅黑" pitchFamily="34" charset="-122"/>
              </a:rPr>
              <a:t>控制器</a:t>
            </a:r>
            <a:endParaRPr lang="en-US" altLang="zh-CN" sz="2000" b="1" dirty="0">
              <a:solidFill>
                <a:schemeClr val="bg1"/>
              </a:solidFill>
              <a:latin typeface="微软雅黑" pitchFamily="34" charset="-122"/>
              <a:ea typeface="微软雅黑" pitchFamily="34" charset="-122"/>
            </a:endParaRPr>
          </a:p>
        </p:txBody>
      </p:sp>
      <p:sp>
        <p:nvSpPr>
          <p:cNvPr id="6" name="Line 16"/>
          <p:cNvSpPr>
            <a:spLocks noChangeShapeType="1"/>
          </p:cNvSpPr>
          <p:nvPr/>
        </p:nvSpPr>
        <p:spPr bwMode="auto">
          <a:xfrm>
            <a:off x="3311894" y="1268318"/>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13547837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2038537" y="1921942"/>
            <a:ext cx="5066923"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每个 </a:t>
            </a:r>
            <a:r>
              <a:rPr lang="en-US" altLang="zh-CN" sz="1400" b="1" dirty="0" err="1">
                <a:solidFill>
                  <a:schemeClr val="tx1"/>
                </a:solidFill>
                <a:latin typeface="微软雅黑" panose="020B0503020204020204" pitchFamily="34" charset="-122"/>
                <a:ea typeface="微软雅黑" panose="020B0503020204020204" pitchFamily="34" charset="-122"/>
              </a:rPr>
              <a:t>OpenFlow</a:t>
            </a:r>
            <a:r>
              <a:rPr lang="en-US" altLang="zh-CN" sz="1400" b="1" dirty="0">
                <a:solidFill>
                  <a:schemeClr val="tx1"/>
                </a:solidFill>
                <a:latin typeface="微软雅黑" panose="020B0503020204020204" pitchFamily="34" charset="-122"/>
                <a:ea typeface="微软雅黑" panose="020B0503020204020204" pitchFamily="34" charset="-122"/>
              </a:rPr>
              <a:t> </a:t>
            </a:r>
            <a:r>
              <a:rPr lang="zh-CN" altLang="en-US" sz="1400" b="1"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b="1" dirty="0">
                <a:solidFill>
                  <a:schemeClr val="tx1"/>
                </a:solidFill>
                <a:latin typeface="微软雅黑" panose="020B0503020204020204" pitchFamily="34" charset="-122"/>
                <a:ea typeface="微软雅黑" panose="020B0503020204020204" pitchFamily="34" charset="-122"/>
              </a:rPr>
              <a:t>(flow entry)</a:t>
            </a:r>
            <a:r>
              <a:rPr lang="zh-CN" altLang="en-US" sz="1400" b="1"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828274" y="3697334"/>
            <a:ext cx="5776637" cy="718530"/>
          </a:xfrm>
          <a:prstGeom prst="rect">
            <a:avLst/>
          </a:prstGeom>
          <a:solidFill>
            <a:srgbClr val="000066"/>
          </a:solidFill>
        </p:spPr>
        <p:txBody>
          <a:bodyPr wrap="square">
            <a:spAutoFit/>
          </a:bodyPr>
          <a:lstStyle/>
          <a:p>
            <a:pPr>
              <a:lnSpc>
                <a:spcPts val="2600"/>
              </a:lnSpc>
            </a:pPr>
            <a:r>
              <a:rPr lang="en-US" altLang="zh-CN" sz="1400" kern="5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SDN </a:t>
            </a:r>
            <a:r>
              <a:rPr lang="zh-CN" altLang="zh-CN" sz="1400" kern="5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远程控制器通过一个</a:t>
            </a:r>
            <a:r>
              <a:rPr lang="zh-CN" altLang="zh-CN" sz="1400" kern="500" dirty="0">
                <a:solidFill>
                  <a:srgbClr val="FFC000"/>
                </a:solidFill>
                <a:latin typeface="微软雅黑" panose="020B0503020204020204" pitchFamily="34" charset="-122"/>
                <a:ea typeface="微软雅黑" panose="020B0503020204020204" pitchFamily="34" charset="-122"/>
                <a:cs typeface="Times New Roman" panose="02020603050405020304" pitchFamily="18" charset="0"/>
              </a:rPr>
              <a:t>安全信道，</a:t>
            </a:r>
            <a:r>
              <a:rPr lang="zh-CN" altLang="zh-CN" sz="1400" kern="5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使用</a:t>
            </a:r>
            <a:r>
              <a:rPr lang="en-US" altLang="zh-CN" sz="1400" kern="5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 </a:t>
            </a:r>
            <a:r>
              <a:rPr lang="en-US" altLang="zh-CN" sz="1400" kern="500" dirty="0" err="1">
                <a:solidFill>
                  <a:schemeClr val="bg1"/>
                </a:solidFill>
                <a:latin typeface="微软雅黑" panose="020B0503020204020204" pitchFamily="34" charset="-122"/>
                <a:ea typeface="微软雅黑" panose="020B0503020204020204" pitchFamily="34" charset="-122"/>
              </a:rPr>
              <a:t>OpenFlow</a:t>
            </a:r>
            <a:r>
              <a:rPr lang="en-US" altLang="zh-CN" sz="1400" kern="500" dirty="0">
                <a:solidFill>
                  <a:schemeClr val="bg1"/>
                </a:solidFill>
                <a:latin typeface="微软雅黑" panose="020B0503020204020204" pitchFamily="34" charset="-122"/>
                <a:ea typeface="微软雅黑" panose="020B0503020204020204" pitchFamily="34" charset="-122"/>
              </a:rPr>
              <a:t> </a:t>
            </a:r>
            <a:r>
              <a:rPr lang="zh-CN" altLang="zh-CN" sz="1400" kern="5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协议来管理</a:t>
            </a:r>
            <a:r>
              <a:rPr lang="en-US" altLang="zh-CN" sz="1400" kern="5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 </a:t>
            </a:r>
            <a:r>
              <a:rPr lang="en-US" altLang="zh-CN" sz="1400" kern="500" dirty="0" err="1">
                <a:solidFill>
                  <a:schemeClr val="bg1"/>
                </a:solidFill>
                <a:latin typeface="微软雅黑" panose="020B0503020204020204" pitchFamily="34" charset="-122"/>
                <a:ea typeface="微软雅黑" panose="020B0503020204020204" pitchFamily="34" charset="-122"/>
              </a:rPr>
              <a:t>OpenFlow</a:t>
            </a:r>
            <a:r>
              <a:rPr lang="en-US" altLang="zh-CN" sz="1400" kern="500" dirty="0">
                <a:solidFill>
                  <a:schemeClr val="bg1"/>
                </a:solidFill>
                <a:latin typeface="微软雅黑" panose="020B0503020204020204" pitchFamily="34" charset="-122"/>
                <a:ea typeface="微软雅黑" panose="020B0503020204020204" pitchFamily="34" charset="-122"/>
              </a:rPr>
              <a:t> </a:t>
            </a:r>
            <a:r>
              <a:rPr lang="zh-CN" altLang="zh-CN" sz="1400" kern="5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交换机中的流表。</a:t>
            </a:r>
            <a:endParaRPr lang="zh-CN" altLang="en-US" sz="1400" dirty="0">
              <a:solidFill>
                <a:schemeClr val="bg1"/>
              </a:solidFill>
              <a:latin typeface="微软雅黑" panose="020B0503020204020204" pitchFamily="34" charset="-122"/>
              <a:ea typeface="微软雅黑" panose="020B0503020204020204" pitchFamily="34" charset="-122"/>
            </a:endParaRPr>
          </a:p>
        </p:txBody>
      </p:sp>
      <p:cxnSp>
        <p:nvCxnSpPr>
          <p:cNvPr id="22" name="直接连接符 21"/>
          <p:cNvCxnSpPr/>
          <p:nvPr/>
        </p:nvCxnSpPr>
        <p:spPr>
          <a:xfrm flipV="1">
            <a:off x="2426329" y="2729509"/>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2769935"/>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2699326"/>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2769935"/>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1180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1180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1180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118014"/>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108432"/>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1379748"/>
            <a:ext cx="347989" cy="818828"/>
          </a:xfrm>
          <a:prstGeom prst="rect">
            <a:avLst/>
          </a:prstGeom>
          <a:noFill/>
          <a:ln w="12699">
            <a:noFill/>
            <a:miter lim="800000"/>
            <a:headEnd/>
            <a:tailEnd/>
          </a:ln>
          <a:effectLst/>
        </p:spPr>
      </p:pic>
      <p:sp>
        <p:nvSpPr>
          <p:cNvPr id="10" name="圆柱形 9"/>
          <p:cNvSpPr/>
          <p:nvPr/>
        </p:nvSpPr>
        <p:spPr>
          <a:xfrm>
            <a:off x="2973315" y="1406488"/>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198576"/>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1778826"/>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2342592"/>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194220"/>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1516564"/>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1683015"/>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733534"/>
          </a:xfrm>
          <a:prstGeom prst="rect">
            <a:avLst/>
          </a:prstGeom>
        </p:spPr>
        <p:txBody>
          <a:bodyPr wrap="square">
            <a:spAutoFit/>
          </a:bodyPr>
          <a:lstStyle/>
          <a:p>
            <a:pPr>
              <a:lnSpc>
                <a:spcPts val="2500"/>
              </a:lnSpc>
            </a:pPr>
            <a:r>
              <a:rPr lang="en-US" altLang="zh-CN" b="1" dirty="0">
                <a:solidFill>
                  <a:srgbClr val="000099"/>
                </a:solidFill>
                <a:latin typeface="微软雅黑" pitchFamily="34" charset="-122"/>
                <a:ea typeface="微软雅黑" pitchFamily="34" charset="-122"/>
              </a:rPr>
              <a:t>(1) </a:t>
            </a:r>
            <a:r>
              <a:rPr lang="zh-CN" altLang="en-US" b="1" dirty="0">
                <a:solidFill>
                  <a:srgbClr val="000099"/>
                </a:solidFill>
                <a:latin typeface="微软雅黑" pitchFamily="34" charset="-122"/>
                <a:ea typeface="微软雅黑" pitchFamily="34" charset="-122"/>
              </a:rPr>
              <a:t>首部字段值：一组字段（</a:t>
            </a:r>
            <a:r>
              <a:rPr lang="en-US" altLang="zh-CN" b="1" dirty="0">
                <a:solidFill>
                  <a:srgbClr val="000099"/>
                </a:solidFill>
                <a:latin typeface="微软雅黑" pitchFamily="34" charset="-122"/>
                <a:ea typeface="微软雅黑" pitchFamily="34" charset="-122"/>
              </a:rPr>
              <a:t>12 </a:t>
            </a:r>
            <a:r>
              <a:rPr lang="zh-CN" altLang="en-US" b="1" dirty="0">
                <a:solidFill>
                  <a:srgbClr val="000099"/>
                </a:solidFill>
                <a:latin typeface="微软雅黑" pitchFamily="34" charset="-122"/>
                <a:ea typeface="微软雅黑" pitchFamily="34" charset="-122"/>
              </a:rPr>
              <a:t>个），用来使入分组的对应首部与之相匹配。匹配不上的分组被</a:t>
            </a:r>
            <a:r>
              <a:rPr lang="zh-CN" altLang="en-US" b="1" dirty="0">
                <a:solidFill>
                  <a:srgbClr val="C00000"/>
                </a:solidFill>
                <a:latin typeface="微软雅黑" pitchFamily="34" charset="-122"/>
                <a:ea typeface="微软雅黑" pitchFamily="34" charset="-122"/>
              </a:rPr>
              <a:t>丢弃</a:t>
            </a:r>
            <a:r>
              <a:rPr lang="zh-CN" altLang="en-US" b="1" dirty="0">
                <a:solidFill>
                  <a:srgbClr val="000099"/>
                </a:solidFill>
                <a:latin typeface="微软雅黑" pitchFamily="34" charset="-122"/>
                <a:ea typeface="微软雅黑" pitchFamily="34" charset="-122"/>
              </a:rPr>
              <a:t>，或</a:t>
            </a:r>
            <a:r>
              <a:rPr lang="zh-CN" altLang="en-US" b="1" dirty="0">
                <a:solidFill>
                  <a:srgbClr val="C00000"/>
                </a:solidFill>
                <a:latin typeface="微软雅黑" pitchFamily="34" charset="-122"/>
                <a:ea typeface="微软雅黑" pitchFamily="34" charset="-122"/>
              </a:rPr>
              <a:t>发送到远程控制器</a:t>
            </a:r>
            <a:r>
              <a:rPr lang="zh-CN" altLang="en-US" b="1" dirty="0">
                <a:solidFill>
                  <a:srgbClr val="000099"/>
                </a:solidFill>
                <a:latin typeface="微软雅黑" pitchFamily="34" charset="-122"/>
                <a:ea typeface="微软雅黑" pitchFamily="34" charset="-122"/>
              </a:rPr>
              <a:t>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733534"/>
          </a:xfrm>
          <a:prstGeom prst="rect">
            <a:avLst/>
          </a:prstGeom>
        </p:spPr>
        <p:txBody>
          <a:bodyPr wrap="square">
            <a:spAutoFit/>
          </a:bodyPr>
          <a:lstStyle/>
          <a:p>
            <a:pPr>
              <a:lnSpc>
                <a:spcPts val="2500"/>
              </a:lnSpc>
            </a:pPr>
            <a:r>
              <a:rPr lang="en-US" altLang="zh-CN" b="1" dirty="0">
                <a:solidFill>
                  <a:srgbClr val="000099"/>
                </a:solidFill>
                <a:latin typeface="微软雅黑" pitchFamily="34" charset="-122"/>
                <a:ea typeface="微软雅黑" pitchFamily="34" charset="-122"/>
              </a:rPr>
              <a:t>(2) </a:t>
            </a:r>
            <a:r>
              <a:rPr lang="zh-CN" altLang="en-US" b="1" dirty="0">
                <a:solidFill>
                  <a:srgbClr val="000099"/>
                </a:solidFill>
                <a:latin typeface="微软雅黑" pitchFamily="34" charset="-122"/>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1054135"/>
          </a:xfrm>
          <a:prstGeom prst="rect">
            <a:avLst/>
          </a:prstGeom>
        </p:spPr>
        <p:txBody>
          <a:bodyPr wrap="square">
            <a:spAutoFit/>
          </a:bodyPr>
          <a:lstStyle/>
          <a:p>
            <a:pPr>
              <a:lnSpc>
                <a:spcPts val="2500"/>
              </a:lnSpc>
            </a:pPr>
            <a:r>
              <a:rPr lang="en-US" altLang="zh-CN" b="1" dirty="0">
                <a:solidFill>
                  <a:srgbClr val="000099"/>
                </a:solidFill>
                <a:latin typeface="微软雅黑" pitchFamily="34" charset="-122"/>
                <a:ea typeface="微软雅黑" pitchFamily="34" charset="-122"/>
              </a:rPr>
              <a:t>(3) </a:t>
            </a:r>
            <a:r>
              <a:rPr lang="zh-CN" altLang="en-US" b="1" dirty="0">
                <a:solidFill>
                  <a:srgbClr val="000099"/>
                </a:solidFill>
                <a:latin typeface="微软雅黑" pitchFamily="34" charset="-122"/>
                <a:ea typeface="微软雅黑" pitchFamily="34" charset="-122"/>
              </a:rPr>
              <a:t>动作：一组动作。当分组匹配某个流表项时，把分组</a:t>
            </a:r>
            <a:r>
              <a:rPr lang="zh-CN" altLang="en-US" b="1" dirty="0">
                <a:solidFill>
                  <a:srgbClr val="C00000"/>
                </a:solidFill>
                <a:latin typeface="微软雅黑" pitchFamily="34" charset="-122"/>
                <a:ea typeface="微软雅黑" pitchFamily="34" charset="-122"/>
              </a:rPr>
              <a:t>转发</a:t>
            </a:r>
            <a:r>
              <a:rPr lang="zh-CN" altLang="en-US" b="1" dirty="0">
                <a:solidFill>
                  <a:srgbClr val="000099"/>
                </a:solidFill>
                <a:latin typeface="微软雅黑" pitchFamily="34" charset="-122"/>
                <a:ea typeface="微软雅黑" pitchFamily="34" charset="-122"/>
              </a:rPr>
              <a:t>到指明的端口，或</a:t>
            </a:r>
            <a:r>
              <a:rPr lang="zh-CN" altLang="en-US" b="1" dirty="0">
                <a:solidFill>
                  <a:srgbClr val="C00000"/>
                </a:solidFill>
                <a:latin typeface="微软雅黑" pitchFamily="34" charset="-122"/>
                <a:ea typeface="微软雅黑" pitchFamily="34" charset="-122"/>
              </a:rPr>
              <a:t>丢弃</a:t>
            </a:r>
            <a:r>
              <a:rPr lang="zh-CN" altLang="en-US" b="1" dirty="0">
                <a:solidFill>
                  <a:srgbClr val="000099"/>
                </a:solidFill>
                <a:latin typeface="微软雅黑" pitchFamily="34" charset="-122"/>
                <a:ea typeface="微软雅黑" pitchFamily="34" charset="-122"/>
              </a:rPr>
              <a:t>该分组，或把分组进行</a:t>
            </a:r>
            <a:r>
              <a:rPr lang="zh-CN" altLang="en-US" b="1" dirty="0">
                <a:solidFill>
                  <a:srgbClr val="C00000"/>
                </a:solidFill>
                <a:latin typeface="微软雅黑" pitchFamily="34" charset="-122"/>
                <a:ea typeface="微软雅黑" pitchFamily="34" charset="-122"/>
              </a:rPr>
              <a:t>复制后</a:t>
            </a:r>
            <a:r>
              <a:rPr lang="zh-CN" altLang="en-US" b="1" dirty="0">
                <a:solidFill>
                  <a:srgbClr val="000099"/>
                </a:solidFill>
                <a:latin typeface="微软雅黑" pitchFamily="34" charset="-122"/>
                <a:ea typeface="微软雅黑" pitchFamily="34" charset="-122"/>
              </a:rPr>
              <a:t>再从多个</a:t>
            </a:r>
            <a:r>
              <a:rPr lang="zh-CN" altLang="en-US" b="1" dirty="0">
                <a:solidFill>
                  <a:srgbClr val="C00000"/>
                </a:solidFill>
                <a:latin typeface="微软雅黑" pitchFamily="34" charset="-122"/>
                <a:ea typeface="微软雅黑" pitchFamily="34" charset="-122"/>
              </a:rPr>
              <a:t>端口</a:t>
            </a:r>
            <a:r>
              <a:rPr lang="zh-CN" altLang="en-US" b="1" dirty="0">
                <a:solidFill>
                  <a:srgbClr val="000099"/>
                </a:solidFill>
                <a:latin typeface="微软雅黑" pitchFamily="34" charset="-122"/>
                <a:ea typeface="微软雅黑" pitchFamily="34" charset="-122"/>
              </a:rPr>
              <a:t>转发出去，或</a:t>
            </a:r>
            <a:r>
              <a:rPr lang="zh-CN" altLang="en-US" b="1" dirty="0">
                <a:solidFill>
                  <a:srgbClr val="C00000"/>
                </a:solidFill>
                <a:latin typeface="微软雅黑" pitchFamily="34" charset="-122"/>
                <a:ea typeface="微软雅黑" pitchFamily="34" charset="-122"/>
              </a:rPr>
              <a:t>重写</a:t>
            </a:r>
            <a:r>
              <a:rPr lang="zh-CN" altLang="en-US" b="1" dirty="0">
                <a:solidFill>
                  <a:srgbClr val="000099"/>
                </a:solidFill>
                <a:latin typeface="微软雅黑" pitchFamily="34" charset="-122"/>
                <a:ea typeface="微软雅黑" pitchFamily="34" charset="-122"/>
              </a:rPr>
              <a:t>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b="1" dirty="0">
                <a:solidFill>
                  <a:srgbClr val="0000FF"/>
                </a:solidFill>
                <a:latin typeface="微软雅黑" panose="020B0503020204020204" pitchFamily="34" charset="-122"/>
                <a:ea typeface="微软雅黑" panose="020B0503020204020204" pitchFamily="34" charset="-122"/>
              </a:rPr>
              <a:t>转发规则：</a:t>
            </a:r>
            <a:endParaRPr lang="en-US" altLang="zh-CN" sz="1600" b="1" dirty="0">
              <a:solidFill>
                <a:srgbClr val="0000FF"/>
              </a:solidFill>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源：</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5</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或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6</a:t>
            </a:r>
            <a:r>
              <a:rPr lang="en-US" altLang="zh-CN" sz="1600" b="1" dirty="0">
                <a:latin typeface="微软雅黑" panose="020B0503020204020204" pitchFamily="34" charset="-122"/>
                <a:ea typeface="微软雅黑" panose="020B0503020204020204" pitchFamily="34" charset="-122"/>
              </a:rPr>
              <a:t> </a:t>
            </a:r>
          </a:p>
          <a:p>
            <a:pPr>
              <a:lnSpc>
                <a:spcPts val="2200"/>
              </a:lnSpc>
            </a:pPr>
            <a:r>
              <a:rPr lang="zh-CN" altLang="en-US" sz="1600" b="1" dirty="0">
                <a:latin typeface="微软雅黑" panose="020B0503020204020204" pitchFamily="34" charset="-122"/>
                <a:ea typeface="微软雅黑" panose="020B0503020204020204" pitchFamily="34" charset="-122"/>
              </a:rPr>
              <a:t>目的：</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或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p>
          <a:p>
            <a:pPr>
              <a:lnSpc>
                <a:spcPts val="2200"/>
              </a:lnSpc>
            </a:pPr>
            <a:r>
              <a:rPr lang="zh-CN" altLang="en-US" sz="1600" b="1" dirty="0">
                <a:latin typeface="微软雅黑" panose="020B0503020204020204" pitchFamily="34" charset="-122"/>
                <a:ea typeface="微软雅黑" panose="020B0503020204020204" pitchFamily="34" charset="-122"/>
              </a:rPr>
              <a:t>路径：</a:t>
            </a:r>
            <a:r>
              <a:rPr lang="en-US" altLang="zh-CN" sz="1600" b="1" dirty="0">
                <a:latin typeface="微软雅黑" panose="020B0503020204020204" pitchFamily="34" charset="-122"/>
                <a:ea typeface="微软雅黑" panose="020B0503020204020204" pitchFamily="34" charset="-122"/>
              </a:rPr>
              <a:t>S</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sym typeface="Wingdings" panose="05000000000000000000" pitchFamily="2" charset="2"/>
              </a:rPr>
              <a:t> </a:t>
            </a:r>
            <a:r>
              <a:rPr lang="en-US" altLang="zh-CN" sz="1600" b="1" dirty="0">
                <a:latin typeface="微软雅黑" panose="020B0503020204020204" pitchFamily="34" charset="-122"/>
                <a:ea typeface="微软雅黑" panose="020B0503020204020204" pitchFamily="34" charset="-122"/>
              </a:rPr>
              <a:t>S</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sym typeface="Wingdings" panose="05000000000000000000" pitchFamily="2" charset="2"/>
              </a:rPr>
              <a:t> </a:t>
            </a:r>
            <a:r>
              <a:rPr lang="en-US" altLang="zh-CN" sz="1600" b="1" dirty="0">
                <a:latin typeface="微软雅黑" panose="020B0503020204020204" pitchFamily="34" charset="-122"/>
                <a:ea typeface="微软雅黑" panose="020B0503020204020204" pitchFamily="34" charset="-122"/>
              </a:rPr>
              <a:t>S</a:t>
            </a:r>
            <a:r>
              <a:rPr lang="en-US" altLang="zh-CN" sz="1600" b="1" baseline="-25000" dirty="0">
                <a:latin typeface="微软雅黑" panose="020B0503020204020204" pitchFamily="34" charset="-122"/>
                <a:ea typeface="微软雅黑" panose="020B0503020204020204" pitchFamily="34" charset="-122"/>
              </a:rPr>
              <a:t>2</a:t>
            </a:r>
            <a:r>
              <a:rPr lang="zh-CN" altLang="en-US" sz="1600" b="1" dirty="0">
                <a:latin typeface="微软雅黑" panose="020B0503020204020204" pitchFamily="34" charset="-122"/>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b="1" dirty="0">
                <a:solidFill>
                  <a:srgbClr val="0000FF"/>
                </a:solidFill>
                <a:latin typeface="微软雅黑" panose="020B0503020204020204" pitchFamily="34" charset="-122"/>
                <a:ea typeface="微软雅黑" panose="020B0503020204020204" pitchFamily="34" charset="-122"/>
              </a:rPr>
              <a:t>转发规则：</a:t>
            </a:r>
            <a:endParaRPr lang="en-US" altLang="zh-CN" sz="1400" b="1" dirty="0">
              <a:solidFill>
                <a:srgbClr val="0000FF"/>
              </a:solidFill>
              <a:latin typeface="微软雅黑" panose="020B0503020204020204" pitchFamily="34" charset="-122"/>
              <a:ea typeface="微软雅黑" panose="020B0503020204020204" pitchFamily="34" charset="-122"/>
            </a:endParaRPr>
          </a:p>
          <a:p>
            <a:pPr>
              <a:lnSpc>
                <a:spcPts val="2200"/>
              </a:lnSpc>
            </a:pPr>
            <a:r>
              <a:rPr lang="zh-CN" altLang="en-US" sz="1400" b="1" dirty="0">
                <a:latin typeface="微软雅黑" panose="020B0503020204020204" pitchFamily="34" charset="-122"/>
                <a:ea typeface="微软雅黑" panose="020B0503020204020204" pitchFamily="34" charset="-122"/>
              </a:rPr>
              <a:t>从 </a:t>
            </a:r>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3</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发往主机 </a:t>
            </a:r>
            <a:r>
              <a:rPr lang="en-US" altLang="zh-CN" sz="1400" b="1" dirty="0">
                <a:latin typeface="微软雅黑" panose="020B0503020204020204" pitchFamily="34" charset="-122"/>
                <a:ea typeface="微软雅黑" panose="020B0503020204020204" pitchFamily="34" charset="-122"/>
              </a:rPr>
              <a:t>10.1.*.* </a:t>
            </a:r>
            <a:r>
              <a:rPr lang="zh-CN" altLang="en-US" sz="1400" b="1" dirty="0">
                <a:latin typeface="微软雅黑" panose="020B0503020204020204" pitchFamily="34" charset="-122"/>
                <a:ea typeface="微软雅黑" panose="020B0503020204020204" pitchFamily="34" charset="-122"/>
              </a:rPr>
              <a:t>的分组，其转发路径为 </a:t>
            </a:r>
            <a:r>
              <a:rPr lang="en-US" altLang="zh-CN" sz="1400" b="1" dirty="0">
                <a:latin typeface="微软雅黑" panose="020B0503020204020204" pitchFamily="34" charset="-122"/>
                <a:ea typeface="微软雅黑" panose="020B0503020204020204" pitchFamily="34" charset="-122"/>
              </a:rPr>
              <a:t>S</a:t>
            </a:r>
            <a:r>
              <a:rPr lang="en-US" altLang="zh-CN" sz="1400" b="1" baseline="-25000" dirty="0">
                <a:latin typeface="微软雅黑" panose="020B0503020204020204" pitchFamily="34" charset="-122"/>
                <a:ea typeface="微软雅黑" panose="020B0503020204020204" pitchFamily="34" charset="-122"/>
              </a:rPr>
              <a:t>2</a:t>
            </a:r>
            <a:r>
              <a:rPr lang="en-US" altLang="zh-CN"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sym typeface="Wingdings" panose="05000000000000000000" pitchFamily="2" charset="2"/>
              </a:rPr>
              <a:t></a:t>
            </a:r>
            <a:r>
              <a:rPr lang="en-US" altLang="zh-CN" sz="1400" b="1" dirty="0">
                <a:latin typeface="微软雅黑" panose="020B0503020204020204" pitchFamily="34" charset="-122"/>
                <a:ea typeface="微软雅黑" panose="020B0503020204020204" pitchFamily="34" charset="-122"/>
              </a:rPr>
              <a:t> S</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200"/>
              </a:lnSpc>
            </a:pPr>
            <a:r>
              <a:rPr lang="zh-CN" altLang="en-US" sz="1400" b="1" dirty="0">
                <a:latin typeface="微软雅黑" panose="020B0503020204020204" pitchFamily="34" charset="-122"/>
                <a:ea typeface="微软雅黑" panose="020B0503020204020204" pitchFamily="34" charset="-122"/>
              </a:rPr>
              <a:t>从 </a:t>
            </a:r>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4</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发往主机 </a:t>
            </a:r>
            <a:r>
              <a:rPr lang="en-US" altLang="zh-CN" sz="1400" b="1" dirty="0">
                <a:latin typeface="微软雅黑" panose="020B0503020204020204" pitchFamily="34" charset="-122"/>
                <a:ea typeface="微软雅黑" panose="020B0503020204020204" pitchFamily="34" charset="-122"/>
              </a:rPr>
              <a:t>10.1.*.* </a:t>
            </a:r>
            <a:r>
              <a:rPr lang="zh-CN" altLang="en-US" sz="1400" b="1" dirty="0">
                <a:latin typeface="微软雅黑" panose="020B0503020204020204" pitchFamily="34" charset="-122"/>
                <a:ea typeface="微软雅黑" panose="020B0503020204020204" pitchFamily="34" charset="-122"/>
              </a:rPr>
              <a:t>的分组，其转发路径为 </a:t>
            </a:r>
            <a:r>
              <a:rPr lang="en-US" altLang="zh-CN" sz="1400" b="1" dirty="0">
                <a:latin typeface="微软雅黑" panose="020B0503020204020204" pitchFamily="34" charset="-122"/>
                <a:ea typeface="微软雅黑" panose="020B0503020204020204" pitchFamily="34" charset="-122"/>
              </a:rPr>
              <a:t>S</a:t>
            </a:r>
            <a:r>
              <a:rPr lang="en-US" altLang="zh-CN" sz="1400" b="1" baseline="-25000" dirty="0">
                <a:latin typeface="微软雅黑" panose="020B0503020204020204" pitchFamily="34" charset="-122"/>
                <a:ea typeface="微软雅黑" panose="020B0503020204020204" pitchFamily="34" charset="-122"/>
              </a:rPr>
              <a:t>2</a:t>
            </a:r>
            <a:r>
              <a:rPr lang="en-US" altLang="zh-CN"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sym typeface="Wingdings" panose="05000000000000000000" pitchFamily="2" charset="2"/>
              </a:rPr>
              <a:t></a:t>
            </a:r>
            <a:r>
              <a:rPr lang="en-US" altLang="zh-CN" sz="1400" b="1" dirty="0">
                <a:latin typeface="微软雅黑" panose="020B0503020204020204" pitchFamily="34" charset="-122"/>
                <a:ea typeface="微软雅黑" panose="020B0503020204020204" pitchFamily="34" charset="-122"/>
              </a:rPr>
              <a:t> S</a:t>
            </a:r>
            <a:r>
              <a:rPr lang="en-US" altLang="zh-CN" sz="1400" b="1" baseline="-25000" dirty="0">
                <a:latin typeface="微软雅黑" panose="020B0503020204020204" pitchFamily="34" charset="-122"/>
                <a:ea typeface="微软雅黑" panose="020B0503020204020204" pitchFamily="34" charset="-122"/>
              </a:rPr>
              <a:t>3</a:t>
            </a:r>
            <a:r>
              <a:rPr lang="en-US" altLang="zh-CN"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sym typeface="Wingdings" panose="05000000000000000000" pitchFamily="2" charset="2"/>
              </a:rPr>
              <a:t></a:t>
            </a:r>
            <a:r>
              <a:rPr lang="en-US" altLang="zh-CN" sz="1400" b="1" dirty="0">
                <a:latin typeface="微软雅黑" panose="020B0503020204020204" pitchFamily="34" charset="-122"/>
                <a:ea typeface="微软雅黑" panose="020B0503020204020204" pitchFamily="34" charset="-122"/>
              </a:rPr>
              <a:t> S</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b="1" dirty="0">
                <a:solidFill>
                  <a:srgbClr val="0000FF"/>
                </a:solidFill>
                <a:latin typeface="微软雅黑" panose="020B0503020204020204" pitchFamily="34" charset="-122"/>
                <a:ea typeface="微软雅黑" panose="020B0503020204020204" pitchFamily="34" charset="-122"/>
              </a:rPr>
              <a:t>转发规则：</a:t>
            </a:r>
            <a:endParaRPr lang="en-US" altLang="zh-CN" sz="1400" b="1" dirty="0">
              <a:solidFill>
                <a:srgbClr val="0000FF"/>
              </a:solidFill>
              <a:latin typeface="微软雅黑" panose="020B0503020204020204" pitchFamily="34" charset="-122"/>
              <a:ea typeface="微软雅黑" panose="020B0503020204020204" pitchFamily="34" charset="-122"/>
            </a:endParaRPr>
          </a:p>
          <a:p>
            <a:pPr>
              <a:lnSpc>
                <a:spcPts val="2200"/>
              </a:lnSpc>
            </a:pPr>
            <a:r>
              <a:rPr lang="en-US" altLang="zh-CN" sz="1400" b="1" dirty="0">
                <a:latin typeface="微软雅黑" panose="020B0503020204020204" pitchFamily="34" charset="-122"/>
                <a:ea typeface="微软雅黑" panose="020B0503020204020204" pitchFamily="34" charset="-122"/>
              </a:rPr>
              <a:t>S</a:t>
            </a:r>
            <a:r>
              <a:rPr lang="en-US" altLang="zh-CN" sz="1400" b="1" baseline="-25000" dirty="0">
                <a:latin typeface="微软雅黑" panose="020B0503020204020204" pitchFamily="34" charset="-122"/>
                <a:ea typeface="微软雅黑" panose="020B0503020204020204" pitchFamily="34" charset="-122"/>
              </a:rPr>
              <a:t>2</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中设置了防火墙。</a:t>
            </a:r>
            <a:endParaRPr lang="en-US" altLang="zh-CN" sz="1400" b="1" dirty="0">
              <a:latin typeface="微软雅黑" panose="020B0503020204020204" pitchFamily="34" charset="-122"/>
              <a:ea typeface="微软雅黑" panose="020B0503020204020204" pitchFamily="34" charset="-122"/>
            </a:endParaRPr>
          </a:p>
          <a:p>
            <a:pPr>
              <a:lnSpc>
                <a:spcPts val="2200"/>
              </a:lnSpc>
            </a:pPr>
            <a:r>
              <a:rPr lang="zh-CN" altLang="en-US" sz="1400" b="1" dirty="0">
                <a:latin typeface="微软雅黑" panose="020B0503020204020204" pitchFamily="34" charset="-122"/>
                <a:ea typeface="微软雅黑" panose="020B0503020204020204" pitchFamily="34" charset="-122"/>
              </a:rPr>
              <a:t>此防火墙的作用是仅仅接收来自与 </a:t>
            </a:r>
            <a:r>
              <a:rPr lang="en-US" altLang="zh-CN" sz="1400" b="1" dirty="0">
                <a:latin typeface="微软雅黑" panose="020B0503020204020204" pitchFamily="34" charset="-122"/>
                <a:ea typeface="微软雅黑" panose="020B0503020204020204" pitchFamily="34" charset="-122"/>
              </a:rPr>
              <a:t>S</a:t>
            </a:r>
            <a:r>
              <a:rPr lang="en-US" altLang="zh-CN" sz="1400" b="1" baseline="-25000" dirty="0">
                <a:latin typeface="微软雅黑" panose="020B0503020204020204" pitchFamily="34" charset="-122"/>
                <a:ea typeface="微软雅黑" panose="020B0503020204020204" pitchFamily="34" charset="-122"/>
              </a:rPr>
              <a:t>3</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633046" y="1230438"/>
            <a:ext cx="6375957" cy="3035975"/>
            <a:chOff x="1359877" y="1230438"/>
            <a:chExt cx="6375957" cy="3035975"/>
          </a:xfrm>
        </p:grpSpPr>
        <p:cxnSp>
          <p:nvCxnSpPr>
            <p:cNvPr id="9" name="直接连接符 8"/>
            <p:cNvCxnSpPr/>
            <p:nvPr/>
          </p:nvCxnSpPr>
          <p:spPr>
            <a:xfrm>
              <a:off x="2742756"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814445"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6576747"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751495"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6576743"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6402114"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971007"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3144781"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730389"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814445"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4447071"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4122035"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808632"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880512"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3541182"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4333987"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814445"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4259400"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5250793"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798442"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4722630"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5196705"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748122"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900767"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4267920"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1359877" y="2428033"/>
              <a:ext cx="1584461" cy="584775"/>
            </a:xfrm>
            <a:prstGeom prst="rect">
              <a:avLst/>
            </a:prstGeom>
            <a:no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cs typeface="Times New Roman" pitchFamily="18" charset="0"/>
                </a:rPr>
                <a:t>网络范围的状态管理层</a:t>
              </a:r>
            </a:p>
          </p:txBody>
        </p:sp>
        <p:sp>
          <p:nvSpPr>
            <p:cNvPr id="36" name="TextBox 33"/>
            <p:cNvSpPr txBox="1"/>
            <p:nvPr/>
          </p:nvSpPr>
          <p:spPr>
            <a:xfrm>
              <a:off x="1359877" y="1464756"/>
              <a:ext cx="1584461" cy="738664"/>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cs typeface="Times New Roman" pitchFamily="18" charset="0"/>
                </a:rPr>
                <a:t>到网络控制</a:t>
              </a:r>
              <a:endParaRPr lang="en-US" altLang="zh-CN" sz="1400" b="1" dirty="0">
                <a:latin typeface="微软雅黑" panose="020B0503020204020204" pitchFamily="34" charset="-122"/>
                <a:ea typeface="微软雅黑" panose="020B0503020204020204" pitchFamily="34" charset="-122"/>
                <a:cs typeface="Times New Roman" pitchFamily="18" charset="0"/>
              </a:endParaRPr>
            </a:p>
            <a:p>
              <a:pPr algn="ctr"/>
              <a:r>
                <a:rPr lang="zh-CN" altLang="en-US" sz="1400" b="1" dirty="0">
                  <a:latin typeface="微软雅黑" panose="020B0503020204020204" pitchFamily="34" charset="-122"/>
                  <a:ea typeface="微软雅黑" panose="020B0503020204020204" pitchFamily="34" charset="-122"/>
                  <a:cs typeface="Times New Roman" pitchFamily="18" charset="0"/>
                </a:rPr>
                <a:t>应用程序层</a:t>
              </a:r>
              <a:endParaRPr lang="en-US" altLang="zh-CN" sz="1400" b="1" dirty="0">
                <a:latin typeface="微软雅黑" panose="020B0503020204020204" pitchFamily="34" charset="-122"/>
                <a:ea typeface="微软雅黑" panose="020B0503020204020204" pitchFamily="34" charset="-122"/>
                <a:cs typeface="Times New Roman" pitchFamily="18" charset="0"/>
              </a:endParaRPr>
            </a:p>
            <a:p>
              <a:pPr algn="ctr"/>
              <a:r>
                <a:rPr lang="zh-CN" altLang="en-US" sz="1400" b="1" dirty="0">
                  <a:latin typeface="微软雅黑" panose="020B0503020204020204" pitchFamily="34" charset="-122"/>
                  <a:ea typeface="微软雅黑" panose="020B0503020204020204" pitchFamily="34" charset="-122"/>
                  <a:cs typeface="Times New Roman" pitchFamily="18" charset="0"/>
                </a:rPr>
                <a:t>的接口</a:t>
              </a:r>
            </a:p>
          </p:txBody>
        </p:sp>
        <p:sp>
          <p:nvSpPr>
            <p:cNvPr id="37" name="TextBox 34"/>
            <p:cNvSpPr txBox="1"/>
            <p:nvPr/>
          </p:nvSpPr>
          <p:spPr>
            <a:xfrm>
              <a:off x="1359877" y="3497663"/>
              <a:ext cx="1584461" cy="338554"/>
            </a:xfrm>
            <a:prstGeom prst="rect">
              <a:avLst/>
            </a:prstGeom>
            <a:no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cs typeface="Times New Roman" pitchFamily="18" charset="0"/>
                </a:rPr>
                <a:t>通信层</a:t>
              </a:r>
            </a:p>
          </p:txBody>
        </p:sp>
      </p:gr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b="1" dirty="0">
                <a:solidFill>
                  <a:schemeClr val="tx1"/>
                </a:solidFill>
                <a:latin typeface="微软雅黑" panose="020B0503020204020204" pitchFamily="34" charset="-122"/>
                <a:ea typeface="微软雅黑" panose="020B0503020204020204" pitchFamily="34" charset="-122"/>
              </a:rPr>
              <a:t>完成</a:t>
            </a:r>
            <a:r>
              <a:rPr lang="en-US" altLang="zh-CN" sz="1400" b="1" dirty="0">
                <a:solidFill>
                  <a:schemeClr val="tx1"/>
                </a:solidFill>
                <a:latin typeface="微软雅黑" panose="020B0503020204020204" pitchFamily="34" charset="-122"/>
                <a:ea typeface="微软雅黑" panose="020B0503020204020204" pitchFamily="34" charset="-122"/>
              </a:rPr>
              <a:t> SDN </a:t>
            </a:r>
            <a:r>
              <a:rPr lang="zh-CN" altLang="zh-CN" sz="1400" b="1" dirty="0">
                <a:solidFill>
                  <a:schemeClr val="tx1"/>
                </a:solidFill>
                <a:latin typeface="微软雅黑" panose="020B0503020204020204" pitchFamily="34" charset="-122"/>
                <a:ea typeface="微软雅黑" panose="020B0503020204020204" pitchFamily="34" charset="-122"/>
              </a:rPr>
              <a:t>控制器与受控网络设备之间的通信。</a:t>
            </a:r>
            <a:endParaRPr lang="en-US" altLang="zh-CN" sz="1400" b="1" dirty="0">
              <a:solidFill>
                <a:schemeClr val="tx1"/>
              </a:solidFill>
              <a:latin typeface="微软雅黑" panose="020B0503020204020204" pitchFamily="34" charset="-122"/>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b="1" dirty="0">
                <a:solidFill>
                  <a:schemeClr val="tx1"/>
                </a:solidFill>
                <a:latin typeface="微软雅黑" panose="020B0503020204020204" pitchFamily="34" charset="-122"/>
                <a:ea typeface="微软雅黑" panose="020B0503020204020204" pitchFamily="34" charset="-122"/>
              </a:rPr>
              <a:t>通信层与数据层面的接口叫做南向接口，基本上采用 </a:t>
            </a:r>
            <a:r>
              <a:rPr lang="en-US" altLang="zh-CN" sz="1400" b="1" dirty="0" err="1">
                <a:solidFill>
                  <a:schemeClr val="tx1"/>
                </a:solidFill>
                <a:latin typeface="微软雅黑" panose="020B0503020204020204" pitchFamily="34" charset="-122"/>
                <a:ea typeface="微软雅黑" panose="020B0503020204020204" pitchFamily="34" charset="-122"/>
              </a:rPr>
              <a:t>OpenFlow</a:t>
            </a:r>
            <a:r>
              <a:rPr lang="zh-CN" altLang="en-US" sz="1400" b="1" dirty="0">
                <a:solidFill>
                  <a:schemeClr val="tx1"/>
                </a:solidFill>
                <a:latin typeface="微软雅黑" panose="020B0503020204020204" pitchFamily="34" charset="-122"/>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633046" y="1230438"/>
            <a:ext cx="6375957" cy="3035975"/>
            <a:chOff x="1359877" y="1230438"/>
            <a:chExt cx="6375957" cy="3035975"/>
          </a:xfrm>
        </p:grpSpPr>
        <p:cxnSp>
          <p:nvCxnSpPr>
            <p:cNvPr id="9" name="直接连接符 8"/>
            <p:cNvCxnSpPr/>
            <p:nvPr/>
          </p:nvCxnSpPr>
          <p:spPr>
            <a:xfrm>
              <a:off x="2742756"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814445"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6576747"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751495"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6576743"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6402114"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971007"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3144781"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730389"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814445"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4447071"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4122035"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808632"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880512"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3541182"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4333987"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814445"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4259400"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5250793"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798442"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4722630"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5196705"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748122"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900767"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4267920"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1359877" y="2428033"/>
              <a:ext cx="1584461" cy="584775"/>
            </a:xfrm>
            <a:prstGeom prst="rect">
              <a:avLst/>
            </a:prstGeom>
            <a:no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cs typeface="Times New Roman" pitchFamily="18" charset="0"/>
                </a:rPr>
                <a:t>网络范围的状态管理层</a:t>
              </a:r>
            </a:p>
          </p:txBody>
        </p:sp>
        <p:sp>
          <p:nvSpPr>
            <p:cNvPr id="36" name="TextBox 33"/>
            <p:cNvSpPr txBox="1"/>
            <p:nvPr/>
          </p:nvSpPr>
          <p:spPr>
            <a:xfrm>
              <a:off x="1359877" y="1464756"/>
              <a:ext cx="1584461" cy="738664"/>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cs typeface="Times New Roman" pitchFamily="18" charset="0"/>
                </a:rPr>
                <a:t>到网络控制</a:t>
              </a:r>
              <a:endParaRPr lang="en-US" altLang="zh-CN" sz="1400" b="1" dirty="0">
                <a:latin typeface="微软雅黑" panose="020B0503020204020204" pitchFamily="34" charset="-122"/>
                <a:ea typeface="微软雅黑" panose="020B0503020204020204" pitchFamily="34" charset="-122"/>
                <a:cs typeface="Times New Roman" pitchFamily="18" charset="0"/>
              </a:endParaRPr>
            </a:p>
            <a:p>
              <a:pPr algn="ctr"/>
              <a:r>
                <a:rPr lang="zh-CN" altLang="en-US" sz="1400" b="1" dirty="0">
                  <a:latin typeface="微软雅黑" panose="020B0503020204020204" pitchFamily="34" charset="-122"/>
                  <a:ea typeface="微软雅黑" panose="020B0503020204020204" pitchFamily="34" charset="-122"/>
                  <a:cs typeface="Times New Roman" pitchFamily="18" charset="0"/>
                </a:rPr>
                <a:t>应用程序层</a:t>
              </a:r>
              <a:endParaRPr lang="en-US" altLang="zh-CN" sz="1400" b="1" dirty="0">
                <a:latin typeface="微软雅黑" panose="020B0503020204020204" pitchFamily="34" charset="-122"/>
                <a:ea typeface="微软雅黑" panose="020B0503020204020204" pitchFamily="34" charset="-122"/>
                <a:cs typeface="Times New Roman" pitchFamily="18" charset="0"/>
              </a:endParaRPr>
            </a:p>
            <a:p>
              <a:pPr algn="ctr"/>
              <a:r>
                <a:rPr lang="zh-CN" altLang="en-US" sz="1400" b="1" dirty="0">
                  <a:latin typeface="微软雅黑" panose="020B0503020204020204" pitchFamily="34" charset="-122"/>
                  <a:ea typeface="微软雅黑" panose="020B0503020204020204" pitchFamily="34" charset="-122"/>
                  <a:cs typeface="Times New Roman" pitchFamily="18" charset="0"/>
                </a:rPr>
                <a:t>的接口</a:t>
              </a:r>
            </a:p>
          </p:txBody>
        </p:sp>
        <p:sp>
          <p:nvSpPr>
            <p:cNvPr id="37" name="TextBox 34"/>
            <p:cNvSpPr txBox="1"/>
            <p:nvPr/>
          </p:nvSpPr>
          <p:spPr>
            <a:xfrm>
              <a:off x="1359877" y="3497663"/>
              <a:ext cx="1584461" cy="338554"/>
            </a:xfrm>
            <a:prstGeom prst="rect">
              <a:avLst/>
            </a:prstGeom>
            <a:no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cs typeface="Times New Roman" pitchFamily="18" charset="0"/>
                </a:rPr>
                <a:t>通信层</a:t>
              </a:r>
            </a:p>
          </p:txBody>
        </p:sp>
      </p:gr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b="1" dirty="0">
                <a:solidFill>
                  <a:schemeClr val="tx1"/>
                </a:solidFill>
                <a:latin typeface="微软雅黑" panose="020B0503020204020204" pitchFamily="34" charset="-122"/>
                <a:ea typeface="微软雅黑" panose="020B0503020204020204" pitchFamily="34" charset="-122"/>
              </a:rPr>
              <a:t>完成核心功能。</a:t>
            </a:r>
            <a:endParaRPr lang="en-US" altLang="zh-CN" sz="1400" b="1" dirty="0">
              <a:solidFill>
                <a:schemeClr val="tx1"/>
              </a:solidFill>
              <a:latin typeface="微软雅黑" panose="020B0503020204020204" pitchFamily="34" charset="-122"/>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b="1" dirty="0">
                <a:solidFill>
                  <a:schemeClr val="tx1"/>
                </a:solidFill>
                <a:latin typeface="微软雅黑" panose="020B0503020204020204" pitchFamily="34" charset="-122"/>
                <a:ea typeface="微软雅黑" panose="020B0503020204020204" pitchFamily="34" charset="-122"/>
              </a:rPr>
              <a:t>管理和维护链路、主机、交换机等网络状态；</a:t>
            </a:r>
            <a:endParaRPr lang="en-US" altLang="zh-CN" sz="1400" b="1" dirty="0">
              <a:solidFill>
                <a:schemeClr val="tx1"/>
              </a:solidFill>
              <a:latin typeface="微软雅黑" panose="020B0503020204020204" pitchFamily="34" charset="-122"/>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b="1" dirty="0">
                <a:solidFill>
                  <a:schemeClr val="tx1"/>
                </a:solidFill>
                <a:latin typeface="微软雅黑" panose="020B0503020204020204" pitchFamily="34" charset="-122"/>
                <a:ea typeface="微软雅黑" panose="020B0503020204020204" pitchFamily="34" charset="-122"/>
              </a:rPr>
              <a:t>确定和维护流表等。</a:t>
            </a:r>
            <a:endParaRPr lang="en-US" altLang="zh-CN" sz="1400" b="1" dirty="0">
              <a:solidFill>
                <a:schemeClr val="tx1"/>
              </a:solidFill>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633046" y="1230438"/>
            <a:ext cx="6375957" cy="3035975"/>
            <a:chOff x="1359877" y="1230438"/>
            <a:chExt cx="6375957" cy="3035975"/>
          </a:xfrm>
        </p:grpSpPr>
        <p:cxnSp>
          <p:nvCxnSpPr>
            <p:cNvPr id="9" name="直接连接符 8"/>
            <p:cNvCxnSpPr/>
            <p:nvPr/>
          </p:nvCxnSpPr>
          <p:spPr>
            <a:xfrm>
              <a:off x="2742756"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814445"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6576747"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751495"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6576743"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6402114"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971007"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3144781"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730389"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814445"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4447071"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4122035"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808632"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880512"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3541182"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4333987"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814445"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4259400"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5250793"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798442"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4722630"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5196705"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748122"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900767"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4267920"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1359877" y="2428033"/>
              <a:ext cx="1584461" cy="584775"/>
            </a:xfrm>
            <a:prstGeom prst="rect">
              <a:avLst/>
            </a:prstGeom>
            <a:no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cs typeface="Times New Roman" pitchFamily="18" charset="0"/>
                </a:rPr>
                <a:t>网络范围的状态管理层</a:t>
              </a:r>
            </a:p>
          </p:txBody>
        </p:sp>
        <p:sp>
          <p:nvSpPr>
            <p:cNvPr id="36" name="TextBox 33"/>
            <p:cNvSpPr txBox="1"/>
            <p:nvPr/>
          </p:nvSpPr>
          <p:spPr>
            <a:xfrm>
              <a:off x="1359877" y="1464756"/>
              <a:ext cx="1584461" cy="738664"/>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cs typeface="Times New Roman" pitchFamily="18" charset="0"/>
                </a:rPr>
                <a:t>到网络控制</a:t>
              </a:r>
              <a:endParaRPr lang="en-US" altLang="zh-CN" sz="1400" b="1" dirty="0">
                <a:latin typeface="微软雅黑" panose="020B0503020204020204" pitchFamily="34" charset="-122"/>
                <a:ea typeface="微软雅黑" panose="020B0503020204020204" pitchFamily="34" charset="-122"/>
                <a:cs typeface="Times New Roman" pitchFamily="18" charset="0"/>
              </a:endParaRPr>
            </a:p>
            <a:p>
              <a:pPr algn="ctr"/>
              <a:r>
                <a:rPr lang="zh-CN" altLang="en-US" sz="1400" b="1" dirty="0">
                  <a:latin typeface="微软雅黑" panose="020B0503020204020204" pitchFamily="34" charset="-122"/>
                  <a:ea typeface="微软雅黑" panose="020B0503020204020204" pitchFamily="34" charset="-122"/>
                  <a:cs typeface="Times New Roman" pitchFamily="18" charset="0"/>
                </a:rPr>
                <a:t>应用程序层</a:t>
              </a:r>
              <a:endParaRPr lang="en-US" altLang="zh-CN" sz="1400" b="1" dirty="0">
                <a:latin typeface="微软雅黑" panose="020B0503020204020204" pitchFamily="34" charset="-122"/>
                <a:ea typeface="微软雅黑" panose="020B0503020204020204" pitchFamily="34" charset="-122"/>
                <a:cs typeface="Times New Roman" pitchFamily="18" charset="0"/>
              </a:endParaRPr>
            </a:p>
            <a:p>
              <a:pPr algn="ctr"/>
              <a:r>
                <a:rPr lang="zh-CN" altLang="en-US" sz="1400" b="1" dirty="0">
                  <a:latin typeface="微软雅黑" panose="020B0503020204020204" pitchFamily="34" charset="-122"/>
                  <a:ea typeface="微软雅黑" panose="020B0503020204020204" pitchFamily="34" charset="-122"/>
                  <a:cs typeface="Times New Roman" pitchFamily="18" charset="0"/>
                </a:rPr>
                <a:t>的接口</a:t>
              </a:r>
            </a:p>
          </p:txBody>
        </p:sp>
        <p:sp>
          <p:nvSpPr>
            <p:cNvPr id="37" name="TextBox 34"/>
            <p:cNvSpPr txBox="1"/>
            <p:nvPr/>
          </p:nvSpPr>
          <p:spPr>
            <a:xfrm>
              <a:off x="1359877" y="3497663"/>
              <a:ext cx="1584461" cy="338554"/>
            </a:xfrm>
            <a:prstGeom prst="rect">
              <a:avLst/>
            </a:prstGeom>
            <a:no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cs typeface="Times New Roman" pitchFamily="18" charset="0"/>
                </a:rPr>
                <a:t>通信层</a:t>
              </a:r>
            </a:p>
          </p:txBody>
        </p:sp>
      </p:gr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b="1" dirty="0">
                <a:solidFill>
                  <a:schemeClr val="tx1"/>
                </a:solidFill>
                <a:latin typeface="微软雅黑" panose="020B0503020204020204" pitchFamily="34" charset="-122"/>
                <a:ea typeface="微软雅黑" panose="020B0503020204020204" pitchFamily="34" charset="-122"/>
              </a:rPr>
              <a:t>SDN </a:t>
            </a:r>
            <a:r>
              <a:rPr lang="zh-CN" altLang="en-US" sz="1400" b="1" dirty="0">
                <a:solidFill>
                  <a:schemeClr val="tx1"/>
                </a:solidFill>
                <a:latin typeface="微软雅黑" panose="020B0503020204020204" pitchFamily="34" charset="-122"/>
                <a:ea typeface="微软雅黑" panose="020B0503020204020204" pitchFamily="34" charset="-122"/>
              </a:rPr>
              <a:t>控制器与网络控制应用程序交互的接口称为北向接口。</a:t>
            </a:r>
            <a:endParaRPr lang="en-US" altLang="zh-CN" sz="1400" b="1" dirty="0">
              <a:solidFill>
                <a:schemeClr val="tx1"/>
              </a:solidFill>
              <a:latin typeface="微软雅黑" panose="020B0503020204020204" pitchFamily="34" charset="-122"/>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b="1" dirty="0">
                <a:solidFill>
                  <a:schemeClr val="tx1"/>
                </a:solidFill>
                <a:latin typeface="微软雅黑" panose="020B0503020204020204" pitchFamily="34" charset="-122"/>
                <a:ea typeface="微软雅黑" panose="020B0503020204020204" pitchFamily="34" charset="-122"/>
              </a:rPr>
              <a:t>该 </a:t>
            </a:r>
            <a:r>
              <a:rPr lang="en-US" altLang="zh-CN" sz="1400" b="1" dirty="0">
                <a:solidFill>
                  <a:schemeClr val="tx1"/>
                </a:solidFill>
                <a:latin typeface="微软雅黑" panose="020B0503020204020204" pitchFamily="34" charset="-122"/>
                <a:ea typeface="微软雅黑" panose="020B0503020204020204" pitchFamily="34" charset="-122"/>
              </a:rPr>
              <a:t>API </a:t>
            </a:r>
            <a:r>
              <a:rPr lang="zh-CN" altLang="en-US" sz="1400" b="1" dirty="0">
                <a:solidFill>
                  <a:schemeClr val="tx1"/>
                </a:solidFill>
                <a:latin typeface="微软雅黑" panose="020B0503020204020204" pitchFamily="34" charset="-122"/>
                <a:ea typeface="微软雅黑" panose="020B0503020204020204" pitchFamily="34" charset="-122"/>
              </a:rPr>
              <a:t>接口允许网络控制应用程序对状态管理层里的网络状态和流表进行读写操作。</a:t>
            </a:r>
            <a:endParaRPr lang="en-US" altLang="zh-CN" sz="1400" b="1" dirty="0">
              <a:solidFill>
                <a:schemeClr val="tx1"/>
              </a:solidFill>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4156</TotalTime>
  <Words>27626</Words>
  <Application>Microsoft Office PowerPoint</Application>
  <PresentationFormat>全屏显示(16:9)</PresentationFormat>
  <Paragraphs>5923</Paragraphs>
  <Slides>340</Slides>
  <Notes>111</Notes>
  <HiddenSlides>1</HiddenSlides>
  <MMClips>0</MMClips>
  <ScaleCrop>false</ScaleCrop>
  <HeadingPairs>
    <vt:vector size="8" baseType="variant">
      <vt:variant>
        <vt:lpstr>已用的字体</vt:lpstr>
      </vt:variant>
      <vt:variant>
        <vt:i4>11</vt:i4>
      </vt:variant>
      <vt:variant>
        <vt:lpstr>主题</vt:lpstr>
      </vt:variant>
      <vt:variant>
        <vt:i4>1</vt:i4>
      </vt:variant>
      <vt:variant>
        <vt:lpstr>嵌入 OLE 服务器</vt:lpstr>
      </vt:variant>
      <vt:variant>
        <vt:i4>2</vt:i4>
      </vt:variant>
      <vt:variant>
        <vt:lpstr>幻灯片标题</vt:lpstr>
      </vt:variant>
      <vt:variant>
        <vt:i4>340</vt:i4>
      </vt:variant>
    </vt:vector>
  </HeadingPairs>
  <TitlesOfParts>
    <vt:vector size="354" baseType="lpstr">
      <vt:lpstr>微软雅黑</vt:lpstr>
      <vt:lpstr>Tahoma</vt:lpstr>
      <vt:lpstr>Wingdings</vt:lpstr>
      <vt:lpstr>Courier New</vt:lpstr>
      <vt:lpstr>黑体</vt:lpstr>
      <vt:lpstr>Times New Roman</vt:lpstr>
      <vt:lpstr>Arial</vt:lpstr>
      <vt:lpstr>Symbol</vt:lpstr>
      <vt:lpstr>Montserrat</vt:lpstr>
      <vt:lpstr>宋体</vt:lpstr>
      <vt:lpstr>Calibri</vt:lpstr>
      <vt:lpstr>Office 主题​​</vt:lpstr>
      <vt:lpstr>Visio</vt:lpstr>
      <vt:lpstr>VISIO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PowerPoint 演示文稿</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4.6.3  内部网关协议 OSPF</vt:lpstr>
      <vt:lpstr>4.6.3  内部网关协议 OSPF</vt:lpstr>
      <vt:lpstr>三个主要特点</vt:lpstr>
      <vt:lpstr>链路状态数据库 (link-state database) </vt:lpstr>
      <vt:lpstr>PowerPoint 演示文稿</vt:lpstr>
      <vt:lpstr>PowerPoint 演示文稿</vt:lpstr>
      <vt:lpstr>PowerPoint 演示文稿</vt:lpstr>
      <vt:lpstr>PowerPoint 演示文稿</vt:lpstr>
      <vt:lpstr>划分区域优点和缺点</vt:lpstr>
      <vt:lpstr>其他特点</vt:lpstr>
      <vt:lpstr>2. OSPF 的五种分组类型</vt:lpstr>
      <vt:lpstr>OSPF 分组用 IP 数据报传送</vt:lpstr>
      <vt:lpstr>OSPF 工作过程</vt:lpstr>
      <vt:lpstr>OSPF 工作过程</vt:lpstr>
      <vt:lpstr>OSPF 工作过程</vt:lpstr>
      <vt:lpstr>PowerPoint 演示文稿</vt:lpstr>
      <vt:lpstr>指定的路由器 DR </vt:lpstr>
      <vt:lpstr>4.6.4  外部网关协议 BGP</vt:lpstr>
      <vt:lpstr>4.6.4  外部网关协议 BGP</vt:lpstr>
      <vt:lpstr>1. 协议 BGP 的主要特点</vt:lpstr>
      <vt:lpstr>BGP 发言者 (BGP speaker)</vt:lpstr>
      <vt:lpstr>eBGP 连接和 iBGP 连接</vt:lpstr>
      <vt:lpstr>IGP、iBGP 和 eBGP 的关系</vt:lpstr>
      <vt:lpstr> eBGP 和 iBGP</vt:lpstr>
      <vt:lpstr> eBGP 和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PowerPoint 演示文稿</vt:lpstr>
      <vt:lpstr>PowerPoint 演示文稿</vt:lpstr>
      <vt:lpstr>AS 跳数最小</vt:lpstr>
      <vt:lpstr>热土豆路由选择算法</vt:lpstr>
      <vt:lpstr>AS 跳数最小</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vt:lpstr>
      <vt:lpstr>通过纵横交换结构 (crossbar switch fabric)</vt:lpstr>
      <vt:lpstr>PowerPoint 演示文稿</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PowerPoint 演示文稿</vt:lpstr>
      <vt:lpstr>PowerPoint 演示文稿</vt:lpstr>
      <vt:lpstr>PowerPoint 演示文稿</vt:lpstr>
      <vt:lpstr>PowerPoint 演示文稿</vt:lpstr>
      <vt:lpstr>(2) 隧道技术 (tunneling) </vt:lpstr>
      <vt:lpstr>(3) 基于核心的发现技术 </vt:lpstr>
      <vt:lpstr>(3) 基于核心的发现技术 </vt:lpstr>
      <vt:lpstr>几种多播路由选择协议</vt:lpstr>
      <vt:lpstr>PowerPoint 演示文稿</vt:lpstr>
      <vt:lpstr>4.8.1  虚拟专用网 VPN</vt:lpstr>
      <vt:lpstr>本地地址 vs 全球地址</vt:lpstr>
      <vt:lpstr>RFC 1918 指明的专用 IP 地址</vt:lpstr>
      <vt:lpstr>专用网</vt:lpstr>
      <vt:lpstr>虚拟专用网 VPN</vt:lpstr>
      <vt:lpstr>虚拟专用网 VPN 的构建</vt:lpstr>
      <vt:lpstr>用隧道技术实现虚拟专用网</vt:lpstr>
      <vt:lpstr>PowerPoint 演示文稿</vt:lpstr>
      <vt:lpstr>VPN 类型</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356</cp:revision>
  <dcterms:modified xsi:type="dcterms:W3CDTF">2025-11-01T09:17:24Z</dcterms:modified>
</cp:coreProperties>
</file>